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2.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xml" ContentType="application/vnd.openxmlformats-officedocument.presentationml.notesSlide+xml"/>
  <Override PartName="/ppt/tags/tag9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94.xml" ContentType="application/vnd.openxmlformats-officedocument.presentationml.tags+xml"/>
  <Override PartName="/ppt/notesSlides/notesSlide4.xml" ContentType="application/vnd.openxmlformats-officedocument.presentationml.notesSlide+xml"/>
  <Override PartName="/ppt/tags/tag95.xml" ContentType="application/vnd.openxmlformats-officedocument.presentationml.tags+xml"/>
  <Override PartName="/ppt/notesSlides/notesSlide5.xml" ContentType="application/vnd.openxmlformats-officedocument.presentationml.notesSlide+xml"/>
  <Override PartName="/ppt/tags/tag96.xml" ContentType="application/vnd.openxmlformats-officedocument.presentationml.tags+xml"/>
  <Override PartName="/ppt/notesSlides/notesSlide6.xml" ContentType="application/vnd.openxmlformats-officedocument.presentationml.notesSlide+xml"/>
  <Override PartName="/ppt/tags/tag97.xml" ContentType="application/vnd.openxmlformats-officedocument.presentationml.tags+xml"/>
  <Override PartName="/ppt/notesSlides/notesSlide7.xml" ContentType="application/vnd.openxmlformats-officedocument.presentationml.notesSlide+xml"/>
  <Override PartName="/ppt/tags/tag98.xml" ContentType="application/vnd.openxmlformats-officedocument.presentationml.tags+xml"/>
  <Override PartName="/ppt/notesSlides/notesSlide8.xml" ContentType="application/vnd.openxmlformats-officedocument.presentationml.notesSlide+xml"/>
  <Override PartName="/ppt/tags/tag99.xml" ContentType="application/vnd.openxmlformats-officedocument.presentationml.tags+xml"/>
  <Override PartName="/ppt/notesSlides/notesSlide9.xml" ContentType="application/vnd.openxmlformats-officedocument.presentationml.notesSlide+xml"/>
  <Override PartName="/ppt/tags/tag100.xml" ContentType="application/vnd.openxmlformats-officedocument.presentationml.tags+xml"/>
  <Override PartName="/ppt/notesSlides/notesSlide10.xml" ContentType="application/vnd.openxmlformats-officedocument.presentationml.notesSlide+xml"/>
  <Override PartName="/ppt/tags/tag101.xml" ContentType="application/vnd.openxmlformats-officedocument.presentationml.tag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6"/>
  </p:notesMasterIdLst>
  <p:sldIdLst>
    <p:sldId id="427" r:id="rId2"/>
    <p:sldId id="667" r:id="rId3"/>
    <p:sldId id="740" r:id="rId4"/>
    <p:sldId id="741" r:id="rId5"/>
    <p:sldId id="793" r:id="rId6"/>
    <p:sldId id="744" r:id="rId7"/>
    <p:sldId id="794" r:id="rId8"/>
    <p:sldId id="795" r:id="rId9"/>
    <p:sldId id="798" r:id="rId10"/>
    <p:sldId id="745" r:id="rId11"/>
    <p:sldId id="797" r:id="rId12"/>
    <p:sldId id="746" r:id="rId13"/>
    <p:sldId id="747" r:id="rId14"/>
    <p:sldId id="749" r:id="rId15"/>
    <p:sldId id="751" r:id="rId16"/>
    <p:sldId id="752" r:id="rId17"/>
    <p:sldId id="754" r:id="rId18"/>
    <p:sldId id="757" r:id="rId19"/>
    <p:sldId id="758" r:id="rId20"/>
    <p:sldId id="799" r:id="rId21"/>
    <p:sldId id="818" r:id="rId22"/>
    <p:sldId id="819" r:id="rId23"/>
    <p:sldId id="800" r:id="rId24"/>
    <p:sldId id="805" r:id="rId25"/>
    <p:sldId id="806" r:id="rId26"/>
    <p:sldId id="766" r:id="rId27"/>
    <p:sldId id="761" r:id="rId28"/>
    <p:sldId id="811" r:id="rId29"/>
    <p:sldId id="762" r:id="rId30"/>
    <p:sldId id="763" r:id="rId31"/>
    <p:sldId id="764" r:id="rId32"/>
    <p:sldId id="765" r:id="rId33"/>
    <p:sldId id="812" r:id="rId34"/>
    <p:sldId id="822" r:id="rId35"/>
    <p:sldId id="767" r:id="rId36"/>
    <p:sldId id="768" r:id="rId37"/>
    <p:sldId id="769" r:id="rId38"/>
    <p:sldId id="821" r:id="rId39"/>
    <p:sldId id="804" r:id="rId40"/>
    <p:sldId id="773" r:id="rId41"/>
    <p:sldId id="774" r:id="rId42"/>
    <p:sldId id="775" r:id="rId43"/>
    <p:sldId id="776" r:id="rId44"/>
    <p:sldId id="777" r:id="rId45"/>
    <p:sldId id="778" r:id="rId46"/>
    <p:sldId id="796" r:id="rId47"/>
    <p:sldId id="779" r:id="rId48"/>
    <p:sldId id="815" r:id="rId49"/>
    <p:sldId id="814" r:id="rId50"/>
    <p:sldId id="780" r:id="rId51"/>
    <p:sldId id="816" r:id="rId52"/>
    <p:sldId id="802" r:id="rId53"/>
    <p:sldId id="803" r:id="rId54"/>
    <p:sldId id="770" r:id="rId55"/>
    <p:sldId id="823" r:id="rId56"/>
    <p:sldId id="781" r:id="rId57"/>
    <p:sldId id="782" r:id="rId58"/>
    <p:sldId id="820" r:id="rId59"/>
    <p:sldId id="817" r:id="rId60"/>
    <p:sldId id="402" r:id="rId61"/>
    <p:sldId id="437" r:id="rId62"/>
    <p:sldId id="783" r:id="rId63"/>
    <p:sldId id="784" r:id="rId64"/>
    <p:sldId id="801" r:id="rId65"/>
    <p:sldId id="785" r:id="rId66"/>
    <p:sldId id="787" r:id="rId67"/>
    <p:sldId id="788" r:id="rId68"/>
    <p:sldId id="789" r:id="rId69"/>
    <p:sldId id="790" r:id="rId70"/>
    <p:sldId id="810" r:id="rId71"/>
    <p:sldId id="808" r:id="rId72"/>
    <p:sldId id="809" r:id="rId73"/>
    <p:sldId id="807" r:id="rId74"/>
    <p:sldId id="791" r:id="rId7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27">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2B99"/>
    <a:srgbClr val="0000FF"/>
    <a:srgbClr val="FFFF99"/>
    <a:srgbClr val="C8A1E5"/>
    <a:srgbClr val="8F46C8"/>
    <a:srgbClr val="FFFFFF"/>
    <a:srgbClr val="DE8300"/>
    <a:srgbClr val="9956CC"/>
    <a:srgbClr val="D9D9D9"/>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50" autoAdjust="0"/>
    <p:restoredTop sz="93548" autoAdjust="0"/>
  </p:normalViewPr>
  <p:slideViewPr>
    <p:cSldViewPr snapToGrid="0">
      <p:cViewPr varScale="1">
        <p:scale>
          <a:sx n="61" d="100"/>
          <a:sy n="61" d="100"/>
        </p:scale>
        <p:origin x="860" y="52"/>
      </p:cViewPr>
      <p:guideLst>
        <p:guide orient="horz" pos="2027"/>
        <p:guide pos="3840"/>
      </p:guideLst>
    </p:cSldViewPr>
  </p:slideViewPr>
  <p:outlineViewPr>
    <p:cViewPr>
      <p:scale>
        <a:sx n="33" d="100"/>
        <a:sy n="33" d="100"/>
      </p:scale>
      <p:origin x="0" y="-44148"/>
    </p:cViewPr>
  </p:outlin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56</a:t>
            </a:fld>
            <a:endParaRPr lang="zh-CN" altLang="en-US"/>
          </a:p>
        </p:txBody>
      </p:sp>
    </p:spTree>
    <p:extLst>
      <p:ext uri="{BB962C8B-B14F-4D97-AF65-F5344CB8AC3E}">
        <p14:creationId xmlns:p14="http://schemas.microsoft.com/office/powerpoint/2010/main" val="3531833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57</a:t>
            </a:fld>
            <a:endParaRPr lang="zh-CN" altLang="en-US"/>
          </a:p>
        </p:txBody>
      </p:sp>
    </p:spTree>
    <p:extLst>
      <p:ext uri="{BB962C8B-B14F-4D97-AF65-F5344CB8AC3E}">
        <p14:creationId xmlns:p14="http://schemas.microsoft.com/office/powerpoint/2010/main" val="3202691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000" dirty="0"/>
              <a:t>1 </a:t>
            </a:r>
            <a:r>
              <a:rPr lang="en-US" altLang="zh-CN" sz="1000" dirty="0" err="1"/>
              <a:t>Prefork</a:t>
            </a:r>
            <a:r>
              <a:rPr lang="zh-CN" altLang="en-US" sz="1000" dirty="0"/>
              <a:t>模式</a:t>
            </a:r>
            <a:r>
              <a:rPr lang="en-US" altLang="zh-CN" sz="1000" dirty="0"/>
              <a:t>:</a:t>
            </a:r>
            <a:r>
              <a:rPr lang="zh-CN" altLang="en-US" sz="1000" dirty="0"/>
              <a:t>对应左侧上方示意图，在该模式下，</a:t>
            </a:r>
            <a:r>
              <a:rPr lang="en-US" altLang="zh-CN" sz="1000" dirty="0" err="1"/>
              <a:t>apache</a:t>
            </a:r>
            <a:r>
              <a:rPr lang="zh-CN" altLang="en-US" sz="1000" dirty="0"/>
              <a:t>在启动后立刻创建多个子进程来响应连接请求，这样可以减少频繁创建和销毁子进程时所产生的开销，保证</a:t>
            </a:r>
            <a:r>
              <a:rPr lang="en-US" altLang="zh-CN" sz="1000" dirty="0"/>
              <a:t>web</a:t>
            </a:r>
            <a:r>
              <a:rPr lang="zh-CN" altLang="en-US" sz="1000" dirty="0"/>
              <a:t>服务器的稳定运行，但是子进程会占用内存资源，因此在高并发的场景中，不建议使用此模式。</a:t>
            </a:r>
            <a:r>
              <a:rPr lang="en-US" altLang="zh-CN" sz="1000" dirty="0"/>
              <a:t>2 Worker</a:t>
            </a:r>
            <a:r>
              <a:rPr lang="zh-CN" altLang="en-US" sz="1000" dirty="0"/>
              <a:t>模式</a:t>
            </a:r>
            <a:r>
              <a:rPr lang="en-US" altLang="zh-CN" sz="1000" dirty="0"/>
              <a:t>:</a:t>
            </a:r>
            <a:r>
              <a:rPr lang="zh-CN" altLang="en-US" sz="1000" dirty="0"/>
              <a:t>对应左侧下放示意图，在该模式下，</a:t>
            </a:r>
            <a:r>
              <a:rPr lang="en-US" altLang="zh-CN" sz="1000" dirty="0" err="1"/>
              <a:t>apache</a:t>
            </a:r>
            <a:r>
              <a:rPr lang="zh-CN" altLang="en-US" sz="1000" dirty="0"/>
              <a:t>在启动后也会创建多个子进程出来，同时每个子线程会创建线程出来，然后由线程去响应连接请求，这种模式下占用的资源较少，可以处理大量并发请求，但是其中子进程或线程崩溃，会影响该子进程下的全部任务，同时长连接的请求的被一直占用，直到超时后才会释放</a:t>
            </a:r>
            <a:r>
              <a:rPr lang="en-US" altLang="zh-CN" sz="1000" dirty="0"/>
              <a:t>3 Event</a:t>
            </a:r>
            <a:r>
              <a:rPr lang="zh-CN" altLang="en-US" sz="1000" dirty="0"/>
              <a:t>模式</a:t>
            </a:r>
            <a:r>
              <a:rPr lang="en-US" altLang="zh-CN" sz="1000" dirty="0"/>
              <a:t>:</a:t>
            </a:r>
            <a:r>
              <a:rPr lang="en-US" altLang="zh-CN" sz="1000" dirty="0" err="1"/>
              <a:t>apache</a:t>
            </a:r>
            <a:r>
              <a:rPr lang="en-US" altLang="zh-CN" sz="1000" dirty="0"/>
              <a:t> 2.4</a:t>
            </a:r>
            <a:r>
              <a:rPr lang="zh-CN" altLang="en-US" sz="1000" dirty="0"/>
              <a:t>版本后新发布的模式，也是</a:t>
            </a:r>
            <a:r>
              <a:rPr lang="en-US" altLang="zh-CN" sz="1000" dirty="0" err="1"/>
              <a:t>apache</a:t>
            </a:r>
            <a:r>
              <a:rPr lang="zh-CN" altLang="en-US" sz="1000" dirty="0"/>
              <a:t>最新的工作模式，在该模式下，每个子线程下面有一个监听线程，用于改善</a:t>
            </a:r>
            <a:r>
              <a:rPr lang="en-US" altLang="zh-CN" sz="1000" dirty="0"/>
              <a:t>worker</a:t>
            </a:r>
            <a:r>
              <a:rPr lang="zh-CN" altLang="en-US" sz="1000" dirty="0"/>
              <a:t>模式下长连接一直占用线程的问题，监听线程负责接收请求，并将其转发给工作线程，工作线程负责真正处理请求，监控线程只会把真正的请求转发给工作线程，而空线程不会转发</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58</a:t>
            </a:fld>
            <a:endParaRPr lang="zh-CN" altLang="en-US"/>
          </a:p>
        </p:txBody>
      </p:sp>
    </p:spTree>
    <p:extLst>
      <p:ext uri="{BB962C8B-B14F-4D97-AF65-F5344CB8AC3E}">
        <p14:creationId xmlns:p14="http://schemas.microsoft.com/office/powerpoint/2010/main" val="2911399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62</a:t>
            </a:fld>
            <a:endParaRPr lang="zh-CN" altLang="en-US"/>
          </a:p>
        </p:txBody>
      </p:sp>
    </p:spTree>
    <p:extLst>
      <p:ext uri="{BB962C8B-B14F-4D97-AF65-F5344CB8AC3E}">
        <p14:creationId xmlns:p14="http://schemas.microsoft.com/office/powerpoint/2010/main" val="4693117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63</a:t>
            </a:fld>
            <a:endParaRPr lang="zh-CN" altLang="en-US"/>
          </a:p>
        </p:txBody>
      </p:sp>
    </p:spTree>
    <p:extLst>
      <p:ext uri="{BB962C8B-B14F-4D97-AF65-F5344CB8AC3E}">
        <p14:creationId xmlns:p14="http://schemas.microsoft.com/office/powerpoint/2010/main" val="17854083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65</a:t>
            </a:fld>
            <a:endParaRPr lang="zh-CN" altLang="en-US"/>
          </a:p>
        </p:txBody>
      </p:sp>
    </p:spTree>
    <p:extLst>
      <p:ext uri="{BB962C8B-B14F-4D97-AF65-F5344CB8AC3E}">
        <p14:creationId xmlns:p14="http://schemas.microsoft.com/office/powerpoint/2010/main" val="1313715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66</a:t>
            </a:fld>
            <a:endParaRPr lang="zh-CN" altLang="en-US"/>
          </a:p>
        </p:txBody>
      </p:sp>
    </p:spTree>
    <p:extLst>
      <p:ext uri="{BB962C8B-B14F-4D97-AF65-F5344CB8AC3E}">
        <p14:creationId xmlns:p14="http://schemas.microsoft.com/office/powerpoint/2010/main" val="3864095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67</a:t>
            </a:fld>
            <a:endParaRPr lang="zh-CN" altLang="en-US"/>
          </a:p>
        </p:txBody>
      </p:sp>
    </p:spTree>
    <p:extLst>
      <p:ext uri="{BB962C8B-B14F-4D97-AF65-F5344CB8AC3E}">
        <p14:creationId xmlns:p14="http://schemas.microsoft.com/office/powerpoint/2010/main" val="925559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68</a:t>
            </a:fld>
            <a:endParaRPr lang="zh-CN" altLang="en-US"/>
          </a:p>
        </p:txBody>
      </p:sp>
    </p:spTree>
    <p:extLst>
      <p:ext uri="{BB962C8B-B14F-4D97-AF65-F5344CB8AC3E}">
        <p14:creationId xmlns:p14="http://schemas.microsoft.com/office/powerpoint/2010/main" val="4157578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69</a:t>
            </a:fld>
            <a:endParaRPr lang="zh-CN" altLang="en-US"/>
          </a:p>
        </p:txBody>
      </p:sp>
    </p:spTree>
    <p:extLst>
      <p:ext uri="{BB962C8B-B14F-4D97-AF65-F5344CB8AC3E}">
        <p14:creationId xmlns:p14="http://schemas.microsoft.com/office/powerpoint/2010/main" val="340869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lnSpc>
                <a:spcPct val="160000"/>
              </a:lnSpc>
              <a:spcAft>
                <a:spcPts val="1000"/>
              </a:spcAft>
              <a:buNone/>
            </a:pP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【答案】</a:t>
            </a:r>
            <a:r>
              <a:rPr lang="en-US"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B</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spcAft>
                <a:spcPts val="1000"/>
              </a:spcAft>
              <a:buNone/>
            </a:pP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【解析】用户级线程仅存在于用户空间中，与内核无关，其线程库对用户线程的调度算法与</a:t>
            </a:r>
            <a:r>
              <a:rPr lang="en-US"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OS</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的调度算法无关，不需要操作系统为每个用户级线程建立一个线程控制块。</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72</a:t>
            </a:fld>
            <a:endParaRPr lang="zh-CN" altLang="en-US"/>
          </a:p>
        </p:txBody>
      </p:sp>
    </p:spTree>
    <p:extLst>
      <p:ext uri="{BB962C8B-B14F-4D97-AF65-F5344CB8AC3E}">
        <p14:creationId xmlns:p14="http://schemas.microsoft.com/office/powerpoint/2010/main" val="34187862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slideMaster" Target="../slideMasters/slideMaster1.xml"/><Relationship Id="rId4" Type="http://schemas.openxmlformats.org/officeDocument/2006/relationships/tags" Target="../tags/tag3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0.xml"/><Relationship Id="rId7" Type="http://schemas.openxmlformats.org/officeDocument/2006/relationships/slideMaster" Target="../slideMasters/slideMaster1.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slideMaster" Target="../slideMasters/slideMaster1.xml"/><Relationship Id="rId5" Type="http://schemas.openxmlformats.org/officeDocument/2006/relationships/tags" Target="../tags/tag57.xml"/><Relationship Id="rId4" Type="http://schemas.openxmlformats.org/officeDocument/2006/relationships/tags" Target="../tags/tag5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
        <p:nvSpPr>
          <p:cNvPr id="12" name="任意多边形 11"/>
          <p:cNvSpPr/>
          <p:nvPr userDrawn="1"/>
        </p:nvSpPr>
        <p:spPr>
          <a:xfrm>
            <a:off x="0" y="1264921"/>
            <a:ext cx="12206817" cy="5281083"/>
          </a:xfrm>
          <a:custGeom>
            <a:avLst/>
            <a:gdLst/>
            <a:ahLst/>
            <a:cxnLst/>
            <a:rect l="0" t="0" r="0" b="0"/>
            <a:pathLst>
              <a:path w="5767" h="2730">
                <a:moveTo>
                  <a:pt x="8" y="2730"/>
                </a:moveTo>
                <a:lnTo>
                  <a:pt x="3040" y="2726"/>
                </a:lnTo>
                <a:cubicBezTo>
                  <a:pt x="3181" y="2726"/>
                  <a:pt x="3224" y="2728"/>
                  <a:pt x="3347" y="2630"/>
                </a:cubicBezTo>
                <a:lnTo>
                  <a:pt x="3795" y="2170"/>
                </a:lnTo>
                <a:cubicBezTo>
                  <a:pt x="3923" y="2078"/>
                  <a:pt x="3942" y="2074"/>
                  <a:pt x="4115" y="2080"/>
                </a:cubicBezTo>
                <a:lnTo>
                  <a:pt x="5760" y="2093"/>
                </a:lnTo>
                <a:lnTo>
                  <a:pt x="5767" y="0"/>
                </a:lnTo>
                <a:lnTo>
                  <a:pt x="0" y="1"/>
                </a:lnTo>
                <a:lnTo>
                  <a:pt x="8" y="2730"/>
                </a:lnTo>
                <a:close/>
              </a:path>
            </a:pathLst>
          </a:custGeom>
          <a:gradFill rotWithShape="1">
            <a:gsLst>
              <a:gs pos="0">
                <a:schemeClr val="bg1">
                  <a:gamma/>
                  <a:tint val="0"/>
                  <a:invGamma/>
                  <a:alpha val="100000"/>
                </a:schemeClr>
              </a:gs>
              <a:gs pos="100000">
                <a:schemeClr val="bg1">
                  <a:alpha val="89999"/>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2" name="标题 1"/>
          <p:cNvSpPr>
            <a:spLocks noGrp="1"/>
          </p:cNvSpPr>
          <p:nvPr>
            <p:ph type="ctrTitle" hasCustomPrompt="1"/>
            <p:custDataLst>
              <p:tags r:id="rId1"/>
            </p:custDataLst>
          </p:nvPr>
        </p:nvSpPr>
        <p:spPr>
          <a:xfrm>
            <a:off x="3775075" y="1981835"/>
            <a:ext cx="5626100" cy="1236345"/>
          </a:xfrm>
          <a:noFill/>
          <a:extLst>
            <a:ext uri="{909E8E84-426E-40DD-AFC4-6F175D3DCCD1}">
              <a14:hiddenFill xmlns:a14="http://schemas.microsoft.com/office/drawing/2010/main">
                <a:solidFill>
                  <a:schemeClr val="accent1">
                    <a:lumMod val="75000"/>
                  </a:schemeClr>
                </a:solidFill>
              </a14:hiddenFill>
            </a:ext>
          </a:extLst>
        </p:spPr>
        <p:txBody>
          <a:bodyPr lIns="90000" tIns="46800" rIns="90000" bIns="46800" anchor="b" anchorCtr="0">
            <a:normAutofit/>
          </a:bodyPr>
          <a:lstStyle>
            <a:lvl1pPr algn="ctr">
              <a:defRPr sz="4800" b="1" i="0" spc="300" baseline="0">
                <a:solidFill>
                  <a:schemeClr val="accent1">
                    <a:lumMod val="75000"/>
                  </a:schemeClr>
                </a:solidFill>
                <a:effectLst/>
              </a:defRPr>
            </a:lvl1pPr>
          </a:lstStyle>
          <a:p>
            <a:r>
              <a:rPr lang="zh-CN" altLang="en-US" dirty="0"/>
              <a:t>单击此处编辑标题</a:t>
            </a:r>
          </a:p>
        </p:txBody>
      </p:sp>
      <p:sp>
        <p:nvSpPr>
          <p:cNvPr id="8" name="任意多边形 7"/>
          <p:cNvSpPr/>
          <p:nvPr userDrawn="1"/>
        </p:nvSpPr>
        <p:spPr>
          <a:xfrm>
            <a:off x="156633" y="582930"/>
            <a:ext cx="12035367" cy="575733"/>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sp>
        <p:nvSpPr>
          <p:cNvPr id="10" name="文本框 9"/>
          <p:cNvSpPr txBox="1"/>
          <p:nvPr userDrawn="1"/>
        </p:nvSpPr>
        <p:spPr>
          <a:xfrm>
            <a:off x="8974455" y="389890"/>
            <a:ext cx="2717165" cy="460375"/>
          </a:xfrm>
          <a:prstGeom prst="rect">
            <a:avLst/>
          </a:prstGeom>
          <a:solidFill>
            <a:schemeClr val="accent1">
              <a:lumMod val="75000"/>
            </a:schemeClr>
          </a:solidFill>
          <a:scene3d>
            <a:camera prst="orthographicFront">
              <a:rot lat="0" lon="0" rev="0"/>
            </a:camera>
            <a:lightRig rig="threePt" dir="t"/>
          </a:scene3d>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rPr>
              <a:t>计算机操作系统</a:t>
            </a:r>
            <a:endParaRPr lang="zh-CN" altLang="zh-CN" sz="2400" b="1" spc="300" dirty="0">
              <a:solidFill>
                <a:srgbClr val="FFFFFF"/>
              </a:solidFill>
              <a:effectLst>
                <a:outerShdw blurRad="38100" dist="25400" dir="5400000" algn="ctr" rotWithShape="0">
                  <a:srgbClr val="6E747A">
                    <a:alpha val="43000"/>
                  </a:srgbClr>
                </a:outerShdw>
                <a:reflection blurRad="6350" stA="60000" endA="900" endPos="58000" dir="5400000" sy="-100000" algn="bl" rotWithShape="0"/>
              </a:effectLst>
              <a:uFillTx/>
              <a:latin typeface="Arial" panose="020B0604020202020204" pitchFamily="34" charset="0"/>
              <a:ea typeface="微软雅黑" panose="020B0503020204020204" pitchFamily="34" charset="-122"/>
              <a:cs typeface="+mj-cs"/>
              <a:sym typeface="+mn-ea"/>
            </a:endParaRPr>
          </a:p>
        </p:txBody>
      </p:sp>
      <p:sp>
        <p:nvSpPr>
          <p:cNvPr id="19" name="任意多边形 18"/>
          <p:cNvSpPr/>
          <p:nvPr userDrawn="1"/>
        </p:nvSpPr>
        <p:spPr>
          <a:xfrm flipH="1" flipV="1">
            <a:off x="-7620" y="5883488"/>
            <a:ext cx="12192000" cy="768349"/>
          </a:xfrm>
          <a:custGeom>
            <a:avLst/>
            <a:gdLst/>
            <a:ahLst/>
            <a:cxnLst/>
            <a:rect l="0" t="0" r="0" b="0"/>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alpha val="100000"/>
                </a:schemeClr>
              </a:gs>
              <a:gs pos="100000">
                <a:schemeClr val="tx2">
                  <a:lumMod val="20000"/>
                  <a:lumOff val="80000"/>
                </a:schemeClr>
              </a:gs>
            </a:gsLst>
            <a:lin ang="0" scaled="1"/>
            <a:tileRect/>
          </a:gra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p>
        </p:txBody>
      </p:sp>
      <p:grpSp>
        <p:nvGrpSpPr>
          <p:cNvPr id="20" name="Group 10"/>
          <p:cNvGrpSpPr/>
          <p:nvPr userDrawn="1"/>
        </p:nvGrpSpPr>
        <p:grpSpPr bwMode="auto">
          <a:xfrm>
            <a:off x="9160384" y="6070822"/>
            <a:ext cx="380048" cy="380121"/>
            <a:chOff x="0" y="0"/>
            <a:chExt cx="965499" cy="965499"/>
          </a:xfrm>
        </p:grpSpPr>
        <p:sp>
          <p:nvSpPr>
            <p:cNvPr id="21" name="AutoShape 11"/>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2" name="AutoShape 12"/>
            <p:cNvSpPr/>
            <p:nvPr/>
          </p:nvSpPr>
          <p:spPr bwMode="auto">
            <a:xfrm>
              <a:off x="285759" y="283328"/>
              <a:ext cx="393981" cy="393980"/>
            </a:xfrm>
            <a:custGeom>
              <a:avLst/>
              <a:gdLst>
                <a:gd name="T0" fmla="*/ 196991 w 21376"/>
                <a:gd name="T1" fmla="*/ 196990 h 21600"/>
                <a:gd name="T2" fmla="*/ 196991 w 21376"/>
                <a:gd name="T3" fmla="*/ 196990 h 21600"/>
                <a:gd name="T4" fmla="*/ 196991 w 21376"/>
                <a:gd name="T5" fmla="*/ 196990 h 21600"/>
                <a:gd name="T6" fmla="*/ 196991 w 21376"/>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3" name="Group 13"/>
          <p:cNvGrpSpPr/>
          <p:nvPr userDrawn="1"/>
        </p:nvGrpSpPr>
        <p:grpSpPr bwMode="auto">
          <a:xfrm>
            <a:off x="9697919" y="6070822"/>
            <a:ext cx="380673" cy="380121"/>
            <a:chOff x="0" y="0"/>
            <a:chExt cx="965499" cy="965499"/>
          </a:xfrm>
        </p:grpSpPr>
        <p:sp>
          <p:nvSpPr>
            <p:cNvPr id="24" name="AutoShape 14"/>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25" name="AutoShape 15"/>
            <p:cNvSpPr/>
            <p:nvPr/>
          </p:nvSpPr>
          <p:spPr bwMode="auto">
            <a:xfrm>
              <a:off x="285759" y="283328"/>
              <a:ext cx="393981" cy="393980"/>
            </a:xfrm>
            <a:custGeom>
              <a:avLst/>
              <a:gdLst>
                <a:gd name="T0" fmla="*/ 196991 w 21600"/>
                <a:gd name="T1" fmla="*/ 196990 h 21600"/>
                <a:gd name="T2" fmla="*/ 196991 w 21600"/>
                <a:gd name="T3" fmla="*/ 196990 h 21600"/>
                <a:gd name="T4" fmla="*/ 196991 w 21600"/>
                <a:gd name="T5" fmla="*/ 196990 h 21600"/>
                <a:gd name="T6" fmla="*/ 196991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328" y="11543"/>
                  </a:moveTo>
                  <a:cubicBezTo>
                    <a:pt x="21492" y="11930"/>
                    <a:pt x="21571" y="12337"/>
                    <a:pt x="21571" y="12758"/>
                  </a:cubicBezTo>
                  <a:cubicBezTo>
                    <a:pt x="21571" y="13464"/>
                    <a:pt x="21388" y="14105"/>
                    <a:pt x="21017" y="14678"/>
                  </a:cubicBezTo>
                  <a:cubicBezTo>
                    <a:pt x="21111" y="15215"/>
                    <a:pt x="21077" y="15745"/>
                    <a:pt x="20924" y="16285"/>
                  </a:cubicBezTo>
                  <a:cubicBezTo>
                    <a:pt x="20769" y="16819"/>
                    <a:pt x="20512" y="17287"/>
                    <a:pt x="20141" y="17697"/>
                  </a:cubicBezTo>
                  <a:cubicBezTo>
                    <a:pt x="20105" y="18451"/>
                    <a:pt x="19901" y="19081"/>
                    <a:pt x="19531" y="19580"/>
                  </a:cubicBezTo>
                  <a:cubicBezTo>
                    <a:pt x="19161" y="20080"/>
                    <a:pt x="18700" y="20481"/>
                    <a:pt x="18146" y="20783"/>
                  </a:cubicBezTo>
                  <a:cubicBezTo>
                    <a:pt x="17593" y="21088"/>
                    <a:pt x="16982" y="21297"/>
                    <a:pt x="16321" y="21419"/>
                  </a:cubicBezTo>
                  <a:cubicBezTo>
                    <a:pt x="15660" y="21540"/>
                    <a:pt x="15010" y="21599"/>
                    <a:pt x="14380" y="21599"/>
                  </a:cubicBezTo>
                  <a:cubicBezTo>
                    <a:pt x="13730" y="21599"/>
                    <a:pt x="13077" y="21554"/>
                    <a:pt x="12424" y="21461"/>
                  </a:cubicBezTo>
                  <a:cubicBezTo>
                    <a:pt x="11772" y="21362"/>
                    <a:pt x="11127" y="21235"/>
                    <a:pt x="10497" y="21074"/>
                  </a:cubicBezTo>
                  <a:cubicBezTo>
                    <a:pt x="9864" y="20894"/>
                    <a:pt x="9237" y="20702"/>
                    <a:pt x="8610" y="20493"/>
                  </a:cubicBezTo>
                  <a:cubicBezTo>
                    <a:pt x="7982" y="20286"/>
                    <a:pt x="7341" y="20182"/>
                    <a:pt x="6680" y="20182"/>
                  </a:cubicBezTo>
                  <a:lnTo>
                    <a:pt x="1607" y="20182"/>
                  </a:lnTo>
                  <a:cubicBezTo>
                    <a:pt x="1167" y="20182"/>
                    <a:pt x="785" y="20029"/>
                    <a:pt x="471" y="19713"/>
                  </a:cubicBezTo>
                  <a:cubicBezTo>
                    <a:pt x="158" y="19405"/>
                    <a:pt x="0" y="19024"/>
                    <a:pt x="0" y="18572"/>
                  </a:cubicBezTo>
                  <a:lnTo>
                    <a:pt x="0" y="9880"/>
                  </a:lnTo>
                  <a:cubicBezTo>
                    <a:pt x="0" y="9440"/>
                    <a:pt x="158" y="9064"/>
                    <a:pt x="471" y="8754"/>
                  </a:cubicBezTo>
                  <a:cubicBezTo>
                    <a:pt x="785" y="8440"/>
                    <a:pt x="1167" y="8285"/>
                    <a:pt x="1607" y="8285"/>
                  </a:cubicBezTo>
                  <a:lnTo>
                    <a:pt x="6315" y="8285"/>
                  </a:lnTo>
                  <a:cubicBezTo>
                    <a:pt x="6558" y="8160"/>
                    <a:pt x="6750" y="8022"/>
                    <a:pt x="6897" y="7872"/>
                  </a:cubicBezTo>
                  <a:cubicBezTo>
                    <a:pt x="7041" y="7723"/>
                    <a:pt x="7197" y="7548"/>
                    <a:pt x="7369" y="7342"/>
                  </a:cubicBezTo>
                  <a:cubicBezTo>
                    <a:pt x="7513" y="7161"/>
                    <a:pt x="7663" y="6986"/>
                    <a:pt x="7810" y="6819"/>
                  </a:cubicBezTo>
                  <a:cubicBezTo>
                    <a:pt x="7957" y="6653"/>
                    <a:pt x="8112" y="6483"/>
                    <a:pt x="8276" y="6311"/>
                  </a:cubicBezTo>
                  <a:cubicBezTo>
                    <a:pt x="8570" y="5997"/>
                    <a:pt x="8918" y="5690"/>
                    <a:pt x="9302" y="5385"/>
                  </a:cubicBezTo>
                  <a:cubicBezTo>
                    <a:pt x="9692" y="5085"/>
                    <a:pt x="9989" y="4749"/>
                    <a:pt x="10195" y="4379"/>
                  </a:cubicBezTo>
                  <a:cubicBezTo>
                    <a:pt x="10339" y="4117"/>
                    <a:pt x="10443" y="3826"/>
                    <a:pt x="10506" y="3507"/>
                  </a:cubicBezTo>
                  <a:cubicBezTo>
                    <a:pt x="10565" y="3188"/>
                    <a:pt x="10627" y="2866"/>
                    <a:pt x="10675" y="2538"/>
                  </a:cubicBezTo>
                  <a:cubicBezTo>
                    <a:pt x="10726" y="2216"/>
                    <a:pt x="10780" y="1900"/>
                    <a:pt x="10845" y="1592"/>
                  </a:cubicBezTo>
                  <a:cubicBezTo>
                    <a:pt x="10907" y="1287"/>
                    <a:pt x="11014" y="1016"/>
                    <a:pt x="11161" y="776"/>
                  </a:cubicBezTo>
                  <a:cubicBezTo>
                    <a:pt x="11311" y="536"/>
                    <a:pt x="11523" y="350"/>
                    <a:pt x="11800" y="208"/>
                  </a:cubicBezTo>
                  <a:cubicBezTo>
                    <a:pt x="12074" y="67"/>
                    <a:pt x="12441" y="0"/>
                    <a:pt x="12902" y="0"/>
                  </a:cubicBezTo>
                  <a:cubicBezTo>
                    <a:pt x="13450" y="0"/>
                    <a:pt x="13956" y="112"/>
                    <a:pt x="14411" y="344"/>
                  </a:cubicBezTo>
                  <a:cubicBezTo>
                    <a:pt x="14869" y="573"/>
                    <a:pt x="15250" y="881"/>
                    <a:pt x="15567" y="1270"/>
                  </a:cubicBezTo>
                  <a:cubicBezTo>
                    <a:pt x="15880" y="1657"/>
                    <a:pt x="16126" y="2101"/>
                    <a:pt x="16304" y="2600"/>
                  </a:cubicBezTo>
                  <a:cubicBezTo>
                    <a:pt x="16479" y="3103"/>
                    <a:pt x="16570" y="3609"/>
                    <a:pt x="16570" y="4123"/>
                  </a:cubicBezTo>
                  <a:cubicBezTo>
                    <a:pt x="16570" y="4653"/>
                    <a:pt x="16491" y="5162"/>
                    <a:pt x="16332" y="5645"/>
                  </a:cubicBezTo>
                  <a:cubicBezTo>
                    <a:pt x="16174" y="6125"/>
                    <a:pt x="15982" y="6610"/>
                    <a:pt x="15759" y="7096"/>
                  </a:cubicBezTo>
                  <a:cubicBezTo>
                    <a:pt x="16072" y="7079"/>
                    <a:pt x="16389" y="7057"/>
                    <a:pt x="16705" y="7034"/>
                  </a:cubicBezTo>
                  <a:cubicBezTo>
                    <a:pt x="17019" y="7011"/>
                    <a:pt x="17335" y="7000"/>
                    <a:pt x="17652" y="7000"/>
                  </a:cubicBezTo>
                  <a:cubicBezTo>
                    <a:pt x="18149" y="7000"/>
                    <a:pt x="18630" y="7048"/>
                    <a:pt x="19099" y="7144"/>
                  </a:cubicBezTo>
                  <a:cubicBezTo>
                    <a:pt x="19568" y="7237"/>
                    <a:pt x="19986" y="7395"/>
                    <a:pt x="20356" y="7616"/>
                  </a:cubicBezTo>
                  <a:cubicBezTo>
                    <a:pt x="20726" y="7839"/>
                    <a:pt x="21026" y="8144"/>
                    <a:pt x="21255" y="8528"/>
                  </a:cubicBezTo>
                  <a:cubicBezTo>
                    <a:pt x="21486" y="8918"/>
                    <a:pt x="21600" y="9409"/>
                    <a:pt x="21600" y="10002"/>
                  </a:cubicBezTo>
                  <a:cubicBezTo>
                    <a:pt x="21600" y="10265"/>
                    <a:pt x="21580" y="10519"/>
                    <a:pt x="21535" y="10773"/>
                  </a:cubicBezTo>
                  <a:cubicBezTo>
                    <a:pt x="21484" y="11030"/>
                    <a:pt x="21419" y="11284"/>
                    <a:pt x="21328" y="11543"/>
                  </a:cubicBezTo>
                  <a:moveTo>
                    <a:pt x="4258" y="18519"/>
                  </a:moveTo>
                  <a:cubicBezTo>
                    <a:pt x="4555" y="18519"/>
                    <a:pt x="4809" y="18417"/>
                    <a:pt x="5024" y="18214"/>
                  </a:cubicBezTo>
                  <a:cubicBezTo>
                    <a:pt x="5233" y="18013"/>
                    <a:pt x="5340" y="17759"/>
                    <a:pt x="5340" y="17454"/>
                  </a:cubicBezTo>
                  <a:cubicBezTo>
                    <a:pt x="5340" y="17155"/>
                    <a:pt x="5233" y="16900"/>
                    <a:pt x="5024" y="16686"/>
                  </a:cubicBezTo>
                  <a:cubicBezTo>
                    <a:pt x="4812" y="16477"/>
                    <a:pt x="4557" y="16372"/>
                    <a:pt x="4258" y="16372"/>
                  </a:cubicBezTo>
                  <a:cubicBezTo>
                    <a:pt x="3941" y="16372"/>
                    <a:pt x="3684" y="16477"/>
                    <a:pt x="3486" y="16686"/>
                  </a:cubicBezTo>
                  <a:cubicBezTo>
                    <a:pt x="3289" y="16900"/>
                    <a:pt x="3190" y="17155"/>
                    <a:pt x="3190" y="17454"/>
                  </a:cubicBezTo>
                  <a:cubicBezTo>
                    <a:pt x="3190" y="17767"/>
                    <a:pt x="3289" y="18024"/>
                    <a:pt x="3486" y="18222"/>
                  </a:cubicBezTo>
                  <a:cubicBezTo>
                    <a:pt x="3681" y="18420"/>
                    <a:pt x="3939" y="18519"/>
                    <a:pt x="4258" y="18519"/>
                  </a:cubicBezTo>
                  <a:moveTo>
                    <a:pt x="19164" y="14342"/>
                  </a:moveTo>
                  <a:cubicBezTo>
                    <a:pt x="19703" y="13901"/>
                    <a:pt x="19975" y="13345"/>
                    <a:pt x="19975" y="12679"/>
                  </a:cubicBezTo>
                  <a:cubicBezTo>
                    <a:pt x="19975" y="12473"/>
                    <a:pt x="19918" y="12281"/>
                    <a:pt x="19805" y="12097"/>
                  </a:cubicBezTo>
                  <a:cubicBezTo>
                    <a:pt x="19695" y="11919"/>
                    <a:pt x="19576" y="11761"/>
                    <a:pt x="19446" y="11623"/>
                  </a:cubicBezTo>
                  <a:cubicBezTo>
                    <a:pt x="19590" y="11363"/>
                    <a:pt x="19720" y="11106"/>
                    <a:pt x="19833" y="10849"/>
                  </a:cubicBezTo>
                  <a:cubicBezTo>
                    <a:pt x="19944" y="10592"/>
                    <a:pt x="20003" y="10312"/>
                    <a:pt x="20003" y="10002"/>
                  </a:cubicBezTo>
                  <a:cubicBezTo>
                    <a:pt x="20003" y="9688"/>
                    <a:pt x="19924" y="9440"/>
                    <a:pt x="19766" y="9251"/>
                  </a:cubicBezTo>
                  <a:cubicBezTo>
                    <a:pt x="19607" y="9070"/>
                    <a:pt x="19415" y="8929"/>
                    <a:pt x="19184" y="8833"/>
                  </a:cubicBezTo>
                  <a:cubicBezTo>
                    <a:pt x="18955" y="8739"/>
                    <a:pt x="18698" y="8683"/>
                    <a:pt x="18418" y="8663"/>
                  </a:cubicBezTo>
                  <a:cubicBezTo>
                    <a:pt x="18138" y="8643"/>
                    <a:pt x="17884" y="8635"/>
                    <a:pt x="17649" y="8635"/>
                  </a:cubicBezTo>
                  <a:cubicBezTo>
                    <a:pt x="17242" y="8635"/>
                    <a:pt x="16835" y="8649"/>
                    <a:pt x="16423" y="8677"/>
                  </a:cubicBezTo>
                  <a:cubicBezTo>
                    <a:pt x="16010" y="8706"/>
                    <a:pt x="15606" y="8720"/>
                    <a:pt x="15199" y="8720"/>
                  </a:cubicBezTo>
                  <a:cubicBezTo>
                    <a:pt x="14917" y="8720"/>
                    <a:pt x="14643" y="8706"/>
                    <a:pt x="14366" y="8677"/>
                  </a:cubicBezTo>
                  <a:cubicBezTo>
                    <a:pt x="14089" y="8649"/>
                    <a:pt x="13829" y="8584"/>
                    <a:pt x="13574" y="8474"/>
                  </a:cubicBezTo>
                  <a:cubicBezTo>
                    <a:pt x="13574" y="8104"/>
                    <a:pt x="13645" y="7754"/>
                    <a:pt x="13792" y="7421"/>
                  </a:cubicBezTo>
                  <a:cubicBezTo>
                    <a:pt x="13936" y="7087"/>
                    <a:pt x="14094" y="6751"/>
                    <a:pt x="14275" y="6413"/>
                  </a:cubicBezTo>
                  <a:cubicBezTo>
                    <a:pt x="14448" y="6074"/>
                    <a:pt x="14606" y="5721"/>
                    <a:pt x="14747" y="5351"/>
                  </a:cubicBezTo>
                  <a:cubicBezTo>
                    <a:pt x="14886" y="4984"/>
                    <a:pt x="14953" y="4574"/>
                    <a:pt x="14953" y="4122"/>
                  </a:cubicBezTo>
                  <a:cubicBezTo>
                    <a:pt x="14953" y="3823"/>
                    <a:pt x="14905" y="3529"/>
                    <a:pt x="14812" y="3236"/>
                  </a:cubicBezTo>
                  <a:cubicBezTo>
                    <a:pt x="14716" y="2945"/>
                    <a:pt x="14583" y="2677"/>
                    <a:pt x="14411" y="2439"/>
                  </a:cubicBezTo>
                  <a:cubicBezTo>
                    <a:pt x="14238" y="2199"/>
                    <a:pt x="14027" y="2002"/>
                    <a:pt x="13775" y="1843"/>
                  </a:cubicBezTo>
                  <a:cubicBezTo>
                    <a:pt x="13521" y="1688"/>
                    <a:pt x="13230" y="1606"/>
                    <a:pt x="12893" y="1606"/>
                  </a:cubicBezTo>
                  <a:lnTo>
                    <a:pt x="12744" y="1606"/>
                  </a:lnTo>
                  <a:cubicBezTo>
                    <a:pt x="12681" y="1606"/>
                    <a:pt x="12631" y="1617"/>
                    <a:pt x="12594" y="1634"/>
                  </a:cubicBezTo>
                  <a:cubicBezTo>
                    <a:pt x="12523" y="1671"/>
                    <a:pt x="12481" y="1705"/>
                    <a:pt x="12472" y="1742"/>
                  </a:cubicBezTo>
                  <a:cubicBezTo>
                    <a:pt x="12464" y="1778"/>
                    <a:pt x="12450" y="1838"/>
                    <a:pt x="12430" y="1920"/>
                  </a:cubicBezTo>
                  <a:cubicBezTo>
                    <a:pt x="12323" y="2450"/>
                    <a:pt x="12221" y="3007"/>
                    <a:pt x="12128" y="3586"/>
                  </a:cubicBezTo>
                  <a:cubicBezTo>
                    <a:pt x="12034" y="4167"/>
                    <a:pt x="11854" y="4698"/>
                    <a:pt x="11596" y="5176"/>
                  </a:cubicBezTo>
                  <a:cubicBezTo>
                    <a:pt x="11334" y="5636"/>
                    <a:pt x="11000" y="6034"/>
                    <a:pt x="10596" y="6367"/>
                  </a:cubicBezTo>
                  <a:cubicBezTo>
                    <a:pt x="10189" y="6701"/>
                    <a:pt x="9802" y="7051"/>
                    <a:pt x="9432" y="7421"/>
                  </a:cubicBezTo>
                  <a:cubicBezTo>
                    <a:pt x="9169" y="7700"/>
                    <a:pt x="8949" y="7954"/>
                    <a:pt x="8771" y="8183"/>
                  </a:cubicBezTo>
                  <a:cubicBezTo>
                    <a:pt x="8593" y="8412"/>
                    <a:pt x="8403" y="8632"/>
                    <a:pt x="8211" y="8833"/>
                  </a:cubicBezTo>
                  <a:cubicBezTo>
                    <a:pt x="8016" y="9036"/>
                    <a:pt x="7799" y="9222"/>
                    <a:pt x="7556" y="9400"/>
                  </a:cubicBezTo>
                  <a:cubicBezTo>
                    <a:pt x="7313" y="9575"/>
                    <a:pt x="7019" y="9736"/>
                    <a:pt x="6674" y="9880"/>
                  </a:cubicBezTo>
                  <a:lnTo>
                    <a:pt x="6646" y="9880"/>
                  </a:lnTo>
                  <a:lnTo>
                    <a:pt x="6646" y="18572"/>
                  </a:lnTo>
                  <a:cubicBezTo>
                    <a:pt x="7279" y="18572"/>
                    <a:pt x="7889" y="18649"/>
                    <a:pt x="8485" y="18795"/>
                  </a:cubicBezTo>
                  <a:cubicBezTo>
                    <a:pt x="9081" y="18945"/>
                    <a:pt x="9683" y="19103"/>
                    <a:pt x="10294" y="19270"/>
                  </a:cubicBezTo>
                  <a:cubicBezTo>
                    <a:pt x="10901" y="19439"/>
                    <a:pt x="11537" y="19592"/>
                    <a:pt x="12207" y="19741"/>
                  </a:cubicBezTo>
                  <a:cubicBezTo>
                    <a:pt x="12874" y="19891"/>
                    <a:pt x="13594" y="19965"/>
                    <a:pt x="14374" y="19965"/>
                  </a:cubicBezTo>
                  <a:cubicBezTo>
                    <a:pt x="14781" y="19965"/>
                    <a:pt x="15222" y="19939"/>
                    <a:pt x="15699" y="19885"/>
                  </a:cubicBezTo>
                  <a:cubicBezTo>
                    <a:pt x="16177" y="19829"/>
                    <a:pt x="16626" y="19710"/>
                    <a:pt x="17047" y="19527"/>
                  </a:cubicBezTo>
                  <a:cubicBezTo>
                    <a:pt x="17468" y="19343"/>
                    <a:pt x="17816" y="19086"/>
                    <a:pt x="18101" y="18762"/>
                  </a:cubicBezTo>
                  <a:cubicBezTo>
                    <a:pt x="18387" y="18440"/>
                    <a:pt x="18525" y="18010"/>
                    <a:pt x="18525" y="17477"/>
                  </a:cubicBezTo>
                  <a:cubicBezTo>
                    <a:pt x="18525" y="17386"/>
                    <a:pt x="18522" y="17304"/>
                    <a:pt x="18517" y="17225"/>
                  </a:cubicBezTo>
                  <a:cubicBezTo>
                    <a:pt x="18503" y="17152"/>
                    <a:pt x="18488" y="17070"/>
                    <a:pt x="18471" y="16980"/>
                  </a:cubicBezTo>
                  <a:cubicBezTo>
                    <a:pt x="18785" y="16836"/>
                    <a:pt x="19028" y="16596"/>
                    <a:pt x="19195" y="16262"/>
                  </a:cubicBezTo>
                  <a:cubicBezTo>
                    <a:pt x="19364" y="15929"/>
                    <a:pt x="19446" y="15593"/>
                    <a:pt x="19446" y="15263"/>
                  </a:cubicBezTo>
                  <a:cubicBezTo>
                    <a:pt x="19449" y="14912"/>
                    <a:pt x="19350" y="14605"/>
                    <a:pt x="19164" y="1434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26" name="Group 16"/>
          <p:cNvGrpSpPr/>
          <p:nvPr userDrawn="1"/>
        </p:nvGrpSpPr>
        <p:grpSpPr bwMode="auto">
          <a:xfrm>
            <a:off x="10236079" y="6070822"/>
            <a:ext cx="380048" cy="380121"/>
            <a:chOff x="0" y="0"/>
            <a:chExt cx="965499" cy="965499"/>
          </a:xfrm>
        </p:grpSpPr>
        <p:sp>
          <p:nvSpPr>
            <p:cNvPr id="27" name="AutoShape 17"/>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0" name="AutoShape 18"/>
            <p:cNvSpPr/>
            <p:nvPr/>
          </p:nvSpPr>
          <p:spPr bwMode="auto">
            <a:xfrm>
              <a:off x="293617" y="264823"/>
              <a:ext cx="393980" cy="393980"/>
            </a:xfrm>
            <a:custGeom>
              <a:avLst/>
              <a:gdLst>
                <a:gd name="T0" fmla="*/ 196990 w 21600"/>
                <a:gd name="T1" fmla="*/ 196990 h 21600"/>
                <a:gd name="T2" fmla="*/ 196990 w 21600"/>
                <a:gd name="T3" fmla="*/ 196990 h 21600"/>
                <a:gd name="T4" fmla="*/ 196990 w 21600"/>
                <a:gd name="T5" fmla="*/ 196990 h 21600"/>
                <a:gd name="T6" fmla="*/ 196990 w 21600"/>
                <a:gd name="T7" fmla="*/ 196990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1600" y="6949"/>
                  </a:moveTo>
                  <a:cubicBezTo>
                    <a:pt x="21600"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lnTo>
                    <a:pt x="21600"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1" name="Group 19"/>
          <p:cNvGrpSpPr/>
          <p:nvPr userDrawn="1"/>
        </p:nvGrpSpPr>
        <p:grpSpPr bwMode="auto">
          <a:xfrm>
            <a:off x="10773613" y="6070822"/>
            <a:ext cx="380048" cy="380121"/>
            <a:chOff x="0" y="0"/>
            <a:chExt cx="965499" cy="965499"/>
          </a:xfrm>
        </p:grpSpPr>
        <p:sp>
          <p:nvSpPr>
            <p:cNvPr id="32" name="AutoShape 20"/>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3" name="AutoShape 21"/>
            <p:cNvSpPr/>
            <p:nvPr/>
          </p:nvSpPr>
          <p:spPr bwMode="auto">
            <a:xfrm>
              <a:off x="292545" y="314566"/>
              <a:ext cx="380408" cy="307104"/>
            </a:xfrm>
            <a:custGeom>
              <a:avLst/>
              <a:gdLst>
                <a:gd name="T0" fmla="*/ 190204 w 21600"/>
                <a:gd name="T1" fmla="*/ 153552 h 21600"/>
                <a:gd name="T2" fmla="*/ 190204 w 21600"/>
                <a:gd name="T3" fmla="*/ 153552 h 21600"/>
                <a:gd name="T4" fmla="*/ 190204 w 21600"/>
                <a:gd name="T5" fmla="*/ 153552 h 21600"/>
                <a:gd name="T6" fmla="*/ 190204 w 21600"/>
                <a:gd name="T7" fmla="*/ 153552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20263" y="3222"/>
                  </a:moveTo>
                  <a:cubicBezTo>
                    <a:pt x="20632" y="3222"/>
                    <a:pt x="20946" y="3384"/>
                    <a:pt x="21208" y="3713"/>
                  </a:cubicBezTo>
                  <a:cubicBezTo>
                    <a:pt x="21470" y="4042"/>
                    <a:pt x="21600" y="4427"/>
                    <a:pt x="21600" y="4865"/>
                  </a:cubicBezTo>
                  <a:lnTo>
                    <a:pt x="21600" y="19984"/>
                  </a:lnTo>
                  <a:cubicBezTo>
                    <a:pt x="21600" y="20421"/>
                    <a:pt x="21470" y="20803"/>
                    <a:pt x="21208" y="21121"/>
                  </a:cubicBezTo>
                  <a:cubicBezTo>
                    <a:pt x="20946" y="21441"/>
                    <a:pt x="20632" y="21600"/>
                    <a:pt x="20263" y="21600"/>
                  </a:cubicBezTo>
                  <a:lnTo>
                    <a:pt x="1348" y="21600"/>
                  </a:lnTo>
                  <a:cubicBezTo>
                    <a:pt x="981" y="21600"/>
                    <a:pt x="663" y="21441"/>
                    <a:pt x="399" y="21121"/>
                  </a:cubicBezTo>
                  <a:cubicBezTo>
                    <a:pt x="134" y="20803"/>
                    <a:pt x="0" y="20421"/>
                    <a:pt x="0" y="19984"/>
                  </a:cubicBezTo>
                  <a:lnTo>
                    <a:pt x="0" y="4865"/>
                  </a:lnTo>
                  <a:cubicBezTo>
                    <a:pt x="0" y="4427"/>
                    <a:pt x="134" y="4042"/>
                    <a:pt x="399" y="3713"/>
                  </a:cubicBezTo>
                  <a:cubicBezTo>
                    <a:pt x="663" y="3384"/>
                    <a:pt x="981" y="3222"/>
                    <a:pt x="1348" y="3222"/>
                  </a:cubicBezTo>
                  <a:lnTo>
                    <a:pt x="5638" y="3222"/>
                  </a:lnTo>
                  <a:lnTo>
                    <a:pt x="6318" y="1460"/>
                  </a:lnTo>
                  <a:cubicBezTo>
                    <a:pt x="6458" y="1057"/>
                    <a:pt x="6717" y="713"/>
                    <a:pt x="7089" y="425"/>
                  </a:cubicBezTo>
                  <a:cubicBezTo>
                    <a:pt x="7466" y="143"/>
                    <a:pt x="7838" y="0"/>
                    <a:pt x="8203" y="0"/>
                  </a:cubicBezTo>
                  <a:lnTo>
                    <a:pt x="13396" y="0"/>
                  </a:lnTo>
                  <a:cubicBezTo>
                    <a:pt x="13763" y="0"/>
                    <a:pt x="14135" y="143"/>
                    <a:pt x="14510" y="425"/>
                  </a:cubicBezTo>
                  <a:cubicBezTo>
                    <a:pt x="14884" y="713"/>
                    <a:pt x="15146" y="1057"/>
                    <a:pt x="15293" y="1460"/>
                  </a:cubicBezTo>
                  <a:lnTo>
                    <a:pt x="15961" y="3222"/>
                  </a:lnTo>
                  <a:lnTo>
                    <a:pt x="20263" y="3222"/>
                  </a:lnTo>
                  <a:close/>
                  <a:moveTo>
                    <a:pt x="10806" y="19185"/>
                  </a:moveTo>
                  <a:cubicBezTo>
                    <a:pt x="11572" y="19185"/>
                    <a:pt x="12299" y="19002"/>
                    <a:pt x="12987" y="18650"/>
                  </a:cubicBezTo>
                  <a:cubicBezTo>
                    <a:pt x="13672" y="18294"/>
                    <a:pt x="14270" y="17810"/>
                    <a:pt x="14774" y="17196"/>
                  </a:cubicBezTo>
                  <a:cubicBezTo>
                    <a:pt x="15278" y="16582"/>
                    <a:pt x="15677" y="15862"/>
                    <a:pt x="15974" y="15048"/>
                  </a:cubicBezTo>
                  <a:cubicBezTo>
                    <a:pt x="16270" y="14234"/>
                    <a:pt x="16419" y="13356"/>
                    <a:pt x="16419" y="12421"/>
                  </a:cubicBezTo>
                  <a:cubicBezTo>
                    <a:pt x="16419" y="11499"/>
                    <a:pt x="16270" y="10623"/>
                    <a:pt x="15974" y="9795"/>
                  </a:cubicBezTo>
                  <a:cubicBezTo>
                    <a:pt x="15677" y="8966"/>
                    <a:pt x="15278" y="8249"/>
                    <a:pt x="14774" y="7644"/>
                  </a:cubicBezTo>
                  <a:cubicBezTo>
                    <a:pt x="14270" y="7036"/>
                    <a:pt x="13672" y="6557"/>
                    <a:pt x="12987" y="6199"/>
                  </a:cubicBezTo>
                  <a:cubicBezTo>
                    <a:pt x="12299" y="5843"/>
                    <a:pt x="11572" y="5667"/>
                    <a:pt x="10806" y="5667"/>
                  </a:cubicBezTo>
                  <a:cubicBezTo>
                    <a:pt x="10039" y="5667"/>
                    <a:pt x="9312" y="5846"/>
                    <a:pt x="8619" y="6199"/>
                  </a:cubicBezTo>
                  <a:cubicBezTo>
                    <a:pt x="7929" y="6557"/>
                    <a:pt x="7332" y="7036"/>
                    <a:pt x="6827" y="7644"/>
                  </a:cubicBezTo>
                  <a:cubicBezTo>
                    <a:pt x="6323" y="8249"/>
                    <a:pt x="5922" y="8963"/>
                    <a:pt x="5625" y="9789"/>
                  </a:cubicBezTo>
                  <a:cubicBezTo>
                    <a:pt x="5329" y="10612"/>
                    <a:pt x="5180" y="11490"/>
                    <a:pt x="5180" y="12421"/>
                  </a:cubicBezTo>
                  <a:cubicBezTo>
                    <a:pt x="5180" y="13356"/>
                    <a:pt x="5329" y="14234"/>
                    <a:pt x="5625" y="15048"/>
                  </a:cubicBezTo>
                  <a:cubicBezTo>
                    <a:pt x="5922" y="15862"/>
                    <a:pt x="6323" y="16582"/>
                    <a:pt x="6827" y="17196"/>
                  </a:cubicBezTo>
                  <a:cubicBezTo>
                    <a:pt x="7332" y="17810"/>
                    <a:pt x="7929" y="18294"/>
                    <a:pt x="8619" y="18650"/>
                  </a:cubicBezTo>
                  <a:cubicBezTo>
                    <a:pt x="9312" y="19005"/>
                    <a:pt x="10039" y="19185"/>
                    <a:pt x="10806" y="19185"/>
                  </a:cubicBezTo>
                  <a:moveTo>
                    <a:pt x="10806" y="7832"/>
                  </a:moveTo>
                  <a:cubicBezTo>
                    <a:pt x="11337" y="7832"/>
                    <a:pt x="11834" y="7953"/>
                    <a:pt x="12294" y="8191"/>
                  </a:cubicBezTo>
                  <a:cubicBezTo>
                    <a:pt x="12754" y="8432"/>
                    <a:pt x="13158" y="8755"/>
                    <a:pt x="13501" y="9169"/>
                  </a:cubicBezTo>
                  <a:cubicBezTo>
                    <a:pt x="13846" y="9583"/>
                    <a:pt x="14118" y="10068"/>
                    <a:pt x="14316" y="10623"/>
                  </a:cubicBezTo>
                  <a:cubicBezTo>
                    <a:pt x="14515" y="11184"/>
                    <a:pt x="14615" y="11781"/>
                    <a:pt x="14615" y="12421"/>
                  </a:cubicBezTo>
                  <a:cubicBezTo>
                    <a:pt x="14615" y="13056"/>
                    <a:pt x="14515" y="13649"/>
                    <a:pt x="14316" y="14205"/>
                  </a:cubicBezTo>
                  <a:cubicBezTo>
                    <a:pt x="14118" y="14757"/>
                    <a:pt x="13846" y="15245"/>
                    <a:pt x="13501" y="15668"/>
                  </a:cubicBezTo>
                  <a:cubicBezTo>
                    <a:pt x="13158" y="16091"/>
                    <a:pt x="12752" y="16420"/>
                    <a:pt x="12289" y="16661"/>
                  </a:cubicBezTo>
                  <a:cubicBezTo>
                    <a:pt x="11824" y="16899"/>
                    <a:pt x="11330" y="17016"/>
                    <a:pt x="10806" y="17016"/>
                  </a:cubicBezTo>
                  <a:cubicBezTo>
                    <a:pt x="10274" y="17016"/>
                    <a:pt x="9777" y="16899"/>
                    <a:pt x="9312" y="16661"/>
                  </a:cubicBezTo>
                  <a:cubicBezTo>
                    <a:pt x="8847" y="16420"/>
                    <a:pt x="8443" y="16091"/>
                    <a:pt x="8100" y="15668"/>
                  </a:cubicBezTo>
                  <a:cubicBezTo>
                    <a:pt x="7755" y="15245"/>
                    <a:pt x="7483" y="14754"/>
                    <a:pt x="7285" y="14199"/>
                  </a:cubicBezTo>
                  <a:cubicBezTo>
                    <a:pt x="7084" y="13641"/>
                    <a:pt x="6984" y="13044"/>
                    <a:pt x="6984" y="12421"/>
                  </a:cubicBezTo>
                  <a:cubicBezTo>
                    <a:pt x="6984" y="11781"/>
                    <a:pt x="7084" y="11184"/>
                    <a:pt x="7285" y="10623"/>
                  </a:cubicBezTo>
                  <a:cubicBezTo>
                    <a:pt x="7483" y="10068"/>
                    <a:pt x="7755" y="9583"/>
                    <a:pt x="8100" y="9169"/>
                  </a:cubicBezTo>
                  <a:cubicBezTo>
                    <a:pt x="8443" y="8755"/>
                    <a:pt x="8847" y="8431"/>
                    <a:pt x="9312" y="8191"/>
                  </a:cubicBezTo>
                  <a:cubicBezTo>
                    <a:pt x="9777" y="7953"/>
                    <a:pt x="10274" y="7832"/>
                    <a:pt x="10806" y="7832"/>
                  </a:cubicBezTo>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grpSp>
        <p:nvGrpSpPr>
          <p:cNvPr id="34" name="Group 22"/>
          <p:cNvGrpSpPr/>
          <p:nvPr userDrawn="1"/>
        </p:nvGrpSpPr>
        <p:grpSpPr bwMode="auto">
          <a:xfrm>
            <a:off x="11311148" y="6070822"/>
            <a:ext cx="380048" cy="380121"/>
            <a:chOff x="0" y="0"/>
            <a:chExt cx="965499" cy="965499"/>
          </a:xfrm>
        </p:grpSpPr>
        <p:sp>
          <p:nvSpPr>
            <p:cNvPr id="35" name="AutoShape 23"/>
            <p:cNvSpPr/>
            <p:nvPr/>
          </p:nvSpPr>
          <p:spPr bwMode="auto">
            <a:xfrm>
              <a:off x="0" y="0"/>
              <a:ext cx="965499" cy="965499"/>
            </a:xfrm>
            <a:custGeom>
              <a:avLst/>
              <a:gdLst>
                <a:gd name="T0" fmla="*/ 482725 w 19679"/>
                <a:gd name="T1" fmla="*/ 529874 h 19679"/>
                <a:gd name="T2" fmla="*/ 482725 w 19679"/>
                <a:gd name="T3" fmla="*/ 529874 h 19679"/>
                <a:gd name="T4" fmla="*/ 482725 w 19679"/>
                <a:gd name="T5" fmla="*/ 529874 h 19679"/>
                <a:gd name="T6" fmla="*/ 482725 w 19679"/>
                <a:gd name="T7" fmla="*/ 529874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8" y="6724"/>
                    <a:pt x="20638" y="12953"/>
                    <a:pt x="16796" y="16796"/>
                  </a:cubicBezTo>
                  <a:cubicBezTo>
                    <a:pt x="12953" y="20639"/>
                    <a:pt x="6724" y="20639"/>
                    <a:pt x="2881" y="16796"/>
                  </a:cubicBezTo>
                  <a:cubicBezTo>
                    <a:pt x="-961" y="12953"/>
                    <a:pt x="-961" y="6724"/>
                    <a:pt x="2881" y="2881"/>
                  </a:cubicBezTo>
                  <a:cubicBezTo>
                    <a:pt x="6724" y="-961"/>
                    <a:pt x="12953" y="-961"/>
                    <a:pt x="16796" y="2881"/>
                  </a:cubicBezTo>
                  <a:close/>
                </a:path>
              </a:pathLst>
            </a:custGeom>
            <a:gradFill>
              <a:gsLst>
                <a:gs pos="0">
                  <a:schemeClr val="bg1"/>
                </a:gs>
                <a:gs pos="51000">
                  <a:schemeClr val="bg1">
                    <a:lumMod val="95000"/>
                  </a:schemeClr>
                </a:gs>
                <a:gs pos="100000">
                  <a:schemeClr val="bg1">
                    <a:lumMod val="75000"/>
                  </a:schemeClr>
                </a:gs>
              </a:gsLst>
              <a:lin ang="18900000" scaled="0"/>
            </a:gradFill>
            <a:ln>
              <a:noFill/>
            </a:ln>
            <a:effectLst>
              <a:outerShdw blurRad="88900" dist="38100" dir="7680000" algn="tl"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sp>
          <p:nvSpPr>
            <p:cNvPr id="36" name="AutoShape 24"/>
            <p:cNvSpPr/>
            <p:nvPr/>
          </p:nvSpPr>
          <p:spPr bwMode="auto">
            <a:xfrm>
              <a:off x="293617" y="331589"/>
              <a:ext cx="380408" cy="296161"/>
            </a:xfrm>
            <a:custGeom>
              <a:avLst/>
              <a:gdLst>
                <a:gd name="T0" fmla="*/ 190204 w 21600"/>
                <a:gd name="T1" fmla="*/ 148081 h 21600"/>
                <a:gd name="T2" fmla="*/ 190204 w 21600"/>
                <a:gd name="T3" fmla="*/ 148081 h 21600"/>
                <a:gd name="T4" fmla="*/ 190204 w 21600"/>
                <a:gd name="T5" fmla="*/ 148081 h 21600"/>
                <a:gd name="T6" fmla="*/ 190204 w 21600"/>
                <a:gd name="T7" fmla="*/ 148081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82" y="15633"/>
                  </a:moveTo>
                  <a:cubicBezTo>
                    <a:pt x="11211" y="15633"/>
                    <a:pt x="11622" y="15565"/>
                    <a:pt x="12011" y="15416"/>
                  </a:cubicBezTo>
                  <a:cubicBezTo>
                    <a:pt x="12403" y="15272"/>
                    <a:pt x="12778" y="15084"/>
                    <a:pt x="13138" y="14855"/>
                  </a:cubicBezTo>
                  <a:cubicBezTo>
                    <a:pt x="13498" y="14626"/>
                    <a:pt x="13845" y="14361"/>
                    <a:pt x="14181" y="14073"/>
                  </a:cubicBezTo>
                  <a:cubicBezTo>
                    <a:pt x="14516" y="13774"/>
                    <a:pt x="14844" y="13471"/>
                    <a:pt x="15168" y="13160"/>
                  </a:cubicBezTo>
                  <a:cubicBezTo>
                    <a:pt x="16142" y="12226"/>
                    <a:pt x="17126" y="11306"/>
                    <a:pt x="18120" y="10410"/>
                  </a:cubicBezTo>
                  <a:cubicBezTo>
                    <a:pt x="19112" y="9515"/>
                    <a:pt x="20113" y="8616"/>
                    <a:pt x="21120" y="7714"/>
                  </a:cubicBezTo>
                  <a:cubicBezTo>
                    <a:pt x="21198" y="7640"/>
                    <a:pt x="21279" y="7570"/>
                    <a:pt x="21360" y="7496"/>
                  </a:cubicBezTo>
                  <a:cubicBezTo>
                    <a:pt x="21443" y="7429"/>
                    <a:pt x="21524" y="7347"/>
                    <a:pt x="21600" y="7250"/>
                  </a:cubicBezTo>
                  <a:lnTo>
                    <a:pt x="21600" y="19981"/>
                  </a:lnTo>
                  <a:cubicBezTo>
                    <a:pt x="21600" y="20416"/>
                    <a:pt x="21470" y="20800"/>
                    <a:pt x="21208" y="21118"/>
                  </a:cubicBezTo>
                  <a:cubicBezTo>
                    <a:pt x="20946" y="21438"/>
                    <a:pt x="20632" y="21600"/>
                    <a:pt x="20265" y="21600"/>
                  </a:cubicBezTo>
                  <a:lnTo>
                    <a:pt x="1346" y="21600"/>
                  </a:lnTo>
                  <a:cubicBezTo>
                    <a:pt x="979" y="21600"/>
                    <a:pt x="663" y="21438"/>
                    <a:pt x="396" y="21118"/>
                  </a:cubicBezTo>
                  <a:cubicBezTo>
                    <a:pt x="132" y="20803"/>
                    <a:pt x="0" y="20419"/>
                    <a:pt x="0" y="19981"/>
                  </a:cubicBezTo>
                  <a:lnTo>
                    <a:pt x="0" y="7250"/>
                  </a:lnTo>
                  <a:cubicBezTo>
                    <a:pt x="75" y="7347"/>
                    <a:pt x="156" y="7429"/>
                    <a:pt x="239" y="7496"/>
                  </a:cubicBezTo>
                  <a:cubicBezTo>
                    <a:pt x="320" y="7570"/>
                    <a:pt x="401" y="7640"/>
                    <a:pt x="479" y="7714"/>
                  </a:cubicBezTo>
                  <a:cubicBezTo>
                    <a:pt x="1488" y="8616"/>
                    <a:pt x="2487" y="9514"/>
                    <a:pt x="3481" y="10410"/>
                  </a:cubicBezTo>
                  <a:cubicBezTo>
                    <a:pt x="4473" y="11306"/>
                    <a:pt x="5457" y="12223"/>
                    <a:pt x="6434" y="13160"/>
                  </a:cubicBezTo>
                  <a:cubicBezTo>
                    <a:pt x="6738" y="13454"/>
                    <a:pt x="7058" y="13744"/>
                    <a:pt x="7394" y="14038"/>
                  </a:cubicBezTo>
                  <a:cubicBezTo>
                    <a:pt x="7729" y="14338"/>
                    <a:pt x="8079" y="14599"/>
                    <a:pt x="8437" y="14840"/>
                  </a:cubicBezTo>
                  <a:cubicBezTo>
                    <a:pt x="8797" y="15075"/>
                    <a:pt x="9174" y="15269"/>
                    <a:pt x="9568" y="15413"/>
                  </a:cubicBezTo>
                  <a:cubicBezTo>
                    <a:pt x="9965" y="15563"/>
                    <a:pt x="10371" y="15633"/>
                    <a:pt x="10782" y="15633"/>
                  </a:cubicBezTo>
                  <a:moveTo>
                    <a:pt x="10782" y="12413"/>
                  </a:moveTo>
                  <a:cubicBezTo>
                    <a:pt x="10540" y="12413"/>
                    <a:pt x="10278" y="12334"/>
                    <a:pt x="9996" y="12167"/>
                  </a:cubicBezTo>
                  <a:cubicBezTo>
                    <a:pt x="9715" y="12005"/>
                    <a:pt x="9441" y="11806"/>
                    <a:pt x="9171" y="11576"/>
                  </a:cubicBezTo>
                  <a:cubicBezTo>
                    <a:pt x="8900" y="11347"/>
                    <a:pt x="8638" y="11106"/>
                    <a:pt x="8380" y="10854"/>
                  </a:cubicBezTo>
                  <a:cubicBezTo>
                    <a:pt x="8121" y="10601"/>
                    <a:pt x="7896" y="10390"/>
                    <a:pt x="7700" y="10222"/>
                  </a:cubicBezTo>
                  <a:cubicBezTo>
                    <a:pt x="6752" y="9356"/>
                    <a:pt x="5819" y="8507"/>
                    <a:pt x="4891" y="7664"/>
                  </a:cubicBezTo>
                  <a:cubicBezTo>
                    <a:pt x="3966" y="6815"/>
                    <a:pt x="3023" y="5960"/>
                    <a:pt x="2061" y="5087"/>
                  </a:cubicBezTo>
                  <a:cubicBezTo>
                    <a:pt x="1882" y="4920"/>
                    <a:pt x="1672" y="4691"/>
                    <a:pt x="1434" y="4406"/>
                  </a:cubicBezTo>
                  <a:cubicBezTo>
                    <a:pt x="1194" y="4118"/>
                    <a:pt x="974" y="3804"/>
                    <a:pt x="766" y="3460"/>
                  </a:cubicBezTo>
                  <a:cubicBezTo>
                    <a:pt x="560" y="3110"/>
                    <a:pt x="384" y="2761"/>
                    <a:pt x="239" y="2405"/>
                  </a:cubicBezTo>
                  <a:cubicBezTo>
                    <a:pt x="95" y="2050"/>
                    <a:pt x="22" y="1724"/>
                    <a:pt x="22" y="1436"/>
                  </a:cubicBezTo>
                  <a:cubicBezTo>
                    <a:pt x="22" y="1051"/>
                    <a:pt x="164" y="713"/>
                    <a:pt x="443" y="425"/>
                  </a:cubicBezTo>
                  <a:cubicBezTo>
                    <a:pt x="727" y="143"/>
                    <a:pt x="1025" y="0"/>
                    <a:pt x="1346" y="0"/>
                  </a:cubicBezTo>
                  <a:lnTo>
                    <a:pt x="20265" y="0"/>
                  </a:lnTo>
                  <a:cubicBezTo>
                    <a:pt x="20583" y="0"/>
                    <a:pt x="20882" y="143"/>
                    <a:pt x="21161" y="425"/>
                  </a:cubicBezTo>
                  <a:cubicBezTo>
                    <a:pt x="21438" y="713"/>
                    <a:pt x="21577" y="1051"/>
                    <a:pt x="21577" y="1436"/>
                  </a:cubicBezTo>
                  <a:cubicBezTo>
                    <a:pt x="21577" y="1724"/>
                    <a:pt x="21504" y="2050"/>
                    <a:pt x="21360" y="2405"/>
                  </a:cubicBezTo>
                  <a:cubicBezTo>
                    <a:pt x="21215" y="2761"/>
                    <a:pt x="21039" y="3110"/>
                    <a:pt x="20833" y="3460"/>
                  </a:cubicBezTo>
                  <a:cubicBezTo>
                    <a:pt x="20627" y="3804"/>
                    <a:pt x="20402" y="4121"/>
                    <a:pt x="20165" y="4406"/>
                  </a:cubicBezTo>
                  <a:cubicBezTo>
                    <a:pt x="19927" y="4691"/>
                    <a:pt x="19717" y="4923"/>
                    <a:pt x="19538" y="5087"/>
                  </a:cubicBezTo>
                  <a:cubicBezTo>
                    <a:pt x="18578" y="5948"/>
                    <a:pt x="17633" y="6803"/>
                    <a:pt x="16708" y="7652"/>
                  </a:cubicBezTo>
                  <a:cubicBezTo>
                    <a:pt x="15782" y="8501"/>
                    <a:pt x="14844" y="9356"/>
                    <a:pt x="13899" y="10222"/>
                  </a:cubicBezTo>
                  <a:cubicBezTo>
                    <a:pt x="13703" y="10390"/>
                    <a:pt x="13481" y="10601"/>
                    <a:pt x="13226" y="10854"/>
                  </a:cubicBezTo>
                  <a:cubicBezTo>
                    <a:pt x="12971" y="11106"/>
                    <a:pt x="12709" y="11347"/>
                    <a:pt x="12435" y="11576"/>
                  </a:cubicBezTo>
                  <a:cubicBezTo>
                    <a:pt x="12161" y="11806"/>
                    <a:pt x="11884" y="12005"/>
                    <a:pt x="11603" y="12167"/>
                  </a:cubicBezTo>
                  <a:cubicBezTo>
                    <a:pt x="11321" y="12334"/>
                    <a:pt x="11064" y="12413"/>
                    <a:pt x="10829" y="12413"/>
                  </a:cubicBezTo>
                  <a:lnTo>
                    <a:pt x="10804" y="12413"/>
                  </a:lnTo>
                  <a:lnTo>
                    <a:pt x="10782" y="12413"/>
                  </a:lnTo>
                  <a:close/>
                </a:path>
              </a:pathLst>
            </a:custGeom>
            <a:solidFill>
              <a:schemeClr val="tx1">
                <a:lumMod val="50000"/>
                <a:lumOff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solidFill>
                  <a:schemeClr val="lt1"/>
                </a:solidFill>
                <a:latin typeface="+mn-lt"/>
                <a:ea typeface="+mn-ea"/>
              </a:endParaRPr>
            </a:p>
          </p:txBody>
        </p:sp>
      </p:grpSp>
      <p:sp>
        <p:nvSpPr>
          <p:cNvPr id="37" name="任意多边形: 形状 28"/>
          <p:cNvSpPr/>
          <p:nvPr userDrawn="1"/>
        </p:nvSpPr>
        <p:spPr>
          <a:xfrm>
            <a:off x="-7619" y="6662481"/>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8" name="任意多边形: 形状 27"/>
          <p:cNvSpPr/>
          <p:nvPr userDrawn="1"/>
        </p:nvSpPr>
        <p:spPr>
          <a:xfrm flipH="1" flipV="1">
            <a:off x="11219155" y="6662481"/>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3" name="副标题 2"/>
          <p:cNvSpPr>
            <a:spLocks noGrp="1"/>
          </p:cNvSpPr>
          <p:nvPr>
            <p:ph type="subTitle" idx="1" hasCustomPrompt="1"/>
            <p:custDataLst>
              <p:tags r:id="rId2"/>
            </p:custDataLst>
          </p:nvPr>
        </p:nvSpPr>
        <p:spPr>
          <a:xfrm>
            <a:off x="1198880" y="3878580"/>
            <a:ext cx="9799320" cy="1154430"/>
          </a:xfrm>
        </p:spPr>
        <p:txBody>
          <a:bodyPr lIns="90000" tIns="46800" rIns="90000" bIns="46800">
            <a:normAutofit/>
          </a:bodyPr>
          <a:lstStyle>
            <a:lvl1pPr marL="0" indent="0" algn="ctr" eaLnBrk="1" fontAlgn="auto" latinLnBrk="0" hangingPunct="1">
              <a:lnSpc>
                <a:spcPct val="110000"/>
              </a:lnSpc>
              <a:buNone/>
              <a:defRPr sz="2800" b="1" u="none" strike="noStrike" kern="1200" cap="none" spc="200" normalizeH="0" baseline="0">
                <a:solidFill>
                  <a:schemeClr val="tx1">
                    <a:lumMod val="75000"/>
                    <a:lumOff val="25000"/>
                  </a:schemeClr>
                </a:solidFill>
                <a:uFillTx/>
                <a:latin typeface="仿宋" panose="02010609060101010101" charset="-122"/>
                <a:ea typeface="仿宋" panose="02010609060101010101"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pic>
        <p:nvPicPr>
          <p:cNvPr id="29" name="图片 28" descr="UH~[4JD0[2E@A9EB4738FA0"/>
          <p:cNvPicPr>
            <a:picLocks noChangeAspect="1"/>
          </p:cNvPicPr>
          <p:nvPr userDrawn="1"/>
        </p:nvPicPr>
        <p:blipFill>
          <a:blip r:embed="rId4"/>
          <a:stretch>
            <a:fillRect/>
          </a:stretch>
        </p:blipFill>
        <p:spPr>
          <a:xfrm>
            <a:off x="644525" y="389890"/>
            <a:ext cx="3990975" cy="371475"/>
          </a:xfrm>
          <a:prstGeom prst="rect">
            <a:avLst/>
          </a:prstGeom>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1076395" y="11437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200" b="1" i="0" u="none" strike="noStrike" kern="1200" cap="none" spc="300" normalizeH="0" baseline="0" noProof="1" dirty="0">
                <a:solidFill>
                  <a:schemeClr val="accent1">
                    <a:lumMod val="7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hasCustomPrompt="1"/>
            <p:custDataLst>
              <p:tags r:id="rId2"/>
            </p:custDataLst>
          </p:nvPr>
        </p:nvSpPr>
        <p:spPr>
          <a:xfrm>
            <a:off x="608330" y="1227455"/>
            <a:ext cx="10968990" cy="5022215"/>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
                <a:srgbClr val="2094CE"/>
              </a:buClr>
              <a:buSzPct val="80000"/>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Clr>
                <a:srgbClr val="FF9800"/>
              </a:buClr>
              <a:buSzPct val="90000"/>
              <a:buFont typeface="Arial" panose="020B0604020202020204" pitchFamily="34" charset="0"/>
              <a:buChar char="♦"/>
              <a:tabLst>
                <a:tab pos="1609725" algn="l"/>
              </a:tabLst>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2400" b="0" i="0" u="none" strike="noStrike" kern="1200" cap="none" spc="150" normalizeH="0" baseline="0" noProof="1" dirty="0">
                <a:solidFill>
                  <a:schemeClr val="tx1"/>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 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9" name="任意多边形: 形状 28"/>
          <p:cNvSpPr/>
          <p:nvPr userDrawn="1"/>
        </p:nvSpPr>
        <p:spPr>
          <a:xfrm>
            <a:off x="-3650" y="6666997"/>
            <a:ext cx="11207209" cy="192000"/>
          </a:xfrm>
          <a:custGeom>
            <a:avLst/>
            <a:gdLst>
              <a:gd name="connsiteX0" fmla="*/ 0 w 8405407"/>
              <a:gd name="connsiteY0" fmla="*/ 0 h 152400"/>
              <a:gd name="connsiteX1" fmla="*/ 8405407 w 8405407"/>
              <a:gd name="connsiteY1" fmla="*/ 0 h 152400"/>
              <a:gd name="connsiteX2" fmla="*/ 8294166 w 8405407"/>
              <a:gd name="connsiteY2" fmla="*/ 152400 h 152400"/>
              <a:gd name="connsiteX3" fmla="*/ 0 w 8405407"/>
              <a:gd name="connsiteY3" fmla="*/ 152400 h 152400"/>
            </a:gdLst>
            <a:ahLst/>
            <a:cxnLst>
              <a:cxn ang="0">
                <a:pos x="connsiteX0" y="connsiteY0"/>
              </a:cxn>
              <a:cxn ang="0">
                <a:pos x="connsiteX1" y="connsiteY1"/>
              </a:cxn>
              <a:cxn ang="0">
                <a:pos x="connsiteX2" y="connsiteY2"/>
              </a:cxn>
              <a:cxn ang="0">
                <a:pos x="connsiteX3" y="connsiteY3"/>
              </a:cxn>
            </a:cxnLst>
            <a:rect l="l" t="t" r="r" b="b"/>
            <a:pathLst>
              <a:path w="8405407" h="152400">
                <a:moveTo>
                  <a:pt x="0" y="0"/>
                </a:moveTo>
                <a:lnTo>
                  <a:pt x="8405407" y="0"/>
                </a:lnTo>
                <a:lnTo>
                  <a:pt x="8294166" y="152400"/>
                </a:lnTo>
                <a:lnTo>
                  <a:pt x="0" y="15240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8" name="任意多边形: 形状 27"/>
          <p:cNvSpPr/>
          <p:nvPr userDrawn="1"/>
        </p:nvSpPr>
        <p:spPr>
          <a:xfrm flipH="1" flipV="1">
            <a:off x="11223124" y="6666997"/>
            <a:ext cx="972527" cy="192000"/>
          </a:xfrm>
          <a:custGeom>
            <a:avLst/>
            <a:gdLst>
              <a:gd name="connsiteX0" fmla="*/ 618154 w 729395"/>
              <a:gd name="connsiteY0" fmla="*/ 152400 h 152400"/>
              <a:gd name="connsiteX1" fmla="*/ 0 w 729395"/>
              <a:gd name="connsiteY1" fmla="*/ 152400 h 152400"/>
              <a:gd name="connsiteX2" fmla="*/ 0 w 729395"/>
              <a:gd name="connsiteY2" fmla="*/ 0 h 152400"/>
              <a:gd name="connsiteX3" fmla="*/ 729395 w 729395"/>
              <a:gd name="connsiteY3" fmla="*/ 0 h 152400"/>
            </a:gdLst>
            <a:ahLst/>
            <a:cxnLst>
              <a:cxn ang="0">
                <a:pos x="connsiteX0" y="connsiteY0"/>
              </a:cxn>
              <a:cxn ang="0">
                <a:pos x="connsiteX1" y="connsiteY1"/>
              </a:cxn>
              <a:cxn ang="0">
                <a:pos x="connsiteX2" y="connsiteY2"/>
              </a:cxn>
              <a:cxn ang="0">
                <a:pos x="connsiteX3" y="connsiteY3"/>
              </a:cxn>
            </a:cxnLst>
            <a:rect l="l" t="t" r="r" b="b"/>
            <a:pathLst>
              <a:path w="729395" h="152400">
                <a:moveTo>
                  <a:pt x="618154" y="152400"/>
                </a:moveTo>
                <a:lnTo>
                  <a:pt x="0" y="152400"/>
                </a:lnTo>
                <a:lnTo>
                  <a:pt x="0" y="0"/>
                </a:lnTo>
                <a:lnTo>
                  <a:pt x="729395"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cxnSp>
        <p:nvCxnSpPr>
          <p:cNvPr id="22" name="直接连接符 21"/>
          <p:cNvCxnSpPr/>
          <p:nvPr userDrawn="1"/>
        </p:nvCxnSpPr>
        <p:spPr>
          <a:xfrm>
            <a:off x="1003784" y="807477"/>
            <a:ext cx="1019977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userDrawn="1"/>
        </p:nvSpPr>
        <p:spPr>
          <a:xfrm>
            <a:off x="331470" y="250825"/>
            <a:ext cx="431800" cy="431800"/>
          </a:xfrm>
          <a:prstGeom prst="rect">
            <a:avLst/>
          </a:prstGeom>
          <a:noFill/>
          <a:ln w="12700" cmpd="sng">
            <a:solidFill>
              <a:schemeClr val="accent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sp>
        <p:nvSpPr>
          <p:cNvPr id="25" name="矩形 24"/>
          <p:cNvSpPr/>
          <p:nvPr userDrawn="1"/>
        </p:nvSpPr>
        <p:spPr>
          <a:xfrm>
            <a:off x="548005" y="450215"/>
            <a:ext cx="360045" cy="360045"/>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2400"/>
          </a:p>
        </p:txBody>
      </p:sp>
      <p:pic>
        <p:nvPicPr>
          <p:cNvPr id="10" name="图片 9" descr="TK5CG72_)U3`D_PXLQ1U9PP"/>
          <p:cNvPicPr>
            <a:picLocks noChangeAspect="1"/>
          </p:cNvPicPr>
          <p:nvPr userDrawn="1"/>
        </p:nvPicPr>
        <p:blipFill>
          <a:blip r:embed="rId5"/>
          <a:stretch>
            <a:fillRect/>
          </a:stretch>
        </p:blipFill>
        <p:spPr>
          <a:xfrm>
            <a:off x="11351895" y="73660"/>
            <a:ext cx="715645" cy="785495"/>
          </a:xfrm>
          <a:prstGeom prst="rect">
            <a:avLst/>
          </a:prstGeom>
        </p:spPr>
      </p:pic>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2025/10/8</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2025/10/8</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2025/10/8</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2025/10/8</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330" y="1555115"/>
            <a:ext cx="5233035" cy="4608195"/>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None/>
              <a:tabLst>
                <a:tab pos="1609725" algn="l"/>
                <a:tab pos="1609725" algn="l"/>
                <a:tab pos="1609725" algn="l"/>
                <a:tab pos="1609725" algn="l"/>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2025/10/8</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lvl1pPr>
              <a:defRPr baseline="0"/>
            </a:lvl1p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2025/10/8</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2025/10/8</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2025/10/8</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random/>
      </p:transition>
    </mc:Choice>
    <mc:Fallback xmlns="">
      <p:transition>
        <p:random/>
      </p:transition>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9.xml"/><Relationship Id="rId1" Type="http://schemas.openxmlformats.org/officeDocument/2006/relationships/tags" Target="../tags/tag58.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6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tags" Target="../tags/tag6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baike.baidu.com/item/%E7%A8%8B%E5%BA%8F/13831935" TargetMode="External"/><Relationship Id="rId2" Type="http://schemas.openxmlformats.org/officeDocument/2006/relationships/slideLayout" Target="../slideLayouts/slideLayout2.xml"/><Relationship Id="rId1" Type="http://schemas.openxmlformats.org/officeDocument/2006/relationships/tags" Target="../tags/tag63.xml"/><Relationship Id="rId5" Type="http://schemas.openxmlformats.org/officeDocument/2006/relationships/image" Target="../media/image5.emf"/><Relationship Id="rId4" Type="http://schemas.openxmlformats.org/officeDocument/2006/relationships/oleObject" Target="../embeddings/oleObject2.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tags" Target="../tags/tag70.xml"/><Relationship Id="rId4" Type="http://schemas.openxmlformats.org/officeDocument/2006/relationships/image" Target="../media/image7.emf"/></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2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tags" Target="../tags/tag79.xml"/><Relationship Id="rId4" Type="http://schemas.openxmlformats.org/officeDocument/2006/relationships/image" Target="../media/image9.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10.emf"/></Relationships>
</file>

<file path=ppt/slides/_rels/slide3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4.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6.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7.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9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93.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94.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9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96.xml"/><Relationship Id="rId4" Type="http://schemas.openxmlformats.org/officeDocument/2006/relationships/image" Target="../media/image12.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8.xml"/><Relationship Id="rId4" Type="http://schemas.openxmlformats.org/officeDocument/2006/relationships/image" Target="../media/image13.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9.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7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448685" y="2077085"/>
            <a:ext cx="7120890" cy="1236345"/>
          </a:xfrm>
        </p:spPr>
        <p:txBody>
          <a:bodyPr>
            <a:normAutofit/>
          </a:bodyPr>
          <a:lstStyle/>
          <a:p>
            <a:pPr algn="l"/>
            <a:r>
              <a:rPr lang="zh-CN" altLang="zh-CN" sz="4400" dirty="0">
                <a:solidFill>
                  <a:schemeClr val="accent1">
                    <a:lumMod val="75000"/>
                  </a:schemeClr>
                </a:solidFill>
              </a:rPr>
              <a:t>第</a:t>
            </a:r>
            <a:r>
              <a:rPr lang="en-US" altLang="zh-CN" sz="4400" dirty="0"/>
              <a:t>2</a:t>
            </a:r>
            <a:r>
              <a:rPr lang="zh-CN" altLang="zh-CN" sz="4400" dirty="0">
                <a:solidFill>
                  <a:schemeClr val="accent1">
                    <a:lumMod val="75000"/>
                  </a:schemeClr>
                </a:solidFill>
              </a:rPr>
              <a:t>章  </a:t>
            </a:r>
            <a:r>
              <a:rPr lang="zh-CN" altLang="en-US" sz="4400" dirty="0"/>
              <a:t>进程管理</a:t>
            </a:r>
            <a:endParaRPr lang="zh-CN" altLang="zh-CN" sz="4400" dirty="0">
              <a:solidFill>
                <a:schemeClr val="accent1">
                  <a:lumMod val="75000"/>
                </a:schemeClr>
              </a:solidFill>
            </a:endParaRPr>
          </a:p>
        </p:txBody>
      </p:sp>
      <p:sp>
        <p:nvSpPr>
          <p:cNvPr id="7" name="矩形 6"/>
          <p:cNvSpPr/>
          <p:nvPr/>
        </p:nvSpPr>
        <p:spPr>
          <a:xfrm flipV="1">
            <a:off x="3229610" y="3371850"/>
            <a:ext cx="6516000" cy="18000"/>
          </a:xfrm>
          <a:prstGeom prst="rect">
            <a:avLst/>
          </a:prstGeom>
          <a:gradFill>
            <a:gsLst>
              <a:gs pos="0">
                <a:schemeClr val="accent1">
                  <a:lumMod val="75000"/>
                </a:schemeClr>
              </a:gs>
              <a:gs pos="68000">
                <a:srgbClr val="90B4E9">
                  <a:alpha val="100000"/>
                </a:srgbClr>
              </a:gs>
              <a:gs pos="100000">
                <a:schemeClr val="bg1"/>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809" name="任意多边形 33808"/>
          <p:cNvSpPr/>
          <p:nvPr/>
        </p:nvSpPr>
        <p:spPr>
          <a:xfrm>
            <a:off x="3696970" y="402177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14CD68"/>
              </a:gs>
              <a:gs pos="100000">
                <a:srgbClr val="035C7D"/>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0" name="任意多边形 33809"/>
          <p:cNvSpPr/>
          <p:nvPr/>
        </p:nvSpPr>
        <p:spPr>
          <a:xfrm>
            <a:off x="3696970" y="4584383"/>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FECF40"/>
              </a:gs>
              <a:gs pos="100000">
                <a:srgbClr val="846C21"/>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sp>
        <p:nvSpPr>
          <p:cNvPr id="33811" name="任意多边形 33810"/>
          <p:cNvSpPr/>
          <p:nvPr/>
        </p:nvSpPr>
        <p:spPr>
          <a:xfrm>
            <a:off x="3696970" y="5127308"/>
            <a:ext cx="247650" cy="247650"/>
          </a:xfrm>
          <a:custGeom>
            <a:avLst/>
            <a:gdLst>
              <a:gd name="txL" fmla="*/ 3163 w 21600"/>
              <a:gd name="txT" fmla="*/ 3163 h 21600"/>
              <a:gd name="txR" fmla="*/ 18437 w 21600"/>
              <a:gd name="txB" fmla="*/ 18437 h 21600"/>
            </a:gdLst>
            <a:ahLst/>
            <a:cxnLst>
              <a:cxn ang="270">
                <a:pos x="10800" y="0"/>
              </a:cxn>
              <a:cxn ang="270">
                <a:pos x="3163" y="3163"/>
              </a:cxn>
              <a:cxn ang="180">
                <a:pos x="0" y="10800"/>
              </a:cxn>
              <a:cxn ang="90">
                <a:pos x="3163" y="18437"/>
              </a:cxn>
              <a:cxn ang="90">
                <a:pos x="10800" y="21600"/>
              </a:cxn>
              <a:cxn ang="90">
                <a:pos x="18437" y="18437"/>
              </a:cxn>
              <a:cxn ang="0">
                <a:pos x="21600" y="10800"/>
              </a:cxn>
              <a:cxn ang="270">
                <a:pos x="18437" y="3163"/>
              </a:cxn>
            </a:cxnLst>
            <a:rect l="txL" t="txT" r="txR" b="txB"/>
            <a:pathLst>
              <a:path w="21600" h="21600">
                <a:moveTo>
                  <a:pt x="0" y="10800"/>
                </a:moveTo>
                <a:arcTo wR="10800" hR="10800" stAng="10800000" swAng="5400000"/>
                <a:arcTo wR="10800" hR="10800" stAng="-5400000" swAng="5400000"/>
                <a:arcTo wR="10800" hR="10800" stAng="0" swAng="5400000"/>
                <a:arcTo wR="10800" hR="10800" stAng="5400000" swAng="5400000"/>
                <a:close/>
                <a:moveTo>
                  <a:pt x="5400" y="10800"/>
                </a:moveTo>
                <a:arcTo wR="5400" hR="5400" stAng="10800000" swAng="-5400000"/>
                <a:arcTo wR="5400" hR="5400" stAng="5400000" swAng="-5400000"/>
                <a:arcTo wR="5400" hR="5400" stAng="0" swAng="-5400000"/>
                <a:arcTo wR="5400" hR="5400" stAng="-5400000" swAng="-5400000"/>
                <a:close/>
              </a:path>
            </a:pathLst>
          </a:custGeom>
          <a:gradFill>
            <a:gsLst>
              <a:gs pos="0">
                <a:srgbClr val="C8A1E5"/>
              </a:gs>
              <a:gs pos="100000">
                <a:srgbClr val="692B99"/>
              </a:gs>
            </a:gsLst>
            <a:lin ang="5400000" scaled="0"/>
          </a:gradFill>
          <a:ln w="9525">
            <a:noFill/>
          </a:ln>
          <a:effectLst>
            <a:outerShdw dist="28398" dir="1593903" algn="ctr" rotWithShape="0">
              <a:schemeClr val="bg2">
                <a:alpha val="50000"/>
              </a:schemeClr>
            </a:outerShdw>
          </a:effectLst>
        </p:spPr>
        <p:txBody>
          <a:bodyPr/>
          <a:lstStyle/>
          <a:p>
            <a:endParaRPr lang="zh-CN" altLang="en-US"/>
          </a:p>
        </p:txBody>
      </p:sp>
      <p:pic>
        <p:nvPicPr>
          <p:cNvPr id="5" name="图片 4" descr="TK5CG72_)U3`D_PXLQ1U9PP"/>
          <p:cNvPicPr>
            <a:picLocks noChangeAspect="1"/>
          </p:cNvPicPr>
          <p:nvPr userDrawn="1"/>
        </p:nvPicPr>
        <p:blipFill>
          <a:blip r:embed="rId4"/>
          <a:stretch>
            <a:fillRect/>
          </a:stretch>
        </p:blipFill>
        <p:spPr>
          <a:xfrm>
            <a:off x="1272540" y="1724660"/>
            <a:ext cx="1560195" cy="1711960"/>
          </a:xfrm>
          <a:prstGeom prst="rect">
            <a:avLst/>
          </a:prstGeom>
        </p:spPr>
      </p:pic>
      <p:sp>
        <p:nvSpPr>
          <p:cNvPr id="6" name="副标题 5">
            <a:extLst>
              <a:ext uri="{FF2B5EF4-FFF2-40B4-BE49-F238E27FC236}">
                <a16:creationId xmlns:a16="http://schemas.microsoft.com/office/drawing/2014/main" id="{E1706879-241F-4E8A-B273-0EC827A31597}"/>
              </a:ext>
            </a:extLst>
          </p:cNvPr>
          <p:cNvSpPr>
            <a:spLocks noGrp="1"/>
          </p:cNvSpPr>
          <p:nvPr>
            <p:ph type="subTitle" idx="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zh-CN" altLang="en-US"/>
              <a:t>本章目录</a:t>
            </a:r>
          </a:p>
        </p:txBody>
      </p:sp>
      <p:sp>
        <p:nvSpPr>
          <p:cNvPr id="3" name="内容占位符 2"/>
          <p:cNvSpPr>
            <a:spLocks noGrp="1"/>
          </p:cNvSpPr>
          <p:nvPr>
            <p:ph idx="1"/>
          </p:nvPr>
        </p:nvSpPr>
        <p:spPr>
          <a:xfrm>
            <a:off x="4283127" y="1973043"/>
            <a:ext cx="5536125" cy="3203868"/>
          </a:xfrm>
        </p:spPr>
        <p:txBody>
          <a:bodyPr>
            <a:normAutofit/>
          </a:bodyPr>
          <a:lstStyle/>
          <a:p>
            <a:pPr>
              <a:buBlip>
                <a:blip r:embed="rId3"/>
              </a:buBlip>
            </a:pPr>
            <a:r>
              <a:rPr lang="en-US" altLang="zh-CN" sz="3200" dirty="0"/>
              <a:t> </a:t>
            </a:r>
            <a:r>
              <a:rPr lang="en-US" altLang="zh-CN" sz="3200" u="dottedHeavy" dirty="0"/>
              <a:t>2</a:t>
            </a:r>
            <a:r>
              <a:rPr lang="en-US" altLang="zh-CN" sz="3200" u="dottedHeavy" dirty="0">
                <a:solidFill>
                  <a:schemeClr val="tx1"/>
                </a:solidFill>
                <a:uFillTx/>
              </a:rPr>
              <a:t>.1  </a:t>
            </a:r>
            <a:r>
              <a:rPr lang="zh-CN" altLang="en-US" sz="3200" u="dottedHeavy" dirty="0"/>
              <a:t>进程及其状态</a:t>
            </a:r>
            <a:endParaRPr sz="3200" u="dottedHeavy" dirty="0">
              <a:solidFill>
                <a:schemeClr val="tx1"/>
              </a:solidFill>
              <a:uFillTx/>
            </a:endParaRPr>
          </a:p>
          <a:p>
            <a:pPr>
              <a:buBlip>
                <a:blip r:embed="rId3"/>
              </a:buBlip>
            </a:pPr>
            <a:r>
              <a:rPr sz="3200" dirty="0"/>
              <a:t> </a:t>
            </a:r>
            <a:r>
              <a:rPr lang="en-US" sz="3200" u="dottedHeavy" dirty="0"/>
              <a:t>2</a:t>
            </a:r>
            <a:r>
              <a:rPr lang="en-US" altLang="zh-CN" sz="3200" u="dottedHeavy" dirty="0"/>
              <a:t>.2  </a:t>
            </a:r>
            <a:r>
              <a:rPr lang="zh-CN" altLang="en-US" sz="3200" u="dottedHeavy" dirty="0"/>
              <a:t>进程控制块</a:t>
            </a:r>
            <a:r>
              <a:rPr lang="en-US" altLang="zh-CN" sz="3200" u="dottedHeavy" dirty="0"/>
              <a:t>                  </a:t>
            </a:r>
          </a:p>
          <a:p>
            <a:pPr>
              <a:buBlip>
                <a:blip r:embed="rId3"/>
              </a:buBlip>
            </a:pPr>
            <a:r>
              <a:rPr sz="3200" dirty="0"/>
              <a:t> </a:t>
            </a:r>
            <a:r>
              <a:rPr lang="en-US" sz="3200" u="dottedHeavy" dirty="0"/>
              <a:t>2</a:t>
            </a:r>
            <a:r>
              <a:rPr lang="en-US" altLang="zh-CN" sz="3200" u="dottedHeavy" dirty="0"/>
              <a:t>.3  </a:t>
            </a:r>
            <a:r>
              <a:rPr lang="zh-CN" altLang="en-US" sz="3200" u="dottedHeavy" dirty="0"/>
              <a:t>进程控制</a:t>
            </a:r>
            <a:endParaRPr lang="en-US" altLang="zh-CN" sz="3200" dirty="0"/>
          </a:p>
          <a:p>
            <a:pPr>
              <a:buBlip>
                <a:blip r:embed="rId3"/>
              </a:buBlip>
            </a:pPr>
            <a:r>
              <a:rPr sz="3200" dirty="0"/>
              <a:t> </a:t>
            </a:r>
            <a:r>
              <a:rPr lang="en-US" sz="3200" u="dottedHeavy" dirty="0"/>
              <a:t>2</a:t>
            </a:r>
            <a:r>
              <a:rPr lang="en-US" altLang="zh-CN" sz="3200" u="dottedHeavy" dirty="0"/>
              <a:t>.4  </a:t>
            </a:r>
            <a:r>
              <a:rPr lang="zh-CN" altLang="en-US" sz="3200" u="dottedHeavy" dirty="0"/>
              <a:t>线程</a:t>
            </a:r>
            <a:endParaRPr lang="en-US" altLang="zh-CN" sz="3200" u="dottedHeavy"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en-US" altLang="zh-CN" sz="4000" dirty="0"/>
              <a:t>2.1  </a:t>
            </a:r>
            <a:r>
              <a:rPr lang="zh-CN" altLang="en-US" sz="4000" dirty="0"/>
              <a:t>进程及其状态</a:t>
            </a:r>
            <a:endParaRPr lang="en-US" altLang="zh-CN" sz="4000" dirty="0"/>
          </a:p>
        </p:txBody>
      </p:sp>
      <p:sp>
        <p:nvSpPr>
          <p:cNvPr id="3" name="内容占位符 2"/>
          <p:cNvSpPr>
            <a:spLocks noGrp="1"/>
          </p:cNvSpPr>
          <p:nvPr>
            <p:ph idx="1"/>
          </p:nvPr>
        </p:nvSpPr>
        <p:spPr>
          <a:xfrm>
            <a:off x="3434877" y="1565748"/>
            <a:ext cx="5654694" cy="2962709"/>
          </a:xfrm>
        </p:spPr>
        <p:txBody>
          <a:bodyPr>
            <a:normAutofit/>
          </a:bodyPr>
          <a:lstStyle/>
          <a:p>
            <a:pPr>
              <a:buBlip>
                <a:blip r:embed="rId3"/>
              </a:buBlip>
            </a:pPr>
            <a:r>
              <a:rPr lang="en-US" altLang="zh-CN" sz="3600" dirty="0"/>
              <a:t> </a:t>
            </a:r>
            <a:r>
              <a:rPr lang="en-US" altLang="zh-CN" sz="3600" u="dottedHeavy" dirty="0"/>
              <a:t>2</a:t>
            </a:r>
            <a:r>
              <a:rPr lang="en-US" altLang="zh-CN" sz="3600" u="dottedHeavy" dirty="0">
                <a:solidFill>
                  <a:schemeClr val="tx1"/>
                </a:solidFill>
                <a:uFillTx/>
              </a:rPr>
              <a:t>.1.1  </a:t>
            </a:r>
            <a:r>
              <a:rPr lang="zh-CN" altLang="en-US" sz="3600" u="dottedHeavy" dirty="0"/>
              <a:t>进程的引入</a:t>
            </a:r>
            <a:endParaRPr sz="3600" u="dottedHeavy" dirty="0">
              <a:solidFill>
                <a:schemeClr val="tx1"/>
              </a:solidFill>
              <a:uFillTx/>
            </a:endParaRPr>
          </a:p>
          <a:p>
            <a:pPr>
              <a:buBlip>
                <a:blip r:embed="rId3"/>
              </a:buBlip>
            </a:pPr>
            <a:r>
              <a:rPr sz="3600" dirty="0"/>
              <a:t> </a:t>
            </a:r>
            <a:r>
              <a:rPr lang="en-US" sz="3600" u="dottedHeavy" dirty="0"/>
              <a:t>2</a:t>
            </a:r>
            <a:r>
              <a:rPr lang="en-US" altLang="zh-CN" sz="3600" u="dottedHeavy" dirty="0"/>
              <a:t>.1.2  </a:t>
            </a:r>
            <a:r>
              <a:rPr lang="zh-CN" altLang="en-US" sz="3600" u="dottedHeavy" dirty="0"/>
              <a:t>进程的概念</a:t>
            </a:r>
            <a:r>
              <a:rPr lang="en-US" altLang="zh-CN" sz="3600" u="dottedHeavy" dirty="0"/>
              <a:t> </a:t>
            </a:r>
          </a:p>
          <a:p>
            <a:pPr>
              <a:buBlip>
                <a:blip r:embed="rId3"/>
              </a:buBlip>
            </a:pPr>
            <a:r>
              <a:rPr lang="zh-CN" altLang="en-US" sz="3600" dirty="0"/>
              <a:t> </a:t>
            </a:r>
            <a:r>
              <a:rPr lang="en-US" altLang="zh-CN" sz="3600" u="dottedHeavy" dirty="0"/>
              <a:t>2.1.3  </a:t>
            </a:r>
            <a:r>
              <a:rPr lang="zh-CN" altLang="en-US" sz="3600" u="dottedHeavy" dirty="0"/>
              <a:t>进程的状态模型                  </a:t>
            </a:r>
          </a:p>
        </p:txBody>
      </p:sp>
    </p:spTree>
    <p:custDataLst>
      <p:tags r:id="rId1"/>
    </p:custDataLst>
    <p:extLst>
      <p:ext uri="{BB962C8B-B14F-4D97-AF65-F5344CB8AC3E}">
        <p14:creationId xmlns:p14="http://schemas.microsoft.com/office/powerpoint/2010/main" val="356224242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.1.1  </a:t>
            </a:r>
            <a:r>
              <a:rPr lang="zh-CN" altLang="en-US" dirty="0"/>
              <a:t>进程的引入</a:t>
            </a:r>
          </a:p>
        </p:txBody>
      </p:sp>
      <p:sp>
        <p:nvSpPr>
          <p:cNvPr id="5" name="内容占位符 4">
            <a:extLst>
              <a:ext uri="{FF2B5EF4-FFF2-40B4-BE49-F238E27FC236}">
                <a16:creationId xmlns:a16="http://schemas.microsoft.com/office/drawing/2014/main" id="{AFBF74E0-4D4A-4B7D-8A6F-4CCC1FD729FF}"/>
              </a:ext>
            </a:extLst>
          </p:cNvPr>
          <p:cNvSpPr>
            <a:spLocks noGrp="1"/>
          </p:cNvSpPr>
          <p:nvPr>
            <p:ph idx="1"/>
          </p:nvPr>
        </p:nvSpPr>
        <p:spPr>
          <a:xfrm>
            <a:off x="608330" y="1227455"/>
            <a:ext cx="10968990" cy="2750001"/>
          </a:xfrm>
        </p:spPr>
        <p:txBody>
          <a:bodyPr>
            <a:noAutofit/>
          </a:bodyPr>
          <a:lstStyle/>
          <a:p>
            <a:pPr marL="457200" lvl="1" indent="0">
              <a:lnSpc>
                <a:spcPct val="150000"/>
              </a:lnSpc>
              <a:buNone/>
              <a:defRPr/>
            </a:pPr>
            <a:r>
              <a:rPr lang="en-US" altLang="zh-CN" sz="2800" b="1" dirty="0"/>
              <a:t>1. </a:t>
            </a:r>
            <a:r>
              <a:rPr lang="zh-CN" altLang="zh-CN" sz="2800" b="1" dirty="0"/>
              <a:t>程序的顺序执行</a:t>
            </a:r>
            <a:endParaRPr lang="zh-CN" altLang="zh-CN" sz="2800" dirty="0"/>
          </a:p>
          <a:p>
            <a:pPr lvl="1" eaLnBrk="1" hangingPunct="1">
              <a:lnSpc>
                <a:spcPct val="150000"/>
              </a:lnSpc>
              <a:defRPr/>
            </a:pPr>
            <a:r>
              <a:rPr lang="zh-CN" altLang="en-US" sz="2800" b="1" dirty="0">
                <a:solidFill>
                  <a:srgbClr val="3333FF"/>
                </a:solidFill>
              </a:rPr>
              <a:t>顺序执行</a:t>
            </a:r>
            <a:r>
              <a:rPr lang="zh-CN" altLang="en-US" sz="2800" dirty="0"/>
              <a:t>：指</a:t>
            </a:r>
            <a:r>
              <a:rPr lang="zh-CN" altLang="zh-CN" sz="2800" dirty="0"/>
              <a:t>按照用户编写的先后次序逐个执行操作，只有当前一个操作执行完后，才能执行后一个操作</a:t>
            </a:r>
            <a:r>
              <a:rPr lang="zh-CN" altLang="en-US" sz="2800" dirty="0"/>
              <a:t>。</a:t>
            </a:r>
            <a:endParaRPr lang="en-US" altLang="zh-CN" sz="2800" dirty="0"/>
          </a:p>
          <a:p>
            <a:pPr marL="457200" lvl="1" indent="0" eaLnBrk="1" hangingPunct="1">
              <a:lnSpc>
                <a:spcPct val="150000"/>
              </a:lnSpc>
              <a:buFont typeface="Wingdings" panose="05000000000000000000" pitchFamily="2" charset="2"/>
              <a:buNone/>
              <a:defRPr/>
            </a:pPr>
            <a:r>
              <a:rPr lang="en-US" altLang="zh-CN" sz="2800" dirty="0"/>
              <a:t>   </a:t>
            </a:r>
            <a:r>
              <a:rPr lang="zh-CN" altLang="en-US" sz="2800" dirty="0"/>
              <a:t>单道程序在运行</a:t>
            </a:r>
            <a:endParaRPr lang="en-US" altLang="zh-CN" sz="2800" dirty="0"/>
          </a:p>
          <a:p>
            <a:pPr>
              <a:lnSpc>
                <a:spcPct val="150000"/>
              </a:lnSpc>
            </a:pPr>
            <a:endParaRPr lang="zh-CN" altLang="en-US" sz="2800" dirty="0"/>
          </a:p>
        </p:txBody>
      </p:sp>
      <p:sp>
        <p:nvSpPr>
          <p:cNvPr id="9" name="Rectangle 2">
            <a:extLst>
              <a:ext uri="{FF2B5EF4-FFF2-40B4-BE49-F238E27FC236}">
                <a16:creationId xmlns:a16="http://schemas.microsoft.com/office/drawing/2014/main" id="{6A9C38FF-D9A5-441F-8E0C-4E078C85126D}"/>
              </a:ext>
            </a:extLst>
          </p:cNvPr>
          <p:cNvSpPr>
            <a:spLocks noChangeArrowheads="1"/>
          </p:cNvSpPr>
          <p:nvPr/>
        </p:nvSpPr>
        <p:spPr bwMode="auto">
          <a:xfrm>
            <a:off x="1814520" y="0"/>
            <a:ext cx="9144000" cy="0"/>
          </a:xfrm>
          <a:prstGeom prst="rect">
            <a:avLst/>
          </a:prstGeom>
          <a:noFill/>
          <a:ln>
            <a:noFill/>
          </a:ln>
          <a:effectLst>
            <a:prstShdw prst="shdw17" dist="17961" dir="2700000">
              <a:schemeClr val="accent1">
                <a:gamma/>
                <a:shade val="60000"/>
                <a:invGamma/>
              </a:schemeClr>
            </a:prstShdw>
          </a:effectLst>
        </p:spPr>
        <p:txBody>
          <a:bodyPr wrap="none" anchor="ctr">
            <a:spAutoFit/>
          </a:bodyPr>
          <a:lstStyle/>
          <a:p>
            <a:pPr eaLnBrk="1" hangingPunct="1">
              <a:defRPr/>
            </a:pPr>
            <a:endParaRPr lang="zh-CN" altLang="en-US">
              <a:latin typeface="Arial" charset="0"/>
            </a:endParaRPr>
          </a:p>
        </p:txBody>
      </p:sp>
      <p:graphicFrame>
        <p:nvGraphicFramePr>
          <p:cNvPr id="10" name="对象 4">
            <a:extLst>
              <a:ext uri="{FF2B5EF4-FFF2-40B4-BE49-F238E27FC236}">
                <a16:creationId xmlns:a16="http://schemas.microsoft.com/office/drawing/2014/main" id="{ABB1B1DE-5308-446B-9318-14CB543ADA52}"/>
              </a:ext>
            </a:extLst>
          </p:cNvPr>
          <p:cNvGraphicFramePr>
            <a:graphicFrameLocks noChangeAspect="1"/>
          </p:cNvGraphicFramePr>
          <p:nvPr>
            <p:extLst>
              <p:ext uri="{D42A27DB-BD31-4B8C-83A1-F6EECF244321}">
                <p14:modId xmlns:p14="http://schemas.microsoft.com/office/powerpoint/2010/main" val="1376469745"/>
              </p:ext>
            </p:extLst>
          </p:nvPr>
        </p:nvGraphicFramePr>
        <p:xfrm>
          <a:off x="592956" y="4626339"/>
          <a:ext cx="10856331" cy="963249"/>
        </p:xfrm>
        <a:graphic>
          <a:graphicData uri="http://schemas.openxmlformats.org/presentationml/2006/ole">
            <mc:AlternateContent xmlns:mc="http://schemas.openxmlformats.org/markup-compatibility/2006">
              <mc:Choice xmlns:v="urn:schemas-microsoft-com:vml" Requires="v">
                <p:oleObj name="Visio" r:id="rId3" imgW="5182657" imgH="394739" progId="Visio.Drawing.11">
                  <p:embed/>
                </p:oleObj>
              </mc:Choice>
              <mc:Fallback>
                <p:oleObj name="Visio" r:id="rId3" imgW="5182657" imgH="394739" progId="Visio.Drawing.11">
                  <p:embed/>
                  <p:pic>
                    <p:nvPicPr>
                      <p:cNvPr id="8196" name="对象 4">
                        <a:extLst>
                          <a:ext uri="{FF2B5EF4-FFF2-40B4-BE49-F238E27FC236}">
                            <a16:creationId xmlns:a16="http://schemas.microsoft.com/office/drawing/2014/main" id="{D61D68D3-7DEE-4575-A6FB-D5E876A65D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56" y="4626339"/>
                        <a:ext cx="10856331" cy="963249"/>
                      </a:xfrm>
                      <a:prstGeom prst="rect">
                        <a:avLst/>
                      </a:prstGeom>
                      <a:noFill/>
                      <a:ln>
                        <a:noFill/>
                      </a:ln>
                    </p:spPr>
                  </p:pic>
                </p:oleObj>
              </mc:Fallback>
            </mc:AlternateContent>
          </a:graphicData>
        </a:graphic>
      </p:graphicFrame>
      <p:sp>
        <p:nvSpPr>
          <p:cNvPr id="11" name="矩形 10">
            <a:extLst>
              <a:ext uri="{FF2B5EF4-FFF2-40B4-BE49-F238E27FC236}">
                <a16:creationId xmlns:a16="http://schemas.microsoft.com/office/drawing/2014/main" id="{E9D9619A-82A5-4491-B59C-3AA2639DC55A}"/>
              </a:ext>
            </a:extLst>
          </p:cNvPr>
          <p:cNvSpPr/>
          <p:nvPr/>
        </p:nvSpPr>
        <p:spPr>
          <a:xfrm>
            <a:off x="549945" y="4404768"/>
            <a:ext cx="3445112" cy="1251493"/>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sz="2800"/>
          </a:p>
        </p:txBody>
      </p:sp>
      <p:sp>
        <p:nvSpPr>
          <p:cNvPr id="12" name="矩形 11">
            <a:extLst>
              <a:ext uri="{FF2B5EF4-FFF2-40B4-BE49-F238E27FC236}">
                <a16:creationId xmlns:a16="http://schemas.microsoft.com/office/drawing/2014/main" id="{CBA16B4A-B6B1-404B-8B49-2946D81C8700}"/>
              </a:ext>
            </a:extLst>
          </p:cNvPr>
          <p:cNvSpPr/>
          <p:nvPr/>
        </p:nvSpPr>
        <p:spPr>
          <a:xfrm>
            <a:off x="4221793" y="4404768"/>
            <a:ext cx="3626805" cy="1225777"/>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13" name="矩形 12">
            <a:extLst>
              <a:ext uri="{FF2B5EF4-FFF2-40B4-BE49-F238E27FC236}">
                <a16:creationId xmlns:a16="http://schemas.microsoft.com/office/drawing/2014/main" id="{57F11D37-51B8-4DFA-9C31-B00C53CF9D73}"/>
              </a:ext>
            </a:extLst>
          </p:cNvPr>
          <p:cNvSpPr/>
          <p:nvPr/>
        </p:nvSpPr>
        <p:spPr>
          <a:xfrm>
            <a:off x="8064449" y="4430484"/>
            <a:ext cx="3446978" cy="1225777"/>
          </a:xfrm>
          <a:prstGeom prst="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Tree>
    <p:custDataLst>
      <p:tags r:id="rId1"/>
    </p:custDataLst>
    <p:extLst>
      <p:ext uri="{BB962C8B-B14F-4D97-AF65-F5344CB8AC3E}">
        <p14:creationId xmlns:p14="http://schemas.microsoft.com/office/powerpoint/2010/main" val="241781708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EFEFB9-7F4D-4BB8-A6D3-1BF6551A1142}"/>
              </a:ext>
            </a:extLst>
          </p:cNvPr>
          <p:cNvSpPr>
            <a:spLocks noGrp="1"/>
          </p:cNvSpPr>
          <p:nvPr>
            <p:ph type="title"/>
          </p:nvPr>
        </p:nvSpPr>
        <p:spPr/>
        <p:txBody>
          <a:bodyPr>
            <a:normAutofit/>
          </a:bodyPr>
          <a:lstStyle/>
          <a:p>
            <a:r>
              <a:rPr lang="en-US" altLang="zh-CN" b="1" dirty="0"/>
              <a:t> </a:t>
            </a:r>
            <a:r>
              <a:rPr lang="zh-CN" altLang="zh-CN" b="1" dirty="0"/>
              <a:t>程序的顺序执行</a:t>
            </a:r>
            <a:endParaRPr lang="zh-CN" altLang="en-US" dirty="0"/>
          </a:p>
        </p:txBody>
      </p:sp>
      <p:sp>
        <p:nvSpPr>
          <p:cNvPr id="4" name="内容占位符 2">
            <a:extLst>
              <a:ext uri="{FF2B5EF4-FFF2-40B4-BE49-F238E27FC236}">
                <a16:creationId xmlns:a16="http://schemas.microsoft.com/office/drawing/2014/main" id="{6118BD97-E8B9-4DDE-B4D1-C8FD88EF5760}"/>
              </a:ext>
            </a:extLst>
          </p:cNvPr>
          <p:cNvSpPr>
            <a:spLocks noGrp="1"/>
          </p:cNvSpPr>
          <p:nvPr>
            <p:ph idx="1"/>
          </p:nvPr>
        </p:nvSpPr>
        <p:spPr>
          <a:xfrm>
            <a:off x="608013" y="1227138"/>
            <a:ext cx="10969625" cy="5022850"/>
          </a:xfrm>
        </p:spPr>
        <p:txBody>
          <a:bodyPr>
            <a:normAutofit fontScale="97500"/>
          </a:bodyPr>
          <a:lstStyle/>
          <a:p>
            <a:pPr marL="0" indent="0">
              <a:buNone/>
            </a:pPr>
            <a:r>
              <a:rPr lang="zh-CN" altLang="zh-CN" sz="2800" dirty="0"/>
              <a:t>顺序执行具有以下三个特点：</a:t>
            </a:r>
          </a:p>
          <a:p>
            <a:r>
              <a:rPr lang="zh-CN" altLang="zh-CN" sz="2800" dirty="0"/>
              <a:t>（</a:t>
            </a:r>
            <a:r>
              <a:rPr lang="en-US" altLang="zh-CN" sz="2800" dirty="0"/>
              <a:t>1</a:t>
            </a:r>
            <a:r>
              <a:rPr lang="zh-CN" altLang="zh-CN" sz="2800" dirty="0"/>
              <a:t>）</a:t>
            </a:r>
            <a:r>
              <a:rPr lang="zh-CN" altLang="zh-CN" sz="2800" dirty="0">
                <a:solidFill>
                  <a:srgbClr val="FF0000"/>
                </a:solidFill>
              </a:rPr>
              <a:t>顺序性</a:t>
            </a:r>
            <a:r>
              <a:rPr lang="zh-CN" altLang="zh-CN" sz="2800" dirty="0"/>
              <a:t>。程序严格按照给定的指令序列的顺序执行，也就是说指令</a:t>
            </a:r>
            <a:r>
              <a:rPr lang="en-US" altLang="zh-CN" sz="2800" dirty="0"/>
              <a:t>N</a:t>
            </a:r>
            <a:r>
              <a:rPr lang="zh-CN" altLang="zh-CN" sz="2800" dirty="0"/>
              <a:t>必须在指令（</a:t>
            </a:r>
            <a:r>
              <a:rPr lang="en-US" altLang="zh-CN" sz="2800" dirty="0"/>
              <a:t>N-1</a:t>
            </a:r>
            <a:r>
              <a:rPr lang="zh-CN" altLang="zh-CN" sz="2800" dirty="0"/>
              <a:t>）执行完毕以后才能执行。</a:t>
            </a:r>
          </a:p>
          <a:p>
            <a:r>
              <a:rPr lang="zh-CN" altLang="zh-CN" sz="2800" dirty="0"/>
              <a:t>（</a:t>
            </a:r>
            <a:r>
              <a:rPr lang="en-US" altLang="zh-CN" sz="2800" dirty="0"/>
              <a:t>2</a:t>
            </a:r>
            <a:r>
              <a:rPr lang="zh-CN" altLang="zh-CN" sz="2800" dirty="0"/>
              <a:t>）运行环境的</a:t>
            </a:r>
            <a:r>
              <a:rPr lang="zh-CN" altLang="zh-CN" sz="2800" dirty="0">
                <a:solidFill>
                  <a:srgbClr val="FF0000"/>
                </a:solidFill>
              </a:rPr>
              <a:t>封闭性</a:t>
            </a:r>
            <a:r>
              <a:rPr lang="zh-CN" altLang="zh-CN" sz="2800" dirty="0"/>
              <a:t>。系统状态完全取决于程序本身</a:t>
            </a:r>
            <a:r>
              <a:rPr lang="zh-CN" altLang="en-US" sz="2800" dirty="0"/>
              <a:t>，</a:t>
            </a:r>
            <a:r>
              <a:rPr lang="zh-CN" altLang="zh-CN" sz="2800" dirty="0"/>
              <a:t>程序运行结果不受外界因素影响。</a:t>
            </a:r>
          </a:p>
          <a:p>
            <a:r>
              <a:rPr lang="zh-CN" altLang="zh-CN" sz="2800" dirty="0"/>
              <a:t>（</a:t>
            </a:r>
            <a:r>
              <a:rPr lang="en-US" altLang="zh-CN" sz="2800" dirty="0"/>
              <a:t>3</a:t>
            </a:r>
            <a:r>
              <a:rPr lang="zh-CN" altLang="zh-CN" sz="2800" dirty="0"/>
              <a:t>）</a:t>
            </a:r>
            <a:r>
              <a:rPr lang="zh-CN" altLang="zh-CN" sz="2800" dirty="0">
                <a:solidFill>
                  <a:srgbClr val="FF0000"/>
                </a:solidFill>
              </a:rPr>
              <a:t>程序运行结果可再现性</a:t>
            </a:r>
            <a:r>
              <a:rPr lang="zh-CN" altLang="zh-CN" sz="2800" dirty="0"/>
              <a:t>。只要给定相同的初始条件和输入数据，在任何计算机上，在任何时间，以任何速度来运行，程序的运行结果都是唯一的，也就是说可以随时再现程序的运行结果。</a:t>
            </a:r>
          </a:p>
        </p:txBody>
      </p:sp>
      <p:sp>
        <p:nvSpPr>
          <p:cNvPr id="5" name="矩形 4">
            <a:extLst>
              <a:ext uri="{FF2B5EF4-FFF2-40B4-BE49-F238E27FC236}">
                <a16:creationId xmlns:a16="http://schemas.microsoft.com/office/drawing/2014/main" id="{3B2F23A6-CBCA-49FD-939F-B0D2A2F3833D}"/>
              </a:ext>
            </a:extLst>
          </p:cNvPr>
          <p:cNvSpPr/>
          <p:nvPr/>
        </p:nvSpPr>
        <p:spPr>
          <a:xfrm>
            <a:off x="3644899" y="2861469"/>
            <a:ext cx="6750958" cy="2374560"/>
          </a:xfrm>
          <a:prstGeom prst="rect">
            <a:avLst/>
          </a:prstGeom>
          <a:solidFill>
            <a:schemeClr val="accent6">
              <a:lumMod val="60000"/>
              <a:lumOff val="40000"/>
            </a:schemeClr>
          </a:solidFill>
          <a:ln>
            <a:solidFill>
              <a:srgbClr val="FF0000"/>
            </a:solidFill>
          </a:ln>
        </p:spPr>
        <p:txBody>
          <a:bodyPr/>
          <a:lstStyle/>
          <a:p>
            <a:pPr eaLnBrk="1" hangingPunct="1">
              <a:lnSpc>
                <a:spcPct val="150000"/>
              </a:lnSpc>
              <a:defRPr/>
            </a:pPr>
            <a:r>
              <a:rPr lang="zh-CN" altLang="zh-CN" sz="3200" dirty="0">
                <a:solidFill>
                  <a:srgbClr val="3333FF"/>
                </a:solidFill>
                <a:latin typeface="黑体" pitchFamily="2" charset="-122"/>
                <a:ea typeface="黑体" pitchFamily="2" charset="-122"/>
              </a:rPr>
              <a:t>程序</a:t>
            </a:r>
            <a:r>
              <a:rPr lang="zh-CN" altLang="en-US" sz="3200" dirty="0">
                <a:solidFill>
                  <a:srgbClr val="3333FF"/>
                </a:solidFill>
                <a:latin typeface="黑体" pitchFamily="2" charset="-122"/>
                <a:ea typeface="黑体" pitchFamily="2" charset="-122"/>
              </a:rPr>
              <a:t>的</a:t>
            </a:r>
            <a:r>
              <a:rPr lang="zh-CN" altLang="zh-CN" sz="3200" dirty="0">
                <a:solidFill>
                  <a:srgbClr val="3333FF"/>
                </a:solidFill>
                <a:latin typeface="黑体" pitchFamily="2" charset="-122"/>
                <a:ea typeface="黑体" pitchFamily="2" charset="-122"/>
              </a:rPr>
              <a:t>顺序执行给程序的编制、调试带来很大方便，但</a:t>
            </a:r>
            <a:r>
              <a:rPr lang="zh-CN" altLang="en-US" sz="3200" dirty="0">
                <a:solidFill>
                  <a:srgbClr val="3333FF"/>
                </a:solidFill>
                <a:latin typeface="黑体" pitchFamily="2" charset="-122"/>
                <a:ea typeface="黑体" pitchFamily="2" charset="-122"/>
              </a:rPr>
              <a:t>会</a:t>
            </a:r>
            <a:r>
              <a:rPr lang="zh-CN" altLang="zh-CN" sz="3200" dirty="0">
                <a:solidFill>
                  <a:srgbClr val="3333FF"/>
                </a:solidFill>
                <a:latin typeface="黑体" pitchFamily="2" charset="-122"/>
                <a:ea typeface="黑体" pitchFamily="2" charset="-122"/>
              </a:rPr>
              <a:t>导致计算机系统的资源利用率低、吞吐量小。</a:t>
            </a:r>
          </a:p>
        </p:txBody>
      </p:sp>
    </p:spTree>
    <p:extLst>
      <p:ext uri="{BB962C8B-B14F-4D97-AF65-F5344CB8AC3E}">
        <p14:creationId xmlns:p14="http://schemas.microsoft.com/office/powerpoint/2010/main" val="81732590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1"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.1.1  </a:t>
            </a:r>
            <a:r>
              <a:rPr lang="zh-CN" altLang="en-US" dirty="0"/>
              <a:t>进程的引入</a:t>
            </a:r>
          </a:p>
        </p:txBody>
      </p:sp>
      <p:sp>
        <p:nvSpPr>
          <p:cNvPr id="3" name="内容占位符 2"/>
          <p:cNvSpPr>
            <a:spLocks noGrp="1"/>
          </p:cNvSpPr>
          <p:nvPr>
            <p:ph idx="1"/>
          </p:nvPr>
        </p:nvSpPr>
        <p:spPr>
          <a:xfrm>
            <a:off x="457381" y="819969"/>
            <a:ext cx="11222989" cy="2609031"/>
          </a:xfrm>
        </p:spPr>
        <p:txBody>
          <a:bodyPr>
            <a:noAutofit/>
          </a:bodyPr>
          <a:lstStyle/>
          <a:p>
            <a:pPr marL="0" indent="0">
              <a:lnSpc>
                <a:spcPct val="120000"/>
              </a:lnSpc>
              <a:buNone/>
            </a:pPr>
            <a:r>
              <a:rPr lang="en-US" altLang="zh-CN" sz="2800" b="1" dirty="0"/>
              <a:t>  2. </a:t>
            </a:r>
            <a:r>
              <a:rPr lang="zh-CN" altLang="zh-CN" sz="2800" b="1" dirty="0"/>
              <a:t>程序的并发执行</a:t>
            </a:r>
            <a:endParaRPr lang="zh-CN" altLang="zh-CN" sz="2800" dirty="0"/>
          </a:p>
          <a:p>
            <a:pPr>
              <a:lnSpc>
                <a:spcPct val="120000"/>
              </a:lnSpc>
            </a:pPr>
            <a:r>
              <a:rPr lang="zh-CN" altLang="zh-CN" sz="2800" dirty="0"/>
              <a:t>所谓</a:t>
            </a:r>
            <a:r>
              <a:rPr lang="zh-CN" altLang="zh-CN" sz="2800" b="1" dirty="0"/>
              <a:t>并发执行</a:t>
            </a:r>
            <a:r>
              <a:rPr lang="zh-CN" altLang="zh-CN" sz="2800" dirty="0"/>
              <a:t>，是指一组在逻辑上互相独立的</a:t>
            </a:r>
            <a:r>
              <a:rPr lang="en-US" altLang="zh-CN" sz="2800" dirty="0" err="1">
                <a:hlinkClick r:id="rId3"/>
              </a:rPr>
              <a:t>程序</a:t>
            </a:r>
            <a:r>
              <a:rPr lang="zh-CN" altLang="zh-CN" sz="2800" dirty="0"/>
              <a:t>或程序段在执行过程中，</a:t>
            </a:r>
            <a:r>
              <a:rPr lang="zh-CN" altLang="zh-CN" sz="2800" dirty="0">
                <a:solidFill>
                  <a:srgbClr val="FF0000"/>
                </a:solidFill>
              </a:rPr>
              <a:t>其执行时间在客观上互相重叠</a:t>
            </a:r>
            <a:r>
              <a:rPr lang="zh-CN" altLang="zh-CN" sz="2800" dirty="0"/>
              <a:t>，</a:t>
            </a:r>
            <a:r>
              <a:rPr lang="zh-CN" altLang="zh-CN" sz="2800" dirty="0">
                <a:solidFill>
                  <a:srgbClr val="0000FF"/>
                </a:solidFill>
              </a:rPr>
              <a:t>即一个程序段的执行尚未结束，另一个程序段的执行已经开始</a:t>
            </a:r>
            <a:r>
              <a:rPr lang="zh-CN" altLang="zh-CN" sz="2800" dirty="0"/>
              <a:t>的执行方式</a:t>
            </a:r>
            <a:r>
              <a:rPr lang="en-US" altLang="zh-CN" sz="2800" dirty="0"/>
              <a:t> </a:t>
            </a:r>
            <a:endParaRPr lang="zh-CN" altLang="zh-CN" sz="2800" dirty="0"/>
          </a:p>
        </p:txBody>
      </p:sp>
      <p:graphicFrame>
        <p:nvGraphicFramePr>
          <p:cNvPr id="4" name="对象 3">
            <a:extLst>
              <a:ext uri="{FF2B5EF4-FFF2-40B4-BE49-F238E27FC236}">
                <a16:creationId xmlns:a16="http://schemas.microsoft.com/office/drawing/2014/main" id="{1ED391C5-FB6C-4D52-B495-283DC427D579}"/>
              </a:ext>
            </a:extLst>
          </p:cNvPr>
          <p:cNvGraphicFramePr>
            <a:graphicFrameLocks noChangeAspect="1"/>
          </p:cNvGraphicFramePr>
          <p:nvPr>
            <p:extLst>
              <p:ext uri="{D42A27DB-BD31-4B8C-83A1-F6EECF244321}">
                <p14:modId xmlns:p14="http://schemas.microsoft.com/office/powerpoint/2010/main" val="3776835264"/>
              </p:ext>
            </p:extLst>
          </p:nvPr>
        </p:nvGraphicFramePr>
        <p:xfrm>
          <a:off x="2038033" y="3217862"/>
          <a:ext cx="6537506" cy="3525767"/>
        </p:xfrm>
        <a:graphic>
          <a:graphicData uri="http://schemas.openxmlformats.org/presentationml/2006/ole">
            <mc:AlternateContent xmlns:mc="http://schemas.openxmlformats.org/markup-compatibility/2006">
              <mc:Choice xmlns:v="urn:schemas-microsoft-com:vml" Requires="v">
                <p:oleObj name="Visio" r:id="rId4" imgW="3004729" imgH="1510589" progId="Visio.Drawing.11">
                  <p:embed/>
                </p:oleObj>
              </mc:Choice>
              <mc:Fallback>
                <p:oleObj name="Visio" r:id="rId4" imgW="3004729" imgH="1510589" progId="Visio.Drawing.11">
                  <p:embed/>
                  <p:pic>
                    <p:nvPicPr>
                      <p:cNvPr id="7" name="对象 6">
                        <a:extLst>
                          <a:ext uri="{FF2B5EF4-FFF2-40B4-BE49-F238E27FC236}">
                            <a16:creationId xmlns:a16="http://schemas.microsoft.com/office/drawing/2014/main" id="{7DF53266-B09A-49D1-A7CC-5DB384384FB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38033" y="3217862"/>
                        <a:ext cx="6537506" cy="3525767"/>
                      </a:xfrm>
                      <a:prstGeom prst="rect">
                        <a:avLst/>
                      </a:prstGeom>
                      <a:noFill/>
                      <a:ln>
                        <a:noFill/>
                      </a:ln>
                    </p:spPr>
                  </p:pic>
                </p:oleObj>
              </mc:Fallback>
            </mc:AlternateContent>
          </a:graphicData>
        </a:graphic>
      </p:graphicFrame>
    </p:spTree>
    <p:custDataLst>
      <p:tags r:id="rId1"/>
    </p:custDataLst>
    <p:extLst>
      <p:ext uri="{BB962C8B-B14F-4D97-AF65-F5344CB8AC3E}">
        <p14:creationId xmlns:p14="http://schemas.microsoft.com/office/powerpoint/2010/main" val="221814278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353F6F47-A4AF-47AA-9EC5-532597C97F1C}"/>
              </a:ext>
            </a:extLst>
          </p:cNvPr>
          <p:cNvSpPr>
            <a:spLocks noGrp="1"/>
          </p:cNvSpPr>
          <p:nvPr>
            <p:ph idx="1"/>
          </p:nvPr>
        </p:nvSpPr>
        <p:spPr>
          <a:xfrm>
            <a:off x="415244" y="1271644"/>
            <a:ext cx="10969625" cy="4314711"/>
          </a:xfrm>
        </p:spPr>
        <p:txBody>
          <a:bodyPr>
            <a:normAutofit fontScale="97500"/>
          </a:bodyPr>
          <a:lstStyle/>
          <a:p>
            <a:pPr marL="0" indent="0">
              <a:buNone/>
            </a:pPr>
            <a:r>
              <a:rPr lang="en-US" altLang="zh-CN" sz="3200" b="1" dirty="0"/>
              <a:t> </a:t>
            </a:r>
            <a:r>
              <a:rPr lang="zh-CN" altLang="zh-CN" sz="3200" b="1" dirty="0"/>
              <a:t>程序并发执行</a:t>
            </a:r>
            <a:r>
              <a:rPr lang="zh-CN" altLang="en-US" sz="3200" b="1" dirty="0"/>
              <a:t>的特征</a:t>
            </a:r>
            <a:endParaRPr lang="zh-CN" altLang="zh-CN" sz="3200" dirty="0"/>
          </a:p>
          <a:p>
            <a:r>
              <a:rPr lang="zh-CN" altLang="zh-CN" sz="2700" dirty="0"/>
              <a:t>（</a:t>
            </a:r>
            <a:r>
              <a:rPr lang="en-US" altLang="zh-CN" sz="2700" dirty="0"/>
              <a:t>1</a:t>
            </a:r>
            <a:r>
              <a:rPr lang="zh-CN" altLang="zh-CN" sz="2700" dirty="0"/>
              <a:t>）</a:t>
            </a:r>
            <a:r>
              <a:rPr lang="zh-CN" altLang="zh-CN" sz="2700" dirty="0">
                <a:solidFill>
                  <a:srgbClr val="FF0000"/>
                </a:solidFill>
              </a:rPr>
              <a:t>间断性</a:t>
            </a:r>
            <a:r>
              <a:rPr lang="zh-CN" altLang="zh-CN" sz="2700" dirty="0"/>
              <a:t>。</a:t>
            </a:r>
            <a:r>
              <a:rPr lang="en-US" altLang="zh-CN" sz="2700" dirty="0"/>
              <a:t> </a:t>
            </a:r>
            <a:r>
              <a:rPr lang="zh-CN" altLang="en-US" sz="2700" dirty="0"/>
              <a:t>由于共享计算机资源，可能由于得不到运行所需资源（</a:t>
            </a:r>
            <a:r>
              <a:rPr lang="en-US" altLang="zh-CN" sz="2700" dirty="0"/>
              <a:t>CPU</a:t>
            </a:r>
            <a:r>
              <a:rPr lang="zh-CN" altLang="en-US" sz="2700" dirty="0"/>
              <a:t>，</a:t>
            </a:r>
            <a:r>
              <a:rPr lang="en-US" altLang="zh-CN" sz="2700" dirty="0"/>
              <a:t>I/O</a:t>
            </a:r>
            <a:r>
              <a:rPr lang="zh-CN" altLang="en-US" sz="2700" dirty="0"/>
              <a:t>设备）而暂停，</a:t>
            </a:r>
            <a:r>
              <a:rPr lang="zh-CN" altLang="zh-CN" sz="2700" dirty="0"/>
              <a:t>具有执行</a:t>
            </a:r>
            <a:r>
              <a:rPr lang="en-US" altLang="zh-CN" sz="2700" dirty="0"/>
              <a:t>——</a:t>
            </a:r>
            <a:r>
              <a:rPr lang="zh-CN" altLang="zh-CN" sz="2700" dirty="0"/>
              <a:t>暂停</a:t>
            </a:r>
            <a:r>
              <a:rPr lang="en-US" altLang="zh-CN" sz="2700" dirty="0"/>
              <a:t>——</a:t>
            </a:r>
            <a:r>
              <a:rPr lang="zh-CN" altLang="zh-CN" sz="2700" dirty="0"/>
              <a:t>执行的活动规律。</a:t>
            </a:r>
          </a:p>
          <a:p>
            <a:r>
              <a:rPr lang="zh-CN" altLang="zh-CN" sz="2700" dirty="0"/>
              <a:t>（</a:t>
            </a:r>
            <a:r>
              <a:rPr lang="en-US" altLang="zh-CN" sz="2700" dirty="0"/>
              <a:t>2</a:t>
            </a:r>
            <a:r>
              <a:rPr lang="zh-CN" altLang="zh-CN" sz="2700" dirty="0"/>
              <a:t>）</a:t>
            </a:r>
            <a:r>
              <a:rPr lang="zh-CN" altLang="zh-CN" sz="2700" dirty="0">
                <a:solidFill>
                  <a:srgbClr val="FF0000"/>
                </a:solidFill>
              </a:rPr>
              <a:t>失去封闭性</a:t>
            </a:r>
            <a:r>
              <a:rPr lang="zh-CN" altLang="zh-CN" sz="2700" dirty="0"/>
              <a:t>。系统中的各种资源的状态将由多个程序来共同改变，致使程序的运行环境失去了封闭性。</a:t>
            </a:r>
          </a:p>
          <a:p>
            <a:r>
              <a:rPr lang="zh-CN" altLang="zh-CN" sz="2700" dirty="0"/>
              <a:t>（</a:t>
            </a:r>
            <a:r>
              <a:rPr lang="en-US" altLang="zh-CN" sz="2700" dirty="0"/>
              <a:t>3</a:t>
            </a:r>
            <a:r>
              <a:rPr lang="zh-CN" altLang="zh-CN" sz="2700" dirty="0"/>
              <a:t>）</a:t>
            </a:r>
            <a:r>
              <a:rPr lang="zh-CN" altLang="zh-CN" sz="2700" dirty="0">
                <a:solidFill>
                  <a:srgbClr val="FF0000"/>
                </a:solidFill>
              </a:rPr>
              <a:t>不可再现性</a:t>
            </a:r>
            <a:r>
              <a:rPr lang="zh-CN" altLang="zh-CN" sz="2700" dirty="0"/>
              <a:t>。其运行过程和运行结果不可以重现。即使程序的初始条件相同，也会因运行时间和环境的不同而得到不同的运行结果。</a:t>
            </a:r>
          </a:p>
        </p:txBody>
      </p:sp>
    </p:spTree>
    <p:extLst>
      <p:ext uri="{BB962C8B-B14F-4D97-AF65-F5344CB8AC3E}">
        <p14:creationId xmlns:p14="http://schemas.microsoft.com/office/powerpoint/2010/main" val="120485546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ED22698D-7E4D-4F23-87AD-CCC429C7BE33}"/>
              </a:ext>
            </a:extLst>
          </p:cNvPr>
          <p:cNvSpPr>
            <a:spLocks noGrp="1"/>
          </p:cNvSpPr>
          <p:nvPr>
            <p:ph idx="1"/>
          </p:nvPr>
        </p:nvSpPr>
        <p:spPr>
          <a:xfrm>
            <a:off x="631371" y="1067753"/>
            <a:ext cx="10849429" cy="3428047"/>
          </a:xfrm>
        </p:spPr>
        <p:txBody>
          <a:bodyPr rtlCol="0">
            <a:noAutofit/>
          </a:bodyPr>
          <a:lstStyle/>
          <a:p>
            <a:pPr marL="0" indent="0" eaLnBrk="1" fontAlgn="auto" hangingPunct="1">
              <a:lnSpc>
                <a:spcPct val="150000"/>
              </a:lnSpc>
              <a:spcAft>
                <a:spcPts val="0"/>
              </a:spcAft>
              <a:buFont typeface="Wingdings" panose="05000000000000000000" pitchFamily="2" charset="2"/>
              <a:buNone/>
              <a:defRPr/>
            </a:pPr>
            <a:r>
              <a:rPr lang="zh-CN" altLang="en-US" b="1" dirty="0">
                <a:latin typeface="宋体" panose="02010600030101010101" pitchFamily="2" charset="-122"/>
                <a:ea typeface="宋体" panose="02010600030101010101" pitchFamily="2" charset="-122"/>
              </a:rPr>
              <a:t>例：</a:t>
            </a:r>
            <a:r>
              <a:rPr lang="zh-CN" altLang="zh-CN" b="1" dirty="0">
                <a:latin typeface="宋体" panose="02010600030101010101" pitchFamily="2" charset="-122"/>
                <a:ea typeface="宋体" panose="02010600030101010101" pitchFamily="2" charset="-122"/>
              </a:rPr>
              <a:t>假设系统中有两道并发执行的程序</a:t>
            </a:r>
            <a:r>
              <a:rPr lang="en-US" altLang="zh-CN" b="1" dirty="0">
                <a:latin typeface="宋体" panose="02010600030101010101" pitchFamily="2" charset="-122"/>
                <a:ea typeface="宋体" panose="02010600030101010101" pitchFamily="2" charset="-122"/>
              </a:rPr>
              <a:t>A</a:t>
            </a:r>
            <a:r>
              <a:rPr lang="zh-CN" altLang="zh-CN"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B</a:t>
            </a:r>
            <a:r>
              <a:rPr lang="zh-CN" altLang="zh-CN" b="1" dirty="0">
                <a:latin typeface="宋体" panose="02010600030101010101" pitchFamily="2" charset="-122"/>
                <a:ea typeface="宋体" panose="02010600030101010101" pitchFamily="2" charset="-122"/>
              </a:rPr>
              <a:t>，它们共享变量</a:t>
            </a:r>
            <a:r>
              <a:rPr lang="en-US" altLang="zh-CN" b="1" dirty="0">
                <a:latin typeface="宋体" panose="02010600030101010101" pitchFamily="2" charset="-122"/>
                <a:ea typeface="宋体" panose="02010600030101010101" pitchFamily="2" charset="-122"/>
              </a:rPr>
              <a:t>N</a:t>
            </a:r>
            <a:r>
              <a:rPr lang="zh-CN" altLang="zh-CN" b="1" dirty="0">
                <a:latin typeface="宋体" panose="02010600030101010101" pitchFamily="2" charset="-122"/>
                <a:ea typeface="宋体" panose="02010600030101010101" pitchFamily="2" charset="-122"/>
              </a:rPr>
              <a:t>，初始值为</a:t>
            </a:r>
            <a:r>
              <a:rPr lang="en-US" altLang="zh-CN" b="1" dirty="0">
                <a:latin typeface="宋体" panose="02010600030101010101" pitchFamily="2" charset="-122"/>
                <a:ea typeface="宋体" panose="02010600030101010101" pitchFamily="2" charset="-122"/>
              </a:rPr>
              <a:t>0</a:t>
            </a:r>
            <a:r>
              <a:rPr lang="zh-CN" altLang="zh-CN" b="1" dirty="0">
                <a:latin typeface="宋体" panose="02010600030101010101" pitchFamily="2" charset="-122"/>
                <a:ea typeface="宋体" panose="02010600030101010101" pitchFamily="2" charset="-122"/>
              </a:rPr>
              <a:t>。</a:t>
            </a:r>
            <a:r>
              <a:rPr lang="zh-CN" altLang="zh-CN" b="1" dirty="0">
                <a:solidFill>
                  <a:srgbClr val="261CF4"/>
                </a:solidFill>
                <a:latin typeface="宋体" panose="02010600030101010101" pitchFamily="2" charset="-122"/>
                <a:ea typeface="宋体" panose="02010600030101010101" pitchFamily="2" charset="-122"/>
              </a:rPr>
              <a:t>程序</a:t>
            </a:r>
            <a:r>
              <a:rPr lang="en-US" altLang="zh-CN" b="1" dirty="0">
                <a:solidFill>
                  <a:srgbClr val="261CF4"/>
                </a:solidFill>
                <a:latin typeface="宋体" panose="02010600030101010101" pitchFamily="2" charset="-122"/>
                <a:ea typeface="宋体" panose="02010600030101010101" pitchFamily="2" charset="-122"/>
              </a:rPr>
              <a:t>A</a:t>
            </a:r>
            <a:r>
              <a:rPr lang="zh-CN" altLang="zh-CN" b="1" dirty="0">
                <a:solidFill>
                  <a:srgbClr val="261CF4"/>
                </a:solidFill>
                <a:latin typeface="宋体" panose="02010600030101010101" pitchFamily="2" charset="-122"/>
                <a:ea typeface="宋体" panose="02010600030101010101" pitchFamily="2" charset="-122"/>
              </a:rPr>
              <a:t>做</a:t>
            </a:r>
            <a:r>
              <a:rPr lang="en-US" altLang="zh-CN" b="1" dirty="0">
                <a:solidFill>
                  <a:srgbClr val="261CF4"/>
                </a:solidFill>
                <a:latin typeface="宋体" panose="02010600030101010101" pitchFamily="2" charset="-122"/>
                <a:ea typeface="宋体" panose="02010600030101010101" pitchFamily="2" charset="-122"/>
              </a:rPr>
              <a:t>N=N+1</a:t>
            </a:r>
            <a:r>
              <a:rPr lang="zh-CN" altLang="zh-CN" b="1" dirty="0">
                <a:solidFill>
                  <a:srgbClr val="261CF4"/>
                </a:solidFill>
                <a:latin typeface="宋体" panose="02010600030101010101" pitchFamily="2" charset="-122"/>
                <a:ea typeface="宋体" panose="02010600030101010101" pitchFamily="2" charset="-122"/>
              </a:rPr>
              <a:t>操作</a:t>
            </a:r>
            <a:r>
              <a:rPr lang="zh-CN" altLang="zh-CN" b="1" dirty="0">
                <a:latin typeface="宋体" panose="02010600030101010101" pitchFamily="2" charset="-122"/>
                <a:ea typeface="宋体" panose="02010600030101010101" pitchFamily="2" charset="-122"/>
              </a:rPr>
              <a:t>，</a:t>
            </a:r>
            <a:r>
              <a:rPr lang="zh-CN" altLang="zh-CN" b="1" dirty="0">
                <a:solidFill>
                  <a:srgbClr val="261CF4"/>
                </a:solidFill>
                <a:latin typeface="宋体" panose="02010600030101010101" pitchFamily="2" charset="-122"/>
                <a:ea typeface="宋体" panose="02010600030101010101" pitchFamily="2" charset="-122"/>
              </a:rPr>
              <a:t>程序</a:t>
            </a:r>
            <a:r>
              <a:rPr lang="en-US" altLang="zh-CN" b="1" dirty="0">
                <a:solidFill>
                  <a:srgbClr val="261CF4"/>
                </a:solidFill>
                <a:latin typeface="宋体" panose="02010600030101010101" pitchFamily="2" charset="-122"/>
                <a:ea typeface="宋体" panose="02010600030101010101" pitchFamily="2" charset="-122"/>
              </a:rPr>
              <a:t>B</a:t>
            </a:r>
            <a:r>
              <a:rPr lang="zh-CN" altLang="zh-CN" b="1" dirty="0">
                <a:solidFill>
                  <a:srgbClr val="261CF4"/>
                </a:solidFill>
                <a:latin typeface="宋体" panose="02010600030101010101" pitchFamily="2" charset="-122"/>
                <a:ea typeface="宋体" panose="02010600030101010101" pitchFamily="2" charset="-122"/>
              </a:rPr>
              <a:t>要先打印</a:t>
            </a:r>
            <a:r>
              <a:rPr lang="en-US" altLang="zh-CN" b="1" dirty="0">
                <a:solidFill>
                  <a:srgbClr val="261CF4"/>
                </a:solidFill>
                <a:latin typeface="宋体" panose="02010600030101010101" pitchFamily="2" charset="-122"/>
                <a:ea typeface="宋体" panose="02010600030101010101" pitchFamily="2" charset="-122"/>
              </a:rPr>
              <a:t>N</a:t>
            </a:r>
            <a:r>
              <a:rPr lang="zh-CN" altLang="zh-CN" b="1" dirty="0">
                <a:solidFill>
                  <a:srgbClr val="261CF4"/>
                </a:solidFill>
                <a:latin typeface="宋体" panose="02010600030101010101" pitchFamily="2" charset="-122"/>
                <a:ea typeface="宋体" panose="02010600030101010101" pitchFamily="2" charset="-122"/>
              </a:rPr>
              <a:t>的值，再将</a:t>
            </a:r>
            <a:r>
              <a:rPr lang="en-US" altLang="zh-CN" b="1" dirty="0">
                <a:solidFill>
                  <a:srgbClr val="261CF4"/>
                </a:solidFill>
                <a:latin typeface="宋体" panose="02010600030101010101" pitchFamily="2" charset="-122"/>
                <a:ea typeface="宋体" panose="02010600030101010101" pitchFamily="2" charset="-122"/>
              </a:rPr>
              <a:t>N</a:t>
            </a:r>
            <a:r>
              <a:rPr lang="zh-CN" altLang="zh-CN" b="1" dirty="0">
                <a:solidFill>
                  <a:srgbClr val="261CF4"/>
                </a:solidFill>
                <a:latin typeface="宋体" panose="02010600030101010101" pitchFamily="2" charset="-122"/>
                <a:ea typeface="宋体" panose="02010600030101010101" pitchFamily="2" charset="-122"/>
              </a:rPr>
              <a:t>值清零</a:t>
            </a:r>
            <a:r>
              <a:rPr lang="zh-CN" altLang="zh-CN" b="1" dirty="0">
                <a:latin typeface="宋体" panose="02010600030101010101" pitchFamily="2" charset="-122"/>
                <a:ea typeface="宋体" panose="02010600030101010101" pitchFamily="2" charset="-122"/>
              </a:rPr>
              <a:t>。程序</a:t>
            </a:r>
            <a:r>
              <a:rPr lang="en-US" altLang="zh-CN" b="1" dirty="0">
                <a:latin typeface="宋体" panose="02010600030101010101" pitchFamily="2" charset="-122"/>
                <a:ea typeface="宋体" panose="02010600030101010101" pitchFamily="2" charset="-122"/>
              </a:rPr>
              <a:t>A</a:t>
            </a:r>
            <a:r>
              <a:rPr lang="zh-CN" altLang="zh-CN" b="1" dirty="0">
                <a:latin typeface="宋体" panose="02010600030101010101" pitchFamily="2" charset="-122"/>
                <a:ea typeface="宋体" panose="02010600030101010101" pitchFamily="2" charset="-122"/>
              </a:rPr>
              <a:t>和程序</a:t>
            </a:r>
            <a:r>
              <a:rPr lang="en-US" altLang="zh-CN" b="1" dirty="0">
                <a:latin typeface="宋体" panose="02010600030101010101" pitchFamily="2" charset="-122"/>
                <a:ea typeface="宋体" panose="02010600030101010101" pitchFamily="2" charset="-122"/>
              </a:rPr>
              <a:t>B</a:t>
            </a:r>
            <a:r>
              <a:rPr lang="zh-CN" altLang="zh-CN" b="1" dirty="0">
                <a:latin typeface="宋体" panose="02010600030101010101" pitchFamily="2" charset="-122"/>
                <a:ea typeface="宋体" panose="02010600030101010101" pitchFamily="2" charset="-122"/>
              </a:rPr>
              <a:t>执行的顺序若不相同，</a:t>
            </a:r>
            <a:r>
              <a:rPr lang="en-US" altLang="zh-CN" b="1" dirty="0">
                <a:latin typeface="宋体" panose="02010600030101010101" pitchFamily="2" charset="-122"/>
                <a:ea typeface="宋体" panose="02010600030101010101" pitchFamily="2" charset="-122"/>
              </a:rPr>
              <a:t>N</a:t>
            </a:r>
            <a:r>
              <a:rPr lang="zh-CN" altLang="zh-CN" b="1" dirty="0">
                <a:latin typeface="宋体" panose="02010600030101010101" pitchFamily="2" charset="-122"/>
                <a:ea typeface="宋体" panose="02010600030101010101" pitchFamily="2" charset="-122"/>
              </a:rPr>
              <a:t>的结果将产生不同的变化，如：</a:t>
            </a:r>
          </a:p>
          <a:p>
            <a:pPr lvl="1" eaLnBrk="1" fontAlgn="auto" hangingPunct="1">
              <a:lnSpc>
                <a:spcPct val="150000"/>
              </a:lnSpc>
              <a:spcAft>
                <a:spcPts val="0"/>
              </a:spcAft>
              <a:defRPr/>
            </a:pPr>
            <a:r>
              <a:rPr lang="zh-TW" altLang="zh-CN" dirty="0"/>
              <a:t>N=N+1</a:t>
            </a:r>
            <a:r>
              <a:rPr lang="zh-CN" altLang="zh-CN" dirty="0"/>
              <a:t>在</a:t>
            </a:r>
            <a:r>
              <a:rPr lang="zh-TW" altLang="zh-CN" dirty="0"/>
              <a:t>print(N)</a:t>
            </a:r>
            <a:r>
              <a:rPr lang="zh-CN" altLang="zh-CN" dirty="0"/>
              <a:t>和</a:t>
            </a:r>
            <a:r>
              <a:rPr lang="zh-TW" altLang="zh-CN" dirty="0"/>
              <a:t>N=0</a:t>
            </a:r>
            <a:r>
              <a:rPr lang="zh-CN" altLang="zh-CN" dirty="0"/>
              <a:t>之前，此时</a:t>
            </a:r>
            <a:r>
              <a:rPr lang="zh-TW" altLang="zh-CN" dirty="0"/>
              <a:t>N</a:t>
            </a:r>
            <a:r>
              <a:rPr lang="zh-CN" altLang="zh-CN" dirty="0"/>
              <a:t>的值分别为</a:t>
            </a:r>
            <a:r>
              <a:rPr lang="zh-TW" altLang="zh-CN" dirty="0"/>
              <a:t>1</a:t>
            </a:r>
            <a:r>
              <a:rPr lang="zh-CN" altLang="zh-CN" dirty="0"/>
              <a:t>、</a:t>
            </a:r>
            <a:r>
              <a:rPr lang="zh-TW" altLang="zh-CN" dirty="0"/>
              <a:t>1</a:t>
            </a:r>
            <a:r>
              <a:rPr lang="zh-CN" altLang="zh-CN" dirty="0"/>
              <a:t>、</a:t>
            </a:r>
            <a:r>
              <a:rPr lang="zh-TW" altLang="zh-CN" dirty="0"/>
              <a:t>0</a:t>
            </a:r>
            <a:r>
              <a:rPr lang="zh-CN" altLang="zh-CN" dirty="0"/>
              <a:t>；</a:t>
            </a:r>
          </a:p>
          <a:p>
            <a:pPr lvl="1" eaLnBrk="1" fontAlgn="auto" hangingPunct="1">
              <a:lnSpc>
                <a:spcPct val="150000"/>
              </a:lnSpc>
              <a:spcAft>
                <a:spcPts val="0"/>
              </a:spcAft>
              <a:defRPr/>
            </a:pPr>
            <a:r>
              <a:rPr lang="zh-TW" altLang="zh-CN" dirty="0"/>
              <a:t>N=N+1</a:t>
            </a:r>
            <a:r>
              <a:rPr lang="zh-CN" altLang="zh-CN" dirty="0"/>
              <a:t>在</a:t>
            </a:r>
            <a:r>
              <a:rPr lang="zh-TW" altLang="zh-CN" dirty="0"/>
              <a:t>print(N)</a:t>
            </a:r>
            <a:r>
              <a:rPr lang="zh-CN" altLang="zh-CN" dirty="0"/>
              <a:t>和</a:t>
            </a:r>
            <a:r>
              <a:rPr lang="zh-TW" altLang="zh-CN" dirty="0"/>
              <a:t>N=0</a:t>
            </a:r>
            <a:r>
              <a:rPr lang="zh-CN" altLang="zh-CN" dirty="0"/>
              <a:t>之间，此时</a:t>
            </a:r>
            <a:r>
              <a:rPr lang="zh-TW" altLang="zh-CN" dirty="0"/>
              <a:t>N</a:t>
            </a:r>
            <a:r>
              <a:rPr lang="zh-CN" altLang="zh-CN" dirty="0"/>
              <a:t>的值分别为</a:t>
            </a:r>
            <a:r>
              <a:rPr lang="zh-TW" altLang="zh-CN" dirty="0"/>
              <a:t>0</a:t>
            </a:r>
            <a:r>
              <a:rPr lang="zh-CN" altLang="zh-CN" dirty="0"/>
              <a:t>、</a:t>
            </a:r>
            <a:r>
              <a:rPr lang="zh-TW" altLang="zh-CN" dirty="0"/>
              <a:t>1</a:t>
            </a:r>
            <a:r>
              <a:rPr lang="zh-CN" altLang="zh-CN" dirty="0"/>
              <a:t>、</a:t>
            </a:r>
            <a:r>
              <a:rPr lang="zh-TW" altLang="zh-CN" dirty="0"/>
              <a:t>1</a:t>
            </a:r>
            <a:r>
              <a:rPr lang="zh-CN" altLang="zh-CN" dirty="0"/>
              <a:t>；</a:t>
            </a:r>
          </a:p>
          <a:p>
            <a:pPr lvl="1" eaLnBrk="1" fontAlgn="auto" hangingPunct="1">
              <a:lnSpc>
                <a:spcPct val="150000"/>
              </a:lnSpc>
              <a:spcAft>
                <a:spcPts val="0"/>
              </a:spcAft>
              <a:defRPr/>
            </a:pPr>
            <a:r>
              <a:rPr lang="zh-TW" altLang="zh-CN" dirty="0"/>
              <a:t>N=N+1</a:t>
            </a:r>
            <a:r>
              <a:rPr lang="zh-CN" altLang="zh-CN" dirty="0"/>
              <a:t>在</a:t>
            </a:r>
            <a:r>
              <a:rPr lang="zh-TW" altLang="zh-CN" dirty="0"/>
              <a:t>print(N)</a:t>
            </a:r>
            <a:r>
              <a:rPr lang="zh-CN" altLang="zh-CN" dirty="0"/>
              <a:t>和</a:t>
            </a:r>
            <a:r>
              <a:rPr lang="zh-TW" altLang="zh-CN" dirty="0"/>
              <a:t>N=0</a:t>
            </a:r>
            <a:r>
              <a:rPr lang="zh-CN" altLang="zh-CN" dirty="0"/>
              <a:t>之后，此时</a:t>
            </a:r>
            <a:r>
              <a:rPr lang="zh-TW" altLang="zh-CN" dirty="0"/>
              <a:t>N</a:t>
            </a:r>
            <a:r>
              <a:rPr lang="zh-CN" altLang="zh-CN" dirty="0"/>
              <a:t>的值分别为</a:t>
            </a:r>
            <a:r>
              <a:rPr lang="zh-TW" altLang="zh-CN" dirty="0"/>
              <a:t>0</a:t>
            </a:r>
            <a:r>
              <a:rPr lang="zh-CN" altLang="zh-CN" dirty="0"/>
              <a:t>、</a:t>
            </a:r>
            <a:r>
              <a:rPr lang="zh-TW" altLang="zh-CN" dirty="0"/>
              <a:t>0</a:t>
            </a:r>
            <a:r>
              <a:rPr lang="zh-CN" altLang="zh-CN" dirty="0"/>
              <a:t>、</a:t>
            </a:r>
            <a:r>
              <a:rPr lang="zh-TW" altLang="zh-CN" dirty="0"/>
              <a:t>1</a:t>
            </a:r>
            <a:r>
              <a:rPr lang="zh-CN" altLang="zh-CN" dirty="0"/>
              <a:t>。</a:t>
            </a:r>
          </a:p>
          <a:p>
            <a:pPr eaLnBrk="1" fontAlgn="auto" hangingPunct="1">
              <a:lnSpc>
                <a:spcPct val="150000"/>
              </a:lnSpc>
              <a:spcAft>
                <a:spcPts val="0"/>
              </a:spcAft>
              <a:defRPr/>
            </a:pPr>
            <a:endParaRPr lang="zh-CN" altLang="en-US" dirty="0"/>
          </a:p>
        </p:txBody>
      </p:sp>
      <p:sp>
        <p:nvSpPr>
          <p:cNvPr id="5" name="矩形 4">
            <a:extLst>
              <a:ext uri="{FF2B5EF4-FFF2-40B4-BE49-F238E27FC236}">
                <a16:creationId xmlns:a16="http://schemas.microsoft.com/office/drawing/2014/main" id="{32E084A2-A32E-4CF0-AA8A-7B65D7BBC3DC}"/>
              </a:ext>
            </a:extLst>
          </p:cNvPr>
          <p:cNvSpPr/>
          <p:nvPr/>
        </p:nvSpPr>
        <p:spPr>
          <a:xfrm>
            <a:off x="1908175" y="4968875"/>
            <a:ext cx="4897438" cy="1439863"/>
          </a:xfrm>
          <a:prstGeom prst="rect">
            <a:avLst/>
          </a:prstGeom>
          <a:solidFill>
            <a:schemeClr val="accent6">
              <a:lumMod val="60000"/>
              <a:lumOff val="40000"/>
            </a:schemeClr>
          </a:solidFill>
          <a:ln>
            <a:solidFill>
              <a:srgbClr val="FF0000"/>
            </a:solidFill>
          </a:ln>
        </p:spPr>
        <p:txBody>
          <a:bodyPr/>
          <a:lstStyle/>
          <a:p>
            <a:pPr algn="ctr" eaLnBrk="1" hangingPunct="1">
              <a:lnSpc>
                <a:spcPct val="150000"/>
              </a:lnSpc>
              <a:spcAft>
                <a:spcPts val="0"/>
              </a:spcAft>
              <a:defRPr/>
            </a:pPr>
            <a:r>
              <a:rPr lang="zh-CN" altLang="en-US" sz="2800" dirty="0">
                <a:solidFill>
                  <a:srgbClr val="261CF4"/>
                </a:solidFill>
                <a:latin typeface="黑体" pitchFamily="2" charset="-122"/>
                <a:ea typeface="黑体" pitchFamily="2" charset="-122"/>
              </a:rPr>
              <a:t>系统应保证</a:t>
            </a:r>
            <a:r>
              <a:rPr lang="zh-CN" altLang="zh-CN" sz="2800" dirty="0">
                <a:solidFill>
                  <a:srgbClr val="261CF4"/>
                </a:solidFill>
                <a:latin typeface="黑体" pitchFamily="2" charset="-122"/>
                <a:ea typeface="黑体" pitchFamily="2" charset="-122"/>
              </a:rPr>
              <a:t>并发程序能保持其结果的可再现性</a:t>
            </a:r>
            <a:r>
              <a:rPr lang="zh-CN" altLang="en-US" sz="2800" dirty="0">
                <a:solidFill>
                  <a:srgbClr val="261CF4"/>
                </a:solidFill>
                <a:latin typeface="黑体" pitchFamily="2" charset="-122"/>
                <a:ea typeface="黑体" pitchFamily="2" charset="-122"/>
              </a:rPr>
              <a:t>！</a:t>
            </a:r>
            <a:endParaRPr lang="zh-CN" altLang="zh-CN" sz="2800" dirty="0">
              <a:solidFill>
                <a:srgbClr val="261CF4"/>
              </a:solidFill>
              <a:latin typeface="黑体" pitchFamily="2" charset="-122"/>
              <a:ea typeface="黑体" pitchFamily="2" charset="-122"/>
            </a:endParaRPr>
          </a:p>
        </p:txBody>
      </p:sp>
    </p:spTree>
    <p:extLst>
      <p:ext uri="{BB962C8B-B14F-4D97-AF65-F5344CB8AC3E}">
        <p14:creationId xmlns:p14="http://schemas.microsoft.com/office/powerpoint/2010/main" val="26804979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44313F-CE41-4C1B-AA81-A629917CBE21}"/>
              </a:ext>
            </a:extLst>
          </p:cNvPr>
          <p:cNvSpPr>
            <a:spLocks noGrp="1"/>
          </p:cNvSpPr>
          <p:nvPr>
            <p:ph type="title"/>
          </p:nvPr>
        </p:nvSpPr>
        <p:spPr/>
        <p:txBody>
          <a:bodyPr/>
          <a:lstStyle/>
          <a:p>
            <a:endParaRPr lang="zh-CN" altLang="en-US"/>
          </a:p>
        </p:txBody>
      </p:sp>
      <p:sp>
        <p:nvSpPr>
          <p:cNvPr id="4" name="Rectangle 3">
            <a:extLst>
              <a:ext uri="{FF2B5EF4-FFF2-40B4-BE49-F238E27FC236}">
                <a16:creationId xmlns:a16="http://schemas.microsoft.com/office/drawing/2014/main" id="{8F6E2077-6E47-4A82-A8B7-778A33616A8F}"/>
              </a:ext>
            </a:extLst>
          </p:cNvPr>
          <p:cNvSpPr>
            <a:spLocks noGrp="1" noChangeArrowheads="1"/>
          </p:cNvSpPr>
          <p:nvPr>
            <p:ph idx="1"/>
          </p:nvPr>
        </p:nvSpPr>
        <p:spPr>
          <a:xfrm>
            <a:off x="1076395" y="1684338"/>
            <a:ext cx="9842273" cy="3236005"/>
          </a:xfrm>
        </p:spPr>
        <p:txBody>
          <a:bodyPr>
            <a:normAutofit/>
          </a:bodyPr>
          <a:lstStyle/>
          <a:p>
            <a:pPr eaLnBrk="1" hangingPunct="1">
              <a:buFontTx/>
              <a:buNone/>
              <a:defRPr/>
            </a:pPr>
            <a:r>
              <a:rPr lang="zh-CN" altLang="en-US" sz="3200" dirty="0">
                <a:latin typeface="宋体" pitchFamily="2" charset="-122"/>
              </a:rPr>
              <a:t>例：</a:t>
            </a:r>
            <a:r>
              <a:rPr lang="en-US" altLang="zh-CN" sz="3200" dirty="0">
                <a:latin typeface="宋体" pitchFamily="2" charset="-122"/>
              </a:rPr>
              <a:t> </a:t>
            </a:r>
            <a:r>
              <a:rPr lang="zh-CN" altLang="en-US" sz="3200" dirty="0">
                <a:latin typeface="宋体" pitchFamily="2" charset="-122"/>
              </a:rPr>
              <a:t>以下四条语句是否可以并发执行</a:t>
            </a:r>
            <a:r>
              <a:rPr lang="en-US" altLang="zh-CN" sz="3200" dirty="0">
                <a:latin typeface="宋体" pitchFamily="2" charset="-122"/>
              </a:rPr>
              <a:t>?</a:t>
            </a:r>
            <a:endParaRPr lang="zh-CN" altLang="en-US" sz="3200" dirty="0">
              <a:latin typeface="Tahoma" pitchFamily="34" charset="0"/>
              <a:cs typeface="Tahoma" pitchFamily="34" charset="0"/>
            </a:endParaRPr>
          </a:p>
          <a:p>
            <a:pPr lvl="1" eaLnBrk="1" hangingPunct="1">
              <a:lnSpc>
                <a:spcPct val="100000"/>
              </a:lnSpc>
              <a:buFontTx/>
              <a:buNone/>
              <a:defRPr/>
            </a:pPr>
            <a:r>
              <a:rPr lang="en-US" altLang="zh-CN" sz="3200" dirty="0">
                <a:latin typeface="Tahoma" pitchFamily="34" charset="0"/>
                <a:cs typeface="Tahoma" pitchFamily="34" charset="0"/>
              </a:rPr>
              <a:t>      S</a:t>
            </a:r>
            <a:r>
              <a:rPr lang="en-US" altLang="zh-CN" sz="3200" baseline="-30000" dirty="0">
                <a:latin typeface="Tahoma" pitchFamily="34" charset="0"/>
                <a:cs typeface="Tahoma" pitchFamily="34" charset="0"/>
              </a:rPr>
              <a:t>1</a:t>
            </a:r>
            <a:r>
              <a:rPr lang="zh-CN" altLang="en-US" sz="3200" dirty="0">
                <a:latin typeface="宋体" pitchFamily="2" charset="-122"/>
              </a:rPr>
              <a:t>：</a:t>
            </a:r>
            <a:r>
              <a:rPr lang="zh-CN" altLang="en-US" sz="3200" dirty="0">
                <a:latin typeface="Tahoma" pitchFamily="34" charset="0"/>
                <a:cs typeface="Tahoma" pitchFamily="34" charset="0"/>
              </a:rPr>
              <a:t>  </a:t>
            </a:r>
            <a:r>
              <a:rPr lang="en-US" altLang="zh-CN" sz="3200" dirty="0">
                <a:latin typeface="Tahoma" pitchFamily="34" charset="0"/>
                <a:cs typeface="Tahoma" pitchFamily="34" charset="0"/>
              </a:rPr>
              <a:t>a</a:t>
            </a:r>
            <a:r>
              <a:rPr lang="zh-CN" altLang="en-US" sz="3200" dirty="0">
                <a:latin typeface="宋体" pitchFamily="2" charset="-122"/>
              </a:rPr>
              <a:t>＝</a:t>
            </a:r>
            <a:r>
              <a:rPr lang="en-US" altLang="zh-CN" sz="3200" dirty="0">
                <a:latin typeface="Tahoma" pitchFamily="34" charset="0"/>
                <a:cs typeface="Tahoma" pitchFamily="34" charset="0"/>
              </a:rPr>
              <a:t>x</a:t>
            </a:r>
            <a:r>
              <a:rPr lang="zh-CN" altLang="en-US" sz="3200" dirty="0">
                <a:latin typeface="宋体" pitchFamily="2" charset="-122"/>
              </a:rPr>
              <a:t>＋</a:t>
            </a:r>
            <a:r>
              <a:rPr lang="en-US" altLang="zh-CN" sz="3200" dirty="0">
                <a:latin typeface="Tahoma" pitchFamily="34" charset="0"/>
                <a:cs typeface="Tahoma" pitchFamily="34" charset="0"/>
              </a:rPr>
              <a:t>y</a:t>
            </a:r>
          </a:p>
          <a:p>
            <a:pPr lvl="1" eaLnBrk="1" hangingPunct="1">
              <a:lnSpc>
                <a:spcPct val="100000"/>
              </a:lnSpc>
              <a:buFontTx/>
              <a:buNone/>
              <a:defRPr/>
            </a:pPr>
            <a:r>
              <a:rPr lang="en-US" altLang="zh-CN" sz="3200" dirty="0">
                <a:latin typeface="Tahoma" pitchFamily="34" charset="0"/>
                <a:cs typeface="Tahoma" pitchFamily="34" charset="0"/>
              </a:rPr>
              <a:t>      S</a:t>
            </a:r>
            <a:r>
              <a:rPr lang="en-US" altLang="zh-CN" sz="3200" baseline="-30000" dirty="0">
                <a:latin typeface="Tahoma" pitchFamily="34" charset="0"/>
                <a:cs typeface="Tahoma" pitchFamily="34" charset="0"/>
              </a:rPr>
              <a:t>2</a:t>
            </a:r>
            <a:r>
              <a:rPr lang="zh-CN" altLang="en-US" sz="3200" dirty="0">
                <a:latin typeface="宋体" pitchFamily="2" charset="-122"/>
              </a:rPr>
              <a:t>：</a:t>
            </a:r>
            <a:r>
              <a:rPr lang="zh-CN" altLang="en-US" sz="3200" dirty="0">
                <a:latin typeface="Tahoma" pitchFamily="34" charset="0"/>
                <a:cs typeface="Tahoma" pitchFamily="34" charset="0"/>
              </a:rPr>
              <a:t>  </a:t>
            </a:r>
            <a:r>
              <a:rPr lang="en-US" altLang="zh-CN" sz="3200" dirty="0">
                <a:latin typeface="Tahoma" pitchFamily="34" charset="0"/>
                <a:cs typeface="Tahoma" pitchFamily="34" charset="0"/>
              </a:rPr>
              <a:t>b</a:t>
            </a:r>
            <a:r>
              <a:rPr lang="zh-CN" altLang="en-US" sz="3200" dirty="0">
                <a:latin typeface="宋体" pitchFamily="2" charset="-122"/>
              </a:rPr>
              <a:t>＝</a:t>
            </a:r>
            <a:r>
              <a:rPr lang="en-US" altLang="zh-CN" sz="3200" dirty="0">
                <a:latin typeface="Tahoma" pitchFamily="34" charset="0"/>
                <a:cs typeface="Tahoma" pitchFamily="34" charset="0"/>
              </a:rPr>
              <a:t>z</a:t>
            </a:r>
            <a:r>
              <a:rPr lang="zh-CN" altLang="en-US" sz="3200" dirty="0">
                <a:latin typeface="宋体" pitchFamily="2" charset="-122"/>
              </a:rPr>
              <a:t>＋</a:t>
            </a:r>
            <a:r>
              <a:rPr lang="en-US" altLang="zh-CN" sz="3200" dirty="0">
                <a:latin typeface="Tahoma" pitchFamily="34" charset="0"/>
                <a:cs typeface="Tahoma" pitchFamily="34" charset="0"/>
              </a:rPr>
              <a:t>1</a:t>
            </a:r>
          </a:p>
          <a:p>
            <a:pPr lvl="1" eaLnBrk="1" hangingPunct="1">
              <a:lnSpc>
                <a:spcPct val="100000"/>
              </a:lnSpc>
              <a:buFontTx/>
              <a:buNone/>
              <a:defRPr/>
            </a:pPr>
            <a:r>
              <a:rPr lang="en-US" altLang="zh-CN" sz="3200" dirty="0">
                <a:latin typeface="Tahoma" pitchFamily="34" charset="0"/>
                <a:cs typeface="Tahoma" pitchFamily="34" charset="0"/>
              </a:rPr>
              <a:t>      S</a:t>
            </a:r>
            <a:r>
              <a:rPr lang="en-US" altLang="zh-CN" sz="3200" baseline="-30000" dirty="0">
                <a:latin typeface="Tahoma" pitchFamily="34" charset="0"/>
                <a:cs typeface="Tahoma" pitchFamily="34" charset="0"/>
              </a:rPr>
              <a:t>3</a:t>
            </a:r>
            <a:r>
              <a:rPr lang="zh-CN" altLang="en-US" sz="3200" dirty="0">
                <a:latin typeface="宋体" pitchFamily="2" charset="-122"/>
              </a:rPr>
              <a:t>：</a:t>
            </a:r>
            <a:r>
              <a:rPr lang="zh-CN" altLang="en-US" sz="3200" dirty="0">
                <a:latin typeface="Tahoma" pitchFamily="34" charset="0"/>
                <a:cs typeface="Tahoma" pitchFamily="34" charset="0"/>
              </a:rPr>
              <a:t>  </a:t>
            </a:r>
            <a:r>
              <a:rPr lang="en-US" altLang="zh-CN" sz="3200" dirty="0">
                <a:latin typeface="Tahoma" pitchFamily="34" charset="0"/>
                <a:cs typeface="Tahoma" pitchFamily="34" charset="0"/>
              </a:rPr>
              <a:t>c</a:t>
            </a:r>
            <a:r>
              <a:rPr lang="zh-CN" altLang="en-US" sz="3200" dirty="0">
                <a:latin typeface="宋体" pitchFamily="2" charset="-122"/>
              </a:rPr>
              <a:t>＝</a:t>
            </a:r>
            <a:r>
              <a:rPr lang="en-US" altLang="zh-CN" sz="3200" dirty="0">
                <a:latin typeface="Tahoma" pitchFamily="34" charset="0"/>
                <a:cs typeface="Tahoma" pitchFamily="34" charset="0"/>
              </a:rPr>
              <a:t>a</a:t>
            </a:r>
            <a:r>
              <a:rPr lang="zh-CN" altLang="en-US" sz="3200" dirty="0">
                <a:latin typeface="宋体" pitchFamily="2" charset="-122"/>
              </a:rPr>
              <a:t>－</a:t>
            </a:r>
            <a:r>
              <a:rPr lang="en-US" altLang="zh-CN" sz="3200" dirty="0">
                <a:latin typeface="Tahoma" pitchFamily="34" charset="0"/>
                <a:cs typeface="Tahoma" pitchFamily="34" charset="0"/>
              </a:rPr>
              <a:t>b</a:t>
            </a:r>
          </a:p>
          <a:p>
            <a:pPr lvl="1" eaLnBrk="1" hangingPunct="1">
              <a:lnSpc>
                <a:spcPct val="100000"/>
              </a:lnSpc>
              <a:buFontTx/>
              <a:buNone/>
              <a:defRPr/>
            </a:pPr>
            <a:r>
              <a:rPr lang="en-US" altLang="zh-CN" sz="3200" dirty="0">
                <a:latin typeface="Tahoma" pitchFamily="34" charset="0"/>
                <a:cs typeface="Tahoma" pitchFamily="34" charset="0"/>
              </a:rPr>
              <a:t>      S</a:t>
            </a:r>
            <a:r>
              <a:rPr lang="en-US" altLang="zh-CN" sz="3200" baseline="-30000" dirty="0">
                <a:latin typeface="Tahoma" pitchFamily="34" charset="0"/>
                <a:cs typeface="Tahoma" pitchFamily="34" charset="0"/>
              </a:rPr>
              <a:t>4</a:t>
            </a:r>
            <a:r>
              <a:rPr lang="zh-CN" altLang="en-US" sz="3200" dirty="0">
                <a:latin typeface="宋体" pitchFamily="2" charset="-122"/>
              </a:rPr>
              <a:t>：</a:t>
            </a:r>
            <a:r>
              <a:rPr lang="zh-CN" altLang="en-US" sz="3200" dirty="0">
                <a:latin typeface="Tahoma" pitchFamily="34" charset="0"/>
                <a:cs typeface="Tahoma" pitchFamily="34" charset="0"/>
              </a:rPr>
              <a:t>  </a:t>
            </a:r>
            <a:r>
              <a:rPr lang="en-US" altLang="zh-CN" sz="3200" dirty="0">
                <a:latin typeface="Tahoma" pitchFamily="34" charset="0"/>
                <a:cs typeface="Tahoma" pitchFamily="34" charset="0"/>
              </a:rPr>
              <a:t>w</a:t>
            </a:r>
            <a:r>
              <a:rPr lang="zh-CN" altLang="en-US" sz="3200" dirty="0">
                <a:latin typeface="宋体" pitchFamily="2" charset="-122"/>
              </a:rPr>
              <a:t>＝</a:t>
            </a:r>
            <a:r>
              <a:rPr lang="en-US" altLang="zh-CN" sz="3200" dirty="0">
                <a:latin typeface="Tahoma" pitchFamily="34" charset="0"/>
                <a:cs typeface="Tahoma" pitchFamily="34" charset="0"/>
              </a:rPr>
              <a:t>c</a:t>
            </a:r>
            <a:r>
              <a:rPr lang="zh-CN" altLang="en-US" sz="3200" dirty="0">
                <a:latin typeface="宋体" pitchFamily="2" charset="-122"/>
              </a:rPr>
              <a:t>＋</a:t>
            </a:r>
            <a:r>
              <a:rPr lang="en-US" altLang="zh-CN" sz="3200" dirty="0">
                <a:latin typeface="Tahoma" pitchFamily="34" charset="0"/>
                <a:cs typeface="Tahoma" pitchFamily="34" charset="0"/>
              </a:rPr>
              <a:t>1</a:t>
            </a:r>
          </a:p>
          <a:p>
            <a:pPr eaLnBrk="1" hangingPunct="1">
              <a:buFontTx/>
              <a:buNone/>
              <a:defRPr/>
            </a:pPr>
            <a:endParaRPr lang="en-US" altLang="zh-CN" sz="3200" dirty="0"/>
          </a:p>
        </p:txBody>
      </p:sp>
    </p:spTree>
    <p:extLst>
      <p:ext uri="{BB962C8B-B14F-4D97-AF65-F5344CB8AC3E}">
        <p14:creationId xmlns:p14="http://schemas.microsoft.com/office/powerpoint/2010/main" val="181543162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.1.2  </a:t>
            </a:r>
            <a:r>
              <a:rPr lang="zh-CN" altLang="en-US" dirty="0"/>
              <a:t>进程的概念</a:t>
            </a:r>
          </a:p>
        </p:txBody>
      </p:sp>
      <p:sp>
        <p:nvSpPr>
          <p:cNvPr id="3" name="内容占位符 2"/>
          <p:cNvSpPr>
            <a:spLocks noGrp="1"/>
          </p:cNvSpPr>
          <p:nvPr>
            <p:ph idx="1"/>
          </p:nvPr>
        </p:nvSpPr>
        <p:spPr>
          <a:xfrm>
            <a:off x="359229" y="1023258"/>
            <a:ext cx="11218091" cy="5335340"/>
          </a:xfrm>
        </p:spPr>
        <p:txBody>
          <a:bodyPr>
            <a:normAutofit fontScale="97500"/>
          </a:bodyPr>
          <a:lstStyle/>
          <a:p>
            <a:pPr marL="0" indent="0">
              <a:buNone/>
            </a:pPr>
            <a:r>
              <a:rPr lang="en-US" altLang="zh-CN" dirty="0"/>
              <a:t>      </a:t>
            </a:r>
            <a:r>
              <a:rPr lang="zh-CN" altLang="zh-CN" dirty="0"/>
              <a:t>进程作为操作系统的一个重要概念，是</a:t>
            </a:r>
            <a:r>
              <a:rPr lang="en-US" altLang="zh-CN" dirty="0"/>
              <a:t>20</a:t>
            </a:r>
            <a:r>
              <a:rPr lang="zh-CN" altLang="zh-CN" dirty="0"/>
              <a:t>世纪</a:t>
            </a:r>
            <a:r>
              <a:rPr lang="en-US" altLang="zh-CN" dirty="0"/>
              <a:t>60</a:t>
            </a:r>
            <a:r>
              <a:rPr lang="zh-CN" altLang="zh-CN" dirty="0"/>
              <a:t>年代由美国麻省理工学院的研究人员在研究</a:t>
            </a:r>
            <a:r>
              <a:rPr lang="en-US" altLang="zh-CN" dirty="0"/>
              <a:t>MULTICS</a:t>
            </a:r>
            <a:r>
              <a:rPr lang="zh-CN" altLang="zh-CN" dirty="0"/>
              <a:t>操作系统时提出来的。</a:t>
            </a:r>
            <a:endParaRPr lang="en-US" altLang="zh-CN" dirty="0"/>
          </a:p>
          <a:p>
            <a:r>
              <a:rPr lang="zh-CN" altLang="zh-CN" dirty="0"/>
              <a:t>（</a:t>
            </a:r>
            <a:r>
              <a:rPr lang="en-US" altLang="zh-CN" dirty="0"/>
              <a:t>1</a:t>
            </a:r>
            <a:r>
              <a:rPr lang="zh-CN" altLang="zh-CN" dirty="0"/>
              <a:t>）</a:t>
            </a:r>
            <a:r>
              <a:rPr lang="zh-CN" altLang="zh-CN" dirty="0">
                <a:solidFill>
                  <a:srgbClr val="FF0000"/>
                </a:solidFill>
              </a:rPr>
              <a:t>一个正在执行中的程序。</a:t>
            </a:r>
          </a:p>
          <a:p>
            <a:r>
              <a:rPr lang="zh-CN" altLang="zh-CN" dirty="0"/>
              <a:t>（</a:t>
            </a:r>
            <a:r>
              <a:rPr lang="en-US" altLang="zh-CN" dirty="0"/>
              <a:t>2</a:t>
            </a:r>
            <a:r>
              <a:rPr lang="zh-CN" altLang="zh-CN" dirty="0"/>
              <a:t>）一个正在计算机上执行的程序实例。</a:t>
            </a:r>
          </a:p>
          <a:p>
            <a:r>
              <a:rPr lang="zh-CN" altLang="zh-CN" dirty="0"/>
              <a:t>（</a:t>
            </a:r>
            <a:r>
              <a:rPr lang="en-US" altLang="zh-CN" dirty="0"/>
              <a:t>3</a:t>
            </a:r>
            <a:r>
              <a:rPr lang="zh-CN" altLang="zh-CN" dirty="0"/>
              <a:t>）能分配给处理机并由处理机执行的实体。</a:t>
            </a:r>
          </a:p>
          <a:p>
            <a:r>
              <a:rPr lang="zh-CN" altLang="zh-CN" dirty="0"/>
              <a:t>（</a:t>
            </a:r>
            <a:r>
              <a:rPr lang="en-US" altLang="zh-CN" dirty="0"/>
              <a:t>4</a:t>
            </a:r>
            <a:r>
              <a:rPr lang="zh-CN" altLang="zh-CN" dirty="0"/>
              <a:t>）一个具有以下特征的活动单元：一组指令序列的执行、一个当前状态和相关的系统资源集合。</a:t>
            </a:r>
          </a:p>
          <a:p>
            <a:r>
              <a:rPr lang="zh-CN" altLang="zh-CN" dirty="0"/>
              <a:t>（</a:t>
            </a:r>
            <a:r>
              <a:rPr lang="en-US" altLang="zh-CN" dirty="0"/>
              <a:t>5</a:t>
            </a:r>
            <a:r>
              <a:rPr lang="zh-CN" altLang="zh-CN" dirty="0"/>
              <a:t>）</a:t>
            </a:r>
            <a:r>
              <a:rPr lang="zh-CN" altLang="zh-CN" dirty="0">
                <a:solidFill>
                  <a:srgbClr val="0000FF"/>
                </a:solidFill>
              </a:rPr>
              <a:t>程序在一个数据集合上运行的过程，是系统进行资源分配和调度的一个独立单位</a:t>
            </a:r>
            <a:r>
              <a:rPr lang="zh-CN" altLang="zh-CN" dirty="0"/>
              <a:t>。</a:t>
            </a:r>
          </a:p>
          <a:p>
            <a:pPr marL="0" indent="0">
              <a:buNone/>
            </a:pPr>
            <a:endParaRPr lang="zh-CN" altLang="zh-CN" dirty="0"/>
          </a:p>
        </p:txBody>
      </p:sp>
    </p:spTree>
    <p:custDataLst>
      <p:tags r:id="rId1"/>
    </p:custDataLst>
    <p:extLst>
      <p:ext uri="{BB962C8B-B14F-4D97-AF65-F5344CB8AC3E}">
        <p14:creationId xmlns:p14="http://schemas.microsoft.com/office/powerpoint/2010/main" val="289270445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FF6ED5-ED22-4B54-A303-AB06C3A138D6}"/>
              </a:ext>
            </a:extLst>
          </p:cNvPr>
          <p:cNvSpPr>
            <a:spLocks noGrp="1"/>
          </p:cNvSpPr>
          <p:nvPr>
            <p:ph type="title"/>
          </p:nvPr>
        </p:nvSpPr>
        <p:spPr/>
        <p:txBody>
          <a:bodyPr/>
          <a:lstStyle/>
          <a:p>
            <a:endParaRPr lang="zh-CN" altLang="en-US"/>
          </a:p>
        </p:txBody>
      </p:sp>
      <p:sp>
        <p:nvSpPr>
          <p:cNvPr id="4" name="Rectangle 3">
            <a:extLst>
              <a:ext uri="{FF2B5EF4-FFF2-40B4-BE49-F238E27FC236}">
                <a16:creationId xmlns:a16="http://schemas.microsoft.com/office/drawing/2014/main" id="{389A0F7E-320F-4C1B-815D-40D4B02E5780}"/>
              </a:ext>
            </a:extLst>
          </p:cNvPr>
          <p:cNvSpPr>
            <a:spLocks noGrp="1" noChangeArrowheads="1"/>
          </p:cNvSpPr>
          <p:nvPr>
            <p:ph idx="1"/>
          </p:nvPr>
        </p:nvSpPr>
        <p:spPr>
          <a:xfrm>
            <a:off x="608014" y="1227137"/>
            <a:ext cx="10636930" cy="4520519"/>
          </a:xfrm>
        </p:spPr>
        <p:txBody>
          <a:bodyPr>
            <a:normAutofit lnSpcReduction="10000"/>
          </a:bodyPr>
          <a:lstStyle/>
          <a:p>
            <a:pPr eaLnBrk="1" hangingPunct="1">
              <a:defRPr/>
            </a:pPr>
            <a:r>
              <a:rPr lang="zh-CN" altLang="en-US" sz="3200" dirty="0">
                <a:solidFill>
                  <a:srgbClr val="C00000"/>
                </a:solidFill>
                <a:ea typeface="黑体" pitchFamily="2" charset="-122"/>
              </a:rPr>
              <a:t>进程与程序的区别</a:t>
            </a:r>
            <a:endParaRPr lang="en-US" altLang="zh-CN" sz="3200" dirty="0">
              <a:solidFill>
                <a:srgbClr val="C00000"/>
              </a:solidFill>
              <a:ea typeface="黑体" pitchFamily="2" charset="-122"/>
            </a:endParaRPr>
          </a:p>
          <a:p>
            <a:pPr lvl="1" eaLnBrk="1" hangingPunct="1">
              <a:defRPr/>
            </a:pPr>
            <a:r>
              <a:rPr lang="zh-CN" altLang="zh-CN" sz="2800" dirty="0"/>
              <a:t>程序是</a:t>
            </a:r>
            <a:r>
              <a:rPr lang="zh-CN" altLang="zh-CN" sz="2800" dirty="0">
                <a:solidFill>
                  <a:srgbClr val="0000FF"/>
                </a:solidFill>
              </a:rPr>
              <a:t>静态的</a:t>
            </a:r>
            <a:r>
              <a:rPr lang="zh-CN" altLang="zh-CN" sz="2800" dirty="0"/>
              <a:t>，它由用户编写的若干</a:t>
            </a:r>
            <a:r>
              <a:rPr lang="zh-CN" altLang="zh-CN" sz="2800" dirty="0">
                <a:solidFill>
                  <a:srgbClr val="0000FF"/>
                </a:solidFill>
              </a:rPr>
              <a:t>代码的集合</a:t>
            </a:r>
            <a:r>
              <a:rPr lang="zh-CN" altLang="zh-CN" sz="2800" dirty="0"/>
              <a:t>，可作为资料长期保存；</a:t>
            </a:r>
            <a:endParaRPr lang="en-US" altLang="zh-CN" sz="2800" dirty="0"/>
          </a:p>
          <a:p>
            <a:pPr lvl="1" eaLnBrk="1" hangingPunct="1">
              <a:defRPr/>
            </a:pPr>
            <a:r>
              <a:rPr lang="zh-CN" altLang="zh-CN" sz="2800" dirty="0"/>
              <a:t>进程是</a:t>
            </a:r>
            <a:r>
              <a:rPr lang="zh-CN" altLang="zh-CN" sz="2800" dirty="0">
                <a:solidFill>
                  <a:srgbClr val="FF0000"/>
                </a:solidFill>
              </a:rPr>
              <a:t>动态的</a:t>
            </a:r>
            <a:r>
              <a:rPr lang="zh-CN" altLang="zh-CN" sz="2800" dirty="0"/>
              <a:t>，它是程序在系统中的一次</a:t>
            </a:r>
            <a:r>
              <a:rPr lang="zh-CN" altLang="zh-CN" sz="2800" dirty="0">
                <a:solidFill>
                  <a:srgbClr val="FF0000"/>
                </a:solidFill>
              </a:rPr>
              <a:t>运行过程</a:t>
            </a:r>
            <a:r>
              <a:rPr lang="zh-CN" altLang="zh-CN" sz="2800" dirty="0"/>
              <a:t>。</a:t>
            </a:r>
            <a:endParaRPr lang="en-US" altLang="zh-CN" sz="2800" dirty="0"/>
          </a:p>
          <a:p>
            <a:pPr lvl="1" eaLnBrk="1" hangingPunct="1">
              <a:defRPr/>
            </a:pPr>
            <a:endParaRPr lang="zh-CN" altLang="zh-CN" sz="2800" dirty="0"/>
          </a:p>
          <a:p>
            <a:pPr lvl="1" eaLnBrk="1" hangingPunct="1">
              <a:defRPr/>
            </a:pPr>
            <a:r>
              <a:rPr lang="zh-CN" altLang="zh-CN" sz="2800" dirty="0">
                <a:solidFill>
                  <a:srgbClr val="261CF4"/>
                </a:solidFill>
              </a:rPr>
              <a:t>进程和程序并非一一对应</a:t>
            </a:r>
            <a:r>
              <a:rPr lang="zh-CN" altLang="zh-CN" sz="2800" dirty="0"/>
              <a:t>，同一个程序可以由多个进程分别执行，这些进程虽然执行相同的程序，但处理不同的数据；同样，一个进程通过程序间的调用方式，会涉及多个程序。</a:t>
            </a:r>
          </a:p>
        </p:txBody>
      </p:sp>
    </p:spTree>
    <p:extLst>
      <p:ext uri="{BB962C8B-B14F-4D97-AF65-F5344CB8AC3E}">
        <p14:creationId xmlns:p14="http://schemas.microsoft.com/office/powerpoint/2010/main" val="202725992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.1.2  </a:t>
            </a:r>
            <a:r>
              <a:rPr lang="zh-CN" altLang="en-US" dirty="0"/>
              <a:t>进程的概念</a:t>
            </a:r>
          </a:p>
        </p:txBody>
      </p:sp>
      <p:sp>
        <p:nvSpPr>
          <p:cNvPr id="3" name="内容占位符 2"/>
          <p:cNvSpPr>
            <a:spLocks noGrp="1"/>
          </p:cNvSpPr>
          <p:nvPr>
            <p:ph idx="1"/>
          </p:nvPr>
        </p:nvSpPr>
        <p:spPr>
          <a:xfrm>
            <a:off x="382912" y="1283535"/>
            <a:ext cx="11112402" cy="4529436"/>
          </a:xfrm>
        </p:spPr>
        <p:txBody>
          <a:bodyPr>
            <a:normAutofit fontScale="97500"/>
          </a:bodyPr>
          <a:lstStyle/>
          <a:p>
            <a:pPr marL="0" indent="0">
              <a:buNone/>
            </a:pPr>
            <a:r>
              <a:rPr lang="en-US" altLang="zh-CN" sz="2900" dirty="0"/>
              <a:t>  </a:t>
            </a:r>
            <a:r>
              <a:rPr lang="zh-CN" altLang="zh-CN" sz="2900" dirty="0"/>
              <a:t>进程是操作系统最基本、最重要的概念之一，具有以下五个特点：</a:t>
            </a:r>
          </a:p>
          <a:p>
            <a:r>
              <a:rPr lang="zh-CN" altLang="zh-CN" sz="2800" dirty="0"/>
              <a:t>（</a:t>
            </a:r>
            <a:r>
              <a:rPr lang="en-US" altLang="zh-CN" sz="2800" dirty="0"/>
              <a:t>1</a:t>
            </a:r>
            <a:r>
              <a:rPr lang="zh-CN" altLang="zh-CN" sz="2800" dirty="0"/>
              <a:t>）结构特征。由</a:t>
            </a:r>
            <a:r>
              <a:rPr lang="zh-CN" altLang="zh-CN" sz="2800" dirty="0">
                <a:solidFill>
                  <a:srgbClr val="0000FF"/>
                </a:solidFill>
              </a:rPr>
              <a:t>程序代码、数据集和进程控制块</a:t>
            </a:r>
            <a:r>
              <a:rPr lang="zh-CN" altLang="zh-CN" sz="2800" dirty="0"/>
              <a:t>构成了进程实体，也称进程映像。其中，</a:t>
            </a:r>
            <a:r>
              <a:rPr lang="en-US" altLang="zh-CN" sz="2800" b="1" dirty="0">
                <a:solidFill>
                  <a:srgbClr val="0000FF"/>
                </a:solidFill>
              </a:rPr>
              <a:t>PCB</a:t>
            </a:r>
            <a:r>
              <a:rPr lang="zh-CN" altLang="zh-CN" sz="2800" b="1" dirty="0">
                <a:solidFill>
                  <a:srgbClr val="0000FF"/>
                </a:solidFill>
              </a:rPr>
              <a:t>是进程存在的标志</a:t>
            </a:r>
            <a:r>
              <a:rPr lang="zh-CN" altLang="zh-CN" sz="2800" dirty="0"/>
              <a:t>。只要一个进程的</a:t>
            </a:r>
            <a:r>
              <a:rPr lang="en-US" altLang="zh-CN" sz="2800" dirty="0"/>
              <a:t>PCB</a:t>
            </a:r>
            <a:r>
              <a:rPr lang="zh-CN" altLang="zh-CN" sz="2800" dirty="0"/>
              <a:t>存在，无论该进程的程序代码和数据集是否在内存，都可以被系统控制和调度。</a:t>
            </a:r>
          </a:p>
          <a:p>
            <a:r>
              <a:rPr lang="zh-CN" altLang="zh-CN" sz="2800" dirty="0"/>
              <a:t>（</a:t>
            </a:r>
            <a:r>
              <a:rPr lang="en-US" altLang="zh-CN" sz="2800" dirty="0"/>
              <a:t>2</a:t>
            </a:r>
            <a:r>
              <a:rPr lang="zh-CN" altLang="zh-CN" sz="2800" dirty="0"/>
              <a:t>）动态性。</a:t>
            </a:r>
            <a:r>
              <a:rPr lang="zh-CN" altLang="zh-CN" sz="2800" dirty="0">
                <a:solidFill>
                  <a:srgbClr val="0000FF"/>
                </a:solidFill>
              </a:rPr>
              <a:t>进程有</a:t>
            </a:r>
            <a:r>
              <a:rPr lang="en-US" altLang="zh-CN" sz="2800" dirty="0">
                <a:solidFill>
                  <a:srgbClr val="0000FF"/>
                </a:solidFill>
              </a:rPr>
              <a:t>“</a:t>
            </a:r>
            <a:r>
              <a:rPr lang="zh-CN" altLang="zh-CN" sz="2800" dirty="0">
                <a:solidFill>
                  <a:srgbClr val="0000FF"/>
                </a:solidFill>
              </a:rPr>
              <a:t>生命周期</a:t>
            </a:r>
            <a:r>
              <a:rPr lang="en-US" altLang="zh-CN" sz="2800" dirty="0">
                <a:solidFill>
                  <a:srgbClr val="0000FF"/>
                </a:solidFill>
              </a:rPr>
              <a:t>”</a:t>
            </a:r>
            <a:r>
              <a:rPr lang="zh-CN" altLang="zh-CN" sz="2800" dirty="0"/>
              <a:t>。它由</a:t>
            </a:r>
            <a:r>
              <a:rPr lang="en-US" altLang="zh-CN" sz="2800" dirty="0"/>
              <a:t>“</a:t>
            </a:r>
            <a:r>
              <a:rPr lang="zh-CN" altLang="zh-CN" sz="2800" dirty="0"/>
              <a:t>创建</a:t>
            </a:r>
            <a:r>
              <a:rPr lang="en-US" altLang="zh-CN" sz="2800" dirty="0"/>
              <a:t>”</a:t>
            </a:r>
            <a:r>
              <a:rPr lang="zh-CN" altLang="zh-CN" sz="2800" dirty="0"/>
              <a:t>而产生，由</a:t>
            </a:r>
            <a:r>
              <a:rPr lang="en-US" altLang="zh-CN" sz="2800" dirty="0"/>
              <a:t>“</a:t>
            </a:r>
            <a:r>
              <a:rPr lang="zh-CN" altLang="zh-CN" sz="2800" dirty="0"/>
              <a:t>撤销</a:t>
            </a:r>
            <a:r>
              <a:rPr lang="en-US" altLang="zh-CN" sz="2800" dirty="0"/>
              <a:t>”</a:t>
            </a:r>
            <a:r>
              <a:rPr lang="zh-CN" altLang="zh-CN" sz="2800" dirty="0"/>
              <a:t>而消亡。</a:t>
            </a:r>
          </a:p>
        </p:txBody>
      </p:sp>
    </p:spTree>
    <p:custDataLst>
      <p:tags r:id="rId1"/>
    </p:custDataLst>
    <p:extLst>
      <p:ext uri="{BB962C8B-B14F-4D97-AF65-F5344CB8AC3E}">
        <p14:creationId xmlns:p14="http://schemas.microsoft.com/office/powerpoint/2010/main" val="88039770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.1.2  </a:t>
            </a:r>
            <a:r>
              <a:rPr lang="zh-CN" altLang="en-US" dirty="0"/>
              <a:t>进程的概念</a:t>
            </a:r>
          </a:p>
        </p:txBody>
      </p:sp>
      <p:sp>
        <p:nvSpPr>
          <p:cNvPr id="3" name="内容占位符 2"/>
          <p:cNvSpPr>
            <a:spLocks noGrp="1"/>
          </p:cNvSpPr>
          <p:nvPr>
            <p:ph idx="1"/>
          </p:nvPr>
        </p:nvSpPr>
        <p:spPr>
          <a:xfrm>
            <a:off x="594262" y="1283729"/>
            <a:ext cx="10968990" cy="4888471"/>
          </a:xfrm>
        </p:spPr>
        <p:txBody>
          <a:bodyPr>
            <a:noAutofit/>
          </a:bodyPr>
          <a:lstStyle/>
          <a:p>
            <a:r>
              <a:rPr lang="zh-CN" altLang="zh-CN" sz="2800" dirty="0"/>
              <a:t>（</a:t>
            </a:r>
            <a:r>
              <a:rPr lang="en-US" altLang="zh-CN" sz="2800" dirty="0"/>
              <a:t>3</a:t>
            </a:r>
            <a:r>
              <a:rPr lang="zh-CN" altLang="zh-CN" sz="2800" dirty="0"/>
              <a:t>）</a:t>
            </a:r>
            <a:r>
              <a:rPr lang="zh-CN" altLang="zh-CN" sz="2800" dirty="0">
                <a:solidFill>
                  <a:srgbClr val="0000FF"/>
                </a:solidFill>
              </a:rPr>
              <a:t>并发性</a:t>
            </a:r>
            <a:r>
              <a:rPr lang="zh-CN" altLang="zh-CN" sz="2800" dirty="0"/>
              <a:t>。一个进程可以与其它进程并发执行。</a:t>
            </a:r>
            <a:r>
              <a:rPr lang="en-US" altLang="zh-CN" sz="2800" dirty="0"/>
              <a:t> </a:t>
            </a:r>
            <a:endParaRPr lang="zh-CN" altLang="zh-CN" sz="2800" dirty="0"/>
          </a:p>
          <a:p>
            <a:r>
              <a:rPr lang="zh-CN" altLang="zh-CN" sz="2800" dirty="0"/>
              <a:t>（</a:t>
            </a:r>
            <a:r>
              <a:rPr lang="en-US" altLang="zh-CN" sz="2800" dirty="0"/>
              <a:t>4</a:t>
            </a:r>
            <a:r>
              <a:rPr lang="zh-CN" altLang="zh-CN" sz="2800" dirty="0"/>
              <a:t>）</a:t>
            </a:r>
            <a:r>
              <a:rPr lang="zh-CN" altLang="zh-CN" sz="2800" dirty="0">
                <a:solidFill>
                  <a:srgbClr val="0000FF"/>
                </a:solidFill>
              </a:rPr>
              <a:t>独立性</a:t>
            </a:r>
            <a:r>
              <a:rPr lang="zh-CN" altLang="zh-CN" sz="2800" dirty="0"/>
              <a:t>。进程是系统中的一种独立实体，是独立请求并占有资源、独立被调度运行的基本单位（支持线程的系统除外）。</a:t>
            </a:r>
            <a:r>
              <a:rPr lang="en-US" altLang="zh-CN" sz="2800" dirty="0"/>
              <a:t> </a:t>
            </a:r>
            <a:endParaRPr lang="zh-CN" altLang="zh-CN" sz="2800" dirty="0"/>
          </a:p>
          <a:p>
            <a:r>
              <a:rPr lang="zh-CN" altLang="zh-CN" sz="2800" dirty="0"/>
              <a:t>（</a:t>
            </a:r>
            <a:r>
              <a:rPr lang="en-US" altLang="zh-CN" sz="2800" dirty="0"/>
              <a:t>5</a:t>
            </a:r>
            <a:r>
              <a:rPr lang="zh-CN" altLang="zh-CN" sz="2800" dirty="0"/>
              <a:t>）</a:t>
            </a:r>
            <a:r>
              <a:rPr lang="zh-CN" altLang="zh-CN" sz="2800" dirty="0">
                <a:solidFill>
                  <a:srgbClr val="0000FF"/>
                </a:solidFill>
              </a:rPr>
              <a:t>异步性</a:t>
            </a:r>
            <a:r>
              <a:rPr lang="zh-CN" altLang="zh-CN" sz="2800" dirty="0"/>
              <a:t>。进程是以异步方式运行的，即它的</a:t>
            </a:r>
            <a:r>
              <a:rPr lang="zh-CN" altLang="zh-CN" sz="2800" dirty="0">
                <a:solidFill>
                  <a:srgbClr val="0000FF"/>
                </a:solidFill>
              </a:rPr>
              <a:t>推进速度是不可预知的</a:t>
            </a:r>
            <a:r>
              <a:rPr lang="zh-CN" altLang="zh-CN" sz="2800" dirty="0"/>
              <a:t>。由于系统中允许多个进程并发执行，每一次调度都带有一定的随机性，并且进程的运行规律是</a:t>
            </a:r>
            <a:r>
              <a:rPr lang="en-US" altLang="zh-CN" sz="2800" dirty="0"/>
              <a:t>“</a:t>
            </a:r>
            <a:r>
              <a:rPr lang="zh-CN" altLang="zh-CN" sz="2800" dirty="0"/>
              <a:t>走走</a:t>
            </a:r>
            <a:r>
              <a:rPr lang="en-US" altLang="zh-CN" sz="2800" dirty="0"/>
              <a:t>——</a:t>
            </a:r>
            <a:r>
              <a:rPr lang="zh-CN" altLang="zh-CN" sz="2800" dirty="0"/>
              <a:t>停停</a:t>
            </a:r>
            <a:r>
              <a:rPr lang="en-US" altLang="zh-CN" sz="2800" dirty="0"/>
              <a:t>——</a:t>
            </a:r>
            <a:r>
              <a:rPr lang="zh-CN" altLang="zh-CN" sz="2800" dirty="0"/>
              <a:t>走走</a:t>
            </a:r>
            <a:r>
              <a:rPr lang="en-US" altLang="zh-CN" sz="2800" dirty="0"/>
              <a:t>”</a:t>
            </a:r>
            <a:r>
              <a:rPr lang="zh-CN" altLang="zh-CN" sz="2800" dirty="0"/>
              <a:t>，因此，系统无法预知某一瞬间运行的是哪一个进程，以及它的推进速度怎样。</a:t>
            </a:r>
          </a:p>
        </p:txBody>
      </p:sp>
    </p:spTree>
    <p:custDataLst>
      <p:tags r:id="rId1"/>
    </p:custDataLst>
    <p:extLst>
      <p:ext uri="{BB962C8B-B14F-4D97-AF65-F5344CB8AC3E}">
        <p14:creationId xmlns:p14="http://schemas.microsoft.com/office/powerpoint/2010/main" val="11776612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 name="组合 7317"/>
          <p:cNvGrpSpPr>
            <a:grpSpLocks/>
          </p:cNvGrpSpPr>
          <p:nvPr/>
        </p:nvGrpSpPr>
        <p:grpSpPr bwMode="auto">
          <a:xfrm>
            <a:off x="3711528" y="3024549"/>
            <a:ext cx="5758865" cy="3643534"/>
            <a:chOff x="3780" y="10757"/>
            <a:chExt cx="4140" cy="2652"/>
          </a:xfrm>
        </p:grpSpPr>
        <p:grpSp>
          <p:nvGrpSpPr>
            <p:cNvPr id="6" name="组合 7318"/>
            <p:cNvGrpSpPr>
              <a:grpSpLocks/>
            </p:cNvGrpSpPr>
            <p:nvPr/>
          </p:nvGrpSpPr>
          <p:grpSpPr bwMode="auto">
            <a:xfrm>
              <a:off x="3780" y="10757"/>
              <a:ext cx="4140" cy="2652"/>
              <a:chOff x="3645" y="4560"/>
              <a:chExt cx="4140" cy="2652"/>
            </a:xfrm>
          </p:grpSpPr>
          <p:grpSp>
            <p:nvGrpSpPr>
              <p:cNvPr id="8" name="画布 7319"/>
              <p:cNvGrpSpPr>
                <a:grpSpLocks noChangeAspect="1"/>
              </p:cNvGrpSpPr>
              <p:nvPr/>
            </p:nvGrpSpPr>
            <p:grpSpPr bwMode="auto">
              <a:xfrm>
                <a:off x="3645" y="4560"/>
                <a:ext cx="4140" cy="2184"/>
                <a:chOff x="1809" y="1985"/>
                <a:chExt cx="4140" cy="2184"/>
              </a:xfrm>
            </p:grpSpPr>
            <p:sp>
              <p:nvSpPr>
                <p:cNvPr id="11" name="直线 7321"/>
                <p:cNvSpPr>
                  <a:spLocks noChangeShapeType="1"/>
                </p:cNvSpPr>
                <p:nvPr/>
              </p:nvSpPr>
              <p:spPr bwMode="auto">
                <a:xfrm>
                  <a:off x="5229" y="3077"/>
                  <a:ext cx="720" cy="1"/>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2" name="组合 7322"/>
                <p:cNvGrpSpPr>
                  <a:grpSpLocks/>
                </p:cNvGrpSpPr>
                <p:nvPr/>
              </p:nvGrpSpPr>
              <p:grpSpPr bwMode="auto">
                <a:xfrm>
                  <a:off x="1809" y="1985"/>
                  <a:ext cx="3972" cy="2184"/>
                  <a:chOff x="1809" y="1985"/>
                  <a:chExt cx="3972" cy="2184"/>
                </a:xfrm>
              </p:grpSpPr>
              <p:grpSp>
                <p:nvGrpSpPr>
                  <p:cNvPr id="13" name="组合 7323"/>
                  <p:cNvGrpSpPr>
                    <a:grpSpLocks/>
                  </p:cNvGrpSpPr>
                  <p:nvPr/>
                </p:nvGrpSpPr>
                <p:grpSpPr bwMode="auto">
                  <a:xfrm>
                    <a:off x="1809" y="1985"/>
                    <a:ext cx="3972" cy="1819"/>
                    <a:chOff x="1809" y="1985"/>
                    <a:chExt cx="3972" cy="1819"/>
                  </a:xfrm>
                </p:grpSpPr>
                <p:grpSp>
                  <p:nvGrpSpPr>
                    <p:cNvPr id="15" name="组合 7324"/>
                    <p:cNvGrpSpPr>
                      <a:grpSpLocks/>
                    </p:cNvGrpSpPr>
                    <p:nvPr/>
                  </p:nvGrpSpPr>
                  <p:grpSpPr bwMode="auto">
                    <a:xfrm>
                      <a:off x="1809" y="2393"/>
                      <a:ext cx="3972" cy="1411"/>
                      <a:chOff x="1809" y="2393"/>
                      <a:chExt cx="3972" cy="1411"/>
                    </a:xfrm>
                  </p:grpSpPr>
                  <p:sp>
                    <p:nvSpPr>
                      <p:cNvPr id="17" name="矩形 7325"/>
                      <p:cNvSpPr>
                        <a:spLocks noChangeArrowheads="1"/>
                      </p:cNvSpPr>
                      <p:nvPr/>
                    </p:nvSpPr>
                    <p:spPr bwMode="auto">
                      <a:xfrm>
                        <a:off x="1931" y="2658"/>
                        <a:ext cx="552"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a:p>
                    </p:txBody>
                  </p:sp>
                  <p:grpSp>
                    <p:nvGrpSpPr>
                      <p:cNvPr id="18" name="组合 7326"/>
                      <p:cNvGrpSpPr>
                        <a:grpSpLocks/>
                      </p:cNvGrpSpPr>
                      <p:nvPr/>
                    </p:nvGrpSpPr>
                    <p:grpSpPr bwMode="auto">
                      <a:xfrm>
                        <a:off x="1809" y="2393"/>
                        <a:ext cx="3972" cy="1411"/>
                        <a:chOff x="1809" y="2393"/>
                        <a:chExt cx="3972" cy="1411"/>
                      </a:xfrm>
                    </p:grpSpPr>
                    <p:sp>
                      <p:nvSpPr>
                        <p:cNvPr id="19" name="直线 7327"/>
                        <p:cNvSpPr>
                          <a:spLocks noChangeShapeType="1"/>
                        </p:cNvSpPr>
                        <p:nvPr/>
                      </p:nvSpPr>
                      <p:spPr bwMode="auto">
                        <a:xfrm>
                          <a:off x="1809" y="3077"/>
                          <a:ext cx="72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椭圆 7328"/>
                        <p:cNvSpPr>
                          <a:spLocks noChangeArrowheads="1"/>
                        </p:cNvSpPr>
                        <p:nvPr/>
                      </p:nvSpPr>
                      <p:spPr bwMode="auto">
                        <a:xfrm>
                          <a:off x="2529" y="2861"/>
                          <a:ext cx="900" cy="468"/>
                        </a:xfrm>
                        <a:prstGeom prst="ellipse">
                          <a:avLst/>
                        </a:prstGeom>
                        <a:solidFill>
                          <a:srgbClr val="FFFFFF"/>
                        </a:solidFill>
                        <a:ln w="222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非运行</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21" name="椭圆 7329"/>
                        <p:cNvSpPr>
                          <a:spLocks noChangeArrowheads="1"/>
                        </p:cNvSpPr>
                        <p:nvPr/>
                      </p:nvSpPr>
                      <p:spPr bwMode="auto">
                        <a:xfrm>
                          <a:off x="4329" y="2861"/>
                          <a:ext cx="900" cy="468"/>
                        </a:xfrm>
                        <a:prstGeom prst="ellipse">
                          <a:avLst/>
                        </a:prstGeom>
                        <a:solidFill>
                          <a:srgbClr val="FFFFFF"/>
                        </a:solidFill>
                        <a:ln w="22225">
                          <a:solidFill>
                            <a:srgbClr val="000000"/>
                          </a:solidFill>
                          <a:round/>
                          <a:headEnd/>
                          <a:tailEnd/>
                        </a:ln>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运行</a:t>
                          </a:r>
                          <a:endParaRPr kumimoji="0" lang="zh-CN" altLang="zh-CN" b="1" i="0" u="none" strike="noStrike" cap="none" normalizeH="0" baseline="0">
                            <a:ln>
                              <a:noFill/>
                            </a:ln>
                            <a:solidFill>
                              <a:schemeClr val="tx1"/>
                            </a:solidFill>
                            <a:effectLst/>
                            <a:latin typeface="Arial" panose="020B0604020202020204" pitchFamily="34" charset="0"/>
                          </a:endParaRPr>
                        </a:p>
                      </p:txBody>
                    </p:sp>
                    <p:grpSp>
                      <p:nvGrpSpPr>
                        <p:cNvPr id="22" name="组合 7330"/>
                        <p:cNvGrpSpPr>
                          <a:grpSpLocks/>
                        </p:cNvGrpSpPr>
                        <p:nvPr/>
                      </p:nvGrpSpPr>
                      <p:grpSpPr bwMode="auto">
                        <a:xfrm>
                          <a:off x="2958" y="2393"/>
                          <a:ext cx="1821" cy="469"/>
                          <a:chOff x="2958" y="2393"/>
                          <a:chExt cx="1821" cy="469"/>
                        </a:xfrm>
                      </p:grpSpPr>
                      <p:sp>
                        <p:nvSpPr>
                          <p:cNvPr id="28" name="直线 7331"/>
                          <p:cNvSpPr>
                            <a:spLocks noChangeShapeType="1"/>
                          </p:cNvSpPr>
                          <p:nvPr/>
                        </p:nvSpPr>
                        <p:spPr bwMode="auto">
                          <a:xfrm flipV="1">
                            <a:off x="2964" y="2393"/>
                            <a:ext cx="1" cy="46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直线 7332"/>
                          <p:cNvSpPr>
                            <a:spLocks noChangeShapeType="1"/>
                          </p:cNvSpPr>
                          <p:nvPr/>
                        </p:nvSpPr>
                        <p:spPr bwMode="auto">
                          <a:xfrm>
                            <a:off x="2958" y="2399"/>
                            <a:ext cx="1814"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直线 7333"/>
                          <p:cNvSpPr>
                            <a:spLocks noChangeShapeType="1"/>
                          </p:cNvSpPr>
                          <p:nvPr/>
                        </p:nvSpPr>
                        <p:spPr bwMode="auto">
                          <a:xfrm>
                            <a:off x="4778" y="2408"/>
                            <a:ext cx="1" cy="45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3" name="组合 7334"/>
                        <p:cNvGrpSpPr>
                          <a:grpSpLocks/>
                        </p:cNvGrpSpPr>
                        <p:nvPr/>
                      </p:nvGrpSpPr>
                      <p:grpSpPr bwMode="auto">
                        <a:xfrm rot="10800000">
                          <a:off x="2952" y="3335"/>
                          <a:ext cx="1821" cy="469"/>
                          <a:chOff x="2958" y="2393"/>
                          <a:chExt cx="1821" cy="469"/>
                        </a:xfrm>
                      </p:grpSpPr>
                      <p:sp>
                        <p:nvSpPr>
                          <p:cNvPr id="25" name="直线 7335"/>
                          <p:cNvSpPr>
                            <a:spLocks noChangeShapeType="1"/>
                          </p:cNvSpPr>
                          <p:nvPr/>
                        </p:nvSpPr>
                        <p:spPr bwMode="auto">
                          <a:xfrm flipV="1">
                            <a:off x="2964" y="2393"/>
                            <a:ext cx="1" cy="46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直线 7336"/>
                          <p:cNvSpPr>
                            <a:spLocks noChangeShapeType="1"/>
                          </p:cNvSpPr>
                          <p:nvPr/>
                        </p:nvSpPr>
                        <p:spPr bwMode="auto">
                          <a:xfrm>
                            <a:off x="2958" y="2399"/>
                            <a:ext cx="1814"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直线 7337"/>
                          <p:cNvSpPr>
                            <a:spLocks noChangeShapeType="1"/>
                          </p:cNvSpPr>
                          <p:nvPr/>
                        </p:nvSpPr>
                        <p:spPr bwMode="auto">
                          <a:xfrm>
                            <a:off x="4778" y="2408"/>
                            <a:ext cx="1" cy="45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4" name="矩形 7338"/>
                        <p:cNvSpPr>
                          <a:spLocks noChangeArrowheads="1"/>
                        </p:cNvSpPr>
                        <p:nvPr/>
                      </p:nvSpPr>
                      <p:spPr bwMode="auto">
                        <a:xfrm>
                          <a:off x="5229" y="2609"/>
                          <a:ext cx="552"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退出</a:t>
                          </a:r>
                          <a:endParaRPr kumimoji="0" lang="zh-CN" altLang="zh-CN" b="1" i="0" u="none" strike="noStrike" cap="none" normalizeH="0" baseline="0" dirty="0">
                            <a:ln>
                              <a:noFill/>
                            </a:ln>
                            <a:solidFill>
                              <a:schemeClr val="tx1"/>
                            </a:solidFill>
                            <a:effectLst/>
                            <a:latin typeface="Arial" panose="020B0604020202020204" pitchFamily="34" charset="0"/>
                          </a:endParaRPr>
                        </a:p>
                      </p:txBody>
                    </p:sp>
                  </p:grpSp>
                </p:grpSp>
                <p:sp>
                  <p:nvSpPr>
                    <p:cNvPr id="16" name="矩形 7339"/>
                    <p:cNvSpPr>
                      <a:spLocks noChangeArrowheads="1"/>
                    </p:cNvSpPr>
                    <p:nvPr/>
                  </p:nvSpPr>
                  <p:spPr bwMode="auto">
                    <a:xfrm>
                      <a:off x="3609" y="1985"/>
                      <a:ext cx="552"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分派</a:t>
                      </a:r>
                      <a:endParaRPr kumimoji="0" lang="zh-CN" altLang="zh-CN" b="1" i="0" u="none" strike="noStrike" cap="none" normalizeH="0" baseline="0" dirty="0">
                        <a:ln>
                          <a:noFill/>
                        </a:ln>
                        <a:solidFill>
                          <a:schemeClr val="tx1"/>
                        </a:solidFill>
                        <a:effectLst/>
                        <a:latin typeface="Arial" panose="020B0604020202020204" pitchFamily="34" charset="0"/>
                      </a:endParaRPr>
                    </a:p>
                  </p:txBody>
                </p:sp>
              </p:grpSp>
              <p:sp>
                <p:nvSpPr>
                  <p:cNvPr id="14" name="矩形 7340"/>
                  <p:cNvSpPr>
                    <a:spLocks noChangeArrowheads="1"/>
                  </p:cNvSpPr>
                  <p:nvPr/>
                </p:nvSpPr>
                <p:spPr bwMode="auto">
                  <a:xfrm>
                    <a:off x="3609" y="3857"/>
                    <a:ext cx="552" cy="3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暂停</a:t>
                    </a:r>
                    <a:endParaRPr kumimoji="0" lang="zh-CN" altLang="zh-CN" b="1" i="0" u="none" strike="noStrike" cap="none" normalizeH="0" baseline="0">
                      <a:ln>
                        <a:noFill/>
                      </a:ln>
                      <a:solidFill>
                        <a:schemeClr val="tx1"/>
                      </a:solidFill>
                      <a:effectLst/>
                      <a:latin typeface="Arial" panose="020B0604020202020204" pitchFamily="34" charset="0"/>
                    </a:endParaRPr>
                  </a:p>
                </p:txBody>
              </p:sp>
            </p:grpSp>
          </p:grpSp>
          <p:sp>
            <p:nvSpPr>
              <p:cNvPr id="9" name="文本框 7341"/>
              <p:cNvSpPr txBox="1">
                <a:spLocks noChangeArrowheads="1"/>
              </p:cNvSpPr>
              <p:nvPr/>
            </p:nvSpPr>
            <p:spPr bwMode="auto">
              <a:xfrm>
                <a:off x="4485" y="6744"/>
                <a:ext cx="2520" cy="4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171450" algn="l" defTabSz="914400" rtl="0" eaLnBrk="0" fontAlgn="base" latinLnBrk="0" hangingPunct="0">
                  <a:lnSpc>
                    <a:spcPct val="100000"/>
                  </a:lnSpc>
                  <a:spcBef>
                    <a:spcPct val="0"/>
                  </a:spcBef>
                  <a:spcAft>
                    <a:spcPct val="0"/>
                  </a:spcAft>
                  <a:buClrTx/>
                  <a:buSzTx/>
                  <a:buFontTx/>
                  <a:buNone/>
                  <a:tabLst/>
                </a:pPr>
                <a:r>
                  <a:rPr kumimoji="0" lang="en-US"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        </a:t>
                </a:r>
                <a:r>
                  <a:rPr kumimoji="0" lang="zh-CN"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图</a:t>
                </a:r>
                <a:r>
                  <a:rPr kumimoji="0" lang="en-US" altLang="zh-CN"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2-3  </a:t>
                </a:r>
                <a:r>
                  <a:rPr kumimoji="0" lang="zh-CN" altLang="en-US"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两状态模型</a:t>
                </a:r>
                <a:endParaRPr kumimoji="0" lang="zh-CN" altLang="en-US" b="1" i="0" u="none" strike="noStrike" cap="none" normalizeH="0" baseline="0" dirty="0">
                  <a:ln>
                    <a:noFill/>
                  </a:ln>
                  <a:solidFill>
                    <a:schemeClr val="tx1"/>
                  </a:solidFill>
                  <a:effectLst/>
                  <a:latin typeface="Arial" panose="020B0604020202020204" pitchFamily="34" charset="0"/>
                </a:endParaRPr>
              </a:p>
            </p:txBody>
          </p:sp>
        </p:grpSp>
        <p:sp>
          <p:nvSpPr>
            <p:cNvPr id="7" name="文本框 7342"/>
            <p:cNvSpPr txBox="1">
              <a:spLocks noChangeArrowheads="1"/>
            </p:cNvSpPr>
            <p:nvPr/>
          </p:nvSpPr>
          <p:spPr bwMode="auto">
            <a:xfrm>
              <a:off x="3784" y="11278"/>
              <a:ext cx="675" cy="5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进入</a:t>
              </a:r>
              <a:endParaRPr kumimoji="0" lang="zh-CN" altLang="zh-CN" b="1" i="0" u="none" strike="noStrike" cap="none" normalizeH="0" baseline="0">
                <a:ln>
                  <a:noFill/>
                </a:ln>
                <a:solidFill>
                  <a:schemeClr val="tx1"/>
                </a:solidFill>
                <a:effectLst/>
                <a:latin typeface="Arial" panose="020B0604020202020204" pitchFamily="34" charset="0"/>
              </a:endParaRPr>
            </a:p>
          </p:txBody>
        </p:sp>
      </p:grpSp>
      <p:sp>
        <p:nvSpPr>
          <p:cNvPr id="31" name="内容占位符 2"/>
          <p:cNvSpPr>
            <a:spLocks noGrp="1"/>
          </p:cNvSpPr>
          <p:nvPr>
            <p:ph idx="1"/>
          </p:nvPr>
        </p:nvSpPr>
        <p:spPr>
          <a:xfrm>
            <a:off x="594262" y="974237"/>
            <a:ext cx="10968990" cy="2295233"/>
          </a:xfrm>
        </p:spPr>
        <p:txBody>
          <a:bodyPr>
            <a:normAutofit fontScale="90000" lnSpcReduction="10000"/>
          </a:bodyPr>
          <a:lstStyle/>
          <a:p>
            <a:pPr marL="0" indent="0">
              <a:buNone/>
            </a:pPr>
            <a:r>
              <a:rPr lang="en-US" altLang="zh-CN" b="1" dirty="0"/>
              <a:t>  1. </a:t>
            </a:r>
            <a:r>
              <a:rPr lang="zh-CN" altLang="zh-CN" b="1" dirty="0"/>
              <a:t>两状态模型</a:t>
            </a:r>
            <a:endParaRPr lang="zh-CN" altLang="zh-CN" dirty="0"/>
          </a:p>
          <a:p>
            <a:pPr marL="0" indent="0">
              <a:buNone/>
            </a:pPr>
            <a:r>
              <a:rPr lang="en-US" altLang="zh-CN" dirty="0"/>
              <a:t>      </a:t>
            </a:r>
            <a:r>
              <a:rPr lang="zh-CN" altLang="zh-CN" dirty="0"/>
              <a:t>通常情况下，我们讨论的系统大都是单处理机系统，那么在这样的系统中，由于处理机只有一个，所以每个时刻，多个并发程序对应的进程中只能有一个进程获得处理机并运行，我们称此时该进程的状态为运行态，而其他进程就只能处于非运行状态，如图</a:t>
            </a:r>
            <a:r>
              <a:rPr lang="en-US" altLang="zh-CN" dirty="0"/>
              <a:t>2-3</a:t>
            </a:r>
            <a:r>
              <a:rPr lang="zh-CN" altLang="zh-CN" dirty="0"/>
              <a:t>所示。</a:t>
            </a:r>
          </a:p>
        </p:txBody>
      </p:sp>
    </p:spTree>
    <p:custDataLst>
      <p:tags r:id="rId1"/>
    </p:custDataLst>
    <p:extLst>
      <p:ext uri="{BB962C8B-B14F-4D97-AF65-F5344CB8AC3E}">
        <p14:creationId xmlns:p14="http://schemas.microsoft.com/office/powerpoint/2010/main" val="665618509"/>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内容占位符 2"/>
          <p:cNvSpPr>
            <a:spLocks noGrp="1"/>
          </p:cNvSpPr>
          <p:nvPr>
            <p:ph idx="1"/>
          </p:nvPr>
        </p:nvSpPr>
        <p:spPr>
          <a:xfrm>
            <a:off x="435429" y="858124"/>
            <a:ext cx="11429999" cy="5575331"/>
          </a:xfrm>
        </p:spPr>
        <p:txBody>
          <a:bodyPr>
            <a:noAutofit/>
          </a:bodyPr>
          <a:lstStyle/>
          <a:p>
            <a:pPr marL="0" indent="0">
              <a:buNone/>
            </a:pPr>
            <a:r>
              <a:rPr lang="en-US" altLang="zh-CN" sz="2800" b="1" dirty="0"/>
              <a:t>  2. </a:t>
            </a:r>
            <a:r>
              <a:rPr lang="zh-CN" altLang="en-US" sz="2800" b="1" dirty="0"/>
              <a:t>三</a:t>
            </a:r>
            <a:r>
              <a:rPr lang="zh-CN" altLang="zh-CN" sz="2800" b="1" dirty="0"/>
              <a:t>状态模型</a:t>
            </a:r>
            <a:endParaRPr lang="zh-CN" altLang="zh-CN" sz="2800" dirty="0"/>
          </a:p>
          <a:p>
            <a:pPr marL="0" indent="0">
              <a:buNone/>
            </a:pPr>
            <a:r>
              <a:rPr lang="en-US" altLang="zh-CN" sz="2800" dirty="0"/>
              <a:t>   </a:t>
            </a:r>
            <a:r>
              <a:rPr lang="zh-CN" altLang="zh-CN" sz="2800" dirty="0"/>
              <a:t>三状态模型中进程的三种基本状态如下：</a:t>
            </a:r>
            <a:endParaRPr lang="en-US" altLang="zh-CN" dirty="0"/>
          </a:p>
          <a:p>
            <a:pPr marL="0" indent="0">
              <a:buNone/>
            </a:pPr>
            <a:r>
              <a:rPr lang="zh-CN" altLang="zh-CN" dirty="0"/>
              <a:t>（</a:t>
            </a:r>
            <a:r>
              <a:rPr lang="en-US" altLang="zh-CN" dirty="0"/>
              <a:t>1</a:t>
            </a:r>
            <a:r>
              <a:rPr lang="zh-CN" altLang="zh-CN" dirty="0"/>
              <a:t>）</a:t>
            </a:r>
            <a:r>
              <a:rPr lang="zh-CN" altLang="zh-CN" dirty="0">
                <a:solidFill>
                  <a:srgbClr val="FF0000"/>
                </a:solidFill>
              </a:rPr>
              <a:t>就绪状态（</a:t>
            </a:r>
            <a:r>
              <a:rPr lang="en-US" altLang="zh-CN" dirty="0">
                <a:solidFill>
                  <a:srgbClr val="FF0000"/>
                </a:solidFill>
              </a:rPr>
              <a:t>Ready</a:t>
            </a:r>
            <a:r>
              <a:rPr lang="zh-CN" altLang="zh-CN" dirty="0">
                <a:solidFill>
                  <a:srgbClr val="FF0000"/>
                </a:solidFill>
              </a:rPr>
              <a:t>）</a:t>
            </a:r>
            <a:r>
              <a:rPr lang="zh-CN" altLang="zh-CN" dirty="0"/>
              <a:t>。</a:t>
            </a:r>
            <a:r>
              <a:rPr lang="zh-CN" altLang="zh-CN" dirty="0">
                <a:solidFill>
                  <a:srgbClr val="0000FF"/>
                </a:solidFill>
              </a:rPr>
              <a:t>一个进程获得了除处理机之外所需的一切资源</a:t>
            </a:r>
            <a:r>
              <a:rPr lang="zh-CN" altLang="zh-CN" dirty="0"/>
              <a:t>，一旦得到处理机即可运行。在系统中，将处于就绪状态的多个进程的</a:t>
            </a:r>
            <a:r>
              <a:rPr lang="en-US" altLang="zh-CN" dirty="0"/>
              <a:t>PCB</a:t>
            </a:r>
            <a:r>
              <a:rPr lang="zh-CN" altLang="zh-CN" dirty="0"/>
              <a:t>组织成一个队列，称为就绪队列。</a:t>
            </a:r>
          </a:p>
          <a:p>
            <a:pPr marL="0" indent="0">
              <a:buNone/>
            </a:pPr>
            <a:r>
              <a:rPr lang="zh-CN" altLang="zh-CN" dirty="0"/>
              <a:t>（</a:t>
            </a:r>
            <a:r>
              <a:rPr lang="en-US" altLang="zh-CN" dirty="0"/>
              <a:t>2</a:t>
            </a:r>
            <a:r>
              <a:rPr lang="zh-CN" altLang="zh-CN" dirty="0"/>
              <a:t>）</a:t>
            </a:r>
            <a:r>
              <a:rPr lang="zh-CN" altLang="zh-CN" dirty="0">
                <a:solidFill>
                  <a:srgbClr val="FF0000"/>
                </a:solidFill>
              </a:rPr>
              <a:t>运行状态（</a:t>
            </a:r>
            <a:r>
              <a:rPr lang="en-US" altLang="zh-CN" dirty="0">
                <a:solidFill>
                  <a:srgbClr val="FF0000"/>
                </a:solidFill>
              </a:rPr>
              <a:t>Running</a:t>
            </a:r>
            <a:r>
              <a:rPr lang="zh-CN" altLang="zh-CN" dirty="0">
                <a:solidFill>
                  <a:srgbClr val="FF0000"/>
                </a:solidFill>
              </a:rPr>
              <a:t>）</a:t>
            </a:r>
            <a:r>
              <a:rPr lang="zh-CN" altLang="zh-CN" dirty="0"/>
              <a:t>。进程已经获得必要的资源及</a:t>
            </a:r>
            <a:r>
              <a:rPr lang="en-US" altLang="zh-CN" dirty="0"/>
              <a:t>CPU</a:t>
            </a:r>
            <a:r>
              <a:rPr lang="zh-CN" altLang="zh-CN" dirty="0"/>
              <a:t>，正在处理机上运行</a:t>
            </a:r>
            <a:r>
              <a:rPr lang="zh-CN" altLang="en-US" dirty="0"/>
              <a:t>。</a:t>
            </a:r>
            <a:r>
              <a:rPr lang="zh-CN" altLang="zh-CN" dirty="0"/>
              <a:t>单处理机系统中，最多只能有一个进程处于运行状态。</a:t>
            </a:r>
          </a:p>
          <a:p>
            <a:pPr marL="0" indent="0">
              <a:buNone/>
            </a:pPr>
            <a:r>
              <a:rPr lang="zh-CN" altLang="zh-CN" dirty="0"/>
              <a:t>（</a:t>
            </a:r>
            <a:r>
              <a:rPr lang="en-US" altLang="zh-CN" dirty="0"/>
              <a:t>3</a:t>
            </a:r>
            <a:r>
              <a:rPr lang="zh-CN" altLang="zh-CN" dirty="0"/>
              <a:t>）</a:t>
            </a:r>
            <a:r>
              <a:rPr lang="zh-CN" altLang="zh-CN" dirty="0">
                <a:solidFill>
                  <a:srgbClr val="FF0000"/>
                </a:solidFill>
              </a:rPr>
              <a:t>阻塞状态又称等待状态（</a:t>
            </a:r>
            <a:r>
              <a:rPr lang="en-US" altLang="zh-CN" dirty="0">
                <a:solidFill>
                  <a:srgbClr val="FF0000"/>
                </a:solidFill>
              </a:rPr>
              <a:t>Blocked</a:t>
            </a:r>
            <a:r>
              <a:rPr lang="zh-CN" altLang="zh-CN" dirty="0">
                <a:solidFill>
                  <a:srgbClr val="FF0000"/>
                </a:solidFill>
              </a:rPr>
              <a:t>）</a:t>
            </a:r>
            <a:r>
              <a:rPr lang="zh-CN" altLang="zh-CN" dirty="0"/>
              <a:t>。进程因某等待某种事件发生（例如</a:t>
            </a:r>
            <a:r>
              <a:rPr lang="en-US" altLang="zh-CN" dirty="0"/>
              <a:t>I/O</a:t>
            </a:r>
            <a:r>
              <a:rPr lang="zh-CN" altLang="zh-CN" dirty="0"/>
              <a:t>请求、某些原语操作等）而处于暂停执行的状态，此时</a:t>
            </a:r>
            <a:r>
              <a:rPr lang="zh-CN" altLang="zh-CN" dirty="0">
                <a:solidFill>
                  <a:srgbClr val="0000FF"/>
                </a:solidFill>
              </a:rPr>
              <a:t>即使将</a:t>
            </a:r>
            <a:r>
              <a:rPr lang="en-US" altLang="zh-CN" dirty="0">
                <a:solidFill>
                  <a:srgbClr val="0000FF"/>
                </a:solidFill>
              </a:rPr>
              <a:t>CPU</a:t>
            </a:r>
            <a:r>
              <a:rPr lang="zh-CN" altLang="zh-CN" dirty="0">
                <a:solidFill>
                  <a:srgbClr val="0000FF"/>
                </a:solidFill>
              </a:rPr>
              <a:t>分配给它，它也无法执行</a:t>
            </a:r>
            <a:r>
              <a:rPr lang="zh-CN" altLang="zh-CN" dirty="0"/>
              <a:t>。阻塞队列</a:t>
            </a:r>
            <a:r>
              <a:rPr lang="en-US" altLang="zh-CN" dirty="0"/>
              <a:t>  </a:t>
            </a:r>
            <a:endParaRPr lang="zh-CN" altLang="zh-CN" dirty="0"/>
          </a:p>
        </p:txBody>
      </p:sp>
    </p:spTree>
    <p:custDataLst>
      <p:tags r:id="rId1"/>
    </p:custDataLst>
    <p:extLst>
      <p:ext uri="{BB962C8B-B14F-4D97-AF65-F5344CB8AC3E}">
        <p14:creationId xmlns:p14="http://schemas.microsoft.com/office/powerpoint/2010/main" val="266451266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1" t="-3667" r="47994" b="63926"/>
          <a:stretch/>
        </p:blipFill>
        <p:spPr>
          <a:xfrm>
            <a:off x="3667760" y="1124292"/>
            <a:ext cx="8121111" cy="5434355"/>
          </a:xfrm>
          <a:prstGeom prst="rect">
            <a:avLst/>
          </a:prstGeom>
        </p:spPr>
      </p:pic>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7" name="文本框 6">
            <a:extLst>
              <a:ext uri="{FF2B5EF4-FFF2-40B4-BE49-F238E27FC236}">
                <a16:creationId xmlns:a16="http://schemas.microsoft.com/office/drawing/2014/main" id="{E385E78C-936D-4364-A37D-9A12F2D90B2E}"/>
              </a:ext>
            </a:extLst>
          </p:cNvPr>
          <p:cNvSpPr txBox="1"/>
          <p:nvPr/>
        </p:nvSpPr>
        <p:spPr>
          <a:xfrm>
            <a:off x="568960" y="1181110"/>
            <a:ext cx="3098800" cy="523220"/>
          </a:xfrm>
          <a:prstGeom prst="rect">
            <a:avLst/>
          </a:prstGeom>
          <a:noFill/>
        </p:spPr>
        <p:txBody>
          <a:bodyPr wrap="square" rtlCol="0">
            <a:spAutoFit/>
          </a:bodyPr>
          <a:lstStyle/>
          <a:p>
            <a:r>
              <a:rPr lang="zh-CN" altLang="en-US" sz="2800" dirty="0"/>
              <a:t>进程状态间的转换</a:t>
            </a:r>
          </a:p>
        </p:txBody>
      </p:sp>
    </p:spTree>
    <p:custDataLst>
      <p:tags r:id="rId1"/>
    </p:custDataLst>
    <p:extLst>
      <p:ext uri="{BB962C8B-B14F-4D97-AF65-F5344CB8AC3E}">
        <p14:creationId xmlns:p14="http://schemas.microsoft.com/office/powerpoint/2010/main" val="194531043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内容占位符 2"/>
          <p:cNvSpPr>
            <a:spLocks noGrp="1"/>
          </p:cNvSpPr>
          <p:nvPr>
            <p:ph idx="1"/>
          </p:nvPr>
        </p:nvSpPr>
        <p:spPr>
          <a:xfrm>
            <a:off x="571592" y="5145919"/>
            <a:ext cx="10968990" cy="1712081"/>
          </a:xfrm>
        </p:spPr>
        <p:txBody>
          <a:bodyPr>
            <a:normAutofit fontScale="97500"/>
          </a:bodyPr>
          <a:lstStyle/>
          <a:p>
            <a:r>
              <a:rPr lang="zh-CN" altLang="zh-CN" b="1" dirty="0">
                <a:solidFill>
                  <a:srgbClr val="0000FF"/>
                </a:solidFill>
              </a:rPr>
              <a:t>新建态</a:t>
            </a:r>
            <a:r>
              <a:rPr lang="zh-CN" altLang="zh-CN" dirty="0"/>
              <a:t>，对应于刚刚创建的进程，操作系统还没有把它加入到就绪队列中，还没有加载到内存中的新进程。</a:t>
            </a:r>
            <a:endParaRPr lang="en-US" altLang="zh-CN" dirty="0"/>
          </a:p>
          <a:p>
            <a:r>
              <a:rPr lang="zh-CN" altLang="zh-CN" dirty="0"/>
              <a:t>进程被终止直到释放</a:t>
            </a:r>
            <a:r>
              <a:rPr lang="en-US" altLang="zh-CN" dirty="0"/>
              <a:t>PCB</a:t>
            </a:r>
            <a:r>
              <a:rPr lang="zh-CN" altLang="zh-CN" dirty="0"/>
              <a:t>所处的状态，我们称为</a:t>
            </a:r>
            <a:r>
              <a:rPr lang="zh-CN" altLang="zh-CN" b="1" dirty="0">
                <a:solidFill>
                  <a:srgbClr val="0000FF"/>
                </a:solidFill>
              </a:rPr>
              <a:t>退出态</a:t>
            </a:r>
            <a:r>
              <a:rPr lang="zh-CN" altLang="zh-CN" dirty="0"/>
              <a:t>。</a:t>
            </a:r>
          </a:p>
        </p:txBody>
      </p:sp>
      <p:graphicFrame>
        <p:nvGraphicFramePr>
          <p:cNvPr id="6" name="对象 5"/>
          <p:cNvGraphicFramePr>
            <a:graphicFrameLocks noChangeAspect="1"/>
          </p:cNvGraphicFramePr>
          <p:nvPr>
            <p:extLst>
              <p:ext uri="{D42A27DB-BD31-4B8C-83A1-F6EECF244321}">
                <p14:modId xmlns:p14="http://schemas.microsoft.com/office/powerpoint/2010/main" val="2205513301"/>
              </p:ext>
            </p:extLst>
          </p:nvPr>
        </p:nvGraphicFramePr>
        <p:xfrm>
          <a:off x="3094895" y="1153541"/>
          <a:ext cx="7583609" cy="4213116"/>
        </p:xfrm>
        <a:graphic>
          <a:graphicData uri="http://schemas.openxmlformats.org/presentationml/2006/ole">
            <mc:AlternateContent xmlns:mc="http://schemas.openxmlformats.org/markup-compatibility/2006">
              <mc:Choice xmlns:v="urn:schemas-microsoft-com:vml" Requires="v">
                <p:oleObj name="Visio" r:id="rId3" imgW="3838524" imgH="2047787" progId="Visio.Drawing.15">
                  <p:embed/>
                </p:oleObj>
              </mc:Choice>
              <mc:Fallback>
                <p:oleObj name="Visio" r:id="rId3" imgW="3838524" imgH="2047787" progId="Visio.Drawing.15">
                  <p:embed/>
                  <p:pic>
                    <p:nvPicPr>
                      <p:cNvPr id="0" name="对象 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4895" y="1153541"/>
                        <a:ext cx="7583609" cy="4213116"/>
                      </a:xfrm>
                      <a:prstGeom prst="rect">
                        <a:avLst/>
                      </a:prstGeom>
                      <a:noFill/>
                    </p:spPr>
                  </p:pic>
                </p:oleObj>
              </mc:Fallback>
            </mc:AlternateContent>
          </a:graphicData>
        </a:graphic>
      </p:graphicFrame>
      <p:sp>
        <p:nvSpPr>
          <p:cNvPr id="7" name="矩形 6"/>
          <p:cNvSpPr/>
          <p:nvPr/>
        </p:nvSpPr>
        <p:spPr>
          <a:xfrm>
            <a:off x="820893" y="1007572"/>
            <a:ext cx="2161169" cy="430887"/>
          </a:xfrm>
          <a:prstGeom prst="rect">
            <a:avLst/>
          </a:prstGeom>
        </p:spPr>
        <p:txBody>
          <a:bodyPr wrap="none">
            <a:spAutoFit/>
          </a:bodyPr>
          <a:lstStyle/>
          <a:p>
            <a:r>
              <a:rPr lang="en-US" altLang="zh-CN" sz="2200" b="1" spc="150" noProof="1">
                <a:latin typeface="Arial" panose="020B0604020202020204" pitchFamily="34" charset="0"/>
                <a:ea typeface="微软雅黑" panose="020B0503020204020204" pitchFamily="34" charset="-122"/>
                <a:sym typeface="+mn-ea"/>
              </a:rPr>
              <a:t> 3. </a:t>
            </a:r>
            <a:r>
              <a:rPr lang="zh-CN" altLang="en-US" sz="2200" b="1" spc="150" noProof="1">
                <a:latin typeface="Arial" panose="020B0604020202020204" pitchFamily="34" charset="0"/>
                <a:ea typeface="微软雅黑" panose="020B0503020204020204" pitchFamily="34" charset="-122"/>
                <a:sym typeface="+mn-ea"/>
              </a:rPr>
              <a:t>五</a:t>
            </a:r>
            <a:r>
              <a:rPr lang="zh-CN" altLang="zh-CN" sz="2200" b="1" spc="150" noProof="1">
                <a:latin typeface="Arial" panose="020B0604020202020204" pitchFamily="34" charset="0"/>
                <a:ea typeface="微软雅黑" panose="020B0503020204020204" pitchFamily="34" charset="-122"/>
                <a:sym typeface="+mn-ea"/>
              </a:rPr>
              <a:t>状态模型</a:t>
            </a:r>
            <a:endParaRPr lang="zh-CN" altLang="en-US" sz="2200" b="1" spc="150" noProof="1">
              <a:latin typeface="Arial" panose="020B0604020202020204" pitchFamily="34" charset="0"/>
              <a:ea typeface="微软雅黑" panose="020B0503020204020204" pitchFamily="34" charset="-122"/>
              <a:sym typeface="+mn-ea"/>
            </a:endParaRPr>
          </a:p>
        </p:txBody>
      </p:sp>
    </p:spTree>
    <p:custDataLst>
      <p:tags r:id="rId1"/>
    </p:custDataLst>
    <p:extLst>
      <p:ext uri="{BB962C8B-B14F-4D97-AF65-F5344CB8AC3E}">
        <p14:creationId xmlns:p14="http://schemas.microsoft.com/office/powerpoint/2010/main" val="375261286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31" name="内容占位符 2"/>
          <p:cNvSpPr>
            <a:spLocks noGrp="1"/>
          </p:cNvSpPr>
          <p:nvPr>
            <p:ph idx="1"/>
          </p:nvPr>
        </p:nvSpPr>
        <p:spPr>
          <a:xfrm>
            <a:off x="300347" y="819970"/>
            <a:ext cx="11380023" cy="5667916"/>
          </a:xfrm>
        </p:spPr>
        <p:txBody>
          <a:bodyPr>
            <a:noAutofit/>
          </a:bodyPr>
          <a:lstStyle/>
          <a:p>
            <a:pPr marL="0" indent="0">
              <a:buNone/>
            </a:pPr>
            <a:r>
              <a:rPr lang="en-US" altLang="zh-CN" sz="2800" b="1" dirty="0"/>
              <a:t>  4. </a:t>
            </a:r>
            <a:r>
              <a:rPr lang="zh-CN" altLang="en-US" sz="2800" b="1" dirty="0"/>
              <a:t>七</a:t>
            </a:r>
            <a:r>
              <a:rPr lang="zh-CN" altLang="zh-CN" sz="2800" b="1" dirty="0"/>
              <a:t>状态模型</a:t>
            </a:r>
            <a:endParaRPr lang="en-US" altLang="zh-CN" sz="2800" b="1" dirty="0"/>
          </a:p>
          <a:p>
            <a:pPr marL="0" indent="0">
              <a:buNone/>
            </a:pPr>
            <a:r>
              <a:rPr lang="en-US" altLang="zh-CN" sz="2800" dirty="0"/>
              <a:t>      </a:t>
            </a:r>
            <a:r>
              <a:rPr lang="zh-CN" altLang="zh-CN" sz="2800" dirty="0"/>
              <a:t>因为每个进程有两个独立的概念：是否在等待一个事件（阻塞与否）和</a:t>
            </a:r>
            <a:r>
              <a:rPr lang="zh-CN" altLang="zh-CN" sz="2800" dirty="0">
                <a:solidFill>
                  <a:srgbClr val="0000FF"/>
                </a:solidFill>
              </a:rPr>
              <a:t>进程是否已经被换出内存（挂起与否）</a:t>
            </a:r>
            <a:r>
              <a:rPr lang="zh-CN" altLang="zh-CN" sz="2800" dirty="0"/>
              <a:t>。这样两两组合，得到以下四种状态：</a:t>
            </a:r>
          </a:p>
          <a:p>
            <a:pPr marL="0" indent="0">
              <a:buNone/>
            </a:pPr>
            <a:r>
              <a:rPr lang="zh-CN" altLang="zh-CN" sz="2800" dirty="0"/>
              <a:t>（</a:t>
            </a:r>
            <a:r>
              <a:rPr lang="en-US" altLang="zh-CN" sz="2800" dirty="0"/>
              <a:t>1</a:t>
            </a:r>
            <a:r>
              <a:rPr lang="zh-CN" altLang="zh-CN" sz="2800" dirty="0"/>
              <a:t>）活动就绪态：进程在</a:t>
            </a:r>
            <a:r>
              <a:rPr lang="zh-CN" altLang="zh-CN" sz="2800" dirty="0">
                <a:solidFill>
                  <a:srgbClr val="FF0000"/>
                </a:solidFill>
              </a:rPr>
              <a:t>内存</a:t>
            </a:r>
            <a:r>
              <a:rPr lang="zh-CN" altLang="zh-CN" sz="2800" dirty="0"/>
              <a:t>中并可以被调度执行。</a:t>
            </a:r>
          </a:p>
          <a:p>
            <a:pPr marL="0" indent="0">
              <a:buNone/>
            </a:pPr>
            <a:r>
              <a:rPr lang="zh-CN" altLang="zh-CN" sz="2800" dirty="0"/>
              <a:t>（</a:t>
            </a:r>
            <a:r>
              <a:rPr lang="en-US" altLang="zh-CN" sz="2800" dirty="0"/>
              <a:t>2</a:t>
            </a:r>
            <a:r>
              <a:rPr lang="zh-CN" altLang="zh-CN" sz="2800" dirty="0"/>
              <a:t>）活动阻塞态：进程在</a:t>
            </a:r>
            <a:r>
              <a:rPr lang="zh-CN" altLang="zh-CN" sz="2800" dirty="0">
                <a:solidFill>
                  <a:srgbClr val="FF0000"/>
                </a:solidFill>
              </a:rPr>
              <a:t>内存</a:t>
            </a:r>
            <a:r>
              <a:rPr lang="zh-CN" altLang="zh-CN" sz="2800" dirty="0"/>
              <a:t>中并等待某事件的发生。</a:t>
            </a:r>
          </a:p>
          <a:p>
            <a:pPr marL="0" indent="0">
              <a:buNone/>
            </a:pPr>
            <a:r>
              <a:rPr lang="zh-CN" altLang="zh-CN" sz="2800" dirty="0"/>
              <a:t>（</a:t>
            </a:r>
            <a:r>
              <a:rPr lang="en-US" altLang="zh-CN" sz="2800" dirty="0"/>
              <a:t>3</a:t>
            </a:r>
            <a:r>
              <a:rPr lang="zh-CN" altLang="zh-CN" sz="2800" dirty="0"/>
              <a:t>）静止阻塞态：进程在</a:t>
            </a:r>
            <a:r>
              <a:rPr lang="zh-CN" altLang="zh-CN" sz="2800" dirty="0">
                <a:solidFill>
                  <a:srgbClr val="FF0000"/>
                </a:solidFill>
              </a:rPr>
              <a:t>外存</a:t>
            </a:r>
            <a:r>
              <a:rPr lang="zh-CN" altLang="zh-CN" sz="2800" dirty="0"/>
              <a:t>并等待某事件的发生。</a:t>
            </a:r>
          </a:p>
          <a:p>
            <a:pPr marL="0" indent="0">
              <a:buNone/>
            </a:pPr>
            <a:r>
              <a:rPr lang="zh-CN" altLang="zh-CN" sz="2800" dirty="0"/>
              <a:t>（</a:t>
            </a:r>
            <a:r>
              <a:rPr lang="en-US" altLang="zh-CN" sz="2800" dirty="0"/>
              <a:t>4</a:t>
            </a:r>
            <a:r>
              <a:rPr lang="zh-CN" altLang="zh-CN" sz="2800" dirty="0"/>
              <a:t>）静止就绪态：进程在</a:t>
            </a:r>
            <a:r>
              <a:rPr lang="zh-CN" altLang="zh-CN" sz="2800" dirty="0">
                <a:solidFill>
                  <a:srgbClr val="FF0000"/>
                </a:solidFill>
              </a:rPr>
              <a:t>外存</a:t>
            </a:r>
            <a:r>
              <a:rPr lang="zh-CN" altLang="zh-CN" sz="2800" dirty="0"/>
              <a:t>，但是只要被调入内存就可以被调度执行。</a:t>
            </a:r>
          </a:p>
          <a:p>
            <a:pPr marL="0" indent="0">
              <a:buNone/>
            </a:pPr>
            <a:endParaRPr lang="zh-CN" altLang="zh-CN" sz="2800" dirty="0"/>
          </a:p>
        </p:txBody>
      </p:sp>
    </p:spTree>
    <p:custDataLst>
      <p:tags r:id="rId1"/>
    </p:custDataLst>
    <p:extLst>
      <p:ext uri="{BB962C8B-B14F-4D97-AF65-F5344CB8AC3E}">
        <p14:creationId xmlns:p14="http://schemas.microsoft.com/office/powerpoint/2010/main" val="296035046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.1.3  </a:t>
            </a:r>
            <a:r>
              <a:rPr lang="zh-CN" altLang="en-US" dirty="0"/>
              <a:t>进程的状态模型</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 name="组合 656"/>
          <p:cNvGrpSpPr>
            <a:grpSpLocks/>
          </p:cNvGrpSpPr>
          <p:nvPr/>
        </p:nvGrpSpPr>
        <p:grpSpPr bwMode="auto">
          <a:xfrm>
            <a:off x="2757267" y="858122"/>
            <a:ext cx="7725675" cy="5607992"/>
            <a:chOff x="2360" y="7002"/>
            <a:chExt cx="7780" cy="3904"/>
          </a:xfrm>
        </p:grpSpPr>
        <p:sp>
          <p:nvSpPr>
            <p:cNvPr id="7" name="文本框 657"/>
            <p:cNvSpPr txBox="1">
              <a:spLocks noChangeArrowheads="1"/>
            </p:cNvSpPr>
            <p:nvPr/>
          </p:nvSpPr>
          <p:spPr bwMode="auto">
            <a:xfrm>
              <a:off x="3996" y="10749"/>
              <a:ext cx="4140" cy="1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57150" algn="l"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图</a:t>
              </a:r>
              <a:r>
                <a:rPr kumimoji="0" lang="en-US" altLang="zh-CN"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2-8  </a:t>
              </a:r>
              <a:r>
                <a:rPr kumimoji="0" lang="zh-CN" altLang="en-US"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有挂起态的七状态模型</a:t>
              </a:r>
              <a:endParaRPr kumimoji="0" lang="zh-CN" altLang="en-US" b="1" i="0" u="none" strike="noStrike" cap="none" normalizeH="0" baseline="0">
                <a:ln>
                  <a:noFill/>
                </a:ln>
                <a:solidFill>
                  <a:schemeClr val="tx1"/>
                </a:solidFill>
                <a:effectLst/>
                <a:latin typeface="Arial" panose="020B0604020202020204" pitchFamily="34" charset="0"/>
              </a:endParaRPr>
            </a:p>
          </p:txBody>
        </p:sp>
        <p:grpSp>
          <p:nvGrpSpPr>
            <p:cNvPr id="8" name="画布 658"/>
            <p:cNvGrpSpPr>
              <a:grpSpLocks noChangeAspect="1"/>
            </p:cNvGrpSpPr>
            <p:nvPr/>
          </p:nvGrpSpPr>
          <p:grpSpPr bwMode="auto">
            <a:xfrm>
              <a:off x="2360" y="7002"/>
              <a:ext cx="7780" cy="3657"/>
              <a:chOff x="1970" y="7002"/>
              <a:chExt cx="7780" cy="3657"/>
            </a:xfrm>
          </p:grpSpPr>
          <p:sp>
            <p:nvSpPr>
              <p:cNvPr id="9" name="AutoShape 131"/>
              <p:cNvSpPr>
                <a:spLocks noChangeAspect="1" noChangeArrowheads="1" noTextEdit="1"/>
              </p:cNvSpPr>
              <p:nvPr/>
            </p:nvSpPr>
            <p:spPr bwMode="auto">
              <a:xfrm>
                <a:off x="2360" y="7002"/>
                <a:ext cx="7390" cy="36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200"/>
              </a:p>
            </p:txBody>
          </p:sp>
          <p:sp>
            <p:nvSpPr>
              <p:cNvPr id="10" name="矩形 663"/>
              <p:cNvSpPr>
                <a:spLocks noChangeArrowheads="1"/>
              </p:cNvSpPr>
              <p:nvPr/>
            </p:nvSpPr>
            <p:spPr bwMode="auto">
              <a:xfrm>
                <a:off x="1980" y="7064"/>
                <a:ext cx="2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11" name="矩形 664"/>
              <p:cNvSpPr>
                <a:spLocks noChangeArrowheads="1"/>
              </p:cNvSpPr>
              <p:nvPr/>
            </p:nvSpPr>
            <p:spPr bwMode="auto">
              <a:xfrm>
                <a:off x="4625" y="9289"/>
                <a:ext cx="683" cy="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 name="矩形 665"/>
              <p:cNvSpPr>
                <a:spLocks noChangeArrowheads="1"/>
              </p:cNvSpPr>
              <p:nvPr/>
            </p:nvSpPr>
            <p:spPr bwMode="auto">
              <a:xfrm>
                <a:off x="4735" y="932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13" name="矩形 672"/>
              <p:cNvSpPr>
                <a:spLocks noChangeArrowheads="1"/>
              </p:cNvSpPr>
              <p:nvPr/>
            </p:nvSpPr>
            <p:spPr bwMode="auto">
              <a:xfrm>
                <a:off x="4733" y="9614"/>
                <a:ext cx="60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发生</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14" name="直线 673"/>
              <p:cNvSpPr>
                <a:spLocks noChangeShapeType="1"/>
              </p:cNvSpPr>
              <p:nvPr/>
            </p:nvSpPr>
            <p:spPr bwMode="auto">
              <a:xfrm>
                <a:off x="4640" y="9212"/>
                <a:ext cx="0" cy="74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15" name="任意多边形 674"/>
              <p:cNvSpPr>
                <a:spLocks/>
              </p:cNvSpPr>
              <p:nvPr/>
            </p:nvSpPr>
            <p:spPr bwMode="auto">
              <a:xfrm>
                <a:off x="4613" y="9097"/>
                <a:ext cx="57" cy="202"/>
              </a:xfrm>
              <a:custGeom>
                <a:avLst/>
                <a:gdLst>
                  <a:gd name="T0" fmla="*/ 11 w 23"/>
                  <a:gd name="T1" fmla="*/ 0 h 81"/>
                  <a:gd name="T2" fmla="*/ 0 w 23"/>
                  <a:gd name="T3" fmla="*/ 81 h 81"/>
                  <a:gd name="T4" fmla="*/ 23 w 23"/>
                  <a:gd name="T5" fmla="*/ 81 h 81"/>
                  <a:gd name="T6" fmla="*/ 11 w 23"/>
                  <a:gd name="T7" fmla="*/ 0 h 81"/>
                </a:gdLst>
                <a:ahLst/>
                <a:cxnLst>
                  <a:cxn ang="0">
                    <a:pos x="T0" y="T1"/>
                  </a:cxn>
                  <a:cxn ang="0">
                    <a:pos x="T2" y="T3"/>
                  </a:cxn>
                  <a:cxn ang="0">
                    <a:pos x="T4" y="T5"/>
                  </a:cxn>
                  <a:cxn ang="0">
                    <a:pos x="T6" y="T7"/>
                  </a:cxn>
                </a:cxnLst>
                <a:rect l="0" t="0" r="r" b="b"/>
                <a:pathLst>
                  <a:path w="23" h="81">
                    <a:moveTo>
                      <a:pt x="11" y="0"/>
                    </a:moveTo>
                    <a:lnTo>
                      <a:pt x="0" y="81"/>
                    </a:lnTo>
                    <a:lnTo>
                      <a:pt x="23" y="81"/>
                    </a:lnTo>
                    <a:lnTo>
                      <a:pt x="11" y="0"/>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16" name="矩形 675"/>
              <p:cNvSpPr>
                <a:spLocks noChangeArrowheads="1"/>
              </p:cNvSpPr>
              <p:nvPr/>
            </p:nvSpPr>
            <p:spPr bwMode="auto">
              <a:xfrm>
                <a:off x="2123" y="8399"/>
                <a:ext cx="1030"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7" name="矩形 676"/>
              <p:cNvSpPr>
                <a:spLocks noChangeArrowheads="1"/>
              </p:cNvSpPr>
              <p:nvPr/>
            </p:nvSpPr>
            <p:spPr bwMode="auto">
              <a:xfrm>
                <a:off x="2195" y="8627"/>
                <a:ext cx="84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静止就绪</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18" name="矩形 677"/>
              <p:cNvSpPr>
                <a:spLocks noChangeArrowheads="1"/>
              </p:cNvSpPr>
              <p:nvPr/>
            </p:nvSpPr>
            <p:spPr bwMode="auto">
              <a:xfrm>
                <a:off x="2400" y="8787"/>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b="1"/>
              </a:p>
            </p:txBody>
          </p:sp>
          <p:sp>
            <p:nvSpPr>
              <p:cNvPr id="19" name="椭圆 678"/>
              <p:cNvSpPr>
                <a:spLocks noChangeArrowheads="1"/>
              </p:cNvSpPr>
              <p:nvPr/>
            </p:nvSpPr>
            <p:spPr bwMode="auto">
              <a:xfrm>
                <a:off x="2065" y="8407"/>
                <a:ext cx="1100"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20" name="直线 679"/>
              <p:cNvSpPr>
                <a:spLocks noChangeShapeType="1"/>
              </p:cNvSpPr>
              <p:nvPr/>
            </p:nvSpPr>
            <p:spPr bwMode="auto">
              <a:xfrm flipV="1">
                <a:off x="5330" y="9002"/>
                <a:ext cx="1053" cy="103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21" name="任意多边形 680"/>
              <p:cNvSpPr>
                <a:spLocks/>
              </p:cNvSpPr>
              <p:nvPr/>
            </p:nvSpPr>
            <p:spPr bwMode="auto">
              <a:xfrm>
                <a:off x="5190" y="10004"/>
                <a:ext cx="168" cy="163"/>
              </a:xfrm>
              <a:custGeom>
                <a:avLst/>
                <a:gdLst>
                  <a:gd name="T0" fmla="*/ 0 w 67"/>
                  <a:gd name="T1" fmla="*/ 65 h 65"/>
                  <a:gd name="T2" fmla="*/ 67 w 67"/>
                  <a:gd name="T3" fmla="*/ 17 h 65"/>
                  <a:gd name="T4" fmla="*/ 51 w 67"/>
                  <a:gd name="T5" fmla="*/ 0 h 65"/>
                  <a:gd name="T6" fmla="*/ 0 w 67"/>
                  <a:gd name="T7" fmla="*/ 65 h 65"/>
                </a:gdLst>
                <a:ahLst/>
                <a:cxnLst>
                  <a:cxn ang="0">
                    <a:pos x="T0" y="T1"/>
                  </a:cxn>
                  <a:cxn ang="0">
                    <a:pos x="T2" y="T3"/>
                  </a:cxn>
                  <a:cxn ang="0">
                    <a:pos x="T4" y="T5"/>
                  </a:cxn>
                  <a:cxn ang="0">
                    <a:pos x="T6" y="T7"/>
                  </a:cxn>
                </a:cxnLst>
                <a:rect l="0" t="0" r="r" b="b"/>
                <a:pathLst>
                  <a:path w="67" h="65">
                    <a:moveTo>
                      <a:pt x="0" y="65"/>
                    </a:moveTo>
                    <a:lnTo>
                      <a:pt x="67" y="17"/>
                    </a:lnTo>
                    <a:lnTo>
                      <a:pt x="51" y="0"/>
                    </a:lnTo>
                    <a:lnTo>
                      <a:pt x="0" y="65"/>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22" name="矩形 681"/>
              <p:cNvSpPr>
                <a:spLocks noChangeArrowheads="1"/>
              </p:cNvSpPr>
              <p:nvPr/>
            </p:nvSpPr>
            <p:spPr bwMode="auto">
              <a:xfrm>
                <a:off x="4128" y="8522"/>
                <a:ext cx="1030"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23" name="矩形 682"/>
              <p:cNvSpPr>
                <a:spLocks noChangeArrowheads="1"/>
              </p:cNvSpPr>
              <p:nvPr/>
            </p:nvSpPr>
            <p:spPr bwMode="auto">
              <a:xfrm>
                <a:off x="4350"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活动</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24" name="矩形 683"/>
              <p:cNvSpPr>
                <a:spLocks noChangeArrowheads="1"/>
              </p:cNvSpPr>
              <p:nvPr/>
            </p:nvSpPr>
            <p:spPr bwMode="auto">
              <a:xfrm>
                <a:off x="4578" y="8604"/>
                <a:ext cx="15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25" name="矩形 684"/>
              <p:cNvSpPr>
                <a:spLocks noChangeArrowheads="1"/>
              </p:cNvSpPr>
              <p:nvPr/>
            </p:nvSpPr>
            <p:spPr bwMode="auto">
              <a:xfrm>
                <a:off x="4693"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就绪</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26" name="椭圆 685"/>
              <p:cNvSpPr>
                <a:spLocks noChangeArrowheads="1"/>
              </p:cNvSpPr>
              <p:nvPr/>
            </p:nvSpPr>
            <p:spPr bwMode="auto">
              <a:xfrm>
                <a:off x="4098" y="8407"/>
                <a:ext cx="1105"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27" name="矩形 686"/>
              <p:cNvSpPr>
                <a:spLocks noChangeArrowheads="1"/>
              </p:cNvSpPr>
              <p:nvPr/>
            </p:nvSpPr>
            <p:spPr bwMode="auto">
              <a:xfrm>
                <a:off x="6190" y="8522"/>
                <a:ext cx="103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28" name="矩形 687"/>
              <p:cNvSpPr>
                <a:spLocks noChangeArrowheads="1"/>
              </p:cNvSpPr>
              <p:nvPr/>
            </p:nvSpPr>
            <p:spPr bwMode="auto">
              <a:xfrm>
                <a:off x="6415"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运</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29" name="矩形 688"/>
              <p:cNvSpPr>
                <a:spLocks noChangeArrowheads="1"/>
              </p:cNvSpPr>
              <p:nvPr/>
            </p:nvSpPr>
            <p:spPr bwMode="auto">
              <a:xfrm>
                <a:off x="6645" y="8604"/>
                <a:ext cx="15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30" name="矩形 689"/>
              <p:cNvSpPr>
                <a:spLocks noChangeArrowheads="1"/>
              </p:cNvSpPr>
              <p:nvPr/>
            </p:nvSpPr>
            <p:spPr bwMode="auto">
              <a:xfrm>
                <a:off x="6758"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行</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32" name="椭圆 690"/>
              <p:cNvSpPr>
                <a:spLocks noChangeArrowheads="1"/>
              </p:cNvSpPr>
              <p:nvPr/>
            </p:nvSpPr>
            <p:spPr bwMode="auto">
              <a:xfrm>
                <a:off x="6165" y="8407"/>
                <a:ext cx="1100"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33" name="矩形 691"/>
              <p:cNvSpPr>
                <a:spLocks noChangeArrowheads="1"/>
              </p:cNvSpPr>
              <p:nvPr/>
            </p:nvSpPr>
            <p:spPr bwMode="auto">
              <a:xfrm>
                <a:off x="5300" y="8327"/>
                <a:ext cx="80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34" name="矩形 692"/>
              <p:cNvSpPr>
                <a:spLocks noChangeArrowheads="1"/>
              </p:cNvSpPr>
              <p:nvPr/>
            </p:nvSpPr>
            <p:spPr bwMode="auto">
              <a:xfrm>
                <a:off x="5468" y="83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调度</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35" name="直线 693"/>
              <p:cNvSpPr>
                <a:spLocks noChangeShapeType="1"/>
              </p:cNvSpPr>
              <p:nvPr/>
            </p:nvSpPr>
            <p:spPr bwMode="auto">
              <a:xfrm>
                <a:off x="5170" y="8644"/>
                <a:ext cx="85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36" name="任意多边形 694"/>
              <p:cNvSpPr>
                <a:spLocks/>
              </p:cNvSpPr>
              <p:nvPr/>
            </p:nvSpPr>
            <p:spPr bwMode="auto">
              <a:xfrm>
                <a:off x="5960" y="8612"/>
                <a:ext cx="208" cy="62"/>
              </a:xfrm>
              <a:custGeom>
                <a:avLst/>
                <a:gdLst>
                  <a:gd name="T0" fmla="*/ 83 w 83"/>
                  <a:gd name="T1" fmla="*/ 13 h 25"/>
                  <a:gd name="T2" fmla="*/ 0 w 83"/>
                  <a:gd name="T3" fmla="*/ 25 h 25"/>
                  <a:gd name="T4" fmla="*/ 0 w 83"/>
                  <a:gd name="T5" fmla="*/ 0 h 25"/>
                  <a:gd name="T6" fmla="*/ 83 w 83"/>
                  <a:gd name="T7" fmla="*/ 13 h 25"/>
                </a:gdLst>
                <a:ahLst/>
                <a:cxnLst>
                  <a:cxn ang="0">
                    <a:pos x="T0" y="T1"/>
                  </a:cxn>
                  <a:cxn ang="0">
                    <a:pos x="T2" y="T3"/>
                  </a:cxn>
                  <a:cxn ang="0">
                    <a:pos x="T4" y="T5"/>
                  </a:cxn>
                  <a:cxn ang="0">
                    <a:pos x="T6" y="T7"/>
                  </a:cxn>
                </a:cxnLst>
                <a:rect l="0" t="0" r="r" b="b"/>
                <a:pathLst>
                  <a:path w="83" h="25">
                    <a:moveTo>
                      <a:pt x="83" y="13"/>
                    </a:moveTo>
                    <a:lnTo>
                      <a:pt x="0" y="25"/>
                    </a:lnTo>
                    <a:lnTo>
                      <a:pt x="0" y="0"/>
                    </a:lnTo>
                    <a:lnTo>
                      <a:pt x="83" y="13"/>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37" name="直线 695"/>
              <p:cNvSpPr>
                <a:spLocks noChangeShapeType="1"/>
              </p:cNvSpPr>
              <p:nvPr/>
            </p:nvSpPr>
            <p:spPr bwMode="auto">
              <a:xfrm>
                <a:off x="5293" y="8869"/>
                <a:ext cx="917"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38" name="任意多边形 696"/>
              <p:cNvSpPr>
                <a:spLocks/>
              </p:cNvSpPr>
              <p:nvPr/>
            </p:nvSpPr>
            <p:spPr bwMode="auto">
              <a:xfrm>
                <a:off x="5170" y="8842"/>
                <a:ext cx="203" cy="62"/>
              </a:xfrm>
              <a:custGeom>
                <a:avLst/>
                <a:gdLst>
                  <a:gd name="T0" fmla="*/ 0 w 81"/>
                  <a:gd name="T1" fmla="*/ 11 h 25"/>
                  <a:gd name="T2" fmla="*/ 81 w 81"/>
                  <a:gd name="T3" fmla="*/ 25 h 25"/>
                  <a:gd name="T4" fmla="*/ 81 w 81"/>
                  <a:gd name="T5" fmla="*/ 0 h 25"/>
                  <a:gd name="T6" fmla="*/ 0 w 81"/>
                  <a:gd name="T7" fmla="*/ 11 h 25"/>
                </a:gdLst>
                <a:ahLst/>
                <a:cxnLst>
                  <a:cxn ang="0">
                    <a:pos x="T0" y="T1"/>
                  </a:cxn>
                  <a:cxn ang="0">
                    <a:pos x="T2" y="T3"/>
                  </a:cxn>
                  <a:cxn ang="0">
                    <a:pos x="T4" y="T5"/>
                  </a:cxn>
                  <a:cxn ang="0">
                    <a:pos x="T6" y="T7"/>
                  </a:cxn>
                </a:cxnLst>
                <a:rect l="0" t="0" r="r" b="b"/>
                <a:pathLst>
                  <a:path w="81" h="25">
                    <a:moveTo>
                      <a:pt x="0" y="11"/>
                    </a:moveTo>
                    <a:lnTo>
                      <a:pt x="81" y="25"/>
                    </a:lnTo>
                    <a:lnTo>
                      <a:pt x="81" y="0"/>
                    </a:lnTo>
                    <a:lnTo>
                      <a:pt x="0" y="11"/>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39" name="矩形 697"/>
              <p:cNvSpPr>
                <a:spLocks noChangeArrowheads="1"/>
              </p:cNvSpPr>
              <p:nvPr/>
            </p:nvSpPr>
            <p:spPr bwMode="auto">
              <a:xfrm>
                <a:off x="5300" y="8917"/>
                <a:ext cx="80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40" name="矩形 698"/>
              <p:cNvSpPr>
                <a:spLocks noChangeArrowheads="1"/>
              </p:cNvSpPr>
              <p:nvPr/>
            </p:nvSpPr>
            <p:spPr bwMode="auto">
              <a:xfrm>
                <a:off x="5292" y="8915"/>
                <a:ext cx="92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时</a:t>
                </a:r>
                <a:r>
                  <a:rPr kumimoji="0" lang="zh-CN" altLang="en-US"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间片到</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41" name="矩形 699"/>
              <p:cNvSpPr>
                <a:spLocks noChangeArrowheads="1"/>
              </p:cNvSpPr>
              <p:nvPr/>
            </p:nvSpPr>
            <p:spPr bwMode="auto">
              <a:xfrm>
                <a:off x="7193" y="8422"/>
                <a:ext cx="80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42" name="矩形 700"/>
              <p:cNvSpPr>
                <a:spLocks noChangeArrowheads="1"/>
              </p:cNvSpPr>
              <p:nvPr/>
            </p:nvSpPr>
            <p:spPr bwMode="auto">
              <a:xfrm>
                <a:off x="7360" y="845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结束</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43" name="直线 701"/>
              <p:cNvSpPr>
                <a:spLocks noChangeShapeType="1"/>
              </p:cNvSpPr>
              <p:nvPr/>
            </p:nvSpPr>
            <p:spPr bwMode="auto">
              <a:xfrm>
                <a:off x="7245" y="8739"/>
                <a:ext cx="668"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44" name="任意多边形 702"/>
              <p:cNvSpPr>
                <a:spLocks/>
              </p:cNvSpPr>
              <p:nvPr/>
            </p:nvSpPr>
            <p:spPr bwMode="auto">
              <a:xfrm>
                <a:off x="7838" y="8709"/>
                <a:ext cx="202" cy="60"/>
              </a:xfrm>
              <a:custGeom>
                <a:avLst/>
                <a:gdLst>
                  <a:gd name="T0" fmla="*/ 81 w 81"/>
                  <a:gd name="T1" fmla="*/ 12 h 24"/>
                  <a:gd name="T2" fmla="*/ 0 w 81"/>
                  <a:gd name="T3" fmla="*/ 24 h 24"/>
                  <a:gd name="T4" fmla="*/ 0 w 81"/>
                  <a:gd name="T5" fmla="*/ 0 h 24"/>
                  <a:gd name="T6" fmla="*/ 81 w 81"/>
                  <a:gd name="T7" fmla="*/ 12 h 24"/>
                </a:gdLst>
                <a:ahLst/>
                <a:cxnLst>
                  <a:cxn ang="0">
                    <a:pos x="T0" y="T1"/>
                  </a:cxn>
                  <a:cxn ang="0">
                    <a:pos x="T2" y="T3"/>
                  </a:cxn>
                  <a:cxn ang="0">
                    <a:pos x="T4" y="T5"/>
                  </a:cxn>
                  <a:cxn ang="0">
                    <a:pos x="T6" y="T7"/>
                  </a:cxn>
                </a:cxnLst>
                <a:rect l="0" t="0" r="r" b="b"/>
                <a:pathLst>
                  <a:path w="81" h="24">
                    <a:moveTo>
                      <a:pt x="81" y="12"/>
                    </a:moveTo>
                    <a:lnTo>
                      <a:pt x="0" y="24"/>
                    </a:lnTo>
                    <a:lnTo>
                      <a:pt x="0" y="0"/>
                    </a:lnTo>
                    <a:lnTo>
                      <a:pt x="81"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45" name="矩形 703"/>
              <p:cNvSpPr>
                <a:spLocks noChangeArrowheads="1"/>
              </p:cNvSpPr>
              <p:nvPr/>
            </p:nvSpPr>
            <p:spPr bwMode="auto">
              <a:xfrm>
                <a:off x="8073" y="8522"/>
                <a:ext cx="103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46" name="矩形 704"/>
              <p:cNvSpPr>
                <a:spLocks noChangeArrowheads="1"/>
              </p:cNvSpPr>
              <p:nvPr/>
            </p:nvSpPr>
            <p:spPr bwMode="auto">
              <a:xfrm>
                <a:off x="8300"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退</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47" name="矩形 705"/>
              <p:cNvSpPr>
                <a:spLocks noChangeArrowheads="1"/>
              </p:cNvSpPr>
              <p:nvPr/>
            </p:nvSpPr>
            <p:spPr bwMode="auto">
              <a:xfrm>
                <a:off x="8643"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出</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48" name="椭圆 706"/>
              <p:cNvSpPr>
                <a:spLocks noChangeArrowheads="1"/>
              </p:cNvSpPr>
              <p:nvPr/>
            </p:nvSpPr>
            <p:spPr bwMode="auto">
              <a:xfrm>
                <a:off x="8045" y="8407"/>
                <a:ext cx="1103"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49" name="矩形 707"/>
              <p:cNvSpPr>
                <a:spLocks noChangeArrowheads="1"/>
              </p:cNvSpPr>
              <p:nvPr/>
            </p:nvSpPr>
            <p:spPr bwMode="auto">
              <a:xfrm>
                <a:off x="4140" y="10069"/>
                <a:ext cx="1033"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50" name="矩形 708"/>
              <p:cNvSpPr>
                <a:spLocks noChangeArrowheads="1"/>
              </p:cNvSpPr>
              <p:nvPr/>
            </p:nvSpPr>
            <p:spPr bwMode="auto">
              <a:xfrm>
                <a:off x="4368" y="10159"/>
                <a:ext cx="36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活动</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51" name="矩形 709"/>
              <p:cNvSpPr>
                <a:spLocks noChangeArrowheads="1"/>
              </p:cNvSpPr>
              <p:nvPr/>
            </p:nvSpPr>
            <p:spPr bwMode="auto">
              <a:xfrm>
                <a:off x="4598" y="10152"/>
                <a:ext cx="157"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52" name="矩形 710"/>
              <p:cNvSpPr>
                <a:spLocks noChangeArrowheads="1"/>
              </p:cNvSpPr>
              <p:nvPr/>
            </p:nvSpPr>
            <p:spPr bwMode="auto">
              <a:xfrm>
                <a:off x="4725" y="10174"/>
                <a:ext cx="36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阻塞</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53" name="椭圆 711"/>
              <p:cNvSpPr>
                <a:spLocks noChangeArrowheads="1"/>
              </p:cNvSpPr>
              <p:nvPr/>
            </p:nvSpPr>
            <p:spPr bwMode="auto">
              <a:xfrm>
                <a:off x="4113" y="9957"/>
                <a:ext cx="1105"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54" name="矩形 712"/>
              <p:cNvSpPr>
                <a:spLocks noChangeArrowheads="1"/>
              </p:cNvSpPr>
              <p:nvPr/>
            </p:nvSpPr>
            <p:spPr bwMode="auto">
              <a:xfrm>
                <a:off x="5903" y="9472"/>
                <a:ext cx="680"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55" name="矩形 713"/>
              <p:cNvSpPr>
                <a:spLocks noChangeArrowheads="1"/>
              </p:cNvSpPr>
              <p:nvPr/>
            </p:nvSpPr>
            <p:spPr bwMode="auto">
              <a:xfrm>
                <a:off x="6010" y="950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等待</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56" name="矩形 714"/>
              <p:cNvSpPr>
                <a:spLocks noChangeArrowheads="1"/>
              </p:cNvSpPr>
              <p:nvPr/>
            </p:nvSpPr>
            <p:spPr bwMode="auto">
              <a:xfrm>
                <a:off x="6008" y="979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57" name="矩形 715"/>
              <p:cNvSpPr>
                <a:spLocks noChangeArrowheads="1"/>
              </p:cNvSpPr>
              <p:nvPr/>
            </p:nvSpPr>
            <p:spPr bwMode="auto">
              <a:xfrm>
                <a:off x="2075" y="9949"/>
                <a:ext cx="1035"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58" name="矩形 716"/>
              <p:cNvSpPr>
                <a:spLocks noChangeArrowheads="1"/>
              </p:cNvSpPr>
              <p:nvPr/>
            </p:nvSpPr>
            <p:spPr bwMode="auto">
              <a:xfrm>
                <a:off x="2280" y="10159"/>
                <a:ext cx="76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静止阻塞</a:t>
                </a:r>
                <a:endParaRPr kumimoji="0" lang="zh-CN" altLang="zh-CN" b="1" i="0" u="none" strike="noStrike" cap="none" normalizeH="0" baseline="0" dirty="0">
                  <a:ln>
                    <a:noFill/>
                  </a:ln>
                  <a:solidFill>
                    <a:srgbClr val="0000FF"/>
                  </a:solidFill>
                  <a:effectLst/>
                  <a:latin typeface="Arial" panose="020B0604020202020204" pitchFamily="34" charset="0"/>
                </a:endParaRPr>
              </a:p>
            </p:txBody>
          </p:sp>
          <p:sp>
            <p:nvSpPr>
              <p:cNvPr id="59" name="矩形 717"/>
              <p:cNvSpPr>
                <a:spLocks noChangeArrowheads="1"/>
              </p:cNvSpPr>
              <p:nvPr/>
            </p:nvSpPr>
            <p:spPr bwMode="auto">
              <a:xfrm>
                <a:off x="2355" y="1033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b="1"/>
              </a:p>
            </p:txBody>
          </p:sp>
          <p:sp>
            <p:nvSpPr>
              <p:cNvPr id="60" name="椭圆 718"/>
              <p:cNvSpPr>
                <a:spLocks noChangeArrowheads="1"/>
              </p:cNvSpPr>
              <p:nvPr/>
            </p:nvSpPr>
            <p:spPr bwMode="auto">
              <a:xfrm>
                <a:off x="2045" y="9957"/>
                <a:ext cx="1105"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61" name="矩形 719"/>
              <p:cNvSpPr>
                <a:spLocks noChangeArrowheads="1"/>
              </p:cNvSpPr>
              <p:nvPr/>
            </p:nvSpPr>
            <p:spPr bwMode="auto">
              <a:xfrm>
                <a:off x="3268" y="8332"/>
                <a:ext cx="80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62" name="矩形 722"/>
              <p:cNvSpPr>
                <a:spLocks noChangeArrowheads="1"/>
              </p:cNvSpPr>
              <p:nvPr/>
            </p:nvSpPr>
            <p:spPr bwMode="auto">
              <a:xfrm>
                <a:off x="3430" y="8359"/>
                <a:ext cx="60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华康简宋" charset="-122"/>
                  </a:rPr>
                  <a:t>激活</a:t>
                </a:r>
                <a:endParaRPr kumimoji="0" lang="zh-CN" altLang="zh-CN" b="1" i="0" u="none" strike="noStrike" cap="none" normalizeH="0" baseline="0" dirty="0">
                  <a:ln>
                    <a:noFill/>
                  </a:ln>
                  <a:solidFill>
                    <a:srgbClr val="FF0000"/>
                  </a:solidFill>
                  <a:effectLst/>
                  <a:latin typeface="Arial" panose="020B0604020202020204" pitchFamily="34" charset="0"/>
                </a:endParaRPr>
              </a:p>
            </p:txBody>
          </p:sp>
          <p:sp>
            <p:nvSpPr>
              <p:cNvPr id="63" name="直线 734"/>
              <p:cNvSpPr>
                <a:spLocks noChangeShapeType="1"/>
              </p:cNvSpPr>
              <p:nvPr/>
            </p:nvSpPr>
            <p:spPr bwMode="auto">
              <a:xfrm>
                <a:off x="3135" y="8649"/>
                <a:ext cx="850"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64" name="任意多边形 744"/>
              <p:cNvSpPr>
                <a:spLocks/>
              </p:cNvSpPr>
              <p:nvPr/>
            </p:nvSpPr>
            <p:spPr bwMode="auto">
              <a:xfrm>
                <a:off x="3908" y="8619"/>
                <a:ext cx="205" cy="58"/>
              </a:xfrm>
              <a:custGeom>
                <a:avLst/>
                <a:gdLst>
                  <a:gd name="T0" fmla="*/ 82 w 82"/>
                  <a:gd name="T1" fmla="*/ 12 h 23"/>
                  <a:gd name="T2" fmla="*/ 0 w 82"/>
                  <a:gd name="T3" fmla="*/ 23 h 23"/>
                  <a:gd name="T4" fmla="*/ 0 w 82"/>
                  <a:gd name="T5" fmla="*/ 0 h 23"/>
                  <a:gd name="T6" fmla="*/ 82 w 82"/>
                  <a:gd name="T7" fmla="*/ 12 h 23"/>
                </a:gdLst>
                <a:ahLst/>
                <a:cxnLst>
                  <a:cxn ang="0">
                    <a:pos x="T0" y="T1"/>
                  </a:cxn>
                  <a:cxn ang="0">
                    <a:pos x="T2" y="T3"/>
                  </a:cxn>
                  <a:cxn ang="0">
                    <a:pos x="T4" y="T5"/>
                  </a:cxn>
                  <a:cxn ang="0">
                    <a:pos x="T6" y="T7"/>
                  </a:cxn>
                </a:cxnLst>
                <a:rect l="0" t="0" r="r" b="b"/>
                <a:pathLst>
                  <a:path w="82" h="23">
                    <a:moveTo>
                      <a:pt x="82" y="12"/>
                    </a:moveTo>
                    <a:lnTo>
                      <a:pt x="0" y="23"/>
                    </a:lnTo>
                    <a:lnTo>
                      <a:pt x="0" y="0"/>
                    </a:lnTo>
                    <a:lnTo>
                      <a:pt x="82"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65" name="直线 1348"/>
              <p:cNvSpPr>
                <a:spLocks noChangeShapeType="1"/>
              </p:cNvSpPr>
              <p:nvPr/>
            </p:nvSpPr>
            <p:spPr bwMode="auto">
              <a:xfrm>
                <a:off x="3270" y="8877"/>
                <a:ext cx="878"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66" name="任意多边形 1349"/>
              <p:cNvSpPr>
                <a:spLocks/>
              </p:cNvSpPr>
              <p:nvPr/>
            </p:nvSpPr>
            <p:spPr bwMode="auto">
              <a:xfrm>
                <a:off x="3133" y="8844"/>
                <a:ext cx="202" cy="63"/>
              </a:xfrm>
              <a:custGeom>
                <a:avLst/>
                <a:gdLst>
                  <a:gd name="T0" fmla="*/ 0 w 81"/>
                  <a:gd name="T1" fmla="*/ 13 h 25"/>
                  <a:gd name="T2" fmla="*/ 81 w 81"/>
                  <a:gd name="T3" fmla="*/ 25 h 25"/>
                  <a:gd name="T4" fmla="*/ 81 w 81"/>
                  <a:gd name="T5" fmla="*/ 0 h 25"/>
                  <a:gd name="T6" fmla="*/ 0 w 81"/>
                  <a:gd name="T7" fmla="*/ 13 h 25"/>
                </a:gdLst>
                <a:ahLst/>
                <a:cxnLst>
                  <a:cxn ang="0">
                    <a:pos x="T0" y="T1"/>
                  </a:cxn>
                  <a:cxn ang="0">
                    <a:pos x="T2" y="T3"/>
                  </a:cxn>
                  <a:cxn ang="0">
                    <a:pos x="T4" y="T5"/>
                  </a:cxn>
                  <a:cxn ang="0">
                    <a:pos x="T6" y="T7"/>
                  </a:cxn>
                </a:cxnLst>
                <a:rect l="0" t="0" r="r" b="b"/>
                <a:pathLst>
                  <a:path w="81" h="25">
                    <a:moveTo>
                      <a:pt x="0" y="13"/>
                    </a:moveTo>
                    <a:lnTo>
                      <a:pt x="81" y="25"/>
                    </a:lnTo>
                    <a:lnTo>
                      <a:pt x="81" y="0"/>
                    </a:lnTo>
                    <a:lnTo>
                      <a:pt x="0" y="13"/>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67" name="矩形 1350"/>
              <p:cNvSpPr>
                <a:spLocks noChangeArrowheads="1"/>
              </p:cNvSpPr>
              <p:nvPr/>
            </p:nvSpPr>
            <p:spPr bwMode="auto">
              <a:xfrm>
                <a:off x="3268" y="8924"/>
                <a:ext cx="800"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68" name="矩形 1351"/>
              <p:cNvSpPr>
                <a:spLocks noChangeArrowheads="1"/>
              </p:cNvSpPr>
              <p:nvPr/>
            </p:nvSpPr>
            <p:spPr bwMode="auto">
              <a:xfrm>
                <a:off x="3430" y="8954"/>
                <a:ext cx="60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69" name="矩形 1352"/>
              <p:cNvSpPr>
                <a:spLocks noChangeArrowheads="1"/>
              </p:cNvSpPr>
              <p:nvPr/>
            </p:nvSpPr>
            <p:spPr bwMode="auto">
              <a:xfrm>
                <a:off x="3260" y="9864"/>
                <a:ext cx="800"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70" name="矩形 1353"/>
              <p:cNvSpPr>
                <a:spLocks noChangeArrowheads="1"/>
              </p:cNvSpPr>
              <p:nvPr/>
            </p:nvSpPr>
            <p:spPr bwMode="auto">
              <a:xfrm>
                <a:off x="3428" y="9894"/>
                <a:ext cx="60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华康简宋" charset="-122"/>
                  </a:rPr>
                  <a:t>激活</a:t>
                </a:r>
                <a:endParaRPr kumimoji="0" lang="zh-CN" altLang="zh-CN" b="1" i="0" u="none" strike="noStrike" cap="none" normalizeH="0" baseline="0" dirty="0">
                  <a:ln>
                    <a:noFill/>
                  </a:ln>
                  <a:solidFill>
                    <a:srgbClr val="FF0000"/>
                  </a:solidFill>
                  <a:effectLst/>
                  <a:latin typeface="Arial" panose="020B0604020202020204" pitchFamily="34" charset="0"/>
                </a:endParaRPr>
              </a:p>
            </p:txBody>
          </p:sp>
          <p:grpSp>
            <p:nvGrpSpPr>
              <p:cNvPr id="71" name="组合 1354"/>
              <p:cNvGrpSpPr>
                <a:grpSpLocks/>
              </p:cNvGrpSpPr>
              <p:nvPr/>
            </p:nvGrpSpPr>
            <p:grpSpPr bwMode="auto">
              <a:xfrm>
                <a:off x="3118" y="10172"/>
                <a:ext cx="875" cy="20"/>
                <a:chOff x="647" y="3668"/>
                <a:chExt cx="350" cy="8"/>
              </a:xfrm>
            </p:grpSpPr>
            <p:sp>
              <p:nvSpPr>
                <p:cNvPr id="133" name="任意多边形 1355"/>
                <p:cNvSpPr>
                  <a:spLocks/>
                </p:cNvSpPr>
                <p:nvPr/>
              </p:nvSpPr>
              <p:spPr bwMode="auto">
                <a:xfrm>
                  <a:off x="647" y="3668"/>
                  <a:ext cx="44" cy="8"/>
                </a:xfrm>
                <a:custGeom>
                  <a:avLst/>
                  <a:gdLst>
                    <a:gd name="T0" fmla="*/ 6 w 44"/>
                    <a:gd name="T1" fmla="*/ 0 h 8"/>
                    <a:gd name="T2" fmla="*/ 4 w 44"/>
                    <a:gd name="T3" fmla="*/ 0 h 8"/>
                    <a:gd name="T4" fmla="*/ 3 w 44"/>
                    <a:gd name="T5" fmla="*/ 1 h 8"/>
                    <a:gd name="T6" fmla="*/ 1 w 44"/>
                    <a:gd name="T7" fmla="*/ 3 h 8"/>
                    <a:gd name="T8" fmla="*/ 0 w 44"/>
                    <a:gd name="T9" fmla="*/ 4 h 8"/>
                    <a:gd name="T10" fmla="*/ 0 w 44"/>
                    <a:gd name="T11" fmla="*/ 4 h 8"/>
                    <a:gd name="T12" fmla="*/ 1 w 44"/>
                    <a:gd name="T13" fmla="*/ 5 h 8"/>
                    <a:gd name="T14" fmla="*/ 3 w 44"/>
                    <a:gd name="T15" fmla="*/ 7 h 8"/>
                    <a:gd name="T16" fmla="*/ 4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6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6" y="0"/>
                      </a:moveTo>
                      <a:lnTo>
                        <a:pt x="4" y="0"/>
                      </a:lnTo>
                      <a:lnTo>
                        <a:pt x="3" y="1"/>
                      </a:lnTo>
                      <a:lnTo>
                        <a:pt x="1" y="3"/>
                      </a:lnTo>
                      <a:lnTo>
                        <a:pt x="0" y="4"/>
                      </a:lnTo>
                      <a:lnTo>
                        <a:pt x="1" y="5"/>
                      </a:lnTo>
                      <a:lnTo>
                        <a:pt x="3" y="7"/>
                      </a:lnTo>
                      <a:lnTo>
                        <a:pt x="4" y="8"/>
                      </a:lnTo>
                      <a:lnTo>
                        <a:pt x="38" y="8"/>
                      </a:lnTo>
                      <a:lnTo>
                        <a:pt x="39" y="8"/>
                      </a:lnTo>
                      <a:lnTo>
                        <a:pt x="41" y="8"/>
                      </a:lnTo>
                      <a:lnTo>
                        <a:pt x="42" y="7"/>
                      </a:lnTo>
                      <a:lnTo>
                        <a:pt x="44" y="5"/>
                      </a:lnTo>
                      <a:lnTo>
                        <a:pt x="44" y="4"/>
                      </a:lnTo>
                      <a:lnTo>
                        <a:pt x="42" y="3"/>
                      </a:lnTo>
                      <a:lnTo>
                        <a:pt x="41" y="1"/>
                      </a:lnTo>
                      <a:lnTo>
                        <a:pt x="39"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4" name="任意多边形 1356"/>
                <p:cNvSpPr>
                  <a:spLocks/>
                </p:cNvSpPr>
                <p:nvPr/>
              </p:nvSpPr>
              <p:spPr bwMode="auto">
                <a:xfrm>
                  <a:off x="708" y="3668"/>
                  <a:ext cx="44" cy="8"/>
                </a:xfrm>
                <a:custGeom>
                  <a:avLst/>
                  <a:gdLst>
                    <a:gd name="T0" fmla="*/ 4 w 44"/>
                    <a:gd name="T1" fmla="*/ 0 h 8"/>
                    <a:gd name="T2" fmla="*/ 3 w 44"/>
                    <a:gd name="T3" fmla="*/ 0 h 8"/>
                    <a:gd name="T4" fmla="*/ 2 w 44"/>
                    <a:gd name="T5" fmla="*/ 1 h 8"/>
                    <a:gd name="T6" fmla="*/ 0 w 44"/>
                    <a:gd name="T7" fmla="*/ 3 h 8"/>
                    <a:gd name="T8" fmla="*/ 0 w 44"/>
                    <a:gd name="T9" fmla="*/ 4 h 8"/>
                    <a:gd name="T10" fmla="*/ 0 w 44"/>
                    <a:gd name="T11" fmla="*/ 5 h 8"/>
                    <a:gd name="T12" fmla="*/ 0 w 44"/>
                    <a:gd name="T13" fmla="*/ 7 h 8"/>
                    <a:gd name="T14" fmla="*/ 2 w 44"/>
                    <a:gd name="T15" fmla="*/ 8 h 8"/>
                    <a:gd name="T16" fmla="*/ 3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4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4" y="0"/>
                      </a:moveTo>
                      <a:lnTo>
                        <a:pt x="3" y="0"/>
                      </a:lnTo>
                      <a:lnTo>
                        <a:pt x="2" y="1"/>
                      </a:lnTo>
                      <a:lnTo>
                        <a:pt x="0" y="3"/>
                      </a:lnTo>
                      <a:lnTo>
                        <a:pt x="0" y="4"/>
                      </a:lnTo>
                      <a:lnTo>
                        <a:pt x="0" y="5"/>
                      </a:lnTo>
                      <a:lnTo>
                        <a:pt x="0" y="7"/>
                      </a:lnTo>
                      <a:lnTo>
                        <a:pt x="2" y="8"/>
                      </a:lnTo>
                      <a:lnTo>
                        <a:pt x="3" y="8"/>
                      </a:lnTo>
                      <a:lnTo>
                        <a:pt x="38" y="8"/>
                      </a:lnTo>
                      <a:lnTo>
                        <a:pt x="39" y="8"/>
                      </a:lnTo>
                      <a:lnTo>
                        <a:pt x="41" y="8"/>
                      </a:lnTo>
                      <a:lnTo>
                        <a:pt x="42" y="7"/>
                      </a:lnTo>
                      <a:lnTo>
                        <a:pt x="44" y="5"/>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5" name="任意多边形 1357"/>
                <p:cNvSpPr>
                  <a:spLocks/>
                </p:cNvSpPr>
                <p:nvPr/>
              </p:nvSpPr>
              <p:spPr bwMode="auto">
                <a:xfrm>
                  <a:off x="769" y="3668"/>
                  <a:ext cx="44" cy="8"/>
                </a:xfrm>
                <a:custGeom>
                  <a:avLst/>
                  <a:gdLst>
                    <a:gd name="T0" fmla="*/ 5 w 44"/>
                    <a:gd name="T1" fmla="*/ 0 h 8"/>
                    <a:gd name="T2" fmla="*/ 3 w 44"/>
                    <a:gd name="T3" fmla="*/ 0 h 8"/>
                    <a:gd name="T4" fmla="*/ 2 w 44"/>
                    <a:gd name="T5" fmla="*/ 1 h 8"/>
                    <a:gd name="T6" fmla="*/ 0 w 44"/>
                    <a:gd name="T7" fmla="*/ 3 h 8"/>
                    <a:gd name="T8" fmla="*/ 0 w 44"/>
                    <a:gd name="T9" fmla="*/ 4 h 8"/>
                    <a:gd name="T10" fmla="*/ 0 w 44"/>
                    <a:gd name="T11" fmla="*/ 5 h 8"/>
                    <a:gd name="T12" fmla="*/ 0 w 44"/>
                    <a:gd name="T13" fmla="*/ 7 h 8"/>
                    <a:gd name="T14" fmla="*/ 2 w 44"/>
                    <a:gd name="T15" fmla="*/ 8 h 8"/>
                    <a:gd name="T16" fmla="*/ 3 w 44"/>
                    <a:gd name="T17" fmla="*/ 8 h 8"/>
                    <a:gd name="T18" fmla="*/ 38 w 44"/>
                    <a:gd name="T19" fmla="*/ 8 h 8"/>
                    <a:gd name="T20" fmla="*/ 40 w 44"/>
                    <a:gd name="T21" fmla="*/ 8 h 8"/>
                    <a:gd name="T22" fmla="*/ 41 w 44"/>
                    <a:gd name="T23" fmla="*/ 8 h 8"/>
                    <a:gd name="T24" fmla="*/ 43 w 44"/>
                    <a:gd name="T25" fmla="*/ 7 h 8"/>
                    <a:gd name="T26" fmla="*/ 44 w 44"/>
                    <a:gd name="T27" fmla="*/ 5 h 8"/>
                    <a:gd name="T28" fmla="*/ 44 w 44"/>
                    <a:gd name="T29" fmla="*/ 4 h 8"/>
                    <a:gd name="T30" fmla="*/ 43 w 44"/>
                    <a:gd name="T31" fmla="*/ 3 h 8"/>
                    <a:gd name="T32" fmla="*/ 41 w 44"/>
                    <a:gd name="T33" fmla="*/ 1 h 8"/>
                    <a:gd name="T34" fmla="*/ 40 w 44"/>
                    <a:gd name="T35" fmla="*/ 0 h 8"/>
                    <a:gd name="T36" fmla="*/ 5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5" y="0"/>
                      </a:moveTo>
                      <a:lnTo>
                        <a:pt x="3" y="0"/>
                      </a:lnTo>
                      <a:lnTo>
                        <a:pt x="2" y="1"/>
                      </a:lnTo>
                      <a:lnTo>
                        <a:pt x="0" y="3"/>
                      </a:lnTo>
                      <a:lnTo>
                        <a:pt x="0" y="4"/>
                      </a:lnTo>
                      <a:lnTo>
                        <a:pt x="0" y="5"/>
                      </a:lnTo>
                      <a:lnTo>
                        <a:pt x="0" y="7"/>
                      </a:lnTo>
                      <a:lnTo>
                        <a:pt x="2" y="8"/>
                      </a:lnTo>
                      <a:lnTo>
                        <a:pt x="3" y="8"/>
                      </a:lnTo>
                      <a:lnTo>
                        <a:pt x="38" y="8"/>
                      </a:lnTo>
                      <a:lnTo>
                        <a:pt x="40" y="8"/>
                      </a:lnTo>
                      <a:lnTo>
                        <a:pt x="41" y="8"/>
                      </a:lnTo>
                      <a:lnTo>
                        <a:pt x="43" y="7"/>
                      </a:lnTo>
                      <a:lnTo>
                        <a:pt x="44" y="5"/>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6" name="任意多边形 1358"/>
                <p:cNvSpPr>
                  <a:spLocks/>
                </p:cNvSpPr>
                <p:nvPr/>
              </p:nvSpPr>
              <p:spPr bwMode="auto">
                <a:xfrm>
                  <a:off x="831" y="3668"/>
                  <a:ext cx="43" cy="8"/>
                </a:xfrm>
                <a:custGeom>
                  <a:avLst/>
                  <a:gdLst>
                    <a:gd name="T0" fmla="*/ 4 w 43"/>
                    <a:gd name="T1" fmla="*/ 0 h 8"/>
                    <a:gd name="T2" fmla="*/ 2 w 43"/>
                    <a:gd name="T3" fmla="*/ 0 h 8"/>
                    <a:gd name="T4" fmla="*/ 1 w 43"/>
                    <a:gd name="T5" fmla="*/ 1 h 8"/>
                    <a:gd name="T6" fmla="*/ 0 w 43"/>
                    <a:gd name="T7" fmla="*/ 3 h 8"/>
                    <a:gd name="T8" fmla="*/ 0 w 43"/>
                    <a:gd name="T9" fmla="*/ 4 h 8"/>
                    <a:gd name="T10" fmla="*/ 0 w 43"/>
                    <a:gd name="T11" fmla="*/ 5 h 8"/>
                    <a:gd name="T12" fmla="*/ 0 w 43"/>
                    <a:gd name="T13" fmla="*/ 7 h 8"/>
                    <a:gd name="T14" fmla="*/ 1 w 43"/>
                    <a:gd name="T15" fmla="*/ 8 h 8"/>
                    <a:gd name="T16" fmla="*/ 2 w 43"/>
                    <a:gd name="T17" fmla="*/ 8 h 8"/>
                    <a:gd name="T18" fmla="*/ 37 w 43"/>
                    <a:gd name="T19" fmla="*/ 8 h 8"/>
                    <a:gd name="T20" fmla="*/ 39 w 43"/>
                    <a:gd name="T21" fmla="*/ 8 h 8"/>
                    <a:gd name="T22" fmla="*/ 40 w 43"/>
                    <a:gd name="T23" fmla="*/ 8 h 8"/>
                    <a:gd name="T24" fmla="*/ 42 w 43"/>
                    <a:gd name="T25" fmla="*/ 7 h 8"/>
                    <a:gd name="T26" fmla="*/ 43 w 43"/>
                    <a:gd name="T27" fmla="*/ 5 h 8"/>
                    <a:gd name="T28" fmla="*/ 43 w 43"/>
                    <a:gd name="T29" fmla="*/ 4 h 8"/>
                    <a:gd name="T30" fmla="*/ 42 w 43"/>
                    <a:gd name="T31" fmla="*/ 3 h 8"/>
                    <a:gd name="T32" fmla="*/ 40 w 43"/>
                    <a:gd name="T33" fmla="*/ 1 h 8"/>
                    <a:gd name="T34" fmla="*/ 39 w 43"/>
                    <a:gd name="T35" fmla="*/ 0 h 8"/>
                    <a:gd name="T36" fmla="*/ 4 w 43"/>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8">
                      <a:moveTo>
                        <a:pt x="4" y="0"/>
                      </a:moveTo>
                      <a:lnTo>
                        <a:pt x="2" y="0"/>
                      </a:lnTo>
                      <a:lnTo>
                        <a:pt x="1" y="1"/>
                      </a:lnTo>
                      <a:lnTo>
                        <a:pt x="0" y="3"/>
                      </a:lnTo>
                      <a:lnTo>
                        <a:pt x="0" y="4"/>
                      </a:lnTo>
                      <a:lnTo>
                        <a:pt x="0" y="5"/>
                      </a:lnTo>
                      <a:lnTo>
                        <a:pt x="0" y="7"/>
                      </a:lnTo>
                      <a:lnTo>
                        <a:pt x="1" y="8"/>
                      </a:lnTo>
                      <a:lnTo>
                        <a:pt x="2" y="8"/>
                      </a:lnTo>
                      <a:lnTo>
                        <a:pt x="37" y="8"/>
                      </a:lnTo>
                      <a:lnTo>
                        <a:pt x="39" y="8"/>
                      </a:lnTo>
                      <a:lnTo>
                        <a:pt x="40" y="8"/>
                      </a:lnTo>
                      <a:lnTo>
                        <a:pt x="42" y="7"/>
                      </a:lnTo>
                      <a:lnTo>
                        <a:pt x="43" y="5"/>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7" name="任意多边形 1359"/>
                <p:cNvSpPr>
                  <a:spLocks/>
                </p:cNvSpPr>
                <p:nvPr/>
              </p:nvSpPr>
              <p:spPr bwMode="auto">
                <a:xfrm>
                  <a:off x="892" y="3668"/>
                  <a:ext cx="43" cy="8"/>
                </a:xfrm>
                <a:custGeom>
                  <a:avLst/>
                  <a:gdLst>
                    <a:gd name="T0" fmla="*/ 4 w 43"/>
                    <a:gd name="T1" fmla="*/ 0 h 8"/>
                    <a:gd name="T2" fmla="*/ 3 w 43"/>
                    <a:gd name="T3" fmla="*/ 0 h 8"/>
                    <a:gd name="T4" fmla="*/ 1 w 43"/>
                    <a:gd name="T5" fmla="*/ 1 h 8"/>
                    <a:gd name="T6" fmla="*/ 0 w 43"/>
                    <a:gd name="T7" fmla="*/ 3 h 8"/>
                    <a:gd name="T8" fmla="*/ 0 w 43"/>
                    <a:gd name="T9" fmla="*/ 4 h 8"/>
                    <a:gd name="T10" fmla="*/ 0 w 43"/>
                    <a:gd name="T11" fmla="*/ 5 h 8"/>
                    <a:gd name="T12" fmla="*/ 0 w 43"/>
                    <a:gd name="T13" fmla="*/ 7 h 8"/>
                    <a:gd name="T14" fmla="*/ 1 w 43"/>
                    <a:gd name="T15" fmla="*/ 8 h 8"/>
                    <a:gd name="T16" fmla="*/ 3 w 43"/>
                    <a:gd name="T17" fmla="*/ 8 h 8"/>
                    <a:gd name="T18" fmla="*/ 38 w 43"/>
                    <a:gd name="T19" fmla="*/ 8 h 8"/>
                    <a:gd name="T20" fmla="*/ 39 w 43"/>
                    <a:gd name="T21" fmla="*/ 8 h 8"/>
                    <a:gd name="T22" fmla="*/ 41 w 43"/>
                    <a:gd name="T23" fmla="*/ 8 h 8"/>
                    <a:gd name="T24" fmla="*/ 42 w 43"/>
                    <a:gd name="T25" fmla="*/ 7 h 8"/>
                    <a:gd name="T26" fmla="*/ 43 w 43"/>
                    <a:gd name="T27" fmla="*/ 5 h 8"/>
                    <a:gd name="T28" fmla="*/ 43 w 43"/>
                    <a:gd name="T29" fmla="*/ 4 h 8"/>
                    <a:gd name="T30" fmla="*/ 42 w 43"/>
                    <a:gd name="T31" fmla="*/ 3 h 8"/>
                    <a:gd name="T32" fmla="*/ 41 w 43"/>
                    <a:gd name="T33" fmla="*/ 1 h 8"/>
                    <a:gd name="T34" fmla="*/ 39 w 43"/>
                    <a:gd name="T35" fmla="*/ 0 h 8"/>
                    <a:gd name="T36" fmla="*/ 4 w 43"/>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8">
                      <a:moveTo>
                        <a:pt x="4" y="0"/>
                      </a:moveTo>
                      <a:lnTo>
                        <a:pt x="3" y="0"/>
                      </a:lnTo>
                      <a:lnTo>
                        <a:pt x="1" y="1"/>
                      </a:lnTo>
                      <a:lnTo>
                        <a:pt x="0" y="3"/>
                      </a:lnTo>
                      <a:lnTo>
                        <a:pt x="0" y="4"/>
                      </a:lnTo>
                      <a:lnTo>
                        <a:pt x="0" y="5"/>
                      </a:lnTo>
                      <a:lnTo>
                        <a:pt x="0" y="7"/>
                      </a:lnTo>
                      <a:lnTo>
                        <a:pt x="1" y="8"/>
                      </a:lnTo>
                      <a:lnTo>
                        <a:pt x="3" y="8"/>
                      </a:lnTo>
                      <a:lnTo>
                        <a:pt x="38" y="8"/>
                      </a:lnTo>
                      <a:lnTo>
                        <a:pt x="39" y="8"/>
                      </a:lnTo>
                      <a:lnTo>
                        <a:pt x="41" y="8"/>
                      </a:lnTo>
                      <a:lnTo>
                        <a:pt x="42" y="7"/>
                      </a:lnTo>
                      <a:lnTo>
                        <a:pt x="43" y="5"/>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8" name="任意多边形 1360"/>
                <p:cNvSpPr>
                  <a:spLocks/>
                </p:cNvSpPr>
                <p:nvPr/>
              </p:nvSpPr>
              <p:spPr bwMode="auto">
                <a:xfrm>
                  <a:off x="953" y="3668"/>
                  <a:ext cx="44" cy="8"/>
                </a:xfrm>
                <a:custGeom>
                  <a:avLst/>
                  <a:gdLst>
                    <a:gd name="T0" fmla="*/ 4 w 44"/>
                    <a:gd name="T1" fmla="*/ 0 h 8"/>
                    <a:gd name="T2" fmla="*/ 3 w 44"/>
                    <a:gd name="T3" fmla="*/ 0 h 8"/>
                    <a:gd name="T4" fmla="*/ 1 w 44"/>
                    <a:gd name="T5" fmla="*/ 1 h 8"/>
                    <a:gd name="T6" fmla="*/ 0 w 44"/>
                    <a:gd name="T7" fmla="*/ 3 h 8"/>
                    <a:gd name="T8" fmla="*/ 0 w 44"/>
                    <a:gd name="T9" fmla="*/ 4 h 8"/>
                    <a:gd name="T10" fmla="*/ 0 w 44"/>
                    <a:gd name="T11" fmla="*/ 5 h 8"/>
                    <a:gd name="T12" fmla="*/ 0 w 44"/>
                    <a:gd name="T13" fmla="*/ 7 h 8"/>
                    <a:gd name="T14" fmla="*/ 1 w 44"/>
                    <a:gd name="T15" fmla="*/ 8 h 8"/>
                    <a:gd name="T16" fmla="*/ 3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4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4" y="0"/>
                      </a:moveTo>
                      <a:lnTo>
                        <a:pt x="3" y="0"/>
                      </a:lnTo>
                      <a:lnTo>
                        <a:pt x="1" y="1"/>
                      </a:lnTo>
                      <a:lnTo>
                        <a:pt x="0" y="3"/>
                      </a:lnTo>
                      <a:lnTo>
                        <a:pt x="0" y="4"/>
                      </a:lnTo>
                      <a:lnTo>
                        <a:pt x="0" y="5"/>
                      </a:lnTo>
                      <a:lnTo>
                        <a:pt x="0" y="7"/>
                      </a:lnTo>
                      <a:lnTo>
                        <a:pt x="1" y="8"/>
                      </a:lnTo>
                      <a:lnTo>
                        <a:pt x="3" y="8"/>
                      </a:lnTo>
                      <a:lnTo>
                        <a:pt x="38" y="8"/>
                      </a:lnTo>
                      <a:lnTo>
                        <a:pt x="39" y="8"/>
                      </a:lnTo>
                      <a:lnTo>
                        <a:pt x="41" y="8"/>
                      </a:lnTo>
                      <a:lnTo>
                        <a:pt x="42" y="7"/>
                      </a:lnTo>
                      <a:lnTo>
                        <a:pt x="44" y="5"/>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grpSp>
          <p:sp>
            <p:nvSpPr>
              <p:cNvPr id="72" name="任意多边形 1361"/>
              <p:cNvSpPr>
                <a:spLocks/>
              </p:cNvSpPr>
              <p:nvPr/>
            </p:nvSpPr>
            <p:spPr bwMode="auto">
              <a:xfrm>
                <a:off x="3900" y="10152"/>
                <a:ext cx="208" cy="60"/>
              </a:xfrm>
              <a:custGeom>
                <a:avLst/>
                <a:gdLst>
                  <a:gd name="T0" fmla="*/ 83 w 83"/>
                  <a:gd name="T1" fmla="*/ 12 h 24"/>
                  <a:gd name="T2" fmla="*/ 0 w 83"/>
                  <a:gd name="T3" fmla="*/ 24 h 24"/>
                  <a:gd name="T4" fmla="*/ 0 w 83"/>
                  <a:gd name="T5" fmla="*/ 0 h 24"/>
                  <a:gd name="T6" fmla="*/ 83 w 83"/>
                  <a:gd name="T7" fmla="*/ 12 h 24"/>
                </a:gdLst>
                <a:ahLst/>
                <a:cxnLst>
                  <a:cxn ang="0">
                    <a:pos x="T0" y="T1"/>
                  </a:cxn>
                  <a:cxn ang="0">
                    <a:pos x="T2" y="T3"/>
                  </a:cxn>
                  <a:cxn ang="0">
                    <a:pos x="T4" y="T5"/>
                  </a:cxn>
                  <a:cxn ang="0">
                    <a:pos x="T6" y="T7"/>
                  </a:cxn>
                </a:cxnLst>
                <a:rect l="0" t="0" r="r" b="b"/>
                <a:pathLst>
                  <a:path w="83" h="24">
                    <a:moveTo>
                      <a:pt x="83" y="12"/>
                    </a:moveTo>
                    <a:lnTo>
                      <a:pt x="0" y="24"/>
                    </a:lnTo>
                    <a:lnTo>
                      <a:pt x="0" y="0"/>
                    </a:lnTo>
                    <a:lnTo>
                      <a:pt x="83"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73" name="直线 1362"/>
              <p:cNvSpPr>
                <a:spLocks noChangeShapeType="1"/>
              </p:cNvSpPr>
              <p:nvPr/>
            </p:nvSpPr>
            <p:spPr bwMode="auto">
              <a:xfrm>
                <a:off x="3268" y="10407"/>
                <a:ext cx="880"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74" name="任意多边形 1363"/>
              <p:cNvSpPr>
                <a:spLocks/>
              </p:cNvSpPr>
              <p:nvPr/>
            </p:nvSpPr>
            <p:spPr bwMode="auto">
              <a:xfrm>
                <a:off x="3128" y="10379"/>
                <a:ext cx="205" cy="60"/>
              </a:xfrm>
              <a:custGeom>
                <a:avLst/>
                <a:gdLst>
                  <a:gd name="T0" fmla="*/ 0 w 82"/>
                  <a:gd name="T1" fmla="*/ 11 h 24"/>
                  <a:gd name="T2" fmla="*/ 82 w 82"/>
                  <a:gd name="T3" fmla="*/ 24 h 24"/>
                  <a:gd name="T4" fmla="*/ 82 w 82"/>
                  <a:gd name="T5" fmla="*/ 0 h 24"/>
                  <a:gd name="T6" fmla="*/ 0 w 82"/>
                  <a:gd name="T7" fmla="*/ 11 h 24"/>
                </a:gdLst>
                <a:ahLst/>
                <a:cxnLst>
                  <a:cxn ang="0">
                    <a:pos x="T0" y="T1"/>
                  </a:cxn>
                  <a:cxn ang="0">
                    <a:pos x="T2" y="T3"/>
                  </a:cxn>
                  <a:cxn ang="0">
                    <a:pos x="T4" y="T5"/>
                  </a:cxn>
                  <a:cxn ang="0">
                    <a:pos x="T6" y="T7"/>
                  </a:cxn>
                </a:cxnLst>
                <a:rect l="0" t="0" r="r" b="b"/>
                <a:pathLst>
                  <a:path w="82" h="24">
                    <a:moveTo>
                      <a:pt x="0" y="11"/>
                    </a:moveTo>
                    <a:lnTo>
                      <a:pt x="82" y="24"/>
                    </a:lnTo>
                    <a:lnTo>
                      <a:pt x="82" y="0"/>
                    </a:lnTo>
                    <a:lnTo>
                      <a:pt x="0" y="11"/>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sp>
            <p:nvSpPr>
              <p:cNvPr id="75" name="矩形 1364"/>
              <p:cNvSpPr>
                <a:spLocks noChangeArrowheads="1"/>
              </p:cNvSpPr>
              <p:nvPr/>
            </p:nvSpPr>
            <p:spPr bwMode="auto">
              <a:xfrm>
                <a:off x="1970" y="9289"/>
                <a:ext cx="680" cy="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76" name="矩形 1365"/>
              <p:cNvSpPr>
                <a:spLocks noChangeArrowheads="1"/>
              </p:cNvSpPr>
              <p:nvPr/>
            </p:nvSpPr>
            <p:spPr bwMode="auto">
              <a:xfrm>
                <a:off x="2078" y="9322"/>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77" name="矩形 1366"/>
              <p:cNvSpPr>
                <a:spLocks noChangeArrowheads="1"/>
              </p:cNvSpPr>
              <p:nvPr/>
            </p:nvSpPr>
            <p:spPr bwMode="auto">
              <a:xfrm>
                <a:off x="2075" y="961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发生</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78" name="直线 1367"/>
              <p:cNvSpPr>
                <a:spLocks noChangeShapeType="1"/>
              </p:cNvSpPr>
              <p:nvPr/>
            </p:nvSpPr>
            <p:spPr bwMode="auto">
              <a:xfrm>
                <a:off x="2575" y="9212"/>
                <a:ext cx="0" cy="74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79" name="任意多边形 1368"/>
              <p:cNvSpPr>
                <a:spLocks/>
              </p:cNvSpPr>
              <p:nvPr/>
            </p:nvSpPr>
            <p:spPr bwMode="auto">
              <a:xfrm>
                <a:off x="2545" y="9097"/>
                <a:ext cx="63" cy="202"/>
              </a:xfrm>
              <a:custGeom>
                <a:avLst/>
                <a:gdLst>
                  <a:gd name="T0" fmla="*/ 12 w 25"/>
                  <a:gd name="T1" fmla="*/ 0 h 81"/>
                  <a:gd name="T2" fmla="*/ 0 w 25"/>
                  <a:gd name="T3" fmla="*/ 81 h 81"/>
                  <a:gd name="T4" fmla="*/ 25 w 25"/>
                  <a:gd name="T5" fmla="*/ 81 h 81"/>
                  <a:gd name="T6" fmla="*/ 12 w 25"/>
                  <a:gd name="T7" fmla="*/ 0 h 81"/>
                </a:gdLst>
                <a:ahLst/>
                <a:cxnLst>
                  <a:cxn ang="0">
                    <a:pos x="T0" y="T1"/>
                  </a:cxn>
                  <a:cxn ang="0">
                    <a:pos x="T2" y="T3"/>
                  </a:cxn>
                  <a:cxn ang="0">
                    <a:pos x="T4" y="T5"/>
                  </a:cxn>
                  <a:cxn ang="0">
                    <a:pos x="T6" y="T7"/>
                  </a:cxn>
                </a:cxnLst>
                <a:rect l="0" t="0" r="r" b="b"/>
                <a:pathLst>
                  <a:path w="25" h="81">
                    <a:moveTo>
                      <a:pt x="12" y="0"/>
                    </a:moveTo>
                    <a:lnTo>
                      <a:pt x="0" y="81"/>
                    </a:lnTo>
                    <a:lnTo>
                      <a:pt x="25" y="81"/>
                    </a:lnTo>
                    <a:lnTo>
                      <a:pt x="12" y="0"/>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grpSp>
            <p:nvGrpSpPr>
              <p:cNvPr id="80" name="组合 1369"/>
              <p:cNvGrpSpPr>
                <a:grpSpLocks/>
              </p:cNvGrpSpPr>
              <p:nvPr/>
            </p:nvGrpSpPr>
            <p:grpSpPr bwMode="auto">
              <a:xfrm>
                <a:off x="2730" y="7744"/>
                <a:ext cx="673" cy="645"/>
                <a:chOff x="492" y="2697"/>
                <a:chExt cx="269" cy="258"/>
              </a:xfrm>
            </p:grpSpPr>
            <p:sp>
              <p:nvSpPr>
                <p:cNvPr id="131" name="直线 1370"/>
                <p:cNvSpPr>
                  <a:spLocks noChangeShapeType="1"/>
                </p:cNvSpPr>
                <p:nvPr/>
              </p:nvSpPr>
              <p:spPr bwMode="auto">
                <a:xfrm flipV="1">
                  <a:off x="549" y="2697"/>
                  <a:ext cx="212" cy="20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132" name="任意多边形 1371"/>
                <p:cNvSpPr>
                  <a:spLocks/>
                </p:cNvSpPr>
                <p:nvPr/>
              </p:nvSpPr>
              <p:spPr bwMode="auto">
                <a:xfrm>
                  <a:off x="492" y="2890"/>
                  <a:ext cx="67" cy="65"/>
                </a:xfrm>
                <a:custGeom>
                  <a:avLst/>
                  <a:gdLst>
                    <a:gd name="T0" fmla="*/ 0 w 67"/>
                    <a:gd name="T1" fmla="*/ 65 h 65"/>
                    <a:gd name="T2" fmla="*/ 67 w 67"/>
                    <a:gd name="T3" fmla="*/ 17 h 65"/>
                    <a:gd name="T4" fmla="*/ 51 w 67"/>
                    <a:gd name="T5" fmla="*/ 0 h 65"/>
                    <a:gd name="T6" fmla="*/ 0 w 67"/>
                    <a:gd name="T7" fmla="*/ 65 h 65"/>
                  </a:gdLst>
                  <a:ahLst/>
                  <a:cxnLst>
                    <a:cxn ang="0">
                      <a:pos x="T0" y="T1"/>
                    </a:cxn>
                    <a:cxn ang="0">
                      <a:pos x="T2" y="T3"/>
                    </a:cxn>
                    <a:cxn ang="0">
                      <a:pos x="T4" y="T5"/>
                    </a:cxn>
                    <a:cxn ang="0">
                      <a:pos x="T6" y="T7"/>
                    </a:cxn>
                  </a:cxnLst>
                  <a:rect l="0" t="0" r="r" b="b"/>
                  <a:pathLst>
                    <a:path w="67" h="65">
                      <a:moveTo>
                        <a:pt x="0" y="65"/>
                      </a:moveTo>
                      <a:lnTo>
                        <a:pt x="67" y="17"/>
                      </a:lnTo>
                      <a:lnTo>
                        <a:pt x="51" y="0"/>
                      </a:lnTo>
                      <a:lnTo>
                        <a:pt x="0" y="65"/>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grpSp>
          <p:sp>
            <p:nvSpPr>
              <p:cNvPr id="81" name="矩形 1372"/>
              <p:cNvSpPr>
                <a:spLocks noChangeArrowheads="1"/>
              </p:cNvSpPr>
              <p:nvPr/>
            </p:nvSpPr>
            <p:spPr bwMode="auto">
              <a:xfrm>
                <a:off x="3110" y="7232"/>
                <a:ext cx="1030"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82" name="矩形 1373"/>
              <p:cNvSpPr>
                <a:spLocks noChangeArrowheads="1"/>
              </p:cNvSpPr>
              <p:nvPr/>
            </p:nvSpPr>
            <p:spPr bwMode="auto">
              <a:xfrm>
                <a:off x="3333" y="732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新</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83" name="矩形 1374"/>
              <p:cNvSpPr>
                <a:spLocks noChangeArrowheads="1"/>
              </p:cNvSpPr>
              <p:nvPr/>
            </p:nvSpPr>
            <p:spPr bwMode="auto">
              <a:xfrm>
                <a:off x="3675" y="732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建</a:t>
                </a:r>
                <a:endParaRPr kumimoji="0" lang="zh-CN" altLang="zh-CN" b="1" i="0" u="none" strike="noStrike" cap="none" normalizeH="0" baseline="0" dirty="0">
                  <a:ln>
                    <a:noFill/>
                  </a:ln>
                  <a:solidFill>
                    <a:schemeClr val="tx1"/>
                  </a:solidFill>
                  <a:effectLst/>
                  <a:latin typeface="Arial" panose="020B0604020202020204" pitchFamily="34" charset="0"/>
                </a:endParaRPr>
              </a:p>
            </p:txBody>
          </p:sp>
          <p:sp>
            <p:nvSpPr>
              <p:cNvPr id="84" name="椭圆 1375"/>
              <p:cNvSpPr>
                <a:spLocks noChangeArrowheads="1"/>
              </p:cNvSpPr>
              <p:nvPr/>
            </p:nvSpPr>
            <p:spPr bwMode="auto">
              <a:xfrm>
                <a:off x="3080" y="7119"/>
                <a:ext cx="1100"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b="1"/>
              </a:p>
            </p:txBody>
          </p:sp>
          <p:grpSp>
            <p:nvGrpSpPr>
              <p:cNvPr id="85" name="组合 1376"/>
              <p:cNvGrpSpPr>
                <a:grpSpLocks/>
              </p:cNvGrpSpPr>
              <p:nvPr/>
            </p:nvGrpSpPr>
            <p:grpSpPr bwMode="auto">
              <a:xfrm>
                <a:off x="2563" y="8024"/>
                <a:ext cx="22" cy="263"/>
                <a:chOff x="425" y="2809"/>
                <a:chExt cx="9" cy="105"/>
              </a:xfrm>
            </p:grpSpPr>
            <p:sp>
              <p:nvSpPr>
                <p:cNvPr id="129" name="任意多边形 1377"/>
                <p:cNvSpPr>
                  <a:spLocks/>
                </p:cNvSpPr>
                <p:nvPr/>
              </p:nvSpPr>
              <p:spPr bwMode="auto">
                <a:xfrm>
                  <a:off x="425" y="2871"/>
                  <a:ext cx="9" cy="43"/>
                </a:xfrm>
                <a:custGeom>
                  <a:avLst/>
                  <a:gdLst>
                    <a:gd name="T0" fmla="*/ 0 w 9"/>
                    <a:gd name="T1" fmla="*/ 40 h 43"/>
                    <a:gd name="T2" fmla="*/ 2 w 9"/>
                    <a:gd name="T3" fmla="*/ 40 h 43"/>
                    <a:gd name="T4" fmla="*/ 3 w 9"/>
                    <a:gd name="T5" fmla="*/ 42 h 43"/>
                    <a:gd name="T6" fmla="*/ 5 w 9"/>
                    <a:gd name="T7" fmla="*/ 43 h 43"/>
                    <a:gd name="T8" fmla="*/ 5 w 9"/>
                    <a:gd name="T9" fmla="*/ 43 h 43"/>
                    <a:gd name="T10" fmla="*/ 6 w 9"/>
                    <a:gd name="T11" fmla="*/ 42 h 43"/>
                    <a:gd name="T12" fmla="*/ 8 w 9"/>
                    <a:gd name="T13" fmla="*/ 40 h 43"/>
                    <a:gd name="T14" fmla="*/ 9 w 9"/>
                    <a:gd name="T15" fmla="*/ 39 h 43"/>
                    <a:gd name="T16" fmla="*/ 9 w 9"/>
                    <a:gd name="T17" fmla="*/ 39 h 43"/>
                    <a:gd name="T18" fmla="*/ 9 w 9"/>
                    <a:gd name="T19" fmla="*/ 4 h 43"/>
                    <a:gd name="T20" fmla="*/ 8 w 9"/>
                    <a:gd name="T21" fmla="*/ 3 h 43"/>
                    <a:gd name="T22" fmla="*/ 6 w 9"/>
                    <a:gd name="T23" fmla="*/ 1 h 43"/>
                    <a:gd name="T24" fmla="*/ 5 w 9"/>
                    <a:gd name="T25" fmla="*/ 0 h 43"/>
                    <a:gd name="T26" fmla="*/ 5 w 9"/>
                    <a:gd name="T27" fmla="*/ 0 h 43"/>
                    <a:gd name="T28" fmla="*/ 3 w 9"/>
                    <a:gd name="T29" fmla="*/ 1 h 43"/>
                    <a:gd name="T30" fmla="*/ 2 w 9"/>
                    <a:gd name="T31" fmla="*/ 3 h 43"/>
                    <a:gd name="T32" fmla="*/ 0 w 9"/>
                    <a:gd name="T33" fmla="*/ 4 h 43"/>
                    <a:gd name="T34" fmla="*/ 0 w 9"/>
                    <a:gd name="T35" fmla="*/ 5 h 43"/>
                    <a:gd name="T36" fmla="*/ 0 w 9"/>
                    <a:gd name="T37" fmla="*/ 4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3">
                      <a:moveTo>
                        <a:pt x="0" y="40"/>
                      </a:moveTo>
                      <a:lnTo>
                        <a:pt x="2" y="40"/>
                      </a:lnTo>
                      <a:lnTo>
                        <a:pt x="3" y="42"/>
                      </a:lnTo>
                      <a:lnTo>
                        <a:pt x="5" y="43"/>
                      </a:lnTo>
                      <a:lnTo>
                        <a:pt x="6" y="42"/>
                      </a:lnTo>
                      <a:lnTo>
                        <a:pt x="8" y="40"/>
                      </a:lnTo>
                      <a:lnTo>
                        <a:pt x="9" y="39"/>
                      </a:lnTo>
                      <a:lnTo>
                        <a:pt x="9" y="4"/>
                      </a:lnTo>
                      <a:lnTo>
                        <a:pt x="8" y="3"/>
                      </a:lnTo>
                      <a:lnTo>
                        <a:pt x="6" y="1"/>
                      </a:lnTo>
                      <a:lnTo>
                        <a:pt x="5" y="0"/>
                      </a:lnTo>
                      <a:lnTo>
                        <a:pt x="3" y="1"/>
                      </a:lnTo>
                      <a:lnTo>
                        <a:pt x="2" y="3"/>
                      </a:lnTo>
                      <a:lnTo>
                        <a:pt x="0" y="4"/>
                      </a:lnTo>
                      <a:lnTo>
                        <a:pt x="0" y="5"/>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30" name="任意多边形 1378"/>
                <p:cNvSpPr>
                  <a:spLocks/>
                </p:cNvSpPr>
                <p:nvPr/>
              </p:nvSpPr>
              <p:spPr bwMode="auto">
                <a:xfrm>
                  <a:off x="425" y="2809"/>
                  <a:ext cx="9" cy="44"/>
                </a:xfrm>
                <a:custGeom>
                  <a:avLst/>
                  <a:gdLst>
                    <a:gd name="T0" fmla="*/ 0 w 9"/>
                    <a:gd name="T1" fmla="*/ 41 h 44"/>
                    <a:gd name="T2" fmla="*/ 2 w 9"/>
                    <a:gd name="T3" fmla="*/ 41 h 44"/>
                    <a:gd name="T4" fmla="*/ 3 w 9"/>
                    <a:gd name="T5" fmla="*/ 43 h 44"/>
                    <a:gd name="T6" fmla="*/ 5 w 9"/>
                    <a:gd name="T7" fmla="*/ 44 h 44"/>
                    <a:gd name="T8" fmla="*/ 5 w 9"/>
                    <a:gd name="T9" fmla="*/ 44 h 44"/>
                    <a:gd name="T10" fmla="*/ 6 w 9"/>
                    <a:gd name="T11" fmla="*/ 43 h 44"/>
                    <a:gd name="T12" fmla="*/ 8 w 9"/>
                    <a:gd name="T13" fmla="*/ 41 h 44"/>
                    <a:gd name="T14" fmla="*/ 9 w 9"/>
                    <a:gd name="T15" fmla="*/ 40 h 44"/>
                    <a:gd name="T16" fmla="*/ 9 w 9"/>
                    <a:gd name="T17" fmla="*/ 40 h 44"/>
                    <a:gd name="T18" fmla="*/ 9 w 9"/>
                    <a:gd name="T19" fmla="*/ 5 h 44"/>
                    <a:gd name="T20" fmla="*/ 8 w 9"/>
                    <a:gd name="T21" fmla="*/ 3 h 44"/>
                    <a:gd name="T22" fmla="*/ 6 w 9"/>
                    <a:gd name="T23" fmla="*/ 2 h 44"/>
                    <a:gd name="T24" fmla="*/ 5 w 9"/>
                    <a:gd name="T25" fmla="*/ 0 h 44"/>
                    <a:gd name="T26" fmla="*/ 5 w 9"/>
                    <a:gd name="T27" fmla="*/ 0 h 44"/>
                    <a:gd name="T28" fmla="*/ 3 w 9"/>
                    <a:gd name="T29" fmla="*/ 2 h 44"/>
                    <a:gd name="T30" fmla="*/ 2 w 9"/>
                    <a:gd name="T31" fmla="*/ 3 h 44"/>
                    <a:gd name="T32" fmla="*/ 0 w 9"/>
                    <a:gd name="T33" fmla="*/ 5 h 44"/>
                    <a:gd name="T34" fmla="*/ 0 w 9"/>
                    <a:gd name="T35" fmla="*/ 6 h 44"/>
                    <a:gd name="T36" fmla="*/ 0 w 9"/>
                    <a:gd name="T3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4">
                      <a:moveTo>
                        <a:pt x="0" y="41"/>
                      </a:moveTo>
                      <a:lnTo>
                        <a:pt x="2" y="41"/>
                      </a:lnTo>
                      <a:lnTo>
                        <a:pt x="3" y="43"/>
                      </a:lnTo>
                      <a:lnTo>
                        <a:pt x="5" y="44"/>
                      </a:lnTo>
                      <a:lnTo>
                        <a:pt x="6" y="43"/>
                      </a:lnTo>
                      <a:lnTo>
                        <a:pt x="8" y="41"/>
                      </a:lnTo>
                      <a:lnTo>
                        <a:pt x="9" y="40"/>
                      </a:lnTo>
                      <a:lnTo>
                        <a:pt x="9" y="5"/>
                      </a:lnTo>
                      <a:lnTo>
                        <a:pt x="8" y="3"/>
                      </a:lnTo>
                      <a:lnTo>
                        <a:pt x="6" y="2"/>
                      </a:lnTo>
                      <a:lnTo>
                        <a:pt x="5" y="0"/>
                      </a:lnTo>
                      <a:lnTo>
                        <a:pt x="3" y="2"/>
                      </a:lnTo>
                      <a:lnTo>
                        <a:pt x="2" y="3"/>
                      </a:lnTo>
                      <a:lnTo>
                        <a:pt x="0" y="5"/>
                      </a:lnTo>
                      <a:lnTo>
                        <a:pt x="0" y="6"/>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grpSp>
          <p:sp>
            <p:nvSpPr>
              <p:cNvPr id="86" name="任意多边形 1379"/>
              <p:cNvSpPr>
                <a:spLocks/>
              </p:cNvSpPr>
              <p:nvPr/>
            </p:nvSpPr>
            <p:spPr bwMode="auto">
              <a:xfrm>
                <a:off x="2545" y="8189"/>
                <a:ext cx="63" cy="205"/>
              </a:xfrm>
              <a:custGeom>
                <a:avLst/>
                <a:gdLst>
                  <a:gd name="T0" fmla="*/ 12 w 25"/>
                  <a:gd name="T1" fmla="*/ 82 h 82"/>
                  <a:gd name="T2" fmla="*/ 0 w 25"/>
                  <a:gd name="T3" fmla="*/ 0 h 82"/>
                  <a:gd name="T4" fmla="*/ 25 w 25"/>
                  <a:gd name="T5" fmla="*/ 0 h 82"/>
                  <a:gd name="T6" fmla="*/ 12 w 25"/>
                  <a:gd name="T7" fmla="*/ 82 h 82"/>
                </a:gdLst>
                <a:ahLst/>
                <a:cxnLst>
                  <a:cxn ang="0">
                    <a:pos x="T0" y="T1"/>
                  </a:cxn>
                  <a:cxn ang="0">
                    <a:pos x="T2" y="T3"/>
                  </a:cxn>
                  <a:cxn ang="0">
                    <a:pos x="T4" y="T5"/>
                  </a:cxn>
                  <a:cxn ang="0">
                    <a:pos x="T6" y="T7"/>
                  </a:cxn>
                </a:cxnLst>
                <a:rect l="0" t="0" r="r" b="b"/>
                <a:pathLst>
                  <a:path w="25" h="82">
                    <a:moveTo>
                      <a:pt x="12" y="82"/>
                    </a:moveTo>
                    <a:lnTo>
                      <a:pt x="0" y="0"/>
                    </a:lnTo>
                    <a:lnTo>
                      <a:pt x="25" y="0"/>
                    </a:lnTo>
                    <a:lnTo>
                      <a:pt x="12" y="8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grpSp>
            <p:nvGrpSpPr>
              <p:cNvPr id="87" name="组合 1380"/>
              <p:cNvGrpSpPr>
                <a:grpSpLocks/>
              </p:cNvGrpSpPr>
              <p:nvPr/>
            </p:nvGrpSpPr>
            <p:grpSpPr bwMode="auto">
              <a:xfrm>
                <a:off x="2588" y="8029"/>
                <a:ext cx="4090" cy="23"/>
                <a:chOff x="435" y="2811"/>
                <a:chExt cx="1636" cy="9"/>
              </a:xfrm>
            </p:grpSpPr>
            <p:sp>
              <p:nvSpPr>
                <p:cNvPr id="102" name="任意多边形 1381"/>
                <p:cNvSpPr>
                  <a:spLocks/>
                </p:cNvSpPr>
                <p:nvPr/>
              </p:nvSpPr>
              <p:spPr bwMode="auto">
                <a:xfrm>
                  <a:off x="435" y="2811"/>
                  <a:ext cx="44" cy="9"/>
                </a:xfrm>
                <a:custGeom>
                  <a:avLst/>
                  <a:gdLst>
                    <a:gd name="T0" fmla="*/ 6 w 44"/>
                    <a:gd name="T1" fmla="*/ 0 h 9"/>
                    <a:gd name="T2" fmla="*/ 5 w 44"/>
                    <a:gd name="T3" fmla="*/ 0 h 9"/>
                    <a:gd name="T4" fmla="*/ 3 w 44"/>
                    <a:gd name="T5" fmla="*/ 1 h 9"/>
                    <a:gd name="T6" fmla="*/ 2 w 44"/>
                    <a:gd name="T7" fmla="*/ 3 h 9"/>
                    <a:gd name="T8" fmla="*/ 0 w 44"/>
                    <a:gd name="T9" fmla="*/ 4 h 9"/>
                    <a:gd name="T10" fmla="*/ 0 w 44"/>
                    <a:gd name="T11" fmla="*/ 4 h 9"/>
                    <a:gd name="T12" fmla="*/ 2 w 44"/>
                    <a:gd name="T13" fmla="*/ 6 h 9"/>
                    <a:gd name="T14" fmla="*/ 3 w 44"/>
                    <a:gd name="T15" fmla="*/ 7 h 9"/>
                    <a:gd name="T16" fmla="*/ 5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6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6" y="0"/>
                      </a:moveTo>
                      <a:lnTo>
                        <a:pt x="5" y="0"/>
                      </a:lnTo>
                      <a:lnTo>
                        <a:pt x="3" y="1"/>
                      </a:lnTo>
                      <a:lnTo>
                        <a:pt x="2" y="3"/>
                      </a:lnTo>
                      <a:lnTo>
                        <a:pt x="0" y="4"/>
                      </a:lnTo>
                      <a:lnTo>
                        <a:pt x="2" y="6"/>
                      </a:lnTo>
                      <a:lnTo>
                        <a:pt x="3" y="7"/>
                      </a:lnTo>
                      <a:lnTo>
                        <a:pt x="5" y="9"/>
                      </a:lnTo>
                      <a:lnTo>
                        <a:pt x="38" y="9"/>
                      </a:lnTo>
                      <a:lnTo>
                        <a:pt x="40" y="9"/>
                      </a:lnTo>
                      <a:lnTo>
                        <a:pt x="41" y="9"/>
                      </a:lnTo>
                      <a:lnTo>
                        <a:pt x="43" y="7"/>
                      </a:lnTo>
                      <a:lnTo>
                        <a:pt x="44" y="6"/>
                      </a:lnTo>
                      <a:lnTo>
                        <a:pt x="44" y="4"/>
                      </a:lnTo>
                      <a:lnTo>
                        <a:pt x="43" y="3"/>
                      </a:lnTo>
                      <a:lnTo>
                        <a:pt x="41" y="1"/>
                      </a:lnTo>
                      <a:lnTo>
                        <a:pt x="4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3" name="任意多边形 1382"/>
                <p:cNvSpPr>
                  <a:spLocks/>
                </p:cNvSpPr>
                <p:nvPr/>
              </p:nvSpPr>
              <p:spPr bwMode="auto">
                <a:xfrm>
                  <a:off x="497"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4" name="任意多边形 1383"/>
                <p:cNvSpPr>
                  <a:spLocks/>
                </p:cNvSpPr>
                <p:nvPr/>
              </p:nvSpPr>
              <p:spPr bwMode="auto">
                <a:xfrm>
                  <a:off x="558"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5" name="任意多边形 1722"/>
                <p:cNvSpPr>
                  <a:spLocks/>
                </p:cNvSpPr>
                <p:nvPr/>
              </p:nvSpPr>
              <p:spPr bwMode="auto">
                <a:xfrm>
                  <a:off x="619"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6" name="任意多边形 1723"/>
                <p:cNvSpPr>
                  <a:spLocks/>
                </p:cNvSpPr>
                <p:nvPr/>
              </p:nvSpPr>
              <p:spPr bwMode="auto">
                <a:xfrm>
                  <a:off x="680"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7" name="任意多边形 1724"/>
                <p:cNvSpPr>
                  <a:spLocks/>
                </p:cNvSpPr>
                <p:nvPr/>
              </p:nvSpPr>
              <p:spPr bwMode="auto">
                <a:xfrm>
                  <a:off x="742" y="2811"/>
                  <a:ext cx="43" cy="9"/>
                </a:xfrm>
                <a:custGeom>
                  <a:avLst/>
                  <a:gdLst>
                    <a:gd name="T0" fmla="*/ 4 w 43"/>
                    <a:gd name="T1" fmla="*/ 0 h 9"/>
                    <a:gd name="T2" fmla="*/ 2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2 w 43"/>
                    <a:gd name="T17" fmla="*/ 9 h 9"/>
                    <a:gd name="T18" fmla="*/ 37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2" y="0"/>
                      </a:lnTo>
                      <a:lnTo>
                        <a:pt x="1" y="1"/>
                      </a:lnTo>
                      <a:lnTo>
                        <a:pt x="0" y="3"/>
                      </a:lnTo>
                      <a:lnTo>
                        <a:pt x="0" y="4"/>
                      </a:lnTo>
                      <a:lnTo>
                        <a:pt x="0" y="6"/>
                      </a:lnTo>
                      <a:lnTo>
                        <a:pt x="0" y="7"/>
                      </a:lnTo>
                      <a:lnTo>
                        <a:pt x="1" y="9"/>
                      </a:lnTo>
                      <a:lnTo>
                        <a:pt x="2" y="9"/>
                      </a:lnTo>
                      <a:lnTo>
                        <a:pt x="37"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8" name="任意多边形 1725"/>
                <p:cNvSpPr>
                  <a:spLocks/>
                </p:cNvSpPr>
                <p:nvPr/>
              </p:nvSpPr>
              <p:spPr bwMode="auto">
                <a:xfrm>
                  <a:off x="803"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9" name="任意多边形 1726"/>
                <p:cNvSpPr>
                  <a:spLocks/>
                </p:cNvSpPr>
                <p:nvPr/>
              </p:nvSpPr>
              <p:spPr bwMode="auto">
                <a:xfrm>
                  <a:off x="864"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0" name="任意多边形 1727"/>
                <p:cNvSpPr>
                  <a:spLocks/>
                </p:cNvSpPr>
                <p:nvPr/>
              </p:nvSpPr>
              <p:spPr bwMode="auto">
                <a:xfrm>
                  <a:off x="925"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1" name="任意多边形 1728"/>
                <p:cNvSpPr>
                  <a:spLocks/>
                </p:cNvSpPr>
                <p:nvPr/>
              </p:nvSpPr>
              <p:spPr bwMode="auto">
                <a:xfrm>
                  <a:off x="986"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2" name="任意多边形 1729"/>
                <p:cNvSpPr>
                  <a:spLocks/>
                </p:cNvSpPr>
                <p:nvPr/>
              </p:nvSpPr>
              <p:spPr bwMode="auto">
                <a:xfrm>
                  <a:off x="1048"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1 w 43"/>
                    <a:gd name="T23" fmla="*/ 9 h 9"/>
                    <a:gd name="T24" fmla="*/ 42 w 43"/>
                    <a:gd name="T25" fmla="*/ 7 h 9"/>
                    <a:gd name="T26" fmla="*/ 43 w 43"/>
                    <a:gd name="T27" fmla="*/ 6 h 9"/>
                    <a:gd name="T28" fmla="*/ 43 w 43"/>
                    <a:gd name="T29" fmla="*/ 4 h 9"/>
                    <a:gd name="T30" fmla="*/ 42 w 43"/>
                    <a:gd name="T31" fmla="*/ 3 h 9"/>
                    <a:gd name="T32" fmla="*/ 41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3" y="6"/>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3" name="任意多边形 1730"/>
                <p:cNvSpPr>
                  <a:spLocks/>
                </p:cNvSpPr>
                <p:nvPr/>
              </p:nvSpPr>
              <p:spPr bwMode="auto">
                <a:xfrm>
                  <a:off x="1109"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4" name="任意多边形 1731"/>
                <p:cNvSpPr>
                  <a:spLocks/>
                </p:cNvSpPr>
                <p:nvPr/>
              </p:nvSpPr>
              <p:spPr bwMode="auto">
                <a:xfrm>
                  <a:off x="1170"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2" y="7"/>
                      </a:lnTo>
                      <a:lnTo>
                        <a:pt x="44" y="6"/>
                      </a:lnTo>
                      <a:lnTo>
                        <a:pt x="44" y="4"/>
                      </a:lnTo>
                      <a:lnTo>
                        <a:pt x="42"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5" name="任意多边形 1732"/>
                <p:cNvSpPr>
                  <a:spLocks/>
                </p:cNvSpPr>
                <p:nvPr/>
              </p:nvSpPr>
              <p:spPr bwMode="auto">
                <a:xfrm>
                  <a:off x="1231"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6" name="任意多边形 1733"/>
                <p:cNvSpPr>
                  <a:spLocks/>
                </p:cNvSpPr>
                <p:nvPr/>
              </p:nvSpPr>
              <p:spPr bwMode="auto">
                <a:xfrm>
                  <a:off x="1293"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7" name="任意多边形 1734"/>
                <p:cNvSpPr>
                  <a:spLocks/>
                </p:cNvSpPr>
                <p:nvPr/>
              </p:nvSpPr>
              <p:spPr bwMode="auto">
                <a:xfrm>
                  <a:off x="1354"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8" name="任意多边形 1735"/>
                <p:cNvSpPr>
                  <a:spLocks/>
                </p:cNvSpPr>
                <p:nvPr/>
              </p:nvSpPr>
              <p:spPr bwMode="auto">
                <a:xfrm>
                  <a:off x="1415" y="2811"/>
                  <a:ext cx="44" cy="9"/>
                </a:xfrm>
                <a:custGeom>
                  <a:avLst/>
                  <a:gdLst>
                    <a:gd name="T0" fmla="*/ 4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19" name="任意多边形 1736"/>
                <p:cNvSpPr>
                  <a:spLocks/>
                </p:cNvSpPr>
                <p:nvPr/>
              </p:nvSpPr>
              <p:spPr bwMode="auto">
                <a:xfrm>
                  <a:off x="1476"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0" name="任意多边形 1737"/>
                <p:cNvSpPr>
                  <a:spLocks/>
                </p:cNvSpPr>
                <p:nvPr/>
              </p:nvSpPr>
              <p:spPr bwMode="auto">
                <a:xfrm>
                  <a:off x="1538" y="2811"/>
                  <a:ext cx="43" cy="9"/>
                </a:xfrm>
                <a:custGeom>
                  <a:avLst/>
                  <a:gdLst>
                    <a:gd name="T0" fmla="*/ 4 w 43"/>
                    <a:gd name="T1" fmla="*/ 0 h 9"/>
                    <a:gd name="T2" fmla="*/ 2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2 w 43"/>
                    <a:gd name="T17" fmla="*/ 9 h 9"/>
                    <a:gd name="T18" fmla="*/ 37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2" y="0"/>
                      </a:lnTo>
                      <a:lnTo>
                        <a:pt x="1" y="1"/>
                      </a:lnTo>
                      <a:lnTo>
                        <a:pt x="0" y="3"/>
                      </a:lnTo>
                      <a:lnTo>
                        <a:pt x="0" y="4"/>
                      </a:lnTo>
                      <a:lnTo>
                        <a:pt x="0" y="6"/>
                      </a:lnTo>
                      <a:lnTo>
                        <a:pt x="0" y="7"/>
                      </a:lnTo>
                      <a:lnTo>
                        <a:pt x="1" y="9"/>
                      </a:lnTo>
                      <a:lnTo>
                        <a:pt x="2" y="9"/>
                      </a:lnTo>
                      <a:lnTo>
                        <a:pt x="37"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1" name="任意多边形 1738"/>
                <p:cNvSpPr>
                  <a:spLocks/>
                </p:cNvSpPr>
                <p:nvPr/>
              </p:nvSpPr>
              <p:spPr bwMode="auto">
                <a:xfrm>
                  <a:off x="1599"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1 w 43"/>
                    <a:gd name="T23" fmla="*/ 9 h 9"/>
                    <a:gd name="T24" fmla="*/ 42 w 43"/>
                    <a:gd name="T25" fmla="*/ 7 h 9"/>
                    <a:gd name="T26" fmla="*/ 43 w 43"/>
                    <a:gd name="T27" fmla="*/ 6 h 9"/>
                    <a:gd name="T28" fmla="*/ 43 w 43"/>
                    <a:gd name="T29" fmla="*/ 4 h 9"/>
                    <a:gd name="T30" fmla="*/ 42 w 43"/>
                    <a:gd name="T31" fmla="*/ 3 h 9"/>
                    <a:gd name="T32" fmla="*/ 41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3" y="6"/>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2" name="任意多边形 1739"/>
                <p:cNvSpPr>
                  <a:spLocks/>
                </p:cNvSpPr>
                <p:nvPr/>
              </p:nvSpPr>
              <p:spPr bwMode="auto">
                <a:xfrm>
                  <a:off x="1660"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3" name="任意多边形 1740"/>
                <p:cNvSpPr>
                  <a:spLocks/>
                </p:cNvSpPr>
                <p:nvPr/>
              </p:nvSpPr>
              <p:spPr bwMode="auto">
                <a:xfrm>
                  <a:off x="1721"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2" y="7"/>
                      </a:lnTo>
                      <a:lnTo>
                        <a:pt x="44" y="6"/>
                      </a:lnTo>
                      <a:lnTo>
                        <a:pt x="44" y="4"/>
                      </a:lnTo>
                      <a:lnTo>
                        <a:pt x="42"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4" name="任意多边形 1741"/>
                <p:cNvSpPr>
                  <a:spLocks/>
                </p:cNvSpPr>
                <p:nvPr/>
              </p:nvSpPr>
              <p:spPr bwMode="auto">
                <a:xfrm>
                  <a:off x="1782"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5" name="任意多边形 1742"/>
                <p:cNvSpPr>
                  <a:spLocks/>
                </p:cNvSpPr>
                <p:nvPr/>
              </p:nvSpPr>
              <p:spPr bwMode="auto">
                <a:xfrm>
                  <a:off x="1844"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6" name="任意多边形 1743"/>
                <p:cNvSpPr>
                  <a:spLocks/>
                </p:cNvSpPr>
                <p:nvPr/>
              </p:nvSpPr>
              <p:spPr bwMode="auto">
                <a:xfrm>
                  <a:off x="1905"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7" name="任意多边形 1744"/>
                <p:cNvSpPr>
                  <a:spLocks/>
                </p:cNvSpPr>
                <p:nvPr/>
              </p:nvSpPr>
              <p:spPr bwMode="auto">
                <a:xfrm>
                  <a:off x="1966" y="2811"/>
                  <a:ext cx="44" cy="9"/>
                </a:xfrm>
                <a:custGeom>
                  <a:avLst/>
                  <a:gdLst>
                    <a:gd name="T0" fmla="*/ 4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28" name="任意多边形 1745"/>
                <p:cNvSpPr>
                  <a:spLocks/>
                </p:cNvSpPr>
                <p:nvPr/>
              </p:nvSpPr>
              <p:spPr bwMode="auto">
                <a:xfrm>
                  <a:off x="2027"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grpSp>
          <p:grpSp>
            <p:nvGrpSpPr>
              <p:cNvPr id="88" name="组合 1746"/>
              <p:cNvGrpSpPr>
                <a:grpSpLocks/>
              </p:cNvGrpSpPr>
              <p:nvPr/>
            </p:nvGrpSpPr>
            <p:grpSpPr bwMode="auto">
              <a:xfrm>
                <a:off x="6678" y="8029"/>
                <a:ext cx="25" cy="390"/>
                <a:chOff x="2071" y="2811"/>
                <a:chExt cx="10" cy="156"/>
              </a:xfrm>
            </p:grpSpPr>
            <p:sp>
              <p:nvSpPr>
                <p:cNvPr id="99" name="任意多边形 1747"/>
                <p:cNvSpPr>
                  <a:spLocks/>
                </p:cNvSpPr>
                <p:nvPr/>
              </p:nvSpPr>
              <p:spPr bwMode="auto">
                <a:xfrm>
                  <a:off x="2071" y="2923"/>
                  <a:ext cx="9" cy="44"/>
                </a:xfrm>
                <a:custGeom>
                  <a:avLst/>
                  <a:gdLst>
                    <a:gd name="T0" fmla="*/ 0 w 9"/>
                    <a:gd name="T1" fmla="*/ 39 h 44"/>
                    <a:gd name="T2" fmla="*/ 0 w 9"/>
                    <a:gd name="T3" fmla="*/ 39 h 44"/>
                    <a:gd name="T4" fmla="*/ 2 w 9"/>
                    <a:gd name="T5" fmla="*/ 41 h 44"/>
                    <a:gd name="T6" fmla="*/ 3 w 9"/>
                    <a:gd name="T7" fmla="*/ 42 h 44"/>
                    <a:gd name="T8" fmla="*/ 4 w 9"/>
                    <a:gd name="T9" fmla="*/ 44 h 44"/>
                    <a:gd name="T10" fmla="*/ 4 w 9"/>
                    <a:gd name="T11" fmla="*/ 44 h 44"/>
                    <a:gd name="T12" fmla="*/ 6 w 9"/>
                    <a:gd name="T13" fmla="*/ 42 h 44"/>
                    <a:gd name="T14" fmla="*/ 7 w 9"/>
                    <a:gd name="T15" fmla="*/ 41 h 44"/>
                    <a:gd name="T16" fmla="*/ 9 w 9"/>
                    <a:gd name="T17" fmla="*/ 41 h 44"/>
                    <a:gd name="T18" fmla="*/ 9 w 9"/>
                    <a:gd name="T19" fmla="*/ 6 h 44"/>
                    <a:gd name="T20" fmla="*/ 9 w 9"/>
                    <a:gd name="T21" fmla="*/ 4 h 44"/>
                    <a:gd name="T22" fmla="*/ 9 w 9"/>
                    <a:gd name="T23" fmla="*/ 3 h 44"/>
                    <a:gd name="T24" fmla="*/ 7 w 9"/>
                    <a:gd name="T25" fmla="*/ 2 h 44"/>
                    <a:gd name="T26" fmla="*/ 6 w 9"/>
                    <a:gd name="T27" fmla="*/ 0 h 44"/>
                    <a:gd name="T28" fmla="*/ 4 w 9"/>
                    <a:gd name="T29" fmla="*/ 0 h 44"/>
                    <a:gd name="T30" fmla="*/ 3 w 9"/>
                    <a:gd name="T31" fmla="*/ 2 h 44"/>
                    <a:gd name="T32" fmla="*/ 2 w 9"/>
                    <a:gd name="T33" fmla="*/ 3 h 44"/>
                    <a:gd name="T34" fmla="*/ 0 w 9"/>
                    <a:gd name="T35" fmla="*/ 4 h 44"/>
                    <a:gd name="T36" fmla="*/ 0 w 9"/>
                    <a:gd name="T37"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4">
                      <a:moveTo>
                        <a:pt x="0" y="39"/>
                      </a:moveTo>
                      <a:lnTo>
                        <a:pt x="0" y="39"/>
                      </a:lnTo>
                      <a:lnTo>
                        <a:pt x="2" y="41"/>
                      </a:lnTo>
                      <a:lnTo>
                        <a:pt x="3" y="42"/>
                      </a:lnTo>
                      <a:lnTo>
                        <a:pt x="4" y="44"/>
                      </a:lnTo>
                      <a:lnTo>
                        <a:pt x="6" y="42"/>
                      </a:lnTo>
                      <a:lnTo>
                        <a:pt x="7" y="41"/>
                      </a:lnTo>
                      <a:lnTo>
                        <a:pt x="9" y="41"/>
                      </a:lnTo>
                      <a:lnTo>
                        <a:pt x="9" y="6"/>
                      </a:lnTo>
                      <a:lnTo>
                        <a:pt x="9" y="4"/>
                      </a:lnTo>
                      <a:lnTo>
                        <a:pt x="9" y="3"/>
                      </a:lnTo>
                      <a:lnTo>
                        <a:pt x="7" y="2"/>
                      </a:lnTo>
                      <a:lnTo>
                        <a:pt x="6" y="0"/>
                      </a:lnTo>
                      <a:lnTo>
                        <a:pt x="4" y="0"/>
                      </a:lnTo>
                      <a:lnTo>
                        <a:pt x="3" y="2"/>
                      </a:lnTo>
                      <a:lnTo>
                        <a:pt x="2" y="3"/>
                      </a:lnTo>
                      <a:lnTo>
                        <a:pt x="0" y="4"/>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0" name="任意多边形 1748"/>
                <p:cNvSpPr>
                  <a:spLocks/>
                </p:cNvSpPr>
                <p:nvPr/>
              </p:nvSpPr>
              <p:spPr bwMode="auto">
                <a:xfrm>
                  <a:off x="2071" y="2862"/>
                  <a:ext cx="10" cy="44"/>
                </a:xfrm>
                <a:custGeom>
                  <a:avLst/>
                  <a:gdLst>
                    <a:gd name="T0" fmla="*/ 0 w 10"/>
                    <a:gd name="T1" fmla="*/ 39 h 44"/>
                    <a:gd name="T2" fmla="*/ 0 w 10"/>
                    <a:gd name="T3" fmla="*/ 41 h 44"/>
                    <a:gd name="T4" fmla="*/ 2 w 10"/>
                    <a:gd name="T5" fmla="*/ 42 h 44"/>
                    <a:gd name="T6" fmla="*/ 3 w 10"/>
                    <a:gd name="T7" fmla="*/ 44 h 44"/>
                    <a:gd name="T8" fmla="*/ 4 w 10"/>
                    <a:gd name="T9" fmla="*/ 44 h 44"/>
                    <a:gd name="T10" fmla="*/ 6 w 10"/>
                    <a:gd name="T11" fmla="*/ 44 h 44"/>
                    <a:gd name="T12" fmla="*/ 7 w 10"/>
                    <a:gd name="T13" fmla="*/ 44 h 44"/>
                    <a:gd name="T14" fmla="*/ 9 w 10"/>
                    <a:gd name="T15" fmla="*/ 42 h 44"/>
                    <a:gd name="T16" fmla="*/ 9 w 10"/>
                    <a:gd name="T17" fmla="*/ 41 h 44"/>
                    <a:gd name="T18" fmla="*/ 10 w 10"/>
                    <a:gd name="T19" fmla="*/ 6 h 44"/>
                    <a:gd name="T20" fmla="*/ 10 w 10"/>
                    <a:gd name="T21" fmla="*/ 4 h 44"/>
                    <a:gd name="T22" fmla="*/ 9 w 10"/>
                    <a:gd name="T23" fmla="*/ 3 h 44"/>
                    <a:gd name="T24" fmla="*/ 7 w 10"/>
                    <a:gd name="T25" fmla="*/ 1 h 44"/>
                    <a:gd name="T26" fmla="*/ 6 w 10"/>
                    <a:gd name="T27" fmla="*/ 0 h 44"/>
                    <a:gd name="T28" fmla="*/ 4 w 10"/>
                    <a:gd name="T29" fmla="*/ 0 h 44"/>
                    <a:gd name="T30" fmla="*/ 3 w 10"/>
                    <a:gd name="T31" fmla="*/ 1 h 44"/>
                    <a:gd name="T32" fmla="*/ 2 w 10"/>
                    <a:gd name="T33" fmla="*/ 3 h 44"/>
                    <a:gd name="T34" fmla="*/ 2 w 10"/>
                    <a:gd name="T35" fmla="*/ 4 h 44"/>
                    <a:gd name="T36" fmla="*/ 0 w 10"/>
                    <a:gd name="T37"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4">
                      <a:moveTo>
                        <a:pt x="0" y="39"/>
                      </a:moveTo>
                      <a:lnTo>
                        <a:pt x="0" y="41"/>
                      </a:lnTo>
                      <a:lnTo>
                        <a:pt x="2" y="42"/>
                      </a:lnTo>
                      <a:lnTo>
                        <a:pt x="3" y="44"/>
                      </a:lnTo>
                      <a:lnTo>
                        <a:pt x="4" y="44"/>
                      </a:lnTo>
                      <a:lnTo>
                        <a:pt x="6" y="44"/>
                      </a:lnTo>
                      <a:lnTo>
                        <a:pt x="7" y="44"/>
                      </a:lnTo>
                      <a:lnTo>
                        <a:pt x="9" y="42"/>
                      </a:lnTo>
                      <a:lnTo>
                        <a:pt x="9" y="41"/>
                      </a:lnTo>
                      <a:lnTo>
                        <a:pt x="10" y="6"/>
                      </a:lnTo>
                      <a:lnTo>
                        <a:pt x="10" y="4"/>
                      </a:lnTo>
                      <a:lnTo>
                        <a:pt x="9" y="3"/>
                      </a:lnTo>
                      <a:lnTo>
                        <a:pt x="7" y="1"/>
                      </a:lnTo>
                      <a:lnTo>
                        <a:pt x="6" y="0"/>
                      </a:lnTo>
                      <a:lnTo>
                        <a:pt x="4" y="0"/>
                      </a:lnTo>
                      <a:lnTo>
                        <a:pt x="3" y="1"/>
                      </a:lnTo>
                      <a:lnTo>
                        <a:pt x="2" y="3"/>
                      </a:lnTo>
                      <a:lnTo>
                        <a:pt x="2" y="4"/>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101" name="任意多边形 1749"/>
                <p:cNvSpPr>
                  <a:spLocks/>
                </p:cNvSpPr>
                <p:nvPr/>
              </p:nvSpPr>
              <p:spPr bwMode="auto">
                <a:xfrm>
                  <a:off x="2073" y="2811"/>
                  <a:ext cx="8" cy="33"/>
                </a:xfrm>
                <a:custGeom>
                  <a:avLst/>
                  <a:gdLst>
                    <a:gd name="T0" fmla="*/ 0 w 8"/>
                    <a:gd name="T1" fmla="*/ 29 h 33"/>
                    <a:gd name="T2" fmla="*/ 0 w 8"/>
                    <a:gd name="T3" fmla="*/ 30 h 33"/>
                    <a:gd name="T4" fmla="*/ 0 w 8"/>
                    <a:gd name="T5" fmla="*/ 32 h 33"/>
                    <a:gd name="T6" fmla="*/ 1 w 8"/>
                    <a:gd name="T7" fmla="*/ 33 h 33"/>
                    <a:gd name="T8" fmla="*/ 2 w 8"/>
                    <a:gd name="T9" fmla="*/ 33 h 33"/>
                    <a:gd name="T10" fmla="*/ 4 w 8"/>
                    <a:gd name="T11" fmla="*/ 33 h 33"/>
                    <a:gd name="T12" fmla="*/ 5 w 8"/>
                    <a:gd name="T13" fmla="*/ 33 h 33"/>
                    <a:gd name="T14" fmla="*/ 7 w 8"/>
                    <a:gd name="T15" fmla="*/ 32 h 33"/>
                    <a:gd name="T16" fmla="*/ 8 w 8"/>
                    <a:gd name="T17" fmla="*/ 30 h 33"/>
                    <a:gd name="T18" fmla="*/ 8 w 8"/>
                    <a:gd name="T19" fmla="*/ 6 h 33"/>
                    <a:gd name="T20" fmla="*/ 8 w 8"/>
                    <a:gd name="T21" fmla="*/ 4 h 33"/>
                    <a:gd name="T22" fmla="*/ 7 w 8"/>
                    <a:gd name="T23" fmla="*/ 3 h 33"/>
                    <a:gd name="T24" fmla="*/ 5 w 8"/>
                    <a:gd name="T25" fmla="*/ 1 h 33"/>
                    <a:gd name="T26" fmla="*/ 4 w 8"/>
                    <a:gd name="T27" fmla="*/ 0 h 33"/>
                    <a:gd name="T28" fmla="*/ 4 w 8"/>
                    <a:gd name="T29" fmla="*/ 0 h 33"/>
                    <a:gd name="T30" fmla="*/ 2 w 8"/>
                    <a:gd name="T31" fmla="*/ 1 h 33"/>
                    <a:gd name="T32" fmla="*/ 1 w 8"/>
                    <a:gd name="T33" fmla="*/ 3 h 33"/>
                    <a:gd name="T34" fmla="*/ 0 w 8"/>
                    <a:gd name="T35" fmla="*/ 4 h 33"/>
                    <a:gd name="T36" fmla="*/ 0 w 8"/>
                    <a:gd name="T37" fmla="*/ 2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 h="33">
                      <a:moveTo>
                        <a:pt x="0" y="29"/>
                      </a:moveTo>
                      <a:lnTo>
                        <a:pt x="0" y="30"/>
                      </a:lnTo>
                      <a:lnTo>
                        <a:pt x="0" y="32"/>
                      </a:lnTo>
                      <a:lnTo>
                        <a:pt x="1" y="33"/>
                      </a:lnTo>
                      <a:lnTo>
                        <a:pt x="2" y="33"/>
                      </a:lnTo>
                      <a:lnTo>
                        <a:pt x="4" y="33"/>
                      </a:lnTo>
                      <a:lnTo>
                        <a:pt x="5" y="33"/>
                      </a:lnTo>
                      <a:lnTo>
                        <a:pt x="7" y="32"/>
                      </a:lnTo>
                      <a:lnTo>
                        <a:pt x="8" y="30"/>
                      </a:lnTo>
                      <a:lnTo>
                        <a:pt x="8" y="6"/>
                      </a:lnTo>
                      <a:lnTo>
                        <a:pt x="8" y="4"/>
                      </a:lnTo>
                      <a:lnTo>
                        <a:pt x="7" y="3"/>
                      </a:lnTo>
                      <a:lnTo>
                        <a:pt x="5" y="1"/>
                      </a:lnTo>
                      <a:lnTo>
                        <a:pt x="4" y="0"/>
                      </a:lnTo>
                      <a:lnTo>
                        <a:pt x="2" y="1"/>
                      </a:lnTo>
                      <a:lnTo>
                        <a:pt x="1" y="3"/>
                      </a:lnTo>
                      <a:lnTo>
                        <a:pt x="0" y="4"/>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grpSp>
          <p:sp>
            <p:nvSpPr>
              <p:cNvPr id="89" name="矩形 1750"/>
              <p:cNvSpPr>
                <a:spLocks noChangeArrowheads="1"/>
              </p:cNvSpPr>
              <p:nvPr/>
            </p:nvSpPr>
            <p:spPr bwMode="auto">
              <a:xfrm>
                <a:off x="5810" y="7722"/>
                <a:ext cx="80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90" name="矩形 1751"/>
              <p:cNvSpPr>
                <a:spLocks noChangeArrowheads="1"/>
              </p:cNvSpPr>
              <p:nvPr/>
            </p:nvSpPr>
            <p:spPr bwMode="auto">
              <a:xfrm>
                <a:off x="5978" y="77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b="1" i="0" u="none" strike="noStrike" cap="none" normalizeH="0" baseline="0">
                  <a:ln>
                    <a:noFill/>
                  </a:ln>
                  <a:solidFill>
                    <a:schemeClr val="tx1"/>
                  </a:solidFill>
                  <a:effectLst/>
                  <a:latin typeface="Arial" panose="020B0604020202020204" pitchFamily="34" charset="0"/>
                </a:endParaRPr>
              </a:p>
            </p:txBody>
          </p:sp>
          <p:grpSp>
            <p:nvGrpSpPr>
              <p:cNvPr id="91" name="组合 1752"/>
              <p:cNvGrpSpPr>
                <a:grpSpLocks/>
              </p:cNvGrpSpPr>
              <p:nvPr/>
            </p:nvGrpSpPr>
            <p:grpSpPr bwMode="auto">
              <a:xfrm>
                <a:off x="3793" y="7767"/>
                <a:ext cx="670" cy="645"/>
                <a:chOff x="917" y="2706"/>
                <a:chExt cx="268" cy="258"/>
              </a:xfrm>
            </p:grpSpPr>
            <p:sp>
              <p:nvSpPr>
                <p:cNvPr id="97" name="直线 1753"/>
                <p:cNvSpPr>
                  <a:spLocks noChangeShapeType="1"/>
                </p:cNvSpPr>
                <p:nvPr/>
              </p:nvSpPr>
              <p:spPr bwMode="auto">
                <a:xfrm flipH="1" flipV="1">
                  <a:off x="917" y="2706"/>
                  <a:ext cx="209" cy="2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b="1"/>
                </a:p>
              </p:txBody>
            </p:sp>
            <p:sp>
              <p:nvSpPr>
                <p:cNvPr id="98" name="任意多边形 1754"/>
                <p:cNvSpPr>
                  <a:spLocks/>
                </p:cNvSpPr>
                <p:nvPr/>
              </p:nvSpPr>
              <p:spPr bwMode="auto">
                <a:xfrm>
                  <a:off x="1118" y="2898"/>
                  <a:ext cx="67" cy="66"/>
                </a:xfrm>
                <a:custGeom>
                  <a:avLst/>
                  <a:gdLst>
                    <a:gd name="T0" fmla="*/ 67 w 67"/>
                    <a:gd name="T1" fmla="*/ 66 h 66"/>
                    <a:gd name="T2" fmla="*/ 0 w 67"/>
                    <a:gd name="T3" fmla="*/ 18 h 66"/>
                    <a:gd name="T4" fmla="*/ 16 w 67"/>
                    <a:gd name="T5" fmla="*/ 0 h 66"/>
                    <a:gd name="T6" fmla="*/ 67 w 67"/>
                    <a:gd name="T7" fmla="*/ 66 h 66"/>
                  </a:gdLst>
                  <a:ahLst/>
                  <a:cxnLst>
                    <a:cxn ang="0">
                      <a:pos x="T0" y="T1"/>
                    </a:cxn>
                    <a:cxn ang="0">
                      <a:pos x="T2" y="T3"/>
                    </a:cxn>
                    <a:cxn ang="0">
                      <a:pos x="T4" y="T5"/>
                    </a:cxn>
                    <a:cxn ang="0">
                      <a:pos x="T6" y="T7"/>
                    </a:cxn>
                  </a:cxnLst>
                  <a:rect l="0" t="0" r="r" b="b"/>
                  <a:pathLst>
                    <a:path w="67" h="66">
                      <a:moveTo>
                        <a:pt x="67" y="66"/>
                      </a:moveTo>
                      <a:lnTo>
                        <a:pt x="0" y="18"/>
                      </a:lnTo>
                      <a:lnTo>
                        <a:pt x="16" y="0"/>
                      </a:lnTo>
                      <a:lnTo>
                        <a:pt x="67" y="66"/>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b="1"/>
                </a:p>
              </p:txBody>
            </p:sp>
          </p:grpSp>
          <p:sp>
            <p:nvSpPr>
              <p:cNvPr id="92" name="矩形 1755"/>
              <p:cNvSpPr>
                <a:spLocks noChangeArrowheads="1"/>
              </p:cNvSpPr>
              <p:nvPr/>
            </p:nvSpPr>
            <p:spPr bwMode="auto">
              <a:xfrm>
                <a:off x="3913" y="7722"/>
                <a:ext cx="80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93" name="矩形 1756"/>
              <p:cNvSpPr>
                <a:spLocks noChangeArrowheads="1"/>
              </p:cNvSpPr>
              <p:nvPr/>
            </p:nvSpPr>
            <p:spPr bwMode="auto">
              <a:xfrm>
                <a:off x="4080" y="7757"/>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准许</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94" name="矩形 1757"/>
              <p:cNvSpPr>
                <a:spLocks noChangeArrowheads="1"/>
              </p:cNvSpPr>
              <p:nvPr/>
            </p:nvSpPr>
            <p:spPr bwMode="auto">
              <a:xfrm>
                <a:off x="2563" y="7722"/>
                <a:ext cx="80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b="1"/>
              </a:p>
            </p:txBody>
          </p:sp>
          <p:sp>
            <p:nvSpPr>
              <p:cNvPr id="95" name="矩形 1758"/>
              <p:cNvSpPr>
                <a:spLocks noChangeArrowheads="1"/>
              </p:cNvSpPr>
              <p:nvPr/>
            </p:nvSpPr>
            <p:spPr bwMode="auto">
              <a:xfrm>
                <a:off x="2728" y="77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准许</a:t>
                </a:r>
                <a:endParaRPr kumimoji="0" lang="zh-CN" altLang="zh-CN" b="1" i="0" u="none" strike="noStrike" cap="none" normalizeH="0" baseline="0">
                  <a:ln>
                    <a:noFill/>
                  </a:ln>
                  <a:solidFill>
                    <a:schemeClr val="tx1"/>
                  </a:solidFill>
                  <a:effectLst/>
                  <a:latin typeface="Arial" panose="020B0604020202020204" pitchFamily="34" charset="0"/>
                </a:endParaRPr>
              </a:p>
            </p:txBody>
          </p:sp>
          <p:sp>
            <p:nvSpPr>
              <p:cNvPr id="96" name="矩形 2144"/>
              <p:cNvSpPr>
                <a:spLocks noChangeArrowheads="1"/>
              </p:cNvSpPr>
              <p:nvPr/>
            </p:nvSpPr>
            <p:spPr bwMode="auto">
              <a:xfrm>
                <a:off x="3430" y="1037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b="1" i="0" u="none" strike="noStrike" cap="none" normalizeH="0" baseline="0" dirty="0">
                  <a:ln>
                    <a:noFill/>
                  </a:ln>
                  <a:solidFill>
                    <a:schemeClr val="tx1"/>
                  </a:solidFill>
                  <a:effectLst/>
                  <a:latin typeface="Arial" panose="020B0604020202020204" pitchFamily="34" charset="0"/>
                </a:endParaRPr>
              </a:p>
            </p:txBody>
          </p:sp>
        </p:grpSp>
      </p:grpSp>
    </p:spTree>
    <p:custDataLst>
      <p:tags r:id="rId1"/>
    </p:custDataLst>
    <p:extLst>
      <p:ext uri="{BB962C8B-B14F-4D97-AF65-F5344CB8AC3E}">
        <p14:creationId xmlns:p14="http://schemas.microsoft.com/office/powerpoint/2010/main" val="108875163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86FF1-D268-4EBF-BBFB-9F7CBAD6FD6E}"/>
              </a:ext>
            </a:extLst>
          </p:cNvPr>
          <p:cNvSpPr>
            <a:spLocks noGrp="1"/>
          </p:cNvSpPr>
          <p:nvPr>
            <p:ph type="title"/>
          </p:nvPr>
        </p:nvSpPr>
        <p:spPr>
          <a:xfrm>
            <a:off x="1076395" y="114370"/>
            <a:ext cx="5019605" cy="705600"/>
          </a:xfrm>
        </p:spPr>
        <p:txBody>
          <a:bodyPr/>
          <a:lstStyle/>
          <a:p>
            <a:r>
              <a:rPr lang="zh-CN" altLang="en-US" dirty="0"/>
              <a:t>问题？</a:t>
            </a:r>
          </a:p>
        </p:txBody>
      </p:sp>
      <p:sp>
        <p:nvSpPr>
          <p:cNvPr id="3" name="内容占位符 2">
            <a:extLst>
              <a:ext uri="{FF2B5EF4-FFF2-40B4-BE49-F238E27FC236}">
                <a16:creationId xmlns:a16="http://schemas.microsoft.com/office/drawing/2014/main" id="{42A79259-5B7A-463E-8011-1AD91C84060C}"/>
              </a:ext>
            </a:extLst>
          </p:cNvPr>
          <p:cNvSpPr>
            <a:spLocks noGrp="1"/>
          </p:cNvSpPr>
          <p:nvPr>
            <p:ph idx="1"/>
          </p:nvPr>
        </p:nvSpPr>
        <p:spPr>
          <a:xfrm>
            <a:off x="880473" y="1578430"/>
            <a:ext cx="9929041" cy="2514599"/>
          </a:xfrm>
        </p:spPr>
        <p:txBody>
          <a:bodyPr>
            <a:normAutofit/>
          </a:bodyPr>
          <a:lstStyle/>
          <a:p>
            <a:r>
              <a:rPr lang="zh-CN" altLang="en-US" sz="3200" dirty="0"/>
              <a:t>进程的就绪状态与阻塞（等待）状态的进程都没有在执行，这两个状态的区别是什么？</a:t>
            </a:r>
            <a:endParaRPr lang="en-US" altLang="zh-CN" sz="3200" dirty="0"/>
          </a:p>
          <a:p>
            <a:r>
              <a:rPr lang="zh-CN" altLang="en-US" sz="3200" dirty="0"/>
              <a:t>为什么没有就绪</a:t>
            </a:r>
            <a:r>
              <a:rPr lang="en-US" altLang="zh-CN" sz="3200" dirty="0">
                <a:sym typeface="Wingdings" panose="05000000000000000000" pitchFamily="2" charset="2"/>
              </a:rPr>
              <a:t></a:t>
            </a:r>
            <a:r>
              <a:rPr lang="zh-CN" altLang="en-US" sz="3200" dirty="0">
                <a:sym typeface="Wingdings" panose="05000000000000000000" pitchFamily="2" charset="2"/>
              </a:rPr>
              <a:t>阻塞、阻塞</a:t>
            </a:r>
            <a:r>
              <a:rPr lang="en-US" altLang="zh-CN" sz="3200" dirty="0">
                <a:sym typeface="Wingdings" panose="05000000000000000000" pitchFamily="2" charset="2"/>
              </a:rPr>
              <a:t></a:t>
            </a:r>
            <a:r>
              <a:rPr lang="zh-CN" altLang="en-US" sz="3200" dirty="0">
                <a:sym typeface="Wingdings" panose="05000000000000000000" pitchFamily="2" charset="2"/>
              </a:rPr>
              <a:t>执行 的转换？</a:t>
            </a:r>
            <a:endParaRPr lang="zh-CN" altLang="en-US" sz="3200" dirty="0"/>
          </a:p>
        </p:txBody>
      </p:sp>
    </p:spTree>
    <p:extLst>
      <p:ext uri="{BB962C8B-B14F-4D97-AF65-F5344CB8AC3E}">
        <p14:creationId xmlns:p14="http://schemas.microsoft.com/office/powerpoint/2010/main" val="316826557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50239A-9BDE-853A-EE96-88E57CAE3438}"/>
              </a:ext>
            </a:extLst>
          </p:cNvPr>
          <p:cNvSpPr>
            <a:spLocks noGrp="1"/>
          </p:cNvSpPr>
          <p:nvPr>
            <p:ph type="title"/>
          </p:nvPr>
        </p:nvSpPr>
        <p:spPr>
          <a:xfrm>
            <a:off x="1304995" y="255530"/>
            <a:ext cx="6619805" cy="705600"/>
          </a:xfrm>
        </p:spPr>
        <p:txBody>
          <a:bodyPr/>
          <a:lstStyle/>
          <a:p>
            <a:r>
              <a:rPr lang="en-US" altLang="zh-CN" dirty="0"/>
              <a:t>Linux</a:t>
            </a:r>
            <a:r>
              <a:rPr lang="zh-CN" altLang="en-US" dirty="0"/>
              <a:t>中进程常见的六种状态</a:t>
            </a:r>
          </a:p>
        </p:txBody>
      </p:sp>
      <p:sp>
        <p:nvSpPr>
          <p:cNvPr id="3" name="内容占位符 2">
            <a:extLst>
              <a:ext uri="{FF2B5EF4-FFF2-40B4-BE49-F238E27FC236}">
                <a16:creationId xmlns:a16="http://schemas.microsoft.com/office/drawing/2014/main" id="{B19065E7-3EA5-FDED-E279-CA8B58C656C8}"/>
              </a:ext>
            </a:extLst>
          </p:cNvPr>
          <p:cNvSpPr>
            <a:spLocks noGrp="1"/>
          </p:cNvSpPr>
          <p:nvPr>
            <p:ph idx="1"/>
          </p:nvPr>
        </p:nvSpPr>
        <p:spPr/>
        <p:txBody>
          <a:bodyPr>
            <a:normAutofit fontScale="85000" lnSpcReduction="20000"/>
          </a:bodyPr>
          <a:lstStyle/>
          <a:p>
            <a:r>
              <a:rPr lang="en-US" altLang="zh-CN" dirty="0"/>
              <a:t>R</a:t>
            </a:r>
            <a:r>
              <a:rPr lang="zh-CN" altLang="en-US" dirty="0"/>
              <a:t>运行状态（</a:t>
            </a:r>
            <a:r>
              <a:rPr lang="en-US" altLang="zh-CN" dirty="0"/>
              <a:t>running</a:t>
            </a:r>
            <a:r>
              <a:rPr lang="zh-CN" altLang="en-US" dirty="0"/>
              <a:t>）</a:t>
            </a:r>
            <a:r>
              <a:rPr lang="en-US" altLang="zh-CN" dirty="0"/>
              <a:t>: </a:t>
            </a:r>
            <a:r>
              <a:rPr lang="zh-CN" altLang="en-US" dirty="0"/>
              <a:t>并不意味着进程一定在运行中，它表明进程要么是在运行中要么在运行队列里。</a:t>
            </a:r>
            <a:endParaRPr lang="en-US" altLang="zh-CN" dirty="0"/>
          </a:p>
          <a:p>
            <a:r>
              <a:rPr lang="en-US" altLang="zh-CN" dirty="0"/>
              <a:t>S</a:t>
            </a:r>
            <a:r>
              <a:rPr lang="zh-CN" altLang="en-US" dirty="0"/>
              <a:t>睡眠状态（</a:t>
            </a:r>
            <a:r>
              <a:rPr lang="en-US" altLang="zh-CN" dirty="0"/>
              <a:t>sleeping): </a:t>
            </a:r>
            <a:r>
              <a:rPr lang="zh-CN" altLang="en-US" dirty="0"/>
              <a:t>意味着进程在等待事件完成（这里的睡眠有时候也叫做可中断睡眠（</a:t>
            </a:r>
            <a:r>
              <a:rPr lang="en-US" altLang="zh-CN" dirty="0"/>
              <a:t>interruptible sleep</a:t>
            </a:r>
            <a:r>
              <a:rPr lang="zh-CN" altLang="en-US" dirty="0"/>
              <a:t>））。</a:t>
            </a:r>
            <a:endParaRPr lang="en-US" altLang="zh-CN" dirty="0"/>
          </a:p>
          <a:p>
            <a:r>
              <a:rPr lang="en-US" altLang="zh-CN" dirty="0"/>
              <a:t>D</a:t>
            </a:r>
            <a:r>
              <a:rPr lang="zh-CN" altLang="en-US" dirty="0"/>
              <a:t>磁盘休眠状态（</a:t>
            </a:r>
            <a:r>
              <a:rPr lang="en-US" altLang="zh-CN" dirty="0"/>
              <a:t>Disk sleep</a:t>
            </a:r>
            <a:r>
              <a:rPr lang="zh-CN" altLang="en-US" dirty="0"/>
              <a:t>）有时候也叫不可中断睡眠状态（</a:t>
            </a:r>
            <a:r>
              <a:rPr lang="en-US" altLang="zh-CN" dirty="0"/>
              <a:t>uninterruptible sleep</a:t>
            </a:r>
            <a:r>
              <a:rPr lang="zh-CN" altLang="en-US" dirty="0"/>
              <a:t>），在这个状态的进程通常会等待</a:t>
            </a:r>
            <a:r>
              <a:rPr lang="en-US" altLang="zh-CN" dirty="0"/>
              <a:t>IO</a:t>
            </a:r>
            <a:r>
              <a:rPr lang="zh-CN" altLang="en-US" dirty="0"/>
              <a:t>的结束。</a:t>
            </a:r>
            <a:endParaRPr lang="en-US" altLang="zh-CN" dirty="0"/>
          </a:p>
          <a:p>
            <a:r>
              <a:rPr lang="en-US" altLang="zh-CN" dirty="0"/>
              <a:t>T</a:t>
            </a:r>
            <a:r>
              <a:rPr lang="zh-CN" altLang="en-US" dirty="0"/>
              <a:t>停止状态（</a:t>
            </a:r>
            <a:r>
              <a:rPr lang="en-US" altLang="zh-CN" dirty="0"/>
              <a:t>stopped</a:t>
            </a:r>
            <a:r>
              <a:rPr lang="zh-CN" altLang="en-US" dirty="0"/>
              <a:t>）： 可以通过发送 </a:t>
            </a:r>
            <a:r>
              <a:rPr lang="en-US" altLang="zh-CN" dirty="0"/>
              <a:t>SIGSTOP </a:t>
            </a:r>
            <a:r>
              <a:rPr lang="zh-CN" altLang="en-US" dirty="0"/>
              <a:t>信号给进程来停止（</a:t>
            </a:r>
            <a:r>
              <a:rPr lang="en-US" altLang="zh-CN" dirty="0"/>
              <a:t>T</a:t>
            </a:r>
            <a:r>
              <a:rPr lang="zh-CN" altLang="en-US" dirty="0"/>
              <a:t>）进程。这个被暂停的进程可以通过发送 </a:t>
            </a:r>
            <a:r>
              <a:rPr lang="en-US" altLang="zh-CN" dirty="0"/>
              <a:t>SIGCONT </a:t>
            </a:r>
            <a:r>
              <a:rPr lang="zh-CN" altLang="en-US" dirty="0"/>
              <a:t>信号让进程继续运行。</a:t>
            </a:r>
            <a:endParaRPr lang="en-US" altLang="zh-CN" dirty="0"/>
          </a:p>
          <a:p>
            <a:r>
              <a:rPr lang="en-US" altLang="zh-CN" dirty="0"/>
              <a:t>X</a:t>
            </a:r>
            <a:r>
              <a:rPr lang="zh-CN" altLang="en-US" dirty="0"/>
              <a:t>死亡状态（</a:t>
            </a:r>
            <a:r>
              <a:rPr lang="en-US" altLang="zh-CN" dirty="0"/>
              <a:t>dead</a:t>
            </a:r>
            <a:r>
              <a:rPr lang="zh-CN" altLang="en-US"/>
              <a:t>）：</a:t>
            </a:r>
            <a:r>
              <a:rPr lang="zh-CN" altLang="en-US" b="0" i="0">
                <a:solidFill>
                  <a:srgbClr val="333333"/>
                </a:solidFill>
                <a:effectLst/>
                <a:latin typeface="-apple-system"/>
              </a:rPr>
              <a:t>一个进程已经完成其执行并即将被销毁。</a:t>
            </a:r>
            <a:r>
              <a:rPr lang="zh-CN" altLang="en-US"/>
              <a:t>这个</a:t>
            </a:r>
            <a:r>
              <a:rPr lang="zh-CN" altLang="en-US" dirty="0"/>
              <a:t>状态只是一个返回状态，你不会在任务列表里看到</a:t>
            </a:r>
            <a:r>
              <a:rPr lang="zh-CN" altLang="en-US"/>
              <a:t>这个状态。</a:t>
            </a:r>
            <a:endParaRPr lang="en-US" altLang="zh-CN" dirty="0"/>
          </a:p>
          <a:p>
            <a:r>
              <a:rPr lang="en-US" altLang="zh-CN" dirty="0"/>
              <a:t>Z</a:t>
            </a:r>
            <a:r>
              <a:rPr lang="zh-CN" altLang="en-US" dirty="0"/>
              <a:t>僵死状态（</a:t>
            </a:r>
            <a:r>
              <a:rPr lang="en-US" altLang="zh-CN" dirty="0"/>
              <a:t>Zombies</a:t>
            </a:r>
            <a:r>
              <a:rPr lang="zh-CN" altLang="en-US" dirty="0"/>
              <a:t>）是一个比较特殊的状态。</a:t>
            </a:r>
            <a:r>
              <a:rPr lang="zh-CN" altLang="en-US" b="0" i="0" dirty="0">
                <a:solidFill>
                  <a:srgbClr val="333333"/>
                </a:solidFill>
                <a:effectLst/>
                <a:latin typeface="-apple-system"/>
              </a:rPr>
              <a:t>它表示一个进程已经完成执行，但其父进程尚未回收其终止状态。</a:t>
            </a:r>
            <a:endParaRPr lang="zh-CN" altLang="en-US" dirty="0"/>
          </a:p>
        </p:txBody>
      </p:sp>
    </p:spTree>
    <p:extLst>
      <p:ext uri="{BB962C8B-B14F-4D97-AF65-F5344CB8AC3E}">
        <p14:creationId xmlns:p14="http://schemas.microsoft.com/office/powerpoint/2010/main" val="345213355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nux中进程的六种状态">
            <a:extLst>
              <a:ext uri="{FF2B5EF4-FFF2-40B4-BE49-F238E27FC236}">
                <a16:creationId xmlns:a16="http://schemas.microsoft.com/office/drawing/2014/main" id="{70627E75-E01E-F3A3-78E3-0BCF2A59A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323" y="206828"/>
            <a:ext cx="9529354" cy="5788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13107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7F57B-3D8A-414E-8B6B-D479AB01FF5E}"/>
              </a:ext>
            </a:extLst>
          </p:cNvPr>
          <p:cNvSpPr>
            <a:spLocks noGrp="1"/>
          </p:cNvSpPr>
          <p:nvPr>
            <p:ph type="title"/>
          </p:nvPr>
        </p:nvSpPr>
        <p:spPr>
          <a:xfrm>
            <a:off x="1000196" y="255530"/>
            <a:ext cx="2178434" cy="705600"/>
          </a:xfrm>
        </p:spPr>
        <p:txBody>
          <a:bodyPr>
            <a:normAutofit/>
          </a:bodyPr>
          <a:lstStyle/>
          <a:p>
            <a:r>
              <a:rPr lang="zh-CN" altLang="zh-CN" sz="3600" kern="100" spc="50" dirty="0">
                <a:effectLst/>
                <a:latin typeface="Times New Roman" panose="02020603050405020304" pitchFamily="18" charset="0"/>
                <a:ea typeface="宋体" panose="02010600030101010101" pitchFamily="2" charset="-122"/>
              </a:rPr>
              <a:t>问答题</a:t>
            </a:r>
            <a:endParaRPr lang="zh-CN" altLang="en-US" sz="3600" dirty="0"/>
          </a:p>
        </p:txBody>
      </p:sp>
      <p:sp>
        <p:nvSpPr>
          <p:cNvPr id="3" name="内容占位符 2">
            <a:extLst>
              <a:ext uri="{FF2B5EF4-FFF2-40B4-BE49-F238E27FC236}">
                <a16:creationId xmlns:a16="http://schemas.microsoft.com/office/drawing/2014/main" id="{8FC3849E-5EF4-40B8-83D2-AAC6E291F2CE}"/>
              </a:ext>
            </a:extLst>
          </p:cNvPr>
          <p:cNvSpPr>
            <a:spLocks noGrp="1"/>
          </p:cNvSpPr>
          <p:nvPr>
            <p:ph idx="1"/>
          </p:nvPr>
        </p:nvSpPr>
        <p:spPr>
          <a:xfrm>
            <a:off x="611505" y="1137841"/>
            <a:ext cx="10968990" cy="5464629"/>
          </a:xfrm>
        </p:spPr>
        <p:txBody>
          <a:bodyPr>
            <a:normAutofit/>
          </a:bodyPr>
          <a:lstStyle/>
          <a:p>
            <a:pPr marL="0" indent="0" algn="just">
              <a:lnSpc>
                <a:spcPct val="150000"/>
              </a:lnSpc>
              <a:buNone/>
            </a:pPr>
            <a:r>
              <a:rPr lang="zh-CN" altLang="zh-CN" sz="2800" b="1" kern="100" spc="50" dirty="0">
                <a:effectLst/>
                <a:latin typeface="Times New Roman" panose="02020603050405020304" pitchFamily="18" charset="0"/>
                <a:ea typeface="宋体" panose="02010600030101010101" pitchFamily="2" charset="-122"/>
              </a:rPr>
              <a:t>某系统采用时间片轮转调度算法，某个时刻根据用户要求创建了一个进程</a:t>
            </a:r>
            <a:r>
              <a:rPr lang="en-US" altLang="zh-CN" sz="2800" b="1" kern="100" spc="50" dirty="0">
                <a:effectLst/>
                <a:latin typeface="Times New Roman" panose="02020603050405020304" pitchFamily="18" charset="0"/>
                <a:ea typeface="宋体" panose="02010600030101010101" pitchFamily="2" charset="-122"/>
              </a:rPr>
              <a:t>P</a:t>
            </a:r>
            <a:r>
              <a:rPr lang="zh-CN" altLang="zh-CN" sz="2800" b="1" kern="100" spc="50" dirty="0">
                <a:effectLst/>
                <a:latin typeface="Times New Roman" panose="02020603050405020304" pitchFamily="18" charset="0"/>
                <a:ea typeface="宋体" panose="02010600030101010101" pitchFamily="2" charset="-122"/>
              </a:rPr>
              <a:t>，进程</a:t>
            </a:r>
            <a:r>
              <a:rPr lang="en-US" altLang="zh-CN" sz="2800" b="1" kern="100" spc="50" dirty="0">
                <a:effectLst/>
                <a:latin typeface="Times New Roman" panose="02020603050405020304" pitchFamily="18" charset="0"/>
                <a:ea typeface="宋体" panose="02010600030101010101" pitchFamily="2" charset="-122"/>
              </a:rPr>
              <a:t>P</a:t>
            </a:r>
            <a:r>
              <a:rPr lang="zh-CN" altLang="zh-CN" sz="2800" b="1" kern="100" spc="50" dirty="0">
                <a:effectLst/>
                <a:latin typeface="Times New Roman" panose="02020603050405020304" pitchFamily="18" charset="0"/>
                <a:ea typeface="宋体" panose="02010600030101010101" pitchFamily="2" charset="-122"/>
              </a:rPr>
              <a:t>在其存在过程中依次经历了：</a:t>
            </a:r>
            <a:endParaRPr lang="zh-CN" altLang="zh-CN" sz="2800" b="1" kern="100" dirty="0">
              <a:effectLst/>
              <a:latin typeface="Times New Roman" panose="02020603050405020304" pitchFamily="18" charset="0"/>
              <a:ea typeface="宋体" panose="02010600030101010101" pitchFamily="2" charset="-122"/>
            </a:endParaRPr>
          </a:p>
          <a:p>
            <a:pPr marL="971550" lvl="1" indent="-514350" algn="just">
              <a:lnSpc>
                <a:spcPct val="100000"/>
              </a:lnSpc>
              <a:buClr>
                <a:srgbClr val="0000FF"/>
              </a:buClr>
              <a:buSzPct val="100000"/>
              <a:buFont typeface="+mj-lt"/>
              <a:buAutoNum type="arabicPeriod"/>
            </a:pPr>
            <a:r>
              <a:rPr lang="zh-CN" altLang="zh-CN" sz="2800" kern="100" spc="50" dirty="0">
                <a:effectLst/>
                <a:latin typeface="楷体" panose="02010609060101010101" pitchFamily="49" charset="-122"/>
                <a:ea typeface="楷体" panose="02010609060101010101" pitchFamily="49" charset="-122"/>
              </a:rPr>
              <a:t>进程调度选中了进程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占用处理器运行；</a:t>
            </a:r>
            <a:endParaRPr lang="zh-CN" altLang="zh-CN" sz="2800" kern="100" dirty="0">
              <a:effectLst/>
              <a:latin typeface="楷体" panose="02010609060101010101" pitchFamily="49" charset="-122"/>
              <a:ea typeface="楷体" panose="02010609060101010101" pitchFamily="49" charset="-122"/>
            </a:endParaRPr>
          </a:p>
          <a:p>
            <a:pPr marL="971550" lvl="1" indent="-514350" algn="just">
              <a:lnSpc>
                <a:spcPct val="100000"/>
              </a:lnSpc>
              <a:buClr>
                <a:srgbClr val="0000FF"/>
              </a:buClr>
              <a:buSzPct val="100000"/>
              <a:buFont typeface="+mj-lt"/>
              <a:buAutoNum type="arabicPeriod"/>
            </a:pPr>
            <a:r>
              <a:rPr lang="zh-CN" altLang="zh-CN" sz="2800" kern="100" spc="50" dirty="0">
                <a:effectLst/>
                <a:latin typeface="楷体" panose="02010609060101010101" pitchFamily="49" charset="-122"/>
                <a:ea typeface="楷体" panose="02010609060101010101" pitchFamily="49" charset="-122"/>
              </a:rPr>
              <a:t>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运行一个时间片后被迫让出处理器；</a:t>
            </a:r>
            <a:endParaRPr lang="zh-CN" altLang="zh-CN" sz="2800" kern="100" dirty="0">
              <a:effectLst/>
              <a:latin typeface="楷体" panose="02010609060101010101" pitchFamily="49" charset="-122"/>
              <a:ea typeface="楷体" panose="02010609060101010101" pitchFamily="49" charset="-122"/>
            </a:endParaRPr>
          </a:p>
          <a:p>
            <a:pPr marL="971550" lvl="1" indent="-514350" algn="just">
              <a:lnSpc>
                <a:spcPct val="100000"/>
              </a:lnSpc>
              <a:buClr>
                <a:srgbClr val="0000FF"/>
              </a:buClr>
              <a:buSzPct val="100000"/>
              <a:buFont typeface="+mj-lt"/>
              <a:buAutoNum type="arabicPeriod"/>
            </a:pPr>
            <a:r>
              <a:rPr lang="zh-CN" altLang="zh-CN" sz="2800" kern="100" spc="50" dirty="0">
                <a:effectLst/>
                <a:latin typeface="楷体" panose="02010609060101010101" pitchFamily="49" charset="-122"/>
                <a:ea typeface="楷体" panose="02010609060101010101" pitchFamily="49" charset="-122"/>
              </a:rPr>
              <a:t>进程调度再次选中了进程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占用处理器运行，进程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运行中提出资源申请，要求增加主存使用量，没有得到；</a:t>
            </a:r>
            <a:endParaRPr lang="zh-CN" altLang="zh-CN" sz="2800" kern="100" dirty="0">
              <a:effectLst/>
              <a:latin typeface="楷体" panose="02010609060101010101" pitchFamily="49" charset="-122"/>
              <a:ea typeface="楷体" panose="02010609060101010101" pitchFamily="49" charset="-122"/>
            </a:endParaRPr>
          </a:p>
          <a:p>
            <a:pPr marL="971550" lvl="1" indent="-514350" algn="just">
              <a:lnSpc>
                <a:spcPct val="100000"/>
              </a:lnSpc>
              <a:buClr>
                <a:srgbClr val="0000FF"/>
              </a:buClr>
              <a:buSzPct val="100000"/>
              <a:buFont typeface="+mj-lt"/>
              <a:buAutoNum type="arabicPeriod"/>
            </a:pPr>
            <a:r>
              <a:rPr lang="zh-CN" altLang="zh-CN" sz="2800" kern="100" spc="50" dirty="0">
                <a:effectLst/>
                <a:latin typeface="楷体" panose="02010609060101010101" pitchFamily="49" charset="-122"/>
                <a:ea typeface="楷体" panose="02010609060101010101" pitchFamily="49" charset="-122"/>
              </a:rPr>
              <a:t>进程等待一段时间后得到主存；</a:t>
            </a:r>
            <a:endParaRPr lang="zh-CN" altLang="zh-CN" sz="2800" kern="100" dirty="0">
              <a:effectLst/>
              <a:latin typeface="楷体" panose="02010609060101010101" pitchFamily="49" charset="-122"/>
              <a:ea typeface="楷体" panose="02010609060101010101" pitchFamily="49" charset="-122"/>
            </a:endParaRPr>
          </a:p>
          <a:p>
            <a:pPr marL="971550" lvl="1" indent="-514350" algn="just">
              <a:lnSpc>
                <a:spcPct val="100000"/>
              </a:lnSpc>
              <a:buClr>
                <a:srgbClr val="0000FF"/>
              </a:buClr>
              <a:buSzPct val="100000"/>
              <a:buFont typeface="+mj-lt"/>
              <a:buAutoNum type="arabicPeriod"/>
            </a:pPr>
            <a:r>
              <a:rPr lang="zh-CN" altLang="zh-CN" sz="2800" kern="100" spc="50" dirty="0">
                <a:effectLst/>
                <a:latin typeface="楷体" panose="02010609060101010101" pitchFamily="49" charset="-122"/>
                <a:ea typeface="楷体" panose="02010609060101010101" pitchFamily="49" charset="-122"/>
              </a:rPr>
              <a:t>进程调度再次选中了进程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占用处理器运行，进程</a:t>
            </a:r>
            <a:r>
              <a:rPr lang="en-US" altLang="zh-CN" sz="2800" kern="100" spc="50" dirty="0">
                <a:effectLst/>
                <a:latin typeface="楷体" panose="02010609060101010101" pitchFamily="49" charset="-122"/>
                <a:ea typeface="楷体" panose="02010609060101010101" pitchFamily="49" charset="-122"/>
              </a:rPr>
              <a:t>P</a:t>
            </a:r>
            <a:r>
              <a:rPr lang="zh-CN" altLang="zh-CN" sz="2800" kern="100" spc="50" dirty="0">
                <a:effectLst/>
                <a:latin typeface="楷体" panose="02010609060101010101" pitchFamily="49" charset="-122"/>
                <a:ea typeface="楷体" panose="02010609060101010101" pitchFamily="49" charset="-122"/>
              </a:rPr>
              <a:t>运行完。</a:t>
            </a:r>
            <a:endParaRPr lang="zh-CN" altLang="zh-CN" sz="2800" kern="100" dirty="0">
              <a:effectLst/>
              <a:latin typeface="楷体" panose="02010609060101010101" pitchFamily="49" charset="-122"/>
              <a:ea typeface="楷体" panose="02010609060101010101" pitchFamily="49" charset="-122"/>
            </a:endParaRPr>
          </a:p>
          <a:p>
            <a:pPr marL="0" indent="0" algn="just">
              <a:lnSpc>
                <a:spcPct val="160000"/>
              </a:lnSpc>
              <a:buNone/>
            </a:pPr>
            <a:r>
              <a:rPr lang="zh-CN" altLang="zh-CN" sz="2800" b="1" kern="100" spc="50" dirty="0">
                <a:latin typeface="Times New Roman" panose="02020603050405020304" pitchFamily="18" charset="0"/>
                <a:ea typeface="宋体" panose="02010600030101010101" pitchFamily="2" charset="-122"/>
              </a:rPr>
              <a:t>请分析进程在其整个生命过程中的状态变化。</a:t>
            </a:r>
          </a:p>
        </p:txBody>
      </p:sp>
    </p:spTree>
    <p:extLst>
      <p:ext uri="{BB962C8B-B14F-4D97-AF65-F5344CB8AC3E}">
        <p14:creationId xmlns:p14="http://schemas.microsoft.com/office/powerpoint/2010/main" val="338575570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DC400D-A897-4CBA-9A13-988C9405E2CC}"/>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230D4B4D-62F1-41C2-9E02-C6D568C1175B}"/>
              </a:ext>
            </a:extLst>
          </p:cNvPr>
          <p:cNvSpPr>
            <a:spLocks noGrp="1"/>
          </p:cNvSpPr>
          <p:nvPr>
            <p:ph idx="1"/>
          </p:nvPr>
        </p:nvSpPr>
        <p:spPr>
          <a:xfrm>
            <a:off x="325302" y="1023257"/>
            <a:ext cx="10968990" cy="5237299"/>
          </a:xfrm>
        </p:spPr>
        <p:txBody>
          <a:bodyPr>
            <a:normAutofit fontScale="92500"/>
          </a:bodyPr>
          <a:lstStyle/>
          <a:p>
            <a:pPr marL="0" indent="0" algn="just">
              <a:spcBef>
                <a:spcPts val="600"/>
              </a:spcBef>
              <a:spcAft>
                <a:spcPts val="600"/>
              </a:spcAft>
              <a:buNone/>
            </a:pPr>
            <a:r>
              <a:rPr lang="zh-CN" altLang="zh-CN" sz="3600" kern="100" dirty="0">
                <a:effectLst/>
                <a:latin typeface="+mn-ea"/>
                <a:ea typeface="+mn-ea"/>
              </a:rPr>
              <a:t>单项选择题</a:t>
            </a:r>
          </a:p>
          <a:p>
            <a:pPr marL="0" indent="0" algn="just">
              <a:buNone/>
            </a:pPr>
            <a:r>
              <a:rPr lang="en-US" altLang="zh-CN" sz="2800" kern="100" dirty="0">
                <a:effectLst/>
                <a:latin typeface="+mn-ea"/>
                <a:ea typeface="+mn-ea"/>
              </a:rPr>
              <a:t>    1</a:t>
            </a:r>
            <a:r>
              <a:rPr lang="zh-CN" altLang="zh-CN" sz="2800" kern="100" dirty="0">
                <a:effectLst/>
                <a:latin typeface="+mn-ea"/>
                <a:ea typeface="+mn-ea"/>
              </a:rPr>
              <a:t>．在下列叙述中，错误的一条是</a:t>
            </a:r>
            <a:r>
              <a:rPr lang="en-US" altLang="zh-CN" sz="2800" u="sng" kern="100" dirty="0">
                <a:effectLst/>
                <a:latin typeface="+mn-ea"/>
                <a:ea typeface="+mn-ea"/>
              </a:rPr>
              <a:t>     </a:t>
            </a:r>
            <a:r>
              <a:rPr lang="zh-CN" altLang="zh-CN" sz="2800" kern="100" dirty="0">
                <a:effectLst/>
                <a:latin typeface="+mn-ea"/>
                <a:ea typeface="+mn-ea"/>
              </a:rPr>
              <a:t>。</a:t>
            </a:r>
          </a:p>
          <a:p>
            <a:pPr marL="0" indent="0" algn="just">
              <a:buNone/>
            </a:pPr>
            <a:r>
              <a:rPr lang="en-US" altLang="zh-CN" sz="2800" kern="100" dirty="0">
                <a:effectLst/>
                <a:latin typeface="+mn-ea"/>
                <a:ea typeface="+mn-ea"/>
              </a:rPr>
              <a:t>    </a:t>
            </a:r>
            <a:r>
              <a:rPr lang="zh-CN" altLang="zh-CN" sz="2800" kern="100" dirty="0">
                <a:effectLst/>
                <a:latin typeface="+mn-ea"/>
                <a:ea typeface="+mn-ea"/>
              </a:rPr>
              <a:t>（</a:t>
            </a:r>
            <a:r>
              <a:rPr lang="en-US" altLang="zh-CN" sz="2800" kern="100" dirty="0">
                <a:effectLst/>
                <a:latin typeface="+mn-ea"/>
                <a:ea typeface="+mn-ea"/>
              </a:rPr>
              <a:t>A</a:t>
            </a:r>
            <a:r>
              <a:rPr lang="zh-CN" altLang="zh-CN" sz="2800" kern="100" dirty="0">
                <a:effectLst/>
                <a:latin typeface="+mn-ea"/>
                <a:ea typeface="+mn-ea"/>
              </a:rPr>
              <a:t>）操作系统是用户与计算机之间的接口</a:t>
            </a:r>
          </a:p>
          <a:p>
            <a:pPr marL="0" indent="0" algn="just">
              <a:buNone/>
            </a:pPr>
            <a:r>
              <a:rPr lang="en-US" altLang="zh-CN" sz="2800" kern="100" dirty="0">
                <a:effectLst/>
                <a:latin typeface="+mn-ea"/>
                <a:ea typeface="+mn-ea"/>
              </a:rPr>
              <a:t>    </a:t>
            </a:r>
            <a:r>
              <a:rPr lang="zh-CN" altLang="zh-CN" sz="2800" kern="100" dirty="0">
                <a:effectLst/>
                <a:latin typeface="+mn-ea"/>
                <a:ea typeface="+mn-ea"/>
              </a:rPr>
              <a:t>（</a:t>
            </a:r>
            <a:r>
              <a:rPr lang="en-US" altLang="zh-CN" sz="2800" kern="100" dirty="0">
                <a:effectLst/>
                <a:latin typeface="+mn-ea"/>
                <a:ea typeface="+mn-ea"/>
              </a:rPr>
              <a:t>B</a:t>
            </a:r>
            <a:r>
              <a:rPr lang="zh-CN" altLang="zh-CN" sz="2800" kern="100" dirty="0">
                <a:effectLst/>
                <a:latin typeface="+mn-ea"/>
                <a:ea typeface="+mn-ea"/>
              </a:rPr>
              <a:t>）程序的并发执行，使程序失去了顺序执行时具有的封闭性和可再现性，程序与程序的执行不再一一对应</a:t>
            </a:r>
          </a:p>
          <a:p>
            <a:pPr marL="0" indent="0" algn="just">
              <a:buNone/>
            </a:pPr>
            <a:r>
              <a:rPr lang="en-US" altLang="zh-CN" sz="2800" kern="100" dirty="0">
                <a:effectLst/>
                <a:latin typeface="+mn-ea"/>
                <a:ea typeface="+mn-ea"/>
              </a:rPr>
              <a:t>    </a:t>
            </a:r>
            <a:r>
              <a:rPr lang="zh-CN" altLang="zh-CN" sz="2800" kern="100" dirty="0">
                <a:effectLst/>
                <a:latin typeface="+mn-ea"/>
                <a:ea typeface="+mn-ea"/>
              </a:rPr>
              <a:t>（</a:t>
            </a:r>
            <a:r>
              <a:rPr lang="en-US" altLang="zh-CN" sz="2800" kern="100" dirty="0">
                <a:effectLst/>
                <a:latin typeface="+mn-ea"/>
                <a:ea typeface="+mn-ea"/>
              </a:rPr>
              <a:t>C</a:t>
            </a:r>
            <a:r>
              <a:rPr lang="zh-CN" altLang="zh-CN" sz="2800" kern="100" dirty="0">
                <a:effectLst/>
                <a:latin typeface="+mn-ea"/>
                <a:ea typeface="+mn-ea"/>
              </a:rPr>
              <a:t>）进程从一个状态到另一个状态的转换，</a:t>
            </a:r>
            <a:r>
              <a:rPr lang="zh-CN" altLang="en-US" sz="2800" kern="100" dirty="0">
                <a:effectLst/>
                <a:latin typeface="+mn-ea"/>
                <a:ea typeface="+mn-ea"/>
              </a:rPr>
              <a:t>都</a:t>
            </a:r>
            <a:r>
              <a:rPr lang="zh-CN" altLang="zh-CN" sz="2800" kern="100" dirty="0">
                <a:effectLst/>
                <a:latin typeface="+mn-ea"/>
                <a:ea typeface="+mn-ea"/>
              </a:rPr>
              <a:t>是</a:t>
            </a:r>
            <a:r>
              <a:rPr lang="zh-CN" altLang="en-US" sz="2800" kern="100" dirty="0">
                <a:effectLst/>
                <a:latin typeface="+mn-ea"/>
                <a:ea typeface="+mn-ea"/>
              </a:rPr>
              <a:t>自动</a:t>
            </a:r>
            <a:r>
              <a:rPr lang="zh-CN" altLang="zh-CN" sz="2800" kern="100" dirty="0">
                <a:effectLst/>
                <a:latin typeface="+mn-ea"/>
                <a:ea typeface="+mn-ea"/>
              </a:rPr>
              <a:t>实现的</a:t>
            </a:r>
          </a:p>
          <a:p>
            <a:pPr marL="0" indent="0" algn="just">
              <a:buNone/>
            </a:pPr>
            <a:r>
              <a:rPr lang="en-US" altLang="zh-CN" sz="2800" kern="100" dirty="0">
                <a:effectLst/>
                <a:latin typeface="+mn-ea"/>
                <a:ea typeface="+mn-ea"/>
              </a:rPr>
              <a:t>    </a:t>
            </a:r>
            <a:r>
              <a:rPr lang="zh-CN" altLang="zh-CN" sz="2800" kern="100" dirty="0">
                <a:effectLst/>
                <a:latin typeface="+mn-ea"/>
                <a:ea typeface="+mn-ea"/>
              </a:rPr>
              <a:t>（</a:t>
            </a:r>
            <a:r>
              <a:rPr lang="en-US" altLang="zh-CN" sz="2800" kern="100" dirty="0">
                <a:effectLst/>
                <a:latin typeface="+mn-ea"/>
                <a:ea typeface="+mn-ea"/>
              </a:rPr>
              <a:t>D</a:t>
            </a:r>
            <a:r>
              <a:rPr lang="zh-CN" altLang="zh-CN" sz="2800" kern="100" dirty="0">
                <a:effectLst/>
                <a:latin typeface="+mn-ea"/>
                <a:ea typeface="+mn-ea"/>
              </a:rPr>
              <a:t>）在单</a:t>
            </a:r>
            <a:r>
              <a:rPr lang="en-US" altLang="zh-CN" sz="2800" kern="100" dirty="0">
                <a:effectLst/>
                <a:latin typeface="+mn-ea"/>
                <a:ea typeface="+mn-ea"/>
              </a:rPr>
              <a:t>CPU</a:t>
            </a:r>
            <a:r>
              <a:rPr lang="zh-CN" altLang="zh-CN" sz="2800" kern="100" dirty="0">
                <a:effectLst/>
                <a:latin typeface="+mn-ea"/>
                <a:ea typeface="+mn-ea"/>
              </a:rPr>
              <a:t>的系统中，处于就绪状态的进程</a:t>
            </a:r>
            <a:r>
              <a:rPr lang="zh-CN" altLang="en-US" sz="2800" kern="100" dirty="0">
                <a:effectLst/>
                <a:latin typeface="+mn-ea"/>
                <a:ea typeface="+mn-ea"/>
              </a:rPr>
              <a:t>可能</a:t>
            </a:r>
            <a:r>
              <a:rPr lang="zh-CN" altLang="zh-CN" sz="2800" kern="100" dirty="0">
                <a:effectLst/>
                <a:latin typeface="+mn-ea"/>
                <a:ea typeface="+mn-ea"/>
              </a:rPr>
              <a:t>有多个，而且只有处于就绪状态的进程经调度程序选中后才可进入运行状态</a:t>
            </a:r>
          </a:p>
          <a:p>
            <a:pPr marL="0" indent="0">
              <a:buNone/>
            </a:pPr>
            <a:endParaRPr lang="zh-CN" altLang="en-US" sz="3600" dirty="0">
              <a:latin typeface="+mn-ea"/>
              <a:ea typeface="+mn-ea"/>
            </a:endParaRPr>
          </a:p>
        </p:txBody>
      </p:sp>
    </p:spTree>
    <p:extLst>
      <p:ext uri="{BB962C8B-B14F-4D97-AF65-F5344CB8AC3E}">
        <p14:creationId xmlns:p14="http://schemas.microsoft.com/office/powerpoint/2010/main" val="2653960020"/>
      </p:ext>
    </p:extLst>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25496-3517-4A3B-B6BC-FED2D704D78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9027F3D6-264B-44FB-9D4E-CEA1716745E4}"/>
              </a:ext>
            </a:extLst>
          </p:cNvPr>
          <p:cNvSpPr>
            <a:spLocks noGrp="1"/>
          </p:cNvSpPr>
          <p:nvPr>
            <p:ph idx="1"/>
          </p:nvPr>
        </p:nvSpPr>
        <p:spPr>
          <a:xfrm>
            <a:off x="532130" y="917892"/>
            <a:ext cx="10968990" cy="5022215"/>
          </a:xfrm>
        </p:spPr>
        <p:txBody>
          <a:bodyPr>
            <a:noAutofit/>
          </a:bodyPr>
          <a:lstStyle/>
          <a:p>
            <a:pPr marL="0" indent="0" algn="just">
              <a:buNone/>
            </a:pPr>
            <a:r>
              <a:rPr lang="en-US" altLang="zh-CN" kern="100" dirty="0">
                <a:effectLst/>
                <a:latin typeface="+mn-ea"/>
                <a:ea typeface="+mn-ea"/>
              </a:rPr>
              <a:t>2. </a:t>
            </a:r>
            <a:r>
              <a:rPr lang="zh-CN" altLang="zh-CN" kern="100" dirty="0">
                <a:effectLst/>
                <a:latin typeface="+mn-ea"/>
                <a:ea typeface="+mn-ea"/>
              </a:rPr>
              <a:t>一个</a:t>
            </a:r>
            <a:r>
              <a:rPr lang="zh-CN" altLang="en-US" kern="100" dirty="0">
                <a:effectLst/>
                <a:latin typeface="+mn-ea"/>
                <a:ea typeface="+mn-ea"/>
              </a:rPr>
              <a:t>阻塞</a:t>
            </a:r>
            <a:r>
              <a:rPr lang="zh-CN" altLang="zh-CN" kern="100" dirty="0">
                <a:effectLst/>
                <a:latin typeface="+mn-ea"/>
                <a:ea typeface="+mn-ea"/>
              </a:rPr>
              <a:t>进程被唤醒，意味着</a:t>
            </a:r>
            <a:r>
              <a:rPr lang="en-US" altLang="zh-CN" u="sng" kern="100" dirty="0">
                <a:effectLst/>
                <a:latin typeface="+mn-ea"/>
                <a:ea typeface="+mn-ea"/>
              </a:rPr>
              <a:t>      </a:t>
            </a:r>
            <a:r>
              <a:rPr lang="zh-CN" altLang="zh-CN" kern="100" dirty="0">
                <a:effectLst/>
                <a:latin typeface="+mn-ea"/>
                <a:ea typeface="+mn-ea"/>
              </a:rPr>
              <a:t>。</a:t>
            </a:r>
          </a:p>
          <a:p>
            <a:pPr marL="0" indent="0" algn="just">
              <a:buNone/>
            </a:pPr>
            <a:r>
              <a:rPr lang="en-US" altLang="zh-CN" kern="100" dirty="0">
                <a:effectLst/>
                <a:latin typeface="+mn-ea"/>
                <a:ea typeface="+mn-ea"/>
              </a:rPr>
              <a:t>    </a:t>
            </a:r>
            <a:r>
              <a:rPr lang="zh-CN" altLang="zh-CN" kern="100" dirty="0">
                <a:effectLst/>
                <a:latin typeface="+mn-ea"/>
                <a:ea typeface="+mn-ea"/>
              </a:rPr>
              <a:t>（</a:t>
            </a:r>
            <a:r>
              <a:rPr lang="en-US" altLang="zh-CN" kern="100" dirty="0">
                <a:effectLst/>
                <a:latin typeface="+mn-ea"/>
                <a:ea typeface="+mn-ea"/>
              </a:rPr>
              <a:t>A</a:t>
            </a:r>
            <a:r>
              <a:rPr lang="zh-CN" altLang="zh-CN" kern="100" dirty="0">
                <a:effectLst/>
                <a:latin typeface="+mn-ea"/>
                <a:ea typeface="+mn-ea"/>
              </a:rPr>
              <a:t>）该进程重新占有了</a:t>
            </a:r>
            <a:r>
              <a:rPr lang="en-US" altLang="zh-CN" kern="100" dirty="0">
                <a:effectLst/>
                <a:latin typeface="+mn-ea"/>
                <a:ea typeface="+mn-ea"/>
              </a:rPr>
              <a:t>CPU      </a:t>
            </a:r>
            <a:r>
              <a:rPr lang="zh-CN" altLang="zh-CN" kern="100" dirty="0">
                <a:effectLst/>
                <a:latin typeface="+mn-ea"/>
                <a:ea typeface="+mn-ea"/>
              </a:rPr>
              <a:t>（</a:t>
            </a:r>
            <a:r>
              <a:rPr lang="en-US" altLang="zh-CN" kern="100" dirty="0">
                <a:effectLst/>
                <a:latin typeface="+mn-ea"/>
                <a:ea typeface="+mn-ea"/>
              </a:rPr>
              <a:t>B</a:t>
            </a:r>
            <a:r>
              <a:rPr lang="zh-CN" altLang="zh-CN" kern="100" dirty="0">
                <a:effectLst/>
                <a:latin typeface="+mn-ea"/>
                <a:ea typeface="+mn-ea"/>
              </a:rPr>
              <a:t>）进程状态变为就绪</a:t>
            </a:r>
          </a:p>
          <a:p>
            <a:pPr marL="0" indent="0" algn="just">
              <a:buNone/>
            </a:pPr>
            <a:r>
              <a:rPr lang="en-US" altLang="zh-CN" kern="100" dirty="0">
                <a:effectLst/>
                <a:latin typeface="+mn-ea"/>
                <a:ea typeface="+mn-ea"/>
              </a:rPr>
              <a:t>    </a:t>
            </a:r>
            <a:r>
              <a:rPr lang="zh-CN" altLang="zh-CN" kern="100" dirty="0">
                <a:effectLst/>
                <a:latin typeface="+mn-ea"/>
                <a:ea typeface="+mn-ea"/>
              </a:rPr>
              <a:t>（</a:t>
            </a:r>
            <a:r>
              <a:rPr lang="en-US" altLang="zh-CN" kern="100" dirty="0">
                <a:effectLst/>
                <a:latin typeface="+mn-ea"/>
                <a:ea typeface="+mn-ea"/>
              </a:rPr>
              <a:t>C</a:t>
            </a:r>
            <a:r>
              <a:rPr lang="zh-CN" altLang="zh-CN" kern="100" dirty="0">
                <a:effectLst/>
                <a:latin typeface="+mn-ea"/>
                <a:ea typeface="+mn-ea"/>
              </a:rPr>
              <a:t>）它的优先权变为最大</a:t>
            </a:r>
            <a:r>
              <a:rPr lang="en-US" altLang="zh-CN" kern="100" dirty="0">
                <a:effectLst/>
                <a:latin typeface="+mn-ea"/>
                <a:ea typeface="+mn-ea"/>
              </a:rPr>
              <a:t>         </a:t>
            </a:r>
            <a:r>
              <a:rPr lang="zh-CN" altLang="zh-CN" kern="100" dirty="0">
                <a:effectLst/>
                <a:latin typeface="+mn-ea"/>
                <a:ea typeface="+mn-ea"/>
              </a:rPr>
              <a:t>（</a:t>
            </a:r>
            <a:r>
              <a:rPr lang="en-US" altLang="zh-CN" kern="100" dirty="0">
                <a:effectLst/>
                <a:latin typeface="+mn-ea"/>
                <a:ea typeface="+mn-ea"/>
              </a:rPr>
              <a:t>D</a:t>
            </a:r>
            <a:r>
              <a:rPr lang="zh-CN" altLang="zh-CN" kern="100" dirty="0">
                <a:effectLst/>
                <a:latin typeface="+mn-ea"/>
                <a:ea typeface="+mn-ea"/>
              </a:rPr>
              <a:t>）其</a:t>
            </a:r>
            <a:r>
              <a:rPr lang="en-US" altLang="zh-CN" kern="100" dirty="0">
                <a:effectLst/>
                <a:latin typeface="+mn-ea"/>
                <a:ea typeface="+mn-ea"/>
              </a:rPr>
              <a:t>PCB</a:t>
            </a:r>
            <a:r>
              <a:rPr lang="zh-CN" altLang="zh-CN" kern="100" dirty="0">
                <a:effectLst/>
                <a:latin typeface="+mn-ea"/>
                <a:ea typeface="+mn-ea"/>
              </a:rPr>
              <a:t>移至就绪队列的队首</a:t>
            </a:r>
            <a:endParaRPr lang="en-US" altLang="zh-CN" kern="100" dirty="0">
              <a:latin typeface="+mn-ea"/>
              <a:ea typeface="+mn-ea"/>
            </a:endParaRPr>
          </a:p>
          <a:p>
            <a:pPr marL="0" indent="0" algn="just">
              <a:buNone/>
            </a:pPr>
            <a:r>
              <a:rPr lang="en-US" altLang="zh-CN" kern="100" dirty="0">
                <a:effectLst/>
                <a:latin typeface="+mn-ea"/>
                <a:ea typeface="+mn-ea"/>
              </a:rPr>
              <a:t>3</a:t>
            </a:r>
            <a:r>
              <a:rPr lang="zh-CN" altLang="zh-CN" kern="100" dirty="0">
                <a:effectLst/>
                <a:latin typeface="+mn-ea"/>
                <a:ea typeface="+mn-ea"/>
              </a:rPr>
              <a:t>．</a:t>
            </a:r>
            <a:r>
              <a:rPr lang="zh-CN" altLang="en-US" kern="100" dirty="0">
                <a:latin typeface="+mn-ea"/>
                <a:ea typeface="+mn-ea"/>
              </a:rPr>
              <a:t> “一个进程从磁盘读文件数据，在发出</a:t>
            </a:r>
            <a:r>
              <a:rPr lang="en-US" altLang="zh-CN" kern="100" dirty="0">
                <a:latin typeface="+mn-ea"/>
                <a:ea typeface="+mn-ea"/>
              </a:rPr>
              <a:t>read()</a:t>
            </a:r>
            <a:r>
              <a:rPr lang="zh-CN" altLang="en-US" kern="100" dirty="0">
                <a:latin typeface="+mn-ea"/>
                <a:ea typeface="+mn-ea"/>
              </a:rPr>
              <a:t>系统调用后，其状态会如何变化？”</a:t>
            </a:r>
          </a:p>
          <a:p>
            <a:pPr marL="0" indent="0" algn="just">
              <a:buNone/>
            </a:pPr>
            <a:r>
              <a:rPr lang="en-US" altLang="zh-CN" kern="100" dirty="0">
                <a:latin typeface="+mn-ea"/>
                <a:ea typeface="+mn-ea"/>
              </a:rPr>
              <a:t>   </a:t>
            </a:r>
            <a:r>
              <a:rPr lang="zh-CN" altLang="zh-CN" kern="100" dirty="0">
                <a:latin typeface="+mn-ea"/>
              </a:rPr>
              <a:t>（</a:t>
            </a:r>
            <a:r>
              <a:rPr lang="en-US" altLang="zh-CN" kern="100" dirty="0">
                <a:latin typeface="+mn-ea"/>
              </a:rPr>
              <a:t>A</a:t>
            </a:r>
            <a:r>
              <a:rPr lang="zh-CN" altLang="zh-CN" kern="100" dirty="0">
                <a:latin typeface="+mn-ea"/>
              </a:rPr>
              <a:t>）</a:t>
            </a:r>
            <a:r>
              <a:rPr lang="en-US" altLang="zh-CN" kern="100" dirty="0">
                <a:latin typeface="+mn-ea"/>
                <a:ea typeface="+mn-ea"/>
              </a:rPr>
              <a:t> </a:t>
            </a:r>
            <a:r>
              <a:rPr lang="zh-CN" altLang="en-US" kern="100" dirty="0">
                <a:latin typeface="+mn-ea"/>
                <a:ea typeface="+mn-ea"/>
              </a:rPr>
              <a:t>运行 </a:t>
            </a:r>
            <a:r>
              <a:rPr lang="en-US" altLang="zh-CN" kern="100" dirty="0">
                <a:latin typeface="+mn-ea"/>
                <a:ea typeface="+mn-ea"/>
              </a:rPr>
              <a:t>-&gt; </a:t>
            </a:r>
            <a:r>
              <a:rPr lang="zh-CN" altLang="en-US" kern="100" dirty="0">
                <a:latin typeface="+mn-ea"/>
                <a:ea typeface="+mn-ea"/>
              </a:rPr>
              <a:t>就绪     </a:t>
            </a:r>
            <a:r>
              <a:rPr lang="zh-CN" altLang="zh-CN" kern="100" dirty="0">
                <a:latin typeface="+mn-ea"/>
              </a:rPr>
              <a:t>（</a:t>
            </a:r>
            <a:r>
              <a:rPr lang="en-US" altLang="zh-CN" kern="100" dirty="0">
                <a:latin typeface="+mn-ea"/>
              </a:rPr>
              <a:t>B</a:t>
            </a:r>
            <a:r>
              <a:rPr lang="zh-CN" altLang="zh-CN" kern="100" dirty="0">
                <a:latin typeface="+mn-ea"/>
              </a:rPr>
              <a:t>）</a:t>
            </a:r>
            <a:r>
              <a:rPr lang="zh-CN" altLang="en-US" kern="100" dirty="0">
                <a:latin typeface="+mn-ea"/>
                <a:ea typeface="+mn-ea"/>
              </a:rPr>
              <a:t>运行 </a:t>
            </a:r>
            <a:r>
              <a:rPr lang="en-US" altLang="zh-CN" kern="100" dirty="0">
                <a:latin typeface="+mn-ea"/>
                <a:ea typeface="+mn-ea"/>
              </a:rPr>
              <a:t>-&gt; </a:t>
            </a:r>
            <a:r>
              <a:rPr lang="zh-CN" altLang="en-US" kern="100" dirty="0">
                <a:latin typeface="+mn-ea"/>
                <a:ea typeface="+mn-ea"/>
              </a:rPr>
              <a:t>阻塞</a:t>
            </a:r>
          </a:p>
          <a:p>
            <a:pPr marL="0" indent="0" algn="just">
              <a:buNone/>
            </a:pPr>
            <a:r>
              <a:rPr lang="en-US" altLang="zh-CN" kern="100" dirty="0">
                <a:latin typeface="+mn-ea"/>
                <a:ea typeface="+mn-ea"/>
              </a:rPr>
              <a:t>   </a:t>
            </a:r>
            <a:r>
              <a:rPr lang="zh-CN" altLang="zh-CN" kern="100" dirty="0">
                <a:latin typeface="+mn-ea"/>
              </a:rPr>
              <a:t>（</a:t>
            </a:r>
            <a:r>
              <a:rPr lang="en-US" altLang="zh-CN" kern="100" dirty="0">
                <a:latin typeface="+mn-ea"/>
              </a:rPr>
              <a:t>C</a:t>
            </a:r>
            <a:r>
              <a:rPr lang="zh-CN" altLang="zh-CN" kern="100" dirty="0">
                <a:latin typeface="+mn-ea"/>
              </a:rPr>
              <a:t>）</a:t>
            </a:r>
            <a:r>
              <a:rPr lang="zh-CN" altLang="en-US" kern="100" dirty="0">
                <a:latin typeface="+mn-ea"/>
                <a:ea typeface="+mn-ea"/>
              </a:rPr>
              <a:t>就绪 </a:t>
            </a:r>
            <a:r>
              <a:rPr lang="en-US" altLang="zh-CN" kern="100" dirty="0">
                <a:latin typeface="+mn-ea"/>
                <a:ea typeface="+mn-ea"/>
              </a:rPr>
              <a:t>-&gt; </a:t>
            </a:r>
            <a:r>
              <a:rPr lang="zh-CN" altLang="en-US" kern="100" dirty="0">
                <a:latin typeface="+mn-ea"/>
                <a:ea typeface="+mn-ea"/>
              </a:rPr>
              <a:t>阻塞       </a:t>
            </a:r>
            <a:r>
              <a:rPr lang="zh-CN" altLang="zh-CN" kern="100" dirty="0">
                <a:latin typeface="+mn-ea"/>
              </a:rPr>
              <a:t>（</a:t>
            </a:r>
            <a:r>
              <a:rPr lang="en-US" altLang="zh-CN" kern="100" dirty="0">
                <a:latin typeface="+mn-ea"/>
              </a:rPr>
              <a:t>D</a:t>
            </a:r>
            <a:r>
              <a:rPr lang="zh-CN" altLang="zh-CN" kern="100" dirty="0">
                <a:latin typeface="+mn-ea"/>
              </a:rPr>
              <a:t>）</a:t>
            </a:r>
            <a:r>
              <a:rPr lang="en-US" altLang="zh-CN" kern="100" dirty="0">
                <a:latin typeface="+mn-ea"/>
                <a:ea typeface="+mn-ea"/>
              </a:rPr>
              <a:t> </a:t>
            </a:r>
            <a:r>
              <a:rPr lang="zh-CN" altLang="en-US" kern="100" dirty="0">
                <a:latin typeface="+mn-ea"/>
                <a:ea typeface="+mn-ea"/>
              </a:rPr>
              <a:t>阻塞 </a:t>
            </a:r>
            <a:r>
              <a:rPr lang="en-US" altLang="zh-CN" kern="100" dirty="0">
                <a:latin typeface="+mn-ea"/>
                <a:ea typeface="+mn-ea"/>
              </a:rPr>
              <a:t>-&gt; </a:t>
            </a:r>
            <a:r>
              <a:rPr lang="zh-CN" altLang="en-US" kern="100" dirty="0">
                <a:latin typeface="+mn-ea"/>
                <a:ea typeface="+mn-ea"/>
              </a:rPr>
              <a:t>就绪</a:t>
            </a:r>
            <a:endParaRPr lang="en-US" altLang="zh-CN" kern="100" dirty="0">
              <a:latin typeface="+mn-ea"/>
              <a:ea typeface="+mn-ea"/>
            </a:endParaRPr>
          </a:p>
          <a:p>
            <a:pPr marL="0" indent="0" algn="just">
              <a:buNone/>
            </a:pPr>
            <a:r>
              <a:rPr lang="en-US" altLang="zh-CN" kern="100" dirty="0">
                <a:effectLst/>
                <a:latin typeface="+mn-ea"/>
                <a:ea typeface="+mn-ea"/>
                <a:cs typeface="Times New Roman" panose="02020603050405020304" pitchFamily="18" charset="0"/>
              </a:rPr>
              <a:t>4. </a:t>
            </a:r>
            <a:r>
              <a:rPr lang="zh-CN" altLang="zh-CN" kern="100" dirty="0">
                <a:effectLst/>
                <a:latin typeface="+mn-ea"/>
                <a:ea typeface="+mn-ea"/>
                <a:cs typeface="Times New Roman" panose="02020603050405020304" pitchFamily="18" charset="0"/>
              </a:rPr>
              <a:t>一个进程是由三部分组成的即</a:t>
            </a:r>
            <a:r>
              <a:rPr lang="en-US" altLang="zh-CN" u="sng" kern="100" dirty="0">
                <a:effectLst/>
                <a:latin typeface="+mn-ea"/>
                <a:ea typeface="+mn-ea"/>
              </a:rPr>
              <a:t>         </a:t>
            </a:r>
            <a:r>
              <a:rPr lang="zh-CN" altLang="zh-CN" kern="100" dirty="0">
                <a:effectLst/>
                <a:latin typeface="+mn-ea"/>
                <a:ea typeface="+mn-ea"/>
                <a:cs typeface="Times New Roman" panose="02020603050405020304" pitchFamily="18" charset="0"/>
              </a:rPr>
              <a:t>、</a:t>
            </a:r>
            <a:r>
              <a:rPr lang="en-US" altLang="zh-CN" u="sng" kern="100" dirty="0">
                <a:effectLst/>
                <a:latin typeface="+mn-ea"/>
                <a:ea typeface="+mn-ea"/>
              </a:rPr>
              <a:t>           </a:t>
            </a:r>
            <a:r>
              <a:rPr lang="zh-CN" altLang="zh-CN" kern="100" dirty="0">
                <a:effectLst/>
                <a:latin typeface="+mn-ea"/>
                <a:ea typeface="+mn-ea"/>
                <a:cs typeface="Times New Roman" panose="02020603050405020304" pitchFamily="18" charset="0"/>
              </a:rPr>
              <a:t>和</a:t>
            </a:r>
            <a:r>
              <a:rPr lang="en-US" altLang="zh-CN" u="sng" kern="100" dirty="0">
                <a:effectLst/>
                <a:latin typeface="+mn-ea"/>
                <a:ea typeface="+mn-ea"/>
              </a:rPr>
              <a:t>             </a:t>
            </a:r>
            <a:r>
              <a:rPr lang="zh-CN" altLang="zh-CN" kern="100" dirty="0">
                <a:effectLst/>
                <a:latin typeface="+mn-ea"/>
                <a:ea typeface="+mn-ea"/>
                <a:cs typeface="Times New Roman" panose="02020603050405020304" pitchFamily="18" charset="0"/>
              </a:rPr>
              <a:t>。</a:t>
            </a:r>
            <a:endParaRPr lang="zh-CN" altLang="zh-CN" kern="100" dirty="0">
              <a:effectLst/>
              <a:latin typeface="+mn-ea"/>
              <a:ea typeface="+mn-ea"/>
            </a:endParaRPr>
          </a:p>
          <a:p>
            <a:pPr marL="0" indent="0">
              <a:buNone/>
            </a:pPr>
            <a:endParaRPr lang="zh-CN" altLang="en-US" dirty="0"/>
          </a:p>
        </p:txBody>
      </p:sp>
    </p:spTree>
    <p:extLst>
      <p:ext uri="{BB962C8B-B14F-4D97-AF65-F5344CB8AC3E}">
        <p14:creationId xmlns:p14="http://schemas.microsoft.com/office/powerpoint/2010/main" val="213065153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.2.3  </a:t>
            </a:r>
            <a:r>
              <a:rPr lang="zh-CN" altLang="en-US" dirty="0"/>
              <a:t>进程控制块的组织结构</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113794"/>
            <a:ext cx="10968990" cy="3338463"/>
          </a:xfrm>
        </p:spPr>
        <p:txBody>
          <a:bodyPr>
            <a:noAutofit/>
          </a:bodyPr>
          <a:lstStyle/>
          <a:p>
            <a:pPr marL="0" indent="0">
              <a:lnSpc>
                <a:spcPct val="150000"/>
              </a:lnSpc>
              <a:buNone/>
            </a:pPr>
            <a:r>
              <a:rPr lang="zh-CN" altLang="zh-CN" sz="2800" dirty="0"/>
              <a:t>因为</a:t>
            </a:r>
            <a:r>
              <a:rPr lang="en-US" altLang="zh-CN" sz="2800" dirty="0"/>
              <a:t>PCB</a:t>
            </a:r>
            <a:r>
              <a:rPr lang="zh-CN" altLang="zh-CN" sz="2800" dirty="0"/>
              <a:t>经常被系统访问，故</a:t>
            </a:r>
            <a:r>
              <a:rPr lang="en-US" altLang="zh-CN" sz="2800" dirty="0"/>
              <a:t>PCB</a:t>
            </a:r>
            <a:r>
              <a:rPr lang="zh-CN" altLang="zh-CN" sz="2800" dirty="0"/>
              <a:t>应常驻内存。在一个系统中，通常可拥有数十个、数百个乃至数千个</a:t>
            </a:r>
            <a:r>
              <a:rPr lang="en-US" altLang="zh-CN" sz="2800" dirty="0"/>
              <a:t>PCB</a:t>
            </a:r>
            <a:r>
              <a:rPr lang="zh-CN" altLang="zh-CN" sz="2800" dirty="0"/>
              <a:t>。</a:t>
            </a:r>
            <a:endParaRPr lang="en-US" altLang="zh-CN" sz="2800" dirty="0"/>
          </a:p>
          <a:p>
            <a:pPr marL="0" indent="0">
              <a:lnSpc>
                <a:spcPct val="150000"/>
              </a:lnSpc>
              <a:buNone/>
            </a:pPr>
            <a:r>
              <a:rPr lang="zh-CN" altLang="zh-CN" sz="2800" dirty="0"/>
              <a:t>为了能对它们加以有效的管理，应该用适当的方式将这些</a:t>
            </a:r>
            <a:r>
              <a:rPr lang="en-US" altLang="zh-CN" sz="2800" dirty="0"/>
              <a:t>PCB</a:t>
            </a:r>
            <a:r>
              <a:rPr lang="zh-CN" altLang="zh-CN" sz="2800" dirty="0"/>
              <a:t>组织起来，以减少</a:t>
            </a:r>
            <a:r>
              <a:rPr lang="en-US" altLang="zh-CN" sz="2800" dirty="0"/>
              <a:t>PCB</a:t>
            </a:r>
            <a:r>
              <a:rPr lang="zh-CN" altLang="zh-CN" sz="2800" dirty="0"/>
              <a:t>的查询时间，典型的形式有队列和表。</a:t>
            </a:r>
          </a:p>
        </p:txBody>
      </p:sp>
    </p:spTree>
    <p:custDataLst>
      <p:tags r:id="rId1"/>
    </p:custDataLst>
    <p:extLst>
      <p:ext uri="{BB962C8B-B14F-4D97-AF65-F5344CB8AC3E}">
        <p14:creationId xmlns:p14="http://schemas.microsoft.com/office/powerpoint/2010/main" val="291631311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normAutofit/>
          </a:bodyPr>
          <a:lstStyle/>
          <a:p>
            <a:pPr algn="ctr"/>
            <a:r>
              <a:rPr lang="en-US" altLang="zh-CN" sz="3600" dirty="0"/>
              <a:t>2.2  </a:t>
            </a:r>
            <a:r>
              <a:rPr lang="zh-CN" altLang="en-US" sz="3600" dirty="0"/>
              <a:t>进程控制块</a:t>
            </a:r>
            <a:endParaRPr lang="en-US" altLang="zh-CN" sz="3600" dirty="0"/>
          </a:p>
        </p:txBody>
      </p:sp>
      <p:sp>
        <p:nvSpPr>
          <p:cNvPr id="3" name="内容占位符 2"/>
          <p:cNvSpPr>
            <a:spLocks noGrp="1"/>
          </p:cNvSpPr>
          <p:nvPr>
            <p:ph idx="1"/>
          </p:nvPr>
        </p:nvSpPr>
        <p:spPr>
          <a:xfrm>
            <a:off x="2225040" y="1463040"/>
            <a:ext cx="6159306" cy="2827607"/>
          </a:xfrm>
        </p:spPr>
        <p:txBody>
          <a:bodyPr>
            <a:normAutofit/>
          </a:bodyPr>
          <a:lstStyle/>
          <a:p>
            <a:pPr>
              <a:buBlip>
                <a:blip r:embed="rId3"/>
              </a:buBlip>
            </a:pPr>
            <a:r>
              <a:rPr lang="en-US" altLang="zh-CN" sz="3200" dirty="0"/>
              <a:t> </a:t>
            </a:r>
            <a:r>
              <a:rPr lang="en-US" altLang="zh-CN" sz="3200" u="dottedHeavy" dirty="0"/>
              <a:t>2</a:t>
            </a:r>
            <a:r>
              <a:rPr lang="en-US" altLang="zh-CN" sz="3200" u="dottedHeavy" dirty="0">
                <a:solidFill>
                  <a:schemeClr val="tx1"/>
                </a:solidFill>
                <a:uFillTx/>
              </a:rPr>
              <a:t>.2.1  </a:t>
            </a:r>
            <a:r>
              <a:rPr lang="en-US" altLang="zh-CN" sz="3200" u="dottedHeavy" dirty="0"/>
              <a:t>PCB</a:t>
            </a:r>
            <a:r>
              <a:rPr lang="zh-CN" altLang="en-US" sz="3200" u="dottedHeavy" dirty="0"/>
              <a:t>的作用</a:t>
            </a:r>
            <a:endParaRPr sz="3200" u="dottedHeavy" dirty="0">
              <a:solidFill>
                <a:schemeClr val="tx1"/>
              </a:solidFill>
              <a:uFillTx/>
            </a:endParaRPr>
          </a:p>
          <a:p>
            <a:pPr>
              <a:buBlip>
                <a:blip r:embed="rId3"/>
              </a:buBlip>
            </a:pPr>
            <a:r>
              <a:rPr sz="3200" dirty="0"/>
              <a:t> </a:t>
            </a:r>
            <a:r>
              <a:rPr lang="en-US" sz="3200" u="dottedHeavy" dirty="0"/>
              <a:t>2</a:t>
            </a:r>
            <a:r>
              <a:rPr lang="en-US" altLang="zh-CN" sz="3200" u="dottedHeavy" dirty="0"/>
              <a:t>.2.2  PCB</a:t>
            </a:r>
            <a:r>
              <a:rPr lang="zh-CN" altLang="en-US" sz="3200" u="dottedHeavy" dirty="0"/>
              <a:t>的内容</a:t>
            </a:r>
            <a:r>
              <a:rPr lang="en-US" altLang="zh-CN" sz="3200" u="dottedHeavy" dirty="0"/>
              <a:t> </a:t>
            </a:r>
          </a:p>
          <a:p>
            <a:pPr>
              <a:buBlip>
                <a:blip r:embed="rId3"/>
              </a:buBlip>
            </a:pPr>
            <a:r>
              <a:rPr lang="zh-CN" altLang="en-US" sz="3200" dirty="0"/>
              <a:t> </a:t>
            </a:r>
            <a:r>
              <a:rPr lang="en-US" altLang="zh-CN" sz="3200" u="dottedHeavy" dirty="0"/>
              <a:t>2.2.3  PCB</a:t>
            </a:r>
            <a:r>
              <a:rPr lang="zh-CN" altLang="en-US" sz="3200" u="dottedHeavy" dirty="0"/>
              <a:t>的组织结构                  </a:t>
            </a:r>
          </a:p>
        </p:txBody>
      </p:sp>
    </p:spTree>
    <p:custDataLst>
      <p:tags r:id="rId1"/>
    </p:custDataLst>
    <p:extLst>
      <p:ext uri="{BB962C8B-B14F-4D97-AF65-F5344CB8AC3E}">
        <p14:creationId xmlns:p14="http://schemas.microsoft.com/office/powerpoint/2010/main" val="289520967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5EC49-5004-659C-AEA3-2D73CB109EFC}"/>
              </a:ext>
            </a:extLst>
          </p:cNvPr>
          <p:cNvSpPr>
            <a:spLocks noGrp="1"/>
          </p:cNvSpPr>
          <p:nvPr>
            <p:ph type="title"/>
          </p:nvPr>
        </p:nvSpPr>
        <p:spPr/>
        <p:txBody>
          <a:bodyPr/>
          <a:lstStyle/>
          <a:p>
            <a:r>
              <a:rPr lang="zh-CN" altLang="en-US" dirty="0"/>
              <a:t>进程控制块</a:t>
            </a:r>
          </a:p>
        </p:txBody>
      </p:sp>
      <p:sp>
        <p:nvSpPr>
          <p:cNvPr id="3" name="内容占位符 2">
            <a:extLst>
              <a:ext uri="{FF2B5EF4-FFF2-40B4-BE49-F238E27FC236}">
                <a16:creationId xmlns:a16="http://schemas.microsoft.com/office/drawing/2014/main" id="{CB497576-3F68-43B5-F3B9-AFF743C363A0}"/>
              </a:ext>
            </a:extLst>
          </p:cNvPr>
          <p:cNvSpPr>
            <a:spLocks noGrp="1"/>
          </p:cNvSpPr>
          <p:nvPr>
            <p:ph idx="1"/>
          </p:nvPr>
        </p:nvSpPr>
        <p:spPr>
          <a:xfrm>
            <a:off x="1271257" y="1121228"/>
            <a:ext cx="8438799" cy="4865914"/>
          </a:xfrm>
        </p:spPr>
        <p:txBody>
          <a:bodyPr>
            <a:normAutofit/>
          </a:bodyPr>
          <a:lstStyle/>
          <a:p>
            <a:pPr marL="0" indent="0">
              <a:buNone/>
            </a:pPr>
            <a:r>
              <a:rPr lang="zh-CN" altLang="en-US" sz="2800" dirty="0"/>
              <a:t>（多选题）进程控制块中保存的信息有（     ）。</a:t>
            </a:r>
          </a:p>
          <a:p>
            <a:pPr marL="0" indent="0">
              <a:buNone/>
            </a:pPr>
            <a:r>
              <a:rPr lang="en-US" altLang="zh-CN" sz="2800" dirty="0"/>
              <a:t>A.</a:t>
            </a:r>
            <a:r>
              <a:rPr lang="zh-CN" altLang="en-US" sz="2800" dirty="0"/>
              <a:t>进程</a:t>
            </a:r>
            <a:r>
              <a:rPr lang="en-US" altLang="zh-CN" sz="2800" dirty="0"/>
              <a:t>ID</a:t>
            </a:r>
          </a:p>
          <a:p>
            <a:pPr marL="0" indent="0">
              <a:buNone/>
            </a:pPr>
            <a:r>
              <a:rPr lang="en-US" altLang="zh-CN" sz="2800" dirty="0"/>
              <a:t>B.</a:t>
            </a:r>
            <a:r>
              <a:rPr lang="zh-CN" altLang="en-US" sz="2800" dirty="0"/>
              <a:t>进程的状态</a:t>
            </a:r>
          </a:p>
          <a:p>
            <a:pPr marL="0" indent="0">
              <a:buNone/>
            </a:pPr>
            <a:r>
              <a:rPr lang="en-US" altLang="zh-CN" sz="2800" dirty="0"/>
              <a:t>C.</a:t>
            </a:r>
            <a:r>
              <a:rPr lang="zh-CN" altLang="en-US" sz="2800" dirty="0"/>
              <a:t>进程的优先级</a:t>
            </a:r>
          </a:p>
          <a:p>
            <a:pPr marL="0" indent="0">
              <a:buNone/>
            </a:pPr>
            <a:r>
              <a:rPr lang="en-US" altLang="zh-CN" sz="2800" dirty="0"/>
              <a:t>D.</a:t>
            </a:r>
            <a:r>
              <a:rPr lang="zh-CN" altLang="en-US" sz="2800" dirty="0"/>
              <a:t>进程的</a:t>
            </a:r>
            <a:r>
              <a:rPr lang="en-US" altLang="zh-CN" sz="2800" dirty="0" err="1"/>
              <a:t>cpu</a:t>
            </a:r>
            <a:r>
              <a:rPr lang="zh-CN" altLang="en-US" sz="2800" dirty="0"/>
              <a:t>现场信息</a:t>
            </a:r>
          </a:p>
          <a:p>
            <a:pPr marL="0" indent="0">
              <a:buNone/>
            </a:pPr>
            <a:r>
              <a:rPr lang="en-US" altLang="zh-CN" sz="2800" dirty="0"/>
              <a:t>E.</a:t>
            </a:r>
            <a:r>
              <a:rPr lang="zh-CN" altLang="en-US" sz="2800" dirty="0"/>
              <a:t>进程已获取的资源清单</a:t>
            </a:r>
          </a:p>
          <a:p>
            <a:pPr marL="0" indent="0">
              <a:buNone/>
            </a:pPr>
            <a:r>
              <a:rPr lang="en-US" altLang="zh-CN" sz="2800" dirty="0"/>
              <a:t>F.</a:t>
            </a:r>
            <a:r>
              <a:rPr lang="zh-CN" altLang="en-US" sz="2800" dirty="0"/>
              <a:t>其子进程</a:t>
            </a:r>
          </a:p>
        </p:txBody>
      </p:sp>
    </p:spTree>
    <p:extLst>
      <p:ext uri="{BB962C8B-B14F-4D97-AF65-F5344CB8AC3E}">
        <p14:creationId xmlns:p14="http://schemas.microsoft.com/office/powerpoint/2010/main" val="7067989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.2.1  </a:t>
            </a:r>
            <a:r>
              <a:rPr lang="en-US" altLang="zh-CN" dirty="0"/>
              <a:t>PCB</a:t>
            </a:r>
            <a:r>
              <a:rPr lang="zh-CN" altLang="en-US" dirty="0"/>
              <a:t>的作用</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9" name="内容占位符 2"/>
          <p:cNvSpPr>
            <a:spLocks noGrp="1"/>
          </p:cNvSpPr>
          <p:nvPr>
            <p:ph idx="1"/>
          </p:nvPr>
        </p:nvSpPr>
        <p:spPr>
          <a:xfrm>
            <a:off x="611505" y="857999"/>
            <a:ext cx="10968990" cy="4029685"/>
          </a:xfrm>
        </p:spPr>
        <p:txBody>
          <a:bodyPr>
            <a:noAutofit/>
          </a:bodyPr>
          <a:lstStyle/>
          <a:p>
            <a:pPr marL="0" indent="0">
              <a:lnSpc>
                <a:spcPct val="150000"/>
              </a:lnSpc>
              <a:buNone/>
            </a:pPr>
            <a:r>
              <a:rPr lang="en-US" altLang="zh-CN" sz="2800" dirty="0"/>
              <a:t>      </a:t>
            </a:r>
            <a:r>
              <a:rPr lang="zh-CN" altLang="zh-CN" sz="2800" dirty="0"/>
              <a:t>操作系统要管理进程和资源，就必须拥有每个进程和资源的描述信息及当前状态信息。所以操作系统必须建立一个结构来描述该进程的存在及状态。这个结构被称为</a:t>
            </a:r>
            <a:r>
              <a:rPr lang="zh-CN" altLang="zh-CN" sz="2800" b="1" dirty="0"/>
              <a:t>进程控制块</a:t>
            </a:r>
            <a:r>
              <a:rPr lang="zh-CN" altLang="zh-CN" sz="2800" dirty="0"/>
              <a:t>，它描述了进程标识、空间、运行状态、资源使用等信息。</a:t>
            </a:r>
            <a:r>
              <a:rPr lang="en-US" altLang="zh-CN" sz="2800" dirty="0"/>
              <a:t> </a:t>
            </a:r>
            <a:r>
              <a:rPr lang="zh-CN" altLang="zh-CN" sz="2800" dirty="0">
                <a:solidFill>
                  <a:srgbClr val="0000FF"/>
                </a:solidFill>
              </a:rPr>
              <a:t>操作系统是根据进程控制块来对并发执行的进程进行控制和管理的。</a:t>
            </a:r>
            <a:endParaRPr lang="en-US" altLang="zh-CN" sz="2800" dirty="0">
              <a:solidFill>
                <a:srgbClr val="0000FF"/>
              </a:solidFill>
            </a:endParaRPr>
          </a:p>
          <a:p>
            <a:pPr marL="0" indent="0">
              <a:lnSpc>
                <a:spcPct val="150000"/>
              </a:lnSpc>
              <a:buNone/>
            </a:pPr>
            <a:r>
              <a:rPr lang="en-US" altLang="zh-CN" sz="2800" dirty="0"/>
              <a:t>      </a:t>
            </a:r>
            <a:r>
              <a:rPr lang="en-US" altLang="zh-CN" sz="2800" dirty="0">
                <a:solidFill>
                  <a:srgbClr val="FF0000"/>
                </a:solidFill>
              </a:rPr>
              <a:t>PCB</a:t>
            </a:r>
            <a:r>
              <a:rPr lang="zh-CN" altLang="zh-CN" sz="2800" dirty="0">
                <a:solidFill>
                  <a:srgbClr val="FF0000"/>
                </a:solidFill>
              </a:rPr>
              <a:t>是进程存在的唯一标志。</a:t>
            </a:r>
          </a:p>
          <a:p>
            <a:pPr marL="0" indent="0">
              <a:lnSpc>
                <a:spcPct val="150000"/>
              </a:lnSpc>
              <a:buNone/>
            </a:pPr>
            <a:endParaRPr lang="zh-CN" altLang="zh-CN" sz="2800" dirty="0"/>
          </a:p>
        </p:txBody>
      </p:sp>
      <p:sp>
        <p:nvSpPr>
          <p:cNvPr id="3" name="文本框 2">
            <a:extLst>
              <a:ext uri="{FF2B5EF4-FFF2-40B4-BE49-F238E27FC236}">
                <a16:creationId xmlns:a16="http://schemas.microsoft.com/office/drawing/2014/main" id="{3E22AAAF-0549-3949-C64E-2C245308A06F}"/>
              </a:ext>
            </a:extLst>
          </p:cNvPr>
          <p:cNvSpPr txBox="1"/>
          <p:nvPr/>
        </p:nvSpPr>
        <p:spPr>
          <a:xfrm>
            <a:off x="332014" y="5417694"/>
            <a:ext cx="11527972" cy="954107"/>
          </a:xfrm>
          <a:prstGeom prst="rect">
            <a:avLst/>
          </a:prstGeom>
          <a:solidFill>
            <a:srgbClr val="FFFF99"/>
          </a:solidFill>
        </p:spPr>
        <p:txBody>
          <a:bodyPr wrap="square" rtlCol="0">
            <a:spAutoFit/>
          </a:bodyPr>
          <a:lstStyle/>
          <a:p>
            <a:r>
              <a:rPr lang="zh-CN" altLang="en-US" sz="2800" dirty="0">
                <a:latin typeface="华文新魏" panose="02010800040101010101" pitchFamily="2" charset="-122"/>
                <a:ea typeface="华文新魏" panose="02010800040101010101" pitchFamily="2" charset="-122"/>
              </a:rPr>
              <a:t>在</a:t>
            </a:r>
            <a:r>
              <a:rPr lang="en-US" altLang="zh-CN" sz="2800" dirty="0" err="1">
                <a:solidFill>
                  <a:schemeClr val="accent6">
                    <a:lumMod val="75000"/>
                  </a:schemeClr>
                </a:solidFill>
                <a:latin typeface="华文新魏" panose="02010800040101010101" pitchFamily="2" charset="-122"/>
                <a:ea typeface="华文新魏" panose="02010800040101010101" pitchFamily="2" charset="-122"/>
              </a:rPr>
              <a:t>openEuler</a:t>
            </a:r>
            <a:r>
              <a:rPr lang="zh-CN" altLang="en-US" sz="2800" dirty="0">
                <a:latin typeface="华文新魏" panose="02010800040101010101" pitchFamily="2" charset="-122"/>
                <a:ea typeface="华文新魏" panose="02010800040101010101" pitchFamily="2" charset="-122"/>
              </a:rPr>
              <a:t>中，</a:t>
            </a:r>
            <a:r>
              <a:rPr lang="en-US" altLang="zh-CN" sz="2800" dirty="0">
                <a:solidFill>
                  <a:schemeClr val="accent6">
                    <a:lumMod val="75000"/>
                  </a:schemeClr>
                </a:solidFill>
                <a:latin typeface="华文新魏" panose="02010800040101010101" pitchFamily="2" charset="-122"/>
                <a:ea typeface="华文新魏" panose="02010800040101010101" pitchFamily="2" charset="-122"/>
              </a:rPr>
              <a:t>PCB</a:t>
            </a:r>
            <a:r>
              <a:rPr lang="zh-CN" altLang="en-US" sz="2800" dirty="0">
                <a:solidFill>
                  <a:schemeClr val="accent6">
                    <a:lumMod val="75000"/>
                  </a:schemeClr>
                </a:solidFill>
                <a:latin typeface="华文新魏" panose="02010800040101010101" pitchFamily="2" charset="-122"/>
                <a:ea typeface="华文新魏" panose="02010800040101010101" pitchFamily="2" charset="-122"/>
              </a:rPr>
              <a:t>的数据结构是</a:t>
            </a:r>
            <a:r>
              <a:rPr lang="en-US" altLang="zh-CN" sz="2800" dirty="0">
                <a:solidFill>
                  <a:schemeClr val="accent6">
                    <a:lumMod val="75000"/>
                  </a:schemeClr>
                </a:solidFill>
                <a:latin typeface="华文新魏" panose="02010800040101010101" pitchFamily="2" charset="-122"/>
                <a:ea typeface="华文新魏" panose="02010800040101010101" pitchFamily="2" charset="-122"/>
              </a:rPr>
              <a:t>struct </a:t>
            </a:r>
            <a:r>
              <a:rPr lang="en-US" altLang="zh-CN" sz="2800" dirty="0" err="1">
                <a:solidFill>
                  <a:schemeClr val="accent6">
                    <a:lumMod val="75000"/>
                  </a:schemeClr>
                </a:solidFill>
                <a:latin typeface="华文新魏" panose="02010800040101010101" pitchFamily="2" charset="-122"/>
                <a:ea typeface="华文新魏" panose="02010800040101010101" pitchFamily="2" charset="-122"/>
              </a:rPr>
              <a:t>task_struct</a:t>
            </a:r>
            <a:r>
              <a:rPr lang="zh-CN" altLang="en-US" sz="2800" dirty="0">
                <a:latin typeface="华文新魏" panose="02010800040101010101" pitchFamily="2" charset="-122"/>
                <a:ea typeface="华文新魏" panose="02010800040101010101" pitchFamily="2" charset="-122"/>
              </a:rPr>
              <a:t>， 它主要包含一个进程的描述信息、控制信息、</a:t>
            </a:r>
            <a:r>
              <a:rPr lang="en-US" altLang="zh-CN" sz="2800" dirty="0">
                <a:latin typeface="华文新魏" panose="02010800040101010101" pitchFamily="2" charset="-122"/>
                <a:ea typeface="华文新魏" panose="02010800040101010101" pitchFamily="2" charset="-122"/>
              </a:rPr>
              <a:t>CPU</a:t>
            </a:r>
            <a:r>
              <a:rPr lang="zh-CN" altLang="en-US" sz="2800" dirty="0">
                <a:latin typeface="华文新魏" panose="02010800040101010101" pitchFamily="2" charset="-122"/>
                <a:ea typeface="华文新魏" panose="02010800040101010101" pitchFamily="2" charset="-122"/>
              </a:rPr>
              <a:t>上下文和资源管理信息四个方面的内容。</a:t>
            </a:r>
          </a:p>
        </p:txBody>
      </p:sp>
    </p:spTree>
    <p:custDataLst>
      <p:tags r:id="rId1"/>
    </p:custDataLst>
    <p:extLst>
      <p:ext uri="{BB962C8B-B14F-4D97-AF65-F5344CB8AC3E}">
        <p14:creationId xmlns:p14="http://schemas.microsoft.com/office/powerpoint/2010/main" val="71995229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.2.2  </a:t>
            </a:r>
            <a:r>
              <a:rPr lang="en-US" altLang="zh-CN" dirty="0"/>
              <a:t>PCB</a:t>
            </a:r>
            <a:r>
              <a:rPr lang="zh-CN" altLang="en-US" dirty="0"/>
              <a:t>的内容</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 name="组合 2145"/>
          <p:cNvGrpSpPr>
            <a:grpSpLocks noChangeAspect="1"/>
          </p:cNvGrpSpPr>
          <p:nvPr/>
        </p:nvGrpSpPr>
        <p:grpSpPr bwMode="auto">
          <a:xfrm>
            <a:off x="7255915" y="190431"/>
            <a:ext cx="2546253" cy="3065819"/>
            <a:chOff x="4641" y="1540"/>
            <a:chExt cx="1974" cy="2649"/>
          </a:xfrm>
        </p:grpSpPr>
        <p:sp>
          <p:nvSpPr>
            <p:cNvPr id="7" name="矩形 2146"/>
            <p:cNvSpPr>
              <a:spLocks noChangeArrowheads="1"/>
            </p:cNvSpPr>
            <p:nvPr/>
          </p:nvSpPr>
          <p:spPr bwMode="auto">
            <a:xfrm>
              <a:off x="4788" y="1540"/>
              <a:ext cx="1752" cy="55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进程标识信息</a:t>
              </a:r>
              <a:endParaRPr kumimoji="0" lang="zh-CN" altLang="zh-CN" sz="2000" b="1"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1" i="0" u="none" strike="noStrike" cap="none" normalizeH="0" baseline="0">
                <a:ln>
                  <a:noFill/>
                </a:ln>
                <a:solidFill>
                  <a:schemeClr val="tx1"/>
                </a:solidFill>
                <a:effectLst/>
                <a:latin typeface="Arial" panose="020B0604020202020204" pitchFamily="34" charset="0"/>
              </a:endParaRPr>
            </a:p>
          </p:txBody>
        </p:sp>
        <p:sp>
          <p:nvSpPr>
            <p:cNvPr id="8" name="矩形 2155"/>
            <p:cNvSpPr>
              <a:spLocks noChangeArrowheads="1"/>
            </p:cNvSpPr>
            <p:nvPr/>
          </p:nvSpPr>
          <p:spPr bwMode="auto">
            <a:xfrm>
              <a:off x="4788" y="2095"/>
              <a:ext cx="1752" cy="55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处理器状态信息</a:t>
              </a:r>
              <a:endParaRPr kumimoji="0" lang="zh-CN" altLang="zh-CN"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1" i="0" u="none" strike="noStrike" cap="none" normalizeH="0" baseline="0" dirty="0">
                <a:ln>
                  <a:noFill/>
                </a:ln>
                <a:solidFill>
                  <a:schemeClr val="tx1"/>
                </a:solidFill>
                <a:effectLst/>
                <a:latin typeface="Arial" panose="020B0604020202020204" pitchFamily="34" charset="0"/>
              </a:endParaRPr>
            </a:p>
          </p:txBody>
        </p:sp>
        <p:sp>
          <p:nvSpPr>
            <p:cNvPr id="9" name="矩形 2156"/>
            <p:cNvSpPr>
              <a:spLocks noChangeArrowheads="1"/>
            </p:cNvSpPr>
            <p:nvPr/>
          </p:nvSpPr>
          <p:spPr bwMode="auto">
            <a:xfrm>
              <a:off x="4788" y="2646"/>
              <a:ext cx="1752" cy="55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进程调度信息</a:t>
              </a:r>
              <a:endParaRPr kumimoji="0" lang="zh-CN" altLang="zh-CN"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1" i="0" u="none" strike="noStrike" cap="none" normalizeH="0" baseline="0" dirty="0">
                <a:ln>
                  <a:noFill/>
                </a:ln>
                <a:solidFill>
                  <a:schemeClr val="tx1"/>
                </a:solidFill>
                <a:effectLst/>
                <a:latin typeface="Arial" panose="020B0604020202020204" pitchFamily="34" charset="0"/>
              </a:endParaRPr>
            </a:p>
          </p:txBody>
        </p:sp>
        <p:sp>
          <p:nvSpPr>
            <p:cNvPr id="10" name="文本框 2157"/>
            <p:cNvSpPr txBox="1">
              <a:spLocks noChangeArrowheads="1"/>
            </p:cNvSpPr>
            <p:nvPr/>
          </p:nvSpPr>
          <p:spPr bwMode="auto">
            <a:xfrm>
              <a:off x="4641" y="3943"/>
              <a:ext cx="1974" cy="24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图</a:t>
              </a:r>
              <a:r>
                <a:rPr kumimoji="0" lang="en-US" altLang="zh-CN"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2-9 </a:t>
              </a:r>
              <a:r>
                <a:rPr kumimoji="0" lang="zh-CN" altLang="en-US"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进程控制块</a:t>
              </a:r>
              <a:endParaRPr kumimoji="0" lang="zh-CN" altLang="en-US" sz="2000" b="1" i="0" u="none" strike="noStrike" cap="none" normalizeH="0" baseline="0" dirty="0">
                <a:ln>
                  <a:noFill/>
                </a:ln>
                <a:solidFill>
                  <a:schemeClr val="tx1"/>
                </a:solidFill>
                <a:effectLst/>
                <a:latin typeface="Arial" panose="020B0604020202020204" pitchFamily="34" charset="0"/>
              </a:endParaRPr>
            </a:p>
          </p:txBody>
        </p:sp>
        <p:sp>
          <p:nvSpPr>
            <p:cNvPr id="11" name="矩形 2158"/>
            <p:cNvSpPr>
              <a:spLocks noChangeArrowheads="1"/>
            </p:cNvSpPr>
            <p:nvPr/>
          </p:nvSpPr>
          <p:spPr bwMode="auto">
            <a:xfrm>
              <a:off x="4788" y="3202"/>
              <a:ext cx="1752" cy="552"/>
            </a:xfrm>
            <a:prstGeom prst="rect">
              <a:avLst/>
            </a:pr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2000" b="1"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进程控制信息</a:t>
              </a:r>
              <a:endParaRPr kumimoji="0" lang="zh-CN" altLang="zh-CN" sz="20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CN" altLang="zh-CN" sz="2000" b="1" i="0" u="none" strike="noStrike" cap="none" normalizeH="0" baseline="0" dirty="0">
                <a:ln>
                  <a:noFill/>
                </a:ln>
                <a:solidFill>
                  <a:schemeClr val="tx1"/>
                </a:solidFill>
                <a:effectLst/>
                <a:latin typeface="Arial" panose="020B0604020202020204" pitchFamily="34" charset="0"/>
              </a:endParaRPr>
            </a:p>
          </p:txBody>
        </p:sp>
      </p:grpSp>
      <p:sp>
        <p:nvSpPr>
          <p:cNvPr id="13" name="内容占位符 2"/>
          <p:cNvSpPr>
            <a:spLocks noGrp="1"/>
          </p:cNvSpPr>
          <p:nvPr>
            <p:ph idx="1"/>
          </p:nvPr>
        </p:nvSpPr>
        <p:spPr>
          <a:xfrm>
            <a:off x="489222" y="2747017"/>
            <a:ext cx="11213556" cy="3806183"/>
          </a:xfrm>
        </p:spPr>
        <p:txBody>
          <a:bodyPr>
            <a:noAutofit/>
          </a:bodyPr>
          <a:lstStyle/>
          <a:p>
            <a:pPr marL="0" indent="0">
              <a:buNone/>
            </a:pPr>
            <a:r>
              <a:rPr lang="zh-CN" altLang="zh-CN" dirty="0"/>
              <a:t>（</a:t>
            </a:r>
            <a:r>
              <a:rPr lang="en-US" altLang="zh-CN" dirty="0"/>
              <a:t>1</a:t>
            </a:r>
            <a:r>
              <a:rPr lang="zh-CN" altLang="zh-CN" dirty="0"/>
              <a:t>）</a:t>
            </a:r>
            <a:r>
              <a:rPr lang="zh-CN" altLang="zh-CN" b="1" dirty="0">
                <a:solidFill>
                  <a:srgbClr val="692B99"/>
                </a:solidFill>
              </a:rPr>
              <a:t>进程标识信息</a:t>
            </a:r>
            <a:r>
              <a:rPr lang="zh-CN" altLang="zh-CN" dirty="0"/>
              <a:t>。包括：</a:t>
            </a:r>
          </a:p>
          <a:p>
            <a:pPr marL="0" indent="0">
              <a:buNone/>
            </a:pPr>
            <a:r>
              <a:rPr lang="en-US" altLang="zh-CN" dirty="0"/>
              <a:t>    ① </a:t>
            </a:r>
            <a:r>
              <a:rPr lang="zh-CN" altLang="zh-CN" dirty="0"/>
              <a:t>本进程的标识符，可分为外部标识符和内部标识符两种。其中，外部标识符也称作进程的外部名，是进程的创建者提供的进程名字，通常由字符串组成。内部标识符也称作进程的内部名，是系统为进程命名的一个代码，通常是一个整型数。</a:t>
            </a:r>
          </a:p>
          <a:p>
            <a:pPr marL="0" indent="0">
              <a:buNone/>
            </a:pPr>
            <a:r>
              <a:rPr lang="en-US" altLang="zh-CN" dirty="0"/>
              <a:t>    ②</a:t>
            </a:r>
            <a:r>
              <a:rPr lang="zh-CN" altLang="zh-CN" dirty="0"/>
              <a:t>父进程（也就是创建本进程的进程）的标识符</a:t>
            </a:r>
            <a:r>
              <a:rPr lang="zh-CN" altLang="en-US" dirty="0"/>
              <a:t>。</a:t>
            </a:r>
            <a:endParaRPr lang="zh-CN" altLang="zh-CN" dirty="0"/>
          </a:p>
          <a:p>
            <a:pPr marL="0" indent="0">
              <a:buNone/>
            </a:pPr>
            <a:r>
              <a:rPr lang="en-US" altLang="zh-CN" dirty="0"/>
              <a:t>    ③ </a:t>
            </a:r>
            <a:r>
              <a:rPr lang="zh-CN" altLang="zh-CN" dirty="0"/>
              <a:t>用户标识符，进程所属用户的标识符</a:t>
            </a:r>
            <a:r>
              <a:rPr lang="zh-CN" altLang="en-US" dirty="0"/>
              <a:t>。</a:t>
            </a:r>
            <a:endParaRPr lang="zh-CN" altLang="zh-CN" dirty="0"/>
          </a:p>
        </p:txBody>
      </p:sp>
    </p:spTree>
    <p:custDataLst>
      <p:tags r:id="rId1"/>
    </p:custDataLst>
    <p:extLst>
      <p:ext uri="{BB962C8B-B14F-4D97-AF65-F5344CB8AC3E}">
        <p14:creationId xmlns:p14="http://schemas.microsoft.com/office/powerpoint/2010/main" val="233535581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.2.2  </a:t>
            </a:r>
            <a:r>
              <a:rPr lang="en-US" altLang="zh-CN" dirty="0"/>
              <a:t>PCB</a:t>
            </a:r>
            <a:r>
              <a:rPr lang="zh-CN" altLang="en-US" dirty="0"/>
              <a:t>的内容</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359229" y="959046"/>
            <a:ext cx="11506199" cy="5550607"/>
          </a:xfrm>
        </p:spPr>
        <p:txBody>
          <a:bodyPr>
            <a:noAutofit/>
          </a:bodyPr>
          <a:lstStyle/>
          <a:p>
            <a:pPr marL="0" indent="0">
              <a:spcAft>
                <a:spcPts val="0"/>
              </a:spcAft>
              <a:buNone/>
            </a:pPr>
            <a:r>
              <a:rPr lang="zh-CN" altLang="zh-CN" dirty="0"/>
              <a:t>（</a:t>
            </a:r>
            <a:r>
              <a:rPr lang="en-US" altLang="zh-CN" dirty="0"/>
              <a:t>2</a:t>
            </a:r>
            <a:r>
              <a:rPr lang="zh-CN" altLang="zh-CN" dirty="0"/>
              <a:t>）</a:t>
            </a:r>
            <a:r>
              <a:rPr lang="zh-CN" altLang="zh-CN" b="1" dirty="0">
                <a:solidFill>
                  <a:srgbClr val="692B99"/>
                </a:solidFill>
              </a:rPr>
              <a:t>处理机状态信息</a:t>
            </a:r>
            <a:r>
              <a:rPr lang="zh-CN" altLang="zh-CN" dirty="0"/>
              <a:t>。包含的内容有：</a:t>
            </a:r>
          </a:p>
          <a:p>
            <a:pPr marL="0" indent="0">
              <a:spcAft>
                <a:spcPts val="0"/>
              </a:spcAft>
              <a:buNone/>
            </a:pPr>
            <a:r>
              <a:rPr lang="en-US" altLang="zh-CN" dirty="0"/>
              <a:t>   ① </a:t>
            </a:r>
            <a:r>
              <a:rPr lang="zh-CN" altLang="zh-CN" dirty="0"/>
              <a:t>通用寄存器的内容，包括数据寄存器、段寄存器等。</a:t>
            </a:r>
          </a:p>
          <a:p>
            <a:pPr marL="0" indent="0">
              <a:spcAft>
                <a:spcPts val="0"/>
              </a:spcAft>
              <a:buNone/>
            </a:pPr>
            <a:r>
              <a:rPr lang="en-US" altLang="zh-CN" dirty="0"/>
              <a:t>   ② </a:t>
            </a:r>
            <a:r>
              <a:rPr lang="zh-CN" altLang="zh-CN" dirty="0"/>
              <a:t>程序计数器的值，其中存放了要访问的下一条指令的地址。</a:t>
            </a:r>
          </a:p>
          <a:p>
            <a:pPr marL="0" indent="0">
              <a:spcAft>
                <a:spcPts val="0"/>
              </a:spcAft>
              <a:buNone/>
            </a:pPr>
            <a:r>
              <a:rPr lang="en-US" altLang="zh-CN" dirty="0"/>
              <a:t>   ③ </a:t>
            </a:r>
            <a:r>
              <a:rPr lang="zh-CN" altLang="zh-CN" dirty="0"/>
              <a:t>程序状态字</a:t>
            </a:r>
            <a:r>
              <a:rPr lang="en-US" altLang="zh-CN" dirty="0"/>
              <a:t>PSW</a:t>
            </a:r>
            <a:r>
              <a:rPr lang="zh-CN" altLang="zh-CN" dirty="0"/>
              <a:t>，其中含状态信息，如条件码、执行方式、中断屏蔽标志等。</a:t>
            </a:r>
          </a:p>
          <a:p>
            <a:pPr marL="0" indent="0">
              <a:spcAft>
                <a:spcPts val="0"/>
              </a:spcAft>
              <a:buNone/>
            </a:pPr>
            <a:r>
              <a:rPr lang="en-US" altLang="zh-CN" dirty="0"/>
              <a:t>   ④ </a:t>
            </a:r>
            <a:r>
              <a:rPr lang="zh-CN" altLang="zh-CN" dirty="0"/>
              <a:t>进程的堆栈指针。</a:t>
            </a:r>
            <a:endParaRPr lang="en-US" altLang="zh-CN" dirty="0"/>
          </a:p>
          <a:p>
            <a:pPr marL="0" indent="0">
              <a:spcAft>
                <a:spcPts val="0"/>
              </a:spcAft>
              <a:buNone/>
            </a:pPr>
            <a:r>
              <a:rPr lang="zh-CN" altLang="zh-CN" dirty="0"/>
              <a:t>（</a:t>
            </a:r>
            <a:r>
              <a:rPr lang="en-US" altLang="zh-CN" dirty="0"/>
              <a:t>3</a:t>
            </a:r>
            <a:r>
              <a:rPr lang="zh-CN" altLang="zh-CN" dirty="0"/>
              <a:t>）</a:t>
            </a:r>
            <a:r>
              <a:rPr lang="zh-CN" altLang="zh-CN" b="1" dirty="0">
                <a:solidFill>
                  <a:srgbClr val="692B99"/>
                </a:solidFill>
              </a:rPr>
              <a:t>进程调度信息</a:t>
            </a:r>
            <a:r>
              <a:rPr lang="zh-CN" altLang="zh-CN" dirty="0"/>
              <a:t>。系统为了对进程实施调度，必须参考进程控制块中记录的调度信息，包括：</a:t>
            </a:r>
          </a:p>
          <a:p>
            <a:pPr marL="0" indent="0">
              <a:spcAft>
                <a:spcPts val="0"/>
              </a:spcAft>
              <a:buNone/>
            </a:pPr>
            <a:r>
              <a:rPr lang="en-US" altLang="zh-CN" dirty="0"/>
              <a:t>   ① </a:t>
            </a:r>
            <a:r>
              <a:rPr lang="zh-CN" altLang="zh-CN" dirty="0">
                <a:solidFill>
                  <a:srgbClr val="0000FF"/>
                </a:solidFill>
              </a:rPr>
              <a:t>进程优先级</a:t>
            </a:r>
            <a:r>
              <a:rPr lang="zh-CN" altLang="zh-CN" dirty="0"/>
              <a:t>。</a:t>
            </a:r>
          </a:p>
          <a:p>
            <a:pPr marL="0" indent="0">
              <a:spcAft>
                <a:spcPts val="0"/>
              </a:spcAft>
              <a:buNone/>
            </a:pPr>
            <a:r>
              <a:rPr lang="en-US" altLang="zh-CN" dirty="0"/>
              <a:t>   ② </a:t>
            </a:r>
            <a:r>
              <a:rPr lang="zh-CN" altLang="zh-CN" dirty="0">
                <a:solidFill>
                  <a:srgbClr val="0000FF"/>
                </a:solidFill>
              </a:rPr>
              <a:t>进程状态信息</a:t>
            </a:r>
            <a:r>
              <a:rPr lang="zh-CN" altLang="zh-CN" dirty="0"/>
              <a:t>，描述进程当前处于何种状态。</a:t>
            </a:r>
          </a:p>
          <a:p>
            <a:pPr marL="0" indent="0">
              <a:spcAft>
                <a:spcPts val="0"/>
              </a:spcAft>
              <a:buNone/>
            </a:pPr>
            <a:r>
              <a:rPr lang="en-US" altLang="zh-CN" dirty="0"/>
              <a:t>   ③ </a:t>
            </a:r>
            <a:r>
              <a:rPr lang="zh-CN" altLang="zh-CN" dirty="0"/>
              <a:t>其它调度信息。</a:t>
            </a:r>
          </a:p>
        </p:txBody>
      </p:sp>
    </p:spTree>
    <p:custDataLst>
      <p:tags r:id="rId1"/>
    </p:custDataLst>
    <p:extLst>
      <p:ext uri="{BB962C8B-B14F-4D97-AF65-F5344CB8AC3E}">
        <p14:creationId xmlns:p14="http://schemas.microsoft.com/office/powerpoint/2010/main" val="402974894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.2.2  </a:t>
            </a:r>
            <a:r>
              <a:rPr lang="en-US" altLang="zh-CN" dirty="0"/>
              <a:t>PCB</a:t>
            </a:r>
            <a:r>
              <a:rPr lang="zh-CN" altLang="en-US" dirty="0"/>
              <a:t>的内容</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085658"/>
            <a:ext cx="10968990" cy="4890597"/>
          </a:xfrm>
        </p:spPr>
        <p:txBody>
          <a:bodyPr>
            <a:noAutofit/>
          </a:bodyPr>
          <a:lstStyle/>
          <a:p>
            <a:pPr marL="0" indent="0">
              <a:spcAft>
                <a:spcPts val="0"/>
              </a:spcAft>
              <a:buNone/>
            </a:pPr>
            <a:r>
              <a:rPr lang="zh-CN" altLang="zh-CN" sz="2800" dirty="0"/>
              <a:t>（</a:t>
            </a:r>
            <a:r>
              <a:rPr lang="en-US" altLang="zh-CN" sz="2800" dirty="0"/>
              <a:t>4</a:t>
            </a:r>
            <a:r>
              <a:rPr lang="zh-CN" altLang="zh-CN" sz="2800" dirty="0"/>
              <a:t>）</a:t>
            </a:r>
            <a:r>
              <a:rPr lang="zh-CN" altLang="zh-CN" sz="2800" b="1" dirty="0">
                <a:solidFill>
                  <a:srgbClr val="692B99"/>
                </a:solidFill>
              </a:rPr>
              <a:t>进程控制信息</a:t>
            </a:r>
            <a:r>
              <a:rPr lang="zh-CN" altLang="zh-CN" sz="2800" dirty="0"/>
              <a:t>。这部分信息包括：</a:t>
            </a:r>
          </a:p>
          <a:p>
            <a:pPr marL="0" indent="0">
              <a:spcAft>
                <a:spcPts val="0"/>
              </a:spcAft>
              <a:buNone/>
            </a:pPr>
            <a:r>
              <a:rPr lang="en-US" altLang="zh-CN" sz="2800" dirty="0"/>
              <a:t>   ① </a:t>
            </a:r>
            <a:r>
              <a:rPr lang="zh-CN" altLang="zh-CN" sz="2800" dirty="0"/>
              <a:t>程序代码和数据集所在的内存地址。</a:t>
            </a:r>
          </a:p>
          <a:p>
            <a:pPr marL="0" indent="0">
              <a:spcAft>
                <a:spcPts val="0"/>
              </a:spcAft>
              <a:buNone/>
            </a:pPr>
            <a:r>
              <a:rPr lang="en-US" altLang="zh-CN" sz="2800" dirty="0"/>
              <a:t>   ② </a:t>
            </a:r>
            <a:r>
              <a:rPr lang="zh-CN" altLang="zh-CN" sz="2800" dirty="0"/>
              <a:t>资源清单，是一张列出了除</a:t>
            </a:r>
            <a:r>
              <a:rPr lang="en-US" altLang="zh-CN" sz="2800" dirty="0"/>
              <a:t>CPU</a:t>
            </a:r>
            <a:r>
              <a:rPr lang="zh-CN" altLang="zh-CN" sz="2800" dirty="0"/>
              <a:t>以外的、进程所需的全部资源及已经分配给该进程的资源清单。</a:t>
            </a:r>
          </a:p>
          <a:p>
            <a:pPr marL="0" indent="0">
              <a:spcAft>
                <a:spcPts val="0"/>
              </a:spcAft>
              <a:buNone/>
            </a:pPr>
            <a:r>
              <a:rPr lang="en-US" altLang="zh-CN" sz="2800" dirty="0"/>
              <a:t>   ③ </a:t>
            </a:r>
            <a:r>
              <a:rPr lang="zh-CN" altLang="zh-CN" sz="2800" dirty="0"/>
              <a:t>同步与通信信息。</a:t>
            </a:r>
          </a:p>
          <a:p>
            <a:pPr marL="0" indent="0">
              <a:spcAft>
                <a:spcPts val="0"/>
              </a:spcAft>
              <a:buNone/>
            </a:pPr>
            <a:r>
              <a:rPr lang="en-US" altLang="zh-CN" sz="2800" dirty="0"/>
              <a:t>   ④ </a:t>
            </a:r>
            <a:r>
              <a:rPr lang="zh-CN" altLang="zh-CN" sz="2800" dirty="0"/>
              <a:t>外存地址。由于内存紧张，将进程挂起时所在的外存地址。</a:t>
            </a:r>
          </a:p>
          <a:p>
            <a:pPr marL="0" indent="0">
              <a:spcAft>
                <a:spcPts val="0"/>
              </a:spcAft>
              <a:buNone/>
            </a:pPr>
            <a:r>
              <a:rPr lang="en-US" altLang="zh-CN" sz="2800" dirty="0"/>
              <a:t>   </a:t>
            </a:r>
            <a:r>
              <a:rPr lang="zh-CN" altLang="zh-CN" sz="2800" dirty="0"/>
              <a:t>⑤ 家族信息。</a:t>
            </a:r>
            <a:endParaRPr lang="en-US" altLang="zh-CN" sz="2800" dirty="0"/>
          </a:p>
          <a:p>
            <a:pPr marL="0" indent="0">
              <a:spcAft>
                <a:spcPts val="0"/>
              </a:spcAft>
              <a:buNone/>
            </a:pPr>
            <a:r>
              <a:rPr lang="en-US" altLang="zh-CN" sz="2800" dirty="0"/>
              <a:t>   </a:t>
            </a:r>
            <a:r>
              <a:rPr lang="zh-CN" altLang="zh-CN" sz="2800" dirty="0"/>
              <a:t>⑥ 链接指针。</a:t>
            </a:r>
          </a:p>
        </p:txBody>
      </p:sp>
    </p:spTree>
    <p:custDataLst>
      <p:tags r:id="rId1"/>
    </p:custDataLst>
    <p:extLst>
      <p:ext uri="{BB962C8B-B14F-4D97-AF65-F5344CB8AC3E}">
        <p14:creationId xmlns:p14="http://schemas.microsoft.com/office/powerpoint/2010/main" val="337485926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1C94B8-A79D-8C30-84FC-17565C45D4C7}"/>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7F12517-ABF0-3016-3A00-129C1C796EBC}"/>
              </a:ext>
            </a:extLst>
          </p:cNvPr>
          <p:cNvSpPr>
            <a:spLocks noGrp="1"/>
          </p:cNvSpPr>
          <p:nvPr>
            <p:ph idx="1"/>
          </p:nvPr>
        </p:nvSpPr>
        <p:spPr>
          <a:xfrm>
            <a:off x="1522730" y="1521369"/>
            <a:ext cx="8786041" cy="4019459"/>
          </a:xfrm>
        </p:spPr>
        <p:txBody>
          <a:bodyPr/>
          <a:lstStyle/>
          <a:p>
            <a:pPr marL="0" indent="0">
              <a:buNone/>
            </a:pPr>
            <a:r>
              <a:rPr lang="zh-CN" altLang="en-US" dirty="0"/>
              <a:t>分析：进程控制块的组织方式哪种合适？</a:t>
            </a:r>
          </a:p>
          <a:p>
            <a:pPr marL="0" indent="0">
              <a:buNone/>
            </a:pPr>
            <a:r>
              <a:rPr lang="en-US" altLang="zh-CN" dirty="0"/>
              <a:t>A.</a:t>
            </a:r>
            <a:r>
              <a:rPr lang="zh-CN" altLang="en-US" dirty="0"/>
              <a:t>顺序表方式</a:t>
            </a:r>
          </a:p>
          <a:p>
            <a:pPr marL="0" indent="0">
              <a:buNone/>
            </a:pPr>
            <a:r>
              <a:rPr lang="en-US" altLang="zh-CN" dirty="0"/>
              <a:t>B.</a:t>
            </a:r>
            <a:r>
              <a:rPr lang="zh-CN" altLang="en-US" dirty="0"/>
              <a:t>链式表方式</a:t>
            </a:r>
          </a:p>
          <a:p>
            <a:pPr marL="0" indent="0">
              <a:buNone/>
            </a:pPr>
            <a:r>
              <a:rPr lang="en-US" altLang="zh-CN" dirty="0"/>
              <a:t>C.</a:t>
            </a:r>
            <a:r>
              <a:rPr lang="zh-CN" altLang="en-US" dirty="0"/>
              <a:t>索引表方式</a:t>
            </a:r>
          </a:p>
          <a:p>
            <a:pPr marL="0" indent="0">
              <a:buNone/>
            </a:pPr>
            <a:r>
              <a:rPr lang="en-US" altLang="zh-CN" dirty="0"/>
              <a:t>D.</a:t>
            </a:r>
            <a:r>
              <a:rPr lang="zh-CN" altLang="en-US" dirty="0"/>
              <a:t>树形方式</a:t>
            </a:r>
          </a:p>
        </p:txBody>
      </p:sp>
    </p:spTree>
    <p:extLst>
      <p:ext uri="{BB962C8B-B14F-4D97-AF65-F5344CB8AC3E}">
        <p14:creationId xmlns:p14="http://schemas.microsoft.com/office/powerpoint/2010/main" val="3012046036"/>
      </p:ext>
    </p:extLst>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06BD84-C4C7-B059-BF72-41385D2623CA}"/>
              </a:ext>
            </a:extLst>
          </p:cNvPr>
          <p:cNvSpPr>
            <a:spLocks noGrp="1"/>
          </p:cNvSpPr>
          <p:nvPr>
            <p:ph type="title"/>
          </p:nvPr>
        </p:nvSpPr>
        <p:spPr/>
        <p:txBody>
          <a:bodyPr/>
          <a:lstStyle/>
          <a:p>
            <a:r>
              <a:rPr lang="zh-CN" altLang="en-US" dirty="0"/>
              <a:t>思考题</a:t>
            </a:r>
          </a:p>
        </p:txBody>
      </p:sp>
      <p:sp>
        <p:nvSpPr>
          <p:cNvPr id="3" name="内容占位符 2">
            <a:extLst>
              <a:ext uri="{FF2B5EF4-FFF2-40B4-BE49-F238E27FC236}">
                <a16:creationId xmlns:a16="http://schemas.microsoft.com/office/drawing/2014/main" id="{E97CD450-D3AB-AD6B-20CD-A8B40CAB6E56}"/>
              </a:ext>
            </a:extLst>
          </p:cNvPr>
          <p:cNvSpPr>
            <a:spLocks noGrp="1"/>
          </p:cNvSpPr>
          <p:nvPr>
            <p:ph idx="1"/>
          </p:nvPr>
        </p:nvSpPr>
        <p:spPr>
          <a:xfrm>
            <a:off x="472966" y="819970"/>
            <a:ext cx="11288110" cy="5612361"/>
          </a:xfrm>
        </p:spPr>
        <p:txBody>
          <a:bodyPr>
            <a:normAutofit fontScale="85000" lnSpcReduction="20000"/>
          </a:bodyPr>
          <a:lstStyle/>
          <a:p>
            <a:pPr marL="0" indent="0">
              <a:buNone/>
            </a:pPr>
            <a:r>
              <a:rPr lang="zh-CN" altLang="en-US" dirty="0"/>
              <a:t>假设一个分时操作系统的进程控制块（</a:t>
            </a:r>
            <a:r>
              <a:rPr lang="en-US" altLang="zh-CN" dirty="0"/>
              <a:t>PCB</a:t>
            </a:r>
            <a:r>
              <a:rPr lang="zh-CN" altLang="en-US" dirty="0"/>
              <a:t>）主要采用三种组织方式：</a:t>
            </a:r>
          </a:p>
          <a:p>
            <a:pPr marL="0" indent="0">
              <a:buNone/>
            </a:pPr>
            <a:r>
              <a:rPr lang="zh-CN" altLang="en-US" b="1" dirty="0"/>
              <a:t>单一就绪队列（链式结构）</a:t>
            </a:r>
            <a:r>
              <a:rPr lang="zh-CN" altLang="en-US" dirty="0"/>
              <a:t>：所有就绪状态的</a:t>
            </a:r>
            <a:r>
              <a:rPr lang="en-US" altLang="zh-CN" dirty="0"/>
              <a:t>PCB</a:t>
            </a:r>
            <a:r>
              <a:rPr lang="zh-CN" altLang="en-US" dirty="0"/>
              <a:t>按优先级排列在一个链表中。</a:t>
            </a:r>
          </a:p>
          <a:p>
            <a:pPr marL="0" indent="0">
              <a:buNone/>
            </a:pPr>
            <a:r>
              <a:rPr lang="zh-CN" altLang="en-US" b="1" dirty="0"/>
              <a:t>多级就绪队列（链式结构）</a:t>
            </a:r>
            <a:r>
              <a:rPr lang="zh-CN" altLang="en-US" dirty="0"/>
              <a:t>：将就绪队列分为多个（如高、中、低三个优先级队列）。</a:t>
            </a:r>
          </a:p>
          <a:p>
            <a:pPr marL="0" indent="0">
              <a:buNone/>
            </a:pPr>
            <a:r>
              <a:rPr lang="zh-CN" altLang="en-US" b="1" dirty="0"/>
              <a:t>就绪索引表</a:t>
            </a:r>
            <a:r>
              <a:rPr lang="zh-CN" altLang="en-US" dirty="0"/>
              <a:t>：维护一张就绪索引表，表中的每一项指向一个就绪</a:t>
            </a:r>
            <a:r>
              <a:rPr lang="en-US" altLang="zh-CN" dirty="0"/>
              <a:t>PCB</a:t>
            </a:r>
            <a:r>
              <a:rPr lang="zh-CN" altLang="en-US" dirty="0"/>
              <a:t>。</a:t>
            </a:r>
          </a:p>
          <a:p>
            <a:pPr marL="0" indent="0">
              <a:buNone/>
            </a:pPr>
            <a:r>
              <a:rPr lang="zh-CN" altLang="en-US" dirty="0">
                <a:solidFill>
                  <a:srgbClr val="0000FF"/>
                </a:solidFill>
              </a:rPr>
              <a:t>现在考虑三种典型的系统操作：</a:t>
            </a:r>
          </a:p>
          <a:p>
            <a:pPr marL="0" indent="0">
              <a:buNone/>
            </a:pPr>
            <a:r>
              <a:rPr lang="zh-CN" altLang="en-US" b="1" dirty="0">
                <a:solidFill>
                  <a:srgbClr val="0000FF"/>
                </a:solidFill>
              </a:rPr>
              <a:t>操作</a:t>
            </a:r>
            <a:r>
              <a:rPr lang="en-US" altLang="zh-CN" b="1" dirty="0">
                <a:solidFill>
                  <a:srgbClr val="0000FF"/>
                </a:solidFill>
              </a:rPr>
              <a:t>A</a:t>
            </a:r>
            <a:r>
              <a:rPr lang="zh-CN" altLang="en-US" b="1" dirty="0">
                <a:solidFill>
                  <a:srgbClr val="0000FF"/>
                </a:solidFill>
              </a:rPr>
              <a:t>（进程调度）</a:t>
            </a:r>
            <a:r>
              <a:rPr lang="zh-CN" altLang="en-US" dirty="0">
                <a:solidFill>
                  <a:srgbClr val="0000FF"/>
                </a:solidFill>
              </a:rPr>
              <a:t>：从就绪队列中选取一个优先级最高的进程投入运行。</a:t>
            </a:r>
          </a:p>
          <a:p>
            <a:pPr marL="0" indent="0">
              <a:buNone/>
            </a:pPr>
            <a:r>
              <a:rPr lang="zh-CN" altLang="en-US" b="1" dirty="0">
                <a:solidFill>
                  <a:srgbClr val="0000FF"/>
                </a:solidFill>
              </a:rPr>
              <a:t>操作</a:t>
            </a:r>
            <a:r>
              <a:rPr lang="en-US" altLang="zh-CN" b="1" dirty="0">
                <a:solidFill>
                  <a:srgbClr val="0000FF"/>
                </a:solidFill>
              </a:rPr>
              <a:t>B</a:t>
            </a:r>
            <a:r>
              <a:rPr lang="zh-CN" altLang="en-US" b="1" dirty="0">
                <a:solidFill>
                  <a:srgbClr val="0000FF"/>
                </a:solidFill>
              </a:rPr>
              <a:t>（进程唤醒）</a:t>
            </a:r>
            <a:r>
              <a:rPr lang="zh-CN" altLang="en-US" dirty="0">
                <a:solidFill>
                  <a:srgbClr val="0000FF"/>
                </a:solidFill>
              </a:rPr>
              <a:t>：当某个</a:t>
            </a:r>
            <a:r>
              <a:rPr lang="en-US" altLang="zh-CN" dirty="0">
                <a:solidFill>
                  <a:srgbClr val="0000FF"/>
                </a:solidFill>
              </a:rPr>
              <a:t>I/O</a:t>
            </a:r>
            <a:r>
              <a:rPr lang="zh-CN" altLang="en-US" dirty="0">
                <a:solidFill>
                  <a:srgbClr val="0000FF"/>
                </a:solidFill>
              </a:rPr>
              <a:t>操作完成时，系统需要找到所有等待该</a:t>
            </a:r>
            <a:r>
              <a:rPr lang="en-US" altLang="zh-CN" dirty="0">
                <a:solidFill>
                  <a:srgbClr val="0000FF"/>
                </a:solidFill>
              </a:rPr>
              <a:t>I/O</a:t>
            </a:r>
            <a:r>
              <a:rPr lang="zh-CN" altLang="en-US" dirty="0">
                <a:solidFill>
                  <a:srgbClr val="0000FF"/>
                </a:solidFill>
              </a:rPr>
              <a:t>事件的进程，将它们的状态由“阻塞”改为“就绪”，并插入就绪队列。</a:t>
            </a:r>
          </a:p>
          <a:p>
            <a:pPr marL="0" indent="0">
              <a:buNone/>
            </a:pPr>
            <a:r>
              <a:rPr lang="zh-CN" altLang="en-US" b="1" dirty="0">
                <a:solidFill>
                  <a:srgbClr val="0000FF"/>
                </a:solidFill>
              </a:rPr>
              <a:t>操作</a:t>
            </a:r>
            <a:r>
              <a:rPr lang="en-US" altLang="zh-CN" b="1" dirty="0">
                <a:solidFill>
                  <a:srgbClr val="0000FF"/>
                </a:solidFill>
              </a:rPr>
              <a:t>C</a:t>
            </a:r>
            <a:r>
              <a:rPr lang="zh-CN" altLang="en-US" b="1" dirty="0">
                <a:solidFill>
                  <a:srgbClr val="0000FF"/>
                </a:solidFill>
              </a:rPr>
              <a:t>（优先级调整）</a:t>
            </a:r>
            <a:r>
              <a:rPr lang="zh-CN" altLang="en-US" dirty="0">
                <a:solidFill>
                  <a:srgbClr val="0000FF"/>
                </a:solidFill>
              </a:rPr>
              <a:t>：用户通过命令动态调整某个后台进程的优先级，系统需要找到该进程，修改其</a:t>
            </a:r>
            <a:r>
              <a:rPr lang="en-US" altLang="zh-CN" dirty="0">
                <a:solidFill>
                  <a:srgbClr val="0000FF"/>
                </a:solidFill>
              </a:rPr>
              <a:t>PCB</a:t>
            </a:r>
            <a:r>
              <a:rPr lang="zh-CN" altLang="en-US" dirty="0">
                <a:solidFill>
                  <a:srgbClr val="0000FF"/>
                </a:solidFill>
              </a:rPr>
              <a:t>中的优先级字段，并根据新优先级将其重新插入就绪队列。</a:t>
            </a:r>
          </a:p>
          <a:p>
            <a:pPr marL="0" indent="0">
              <a:buNone/>
            </a:pPr>
            <a:r>
              <a:rPr lang="zh-CN" altLang="en-US" b="1" dirty="0"/>
              <a:t>请分析：</a:t>
            </a:r>
            <a:br>
              <a:rPr lang="zh-CN" altLang="en-US" dirty="0"/>
            </a:br>
            <a:r>
              <a:rPr lang="zh-CN" altLang="en-US" dirty="0">
                <a:solidFill>
                  <a:srgbClr val="692B99"/>
                </a:solidFill>
              </a:rPr>
              <a:t>对于</a:t>
            </a:r>
            <a:r>
              <a:rPr lang="zh-CN" altLang="en-US" b="1" dirty="0">
                <a:solidFill>
                  <a:srgbClr val="692B99"/>
                </a:solidFill>
              </a:rPr>
              <a:t>操作</a:t>
            </a:r>
            <a:r>
              <a:rPr lang="en-US" altLang="zh-CN" b="1" dirty="0">
                <a:solidFill>
                  <a:srgbClr val="692B99"/>
                </a:solidFill>
              </a:rPr>
              <a:t>B</a:t>
            </a:r>
            <a:r>
              <a:rPr lang="zh-CN" altLang="en-US" b="1" dirty="0">
                <a:solidFill>
                  <a:srgbClr val="692B99"/>
                </a:solidFill>
              </a:rPr>
              <a:t>（进程唤醒）</a:t>
            </a:r>
            <a:r>
              <a:rPr lang="zh-CN" altLang="en-US" dirty="0">
                <a:solidFill>
                  <a:srgbClr val="692B99"/>
                </a:solidFill>
              </a:rPr>
              <a:t>，哪一种</a:t>
            </a:r>
            <a:r>
              <a:rPr lang="en-US" altLang="zh-CN" dirty="0">
                <a:solidFill>
                  <a:srgbClr val="692B99"/>
                </a:solidFill>
              </a:rPr>
              <a:t>PCB</a:t>
            </a:r>
            <a:r>
              <a:rPr lang="zh-CN" altLang="en-US" dirty="0">
                <a:solidFill>
                  <a:srgbClr val="692B99"/>
                </a:solidFill>
              </a:rPr>
              <a:t>组织方式可能效率最低？请详细解释其效率低下的原因，并对比说明在其他组织方式下，如何设计能更高效地完成此操作。</a:t>
            </a:r>
          </a:p>
          <a:p>
            <a:pPr marL="0" indent="0">
              <a:buNone/>
            </a:pPr>
            <a:endParaRPr lang="zh-CN" altLang="en-US" dirty="0"/>
          </a:p>
        </p:txBody>
      </p:sp>
    </p:spTree>
    <p:extLst>
      <p:ext uri="{BB962C8B-B14F-4D97-AF65-F5344CB8AC3E}">
        <p14:creationId xmlns:p14="http://schemas.microsoft.com/office/powerpoint/2010/main" val="270111822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1.PCB</a:t>
            </a:r>
            <a:r>
              <a:rPr lang="zh-CN" altLang="en-US" dirty="0"/>
              <a:t>队列（链表）</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 name="对象 5"/>
          <p:cNvGraphicFramePr>
            <a:graphicFrameLocks noChangeAspect="1"/>
          </p:cNvGraphicFramePr>
          <p:nvPr>
            <p:extLst>
              <p:ext uri="{D42A27DB-BD31-4B8C-83A1-F6EECF244321}">
                <p14:modId xmlns:p14="http://schemas.microsoft.com/office/powerpoint/2010/main" val="2591763567"/>
              </p:ext>
            </p:extLst>
          </p:nvPr>
        </p:nvGraphicFramePr>
        <p:xfrm>
          <a:off x="4444383" y="1328576"/>
          <a:ext cx="6591667" cy="5377023"/>
        </p:xfrm>
        <a:graphic>
          <a:graphicData uri="http://schemas.openxmlformats.org/presentationml/2006/ole">
            <mc:AlternateContent xmlns:mc="http://schemas.openxmlformats.org/markup-compatibility/2006">
              <mc:Choice xmlns:v="urn:schemas-microsoft-com:vml" Requires="v">
                <p:oleObj name="Visio" r:id="rId3" imgW="5152791" imgH="4191234" progId="Visio.Drawing.11">
                  <p:embed/>
                </p:oleObj>
              </mc:Choice>
              <mc:Fallback>
                <p:oleObj name="Visio" r:id="rId3" imgW="5152791" imgH="4191234"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4383" y="1328576"/>
                        <a:ext cx="6591667" cy="5377023"/>
                      </a:xfrm>
                      <a:prstGeom prst="rect">
                        <a:avLst/>
                      </a:prstGeom>
                      <a:noFill/>
                    </p:spPr>
                  </p:pic>
                </p:oleObj>
              </mc:Fallback>
            </mc:AlternateContent>
          </a:graphicData>
        </a:graphic>
      </p:graphicFrame>
      <p:sp>
        <p:nvSpPr>
          <p:cNvPr id="7" name="矩形 6"/>
          <p:cNvSpPr/>
          <p:nvPr/>
        </p:nvSpPr>
        <p:spPr>
          <a:xfrm>
            <a:off x="375641" y="858000"/>
            <a:ext cx="10935285" cy="941155"/>
          </a:xfrm>
          <a:prstGeom prst="rect">
            <a:avLst/>
          </a:prstGeom>
        </p:spPr>
        <p:txBody>
          <a:bodyPr wrap="square">
            <a:spAutoFit/>
          </a:bodyPr>
          <a:lstStyle/>
          <a:p>
            <a:pPr>
              <a:lnSpc>
                <a:spcPct val="120000"/>
              </a:lnSpc>
            </a:pPr>
            <a:r>
              <a:rPr lang="en-US" altLang="zh-CN" sz="2400" kern="100" dirty="0">
                <a:latin typeface="+mn-ea"/>
                <a:cs typeface="Times New Roman" panose="02020603050405020304" pitchFamily="18" charset="0"/>
              </a:rPr>
              <a:t>       </a:t>
            </a:r>
            <a:r>
              <a:rPr lang="zh-CN" altLang="zh-CN" sz="2400" kern="100" dirty="0">
                <a:latin typeface="+mn-ea"/>
                <a:cs typeface="Times New Roman" panose="02020603050405020304" pitchFamily="18" charset="0"/>
              </a:rPr>
              <a:t>为了方便查找，通常将处于不同状态下的各进程</a:t>
            </a:r>
            <a:r>
              <a:rPr lang="en-US" altLang="zh-CN" sz="2400" kern="100" dirty="0">
                <a:latin typeface="+mn-ea"/>
              </a:rPr>
              <a:t>PCB</a:t>
            </a:r>
            <a:r>
              <a:rPr lang="zh-CN" altLang="zh-CN" sz="2400" kern="100" dirty="0">
                <a:latin typeface="+mn-ea"/>
                <a:cs typeface="Times New Roman" panose="02020603050405020304" pitchFamily="18" charset="0"/>
              </a:rPr>
              <a:t>分别组成队列，队列的</a:t>
            </a:r>
            <a:r>
              <a:rPr lang="zh-CN" altLang="zh-CN" sz="2400" kern="100" dirty="0">
                <a:solidFill>
                  <a:srgbClr val="000000"/>
                </a:solidFill>
                <a:latin typeface="+mn-ea"/>
                <a:cs typeface="Times New Roman" panose="02020603050405020304" pitchFamily="18" charset="0"/>
              </a:rPr>
              <a:t>队首</a:t>
            </a:r>
            <a:r>
              <a:rPr lang="zh-CN" altLang="zh-CN" sz="2400" kern="100" dirty="0">
                <a:latin typeface="+mn-ea"/>
                <a:cs typeface="Times New Roman" panose="02020603050405020304" pitchFamily="18" charset="0"/>
              </a:rPr>
              <a:t>指针放入一个系统表中。</a:t>
            </a:r>
            <a:endParaRPr lang="zh-CN" altLang="en-US" sz="2400" dirty="0">
              <a:latin typeface="+mn-ea"/>
            </a:endParaRPr>
          </a:p>
        </p:txBody>
      </p:sp>
    </p:spTree>
    <p:custDataLst>
      <p:tags r:id="rId1"/>
    </p:custDataLst>
    <p:extLst>
      <p:ext uri="{BB962C8B-B14F-4D97-AF65-F5344CB8AC3E}">
        <p14:creationId xmlns:p14="http://schemas.microsoft.com/office/powerpoint/2010/main" val="212880893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2.PCB</a:t>
            </a:r>
            <a:r>
              <a:rPr lang="zh-CN" altLang="en-US" dirty="0"/>
              <a:t>表</a:t>
            </a:r>
            <a:r>
              <a:rPr lang="en-US" altLang="zh-CN" dirty="0"/>
              <a:t>——</a:t>
            </a:r>
            <a:r>
              <a:rPr lang="zh-CN" altLang="zh-CN" sz="3200" dirty="0">
                <a:latin typeface="+mn-ea"/>
              </a:rPr>
              <a:t>索引表</a:t>
            </a:r>
            <a:endParaRPr lang="zh-CN" altLang="en-US" dirty="0"/>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682825654"/>
              </p:ext>
            </p:extLst>
          </p:nvPr>
        </p:nvGraphicFramePr>
        <p:xfrm>
          <a:off x="1392869" y="1248045"/>
          <a:ext cx="9777549" cy="5283384"/>
        </p:xfrm>
        <a:graphic>
          <a:graphicData uri="http://schemas.openxmlformats.org/presentationml/2006/ole">
            <mc:AlternateContent xmlns:mc="http://schemas.openxmlformats.org/markup-compatibility/2006">
              <mc:Choice xmlns:v="urn:schemas-microsoft-com:vml" Requires="v">
                <p:oleObj name="Visio" r:id="rId3" imgW="4245604" imgH="2290800" progId="Visio.Drawing.11">
                  <p:embed/>
                </p:oleObj>
              </mc:Choice>
              <mc:Fallback>
                <p:oleObj name="Visio" r:id="rId3" imgW="4245604" imgH="2290800" progId="Visio.Drawing.11">
                  <p:embed/>
                  <p:pic>
                    <p:nvPicPr>
                      <p:cNvPr id="0" name="对象 1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869" y="1248045"/>
                        <a:ext cx="9777549" cy="5283384"/>
                      </a:xfrm>
                      <a:prstGeom prst="rect">
                        <a:avLst/>
                      </a:prstGeom>
                      <a:noFill/>
                    </p:spPr>
                  </p:pic>
                </p:oleObj>
              </mc:Fallback>
            </mc:AlternateContent>
          </a:graphicData>
        </a:graphic>
      </p:graphicFrame>
    </p:spTree>
    <p:custDataLst>
      <p:tags r:id="rId1"/>
    </p:custDataLst>
    <p:extLst>
      <p:ext uri="{BB962C8B-B14F-4D97-AF65-F5344CB8AC3E}">
        <p14:creationId xmlns:p14="http://schemas.microsoft.com/office/powerpoint/2010/main" val="59509616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2.3  </a:t>
            </a:r>
            <a:r>
              <a:rPr lang="zh-CN" altLang="en-US" dirty="0"/>
              <a:t>进程控制</a:t>
            </a:r>
            <a:endParaRPr lang="en-US" altLang="zh-CN" dirty="0"/>
          </a:p>
        </p:txBody>
      </p:sp>
      <p:sp>
        <p:nvSpPr>
          <p:cNvPr id="3" name="内容占位符 2"/>
          <p:cNvSpPr>
            <a:spLocks noGrp="1"/>
          </p:cNvSpPr>
          <p:nvPr>
            <p:ph idx="1"/>
          </p:nvPr>
        </p:nvSpPr>
        <p:spPr>
          <a:xfrm>
            <a:off x="3062322" y="921816"/>
            <a:ext cx="5415210" cy="2909956"/>
          </a:xfrm>
        </p:spPr>
        <p:txBody>
          <a:bodyPr>
            <a:noAutofit/>
          </a:bodyPr>
          <a:lstStyle/>
          <a:p>
            <a:pPr>
              <a:buBlip>
                <a:blip r:embed="rId3"/>
              </a:buBlip>
            </a:pPr>
            <a:r>
              <a:rPr lang="en-US" altLang="zh-CN" sz="3200" dirty="0"/>
              <a:t> </a:t>
            </a:r>
            <a:r>
              <a:rPr lang="en-US" altLang="zh-CN" sz="3200" u="dottedHeavy" dirty="0"/>
              <a:t>2</a:t>
            </a:r>
            <a:r>
              <a:rPr lang="en-US" altLang="zh-CN" sz="3200" u="dottedHeavy" dirty="0">
                <a:solidFill>
                  <a:schemeClr val="tx1"/>
                </a:solidFill>
                <a:uFillTx/>
              </a:rPr>
              <a:t>.3.1  </a:t>
            </a:r>
            <a:r>
              <a:rPr lang="zh-CN" altLang="en-US" sz="3200" u="dottedHeavy" dirty="0"/>
              <a:t>进程的创建</a:t>
            </a:r>
            <a:endParaRPr sz="3200" u="dottedHeavy" dirty="0">
              <a:solidFill>
                <a:schemeClr val="tx1"/>
              </a:solidFill>
              <a:uFillTx/>
            </a:endParaRPr>
          </a:p>
          <a:p>
            <a:pPr>
              <a:buBlip>
                <a:blip r:embed="rId3"/>
              </a:buBlip>
            </a:pPr>
            <a:r>
              <a:rPr sz="3200" dirty="0"/>
              <a:t> </a:t>
            </a:r>
            <a:r>
              <a:rPr lang="en-US" sz="3200" u="dottedHeavy" dirty="0"/>
              <a:t>2</a:t>
            </a:r>
            <a:r>
              <a:rPr lang="en-US" altLang="zh-CN" sz="3200" u="dottedHeavy" dirty="0"/>
              <a:t>.3.2  </a:t>
            </a:r>
            <a:r>
              <a:rPr lang="zh-CN" altLang="en-US" sz="3200" u="dottedHeavy" dirty="0"/>
              <a:t>进程的终止</a:t>
            </a:r>
            <a:r>
              <a:rPr lang="en-US" altLang="zh-CN" sz="3200" u="dottedHeavy" dirty="0"/>
              <a:t> </a:t>
            </a:r>
          </a:p>
          <a:p>
            <a:pPr>
              <a:buBlip>
                <a:blip r:embed="rId3"/>
              </a:buBlip>
            </a:pPr>
            <a:r>
              <a:rPr lang="zh-CN" altLang="en-US" sz="3200" dirty="0"/>
              <a:t> </a:t>
            </a:r>
            <a:r>
              <a:rPr lang="en-US" altLang="zh-CN" sz="3200" u="dottedHeavy" dirty="0"/>
              <a:t>2.3.3  </a:t>
            </a:r>
            <a:r>
              <a:rPr lang="zh-CN" altLang="en-US" sz="3200" u="dottedHeavy" dirty="0"/>
              <a:t>进程的阻塞与唤醒</a:t>
            </a:r>
            <a:endParaRPr lang="en-US" altLang="zh-CN" sz="3200" u="dottedHeavy" dirty="0"/>
          </a:p>
          <a:p>
            <a:pPr>
              <a:buBlip>
                <a:blip r:embed="rId3"/>
              </a:buBlip>
            </a:pPr>
            <a:r>
              <a:rPr lang="en-US" altLang="zh-CN" sz="3200" dirty="0"/>
              <a:t> </a:t>
            </a:r>
            <a:r>
              <a:rPr lang="en-US" altLang="zh-CN" sz="3200" u="dottedHeavy" dirty="0"/>
              <a:t>2.3.4</a:t>
            </a:r>
            <a:r>
              <a:rPr lang="zh-CN" altLang="en-US" sz="3200" u="dottedHeavy" dirty="0"/>
              <a:t>  进程的挂起与激活                 </a:t>
            </a:r>
          </a:p>
        </p:txBody>
      </p:sp>
      <p:sp>
        <p:nvSpPr>
          <p:cNvPr id="4" name="文本框 3">
            <a:extLst>
              <a:ext uri="{FF2B5EF4-FFF2-40B4-BE49-F238E27FC236}">
                <a16:creationId xmlns:a16="http://schemas.microsoft.com/office/drawing/2014/main" id="{86BD88BA-4EA6-4CB4-8EF6-D58D7563B12B}"/>
              </a:ext>
            </a:extLst>
          </p:cNvPr>
          <p:cNvSpPr txBox="1"/>
          <p:nvPr/>
        </p:nvSpPr>
        <p:spPr>
          <a:xfrm>
            <a:off x="1076325" y="4128479"/>
            <a:ext cx="10896602" cy="2519408"/>
          </a:xfrm>
          <a:prstGeom prst="rect">
            <a:avLst/>
          </a:prstGeom>
          <a:noFill/>
        </p:spPr>
        <p:txBody>
          <a:bodyPr wrap="square" rtlCol="0">
            <a:spAutoFit/>
          </a:bodyPr>
          <a:lstStyle/>
          <a:p>
            <a:pPr marL="457200" indent="-457200">
              <a:lnSpc>
                <a:spcPct val="150000"/>
              </a:lnSpc>
              <a:buFont typeface="Wingdings" panose="05000000000000000000" pitchFamily="2" charset="2"/>
              <a:buChar char="p"/>
            </a:pPr>
            <a:r>
              <a:rPr lang="zh-CN" altLang="en-US" sz="2800" dirty="0"/>
              <a:t>进程控制使用</a:t>
            </a:r>
            <a:r>
              <a:rPr lang="zh-CN" altLang="en-US" sz="2800" dirty="0">
                <a:solidFill>
                  <a:srgbClr val="FF0000"/>
                </a:solidFill>
              </a:rPr>
              <a:t>原语</a:t>
            </a:r>
            <a:r>
              <a:rPr lang="zh-CN" altLang="en-US" sz="2800" dirty="0"/>
              <a:t>实现。</a:t>
            </a:r>
            <a:endParaRPr lang="en-US" altLang="zh-CN" sz="2800" dirty="0"/>
          </a:p>
          <a:p>
            <a:pPr marL="457200" indent="-457200">
              <a:lnSpc>
                <a:spcPct val="150000"/>
              </a:lnSpc>
              <a:buFont typeface="Wingdings" panose="05000000000000000000" pitchFamily="2" charset="2"/>
              <a:buChar char="p"/>
            </a:pPr>
            <a:r>
              <a:rPr lang="zh-CN" altLang="en-US" sz="2800" dirty="0"/>
              <a:t>原语：</a:t>
            </a:r>
            <a:r>
              <a:rPr lang="zh-CN" altLang="en-US" sz="2800" b="0" i="0" dirty="0">
                <a:effectLst/>
                <a:latin typeface="Helvetica Neue"/>
              </a:rPr>
              <a:t>一般是指由若干条指令组成的</a:t>
            </a:r>
            <a:r>
              <a:rPr lang="zh-CN" altLang="en-US" sz="2800" b="0" i="0" dirty="0">
                <a:solidFill>
                  <a:srgbClr val="0000FF"/>
                </a:solidFill>
                <a:effectLst/>
                <a:latin typeface="Helvetica Neue"/>
              </a:rPr>
              <a:t>程序段</a:t>
            </a:r>
            <a:r>
              <a:rPr lang="zh-CN" altLang="en-US" sz="2800" b="0" i="0" dirty="0">
                <a:effectLst/>
                <a:latin typeface="Helvetica Neue"/>
              </a:rPr>
              <a:t>，用来实现某个特定功能，</a:t>
            </a:r>
            <a:r>
              <a:rPr lang="zh-CN" altLang="en-US" sz="2800" b="0" i="0" dirty="0">
                <a:solidFill>
                  <a:srgbClr val="0000FF"/>
                </a:solidFill>
                <a:effectLst/>
                <a:latin typeface="Helvetica Neue"/>
              </a:rPr>
              <a:t>在执行过程中不可被中断</a:t>
            </a:r>
            <a:r>
              <a:rPr lang="zh-CN" altLang="en-US" sz="2800" b="0" i="0" dirty="0">
                <a:effectLst/>
                <a:latin typeface="Helvetica Neue"/>
              </a:rPr>
              <a:t>。</a:t>
            </a:r>
            <a:r>
              <a:rPr lang="zh-CN" altLang="en-US" sz="2400" b="0" i="0" dirty="0">
                <a:effectLst/>
                <a:latin typeface="Helvetica Neue"/>
              </a:rPr>
              <a:t>即：原语一旦开始执行，就要连续执行完，不允许中断。</a:t>
            </a:r>
            <a:endParaRPr lang="zh-CN" altLang="en-US" sz="2800" dirty="0"/>
          </a:p>
        </p:txBody>
      </p:sp>
    </p:spTree>
    <p:custDataLst>
      <p:tags r:id="rId1"/>
    </p:custDataLst>
    <p:extLst>
      <p:ext uri="{BB962C8B-B14F-4D97-AF65-F5344CB8AC3E}">
        <p14:creationId xmlns:p14="http://schemas.microsoft.com/office/powerpoint/2010/main" val="279379377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3940F4FB-99F9-E8BD-DD9B-9824DF37F4A1}"/>
              </a:ext>
            </a:extLst>
          </p:cNvPr>
          <p:cNvGraphicFramePr>
            <a:graphicFrameLocks noGrp="1"/>
          </p:cNvGraphicFramePr>
          <p:nvPr>
            <p:ph idx="1"/>
            <p:extLst>
              <p:ext uri="{D42A27DB-BD31-4B8C-83A1-F6EECF244321}">
                <p14:modId xmlns:p14="http://schemas.microsoft.com/office/powerpoint/2010/main" val="1608692650"/>
              </p:ext>
            </p:extLst>
          </p:nvPr>
        </p:nvGraphicFramePr>
        <p:xfrm>
          <a:off x="729675" y="1870007"/>
          <a:ext cx="10695070" cy="4241800"/>
        </p:xfrm>
        <a:graphic>
          <a:graphicData uri="http://schemas.openxmlformats.org/drawingml/2006/table">
            <a:tbl>
              <a:tblPr/>
              <a:tblGrid>
                <a:gridCol w="7443396">
                  <a:extLst>
                    <a:ext uri="{9D8B030D-6E8A-4147-A177-3AD203B41FA5}">
                      <a16:colId xmlns:a16="http://schemas.microsoft.com/office/drawing/2014/main" val="3907069991"/>
                    </a:ext>
                  </a:extLst>
                </a:gridCol>
                <a:gridCol w="3251674">
                  <a:extLst>
                    <a:ext uri="{9D8B030D-6E8A-4147-A177-3AD203B41FA5}">
                      <a16:colId xmlns:a16="http://schemas.microsoft.com/office/drawing/2014/main" val="3844360612"/>
                    </a:ext>
                  </a:extLst>
                </a:gridCol>
              </a:tblGrid>
              <a:tr h="428338">
                <a:tc>
                  <a:txBody>
                    <a:bodyPr/>
                    <a:lstStyle/>
                    <a:p>
                      <a:pPr algn="l">
                        <a:lnSpc>
                          <a:spcPct val="100000"/>
                        </a:lnSpc>
                        <a:buNone/>
                      </a:pPr>
                      <a:r>
                        <a:rPr lang="zh-CN" altLang="en-US" sz="2200" b="0">
                          <a:effectLst/>
                          <a:latin typeface="quote-cjk-patch"/>
                        </a:rPr>
                        <a:t>进程控制操作描述</a:t>
                      </a:r>
                    </a:p>
                  </a:txBody>
                  <a:tcPr marR="101600" marT="63500" marB="63500" anchor="ctr">
                    <a:lnL>
                      <a:noFill/>
                    </a:lnL>
                    <a:lnR>
                      <a:noFill/>
                    </a:lnR>
                    <a:lnT>
                      <a:noFill/>
                    </a:lnT>
                    <a:lnB>
                      <a:noFill/>
                    </a:lnB>
                    <a:noFill/>
                  </a:tcPr>
                </a:tc>
                <a:tc>
                  <a:txBody>
                    <a:bodyPr/>
                    <a:lstStyle/>
                    <a:p>
                      <a:pPr algn="l">
                        <a:lnSpc>
                          <a:spcPct val="100000"/>
                        </a:lnSpc>
                        <a:buNone/>
                      </a:pPr>
                      <a:r>
                        <a:rPr lang="zh-CN" altLang="en-US" sz="2200" b="0" dirty="0">
                          <a:effectLst/>
                          <a:latin typeface="quote-cjk-patch"/>
                        </a:rPr>
                        <a:t>属于哪个原语？</a:t>
                      </a:r>
                    </a:p>
                  </a:txBody>
                  <a:tcPr marL="101600" marR="101600" marT="63500" marB="63500" anchor="ctr">
                    <a:lnL>
                      <a:noFill/>
                    </a:lnL>
                    <a:lnR>
                      <a:noFill/>
                    </a:lnR>
                    <a:lnT>
                      <a:noFill/>
                    </a:lnT>
                    <a:lnB>
                      <a:noFill/>
                    </a:lnB>
                    <a:noFill/>
                  </a:tcPr>
                </a:tc>
                <a:extLst>
                  <a:ext uri="{0D108BD9-81ED-4DB2-BD59-A6C34878D82A}">
                    <a16:rowId xmlns:a16="http://schemas.microsoft.com/office/drawing/2014/main" val="378538309"/>
                  </a:ext>
                </a:extLst>
              </a:tr>
              <a:tr h="708973">
                <a:tc>
                  <a:txBody>
                    <a:bodyPr/>
                    <a:lstStyle/>
                    <a:p>
                      <a:pPr>
                        <a:lnSpc>
                          <a:spcPct val="100000"/>
                        </a:lnSpc>
                        <a:buNone/>
                      </a:pPr>
                      <a:r>
                        <a:rPr lang="en-US" altLang="zh-CN" sz="2200" b="0" dirty="0">
                          <a:effectLst/>
                          <a:latin typeface="quote-cjk-patch"/>
                        </a:rPr>
                        <a:t>1. </a:t>
                      </a:r>
                      <a:r>
                        <a:rPr lang="zh-CN" altLang="en-US" sz="2200" b="0" dirty="0">
                          <a:effectLst/>
                          <a:latin typeface="quote-cjk-patch"/>
                        </a:rPr>
                        <a:t>操作系统为程序分配一个空白</a:t>
                      </a:r>
                      <a:r>
                        <a:rPr lang="en-US" altLang="zh-CN" sz="2200" b="0" dirty="0">
                          <a:effectLst/>
                          <a:latin typeface="quote-cjk-patch"/>
                        </a:rPr>
                        <a:t>PCB</a:t>
                      </a:r>
                      <a:r>
                        <a:rPr lang="zh-CN" altLang="en-US" sz="2200" b="0" dirty="0">
                          <a:effectLst/>
                          <a:latin typeface="quote-cjk-patch"/>
                        </a:rPr>
                        <a:t>，初始化并插入就绪队列。</a:t>
                      </a:r>
                    </a:p>
                  </a:txBody>
                  <a:tcPr marR="101600" marT="63500" marB="63500" anchor="ctr">
                    <a:lnL>
                      <a:noFill/>
                    </a:lnL>
                    <a:lnR>
                      <a:noFill/>
                    </a:lnR>
                    <a:lnT>
                      <a:noFill/>
                    </a:lnT>
                    <a:lnB>
                      <a:noFill/>
                    </a:lnB>
                    <a:noFill/>
                  </a:tcPr>
                </a:tc>
                <a:tc>
                  <a:txBody>
                    <a:bodyPr/>
                    <a:lstStyle/>
                    <a:p>
                      <a:pPr>
                        <a:lnSpc>
                          <a:spcPct val="100000"/>
                        </a:lnSpc>
                        <a:buNone/>
                      </a:pPr>
                      <a:r>
                        <a:rPr lang="en-US" sz="2200" b="0" dirty="0">
                          <a:effectLst/>
                          <a:latin typeface="quote-cjk-patch"/>
                        </a:rPr>
                        <a:t>A. </a:t>
                      </a:r>
                      <a:r>
                        <a:rPr lang="zh-CN" altLang="en-US" sz="2200" b="1" dirty="0">
                          <a:effectLst/>
                          <a:latin typeface="quote-cjk-patch"/>
                        </a:rPr>
                        <a:t>阻塞原语</a:t>
                      </a:r>
                      <a:endParaRPr lang="zh-CN" alt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3239070759"/>
                  </a:ext>
                </a:extLst>
              </a:tr>
              <a:tr h="428338">
                <a:tc>
                  <a:txBody>
                    <a:bodyPr/>
                    <a:lstStyle/>
                    <a:p>
                      <a:pPr>
                        <a:lnSpc>
                          <a:spcPct val="100000"/>
                        </a:lnSpc>
                        <a:buNone/>
                      </a:pPr>
                      <a:r>
                        <a:rPr lang="en-US" altLang="zh-CN" sz="2200" b="0">
                          <a:effectLst/>
                          <a:latin typeface="quote-cjk-patch"/>
                        </a:rPr>
                        <a:t>2. </a:t>
                      </a:r>
                      <a:r>
                        <a:rPr lang="zh-CN" altLang="en-US" sz="2200" b="0">
                          <a:effectLst/>
                          <a:latin typeface="quote-cjk-patch"/>
                        </a:rPr>
                        <a:t>进程因等待</a:t>
                      </a:r>
                      <a:r>
                        <a:rPr lang="en-US" altLang="zh-CN" sz="2200" b="0">
                          <a:effectLst/>
                          <a:latin typeface="quote-cjk-patch"/>
                        </a:rPr>
                        <a:t>I/O</a:t>
                      </a:r>
                      <a:r>
                        <a:rPr lang="zh-CN" altLang="en-US" sz="2200" b="0">
                          <a:effectLst/>
                          <a:latin typeface="quote-cjk-patch"/>
                        </a:rPr>
                        <a:t>完成而暂停执行，并主动放弃</a:t>
                      </a:r>
                      <a:r>
                        <a:rPr lang="en-US" altLang="zh-CN" sz="2200" b="0">
                          <a:effectLst/>
                          <a:latin typeface="quote-cjk-patch"/>
                        </a:rPr>
                        <a:t>CPU</a:t>
                      </a:r>
                      <a:r>
                        <a:rPr lang="zh-CN" altLang="en-US" sz="2200" b="0">
                          <a:effectLst/>
                          <a:latin typeface="quote-cjk-patch"/>
                        </a:rPr>
                        <a:t>。</a:t>
                      </a:r>
                    </a:p>
                  </a:txBody>
                  <a:tcPr marR="101600" marT="63500" marB="63500" anchor="ctr">
                    <a:lnL>
                      <a:noFill/>
                    </a:lnL>
                    <a:lnR>
                      <a:noFill/>
                    </a:lnR>
                    <a:lnT>
                      <a:noFill/>
                    </a:lnT>
                    <a:lnB>
                      <a:noFill/>
                    </a:lnB>
                    <a:noFill/>
                  </a:tcPr>
                </a:tc>
                <a:tc>
                  <a:txBody>
                    <a:bodyPr/>
                    <a:lstStyle/>
                    <a:p>
                      <a:pPr>
                        <a:lnSpc>
                          <a:spcPct val="100000"/>
                        </a:lnSpc>
                        <a:buNone/>
                      </a:pPr>
                      <a:r>
                        <a:rPr lang="en-US" altLang="zh-CN" sz="2200" b="0" dirty="0">
                          <a:effectLst/>
                          <a:latin typeface="quote-cjk-patch"/>
                        </a:rPr>
                        <a:t>B. </a:t>
                      </a:r>
                      <a:r>
                        <a:rPr lang="zh-CN" altLang="en-US" sz="2200" b="1" dirty="0">
                          <a:effectLst/>
                          <a:latin typeface="quote-cjk-patch"/>
                        </a:rPr>
                        <a:t>创建原语（</a:t>
                      </a:r>
                      <a:r>
                        <a:rPr lang="en-US" altLang="zh-CN" sz="2200" b="1" dirty="0">
                          <a:effectLst/>
                          <a:latin typeface="quote-cjk-patch"/>
                        </a:rPr>
                        <a:t>Create</a:t>
                      </a:r>
                      <a:r>
                        <a:rPr lang="zh-CN" altLang="en-US" sz="2200" b="1" dirty="0">
                          <a:effectLst/>
                          <a:latin typeface="quote-cjk-patch"/>
                        </a:rPr>
                        <a:t>）</a:t>
                      </a:r>
                      <a:endParaRPr lang="zh-CN" alt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3754353276"/>
                  </a:ext>
                </a:extLst>
              </a:tr>
              <a:tr h="428338">
                <a:tc>
                  <a:txBody>
                    <a:bodyPr/>
                    <a:lstStyle/>
                    <a:p>
                      <a:pPr>
                        <a:lnSpc>
                          <a:spcPct val="100000"/>
                        </a:lnSpc>
                        <a:buNone/>
                      </a:pPr>
                      <a:r>
                        <a:rPr lang="en-US" altLang="zh-CN" sz="2200" b="0">
                          <a:effectLst/>
                          <a:latin typeface="quote-cjk-patch"/>
                        </a:rPr>
                        <a:t>3. </a:t>
                      </a:r>
                      <a:r>
                        <a:rPr lang="zh-CN" altLang="en-US" sz="2200" b="0">
                          <a:effectLst/>
                          <a:latin typeface="quote-cjk-patch"/>
                        </a:rPr>
                        <a:t>进程完成其任务后释放资源，并通知父进程。</a:t>
                      </a:r>
                    </a:p>
                  </a:txBody>
                  <a:tcPr marR="101600" marT="63500" marB="63500" anchor="ctr">
                    <a:lnL>
                      <a:noFill/>
                    </a:lnL>
                    <a:lnR>
                      <a:noFill/>
                    </a:lnR>
                    <a:lnT>
                      <a:noFill/>
                    </a:lnT>
                    <a:lnB>
                      <a:noFill/>
                    </a:lnB>
                    <a:noFill/>
                  </a:tcPr>
                </a:tc>
                <a:tc>
                  <a:txBody>
                    <a:bodyPr/>
                    <a:lstStyle/>
                    <a:p>
                      <a:pPr>
                        <a:lnSpc>
                          <a:spcPct val="100000"/>
                        </a:lnSpc>
                        <a:buNone/>
                      </a:pPr>
                      <a:r>
                        <a:rPr lang="en-US" altLang="zh-CN" sz="2200" b="0" dirty="0">
                          <a:effectLst/>
                          <a:latin typeface="quote-cjk-patch"/>
                        </a:rPr>
                        <a:t>C. </a:t>
                      </a:r>
                      <a:r>
                        <a:rPr lang="zh-CN" altLang="en-US" sz="2200" b="1" dirty="0">
                          <a:effectLst/>
                          <a:latin typeface="quote-cjk-patch"/>
                        </a:rPr>
                        <a:t>终止原语（</a:t>
                      </a:r>
                      <a:r>
                        <a:rPr lang="en-US" altLang="zh-CN" sz="2200" b="1" dirty="0">
                          <a:effectLst/>
                          <a:latin typeface="quote-cjk-patch"/>
                        </a:rPr>
                        <a:t>Exit</a:t>
                      </a:r>
                      <a:r>
                        <a:rPr lang="zh-CN" altLang="en-US" sz="2200" b="1" dirty="0">
                          <a:effectLst/>
                          <a:latin typeface="quote-cjk-patch"/>
                        </a:rPr>
                        <a:t>）</a:t>
                      </a:r>
                      <a:endParaRPr lang="zh-CN" alt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2521513204"/>
                  </a:ext>
                </a:extLst>
              </a:tr>
              <a:tr h="708973">
                <a:tc>
                  <a:txBody>
                    <a:bodyPr/>
                    <a:lstStyle/>
                    <a:p>
                      <a:pPr>
                        <a:lnSpc>
                          <a:spcPct val="100000"/>
                        </a:lnSpc>
                        <a:buNone/>
                      </a:pPr>
                      <a:r>
                        <a:rPr lang="en-US" altLang="zh-CN" sz="2200" b="0" dirty="0">
                          <a:effectLst/>
                          <a:latin typeface="quote-cjk-patch"/>
                        </a:rPr>
                        <a:t>4. </a:t>
                      </a:r>
                      <a:r>
                        <a:rPr lang="zh-CN" altLang="en-US" sz="2200" b="0" dirty="0">
                          <a:effectLst/>
                          <a:latin typeface="quote-cjk-patch"/>
                        </a:rPr>
                        <a:t>将处于等待状态的进程从阻塞队列中移出，置为就绪状态。</a:t>
                      </a:r>
                    </a:p>
                  </a:txBody>
                  <a:tcPr marR="101600" marT="63500" marB="63500" anchor="ctr">
                    <a:lnL>
                      <a:noFill/>
                    </a:lnL>
                    <a:lnR>
                      <a:noFill/>
                    </a:lnR>
                    <a:lnT>
                      <a:noFill/>
                    </a:lnT>
                    <a:lnB>
                      <a:noFill/>
                    </a:lnB>
                    <a:noFill/>
                  </a:tcPr>
                </a:tc>
                <a:tc>
                  <a:txBody>
                    <a:bodyPr/>
                    <a:lstStyle/>
                    <a:p>
                      <a:pPr>
                        <a:lnSpc>
                          <a:spcPct val="100000"/>
                        </a:lnSpc>
                        <a:buNone/>
                      </a:pPr>
                      <a:r>
                        <a:rPr lang="en-US" altLang="zh-CN" sz="2200" b="0" dirty="0">
                          <a:effectLst/>
                          <a:latin typeface="quote-cjk-patch"/>
                        </a:rPr>
                        <a:t>D. </a:t>
                      </a:r>
                      <a:r>
                        <a:rPr lang="zh-CN" altLang="en-US" sz="2200" b="1" dirty="0">
                          <a:effectLst/>
                          <a:latin typeface="quote-cjk-patch"/>
                        </a:rPr>
                        <a:t>唤醒原语（</a:t>
                      </a:r>
                      <a:r>
                        <a:rPr lang="en-US" altLang="zh-CN" sz="2200" b="1" dirty="0">
                          <a:effectLst/>
                          <a:latin typeface="quote-cjk-patch"/>
                        </a:rPr>
                        <a:t>Wakeup</a:t>
                      </a:r>
                      <a:r>
                        <a:rPr lang="zh-CN" altLang="en-US" sz="2200" b="1" dirty="0">
                          <a:effectLst/>
                          <a:latin typeface="quote-cjk-patch"/>
                        </a:rPr>
                        <a:t>）</a:t>
                      </a:r>
                      <a:endParaRPr lang="zh-CN" alt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930605201"/>
                  </a:ext>
                </a:extLst>
              </a:tr>
              <a:tr h="708973">
                <a:tc>
                  <a:txBody>
                    <a:bodyPr/>
                    <a:lstStyle/>
                    <a:p>
                      <a:pPr>
                        <a:lnSpc>
                          <a:spcPct val="100000"/>
                        </a:lnSpc>
                        <a:buNone/>
                      </a:pPr>
                      <a:r>
                        <a:rPr lang="en-US" altLang="zh-CN" sz="2200" b="0">
                          <a:effectLst/>
                          <a:latin typeface="quote-cjk-patch"/>
                        </a:rPr>
                        <a:t>5. </a:t>
                      </a:r>
                      <a:r>
                        <a:rPr lang="zh-CN" altLang="en-US" sz="2200" b="0">
                          <a:effectLst/>
                          <a:latin typeface="quote-cjk-patch"/>
                        </a:rPr>
                        <a:t>将进程从内存换出到外存，状态由“活动”转为“静止”。</a:t>
                      </a:r>
                    </a:p>
                  </a:txBody>
                  <a:tcPr marR="101600" marT="63500" marB="63500" anchor="ctr">
                    <a:lnL>
                      <a:noFill/>
                    </a:lnL>
                    <a:lnR>
                      <a:noFill/>
                    </a:lnR>
                    <a:lnT>
                      <a:noFill/>
                    </a:lnT>
                    <a:lnB>
                      <a:noFill/>
                    </a:lnB>
                    <a:noFill/>
                  </a:tcPr>
                </a:tc>
                <a:tc>
                  <a:txBody>
                    <a:bodyPr/>
                    <a:lstStyle/>
                    <a:p>
                      <a:pPr>
                        <a:lnSpc>
                          <a:spcPct val="100000"/>
                        </a:lnSpc>
                        <a:buNone/>
                      </a:pPr>
                      <a:r>
                        <a:rPr lang="en-US" sz="2200" b="0" dirty="0">
                          <a:effectLst/>
                          <a:latin typeface="quote-cjk-patch"/>
                        </a:rPr>
                        <a:t>E. </a:t>
                      </a:r>
                      <a:r>
                        <a:rPr lang="zh-CN" altLang="en-US" sz="2200" b="1" dirty="0">
                          <a:effectLst/>
                          <a:latin typeface="quote-cjk-patch"/>
                        </a:rPr>
                        <a:t>挂起原语（</a:t>
                      </a:r>
                      <a:r>
                        <a:rPr lang="en-US" sz="2200" b="1" dirty="0">
                          <a:effectLst/>
                          <a:latin typeface="quote-cjk-patch"/>
                        </a:rPr>
                        <a:t>Suspend）</a:t>
                      </a:r>
                      <a:endParaRPr 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1179450462"/>
                  </a:ext>
                </a:extLst>
              </a:tr>
              <a:tr h="428338">
                <a:tc>
                  <a:txBody>
                    <a:bodyPr/>
                    <a:lstStyle/>
                    <a:p>
                      <a:pPr>
                        <a:lnSpc>
                          <a:spcPct val="100000"/>
                        </a:lnSpc>
                        <a:buNone/>
                      </a:pPr>
                      <a:r>
                        <a:rPr lang="en-US" altLang="zh-CN" sz="2200" b="0">
                          <a:effectLst/>
                          <a:latin typeface="quote-cjk-patch"/>
                        </a:rPr>
                        <a:t>6. </a:t>
                      </a:r>
                      <a:r>
                        <a:rPr lang="zh-CN" altLang="en-US" sz="2200" b="0">
                          <a:effectLst/>
                          <a:latin typeface="quote-cjk-patch"/>
                        </a:rPr>
                        <a:t>将外存中的静止进程调入内存，并置为活动状态。</a:t>
                      </a:r>
                    </a:p>
                  </a:txBody>
                  <a:tcPr marR="101600" marT="63500" marB="63500" anchor="ctr">
                    <a:lnL>
                      <a:noFill/>
                    </a:lnL>
                    <a:lnR>
                      <a:noFill/>
                    </a:lnR>
                    <a:lnT>
                      <a:noFill/>
                    </a:lnT>
                    <a:lnB>
                      <a:noFill/>
                    </a:lnB>
                    <a:noFill/>
                  </a:tcPr>
                </a:tc>
                <a:tc>
                  <a:txBody>
                    <a:bodyPr/>
                    <a:lstStyle/>
                    <a:p>
                      <a:pPr>
                        <a:lnSpc>
                          <a:spcPct val="100000"/>
                        </a:lnSpc>
                        <a:buNone/>
                      </a:pPr>
                      <a:r>
                        <a:rPr lang="en-US" sz="2200" b="0" dirty="0">
                          <a:effectLst/>
                          <a:latin typeface="quote-cjk-patch"/>
                        </a:rPr>
                        <a:t>F. </a:t>
                      </a:r>
                      <a:r>
                        <a:rPr lang="zh-CN" altLang="en-US" sz="2200" b="1" dirty="0">
                          <a:effectLst/>
                          <a:latin typeface="quote-cjk-patch"/>
                        </a:rPr>
                        <a:t>激活原语（</a:t>
                      </a:r>
                      <a:r>
                        <a:rPr lang="en-US" sz="2200" b="1" dirty="0">
                          <a:effectLst/>
                          <a:latin typeface="quote-cjk-patch"/>
                        </a:rPr>
                        <a:t>Active）</a:t>
                      </a:r>
                      <a:endParaRPr lang="en-US" sz="2200" b="0" dirty="0">
                        <a:effectLst/>
                        <a:latin typeface="quote-cjk-patch"/>
                      </a:endParaRPr>
                    </a:p>
                  </a:txBody>
                  <a:tcPr marL="101600" marT="63500" marB="63500" anchor="ctr">
                    <a:lnL>
                      <a:noFill/>
                    </a:lnL>
                    <a:lnR>
                      <a:noFill/>
                    </a:lnR>
                    <a:lnT>
                      <a:noFill/>
                    </a:lnT>
                    <a:lnB>
                      <a:noFill/>
                    </a:lnB>
                    <a:noFill/>
                  </a:tcPr>
                </a:tc>
                <a:extLst>
                  <a:ext uri="{0D108BD9-81ED-4DB2-BD59-A6C34878D82A}">
                    <a16:rowId xmlns:a16="http://schemas.microsoft.com/office/drawing/2014/main" val="3353889468"/>
                  </a:ext>
                </a:extLst>
              </a:tr>
            </a:tbl>
          </a:graphicData>
        </a:graphic>
      </p:graphicFrame>
      <p:sp>
        <p:nvSpPr>
          <p:cNvPr id="5" name="Rectangle 1">
            <a:extLst>
              <a:ext uri="{FF2B5EF4-FFF2-40B4-BE49-F238E27FC236}">
                <a16:creationId xmlns:a16="http://schemas.microsoft.com/office/drawing/2014/main" id="{1C9E05F4-E812-8165-C56D-E353BA5F06CB}"/>
              </a:ext>
            </a:extLst>
          </p:cNvPr>
          <p:cNvSpPr>
            <a:spLocks noChangeArrowheads="1"/>
          </p:cNvSpPr>
          <p:nvPr/>
        </p:nvSpPr>
        <p:spPr bwMode="auto">
          <a:xfrm>
            <a:off x="1135117" y="841500"/>
            <a:ext cx="9490842" cy="73856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03136" rIns="0" bIns="101568"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zh-CN" sz="2800" b="1" i="0" u="none" strike="noStrike" cap="none" normalizeH="0" baseline="0" dirty="0">
                <a:ln>
                  <a:noFill/>
                </a:ln>
                <a:solidFill>
                  <a:srgbClr val="0F1115"/>
                </a:solidFill>
                <a:effectLst/>
                <a:latin typeface="Arial" panose="020B0604020202020204" pitchFamily="34" charset="0"/>
                <a:ea typeface="quote-cjk-patch"/>
              </a:rPr>
              <a:t>请将以下进程控制操作与其对应的原语进行匹配。</a:t>
            </a:r>
          </a:p>
        </p:txBody>
      </p:sp>
    </p:spTree>
    <p:extLst>
      <p:ext uri="{BB962C8B-B14F-4D97-AF65-F5344CB8AC3E}">
        <p14:creationId xmlns:p14="http://schemas.microsoft.com/office/powerpoint/2010/main" val="297330309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834434-2E3B-4D8F-9223-AEFBE0AEE68B}"/>
              </a:ext>
            </a:extLst>
          </p:cNvPr>
          <p:cNvSpPr>
            <a:spLocks noGrp="1"/>
          </p:cNvSpPr>
          <p:nvPr>
            <p:ph type="title"/>
          </p:nvPr>
        </p:nvSpPr>
        <p:spPr/>
        <p:txBody>
          <a:bodyPr/>
          <a:lstStyle/>
          <a:p>
            <a:r>
              <a:rPr lang="zh-CN" altLang="en-US" dirty="0"/>
              <a:t>进程控制部分，思考如下问题</a:t>
            </a:r>
          </a:p>
        </p:txBody>
      </p:sp>
      <p:sp>
        <p:nvSpPr>
          <p:cNvPr id="3" name="内容占位符 2">
            <a:extLst>
              <a:ext uri="{FF2B5EF4-FFF2-40B4-BE49-F238E27FC236}">
                <a16:creationId xmlns:a16="http://schemas.microsoft.com/office/drawing/2014/main" id="{E264A597-86D3-4B8E-A874-D84C7CF3FE28}"/>
              </a:ext>
            </a:extLst>
          </p:cNvPr>
          <p:cNvSpPr>
            <a:spLocks noGrp="1"/>
          </p:cNvSpPr>
          <p:nvPr>
            <p:ph idx="1"/>
          </p:nvPr>
        </p:nvSpPr>
        <p:spPr>
          <a:xfrm>
            <a:off x="608120" y="1933056"/>
            <a:ext cx="10968990" cy="2321288"/>
          </a:xfrm>
        </p:spPr>
        <p:txBody>
          <a:bodyPr>
            <a:normAutofit/>
          </a:bodyPr>
          <a:lstStyle/>
          <a:p>
            <a:r>
              <a:rPr lang="zh-CN" altLang="en-US" sz="2800" dirty="0"/>
              <a:t>哪些进程控制原语执行时会转进程调度？试着解释原因。</a:t>
            </a:r>
            <a:endParaRPr lang="en-US" altLang="zh-CN" sz="2800" dirty="0"/>
          </a:p>
          <a:p>
            <a:r>
              <a:rPr lang="zh-CN" altLang="en-US" sz="2800" dirty="0"/>
              <a:t>谁调用</a:t>
            </a:r>
            <a:r>
              <a:rPr lang="en-US" altLang="zh-CN" sz="2800" dirty="0"/>
              <a:t>/</a:t>
            </a:r>
            <a:r>
              <a:rPr lang="zh-CN" altLang="en-US" sz="2800" dirty="0"/>
              <a:t>执行阻塞原语</a:t>
            </a:r>
            <a:r>
              <a:rPr lang="en-US" altLang="zh-CN" sz="2800" dirty="0"/>
              <a:t>?</a:t>
            </a:r>
            <a:r>
              <a:rPr lang="zh-CN" altLang="en-US" sz="2800" dirty="0"/>
              <a:t>调用唤醒原语的进程是？</a:t>
            </a:r>
            <a:endParaRPr lang="en-US" altLang="zh-CN" sz="2800" dirty="0"/>
          </a:p>
          <a:p>
            <a:r>
              <a:rPr lang="zh-CN" altLang="en-US" sz="2800" dirty="0"/>
              <a:t>终止进程时，为什么要读出进程的状态？</a:t>
            </a:r>
            <a:endParaRPr lang="en-US" altLang="zh-CN" sz="2800" dirty="0"/>
          </a:p>
          <a:p>
            <a:endParaRPr lang="zh-CN" altLang="en-US" sz="2800" dirty="0"/>
          </a:p>
        </p:txBody>
      </p:sp>
    </p:spTree>
    <p:extLst>
      <p:ext uri="{BB962C8B-B14F-4D97-AF65-F5344CB8AC3E}">
        <p14:creationId xmlns:p14="http://schemas.microsoft.com/office/powerpoint/2010/main" val="207948909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.3.1  </a:t>
            </a:r>
            <a:r>
              <a:rPr lang="zh-CN" altLang="en-US" dirty="0"/>
              <a:t>进程的创建</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315686" y="1085659"/>
            <a:ext cx="11346042" cy="5108312"/>
          </a:xfrm>
        </p:spPr>
        <p:txBody>
          <a:bodyPr>
            <a:noAutofit/>
          </a:bodyPr>
          <a:lstStyle/>
          <a:p>
            <a:pPr marL="0" indent="0">
              <a:buNone/>
            </a:pPr>
            <a:r>
              <a:rPr lang="en-US" altLang="zh-CN" dirty="0"/>
              <a:t>      </a:t>
            </a:r>
            <a:r>
              <a:rPr lang="zh-CN" altLang="zh-CN" dirty="0"/>
              <a:t>在多道程序环境中，只有进程才能在系统中运行。因此，为使程序能运行，就必须为它创建进程。通常有</a:t>
            </a:r>
            <a:r>
              <a:rPr lang="en-US" altLang="zh-CN" dirty="0"/>
              <a:t>4</a:t>
            </a:r>
            <a:r>
              <a:rPr lang="zh-CN" altLang="zh-CN" dirty="0"/>
              <a:t>种事件会导致新进程产生：</a:t>
            </a:r>
          </a:p>
          <a:p>
            <a:pPr marL="0" indent="0">
              <a:buNone/>
            </a:pPr>
            <a:r>
              <a:rPr lang="zh-CN" altLang="zh-CN" dirty="0"/>
              <a:t>（</a:t>
            </a:r>
            <a:r>
              <a:rPr lang="en-US" altLang="zh-CN" dirty="0"/>
              <a:t>1</a:t>
            </a:r>
            <a:r>
              <a:rPr lang="zh-CN" altLang="zh-CN" dirty="0"/>
              <a:t>）在一个交互式环境中，当一个</a:t>
            </a:r>
            <a:r>
              <a:rPr lang="zh-CN" altLang="zh-CN" dirty="0">
                <a:solidFill>
                  <a:srgbClr val="FF0000"/>
                </a:solidFill>
              </a:rPr>
              <a:t>新用户在终端键入登录命令</a:t>
            </a:r>
            <a:r>
              <a:rPr lang="zh-CN" altLang="zh-CN" dirty="0"/>
              <a:t>后，若是合法用户，系统将为该用户建立一个进程。</a:t>
            </a:r>
          </a:p>
          <a:p>
            <a:pPr marL="0" indent="0">
              <a:buNone/>
            </a:pPr>
            <a:r>
              <a:rPr lang="zh-CN" altLang="zh-CN" dirty="0"/>
              <a:t>（</a:t>
            </a:r>
            <a:r>
              <a:rPr lang="en-US" altLang="zh-CN" dirty="0"/>
              <a:t>2</a:t>
            </a:r>
            <a:r>
              <a:rPr lang="zh-CN" altLang="zh-CN" dirty="0"/>
              <a:t>）在一个批处理环境中，为了</a:t>
            </a:r>
            <a:r>
              <a:rPr lang="zh-CN" altLang="zh-CN" dirty="0">
                <a:solidFill>
                  <a:srgbClr val="FF0000"/>
                </a:solidFill>
              </a:rPr>
              <a:t>响应一个任务的要求</a:t>
            </a:r>
            <a:r>
              <a:rPr lang="zh-CN" altLang="zh-CN" dirty="0"/>
              <a:t>而产生进程。</a:t>
            </a:r>
            <a:r>
              <a:rPr lang="en-US" altLang="zh-CN" dirty="0"/>
              <a:t> </a:t>
            </a:r>
            <a:endParaRPr lang="zh-CN" altLang="zh-CN" dirty="0"/>
          </a:p>
          <a:p>
            <a:pPr marL="0" indent="0">
              <a:buNone/>
            </a:pPr>
            <a:r>
              <a:rPr lang="zh-CN" altLang="zh-CN" dirty="0"/>
              <a:t>（</a:t>
            </a:r>
            <a:r>
              <a:rPr lang="en-US" altLang="zh-CN" dirty="0"/>
              <a:t>3</a:t>
            </a:r>
            <a:r>
              <a:rPr lang="zh-CN" altLang="zh-CN" dirty="0"/>
              <a:t>）当运行中获取</a:t>
            </a:r>
            <a:r>
              <a:rPr lang="zh-CN" altLang="zh-CN" dirty="0">
                <a:solidFill>
                  <a:srgbClr val="FF0000"/>
                </a:solidFill>
              </a:rPr>
              <a:t>用户程序提出的某种请求</a:t>
            </a:r>
            <a:r>
              <a:rPr lang="zh-CN" altLang="zh-CN" dirty="0"/>
              <a:t>后，操作系统可以代用户程序产生进程以实现某种功能，使用户不必等待。</a:t>
            </a:r>
            <a:r>
              <a:rPr lang="en-US" altLang="zh-CN" dirty="0"/>
              <a:t> </a:t>
            </a:r>
            <a:endParaRPr lang="zh-CN" altLang="zh-CN" dirty="0"/>
          </a:p>
          <a:p>
            <a:pPr marL="0" indent="0">
              <a:buNone/>
            </a:pPr>
            <a:r>
              <a:rPr lang="zh-CN" altLang="zh-CN" dirty="0"/>
              <a:t>（</a:t>
            </a:r>
            <a:r>
              <a:rPr lang="en-US" altLang="zh-CN" dirty="0"/>
              <a:t>4</a:t>
            </a:r>
            <a:r>
              <a:rPr lang="zh-CN" altLang="zh-CN" dirty="0"/>
              <a:t>）基于应用进程的需要，由</a:t>
            </a:r>
            <a:r>
              <a:rPr lang="zh-CN" altLang="zh-CN" dirty="0">
                <a:solidFill>
                  <a:srgbClr val="FF0000"/>
                </a:solidFill>
              </a:rPr>
              <a:t>已存在的进程产生另一个进程</a:t>
            </a:r>
            <a:r>
              <a:rPr lang="zh-CN" altLang="zh-CN" dirty="0"/>
              <a:t>，以便使新程序以并发运行方式完成特定任务。</a:t>
            </a:r>
            <a:r>
              <a:rPr lang="en-US" altLang="zh-CN" dirty="0"/>
              <a:t> </a:t>
            </a:r>
            <a:endParaRPr lang="zh-CN" altLang="zh-CN" dirty="0"/>
          </a:p>
        </p:txBody>
      </p:sp>
    </p:spTree>
    <p:custDataLst>
      <p:tags r:id="rId1"/>
    </p:custDataLst>
    <p:extLst>
      <p:ext uri="{BB962C8B-B14F-4D97-AF65-F5344CB8AC3E}">
        <p14:creationId xmlns:p14="http://schemas.microsoft.com/office/powerpoint/2010/main" val="328055634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.3.1  </a:t>
            </a:r>
            <a:r>
              <a:rPr lang="zh-CN" altLang="en-US" dirty="0"/>
              <a:t>进程的创建</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254472"/>
            <a:ext cx="10968990" cy="4177499"/>
          </a:xfrm>
        </p:spPr>
        <p:txBody>
          <a:bodyPr>
            <a:noAutofit/>
          </a:bodyPr>
          <a:lstStyle/>
          <a:p>
            <a:pPr marL="0" indent="0">
              <a:buNone/>
            </a:pPr>
            <a:r>
              <a:rPr lang="zh-CN" altLang="zh-CN" sz="2800" dirty="0"/>
              <a:t>一旦操作系统决定创建一个进程时，便调用</a:t>
            </a:r>
            <a:r>
              <a:rPr lang="zh-CN" altLang="zh-CN" sz="2800" dirty="0">
                <a:solidFill>
                  <a:srgbClr val="FF0000"/>
                </a:solidFill>
              </a:rPr>
              <a:t>进程创建原语</a:t>
            </a:r>
            <a:r>
              <a:rPr lang="en-US" altLang="zh-CN" sz="2800" dirty="0" err="1">
                <a:solidFill>
                  <a:srgbClr val="FF0000"/>
                </a:solidFill>
              </a:rPr>
              <a:t>Creat</a:t>
            </a:r>
            <a:r>
              <a:rPr lang="en-US" altLang="zh-CN" sz="2800" dirty="0">
                <a:solidFill>
                  <a:srgbClr val="FF0000"/>
                </a:solidFill>
              </a:rPr>
              <a:t>( )</a:t>
            </a:r>
            <a:r>
              <a:rPr lang="zh-CN" altLang="zh-CN" sz="2800" dirty="0"/>
              <a:t>，进行如下操作：</a:t>
            </a:r>
          </a:p>
          <a:p>
            <a:pPr marL="0" indent="0">
              <a:buNone/>
            </a:pPr>
            <a:r>
              <a:rPr lang="zh-CN" altLang="zh-CN" sz="2800" dirty="0"/>
              <a:t>（</a:t>
            </a:r>
            <a:r>
              <a:rPr lang="en-US" altLang="zh-CN" sz="2800" dirty="0"/>
              <a:t>1</a:t>
            </a:r>
            <a:r>
              <a:rPr lang="zh-CN" altLang="zh-CN" sz="2800" dirty="0"/>
              <a:t>）给新进程一个编号并申请空白</a:t>
            </a:r>
            <a:r>
              <a:rPr lang="en-US" altLang="zh-CN" sz="2800" dirty="0"/>
              <a:t>PCB</a:t>
            </a:r>
            <a:r>
              <a:rPr lang="zh-CN" altLang="zh-CN" sz="2800" dirty="0"/>
              <a:t>。</a:t>
            </a:r>
            <a:endParaRPr lang="en-US" altLang="zh-CN" sz="2800" dirty="0"/>
          </a:p>
          <a:p>
            <a:pPr marL="0" indent="0">
              <a:buNone/>
            </a:pPr>
            <a:r>
              <a:rPr lang="zh-CN" altLang="zh-CN" sz="2800" dirty="0"/>
              <a:t>（</a:t>
            </a:r>
            <a:r>
              <a:rPr lang="en-US" altLang="zh-CN" sz="2800" dirty="0"/>
              <a:t>2</a:t>
            </a:r>
            <a:r>
              <a:rPr lang="zh-CN" altLang="zh-CN" sz="2800" dirty="0"/>
              <a:t>）为新进程分配空间。</a:t>
            </a:r>
            <a:endParaRPr lang="en-US" altLang="zh-CN" sz="2800" dirty="0"/>
          </a:p>
          <a:p>
            <a:pPr marL="0" indent="0">
              <a:buNone/>
            </a:pPr>
            <a:r>
              <a:rPr lang="zh-CN" altLang="zh-CN" sz="2800" dirty="0"/>
              <a:t>（</a:t>
            </a:r>
            <a:r>
              <a:rPr lang="en-US" altLang="zh-CN" sz="2800" dirty="0"/>
              <a:t>3</a:t>
            </a:r>
            <a:r>
              <a:rPr lang="zh-CN" altLang="zh-CN" sz="2800" dirty="0"/>
              <a:t>）初始化</a:t>
            </a:r>
            <a:r>
              <a:rPr lang="en-US" altLang="zh-CN" sz="2800" dirty="0"/>
              <a:t>PCB</a:t>
            </a:r>
            <a:r>
              <a:rPr lang="zh-CN" altLang="zh-CN" sz="2800" dirty="0"/>
              <a:t>。</a:t>
            </a:r>
            <a:endParaRPr lang="en-US" altLang="zh-CN" sz="2800" dirty="0"/>
          </a:p>
          <a:p>
            <a:pPr marL="0" indent="0">
              <a:buNone/>
            </a:pPr>
            <a:r>
              <a:rPr lang="zh-CN" altLang="zh-CN" sz="2800" dirty="0"/>
              <a:t>（</a:t>
            </a:r>
            <a:r>
              <a:rPr lang="en-US" altLang="zh-CN" sz="2800" dirty="0"/>
              <a:t>4</a:t>
            </a:r>
            <a:r>
              <a:rPr lang="zh-CN" altLang="zh-CN" sz="2800" dirty="0"/>
              <a:t>）设置合适的链接。将新进程插入就绪队列。</a:t>
            </a:r>
          </a:p>
        </p:txBody>
      </p:sp>
    </p:spTree>
    <p:custDataLst>
      <p:tags r:id="rId1"/>
    </p:custDataLst>
    <p:extLst>
      <p:ext uri="{BB962C8B-B14F-4D97-AF65-F5344CB8AC3E}">
        <p14:creationId xmlns:p14="http://schemas.microsoft.com/office/powerpoint/2010/main" val="264667318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.3.2  </a:t>
            </a:r>
            <a:r>
              <a:rPr lang="zh-CN" altLang="en-US" dirty="0"/>
              <a:t>进程的终止</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7" y="1085658"/>
            <a:ext cx="11161805" cy="5173627"/>
          </a:xfrm>
        </p:spPr>
        <p:txBody>
          <a:bodyPr>
            <a:noAutofit/>
          </a:bodyPr>
          <a:lstStyle/>
          <a:p>
            <a:pPr marL="0" indent="0">
              <a:buNone/>
            </a:pPr>
            <a:r>
              <a:rPr lang="zh-CN" altLang="zh-CN" sz="2800" dirty="0"/>
              <a:t>导致进程终止的事件有以下几种：</a:t>
            </a:r>
          </a:p>
          <a:p>
            <a:r>
              <a:rPr lang="zh-CN" altLang="zh-CN" sz="2800" dirty="0"/>
              <a:t>（</a:t>
            </a:r>
            <a:r>
              <a:rPr lang="en-US" altLang="zh-CN" sz="2800" dirty="0"/>
              <a:t>1</a:t>
            </a:r>
            <a:r>
              <a:rPr lang="zh-CN" altLang="zh-CN" sz="2800" dirty="0"/>
              <a:t>）该进程</a:t>
            </a:r>
            <a:r>
              <a:rPr lang="zh-CN" altLang="zh-CN" sz="2800" dirty="0">
                <a:solidFill>
                  <a:srgbClr val="FF0000"/>
                </a:solidFill>
              </a:rPr>
              <a:t>已完成所要求的功能</a:t>
            </a:r>
            <a:r>
              <a:rPr lang="zh-CN" altLang="zh-CN" sz="2800" dirty="0"/>
              <a:t>而正常终止。</a:t>
            </a:r>
          </a:p>
          <a:p>
            <a:r>
              <a:rPr lang="zh-CN" altLang="zh-CN" sz="2800" dirty="0"/>
              <a:t>（</a:t>
            </a:r>
            <a:r>
              <a:rPr lang="en-US" altLang="zh-CN" sz="2800" dirty="0"/>
              <a:t>2</a:t>
            </a:r>
            <a:r>
              <a:rPr lang="zh-CN" altLang="zh-CN" sz="2800" dirty="0"/>
              <a:t>）由于</a:t>
            </a:r>
            <a:r>
              <a:rPr lang="zh-CN" altLang="zh-CN" sz="2800" dirty="0">
                <a:solidFill>
                  <a:srgbClr val="FF0000"/>
                </a:solidFill>
              </a:rPr>
              <a:t>某种错误导致非正常终止</a:t>
            </a:r>
            <a:r>
              <a:rPr lang="zh-CN" altLang="zh-CN" sz="2800" dirty="0"/>
              <a:t>。这些错误很多，比如超时限制、内存不足、超界、保护错误、算术错误、等待超时、</a:t>
            </a:r>
            <a:r>
              <a:rPr lang="en-US" altLang="zh-CN" sz="2800" dirty="0"/>
              <a:t>I/O</a:t>
            </a:r>
            <a:r>
              <a:rPr lang="zh-CN" altLang="zh-CN" sz="2800" dirty="0"/>
              <a:t>失败、非法指令等。</a:t>
            </a:r>
          </a:p>
          <a:p>
            <a:r>
              <a:rPr lang="zh-CN" altLang="zh-CN" sz="2800" dirty="0"/>
              <a:t>（</a:t>
            </a:r>
            <a:r>
              <a:rPr lang="en-US" altLang="zh-CN" sz="2800" dirty="0"/>
              <a:t>3</a:t>
            </a:r>
            <a:r>
              <a:rPr lang="zh-CN" altLang="zh-CN" sz="2800" dirty="0"/>
              <a:t>）</a:t>
            </a:r>
            <a:r>
              <a:rPr lang="zh-CN" altLang="zh-CN" sz="2800" dirty="0">
                <a:solidFill>
                  <a:srgbClr val="FF0000"/>
                </a:solidFill>
              </a:rPr>
              <a:t>外界干预</a:t>
            </a:r>
            <a:r>
              <a:rPr lang="zh-CN" altLang="zh-CN" sz="2800" dirty="0"/>
              <a:t>。外界干预并非指在本进程运行中出现了异常事件，而是指进程应外界的请求而终止运行。</a:t>
            </a:r>
            <a:r>
              <a:rPr lang="zh-CN" altLang="zh-CN" sz="2800" dirty="0">
                <a:solidFill>
                  <a:srgbClr val="FF0000"/>
                </a:solidFill>
              </a:rPr>
              <a:t>比如，操作员或操作系统干预</a:t>
            </a:r>
            <a:r>
              <a:rPr lang="zh-CN" altLang="zh-CN" sz="2800" dirty="0"/>
              <a:t>，祖先进程要求终止某个子孙进程，父进程终止等。</a:t>
            </a:r>
          </a:p>
        </p:txBody>
      </p:sp>
    </p:spTree>
    <p:custDataLst>
      <p:tags r:id="rId1"/>
    </p:custDataLst>
    <p:extLst>
      <p:ext uri="{BB962C8B-B14F-4D97-AF65-F5344CB8AC3E}">
        <p14:creationId xmlns:p14="http://schemas.microsoft.com/office/powerpoint/2010/main" val="384337277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.3.2  </a:t>
            </a:r>
            <a:r>
              <a:rPr lang="zh-CN" altLang="en-US" dirty="0"/>
              <a:t>进程的终止</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326567" y="970772"/>
            <a:ext cx="11538865" cy="5308108"/>
          </a:xfrm>
        </p:spPr>
        <p:txBody>
          <a:bodyPr>
            <a:noAutofit/>
          </a:bodyPr>
          <a:lstStyle/>
          <a:p>
            <a:pPr marL="0" indent="0">
              <a:buNone/>
            </a:pPr>
            <a:r>
              <a:rPr lang="en-US" altLang="zh-CN" sz="2200" dirty="0"/>
              <a:t>      </a:t>
            </a:r>
            <a:r>
              <a:rPr lang="zh-CN" altLang="zh-CN" sz="2200" dirty="0"/>
              <a:t>无论哪一种情况导致进程被终止。</a:t>
            </a:r>
            <a:r>
              <a:rPr lang="zh-CN" altLang="zh-CN" sz="2200" dirty="0">
                <a:solidFill>
                  <a:srgbClr val="FF0000"/>
                </a:solidFill>
              </a:rPr>
              <a:t>进程都必须释放它所占用的各种资源和</a:t>
            </a:r>
            <a:r>
              <a:rPr lang="en-US" altLang="zh-CN" sz="2200" dirty="0">
                <a:solidFill>
                  <a:srgbClr val="FF0000"/>
                </a:solidFill>
              </a:rPr>
              <a:t>PCB</a:t>
            </a:r>
            <a:r>
              <a:rPr lang="zh-CN" altLang="zh-CN" sz="2200" dirty="0"/>
              <a:t>结构本身，以便于资源的有效利用。具体的终止过程如下：</a:t>
            </a:r>
          </a:p>
          <a:p>
            <a:pPr marL="0" indent="0">
              <a:buNone/>
            </a:pPr>
            <a:r>
              <a:rPr lang="zh-CN" altLang="zh-CN" sz="2200" dirty="0"/>
              <a:t>（</a:t>
            </a:r>
            <a:r>
              <a:rPr lang="en-US" altLang="zh-CN" sz="2200" dirty="0"/>
              <a:t>1</a:t>
            </a:r>
            <a:r>
              <a:rPr lang="zh-CN" altLang="zh-CN" sz="2200" dirty="0"/>
              <a:t>）根据被终止进程的标识符，</a:t>
            </a:r>
            <a:r>
              <a:rPr lang="zh-CN" altLang="zh-CN" sz="2200" dirty="0">
                <a:solidFill>
                  <a:srgbClr val="FF0000"/>
                </a:solidFill>
              </a:rPr>
              <a:t>查找</a:t>
            </a:r>
            <a:r>
              <a:rPr lang="zh-CN" altLang="zh-CN" sz="2200" dirty="0"/>
              <a:t>被终止进程的进程控制块</a:t>
            </a:r>
            <a:r>
              <a:rPr lang="en-US" altLang="zh-CN" sz="2200" dirty="0"/>
              <a:t>PCB</a:t>
            </a:r>
            <a:r>
              <a:rPr lang="zh-CN" altLang="zh-CN" sz="2200" dirty="0"/>
              <a:t>，从中读出该进程的状态。</a:t>
            </a:r>
          </a:p>
          <a:p>
            <a:pPr marL="0" indent="0">
              <a:buNone/>
            </a:pPr>
            <a:r>
              <a:rPr lang="zh-CN" altLang="zh-CN" sz="2200" dirty="0"/>
              <a:t>（</a:t>
            </a:r>
            <a:r>
              <a:rPr lang="en-US" altLang="zh-CN" sz="2200" dirty="0"/>
              <a:t>2</a:t>
            </a:r>
            <a:r>
              <a:rPr lang="zh-CN" altLang="zh-CN" sz="2200" dirty="0"/>
              <a:t>）若该进程的</a:t>
            </a:r>
            <a:r>
              <a:rPr lang="zh-CN" altLang="zh-CN" sz="2200" dirty="0">
                <a:solidFill>
                  <a:srgbClr val="0000FF"/>
                </a:solidFill>
              </a:rPr>
              <a:t>状态是</a:t>
            </a:r>
            <a:r>
              <a:rPr lang="en-US" altLang="zh-CN" sz="2200" dirty="0">
                <a:solidFill>
                  <a:srgbClr val="0000FF"/>
                </a:solidFill>
              </a:rPr>
              <a:t>“</a:t>
            </a:r>
            <a:r>
              <a:rPr lang="zh-CN" altLang="zh-CN" sz="2200" dirty="0">
                <a:solidFill>
                  <a:srgbClr val="0000FF"/>
                </a:solidFill>
              </a:rPr>
              <a:t>执行</a:t>
            </a:r>
            <a:r>
              <a:rPr lang="en-US" altLang="zh-CN" sz="2200" dirty="0">
                <a:solidFill>
                  <a:srgbClr val="0000FF"/>
                </a:solidFill>
              </a:rPr>
              <a:t>”</a:t>
            </a:r>
            <a:r>
              <a:rPr lang="zh-CN" altLang="zh-CN" sz="2200" dirty="0"/>
              <a:t>，应立即</a:t>
            </a:r>
            <a:r>
              <a:rPr lang="zh-CN" altLang="zh-CN" sz="2200" dirty="0">
                <a:solidFill>
                  <a:srgbClr val="FF0000"/>
                </a:solidFill>
              </a:rPr>
              <a:t>终止</a:t>
            </a:r>
            <a:r>
              <a:rPr lang="zh-CN" altLang="zh-CN" sz="2200" dirty="0"/>
              <a:t>该进程的执行，并置调度标志为</a:t>
            </a:r>
            <a:r>
              <a:rPr lang="en-US" altLang="zh-CN" sz="2200" dirty="0"/>
              <a:t>TRUE</a:t>
            </a:r>
            <a:r>
              <a:rPr lang="zh-CN" altLang="zh-CN" sz="2200" dirty="0"/>
              <a:t>。</a:t>
            </a:r>
          </a:p>
          <a:p>
            <a:pPr marL="0" indent="0">
              <a:buNone/>
            </a:pPr>
            <a:r>
              <a:rPr lang="zh-CN" altLang="zh-CN" sz="2200" dirty="0"/>
              <a:t>（</a:t>
            </a:r>
            <a:r>
              <a:rPr lang="en-US" altLang="zh-CN" sz="2200" dirty="0"/>
              <a:t>3</a:t>
            </a:r>
            <a:r>
              <a:rPr lang="zh-CN" altLang="zh-CN" sz="2200" dirty="0"/>
              <a:t>）若该进程还有子孙进程，还应将所有子孙进程一同</a:t>
            </a:r>
            <a:r>
              <a:rPr lang="zh-CN" altLang="zh-CN" sz="2200" dirty="0">
                <a:solidFill>
                  <a:srgbClr val="FF0000"/>
                </a:solidFill>
              </a:rPr>
              <a:t>终止</a:t>
            </a:r>
            <a:r>
              <a:rPr lang="zh-CN" altLang="zh-CN" sz="2200" dirty="0"/>
              <a:t>，以防它们成为不可控的进程。</a:t>
            </a:r>
          </a:p>
          <a:p>
            <a:pPr marL="0" indent="0">
              <a:buNone/>
            </a:pPr>
            <a:r>
              <a:rPr lang="zh-CN" altLang="zh-CN" sz="2200" dirty="0"/>
              <a:t>（</a:t>
            </a:r>
            <a:r>
              <a:rPr lang="en-US" altLang="zh-CN" sz="2200" dirty="0"/>
              <a:t>4</a:t>
            </a:r>
            <a:r>
              <a:rPr lang="zh-CN" altLang="zh-CN" sz="2200" dirty="0"/>
              <a:t>）</a:t>
            </a:r>
            <a:r>
              <a:rPr lang="zh-CN" altLang="zh-CN" sz="2200" dirty="0">
                <a:solidFill>
                  <a:srgbClr val="FF0000"/>
                </a:solidFill>
              </a:rPr>
              <a:t>回收</a:t>
            </a:r>
            <a:r>
              <a:rPr lang="en-US" altLang="zh-CN" sz="2200" dirty="0"/>
              <a:t>PCB</a:t>
            </a:r>
            <a:r>
              <a:rPr lang="zh-CN" altLang="zh-CN" sz="2200" dirty="0"/>
              <a:t>（资源清单）中登记的全部资源。</a:t>
            </a:r>
          </a:p>
          <a:p>
            <a:pPr marL="0" indent="0">
              <a:buNone/>
            </a:pPr>
            <a:r>
              <a:rPr lang="zh-CN" altLang="zh-CN" sz="2200" dirty="0"/>
              <a:t>（</a:t>
            </a:r>
            <a:r>
              <a:rPr lang="en-US" altLang="zh-CN" sz="2200" dirty="0"/>
              <a:t>5</a:t>
            </a:r>
            <a:r>
              <a:rPr lang="zh-CN" altLang="zh-CN" sz="2200" dirty="0"/>
              <a:t>）将进程的</a:t>
            </a:r>
            <a:r>
              <a:rPr lang="en-US" altLang="zh-CN" sz="2200" dirty="0"/>
              <a:t>PCB</a:t>
            </a:r>
            <a:r>
              <a:rPr lang="zh-CN" altLang="zh-CN" sz="2200" dirty="0"/>
              <a:t>从所在队列</a:t>
            </a:r>
            <a:r>
              <a:rPr lang="zh-CN" altLang="zh-CN" sz="2200" dirty="0">
                <a:solidFill>
                  <a:srgbClr val="FF0000"/>
                </a:solidFill>
              </a:rPr>
              <a:t>摘</a:t>
            </a:r>
            <a:r>
              <a:rPr lang="zh-CN" altLang="zh-CN" sz="2200" dirty="0"/>
              <a:t>下来，等待其它程序来搜集信息。</a:t>
            </a:r>
          </a:p>
          <a:p>
            <a:pPr marL="0" indent="0">
              <a:buNone/>
            </a:pPr>
            <a:r>
              <a:rPr lang="zh-CN" altLang="zh-CN" sz="2200" dirty="0"/>
              <a:t>（</a:t>
            </a:r>
            <a:r>
              <a:rPr lang="en-US" altLang="zh-CN" sz="2200" dirty="0"/>
              <a:t>6</a:t>
            </a:r>
            <a:r>
              <a:rPr lang="zh-CN" altLang="zh-CN" sz="2200" dirty="0"/>
              <a:t>）如果调度标志</a:t>
            </a:r>
            <a:r>
              <a:rPr lang="en-US" altLang="zh-CN" sz="2200" dirty="0"/>
              <a:t>=TRUE</a:t>
            </a:r>
            <a:r>
              <a:rPr lang="zh-CN" altLang="zh-CN" sz="2200" dirty="0"/>
              <a:t>，启动</a:t>
            </a:r>
            <a:r>
              <a:rPr lang="zh-CN" altLang="zh-CN" sz="2200" dirty="0">
                <a:solidFill>
                  <a:srgbClr val="FF0000"/>
                </a:solidFill>
              </a:rPr>
              <a:t>进程调度</a:t>
            </a:r>
            <a:r>
              <a:rPr lang="zh-CN" altLang="zh-CN" sz="2200" dirty="0"/>
              <a:t>程序。</a:t>
            </a:r>
          </a:p>
        </p:txBody>
      </p:sp>
    </p:spTree>
    <p:custDataLst>
      <p:tags r:id="rId1"/>
    </p:custDataLst>
    <p:extLst>
      <p:ext uri="{BB962C8B-B14F-4D97-AF65-F5344CB8AC3E}">
        <p14:creationId xmlns:p14="http://schemas.microsoft.com/office/powerpoint/2010/main" val="110791385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.3.3  </a:t>
            </a:r>
            <a:r>
              <a:rPr lang="zh-CN" altLang="en-US" dirty="0"/>
              <a:t>进程的阻塞与唤醒</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507681" y="1189158"/>
            <a:ext cx="10968990" cy="4211605"/>
          </a:xfrm>
        </p:spPr>
        <p:txBody>
          <a:bodyPr>
            <a:noAutofit/>
          </a:bodyPr>
          <a:lstStyle/>
          <a:p>
            <a:pPr marL="0" indent="0">
              <a:buNone/>
            </a:pPr>
            <a:r>
              <a:rPr lang="en-US" altLang="zh-CN" dirty="0"/>
              <a:t>    </a:t>
            </a:r>
            <a:r>
              <a:rPr lang="zh-CN" altLang="zh-CN" dirty="0"/>
              <a:t>引起进程阻塞的事件有</a:t>
            </a:r>
            <a:r>
              <a:rPr lang="zh-CN" altLang="en-US" dirty="0"/>
              <a:t>：</a:t>
            </a:r>
            <a:endParaRPr lang="zh-CN" altLang="zh-CN" dirty="0"/>
          </a:p>
          <a:p>
            <a:pPr marL="0" indent="0">
              <a:buNone/>
            </a:pPr>
            <a:r>
              <a:rPr lang="zh-CN" altLang="zh-CN" dirty="0"/>
              <a:t>（</a:t>
            </a:r>
            <a:r>
              <a:rPr lang="en-US" altLang="zh-CN" dirty="0"/>
              <a:t>1</a:t>
            </a:r>
            <a:r>
              <a:rPr lang="zh-CN" altLang="zh-CN" dirty="0"/>
              <a:t>）进程请求某服务，若不能立即获得服务，通常要使该进程阻塞；</a:t>
            </a:r>
          </a:p>
          <a:p>
            <a:pPr marL="0" indent="0">
              <a:buNone/>
            </a:pPr>
            <a:r>
              <a:rPr lang="zh-CN" altLang="zh-CN" dirty="0"/>
              <a:t>（</a:t>
            </a:r>
            <a:r>
              <a:rPr lang="en-US" altLang="zh-CN" dirty="0"/>
              <a:t>2</a:t>
            </a:r>
            <a:r>
              <a:rPr lang="zh-CN" altLang="zh-CN" dirty="0"/>
              <a:t>）如果进程必须在某种操作完成后才能继续执行，那么在这之前就必须使该进程阻塞；</a:t>
            </a:r>
          </a:p>
          <a:p>
            <a:pPr marL="0" indent="0">
              <a:buNone/>
            </a:pPr>
            <a:r>
              <a:rPr lang="zh-CN" altLang="zh-CN" dirty="0"/>
              <a:t>（</a:t>
            </a:r>
            <a:r>
              <a:rPr lang="en-US" altLang="zh-CN" dirty="0"/>
              <a:t>3</a:t>
            </a:r>
            <a:r>
              <a:rPr lang="zh-CN" altLang="zh-CN" dirty="0"/>
              <a:t>）新数据尚未到达：一进程需要先获得另一进程提供的数据才能运行，那么在新数据尚未到达前应该将其阻塞；</a:t>
            </a:r>
          </a:p>
          <a:p>
            <a:pPr marL="0" indent="0">
              <a:buNone/>
            </a:pPr>
            <a:r>
              <a:rPr lang="zh-CN" altLang="zh-CN" dirty="0"/>
              <a:t>（</a:t>
            </a:r>
            <a:r>
              <a:rPr lang="en-US" altLang="zh-CN" dirty="0"/>
              <a:t>4</a:t>
            </a:r>
            <a:r>
              <a:rPr lang="zh-CN" altLang="zh-CN" dirty="0"/>
              <a:t>）无新工作可做：某些系统进程工作时占用</a:t>
            </a:r>
            <a:r>
              <a:rPr lang="en-US" altLang="zh-CN" dirty="0"/>
              <a:t>CPU</a:t>
            </a:r>
            <a:r>
              <a:rPr lang="zh-CN" altLang="zh-CN" dirty="0"/>
              <a:t>，无事可做时，则调用阻塞原语将自己阻塞。</a:t>
            </a:r>
          </a:p>
        </p:txBody>
      </p:sp>
    </p:spTree>
    <p:custDataLst>
      <p:tags r:id="rId1"/>
    </p:custDataLst>
    <p:extLst>
      <p:ext uri="{BB962C8B-B14F-4D97-AF65-F5344CB8AC3E}">
        <p14:creationId xmlns:p14="http://schemas.microsoft.com/office/powerpoint/2010/main" val="159130059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.3.3  </a:t>
            </a:r>
            <a:r>
              <a:rPr lang="zh-CN" altLang="en-US" dirty="0"/>
              <a:t>进程的阻塞与唤醒</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783771" y="1789906"/>
            <a:ext cx="10625502" cy="4130325"/>
          </a:xfrm>
        </p:spPr>
        <p:txBody>
          <a:bodyPr>
            <a:noAutofit/>
          </a:bodyPr>
          <a:lstStyle/>
          <a:p>
            <a:pPr marL="457200" indent="-457200">
              <a:lnSpc>
                <a:spcPct val="150000"/>
              </a:lnSpc>
              <a:buClr>
                <a:schemeClr val="tx1"/>
              </a:buClr>
              <a:buSzPct val="100000"/>
              <a:buFont typeface="+mj-lt"/>
              <a:buAutoNum type="arabicPeriod"/>
            </a:pPr>
            <a:r>
              <a:rPr lang="zh-CN" altLang="zh-CN" sz="2600" dirty="0"/>
              <a:t>阻塞原语在阻塞一个进程时，由于该进程正处于执行状态，故应先中断</a:t>
            </a:r>
            <a:r>
              <a:rPr lang="en-US" altLang="zh-CN" sz="2600" dirty="0"/>
              <a:t>CPU</a:t>
            </a:r>
            <a:r>
              <a:rPr lang="zh-CN" altLang="en-US" sz="2600" dirty="0"/>
              <a:t>、</a:t>
            </a:r>
            <a:r>
              <a:rPr lang="zh-CN" altLang="zh-CN" sz="2600" dirty="0"/>
              <a:t>保存该进程</a:t>
            </a:r>
            <a:r>
              <a:rPr lang="en-US" altLang="zh-CN" sz="2600" dirty="0"/>
              <a:t>CPU</a:t>
            </a:r>
            <a:r>
              <a:rPr lang="zh-CN" altLang="zh-CN" sz="2600" dirty="0"/>
              <a:t>现场。</a:t>
            </a:r>
            <a:endParaRPr lang="en-US" altLang="zh-CN" sz="2600" dirty="0"/>
          </a:p>
          <a:p>
            <a:pPr marL="457200" indent="-457200">
              <a:lnSpc>
                <a:spcPct val="150000"/>
              </a:lnSpc>
              <a:buClr>
                <a:schemeClr val="tx1"/>
              </a:buClr>
              <a:buSzPct val="100000"/>
              <a:buFont typeface="+mj-lt"/>
              <a:buAutoNum type="arabicPeriod"/>
            </a:pPr>
            <a:r>
              <a:rPr lang="zh-CN" altLang="zh-CN" sz="2600" dirty="0"/>
              <a:t>然后将被阻塞进程置</a:t>
            </a:r>
            <a:r>
              <a:rPr lang="en-US" altLang="zh-CN" sz="2600" dirty="0"/>
              <a:t>“</a:t>
            </a:r>
            <a:r>
              <a:rPr lang="zh-CN" altLang="zh-CN" sz="2600" dirty="0"/>
              <a:t>阻塞</a:t>
            </a:r>
            <a:r>
              <a:rPr lang="en-US" altLang="zh-CN" sz="2600" dirty="0"/>
              <a:t>”</a:t>
            </a:r>
            <a:r>
              <a:rPr lang="zh-CN" altLang="zh-CN" sz="2600" dirty="0"/>
              <a:t>状态后插入</a:t>
            </a:r>
            <a:r>
              <a:rPr lang="zh-CN" altLang="en-US" sz="2600" dirty="0"/>
              <a:t>阻塞</a:t>
            </a:r>
            <a:r>
              <a:rPr lang="zh-CN" altLang="zh-CN" sz="2600" dirty="0"/>
              <a:t>队列中，</a:t>
            </a:r>
            <a:endParaRPr lang="en-US" altLang="zh-CN" sz="2600" dirty="0"/>
          </a:p>
          <a:p>
            <a:pPr marL="457200" indent="-457200">
              <a:lnSpc>
                <a:spcPct val="150000"/>
              </a:lnSpc>
              <a:buClr>
                <a:schemeClr val="tx1"/>
              </a:buClr>
              <a:buSzPct val="100000"/>
              <a:buFont typeface="+mj-lt"/>
              <a:buAutoNum type="arabicPeriod"/>
            </a:pPr>
            <a:r>
              <a:rPr lang="zh-CN" altLang="zh-CN" sz="2600" dirty="0"/>
              <a:t>再转进程调度程序选择新的就绪进程投</a:t>
            </a:r>
            <a:r>
              <a:rPr lang="zh-CN" altLang="en-US" sz="2600" dirty="0"/>
              <a:t>入</a:t>
            </a:r>
            <a:r>
              <a:rPr lang="zh-CN" altLang="zh-CN" sz="2600" dirty="0"/>
              <a:t>运行。</a:t>
            </a:r>
            <a:endParaRPr lang="en-US" altLang="zh-CN" sz="2600" dirty="0"/>
          </a:p>
          <a:p>
            <a:pPr marL="0" indent="0">
              <a:lnSpc>
                <a:spcPct val="150000"/>
              </a:lnSpc>
              <a:buClr>
                <a:schemeClr val="tx1"/>
              </a:buClr>
              <a:buSzPct val="100000"/>
              <a:buNone/>
            </a:pPr>
            <a:r>
              <a:rPr lang="en-US" altLang="zh-CN" sz="2600" dirty="0"/>
              <a:t>     </a:t>
            </a:r>
            <a:r>
              <a:rPr lang="zh-CN" altLang="zh-CN" sz="2600" dirty="0"/>
              <a:t>这里，</a:t>
            </a:r>
            <a:r>
              <a:rPr lang="zh-CN" altLang="zh-CN" sz="2600" dirty="0">
                <a:solidFill>
                  <a:srgbClr val="FF0000"/>
                </a:solidFill>
              </a:rPr>
              <a:t>转进程调度程序是很重要</a:t>
            </a:r>
            <a:r>
              <a:rPr lang="zh-CN" altLang="zh-CN" sz="2600" dirty="0"/>
              <a:t>的，否则，</a:t>
            </a:r>
            <a:r>
              <a:rPr lang="en-US" altLang="zh-CN" sz="2600" dirty="0"/>
              <a:t>CPU</a:t>
            </a:r>
            <a:r>
              <a:rPr lang="zh-CN" altLang="zh-CN" sz="2600" dirty="0"/>
              <a:t>将会出现空转而浪费资源。</a:t>
            </a:r>
          </a:p>
          <a:p>
            <a:pPr marL="457200" indent="-457200">
              <a:lnSpc>
                <a:spcPct val="150000"/>
              </a:lnSpc>
              <a:buClr>
                <a:schemeClr val="tx1"/>
              </a:buClr>
              <a:buSzPct val="100000"/>
              <a:buFont typeface="+mj-lt"/>
              <a:buAutoNum type="arabicPeriod"/>
            </a:pPr>
            <a:endParaRPr lang="zh-CN" altLang="zh-CN" sz="2600" dirty="0"/>
          </a:p>
        </p:txBody>
      </p:sp>
      <p:sp>
        <p:nvSpPr>
          <p:cNvPr id="3" name="文本框 2">
            <a:extLst>
              <a:ext uri="{FF2B5EF4-FFF2-40B4-BE49-F238E27FC236}">
                <a16:creationId xmlns:a16="http://schemas.microsoft.com/office/drawing/2014/main" id="{8586B53F-0C8D-59BD-BD69-3008D0DCF584}"/>
              </a:ext>
            </a:extLst>
          </p:cNvPr>
          <p:cNvSpPr txBox="1"/>
          <p:nvPr/>
        </p:nvSpPr>
        <p:spPr>
          <a:xfrm>
            <a:off x="783771" y="1122337"/>
            <a:ext cx="3057247" cy="523220"/>
          </a:xfrm>
          <a:prstGeom prst="rect">
            <a:avLst/>
          </a:prstGeom>
          <a:noFill/>
        </p:spPr>
        <p:txBody>
          <a:bodyPr wrap="none" rtlCol="0">
            <a:spAutoFit/>
          </a:bodyPr>
          <a:lstStyle/>
          <a:p>
            <a:r>
              <a:rPr lang="zh-CN" altLang="en-US" sz="2800" dirty="0"/>
              <a:t>阻塞原语的工作：</a:t>
            </a:r>
          </a:p>
        </p:txBody>
      </p:sp>
    </p:spTree>
    <p:custDataLst>
      <p:tags r:id="rId1"/>
    </p:custDataLst>
    <p:extLst>
      <p:ext uri="{BB962C8B-B14F-4D97-AF65-F5344CB8AC3E}">
        <p14:creationId xmlns:p14="http://schemas.microsoft.com/office/powerpoint/2010/main" val="225235724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.3.3  </a:t>
            </a:r>
            <a:r>
              <a:rPr lang="zh-CN" altLang="en-US" dirty="0"/>
              <a:t>进程的阻塞与唤醒</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518567" y="977743"/>
            <a:ext cx="10968990" cy="5510141"/>
          </a:xfrm>
        </p:spPr>
        <p:txBody>
          <a:bodyPr>
            <a:noAutofit/>
          </a:bodyPr>
          <a:lstStyle/>
          <a:p>
            <a:pPr marL="0" indent="0">
              <a:lnSpc>
                <a:spcPts val="4600"/>
              </a:lnSpc>
              <a:spcAft>
                <a:spcPts val="0"/>
              </a:spcAft>
              <a:buNone/>
            </a:pPr>
            <a:r>
              <a:rPr lang="en-US" altLang="zh-CN" sz="2600" dirty="0"/>
              <a:t>     </a:t>
            </a:r>
            <a:r>
              <a:rPr lang="zh-CN" altLang="zh-CN" sz="2600" dirty="0"/>
              <a:t>当</a:t>
            </a:r>
            <a:r>
              <a:rPr lang="zh-CN" altLang="en-US" sz="2600" dirty="0"/>
              <a:t>阻塞</a:t>
            </a:r>
            <a:r>
              <a:rPr lang="zh-CN" altLang="zh-CN" sz="2600" dirty="0"/>
              <a:t>队列中的进程所等待的事件发生时，等待该事件的所有进程都将被唤醒。</a:t>
            </a:r>
            <a:endParaRPr lang="en-US" altLang="zh-CN" sz="2600" dirty="0"/>
          </a:p>
          <a:p>
            <a:pPr marL="0" indent="0">
              <a:lnSpc>
                <a:spcPts val="4600"/>
              </a:lnSpc>
              <a:spcAft>
                <a:spcPts val="0"/>
              </a:spcAft>
              <a:buNone/>
            </a:pPr>
            <a:r>
              <a:rPr lang="zh-CN" altLang="zh-CN" sz="2600" dirty="0"/>
              <a:t>唤醒原语</a:t>
            </a:r>
            <a:r>
              <a:rPr lang="en-US" altLang="zh-CN" sz="2600" dirty="0"/>
              <a:t>wakeup( )</a:t>
            </a:r>
            <a:r>
              <a:rPr lang="zh-CN" altLang="en-US" sz="2600" dirty="0"/>
              <a:t>：</a:t>
            </a:r>
            <a:endParaRPr lang="en-US" altLang="zh-CN" sz="2600" dirty="0"/>
          </a:p>
          <a:p>
            <a:pPr marL="0" indent="0">
              <a:lnSpc>
                <a:spcPts val="4600"/>
              </a:lnSpc>
              <a:spcAft>
                <a:spcPts val="0"/>
              </a:spcAft>
              <a:buNone/>
            </a:pPr>
            <a:r>
              <a:rPr lang="en-US" altLang="zh-CN" sz="2600" dirty="0"/>
              <a:t>1</a:t>
            </a:r>
            <a:r>
              <a:rPr lang="zh-CN" altLang="en-US" sz="2600" dirty="0"/>
              <a:t>）</a:t>
            </a:r>
            <a:r>
              <a:rPr lang="zh-CN" altLang="zh-CN" sz="2600" dirty="0"/>
              <a:t>首先将被唤醒进程从相应的</a:t>
            </a:r>
            <a:r>
              <a:rPr lang="zh-CN" altLang="zh-CN" sz="2600" dirty="0">
                <a:solidFill>
                  <a:srgbClr val="FF0000"/>
                </a:solidFill>
              </a:rPr>
              <a:t>等待队列</a:t>
            </a:r>
            <a:r>
              <a:rPr lang="zh-CN" altLang="zh-CN" sz="2600" dirty="0"/>
              <a:t>中</a:t>
            </a:r>
            <a:r>
              <a:rPr lang="zh-CN" altLang="zh-CN" sz="2600" dirty="0">
                <a:solidFill>
                  <a:srgbClr val="FF0000"/>
                </a:solidFill>
              </a:rPr>
              <a:t>摘下</a:t>
            </a:r>
            <a:r>
              <a:rPr lang="zh-CN" altLang="en-US" sz="2600" dirty="0">
                <a:solidFill>
                  <a:srgbClr val="FF0000"/>
                </a:solidFill>
              </a:rPr>
              <a:t>；</a:t>
            </a:r>
            <a:endParaRPr lang="en-US" altLang="zh-CN" sz="2600" dirty="0">
              <a:solidFill>
                <a:srgbClr val="FF0000"/>
              </a:solidFill>
            </a:endParaRPr>
          </a:p>
          <a:p>
            <a:pPr marL="0" indent="0">
              <a:lnSpc>
                <a:spcPts val="4600"/>
              </a:lnSpc>
              <a:spcAft>
                <a:spcPts val="0"/>
              </a:spcAft>
              <a:buNone/>
            </a:pPr>
            <a:r>
              <a:rPr lang="en-US" altLang="zh-CN" sz="2600" dirty="0"/>
              <a:t>2</a:t>
            </a:r>
            <a:r>
              <a:rPr lang="zh-CN" altLang="en-US" sz="2600" dirty="0"/>
              <a:t>）</a:t>
            </a:r>
            <a:r>
              <a:rPr lang="zh-CN" altLang="zh-CN" sz="2600" dirty="0"/>
              <a:t>将被唤醒进程置为就绪状态之后，</a:t>
            </a:r>
            <a:r>
              <a:rPr lang="zh-CN" altLang="zh-CN" sz="2600" dirty="0">
                <a:solidFill>
                  <a:srgbClr val="FF0000"/>
                </a:solidFill>
              </a:rPr>
              <a:t>送入就绪队列</a:t>
            </a:r>
            <a:r>
              <a:rPr lang="zh-CN" altLang="zh-CN" sz="2600" dirty="0"/>
              <a:t>。</a:t>
            </a:r>
            <a:endParaRPr lang="en-US" altLang="zh-CN" sz="2600" dirty="0"/>
          </a:p>
          <a:p>
            <a:pPr marL="0" indent="0">
              <a:lnSpc>
                <a:spcPts val="4600"/>
              </a:lnSpc>
              <a:spcAft>
                <a:spcPts val="0"/>
              </a:spcAft>
              <a:buNone/>
            </a:pPr>
            <a:endParaRPr lang="en-US" altLang="zh-CN" sz="2600" dirty="0"/>
          </a:p>
          <a:p>
            <a:pPr marL="0" indent="0">
              <a:lnSpc>
                <a:spcPts val="4600"/>
              </a:lnSpc>
              <a:spcAft>
                <a:spcPts val="0"/>
              </a:spcAft>
              <a:buNone/>
            </a:pPr>
            <a:r>
              <a:rPr lang="en-US" altLang="zh-CN" sz="2600" dirty="0"/>
              <a:t>      </a:t>
            </a:r>
            <a:r>
              <a:rPr lang="zh-CN" altLang="zh-CN" sz="2600" dirty="0"/>
              <a:t>在把被唤醒进程送入就绪队列之后，唤醒原语既可以返回原调用程序，也可以转向进程调度，以便让调度程序有机会选择一个合适的进程执行。</a:t>
            </a:r>
          </a:p>
          <a:p>
            <a:pPr marL="0" indent="0">
              <a:lnSpc>
                <a:spcPts val="4600"/>
              </a:lnSpc>
              <a:spcAft>
                <a:spcPts val="0"/>
              </a:spcAft>
              <a:buNone/>
            </a:pPr>
            <a:endParaRPr lang="zh-CN" altLang="zh-CN" sz="2600" dirty="0"/>
          </a:p>
        </p:txBody>
      </p:sp>
    </p:spTree>
    <p:custDataLst>
      <p:tags r:id="rId1"/>
    </p:custDataLst>
    <p:extLst>
      <p:ext uri="{BB962C8B-B14F-4D97-AF65-F5344CB8AC3E}">
        <p14:creationId xmlns:p14="http://schemas.microsoft.com/office/powerpoint/2010/main" val="99580606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.3.4  </a:t>
            </a:r>
            <a:r>
              <a:rPr lang="zh-CN" altLang="en-US" dirty="0"/>
              <a:t>进程的挂起与激活</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254473"/>
            <a:ext cx="10968990" cy="3252214"/>
          </a:xfrm>
        </p:spPr>
        <p:txBody>
          <a:bodyPr>
            <a:noAutofit/>
          </a:bodyPr>
          <a:lstStyle/>
          <a:p>
            <a:pPr marL="0" indent="0">
              <a:lnSpc>
                <a:spcPct val="150000"/>
              </a:lnSpc>
              <a:buNone/>
            </a:pPr>
            <a:r>
              <a:rPr lang="en-US" altLang="zh-CN" sz="2800" dirty="0"/>
              <a:t>      </a:t>
            </a:r>
            <a:r>
              <a:rPr lang="zh-CN" altLang="zh-CN" sz="2800" dirty="0"/>
              <a:t>当出现了引起进程挂起的事件时，例如，用户进程请求将自己挂起，或父进程请求将自己的某个子进程挂起， 系统将利用挂起原语</a:t>
            </a:r>
            <a:r>
              <a:rPr lang="en-US" altLang="zh-CN" sz="2800" dirty="0"/>
              <a:t>suspend( )</a:t>
            </a:r>
            <a:r>
              <a:rPr lang="zh-CN" altLang="zh-CN" sz="2800" dirty="0"/>
              <a:t>将指定进程或处于阻塞状态的进程挂起。</a:t>
            </a:r>
            <a:endParaRPr lang="en-US" altLang="zh-CN" sz="2800" dirty="0"/>
          </a:p>
          <a:p>
            <a:pPr marL="0" indent="0">
              <a:lnSpc>
                <a:spcPct val="150000"/>
              </a:lnSpc>
              <a:buNone/>
            </a:pPr>
            <a:r>
              <a:rPr lang="en-US" altLang="zh-CN" sz="2800" dirty="0"/>
              <a:t> </a:t>
            </a:r>
            <a:endParaRPr lang="zh-CN" altLang="zh-CN" sz="2800" dirty="0"/>
          </a:p>
          <a:p>
            <a:pPr marL="0" indent="0">
              <a:lnSpc>
                <a:spcPct val="150000"/>
              </a:lnSpc>
              <a:buNone/>
            </a:pPr>
            <a:endParaRPr lang="zh-CN" altLang="zh-CN" sz="2800" dirty="0"/>
          </a:p>
        </p:txBody>
      </p:sp>
    </p:spTree>
    <p:custDataLst>
      <p:tags r:id="rId1"/>
    </p:custDataLst>
    <p:extLst>
      <p:ext uri="{BB962C8B-B14F-4D97-AF65-F5344CB8AC3E}">
        <p14:creationId xmlns:p14="http://schemas.microsoft.com/office/powerpoint/2010/main" val="24448053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020D47-45E5-1759-4A12-9B9FD2BEF61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B6FBF080-9DE0-BFC9-A6AE-94A97B67AD70}"/>
              </a:ext>
            </a:extLst>
          </p:cNvPr>
          <p:cNvSpPr>
            <a:spLocks noGrp="1"/>
          </p:cNvSpPr>
          <p:nvPr>
            <p:ph idx="1"/>
          </p:nvPr>
        </p:nvSpPr>
        <p:spPr/>
        <p:txBody>
          <a:bodyPr>
            <a:normAutofit/>
          </a:bodyPr>
          <a:lstStyle/>
          <a:p>
            <a:pPr marL="0" indent="0">
              <a:lnSpc>
                <a:spcPct val="150000"/>
              </a:lnSpc>
              <a:buNone/>
            </a:pPr>
            <a:r>
              <a:rPr lang="en-US" altLang="zh-CN" sz="2800" dirty="0"/>
              <a:t> </a:t>
            </a:r>
            <a:r>
              <a:rPr lang="zh-CN" altLang="zh-CN" sz="2800" dirty="0"/>
              <a:t>挂起原语的执行过程是：</a:t>
            </a:r>
            <a:endParaRPr lang="en-US" altLang="zh-CN" sz="2800" dirty="0"/>
          </a:p>
          <a:p>
            <a:pPr marL="0" indent="0">
              <a:lnSpc>
                <a:spcPct val="150000"/>
              </a:lnSpc>
              <a:buNone/>
            </a:pPr>
            <a:r>
              <a:rPr lang="en-US" altLang="zh-CN" sz="2800" dirty="0"/>
              <a:t>1</a:t>
            </a:r>
            <a:r>
              <a:rPr lang="zh-CN" altLang="en-US" sz="2800" dirty="0"/>
              <a:t>）</a:t>
            </a:r>
            <a:r>
              <a:rPr lang="zh-CN" altLang="zh-CN" sz="2800" dirty="0"/>
              <a:t>首先</a:t>
            </a:r>
            <a:r>
              <a:rPr lang="zh-CN" altLang="zh-CN" sz="2800" dirty="0">
                <a:solidFill>
                  <a:srgbClr val="0000FF"/>
                </a:solidFill>
              </a:rPr>
              <a:t>检查被挂起进程的状态</a:t>
            </a:r>
            <a:r>
              <a:rPr lang="zh-CN" altLang="zh-CN" sz="2800" dirty="0"/>
              <a:t>，若处于活动就绪状态，便将其改为静止就绪；对于活动阻塞状态的进程，则将之改为静止阻塞。</a:t>
            </a:r>
            <a:endParaRPr lang="en-US" altLang="zh-CN" sz="2800" dirty="0"/>
          </a:p>
          <a:p>
            <a:pPr marL="0" indent="0">
              <a:lnSpc>
                <a:spcPct val="150000"/>
              </a:lnSpc>
              <a:buNone/>
            </a:pPr>
            <a:r>
              <a:rPr lang="en-US" altLang="zh-CN" sz="2800" dirty="0"/>
              <a:t>2</a:t>
            </a:r>
            <a:r>
              <a:rPr lang="zh-CN" altLang="en-US" sz="2800" dirty="0"/>
              <a:t>）</a:t>
            </a:r>
            <a:r>
              <a:rPr lang="zh-CN" altLang="zh-CN" sz="2800" dirty="0"/>
              <a:t>为了方便用户或父进程考查该进程的运行情况而把该</a:t>
            </a:r>
            <a:r>
              <a:rPr lang="zh-CN" altLang="zh-CN" sz="2800" dirty="0">
                <a:solidFill>
                  <a:srgbClr val="0000FF"/>
                </a:solidFill>
              </a:rPr>
              <a:t>进程的</a:t>
            </a:r>
            <a:r>
              <a:rPr lang="en-US" altLang="zh-CN" sz="2800" dirty="0">
                <a:solidFill>
                  <a:srgbClr val="0000FF"/>
                </a:solidFill>
              </a:rPr>
              <a:t>PCB</a:t>
            </a:r>
            <a:r>
              <a:rPr lang="zh-CN" altLang="zh-CN" sz="2800" dirty="0">
                <a:solidFill>
                  <a:srgbClr val="0000FF"/>
                </a:solidFill>
              </a:rPr>
              <a:t>复制到某指定的内存区域</a:t>
            </a:r>
            <a:r>
              <a:rPr lang="zh-CN" altLang="zh-CN" sz="2800" dirty="0"/>
              <a:t>。</a:t>
            </a:r>
            <a:endParaRPr lang="en-US" altLang="zh-CN" sz="2800" dirty="0"/>
          </a:p>
          <a:p>
            <a:pPr marL="0" indent="0">
              <a:lnSpc>
                <a:spcPct val="150000"/>
              </a:lnSpc>
              <a:buNone/>
            </a:pPr>
            <a:r>
              <a:rPr lang="en-US" altLang="zh-CN" sz="2800" dirty="0"/>
              <a:t>3</a:t>
            </a:r>
            <a:r>
              <a:rPr lang="zh-CN" altLang="en-US" sz="2800" dirty="0"/>
              <a:t>）</a:t>
            </a:r>
            <a:r>
              <a:rPr lang="zh-CN" altLang="zh-CN" sz="2800" dirty="0"/>
              <a:t>最后，</a:t>
            </a:r>
            <a:r>
              <a:rPr lang="zh-CN" altLang="zh-CN" sz="2800" dirty="0">
                <a:solidFill>
                  <a:srgbClr val="0000FF"/>
                </a:solidFill>
              </a:rPr>
              <a:t>若被挂起的进程正在执行，则转向调度程序重新调度</a:t>
            </a:r>
            <a:r>
              <a:rPr lang="zh-CN" altLang="zh-CN" sz="2800" dirty="0"/>
              <a:t>。</a:t>
            </a:r>
            <a:endParaRPr lang="zh-CN" altLang="en-US" sz="2800" dirty="0"/>
          </a:p>
        </p:txBody>
      </p:sp>
    </p:spTree>
    <p:extLst>
      <p:ext uri="{BB962C8B-B14F-4D97-AF65-F5344CB8AC3E}">
        <p14:creationId xmlns:p14="http://schemas.microsoft.com/office/powerpoint/2010/main" val="251002565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656">
            <a:extLst>
              <a:ext uri="{FF2B5EF4-FFF2-40B4-BE49-F238E27FC236}">
                <a16:creationId xmlns:a16="http://schemas.microsoft.com/office/drawing/2014/main" id="{9B0B87C5-560F-1F3F-EA60-B3C734E7C2BB}"/>
              </a:ext>
            </a:extLst>
          </p:cNvPr>
          <p:cNvGrpSpPr>
            <a:grpSpLocks/>
          </p:cNvGrpSpPr>
          <p:nvPr/>
        </p:nvGrpSpPr>
        <p:grpSpPr bwMode="auto">
          <a:xfrm>
            <a:off x="2757267" y="858122"/>
            <a:ext cx="7725675" cy="5607992"/>
            <a:chOff x="2360" y="7002"/>
            <a:chExt cx="7780" cy="3904"/>
          </a:xfrm>
        </p:grpSpPr>
        <p:sp>
          <p:nvSpPr>
            <p:cNvPr id="5" name="文本框 657">
              <a:extLst>
                <a:ext uri="{FF2B5EF4-FFF2-40B4-BE49-F238E27FC236}">
                  <a16:creationId xmlns:a16="http://schemas.microsoft.com/office/drawing/2014/main" id="{4B33E449-FF59-B2CF-AB90-5DAEB55153DD}"/>
                </a:ext>
              </a:extLst>
            </p:cNvPr>
            <p:cNvSpPr txBox="1">
              <a:spLocks noChangeArrowheads="1"/>
            </p:cNvSpPr>
            <p:nvPr/>
          </p:nvSpPr>
          <p:spPr bwMode="auto">
            <a:xfrm>
              <a:off x="3996" y="10749"/>
              <a:ext cx="4140" cy="15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57150" algn="l"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图</a:t>
              </a:r>
              <a:r>
                <a:rPr kumimoji="0" lang="en-US" altLang="zh-CN"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2-8  </a:t>
              </a:r>
              <a:r>
                <a:rPr kumimoji="0" lang="zh-CN" altLang="en-US" sz="1600" b="1" i="0" u="none" strike="noStrike" cap="none" normalizeH="0" baseline="0">
                  <a:ln>
                    <a:noFill/>
                  </a:ln>
                  <a:solidFill>
                    <a:schemeClr val="tx1"/>
                  </a:solidFill>
                  <a:effectLst/>
                  <a:latin typeface="Calibri" panose="020F0502020204030204" pitchFamily="34" charset="0"/>
                  <a:ea typeface="宋体" panose="02010600030101010101" pitchFamily="2" charset="-122"/>
                  <a:cs typeface="Calibri" panose="020F0502020204030204" pitchFamily="34" charset="0"/>
                </a:rPr>
                <a:t>有挂起态的七状态模型</a:t>
              </a:r>
              <a:endParaRPr kumimoji="0" lang="zh-CN" altLang="en-US" sz="1600" b="1" i="0" u="none" strike="noStrike" cap="none" normalizeH="0" baseline="0">
                <a:ln>
                  <a:noFill/>
                </a:ln>
                <a:solidFill>
                  <a:schemeClr val="tx1"/>
                </a:solidFill>
                <a:effectLst/>
                <a:latin typeface="Arial" panose="020B0604020202020204" pitchFamily="34" charset="0"/>
              </a:endParaRPr>
            </a:p>
          </p:txBody>
        </p:sp>
        <p:grpSp>
          <p:nvGrpSpPr>
            <p:cNvPr id="6" name="画布 658">
              <a:extLst>
                <a:ext uri="{FF2B5EF4-FFF2-40B4-BE49-F238E27FC236}">
                  <a16:creationId xmlns:a16="http://schemas.microsoft.com/office/drawing/2014/main" id="{A2E5AE4D-7CE5-A083-C7AC-01DC1304E7B8}"/>
                </a:ext>
              </a:extLst>
            </p:cNvPr>
            <p:cNvGrpSpPr>
              <a:grpSpLocks noChangeAspect="1"/>
            </p:cNvGrpSpPr>
            <p:nvPr/>
          </p:nvGrpSpPr>
          <p:grpSpPr bwMode="auto">
            <a:xfrm>
              <a:off x="2360" y="7002"/>
              <a:ext cx="7780" cy="3657"/>
              <a:chOff x="1970" y="7002"/>
              <a:chExt cx="7780" cy="3657"/>
            </a:xfrm>
          </p:grpSpPr>
          <p:sp>
            <p:nvSpPr>
              <p:cNvPr id="7" name="AutoShape 131">
                <a:extLst>
                  <a:ext uri="{FF2B5EF4-FFF2-40B4-BE49-F238E27FC236}">
                    <a16:creationId xmlns:a16="http://schemas.microsoft.com/office/drawing/2014/main" id="{7D1841E5-BA34-0976-6CF1-711458784D6E}"/>
                  </a:ext>
                </a:extLst>
              </p:cNvPr>
              <p:cNvSpPr>
                <a:spLocks noChangeAspect="1" noChangeArrowheads="1" noTextEdit="1"/>
              </p:cNvSpPr>
              <p:nvPr/>
            </p:nvSpPr>
            <p:spPr bwMode="auto">
              <a:xfrm>
                <a:off x="2360" y="7002"/>
                <a:ext cx="7390" cy="365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200"/>
              </a:p>
            </p:txBody>
          </p:sp>
          <p:sp>
            <p:nvSpPr>
              <p:cNvPr id="8" name="矩形 663">
                <a:extLst>
                  <a:ext uri="{FF2B5EF4-FFF2-40B4-BE49-F238E27FC236}">
                    <a16:creationId xmlns:a16="http://schemas.microsoft.com/office/drawing/2014/main" id="{7F39D719-E8BF-3ADF-9276-53B430864FDA}"/>
                  </a:ext>
                </a:extLst>
              </p:cNvPr>
              <p:cNvSpPr>
                <a:spLocks noChangeArrowheads="1"/>
              </p:cNvSpPr>
              <p:nvPr/>
            </p:nvSpPr>
            <p:spPr bwMode="auto">
              <a:xfrm>
                <a:off x="1980" y="7064"/>
                <a:ext cx="208" cy="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9" name="矩形 664">
                <a:extLst>
                  <a:ext uri="{FF2B5EF4-FFF2-40B4-BE49-F238E27FC236}">
                    <a16:creationId xmlns:a16="http://schemas.microsoft.com/office/drawing/2014/main" id="{C9AF91A5-1758-199E-90DC-5902EC846850}"/>
                  </a:ext>
                </a:extLst>
              </p:cNvPr>
              <p:cNvSpPr>
                <a:spLocks noChangeArrowheads="1"/>
              </p:cNvSpPr>
              <p:nvPr/>
            </p:nvSpPr>
            <p:spPr bwMode="auto">
              <a:xfrm>
                <a:off x="4625" y="9289"/>
                <a:ext cx="683" cy="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 name="矩形 665">
                <a:extLst>
                  <a:ext uri="{FF2B5EF4-FFF2-40B4-BE49-F238E27FC236}">
                    <a16:creationId xmlns:a16="http://schemas.microsoft.com/office/drawing/2014/main" id="{DD856331-2EA8-A355-8238-87187188FC47}"/>
                  </a:ext>
                </a:extLst>
              </p:cNvPr>
              <p:cNvSpPr>
                <a:spLocks noChangeArrowheads="1"/>
              </p:cNvSpPr>
              <p:nvPr/>
            </p:nvSpPr>
            <p:spPr bwMode="auto">
              <a:xfrm>
                <a:off x="4735" y="932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11" name="矩形 672">
                <a:extLst>
                  <a:ext uri="{FF2B5EF4-FFF2-40B4-BE49-F238E27FC236}">
                    <a16:creationId xmlns:a16="http://schemas.microsoft.com/office/drawing/2014/main" id="{8DD2D9A9-CDF1-976B-9BD8-20FA0EF434DF}"/>
                  </a:ext>
                </a:extLst>
              </p:cNvPr>
              <p:cNvSpPr>
                <a:spLocks noChangeArrowheads="1"/>
              </p:cNvSpPr>
              <p:nvPr/>
            </p:nvSpPr>
            <p:spPr bwMode="auto">
              <a:xfrm>
                <a:off x="4733" y="9614"/>
                <a:ext cx="60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发生</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12" name="直线 673">
                <a:extLst>
                  <a:ext uri="{FF2B5EF4-FFF2-40B4-BE49-F238E27FC236}">
                    <a16:creationId xmlns:a16="http://schemas.microsoft.com/office/drawing/2014/main" id="{66BBEBB3-0966-F389-1CF9-2E20C28BF969}"/>
                  </a:ext>
                </a:extLst>
              </p:cNvPr>
              <p:cNvSpPr>
                <a:spLocks noChangeShapeType="1"/>
              </p:cNvSpPr>
              <p:nvPr/>
            </p:nvSpPr>
            <p:spPr bwMode="auto">
              <a:xfrm>
                <a:off x="4640" y="9212"/>
                <a:ext cx="0" cy="74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 name="任意多边形 674">
                <a:extLst>
                  <a:ext uri="{FF2B5EF4-FFF2-40B4-BE49-F238E27FC236}">
                    <a16:creationId xmlns:a16="http://schemas.microsoft.com/office/drawing/2014/main" id="{D14F8432-4835-8DAB-2625-4ED321A48FF1}"/>
                  </a:ext>
                </a:extLst>
              </p:cNvPr>
              <p:cNvSpPr>
                <a:spLocks/>
              </p:cNvSpPr>
              <p:nvPr/>
            </p:nvSpPr>
            <p:spPr bwMode="auto">
              <a:xfrm>
                <a:off x="4613" y="9097"/>
                <a:ext cx="57" cy="202"/>
              </a:xfrm>
              <a:custGeom>
                <a:avLst/>
                <a:gdLst>
                  <a:gd name="T0" fmla="*/ 11 w 23"/>
                  <a:gd name="T1" fmla="*/ 0 h 81"/>
                  <a:gd name="T2" fmla="*/ 0 w 23"/>
                  <a:gd name="T3" fmla="*/ 81 h 81"/>
                  <a:gd name="T4" fmla="*/ 23 w 23"/>
                  <a:gd name="T5" fmla="*/ 81 h 81"/>
                  <a:gd name="T6" fmla="*/ 11 w 23"/>
                  <a:gd name="T7" fmla="*/ 0 h 81"/>
                </a:gdLst>
                <a:ahLst/>
                <a:cxnLst>
                  <a:cxn ang="0">
                    <a:pos x="T0" y="T1"/>
                  </a:cxn>
                  <a:cxn ang="0">
                    <a:pos x="T2" y="T3"/>
                  </a:cxn>
                  <a:cxn ang="0">
                    <a:pos x="T4" y="T5"/>
                  </a:cxn>
                  <a:cxn ang="0">
                    <a:pos x="T6" y="T7"/>
                  </a:cxn>
                </a:cxnLst>
                <a:rect l="0" t="0" r="r" b="b"/>
                <a:pathLst>
                  <a:path w="23" h="81">
                    <a:moveTo>
                      <a:pt x="11" y="0"/>
                    </a:moveTo>
                    <a:lnTo>
                      <a:pt x="0" y="81"/>
                    </a:lnTo>
                    <a:lnTo>
                      <a:pt x="23" y="81"/>
                    </a:lnTo>
                    <a:lnTo>
                      <a:pt x="11" y="0"/>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14" name="矩形 675">
                <a:extLst>
                  <a:ext uri="{FF2B5EF4-FFF2-40B4-BE49-F238E27FC236}">
                    <a16:creationId xmlns:a16="http://schemas.microsoft.com/office/drawing/2014/main" id="{DA8E1F30-BF26-8FC2-0BA2-C8841C76AA52}"/>
                  </a:ext>
                </a:extLst>
              </p:cNvPr>
              <p:cNvSpPr>
                <a:spLocks noChangeArrowheads="1"/>
              </p:cNvSpPr>
              <p:nvPr/>
            </p:nvSpPr>
            <p:spPr bwMode="auto">
              <a:xfrm>
                <a:off x="2123" y="8399"/>
                <a:ext cx="1030" cy="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5" name="矩形 676">
                <a:extLst>
                  <a:ext uri="{FF2B5EF4-FFF2-40B4-BE49-F238E27FC236}">
                    <a16:creationId xmlns:a16="http://schemas.microsoft.com/office/drawing/2014/main" id="{76D8B23A-5538-AA83-6855-9F468EFEDBE8}"/>
                  </a:ext>
                </a:extLst>
              </p:cNvPr>
              <p:cNvSpPr>
                <a:spLocks noChangeArrowheads="1"/>
              </p:cNvSpPr>
              <p:nvPr/>
            </p:nvSpPr>
            <p:spPr bwMode="auto">
              <a:xfrm>
                <a:off x="2195" y="8627"/>
                <a:ext cx="84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静止就绪</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16" name="矩形 677">
                <a:extLst>
                  <a:ext uri="{FF2B5EF4-FFF2-40B4-BE49-F238E27FC236}">
                    <a16:creationId xmlns:a16="http://schemas.microsoft.com/office/drawing/2014/main" id="{CFF4F06B-FAFD-C524-E912-E386ED733F61}"/>
                  </a:ext>
                </a:extLst>
              </p:cNvPr>
              <p:cNvSpPr>
                <a:spLocks noChangeArrowheads="1"/>
              </p:cNvSpPr>
              <p:nvPr/>
            </p:nvSpPr>
            <p:spPr bwMode="auto">
              <a:xfrm>
                <a:off x="2400" y="8787"/>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sz="1600" b="1"/>
              </a:p>
            </p:txBody>
          </p:sp>
          <p:sp>
            <p:nvSpPr>
              <p:cNvPr id="17" name="椭圆 678">
                <a:extLst>
                  <a:ext uri="{FF2B5EF4-FFF2-40B4-BE49-F238E27FC236}">
                    <a16:creationId xmlns:a16="http://schemas.microsoft.com/office/drawing/2014/main" id="{1BDA5A34-A998-3E75-2D2F-EEC2B093A6F1}"/>
                  </a:ext>
                </a:extLst>
              </p:cNvPr>
              <p:cNvSpPr>
                <a:spLocks noChangeArrowheads="1"/>
              </p:cNvSpPr>
              <p:nvPr/>
            </p:nvSpPr>
            <p:spPr bwMode="auto">
              <a:xfrm>
                <a:off x="2065" y="8407"/>
                <a:ext cx="1100"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8" name="直线 679">
                <a:extLst>
                  <a:ext uri="{FF2B5EF4-FFF2-40B4-BE49-F238E27FC236}">
                    <a16:creationId xmlns:a16="http://schemas.microsoft.com/office/drawing/2014/main" id="{E6603483-9D46-74B6-0D25-107FE914BCC6}"/>
                  </a:ext>
                </a:extLst>
              </p:cNvPr>
              <p:cNvSpPr>
                <a:spLocks noChangeShapeType="1"/>
              </p:cNvSpPr>
              <p:nvPr/>
            </p:nvSpPr>
            <p:spPr bwMode="auto">
              <a:xfrm flipV="1">
                <a:off x="5330" y="9002"/>
                <a:ext cx="1053" cy="103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9" name="任意多边形 680">
                <a:extLst>
                  <a:ext uri="{FF2B5EF4-FFF2-40B4-BE49-F238E27FC236}">
                    <a16:creationId xmlns:a16="http://schemas.microsoft.com/office/drawing/2014/main" id="{6F359335-DD28-C2EB-CBAF-861C848E5F22}"/>
                  </a:ext>
                </a:extLst>
              </p:cNvPr>
              <p:cNvSpPr>
                <a:spLocks/>
              </p:cNvSpPr>
              <p:nvPr/>
            </p:nvSpPr>
            <p:spPr bwMode="auto">
              <a:xfrm>
                <a:off x="5190" y="10004"/>
                <a:ext cx="168" cy="163"/>
              </a:xfrm>
              <a:custGeom>
                <a:avLst/>
                <a:gdLst>
                  <a:gd name="T0" fmla="*/ 0 w 67"/>
                  <a:gd name="T1" fmla="*/ 65 h 65"/>
                  <a:gd name="T2" fmla="*/ 67 w 67"/>
                  <a:gd name="T3" fmla="*/ 17 h 65"/>
                  <a:gd name="T4" fmla="*/ 51 w 67"/>
                  <a:gd name="T5" fmla="*/ 0 h 65"/>
                  <a:gd name="T6" fmla="*/ 0 w 67"/>
                  <a:gd name="T7" fmla="*/ 65 h 65"/>
                </a:gdLst>
                <a:ahLst/>
                <a:cxnLst>
                  <a:cxn ang="0">
                    <a:pos x="T0" y="T1"/>
                  </a:cxn>
                  <a:cxn ang="0">
                    <a:pos x="T2" y="T3"/>
                  </a:cxn>
                  <a:cxn ang="0">
                    <a:pos x="T4" y="T5"/>
                  </a:cxn>
                  <a:cxn ang="0">
                    <a:pos x="T6" y="T7"/>
                  </a:cxn>
                </a:cxnLst>
                <a:rect l="0" t="0" r="r" b="b"/>
                <a:pathLst>
                  <a:path w="67" h="65">
                    <a:moveTo>
                      <a:pt x="0" y="65"/>
                    </a:moveTo>
                    <a:lnTo>
                      <a:pt x="67" y="17"/>
                    </a:lnTo>
                    <a:lnTo>
                      <a:pt x="51" y="0"/>
                    </a:lnTo>
                    <a:lnTo>
                      <a:pt x="0" y="65"/>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20" name="矩形 681">
                <a:extLst>
                  <a:ext uri="{FF2B5EF4-FFF2-40B4-BE49-F238E27FC236}">
                    <a16:creationId xmlns:a16="http://schemas.microsoft.com/office/drawing/2014/main" id="{AC1AA40B-0406-457D-24EF-00A572F35734}"/>
                  </a:ext>
                </a:extLst>
              </p:cNvPr>
              <p:cNvSpPr>
                <a:spLocks noChangeArrowheads="1"/>
              </p:cNvSpPr>
              <p:nvPr/>
            </p:nvSpPr>
            <p:spPr bwMode="auto">
              <a:xfrm>
                <a:off x="4128" y="8522"/>
                <a:ext cx="1030"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21" name="矩形 682">
                <a:extLst>
                  <a:ext uri="{FF2B5EF4-FFF2-40B4-BE49-F238E27FC236}">
                    <a16:creationId xmlns:a16="http://schemas.microsoft.com/office/drawing/2014/main" id="{F009DD48-8D51-E703-10FD-AD4676C9F944}"/>
                  </a:ext>
                </a:extLst>
              </p:cNvPr>
              <p:cNvSpPr>
                <a:spLocks noChangeArrowheads="1"/>
              </p:cNvSpPr>
              <p:nvPr/>
            </p:nvSpPr>
            <p:spPr bwMode="auto">
              <a:xfrm>
                <a:off x="4350"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活动</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22" name="矩形 683">
                <a:extLst>
                  <a:ext uri="{FF2B5EF4-FFF2-40B4-BE49-F238E27FC236}">
                    <a16:creationId xmlns:a16="http://schemas.microsoft.com/office/drawing/2014/main" id="{A0351E5F-FEED-A11E-4B7F-D6EA66D80EC8}"/>
                  </a:ext>
                </a:extLst>
              </p:cNvPr>
              <p:cNvSpPr>
                <a:spLocks noChangeArrowheads="1"/>
              </p:cNvSpPr>
              <p:nvPr/>
            </p:nvSpPr>
            <p:spPr bwMode="auto">
              <a:xfrm>
                <a:off x="4578" y="8604"/>
                <a:ext cx="15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23" name="矩形 684">
                <a:extLst>
                  <a:ext uri="{FF2B5EF4-FFF2-40B4-BE49-F238E27FC236}">
                    <a16:creationId xmlns:a16="http://schemas.microsoft.com/office/drawing/2014/main" id="{D6909A1C-0C2F-F9FF-2F84-31C9CFD9E8F8}"/>
                  </a:ext>
                </a:extLst>
              </p:cNvPr>
              <p:cNvSpPr>
                <a:spLocks noChangeArrowheads="1"/>
              </p:cNvSpPr>
              <p:nvPr/>
            </p:nvSpPr>
            <p:spPr bwMode="auto">
              <a:xfrm>
                <a:off x="4693"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就绪</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24" name="椭圆 685">
                <a:extLst>
                  <a:ext uri="{FF2B5EF4-FFF2-40B4-BE49-F238E27FC236}">
                    <a16:creationId xmlns:a16="http://schemas.microsoft.com/office/drawing/2014/main" id="{F35A0850-0CC3-63C4-273D-DD3E44469926}"/>
                  </a:ext>
                </a:extLst>
              </p:cNvPr>
              <p:cNvSpPr>
                <a:spLocks noChangeArrowheads="1"/>
              </p:cNvSpPr>
              <p:nvPr/>
            </p:nvSpPr>
            <p:spPr bwMode="auto">
              <a:xfrm>
                <a:off x="4098" y="8407"/>
                <a:ext cx="1105"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25" name="矩形 686">
                <a:extLst>
                  <a:ext uri="{FF2B5EF4-FFF2-40B4-BE49-F238E27FC236}">
                    <a16:creationId xmlns:a16="http://schemas.microsoft.com/office/drawing/2014/main" id="{C09E6319-F2D9-50D0-23CD-C5716FFA6F18}"/>
                  </a:ext>
                </a:extLst>
              </p:cNvPr>
              <p:cNvSpPr>
                <a:spLocks noChangeArrowheads="1"/>
              </p:cNvSpPr>
              <p:nvPr/>
            </p:nvSpPr>
            <p:spPr bwMode="auto">
              <a:xfrm>
                <a:off x="6190" y="8522"/>
                <a:ext cx="103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26" name="矩形 687">
                <a:extLst>
                  <a:ext uri="{FF2B5EF4-FFF2-40B4-BE49-F238E27FC236}">
                    <a16:creationId xmlns:a16="http://schemas.microsoft.com/office/drawing/2014/main" id="{1623BC56-0CE1-0525-2120-B0A0EF994E10}"/>
                  </a:ext>
                </a:extLst>
              </p:cNvPr>
              <p:cNvSpPr>
                <a:spLocks noChangeArrowheads="1"/>
              </p:cNvSpPr>
              <p:nvPr/>
            </p:nvSpPr>
            <p:spPr bwMode="auto">
              <a:xfrm>
                <a:off x="6415"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运</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27" name="矩形 688">
                <a:extLst>
                  <a:ext uri="{FF2B5EF4-FFF2-40B4-BE49-F238E27FC236}">
                    <a16:creationId xmlns:a16="http://schemas.microsoft.com/office/drawing/2014/main" id="{A2C4B8D4-FD0D-ADCD-5A75-3D92037ADA54}"/>
                  </a:ext>
                </a:extLst>
              </p:cNvPr>
              <p:cNvSpPr>
                <a:spLocks noChangeArrowheads="1"/>
              </p:cNvSpPr>
              <p:nvPr/>
            </p:nvSpPr>
            <p:spPr bwMode="auto">
              <a:xfrm>
                <a:off x="6645" y="8604"/>
                <a:ext cx="15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28" name="矩形 689">
                <a:extLst>
                  <a:ext uri="{FF2B5EF4-FFF2-40B4-BE49-F238E27FC236}">
                    <a16:creationId xmlns:a16="http://schemas.microsoft.com/office/drawing/2014/main" id="{DD10CCD4-6C92-9A70-8F16-42090AF35BB1}"/>
                  </a:ext>
                </a:extLst>
              </p:cNvPr>
              <p:cNvSpPr>
                <a:spLocks noChangeArrowheads="1"/>
              </p:cNvSpPr>
              <p:nvPr/>
            </p:nvSpPr>
            <p:spPr bwMode="auto">
              <a:xfrm>
                <a:off x="6758"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行</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29" name="椭圆 690">
                <a:extLst>
                  <a:ext uri="{FF2B5EF4-FFF2-40B4-BE49-F238E27FC236}">
                    <a16:creationId xmlns:a16="http://schemas.microsoft.com/office/drawing/2014/main" id="{F8DBC6D5-CF49-DA09-1C10-8D3FC1BFE0EF}"/>
                  </a:ext>
                </a:extLst>
              </p:cNvPr>
              <p:cNvSpPr>
                <a:spLocks noChangeArrowheads="1"/>
              </p:cNvSpPr>
              <p:nvPr/>
            </p:nvSpPr>
            <p:spPr bwMode="auto">
              <a:xfrm>
                <a:off x="6165" y="8407"/>
                <a:ext cx="1100"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0" name="矩形 691">
                <a:extLst>
                  <a:ext uri="{FF2B5EF4-FFF2-40B4-BE49-F238E27FC236}">
                    <a16:creationId xmlns:a16="http://schemas.microsoft.com/office/drawing/2014/main" id="{4D7EA410-F4AC-3678-8B68-5A28FD827B62}"/>
                  </a:ext>
                </a:extLst>
              </p:cNvPr>
              <p:cNvSpPr>
                <a:spLocks noChangeArrowheads="1"/>
              </p:cNvSpPr>
              <p:nvPr/>
            </p:nvSpPr>
            <p:spPr bwMode="auto">
              <a:xfrm>
                <a:off x="5300" y="8327"/>
                <a:ext cx="803"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1" name="矩形 692">
                <a:extLst>
                  <a:ext uri="{FF2B5EF4-FFF2-40B4-BE49-F238E27FC236}">
                    <a16:creationId xmlns:a16="http://schemas.microsoft.com/office/drawing/2014/main" id="{28BCC922-F8B2-8551-2776-AE35240638AB}"/>
                  </a:ext>
                </a:extLst>
              </p:cNvPr>
              <p:cNvSpPr>
                <a:spLocks noChangeArrowheads="1"/>
              </p:cNvSpPr>
              <p:nvPr/>
            </p:nvSpPr>
            <p:spPr bwMode="auto">
              <a:xfrm>
                <a:off x="5468" y="83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调度</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32" name="直线 693">
                <a:extLst>
                  <a:ext uri="{FF2B5EF4-FFF2-40B4-BE49-F238E27FC236}">
                    <a16:creationId xmlns:a16="http://schemas.microsoft.com/office/drawing/2014/main" id="{C55623F5-7AB2-D47D-D633-EC9670906FB4}"/>
                  </a:ext>
                </a:extLst>
              </p:cNvPr>
              <p:cNvSpPr>
                <a:spLocks noChangeShapeType="1"/>
              </p:cNvSpPr>
              <p:nvPr/>
            </p:nvSpPr>
            <p:spPr bwMode="auto">
              <a:xfrm>
                <a:off x="5170" y="8644"/>
                <a:ext cx="853"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3" name="任意多边形 694">
                <a:extLst>
                  <a:ext uri="{FF2B5EF4-FFF2-40B4-BE49-F238E27FC236}">
                    <a16:creationId xmlns:a16="http://schemas.microsoft.com/office/drawing/2014/main" id="{9838BC4F-F2A8-3584-2960-E3B3F1571943}"/>
                  </a:ext>
                </a:extLst>
              </p:cNvPr>
              <p:cNvSpPr>
                <a:spLocks/>
              </p:cNvSpPr>
              <p:nvPr/>
            </p:nvSpPr>
            <p:spPr bwMode="auto">
              <a:xfrm>
                <a:off x="5960" y="8612"/>
                <a:ext cx="208" cy="62"/>
              </a:xfrm>
              <a:custGeom>
                <a:avLst/>
                <a:gdLst>
                  <a:gd name="T0" fmla="*/ 83 w 83"/>
                  <a:gd name="T1" fmla="*/ 13 h 25"/>
                  <a:gd name="T2" fmla="*/ 0 w 83"/>
                  <a:gd name="T3" fmla="*/ 25 h 25"/>
                  <a:gd name="T4" fmla="*/ 0 w 83"/>
                  <a:gd name="T5" fmla="*/ 0 h 25"/>
                  <a:gd name="T6" fmla="*/ 83 w 83"/>
                  <a:gd name="T7" fmla="*/ 13 h 25"/>
                </a:gdLst>
                <a:ahLst/>
                <a:cxnLst>
                  <a:cxn ang="0">
                    <a:pos x="T0" y="T1"/>
                  </a:cxn>
                  <a:cxn ang="0">
                    <a:pos x="T2" y="T3"/>
                  </a:cxn>
                  <a:cxn ang="0">
                    <a:pos x="T4" y="T5"/>
                  </a:cxn>
                  <a:cxn ang="0">
                    <a:pos x="T6" y="T7"/>
                  </a:cxn>
                </a:cxnLst>
                <a:rect l="0" t="0" r="r" b="b"/>
                <a:pathLst>
                  <a:path w="83" h="25">
                    <a:moveTo>
                      <a:pt x="83" y="13"/>
                    </a:moveTo>
                    <a:lnTo>
                      <a:pt x="0" y="25"/>
                    </a:lnTo>
                    <a:lnTo>
                      <a:pt x="0" y="0"/>
                    </a:lnTo>
                    <a:lnTo>
                      <a:pt x="83" y="13"/>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34" name="直线 695">
                <a:extLst>
                  <a:ext uri="{FF2B5EF4-FFF2-40B4-BE49-F238E27FC236}">
                    <a16:creationId xmlns:a16="http://schemas.microsoft.com/office/drawing/2014/main" id="{C95982AF-6DB6-D2E0-D0D6-8DB10715C86E}"/>
                  </a:ext>
                </a:extLst>
              </p:cNvPr>
              <p:cNvSpPr>
                <a:spLocks noChangeShapeType="1"/>
              </p:cNvSpPr>
              <p:nvPr/>
            </p:nvSpPr>
            <p:spPr bwMode="auto">
              <a:xfrm>
                <a:off x="5293" y="8869"/>
                <a:ext cx="917"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5" name="任意多边形 696">
                <a:extLst>
                  <a:ext uri="{FF2B5EF4-FFF2-40B4-BE49-F238E27FC236}">
                    <a16:creationId xmlns:a16="http://schemas.microsoft.com/office/drawing/2014/main" id="{BEDCFDA3-7EEE-F405-08E6-4F8198218BD9}"/>
                  </a:ext>
                </a:extLst>
              </p:cNvPr>
              <p:cNvSpPr>
                <a:spLocks/>
              </p:cNvSpPr>
              <p:nvPr/>
            </p:nvSpPr>
            <p:spPr bwMode="auto">
              <a:xfrm>
                <a:off x="5170" y="8842"/>
                <a:ext cx="203" cy="62"/>
              </a:xfrm>
              <a:custGeom>
                <a:avLst/>
                <a:gdLst>
                  <a:gd name="T0" fmla="*/ 0 w 81"/>
                  <a:gd name="T1" fmla="*/ 11 h 25"/>
                  <a:gd name="T2" fmla="*/ 81 w 81"/>
                  <a:gd name="T3" fmla="*/ 25 h 25"/>
                  <a:gd name="T4" fmla="*/ 81 w 81"/>
                  <a:gd name="T5" fmla="*/ 0 h 25"/>
                  <a:gd name="T6" fmla="*/ 0 w 81"/>
                  <a:gd name="T7" fmla="*/ 11 h 25"/>
                </a:gdLst>
                <a:ahLst/>
                <a:cxnLst>
                  <a:cxn ang="0">
                    <a:pos x="T0" y="T1"/>
                  </a:cxn>
                  <a:cxn ang="0">
                    <a:pos x="T2" y="T3"/>
                  </a:cxn>
                  <a:cxn ang="0">
                    <a:pos x="T4" y="T5"/>
                  </a:cxn>
                  <a:cxn ang="0">
                    <a:pos x="T6" y="T7"/>
                  </a:cxn>
                </a:cxnLst>
                <a:rect l="0" t="0" r="r" b="b"/>
                <a:pathLst>
                  <a:path w="81" h="25">
                    <a:moveTo>
                      <a:pt x="0" y="11"/>
                    </a:moveTo>
                    <a:lnTo>
                      <a:pt x="81" y="25"/>
                    </a:lnTo>
                    <a:lnTo>
                      <a:pt x="81" y="0"/>
                    </a:lnTo>
                    <a:lnTo>
                      <a:pt x="0" y="11"/>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36" name="矩形 697">
                <a:extLst>
                  <a:ext uri="{FF2B5EF4-FFF2-40B4-BE49-F238E27FC236}">
                    <a16:creationId xmlns:a16="http://schemas.microsoft.com/office/drawing/2014/main" id="{C0AEF498-6CF4-81EA-DC24-7EB00CC9342D}"/>
                  </a:ext>
                </a:extLst>
              </p:cNvPr>
              <p:cNvSpPr>
                <a:spLocks noChangeArrowheads="1"/>
              </p:cNvSpPr>
              <p:nvPr/>
            </p:nvSpPr>
            <p:spPr bwMode="auto">
              <a:xfrm>
                <a:off x="5300" y="8917"/>
                <a:ext cx="80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7" name="矩形 698">
                <a:extLst>
                  <a:ext uri="{FF2B5EF4-FFF2-40B4-BE49-F238E27FC236}">
                    <a16:creationId xmlns:a16="http://schemas.microsoft.com/office/drawing/2014/main" id="{00DD9648-F374-B2B5-1F18-C1FA525D1D39}"/>
                  </a:ext>
                </a:extLst>
              </p:cNvPr>
              <p:cNvSpPr>
                <a:spLocks noChangeArrowheads="1"/>
              </p:cNvSpPr>
              <p:nvPr/>
            </p:nvSpPr>
            <p:spPr bwMode="auto">
              <a:xfrm>
                <a:off x="5292" y="8915"/>
                <a:ext cx="922" cy="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时</a:t>
                </a:r>
                <a:r>
                  <a:rPr kumimoji="0" lang="zh-CN" altLang="en-US"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间片到</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38" name="矩形 699">
                <a:extLst>
                  <a:ext uri="{FF2B5EF4-FFF2-40B4-BE49-F238E27FC236}">
                    <a16:creationId xmlns:a16="http://schemas.microsoft.com/office/drawing/2014/main" id="{59B45A2E-2261-BA72-8EF5-35337D54FE1D}"/>
                  </a:ext>
                </a:extLst>
              </p:cNvPr>
              <p:cNvSpPr>
                <a:spLocks noChangeArrowheads="1"/>
              </p:cNvSpPr>
              <p:nvPr/>
            </p:nvSpPr>
            <p:spPr bwMode="auto">
              <a:xfrm>
                <a:off x="7193" y="8422"/>
                <a:ext cx="80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39" name="矩形 700">
                <a:extLst>
                  <a:ext uri="{FF2B5EF4-FFF2-40B4-BE49-F238E27FC236}">
                    <a16:creationId xmlns:a16="http://schemas.microsoft.com/office/drawing/2014/main" id="{88DBC375-554A-2EB2-D266-065231E8E675}"/>
                  </a:ext>
                </a:extLst>
              </p:cNvPr>
              <p:cNvSpPr>
                <a:spLocks noChangeArrowheads="1"/>
              </p:cNvSpPr>
              <p:nvPr/>
            </p:nvSpPr>
            <p:spPr bwMode="auto">
              <a:xfrm>
                <a:off x="7360" y="845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en-US"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结束</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40" name="直线 701">
                <a:extLst>
                  <a:ext uri="{FF2B5EF4-FFF2-40B4-BE49-F238E27FC236}">
                    <a16:creationId xmlns:a16="http://schemas.microsoft.com/office/drawing/2014/main" id="{419D9FD1-82CD-11CA-FD7F-0D3BDED24370}"/>
                  </a:ext>
                </a:extLst>
              </p:cNvPr>
              <p:cNvSpPr>
                <a:spLocks noChangeShapeType="1"/>
              </p:cNvSpPr>
              <p:nvPr/>
            </p:nvSpPr>
            <p:spPr bwMode="auto">
              <a:xfrm>
                <a:off x="7245" y="8739"/>
                <a:ext cx="668"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41" name="任意多边形 702">
                <a:extLst>
                  <a:ext uri="{FF2B5EF4-FFF2-40B4-BE49-F238E27FC236}">
                    <a16:creationId xmlns:a16="http://schemas.microsoft.com/office/drawing/2014/main" id="{81BA5E75-361A-21BE-6EB0-1C1E3D4BD79A}"/>
                  </a:ext>
                </a:extLst>
              </p:cNvPr>
              <p:cNvSpPr>
                <a:spLocks/>
              </p:cNvSpPr>
              <p:nvPr/>
            </p:nvSpPr>
            <p:spPr bwMode="auto">
              <a:xfrm>
                <a:off x="7838" y="8709"/>
                <a:ext cx="202" cy="60"/>
              </a:xfrm>
              <a:custGeom>
                <a:avLst/>
                <a:gdLst>
                  <a:gd name="T0" fmla="*/ 81 w 81"/>
                  <a:gd name="T1" fmla="*/ 12 h 24"/>
                  <a:gd name="T2" fmla="*/ 0 w 81"/>
                  <a:gd name="T3" fmla="*/ 24 h 24"/>
                  <a:gd name="T4" fmla="*/ 0 w 81"/>
                  <a:gd name="T5" fmla="*/ 0 h 24"/>
                  <a:gd name="T6" fmla="*/ 81 w 81"/>
                  <a:gd name="T7" fmla="*/ 12 h 24"/>
                </a:gdLst>
                <a:ahLst/>
                <a:cxnLst>
                  <a:cxn ang="0">
                    <a:pos x="T0" y="T1"/>
                  </a:cxn>
                  <a:cxn ang="0">
                    <a:pos x="T2" y="T3"/>
                  </a:cxn>
                  <a:cxn ang="0">
                    <a:pos x="T4" y="T5"/>
                  </a:cxn>
                  <a:cxn ang="0">
                    <a:pos x="T6" y="T7"/>
                  </a:cxn>
                </a:cxnLst>
                <a:rect l="0" t="0" r="r" b="b"/>
                <a:pathLst>
                  <a:path w="81" h="24">
                    <a:moveTo>
                      <a:pt x="81" y="12"/>
                    </a:moveTo>
                    <a:lnTo>
                      <a:pt x="0" y="24"/>
                    </a:lnTo>
                    <a:lnTo>
                      <a:pt x="0" y="0"/>
                    </a:lnTo>
                    <a:lnTo>
                      <a:pt x="81"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42" name="矩形 703">
                <a:extLst>
                  <a:ext uri="{FF2B5EF4-FFF2-40B4-BE49-F238E27FC236}">
                    <a16:creationId xmlns:a16="http://schemas.microsoft.com/office/drawing/2014/main" id="{B393AB82-0057-1187-3509-04DBEABD439B}"/>
                  </a:ext>
                </a:extLst>
              </p:cNvPr>
              <p:cNvSpPr>
                <a:spLocks noChangeArrowheads="1"/>
              </p:cNvSpPr>
              <p:nvPr/>
            </p:nvSpPr>
            <p:spPr bwMode="auto">
              <a:xfrm>
                <a:off x="8073" y="8522"/>
                <a:ext cx="1035"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43" name="矩形 704">
                <a:extLst>
                  <a:ext uri="{FF2B5EF4-FFF2-40B4-BE49-F238E27FC236}">
                    <a16:creationId xmlns:a16="http://schemas.microsoft.com/office/drawing/2014/main" id="{22B55117-FB7D-5D5F-9B42-E931884807B9}"/>
                  </a:ext>
                </a:extLst>
              </p:cNvPr>
              <p:cNvSpPr>
                <a:spLocks noChangeArrowheads="1"/>
              </p:cNvSpPr>
              <p:nvPr/>
            </p:nvSpPr>
            <p:spPr bwMode="auto">
              <a:xfrm>
                <a:off x="8300"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退</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44" name="矩形 705">
                <a:extLst>
                  <a:ext uri="{FF2B5EF4-FFF2-40B4-BE49-F238E27FC236}">
                    <a16:creationId xmlns:a16="http://schemas.microsoft.com/office/drawing/2014/main" id="{41FE9EA9-302A-7876-702F-FD0588E41AE3}"/>
                  </a:ext>
                </a:extLst>
              </p:cNvPr>
              <p:cNvSpPr>
                <a:spLocks noChangeArrowheads="1"/>
              </p:cNvSpPr>
              <p:nvPr/>
            </p:nvSpPr>
            <p:spPr bwMode="auto">
              <a:xfrm>
                <a:off x="8643" y="861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出</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45" name="椭圆 706">
                <a:extLst>
                  <a:ext uri="{FF2B5EF4-FFF2-40B4-BE49-F238E27FC236}">
                    <a16:creationId xmlns:a16="http://schemas.microsoft.com/office/drawing/2014/main" id="{21FDA6EB-CBD4-05C0-77EC-ACCA2A3A1BA7}"/>
                  </a:ext>
                </a:extLst>
              </p:cNvPr>
              <p:cNvSpPr>
                <a:spLocks noChangeArrowheads="1"/>
              </p:cNvSpPr>
              <p:nvPr/>
            </p:nvSpPr>
            <p:spPr bwMode="auto">
              <a:xfrm>
                <a:off x="8045" y="8407"/>
                <a:ext cx="1103" cy="667"/>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46" name="矩形 707">
                <a:extLst>
                  <a:ext uri="{FF2B5EF4-FFF2-40B4-BE49-F238E27FC236}">
                    <a16:creationId xmlns:a16="http://schemas.microsoft.com/office/drawing/2014/main" id="{EE464D19-6660-318B-A559-37CA6E891886}"/>
                  </a:ext>
                </a:extLst>
              </p:cNvPr>
              <p:cNvSpPr>
                <a:spLocks noChangeArrowheads="1"/>
              </p:cNvSpPr>
              <p:nvPr/>
            </p:nvSpPr>
            <p:spPr bwMode="auto">
              <a:xfrm>
                <a:off x="4140" y="10069"/>
                <a:ext cx="1033"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47" name="矩形 708">
                <a:extLst>
                  <a:ext uri="{FF2B5EF4-FFF2-40B4-BE49-F238E27FC236}">
                    <a16:creationId xmlns:a16="http://schemas.microsoft.com/office/drawing/2014/main" id="{9A2093F7-0186-284D-C342-FD14F0F3F880}"/>
                  </a:ext>
                </a:extLst>
              </p:cNvPr>
              <p:cNvSpPr>
                <a:spLocks noChangeArrowheads="1"/>
              </p:cNvSpPr>
              <p:nvPr/>
            </p:nvSpPr>
            <p:spPr bwMode="auto">
              <a:xfrm>
                <a:off x="4368" y="10159"/>
                <a:ext cx="36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活动</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48" name="矩形 709">
                <a:extLst>
                  <a:ext uri="{FF2B5EF4-FFF2-40B4-BE49-F238E27FC236}">
                    <a16:creationId xmlns:a16="http://schemas.microsoft.com/office/drawing/2014/main" id="{51DF6636-62FC-D1ED-A74F-A993621693D9}"/>
                  </a:ext>
                </a:extLst>
              </p:cNvPr>
              <p:cNvSpPr>
                <a:spLocks noChangeArrowheads="1"/>
              </p:cNvSpPr>
              <p:nvPr/>
            </p:nvSpPr>
            <p:spPr bwMode="auto">
              <a:xfrm>
                <a:off x="4598" y="10152"/>
                <a:ext cx="157"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宋体" panose="02010600030101010101" pitchFamily="2" charset="-122"/>
                    <a:ea typeface="宋体" panose="02010600030101010101" pitchFamily="2" charset="-122"/>
                    <a:cs typeface="Calibri" panose="020F0502020204030204" pitchFamily="34" charset="0"/>
                  </a:rPr>
                  <a:t> </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49" name="矩形 710">
                <a:extLst>
                  <a:ext uri="{FF2B5EF4-FFF2-40B4-BE49-F238E27FC236}">
                    <a16:creationId xmlns:a16="http://schemas.microsoft.com/office/drawing/2014/main" id="{183A62B2-3B11-ADAE-E207-F5937671558B}"/>
                  </a:ext>
                </a:extLst>
              </p:cNvPr>
              <p:cNvSpPr>
                <a:spLocks noChangeArrowheads="1"/>
              </p:cNvSpPr>
              <p:nvPr/>
            </p:nvSpPr>
            <p:spPr bwMode="auto">
              <a:xfrm>
                <a:off x="4725" y="10174"/>
                <a:ext cx="360"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阻塞</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50" name="椭圆 711">
                <a:extLst>
                  <a:ext uri="{FF2B5EF4-FFF2-40B4-BE49-F238E27FC236}">
                    <a16:creationId xmlns:a16="http://schemas.microsoft.com/office/drawing/2014/main" id="{D6E07A3E-5595-A06C-E206-0B3EAFC529E9}"/>
                  </a:ext>
                </a:extLst>
              </p:cNvPr>
              <p:cNvSpPr>
                <a:spLocks noChangeArrowheads="1"/>
              </p:cNvSpPr>
              <p:nvPr/>
            </p:nvSpPr>
            <p:spPr bwMode="auto">
              <a:xfrm>
                <a:off x="4113" y="9957"/>
                <a:ext cx="1105"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51" name="矩形 712">
                <a:extLst>
                  <a:ext uri="{FF2B5EF4-FFF2-40B4-BE49-F238E27FC236}">
                    <a16:creationId xmlns:a16="http://schemas.microsoft.com/office/drawing/2014/main" id="{13615C96-2F4D-62AE-1B9E-B1E9C12C7922}"/>
                  </a:ext>
                </a:extLst>
              </p:cNvPr>
              <p:cNvSpPr>
                <a:spLocks noChangeArrowheads="1"/>
              </p:cNvSpPr>
              <p:nvPr/>
            </p:nvSpPr>
            <p:spPr bwMode="auto">
              <a:xfrm>
                <a:off x="5903" y="9472"/>
                <a:ext cx="680" cy="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52" name="矩形 713">
                <a:extLst>
                  <a:ext uri="{FF2B5EF4-FFF2-40B4-BE49-F238E27FC236}">
                    <a16:creationId xmlns:a16="http://schemas.microsoft.com/office/drawing/2014/main" id="{EB1ADFCA-96A2-75F4-7427-57926C167A2A}"/>
                  </a:ext>
                </a:extLst>
              </p:cNvPr>
              <p:cNvSpPr>
                <a:spLocks noChangeArrowheads="1"/>
              </p:cNvSpPr>
              <p:nvPr/>
            </p:nvSpPr>
            <p:spPr bwMode="auto">
              <a:xfrm>
                <a:off x="6010" y="950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等待</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53" name="矩形 714">
                <a:extLst>
                  <a:ext uri="{FF2B5EF4-FFF2-40B4-BE49-F238E27FC236}">
                    <a16:creationId xmlns:a16="http://schemas.microsoft.com/office/drawing/2014/main" id="{10993698-22B3-1D6E-BCDA-43627131A574}"/>
                  </a:ext>
                </a:extLst>
              </p:cNvPr>
              <p:cNvSpPr>
                <a:spLocks noChangeArrowheads="1"/>
              </p:cNvSpPr>
              <p:nvPr/>
            </p:nvSpPr>
            <p:spPr bwMode="auto">
              <a:xfrm>
                <a:off x="6008" y="979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54" name="矩形 715">
                <a:extLst>
                  <a:ext uri="{FF2B5EF4-FFF2-40B4-BE49-F238E27FC236}">
                    <a16:creationId xmlns:a16="http://schemas.microsoft.com/office/drawing/2014/main" id="{C3BAB4A2-FAB0-A054-EEE8-3CC56E116A9C}"/>
                  </a:ext>
                </a:extLst>
              </p:cNvPr>
              <p:cNvSpPr>
                <a:spLocks noChangeArrowheads="1"/>
              </p:cNvSpPr>
              <p:nvPr/>
            </p:nvSpPr>
            <p:spPr bwMode="auto">
              <a:xfrm>
                <a:off x="2075" y="9949"/>
                <a:ext cx="1035"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55" name="矩形 716">
                <a:extLst>
                  <a:ext uri="{FF2B5EF4-FFF2-40B4-BE49-F238E27FC236}">
                    <a16:creationId xmlns:a16="http://schemas.microsoft.com/office/drawing/2014/main" id="{D487A9C0-3C4E-CE1E-2460-48AB4B60C4B4}"/>
                  </a:ext>
                </a:extLst>
              </p:cNvPr>
              <p:cNvSpPr>
                <a:spLocks noChangeArrowheads="1"/>
              </p:cNvSpPr>
              <p:nvPr/>
            </p:nvSpPr>
            <p:spPr bwMode="auto">
              <a:xfrm>
                <a:off x="2280" y="10159"/>
                <a:ext cx="76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FF"/>
                    </a:solidFill>
                    <a:effectLst/>
                    <a:latin typeface="Calibri" panose="020F0502020204030204" pitchFamily="34" charset="0"/>
                    <a:ea typeface="宋体" panose="02010600030101010101" pitchFamily="2" charset="-122"/>
                    <a:cs typeface="华康简宋" charset="-122"/>
                  </a:rPr>
                  <a:t>静止阻塞</a:t>
                </a:r>
                <a:endParaRPr kumimoji="0" lang="zh-CN" altLang="zh-CN" sz="1600" b="1" i="0" u="none" strike="noStrike" cap="none" normalizeH="0" baseline="0" dirty="0">
                  <a:ln>
                    <a:noFill/>
                  </a:ln>
                  <a:solidFill>
                    <a:srgbClr val="0000FF"/>
                  </a:solidFill>
                  <a:effectLst/>
                  <a:latin typeface="Arial" panose="020B0604020202020204" pitchFamily="34" charset="0"/>
                </a:endParaRPr>
              </a:p>
            </p:txBody>
          </p:sp>
          <p:sp>
            <p:nvSpPr>
              <p:cNvPr id="56" name="矩形 717">
                <a:extLst>
                  <a:ext uri="{FF2B5EF4-FFF2-40B4-BE49-F238E27FC236}">
                    <a16:creationId xmlns:a16="http://schemas.microsoft.com/office/drawing/2014/main" id="{A6F2F5FC-3F0B-64C8-CEDD-DC1E72C51A02}"/>
                  </a:ext>
                </a:extLst>
              </p:cNvPr>
              <p:cNvSpPr>
                <a:spLocks noChangeArrowheads="1"/>
              </p:cNvSpPr>
              <p:nvPr/>
            </p:nvSpPr>
            <p:spPr bwMode="auto">
              <a:xfrm>
                <a:off x="2355" y="1033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endParaRPr lang="zh-CN" altLang="en-US" sz="1600" b="1"/>
              </a:p>
            </p:txBody>
          </p:sp>
          <p:sp>
            <p:nvSpPr>
              <p:cNvPr id="57" name="椭圆 718">
                <a:extLst>
                  <a:ext uri="{FF2B5EF4-FFF2-40B4-BE49-F238E27FC236}">
                    <a16:creationId xmlns:a16="http://schemas.microsoft.com/office/drawing/2014/main" id="{CFD63118-34CE-51B7-B8C2-60D9F489C165}"/>
                  </a:ext>
                </a:extLst>
              </p:cNvPr>
              <p:cNvSpPr>
                <a:spLocks noChangeArrowheads="1"/>
              </p:cNvSpPr>
              <p:nvPr/>
            </p:nvSpPr>
            <p:spPr bwMode="auto">
              <a:xfrm>
                <a:off x="2045" y="9957"/>
                <a:ext cx="1105"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58" name="矩形 719">
                <a:extLst>
                  <a:ext uri="{FF2B5EF4-FFF2-40B4-BE49-F238E27FC236}">
                    <a16:creationId xmlns:a16="http://schemas.microsoft.com/office/drawing/2014/main" id="{548B98E1-F7A6-1408-4CC9-6BA39DD51A4D}"/>
                  </a:ext>
                </a:extLst>
              </p:cNvPr>
              <p:cNvSpPr>
                <a:spLocks noChangeArrowheads="1"/>
              </p:cNvSpPr>
              <p:nvPr/>
            </p:nvSpPr>
            <p:spPr bwMode="auto">
              <a:xfrm>
                <a:off x="3268" y="8332"/>
                <a:ext cx="80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59" name="矩形 722">
                <a:extLst>
                  <a:ext uri="{FF2B5EF4-FFF2-40B4-BE49-F238E27FC236}">
                    <a16:creationId xmlns:a16="http://schemas.microsoft.com/office/drawing/2014/main" id="{E777A3F8-DDC5-E5C1-F447-F1B42C9D4141}"/>
                  </a:ext>
                </a:extLst>
              </p:cNvPr>
              <p:cNvSpPr>
                <a:spLocks noChangeArrowheads="1"/>
              </p:cNvSpPr>
              <p:nvPr/>
            </p:nvSpPr>
            <p:spPr bwMode="auto">
              <a:xfrm>
                <a:off x="3430" y="8359"/>
                <a:ext cx="603"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华康简宋" charset="-122"/>
                  </a:rPr>
                  <a:t>激活</a:t>
                </a:r>
                <a:endParaRPr kumimoji="0" lang="zh-CN" altLang="zh-CN" sz="1600" b="1" i="0" u="none" strike="noStrike" cap="none" normalizeH="0" baseline="0" dirty="0">
                  <a:ln>
                    <a:noFill/>
                  </a:ln>
                  <a:solidFill>
                    <a:srgbClr val="FF0000"/>
                  </a:solidFill>
                  <a:effectLst/>
                  <a:latin typeface="Arial" panose="020B0604020202020204" pitchFamily="34" charset="0"/>
                </a:endParaRPr>
              </a:p>
            </p:txBody>
          </p:sp>
          <p:sp>
            <p:nvSpPr>
              <p:cNvPr id="60" name="直线 734">
                <a:extLst>
                  <a:ext uri="{FF2B5EF4-FFF2-40B4-BE49-F238E27FC236}">
                    <a16:creationId xmlns:a16="http://schemas.microsoft.com/office/drawing/2014/main" id="{BF68109E-5454-1B73-7323-B4339BBADD37}"/>
                  </a:ext>
                </a:extLst>
              </p:cNvPr>
              <p:cNvSpPr>
                <a:spLocks noChangeShapeType="1"/>
              </p:cNvSpPr>
              <p:nvPr/>
            </p:nvSpPr>
            <p:spPr bwMode="auto">
              <a:xfrm>
                <a:off x="3135" y="8649"/>
                <a:ext cx="850"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61" name="任意多边形 744">
                <a:extLst>
                  <a:ext uri="{FF2B5EF4-FFF2-40B4-BE49-F238E27FC236}">
                    <a16:creationId xmlns:a16="http://schemas.microsoft.com/office/drawing/2014/main" id="{F1E43F92-1DAA-5C83-2A99-3D1C2344BE21}"/>
                  </a:ext>
                </a:extLst>
              </p:cNvPr>
              <p:cNvSpPr>
                <a:spLocks/>
              </p:cNvSpPr>
              <p:nvPr/>
            </p:nvSpPr>
            <p:spPr bwMode="auto">
              <a:xfrm>
                <a:off x="3908" y="8619"/>
                <a:ext cx="205" cy="58"/>
              </a:xfrm>
              <a:custGeom>
                <a:avLst/>
                <a:gdLst>
                  <a:gd name="T0" fmla="*/ 82 w 82"/>
                  <a:gd name="T1" fmla="*/ 12 h 23"/>
                  <a:gd name="T2" fmla="*/ 0 w 82"/>
                  <a:gd name="T3" fmla="*/ 23 h 23"/>
                  <a:gd name="T4" fmla="*/ 0 w 82"/>
                  <a:gd name="T5" fmla="*/ 0 h 23"/>
                  <a:gd name="T6" fmla="*/ 82 w 82"/>
                  <a:gd name="T7" fmla="*/ 12 h 23"/>
                </a:gdLst>
                <a:ahLst/>
                <a:cxnLst>
                  <a:cxn ang="0">
                    <a:pos x="T0" y="T1"/>
                  </a:cxn>
                  <a:cxn ang="0">
                    <a:pos x="T2" y="T3"/>
                  </a:cxn>
                  <a:cxn ang="0">
                    <a:pos x="T4" y="T5"/>
                  </a:cxn>
                  <a:cxn ang="0">
                    <a:pos x="T6" y="T7"/>
                  </a:cxn>
                </a:cxnLst>
                <a:rect l="0" t="0" r="r" b="b"/>
                <a:pathLst>
                  <a:path w="82" h="23">
                    <a:moveTo>
                      <a:pt x="82" y="12"/>
                    </a:moveTo>
                    <a:lnTo>
                      <a:pt x="0" y="23"/>
                    </a:lnTo>
                    <a:lnTo>
                      <a:pt x="0" y="0"/>
                    </a:lnTo>
                    <a:lnTo>
                      <a:pt x="82"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62" name="直线 1348">
                <a:extLst>
                  <a:ext uri="{FF2B5EF4-FFF2-40B4-BE49-F238E27FC236}">
                    <a16:creationId xmlns:a16="http://schemas.microsoft.com/office/drawing/2014/main" id="{E9EDE706-C438-6916-30DD-03D268F01B60}"/>
                  </a:ext>
                </a:extLst>
              </p:cNvPr>
              <p:cNvSpPr>
                <a:spLocks noChangeShapeType="1"/>
              </p:cNvSpPr>
              <p:nvPr/>
            </p:nvSpPr>
            <p:spPr bwMode="auto">
              <a:xfrm>
                <a:off x="3270" y="8877"/>
                <a:ext cx="878"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63" name="任意多边形 1349">
                <a:extLst>
                  <a:ext uri="{FF2B5EF4-FFF2-40B4-BE49-F238E27FC236}">
                    <a16:creationId xmlns:a16="http://schemas.microsoft.com/office/drawing/2014/main" id="{CE7FE082-E3CA-A94A-707D-6161BF05581A}"/>
                  </a:ext>
                </a:extLst>
              </p:cNvPr>
              <p:cNvSpPr>
                <a:spLocks/>
              </p:cNvSpPr>
              <p:nvPr/>
            </p:nvSpPr>
            <p:spPr bwMode="auto">
              <a:xfrm>
                <a:off x="3133" y="8844"/>
                <a:ext cx="202" cy="63"/>
              </a:xfrm>
              <a:custGeom>
                <a:avLst/>
                <a:gdLst>
                  <a:gd name="T0" fmla="*/ 0 w 81"/>
                  <a:gd name="T1" fmla="*/ 13 h 25"/>
                  <a:gd name="T2" fmla="*/ 81 w 81"/>
                  <a:gd name="T3" fmla="*/ 25 h 25"/>
                  <a:gd name="T4" fmla="*/ 81 w 81"/>
                  <a:gd name="T5" fmla="*/ 0 h 25"/>
                  <a:gd name="T6" fmla="*/ 0 w 81"/>
                  <a:gd name="T7" fmla="*/ 13 h 25"/>
                </a:gdLst>
                <a:ahLst/>
                <a:cxnLst>
                  <a:cxn ang="0">
                    <a:pos x="T0" y="T1"/>
                  </a:cxn>
                  <a:cxn ang="0">
                    <a:pos x="T2" y="T3"/>
                  </a:cxn>
                  <a:cxn ang="0">
                    <a:pos x="T4" y="T5"/>
                  </a:cxn>
                  <a:cxn ang="0">
                    <a:pos x="T6" y="T7"/>
                  </a:cxn>
                </a:cxnLst>
                <a:rect l="0" t="0" r="r" b="b"/>
                <a:pathLst>
                  <a:path w="81" h="25">
                    <a:moveTo>
                      <a:pt x="0" y="13"/>
                    </a:moveTo>
                    <a:lnTo>
                      <a:pt x="81" y="25"/>
                    </a:lnTo>
                    <a:lnTo>
                      <a:pt x="81" y="0"/>
                    </a:lnTo>
                    <a:lnTo>
                      <a:pt x="0" y="13"/>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64" name="矩形 1350">
                <a:extLst>
                  <a:ext uri="{FF2B5EF4-FFF2-40B4-BE49-F238E27FC236}">
                    <a16:creationId xmlns:a16="http://schemas.microsoft.com/office/drawing/2014/main" id="{6563E80F-DC93-8D40-22BF-E5974AB3CE35}"/>
                  </a:ext>
                </a:extLst>
              </p:cNvPr>
              <p:cNvSpPr>
                <a:spLocks noChangeArrowheads="1"/>
              </p:cNvSpPr>
              <p:nvPr/>
            </p:nvSpPr>
            <p:spPr bwMode="auto">
              <a:xfrm>
                <a:off x="3268" y="8924"/>
                <a:ext cx="800" cy="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65" name="矩形 1351">
                <a:extLst>
                  <a:ext uri="{FF2B5EF4-FFF2-40B4-BE49-F238E27FC236}">
                    <a16:creationId xmlns:a16="http://schemas.microsoft.com/office/drawing/2014/main" id="{4E5CAE74-C397-D098-18D2-789494076F8E}"/>
                  </a:ext>
                </a:extLst>
              </p:cNvPr>
              <p:cNvSpPr>
                <a:spLocks noChangeArrowheads="1"/>
              </p:cNvSpPr>
              <p:nvPr/>
            </p:nvSpPr>
            <p:spPr bwMode="auto">
              <a:xfrm>
                <a:off x="3430" y="8954"/>
                <a:ext cx="603"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66" name="矩形 1352">
                <a:extLst>
                  <a:ext uri="{FF2B5EF4-FFF2-40B4-BE49-F238E27FC236}">
                    <a16:creationId xmlns:a16="http://schemas.microsoft.com/office/drawing/2014/main" id="{B6CE6354-9595-F726-CBD7-0049D7313521}"/>
                  </a:ext>
                </a:extLst>
              </p:cNvPr>
              <p:cNvSpPr>
                <a:spLocks noChangeArrowheads="1"/>
              </p:cNvSpPr>
              <p:nvPr/>
            </p:nvSpPr>
            <p:spPr bwMode="auto">
              <a:xfrm>
                <a:off x="3260" y="9864"/>
                <a:ext cx="800"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67" name="矩形 1353">
                <a:extLst>
                  <a:ext uri="{FF2B5EF4-FFF2-40B4-BE49-F238E27FC236}">
                    <a16:creationId xmlns:a16="http://schemas.microsoft.com/office/drawing/2014/main" id="{73166C04-4BDC-5C36-79E8-2FE1123E04F1}"/>
                  </a:ext>
                </a:extLst>
              </p:cNvPr>
              <p:cNvSpPr>
                <a:spLocks noChangeArrowheads="1"/>
              </p:cNvSpPr>
              <p:nvPr/>
            </p:nvSpPr>
            <p:spPr bwMode="auto">
              <a:xfrm>
                <a:off x="3428" y="9894"/>
                <a:ext cx="602"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FF0000"/>
                    </a:solidFill>
                    <a:effectLst/>
                    <a:latin typeface="Calibri" panose="020F0502020204030204" pitchFamily="34" charset="0"/>
                    <a:ea typeface="宋体" panose="02010600030101010101" pitchFamily="2" charset="-122"/>
                    <a:cs typeface="华康简宋" charset="-122"/>
                  </a:rPr>
                  <a:t>激活</a:t>
                </a:r>
                <a:endParaRPr kumimoji="0" lang="zh-CN" altLang="zh-CN" sz="1600" b="1" i="0" u="none" strike="noStrike" cap="none" normalizeH="0" baseline="0" dirty="0">
                  <a:ln>
                    <a:noFill/>
                  </a:ln>
                  <a:solidFill>
                    <a:srgbClr val="FF0000"/>
                  </a:solidFill>
                  <a:effectLst/>
                  <a:latin typeface="Arial" panose="020B0604020202020204" pitchFamily="34" charset="0"/>
                </a:endParaRPr>
              </a:p>
            </p:txBody>
          </p:sp>
          <p:grpSp>
            <p:nvGrpSpPr>
              <p:cNvPr id="68" name="组合 1354">
                <a:extLst>
                  <a:ext uri="{FF2B5EF4-FFF2-40B4-BE49-F238E27FC236}">
                    <a16:creationId xmlns:a16="http://schemas.microsoft.com/office/drawing/2014/main" id="{392BCA91-AAF3-6B48-63D5-1F52551D7B27}"/>
                  </a:ext>
                </a:extLst>
              </p:cNvPr>
              <p:cNvGrpSpPr>
                <a:grpSpLocks/>
              </p:cNvGrpSpPr>
              <p:nvPr/>
            </p:nvGrpSpPr>
            <p:grpSpPr bwMode="auto">
              <a:xfrm>
                <a:off x="3118" y="10172"/>
                <a:ext cx="875" cy="20"/>
                <a:chOff x="647" y="3668"/>
                <a:chExt cx="350" cy="8"/>
              </a:xfrm>
            </p:grpSpPr>
            <p:sp>
              <p:nvSpPr>
                <p:cNvPr id="130" name="任意多边形 1355">
                  <a:extLst>
                    <a:ext uri="{FF2B5EF4-FFF2-40B4-BE49-F238E27FC236}">
                      <a16:creationId xmlns:a16="http://schemas.microsoft.com/office/drawing/2014/main" id="{830AF770-1559-9CD5-E5D3-75CD21EEB1DF}"/>
                    </a:ext>
                  </a:extLst>
                </p:cNvPr>
                <p:cNvSpPr>
                  <a:spLocks/>
                </p:cNvSpPr>
                <p:nvPr/>
              </p:nvSpPr>
              <p:spPr bwMode="auto">
                <a:xfrm>
                  <a:off x="647" y="3668"/>
                  <a:ext cx="44" cy="8"/>
                </a:xfrm>
                <a:custGeom>
                  <a:avLst/>
                  <a:gdLst>
                    <a:gd name="T0" fmla="*/ 6 w 44"/>
                    <a:gd name="T1" fmla="*/ 0 h 8"/>
                    <a:gd name="T2" fmla="*/ 4 w 44"/>
                    <a:gd name="T3" fmla="*/ 0 h 8"/>
                    <a:gd name="T4" fmla="*/ 3 w 44"/>
                    <a:gd name="T5" fmla="*/ 1 h 8"/>
                    <a:gd name="T6" fmla="*/ 1 w 44"/>
                    <a:gd name="T7" fmla="*/ 3 h 8"/>
                    <a:gd name="T8" fmla="*/ 0 w 44"/>
                    <a:gd name="T9" fmla="*/ 4 h 8"/>
                    <a:gd name="T10" fmla="*/ 0 w 44"/>
                    <a:gd name="T11" fmla="*/ 4 h 8"/>
                    <a:gd name="T12" fmla="*/ 1 w 44"/>
                    <a:gd name="T13" fmla="*/ 5 h 8"/>
                    <a:gd name="T14" fmla="*/ 3 w 44"/>
                    <a:gd name="T15" fmla="*/ 7 h 8"/>
                    <a:gd name="T16" fmla="*/ 4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6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6" y="0"/>
                      </a:moveTo>
                      <a:lnTo>
                        <a:pt x="4" y="0"/>
                      </a:lnTo>
                      <a:lnTo>
                        <a:pt x="3" y="1"/>
                      </a:lnTo>
                      <a:lnTo>
                        <a:pt x="1" y="3"/>
                      </a:lnTo>
                      <a:lnTo>
                        <a:pt x="0" y="4"/>
                      </a:lnTo>
                      <a:lnTo>
                        <a:pt x="1" y="5"/>
                      </a:lnTo>
                      <a:lnTo>
                        <a:pt x="3" y="7"/>
                      </a:lnTo>
                      <a:lnTo>
                        <a:pt x="4" y="8"/>
                      </a:lnTo>
                      <a:lnTo>
                        <a:pt x="38" y="8"/>
                      </a:lnTo>
                      <a:lnTo>
                        <a:pt x="39" y="8"/>
                      </a:lnTo>
                      <a:lnTo>
                        <a:pt x="41" y="8"/>
                      </a:lnTo>
                      <a:lnTo>
                        <a:pt x="42" y="7"/>
                      </a:lnTo>
                      <a:lnTo>
                        <a:pt x="44" y="5"/>
                      </a:lnTo>
                      <a:lnTo>
                        <a:pt x="44" y="4"/>
                      </a:lnTo>
                      <a:lnTo>
                        <a:pt x="42" y="3"/>
                      </a:lnTo>
                      <a:lnTo>
                        <a:pt x="41" y="1"/>
                      </a:lnTo>
                      <a:lnTo>
                        <a:pt x="39"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1" name="任意多边形 1356">
                  <a:extLst>
                    <a:ext uri="{FF2B5EF4-FFF2-40B4-BE49-F238E27FC236}">
                      <a16:creationId xmlns:a16="http://schemas.microsoft.com/office/drawing/2014/main" id="{AA94EA3D-3810-EB80-EF1E-25C9188EFD41}"/>
                    </a:ext>
                  </a:extLst>
                </p:cNvPr>
                <p:cNvSpPr>
                  <a:spLocks/>
                </p:cNvSpPr>
                <p:nvPr/>
              </p:nvSpPr>
              <p:spPr bwMode="auto">
                <a:xfrm>
                  <a:off x="708" y="3668"/>
                  <a:ext cx="44" cy="8"/>
                </a:xfrm>
                <a:custGeom>
                  <a:avLst/>
                  <a:gdLst>
                    <a:gd name="T0" fmla="*/ 4 w 44"/>
                    <a:gd name="T1" fmla="*/ 0 h 8"/>
                    <a:gd name="T2" fmla="*/ 3 w 44"/>
                    <a:gd name="T3" fmla="*/ 0 h 8"/>
                    <a:gd name="T4" fmla="*/ 2 w 44"/>
                    <a:gd name="T5" fmla="*/ 1 h 8"/>
                    <a:gd name="T6" fmla="*/ 0 w 44"/>
                    <a:gd name="T7" fmla="*/ 3 h 8"/>
                    <a:gd name="T8" fmla="*/ 0 w 44"/>
                    <a:gd name="T9" fmla="*/ 4 h 8"/>
                    <a:gd name="T10" fmla="*/ 0 w 44"/>
                    <a:gd name="T11" fmla="*/ 5 h 8"/>
                    <a:gd name="T12" fmla="*/ 0 w 44"/>
                    <a:gd name="T13" fmla="*/ 7 h 8"/>
                    <a:gd name="T14" fmla="*/ 2 w 44"/>
                    <a:gd name="T15" fmla="*/ 8 h 8"/>
                    <a:gd name="T16" fmla="*/ 3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4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4" y="0"/>
                      </a:moveTo>
                      <a:lnTo>
                        <a:pt x="3" y="0"/>
                      </a:lnTo>
                      <a:lnTo>
                        <a:pt x="2" y="1"/>
                      </a:lnTo>
                      <a:lnTo>
                        <a:pt x="0" y="3"/>
                      </a:lnTo>
                      <a:lnTo>
                        <a:pt x="0" y="4"/>
                      </a:lnTo>
                      <a:lnTo>
                        <a:pt x="0" y="5"/>
                      </a:lnTo>
                      <a:lnTo>
                        <a:pt x="0" y="7"/>
                      </a:lnTo>
                      <a:lnTo>
                        <a:pt x="2" y="8"/>
                      </a:lnTo>
                      <a:lnTo>
                        <a:pt x="3" y="8"/>
                      </a:lnTo>
                      <a:lnTo>
                        <a:pt x="38" y="8"/>
                      </a:lnTo>
                      <a:lnTo>
                        <a:pt x="39" y="8"/>
                      </a:lnTo>
                      <a:lnTo>
                        <a:pt x="41" y="8"/>
                      </a:lnTo>
                      <a:lnTo>
                        <a:pt x="42" y="7"/>
                      </a:lnTo>
                      <a:lnTo>
                        <a:pt x="44" y="5"/>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2" name="任意多边形 1357">
                  <a:extLst>
                    <a:ext uri="{FF2B5EF4-FFF2-40B4-BE49-F238E27FC236}">
                      <a16:creationId xmlns:a16="http://schemas.microsoft.com/office/drawing/2014/main" id="{270F9F43-6DD2-AC58-9E75-64513A9567EB}"/>
                    </a:ext>
                  </a:extLst>
                </p:cNvPr>
                <p:cNvSpPr>
                  <a:spLocks/>
                </p:cNvSpPr>
                <p:nvPr/>
              </p:nvSpPr>
              <p:spPr bwMode="auto">
                <a:xfrm>
                  <a:off x="769" y="3668"/>
                  <a:ext cx="44" cy="8"/>
                </a:xfrm>
                <a:custGeom>
                  <a:avLst/>
                  <a:gdLst>
                    <a:gd name="T0" fmla="*/ 5 w 44"/>
                    <a:gd name="T1" fmla="*/ 0 h 8"/>
                    <a:gd name="T2" fmla="*/ 3 w 44"/>
                    <a:gd name="T3" fmla="*/ 0 h 8"/>
                    <a:gd name="T4" fmla="*/ 2 w 44"/>
                    <a:gd name="T5" fmla="*/ 1 h 8"/>
                    <a:gd name="T6" fmla="*/ 0 w 44"/>
                    <a:gd name="T7" fmla="*/ 3 h 8"/>
                    <a:gd name="T8" fmla="*/ 0 w 44"/>
                    <a:gd name="T9" fmla="*/ 4 h 8"/>
                    <a:gd name="T10" fmla="*/ 0 w 44"/>
                    <a:gd name="T11" fmla="*/ 5 h 8"/>
                    <a:gd name="T12" fmla="*/ 0 w 44"/>
                    <a:gd name="T13" fmla="*/ 7 h 8"/>
                    <a:gd name="T14" fmla="*/ 2 w 44"/>
                    <a:gd name="T15" fmla="*/ 8 h 8"/>
                    <a:gd name="T16" fmla="*/ 3 w 44"/>
                    <a:gd name="T17" fmla="*/ 8 h 8"/>
                    <a:gd name="T18" fmla="*/ 38 w 44"/>
                    <a:gd name="T19" fmla="*/ 8 h 8"/>
                    <a:gd name="T20" fmla="*/ 40 w 44"/>
                    <a:gd name="T21" fmla="*/ 8 h 8"/>
                    <a:gd name="T22" fmla="*/ 41 w 44"/>
                    <a:gd name="T23" fmla="*/ 8 h 8"/>
                    <a:gd name="T24" fmla="*/ 43 w 44"/>
                    <a:gd name="T25" fmla="*/ 7 h 8"/>
                    <a:gd name="T26" fmla="*/ 44 w 44"/>
                    <a:gd name="T27" fmla="*/ 5 h 8"/>
                    <a:gd name="T28" fmla="*/ 44 w 44"/>
                    <a:gd name="T29" fmla="*/ 4 h 8"/>
                    <a:gd name="T30" fmla="*/ 43 w 44"/>
                    <a:gd name="T31" fmla="*/ 3 h 8"/>
                    <a:gd name="T32" fmla="*/ 41 w 44"/>
                    <a:gd name="T33" fmla="*/ 1 h 8"/>
                    <a:gd name="T34" fmla="*/ 40 w 44"/>
                    <a:gd name="T35" fmla="*/ 0 h 8"/>
                    <a:gd name="T36" fmla="*/ 5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5" y="0"/>
                      </a:moveTo>
                      <a:lnTo>
                        <a:pt x="3" y="0"/>
                      </a:lnTo>
                      <a:lnTo>
                        <a:pt x="2" y="1"/>
                      </a:lnTo>
                      <a:lnTo>
                        <a:pt x="0" y="3"/>
                      </a:lnTo>
                      <a:lnTo>
                        <a:pt x="0" y="4"/>
                      </a:lnTo>
                      <a:lnTo>
                        <a:pt x="0" y="5"/>
                      </a:lnTo>
                      <a:lnTo>
                        <a:pt x="0" y="7"/>
                      </a:lnTo>
                      <a:lnTo>
                        <a:pt x="2" y="8"/>
                      </a:lnTo>
                      <a:lnTo>
                        <a:pt x="3" y="8"/>
                      </a:lnTo>
                      <a:lnTo>
                        <a:pt x="38" y="8"/>
                      </a:lnTo>
                      <a:lnTo>
                        <a:pt x="40" y="8"/>
                      </a:lnTo>
                      <a:lnTo>
                        <a:pt x="41" y="8"/>
                      </a:lnTo>
                      <a:lnTo>
                        <a:pt x="43" y="7"/>
                      </a:lnTo>
                      <a:lnTo>
                        <a:pt x="44" y="5"/>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3" name="任意多边形 1358">
                  <a:extLst>
                    <a:ext uri="{FF2B5EF4-FFF2-40B4-BE49-F238E27FC236}">
                      <a16:creationId xmlns:a16="http://schemas.microsoft.com/office/drawing/2014/main" id="{AB3E77D3-8153-D128-A7EE-E1C633B52FE0}"/>
                    </a:ext>
                  </a:extLst>
                </p:cNvPr>
                <p:cNvSpPr>
                  <a:spLocks/>
                </p:cNvSpPr>
                <p:nvPr/>
              </p:nvSpPr>
              <p:spPr bwMode="auto">
                <a:xfrm>
                  <a:off x="831" y="3668"/>
                  <a:ext cx="43" cy="8"/>
                </a:xfrm>
                <a:custGeom>
                  <a:avLst/>
                  <a:gdLst>
                    <a:gd name="T0" fmla="*/ 4 w 43"/>
                    <a:gd name="T1" fmla="*/ 0 h 8"/>
                    <a:gd name="T2" fmla="*/ 2 w 43"/>
                    <a:gd name="T3" fmla="*/ 0 h 8"/>
                    <a:gd name="T4" fmla="*/ 1 w 43"/>
                    <a:gd name="T5" fmla="*/ 1 h 8"/>
                    <a:gd name="T6" fmla="*/ 0 w 43"/>
                    <a:gd name="T7" fmla="*/ 3 h 8"/>
                    <a:gd name="T8" fmla="*/ 0 w 43"/>
                    <a:gd name="T9" fmla="*/ 4 h 8"/>
                    <a:gd name="T10" fmla="*/ 0 w 43"/>
                    <a:gd name="T11" fmla="*/ 5 h 8"/>
                    <a:gd name="T12" fmla="*/ 0 w 43"/>
                    <a:gd name="T13" fmla="*/ 7 h 8"/>
                    <a:gd name="T14" fmla="*/ 1 w 43"/>
                    <a:gd name="T15" fmla="*/ 8 h 8"/>
                    <a:gd name="T16" fmla="*/ 2 w 43"/>
                    <a:gd name="T17" fmla="*/ 8 h 8"/>
                    <a:gd name="T18" fmla="*/ 37 w 43"/>
                    <a:gd name="T19" fmla="*/ 8 h 8"/>
                    <a:gd name="T20" fmla="*/ 39 w 43"/>
                    <a:gd name="T21" fmla="*/ 8 h 8"/>
                    <a:gd name="T22" fmla="*/ 40 w 43"/>
                    <a:gd name="T23" fmla="*/ 8 h 8"/>
                    <a:gd name="T24" fmla="*/ 42 w 43"/>
                    <a:gd name="T25" fmla="*/ 7 h 8"/>
                    <a:gd name="T26" fmla="*/ 43 w 43"/>
                    <a:gd name="T27" fmla="*/ 5 h 8"/>
                    <a:gd name="T28" fmla="*/ 43 w 43"/>
                    <a:gd name="T29" fmla="*/ 4 h 8"/>
                    <a:gd name="T30" fmla="*/ 42 w 43"/>
                    <a:gd name="T31" fmla="*/ 3 h 8"/>
                    <a:gd name="T32" fmla="*/ 40 w 43"/>
                    <a:gd name="T33" fmla="*/ 1 h 8"/>
                    <a:gd name="T34" fmla="*/ 39 w 43"/>
                    <a:gd name="T35" fmla="*/ 0 h 8"/>
                    <a:gd name="T36" fmla="*/ 4 w 43"/>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8">
                      <a:moveTo>
                        <a:pt x="4" y="0"/>
                      </a:moveTo>
                      <a:lnTo>
                        <a:pt x="2" y="0"/>
                      </a:lnTo>
                      <a:lnTo>
                        <a:pt x="1" y="1"/>
                      </a:lnTo>
                      <a:lnTo>
                        <a:pt x="0" y="3"/>
                      </a:lnTo>
                      <a:lnTo>
                        <a:pt x="0" y="4"/>
                      </a:lnTo>
                      <a:lnTo>
                        <a:pt x="0" y="5"/>
                      </a:lnTo>
                      <a:lnTo>
                        <a:pt x="0" y="7"/>
                      </a:lnTo>
                      <a:lnTo>
                        <a:pt x="1" y="8"/>
                      </a:lnTo>
                      <a:lnTo>
                        <a:pt x="2" y="8"/>
                      </a:lnTo>
                      <a:lnTo>
                        <a:pt x="37" y="8"/>
                      </a:lnTo>
                      <a:lnTo>
                        <a:pt x="39" y="8"/>
                      </a:lnTo>
                      <a:lnTo>
                        <a:pt x="40" y="8"/>
                      </a:lnTo>
                      <a:lnTo>
                        <a:pt x="42" y="7"/>
                      </a:lnTo>
                      <a:lnTo>
                        <a:pt x="43" y="5"/>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4" name="任意多边形 1359">
                  <a:extLst>
                    <a:ext uri="{FF2B5EF4-FFF2-40B4-BE49-F238E27FC236}">
                      <a16:creationId xmlns:a16="http://schemas.microsoft.com/office/drawing/2014/main" id="{8D80BD98-B738-0452-BE3E-A298ACDDA300}"/>
                    </a:ext>
                  </a:extLst>
                </p:cNvPr>
                <p:cNvSpPr>
                  <a:spLocks/>
                </p:cNvSpPr>
                <p:nvPr/>
              </p:nvSpPr>
              <p:spPr bwMode="auto">
                <a:xfrm>
                  <a:off x="892" y="3668"/>
                  <a:ext cx="43" cy="8"/>
                </a:xfrm>
                <a:custGeom>
                  <a:avLst/>
                  <a:gdLst>
                    <a:gd name="T0" fmla="*/ 4 w 43"/>
                    <a:gd name="T1" fmla="*/ 0 h 8"/>
                    <a:gd name="T2" fmla="*/ 3 w 43"/>
                    <a:gd name="T3" fmla="*/ 0 h 8"/>
                    <a:gd name="T4" fmla="*/ 1 w 43"/>
                    <a:gd name="T5" fmla="*/ 1 h 8"/>
                    <a:gd name="T6" fmla="*/ 0 w 43"/>
                    <a:gd name="T7" fmla="*/ 3 h 8"/>
                    <a:gd name="T8" fmla="*/ 0 w 43"/>
                    <a:gd name="T9" fmla="*/ 4 h 8"/>
                    <a:gd name="T10" fmla="*/ 0 w 43"/>
                    <a:gd name="T11" fmla="*/ 5 h 8"/>
                    <a:gd name="T12" fmla="*/ 0 w 43"/>
                    <a:gd name="T13" fmla="*/ 7 h 8"/>
                    <a:gd name="T14" fmla="*/ 1 w 43"/>
                    <a:gd name="T15" fmla="*/ 8 h 8"/>
                    <a:gd name="T16" fmla="*/ 3 w 43"/>
                    <a:gd name="T17" fmla="*/ 8 h 8"/>
                    <a:gd name="T18" fmla="*/ 38 w 43"/>
                    <a:gd name="T19" fmla="*/ 8 h 8"/>
                    <a:gd name="T20" fmla="*/ 39 w 43"/>
                    <a:gd name="T21" fmla="*/ 8 h 8"/>
                    <a:gd name="T22" fmla="*/ 41 w 43"/>
                    <a:gd name="T23" fmla="*/ 8 h 8"/>
                    <a:gd name="T24" fmla="*/ 42 w 43"/>
                    <a:gd name="T25" fmla="*/ 7 h 8"/>
                    <a:gd name="T26" fmla="*/ 43 w 43"/>
                    <a:gd name="T27" fmla="*/ 5 h 8"/>
                    <a:gd name="T28" fmla="*/ 43 w 43"/>
                    <a:gd name="T29" fmla="*/ 4 h 8"/>
                    <a:gd name="T30" fmla="*/ 42 w 43"/>
                    <a:gd name="T31" fmla="*/ 3 h 8"/>
                    <a:gd name="T32" fmla="*/ 41 w 43"/>
                    <a:gd name="T33" fmla="*/ 1 h 8"/>
                    <a:gd name="T34" fmla="*/ 39 w 43"/>
                    <a:gd name="T35" fmla="*/ 0 h 8"/>
                    <a:gd name="T36" fmla="*/ 4 w 43"/>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8">
                      <a:moveTo>
                        <a:pt x="4" y="0"/>
                      </a:moveTo>
                      <a:lnTo>
                        <a:pt x="3" y="0"/>
                      </a:lnTo>
                      <a:lnTo>
                        <a:pt x="1" y="1"/>
                      </a:lnTo>
                      <a:lnTo>
                        <a:pt x="0" y="3"/>
                      </a:lnTo>
                      <a:lnTo>
                        <a:pt x="0" y="4"/>
                      </a:lnTo>
                      <a:lnTo>
                        <a:pt x="0" y="5"/>
                      </a:lnTo>
                      <a:lnTo>
                        <a:pt x="0" y="7"/>
                      </a:lnTo>
                      <a:lnTo>
                        <a:pt x="1" y="8"/>
                      </a:lnTo>
                      <a:lnTo>
                        <a:pt x="3" y="8"/>
                      </a:lnTo>
                      <a:lnTo>
                        <a:pt x="38" y="8"/>
                      </a:lnTo>
                      <a:lnTo>
                        <a:pt x="39" y="8"/>
                      </a:lnTo>
                      <a:lnTo>
                        <a:pt x="41" y="8"/>
                      </a:lnTo>
                      <a:lnTo>
                        <a:pt x="42" y="7"/>
                      </a:lnTo>
                      <a:lnTo>
                        <a:pt x="43" y="5"/>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35" name="任意多边形 1360">
                  <a:extLst>
                    <a:ext uri="{FF2B5EF4-FFF2-40B4-BE49-F238E27FC236}">
                      <a16:creationId xmlns:a16="http://schemas.microsoft.com/office/drawing/2014/main" id="{DAF63FDC-7948-D394-5F04-FE2C5793EA25}"/>
                    </a:ext>
                  </a:extLst>
                </p:cNvPr>
                <p:cNvSpPr>
                  <a:spLocks/>
                </p:cNvSpPr>
                <p:nvPr/>
              </p:nvSpPr>
              <p:spPr bwMode="auto">
                <a:xfrm>
                  <a:off x="953" y="3668"/>
                  <a:ext cx="44" cy="8"/>
                </a:xfrm>
                <a:custGeom>
                  <a:avLst/>
                  <a:gdLst>
                    <a:gd name="T0" fmla="*/ 4 w 44"/>
                    <a:gd name="T1" fmla="*/ 0 h 8"/>
                    <a:gd name="T2" fmla="*/ 3 w 44"/>
                    <a:gd name="T3" fmla="*/ 0 h 8"/>
                    <a:gd name="T4" fmla="*/ 1 w 44"/>
                    <a:gd name="T5" fmla="*/ 1 h 8"/>
                    <a:gd name="T6" fmla="*/ 0 w 44"/>
                    <a:gd name="T7" fmla="*/ 3 h 8"/>
                    <a:gd name="T8" fmla="*/ 0 w 44"/>
                    <a:gd name="T9" fmla="*/ 4 h 8"/>
                    <a:gd name="T10" fmla="*/ 0 w 44"/>
                    <a:gd name="T11" fmla="*/ 5 h 8"/>
                    <a:gd name="T12" fmla="*/ 0 w 44"/>
                    <a:gd name="T13" fmla="*/ 7 h 8"/>
                    <a:gd name="T14" fmla="*/ 1 w 44"/>
                    <a:gd name="T15" fmla="*/ 8 h 8"/>
                    <a:gd name="T16" fmla="*/ 3 w 44"/>
                    <a:gd name="T17" fmla="*/ 8 h 8"/>
                    <a:gd name="T18" fmla="*/ 38 w 44"/>
                    <a:gd name="T19" fmla="*/ 8 h 8"/>
                    <a:gd name="T20" fmla="*/ 39 w 44"/>
                    <a:gd name="T21" fmla="*/ 8 h 8"/>
                    <a:gd name="T22" fmla="*/ 41 w 44"/>
                    <a:gd name="T23" fmla="*/ 8 h 8"/>
                    <a:gd name="T24" fmla="*/ 42 w 44"/>
                    <a:gd name="T25" fmla="*/ 7 h 8"/>
                    <a:gd name="T26" fmla="*/ 44 w 44"/>
                    <a:gd name="T27" fmla="*/ 5 h 8"/>
                    <a:gd name="T28" fmla="*/ 44 w 44"/>
                    <a:gd name="T29" fmla="*/ 4 h 8"/>
                    <a:gd name="T30" fmla="*/ 42 w 44"/>
                    <a:gd name="T31" fmla="*/ 3 h 8"/>
                    <a:gd name="T32" fmla="*/ 41 w 44"/>
                    <a:gd name="T33" fmla="*/ 1 h 8"/>
                    <a:gd name="T34" fmla="*/ 39 w 44"/>
                    <a:gd name="T35" fmla="*/ 0 h 8"/>
                    <a:gd name="T36" fmla="*/ 4 w 44"/>
                    <a:gd name="T37" fmla="*/ 0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8">
                      <a:moveTo>
                        <a:pt x="4" y="0"/>
                      </a:moveTo>
                      <a:lnTo>
                        <a:pt x="3" y="0"/>
                      </a:lnTo>
                      <a:lnTo>
                        <a:pt x="1" y="1"/>
                      </a:lnTo>
                      <a:lnTo>
                        <a:pt x="0" y="3"/>
                      </a:lnTo>
                      <a:lnTo>
                        <a:pt x="0" y="4"/>
                      </a:lnTo>
                      <a:lnTo>
                        <a:pt x="0" y="5"/>
                      </a:lnTo>
                      <a:lnTo>
                        <a:pt x="0" y="7"/>
                      </a:lnTo>
                      <a:lnTo>
                        <a:pt x="1" y="8"/>
                      </a:lnTo>
                      <a:lnTo>
                        <a:pt x="3" y="8"/>
                      </a:lnTo>
                      <a:lnTo>
                        <a:pt x="38" y="8"/>
                      </a:lnTo>
                      <a:lnTo>
                        <a:pt x="39" y="8"/>
                      </a:lnTo>
                      <a:lnTo>
                        <a:pt x="41" y="8"/>
                      </a:lnTo>
                      <a:lnTo>
                        <a:pt x="42" y="7"/>
                      </a:lnTo>
                      <a:lnTo>
                        <a:pt x="44" y="5"/>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grpSp>
          <p:sp>
            <p:nvSpPr>
              <p:cNvPr id="69" name="任意多边形 1361">
                <a:extLst>
                  <a:ext uri="{FF2B5EF4-FFF2-40B4-BE49-F238E27FC236}">
                    <a16:creationId xmlns:a16="http://schemas.microsoft.com/office/drawing/2014/main" id="{0919411C-92AB-0CED-E2BA-176151AE511C}"/>
                  </a:ext>
                </a:extLst>
              </p:cNvPr>
              <p:cNvSpPr>
                <a:spLocks/>
              </p:cNvSpPr>
              <p:nvPr/>
            </p:nvSpPr>
            <p:spPr bwMode="auto">
              <a:xfrm>
                <a:off x="3900" y="10152"/>
                <a:ext cx="208" cy="60"/>
              </a:xfrm>
              <a:custGeom>
                <a:avLst/>
                <a:gdLst>
                  <a:gd name="T0" fmla="*/ 83 w 83"/>
                  <a:gd name="T1" fmla="*/ 12 h 24"/>
                  <a:gd name="T2" fmla="*/ 0 w 83"/>
                  <a:gd name="T3" fmla="*/ 24 h 24"/>
                  <a:gd name="T4" fmla="*/ 0 w 83"/>
                  <a:gd name="T5" fmla="*/ 0 h 24"/>
                  <a:gd name="T6" fmla="*/ 83 w 83"/>
                  <a:gd name="T7" fmla="*/ 12 h 24"/>
                </a:gdLst>
                <a:ahLst/>
                <a:cxnLst>
                  <a:cxn ang="0">
                    <a:pos x="T0" y="T1"/>
                  </a:cxn>
                  <a:cxn ang="0">
                    <a:pos x="T2" y="T3"/>
                  </a:cxn>
                  <a:cxn ang="0">
                    <a:pos x="T4" y="T5"/>
                  </a:cxn>
                  <a:cxn ang="0">
                    <a:pos x="T6" y="T7"/>
                  </a:cxn>
                </a:cxnLst>
                <a:rect l="0" t="0" r="r" b="b"/>
                <a:pathLst>
                  <a:path w="83" h="24">
                    <a:moveTo>
                      <a:pt x="83" y="12"/>
                    </a:moveTo>
                    <a:lnTo>
                      <a:pt x="0" y="24"/>
                    </a:lnTo>
                    <a:lnTo>
                      <a:pt x="0" y="0"/>
                    </a:lnTo>
                    <a:lnTo>
                      <a:pt x="83" y="1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70" name="直线 1362">
                <a:extLst>
                  <a:ext uri="{FF2B5EF4-FFF2-40B4-BE49-F238E27FC236}">
                    <a16:creationId xmlns:a16="http://schemas.microsoft.com/office/drawing/2014/main" id="{D1F412C1-34BA-0879-43A9-DCB60B90D0EF}"/>
                  </a:ext>
                </a:extLst>
              </p:cNvPr>
              <p:cNvSpPr>
                <a:spLocks noChangeShapeType="1"/>
              </p:cNvSpPr>
              <p:nvPr/>
            </p:nvSpPr>
            <p:spPr bwMode="auto">
              <a:xfrm>
                <a:off x="3268" y="10407"/>
                <a:ext cx="880" cy="0"/>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71" name="任意多边形 1363">
                <a:extLst>
                  <a:ext uri="{FF2B5EF4-FFF2-40B4-BE49-F238E27FC236}">
                    <a16:creationId xmlns:a16="http://schemas.microsoft.com/office/drawing/2014/main" id="{D57E2B7F-247E-6D5C-007B-089A10FDF799}"/>
                  </a:ext>
                </a:extLst>
              </p:cNvPr>
              <p:cNvSpPr>
                <a:spLocks/>
              </p:cNvSpPr>
              <p:nvPr/>
            </p:nvSpPr>
            <p:spPr bwMode="auto">
              <a:xfrm>
                <a:off x="3128" y="10379"/>
                <a:ext cx="205" cy="60"/>
              </a:xfrm>
              <a:custGeom>
                <a:avLst/>
                <a:gdLst>
                  <a:gd name="T0" fmla="*/ 0 w 82"/>
                  <a:gd name="T1" fmla="*/ 11 h 24"/>
                  <a:gd name="T2" fmla="*/ 82 w 82"/>
                  <a:gd name="T3" fmla="*/ 24 h 24"/>
                  <a:gd name="T4" fmla="*/ 82 w 82"/>
                  <a:gd name="T5" fmla="*/ 0 h 24"/>
                  <a:gd name="T6" fmla="*/ 0 w 82"/>
                  <a:gd name="T7" fmla="*/ 11 h 24"/>
                </a:gdLst>
                <a:ahLst/>
                <a:cxnLst>
                  <a:cxn ang="0">
                    <a:pos x="T0" y="T1"/>
                  </a:cxn>
                  <a:cxn ang="0">
                    <a:pos x="T2" y="T3"/>
                  </a:cxn>
                  <a:cxn ang="0">
                    <a:pos x="T4" y="T5"/>
                  </a:cxn>
                  <a:cxn ang="0">
                    <a:pos x="T6" y="T7"/>
                  </a:cxn>
                </a:cxnLst>
                <a:rect l="0" t="0" r="r" b="b"/>
                <a:pathLst>
                  <a:path w="82" h="24">
                    <a:moveTo>
                      <a:pt x="0" y="11"/>
                    </a:moveTo>
                    <a:lnTo>
                      <a:pt x="82" y="24"/>
                    </a:lnTo>
                    <a:lnTo>
                      <a:pt x="82" y="0"/>
                    </a:lnTo>
                    <a:lnTo>
                      <a:pt x="0" y="11"/>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sp>
            <p:nvSpPr>
              <p:cNvPr id="72" name="矩形 1364">
                <a:extLst>
                  <a:ext uri="{FF2B5EF4-FFF2-40B4-BE49-F238E27FC236}">
                    <a16:creationId xmlns:a16="http://schemas.microsoft.com/office/drawing/2014/main" id="{DB7FCECC-D54D-5816-A7BA-B7B2C5F39ADE}"/>
                  </a:ext>
                </a:extLst>
              </p:cNvPr>
              <p:cNvSpPr>
                <a:spLocks noChangeArrowheads="1"/>
              </p:cNvSpPr>
              <p:nvPr/>
            </p:nvSpPr>
            <p:spPr bwMode="auto">
              <a:xfrm>
                <a:off x="1970" y="9289"/>
                <a:ext cx="680" cy="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73" name="矩形 1365">
                <a:extLst>
                  <a:ext uri="{FF2B5EF4-FFF2-40B4-BE49-F238E27FC236}">
                    <a16:creationId xmlns:a16="http://schemas.microsoft.com/office/drawing/2014/main" id="{12B7854C-41C4-D55E-A49E-C8EF670B02E6}"/>
                  </a:ext>
                </a:extLst>
              </p:cNvPr>
              <p:cNvSpPr>
                <a:spLocks noChangeArrowheads="1"/>
              </p:cNvSpPr>
              <p:nvPr/>
            </p:nvSpPr>
            <p:spPr bwMode="auto">
              <a:xfrm>
                <a:off x="2078" y="9322"/>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事件</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74" name="矩形 1366">
                <a:extLst>
                  <a:ext uri="{FF2B5EF4-FFF2-40B4-BE49-F238E27FC236}">
                    <a16:creationId xmlns:a16="http://schemas.microsoft.com/office/drawing/2014/main" id="{B625A9B3-D6C7-5263-EC5B-580C8C97A448}"/>
                  </a:ext>
                </a:extLst>
              </p:cNvPr>
              <p:cNvSpPr>
                <a:spLocks noChangeArrowheads="1"/>
              </p:cNvSpPr>
              <p:nvPr/>
            </p:nvSpPr>
            <p:spPr bwMode="auto">
              <a:xfrm>
                <a:off x="2075" y="9614"/>
                <a:ext cx="603"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发生</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75" name="直线 1367">
                <a:extLst>
                  <a:ext uri="{FF2B5EF4-FFF2-40B4-BE49-F238E27FC236}">
                    <a16:creationId xmlns:a16="http://schemas.microsoft.com/office/drawing/2014/main" id="{67211599-9D76-7E68-C0C5-74501A27C8FF}"/>
                  </a:ext>
                </a:extLst>
              </p:cNvPr>
              <p:cNvSpPr>
                <a:spLocks noChangeShapeType="1"/>
              </p:cNvSpPr>
              <p:nvPr/>
            </p:nvSpPr>
            <p:spPr bwMode="auto">
              <a:xfrm>
                <a:off x="2575" y="9212"/>
                <a:ext cx="0" cy="745"/>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76" name="任意多边形 1368">
                <a:extLst>
                  <a:ext uri="{FF2B5EF4-FFF2-40B4-BE49-F238E27FC236}">
                    <a16:creationId xmlns:a16="http://schemas.microsoft.com/office/drawing/2014/main" id="{5F1C0FC0-5519-A326-0416-3A0C8ACCB9E0}"/>
                  </a:ext>
                </a:extLst>
              </p:cNvPr>
              <p:cNvSpPr>
                <a:spLocks/>
              </p:cNvSpPr>
              <p:nvPr/>
            </p:nvSpPr>
            <p:spPr bwMode="auto">
              <a:xfrm>
                <a:off x="2545" y="9097"/>
                <a:ext cx="63" cy="202"/>
              </a:xfrm>
              <a:custGeom>
                <a:avLst/>
                <a:gdLst>
                  <a:gd name="T0" fmla="*/ 12 w 25"/>
                  <a:gd name="T1" fmla="*/ 0 h 81"/>
                  <a:gd name="T2" fmla="*/ 0 w 25"/>
                  <a:gd name="T3" fmla="*/ 81 h 81"/>
                  <a:gd name="T4" fmla="*/ 25 w 25"/>
                  <a:gd name="T5" fmla="*/ 81 h 81"/>
                  <a:gd name="T6" fmla="*/ 12 w 25"/>
                  <a:gd name="T7" fmla="*/ 0 h 81"/>
                </a:gdLst>
                <a:ahLst/>
                <a:cxnLst>
                  <a:cxn ang="0">
                    <a:pos x="T0" y="T1"/>
                  </a:cxn>
                  <a:cxn ang="0">
                    <a:pos x="T2" y="T3"/>
                  </a:cxn>
                  <a:cxn ang="0">
                    <a:pos x="T4" y="T5"/>
                  </a:cxn>
                  <a:cxn ang="0">
                    <a:pos x="T6" y="T7"/>
                  </a:cxn>
                </a:cxnLst>
                <a:rect l="0" t="0" r="r" b="b"/>
                <a:pathLst>
                  <a:path w="25" h="81">
                    <a:moveTo>
                      <a:pt x="12" y="0"/>
                    </a:moveTo>
                    <a:lnTo>
                      <a:pt x="0" y="81"/>
                    </a:lnTo>
                    <a:lnTo>
                      <a:pt x="25" y="81"/>
                    </a:lnTo>
                    <a:lnTo>
                      <a:pt x="12" y="0"/>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grpSp>
            <p:nvGrpSpPr>
              <p:cNvPr id="77" name="组合 1369">
                <a:extLst>
                  <a:ext uri="{FF2B5EF4-FFF2-40B4-BE49-F238E27FC236}">
                    <a16:creationId xmlns:a16="http://schemas.microsoft.com/office/drawing/2014/main" id="{E68F7E8A-84A1-57A9-A1B4-A2D84333983A}"/>
                  </a:ext>
                </a:extLst>
              </p:cNvPr>
              <p:cNvGrpSpPr>
                <a:grpSpLocks/>
              </p:cNvGrpSpPr>
              <p:nvPr/>
            </p:nvGrpSpPr>
            <p:grpSpPr bwMode="auto">
              <a:xfrm>
                <a:off x="2730" y="7744"/>
                <a:ext cx="673" cy="645"/>
                <a:chOff x="492" y="2697"/>
                <a:chExt cx="269" cy="258"/>
              </a:xfrm>
            </p:grpSpPr>
            <p:sp>
              <p:nvSpPr>
                <p:cNvPr id="128" name="直线 1370">
                  <a:extLst>
                    <a:ext uri="{FF2B5EF4-FFF2-40B4-BE49-F238E27FC236}">
                      <a16:creationId xmlns:a16="http://schemas.microsoft.com/office/drawing/2014/main" id="{539EE5D7-E5A3-FC53-BC72-02115C69D2DE}"/>
                    </a:ext>
                  </a:extLst>
                </p:cNvPr>
                <p:cNvSpPr>
                  <a:spLocks noChangeShapeType="1"/>
                </p:cNvSpPr>
                <p:nvPr/>
              </p:nvSpPr>
              <p:spPr bwMode="auto">
                <a:xfrm flipV="1">
                  <a:off x="549" y="2697"/>
                  <a:ext cx="212" cy="203"/>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9" name="任意多边形 1371">
                  <a:extLst>
                    <a:ext uri="{FF2B5EF4-FFF2-40B4-BE49-F238E27FC236}">
                      <a16:creationId xmlns:a16="http://schemas.microsoft.com/office/drawing/2014/main" id="{6042EEA2-AC89-4338-646C-93FC562D8804}"/>
                    </a:ext>
                  </a:extLst>
                </p:cNvPr>
                <p:cNvSpPr>
                  <a:spLocks/>
                </p:cNvSpPr>
                <p:nvPr/>
              </p:nvSpPr>
              <p:spPr bwMode="auto">
                <a:xfrm>
                  <a:off x="492" y="2890"/>
                  <a:ext cx="67" cy="65"/>
                </a:xfrm>
                <a:custGeom>
                  <a:avLst/>
                  <a:gdLst>
                    <a:gd name="T0" fmla="*/ 0 w 67"/>
                    <a:gd name="T1" fmla="*/ 65 h 65"/>
                    <a:gd name="T2" fmla="*/ 67 w 67"/>
                    <a:gd name="T3" fmla="*/ 17 h 65"/>
                    <a:gd name="T4" fmla="*/ 51 w 67"/>
                    <a:gd name="T5" fmla="*/ 0 h 65"/>
                    <a:gd name="T6" fmla="*/ 0 w 67"/>
                    <a:gd name="T7" fmla="*/ 65 h 65"/>
                  </a:gdLst>
                  <a:ahLst/>
                  <a:cxnLst>
                    <a:cxn ang="0">
                      <a:pos x="T0" y="T1"/>
                    </a:cxn>
                    <a:cxn ang="0">
                      <a:pos x="T2" y="T3"/>
                    </a:cxn>
                    <a:cxn ang="0">
                      <a:pos x="T4" y="T5"/>
                    </a:cxn>
                    <a:cxn ang="0">
                      <a:pos x="T6" y="T7"/>
                    </a:cxn>
                  </a:cxnLst>
                  <a:rect l="0" t="0" r="r" b="b"/>
                  <a:pathLst>
                    <a:path w="67" h="65">
                      <a:moveTo>
                        <a:pt x="0" y="65"/>
                      </a:moveTo>
                      <a:lnTo>
                        <a:pt x="67" y="17"/>
                      </a:lnTo>
                      <a:lnTo>
                        <a:pt x="51" y="0"/>
                      </a:lnTo>
                      <a:lnTo>
                        <a:pt x="0" y="65"/>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grpSp>
          <p:sp>
            <p:nvSpPr>
              <p:cNvPr id="78" name="矩形 1372">
                <a:extLst>
                  <a:ext uri="{FF2B5EF4-FFF2-40B4-BE49-F238E27FC236}">
                    <a16:creationId xmlns:a16="http://schemas.microsoft.com/office/drawing/2014/main" id="{B32DE8C4-53BE-7829-46AD-FB2214E43739}"/>
                  </a:ext>
                </a:extLst>
              </p:cNvPr>
              <p:cNvSpPr>
                <a:spLocks noChangeArrowheads="1"/>
              </p:cNvSpPr>
              <p:nvPr/>
            </p:nvSpPr>
            <p:spPr bwMode="auto">
              <a:xfrm>
                <a:off x="3110" y="7232"/>
                <a:ext cx="1030"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79" name="矩形 1373">
                <a:extLst>
                  <a:ext uri="{FF2B5EF4-FFF2-40B4-BE49-F238E27FC236}">
                    <a16:creationId xmlns:a16="http://schemas.microsoft.com/office/drawing/2014/main" id="{EFBF13CA-6EF9-4974-27EE-D127BB68C3C7}"/>
                  </a:ext>
                </a:extLst>
              </p:cNvPr>
              <p:cNvSpPr>
                <a:spLocks noChangeArrowheads="1"/>
              </p:cNvSpPr>
              <p:nvPr/>
            </p:nvSpPr>
            <p:spPr bwMode="auto">
              <a:xfrm>
                <a:off x="3333" y="732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新</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80" name="矩形 1374">
                <a:extLst>
                  <a:ext uri="{FF2B5EF4-FFF2-40B4-BE49-F238E27FC236}">
                    <a16:creationId xmlns:a16="http://schemas.microsoft.com/office/drawing/2014/main" id="{7419B26E-9B7A-889D-B000-581144229786}"/>
                  </a:ext>
                </a:extLst>
              </p:cNvPr>
              <p:cNvSpPr>
                <a:spLocks noChangeArrowheads="1"/>
              </p:cNvSpPr>
              <p:nvPr/>
            </p:nvSpPr>
            <p:spPr bwMode="auto">
              <a:xfrm>
                <a:off x="3675" y="7322"/>
                <a:ext cx="360"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建</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sp>
            <p:nvSpPr>
              <p:cNvPr id="81" name="椭圆 1375">
                <a:extLst>
                  <a:ext uri="{FF2B5EF4-FFF2-40B4-BE49-F238E27FC236}">
                    <a16:creationId xmlns:a16="http://schemas.microsoft.com/office/drawing/2014/main" id="{5B071BDB-0A69-C997-7144-CA01B213610E}"/>
                  </a:ext>
                </a:extLst>
              </p:cNvPr>
              <p:cNvSpPr>
                <a:spLocks noChangeArrowheads="1"/>
              </p:cNvSpPr>
              <p:nvPr/>
            </p:nvSpPr>
            <p:spPr bwMode="auto">
              <a:xfrm>
                <a:off x="3080" y="7119"/>
                <a:ext cx="1100" cy="665"/>
              </a:xfrm>
              <a:prstGeom prst="ellipse">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grpSp>
            <p:nvGrpSpPr>
              <p:cNvPr id="82" name="组合 1376">
                <a:extLst>
                  <a:ext uri="{FF2B5EF4-FFF2-40B4-BE49-F238E27FC236}">
                    <a16:creationId xmlns:a16="http://schemas.microsoft.com/office/drawing/2014/main" id="{A7D4AA71-17D3-C0F7-F442-73696F386DBC}"/>
                  </a:ext>
                </a:extLst>
              </p:cNvPr>
              <p:cNvGrpSpPr>
                <a:grpSpLocks/>
              </p:cNvGrpSpPr>
              <p:nvPr/>
            </p:nvGrpSpPr>
            <p:grpSpPr bwMode="auto">
              <a:xfrm>
                <a:off x="2563" y="8024"/>
                <a:ext cx="22" cy="263"/>
                <a:chOff x="425" y="2809"/>
                <a:chExt cx="9" cy="105"/>
              </a:xfrm>
            </p:grpSpPr>
            <p:sp>
              <p:nvSpPr>
                <p:cNvPr id="126" name="任意多边形 1377">
                  <a:extLst>
                    <a:ext uri="{FF2B5EF4-FFF2-40B4-BE49-F238E27FC236}">
                      <a16:creationId xmlns:a16="http://schemas.microsoft.com/office/drawing/2014/main" id="{9F39CFAE-245C-CBEA-3C97-91F049BACFC7}"/>
                    </a:ext>
                  </a:extLst>
                </p:cNvPr>
                <p:cNvSpPr>
                  <a:spLocks/>
                </p:cNvSpPr>
                <p:nvPr/>
              </p:nvSpPr>
              <p:spPr bwMode="auto">
                <a:xfrm>
                  <a:off x="425" y="2871"/>
                  <a:ext cx="9" cy="43"/>
                </a:xfrm>
                <a:custGeom>
                  <a:avLst/>
                  <a:gdLst>
                    <a:gd name="T0" fmla="*/ 0 w 9"/>
                    <a:gd name="T1" fmla="*/ 40 h 43"/>
                    <a:gd name="T2" fmla="*/ 2 w 9"/>
                    <a:gd name="T3" fmla="*/ 40 h 43"/>
                    <a:gd name="T4" fmla="*/ 3 w 9"/>
                    <a:gd name="T5" fmla="*/ 42 h 43"/>
                    <a:gd name="T6" fmla="*/ 5 w 9"/>
                    <a:gd name="T7" fmla="*/ 43 h 43"/>
                    <a:gd name="T8" fmla="*/ 5 w 9"/>
                    <a:gd name="T9" fmla="*/ 43 h 43"/>
                    <a:gd name="T10" fmla="*/ 6 w 9"/>
                    <a:gd name="T11" fmla="*/ 42 h 43"/>
                    <a:gd name="T12" fmla="*/ 8 w 9"/>
                    <a:gd name="T13" fmla="*/ 40 h 43"/>
                    <a:gd name="T14" fmla="*/ 9 w 9"/>
                    <a:gd name="T15" fmla="*/ 39 h 43"/>
                    <a:gd name="T16" fmla="*/ 9 w 9"/>
                    <a:gd name="T17" fmla="*/ 39 h 43"/>
                    <a:gd name="T18" fmla="*/ 9 w 9"/>
                    <a:gd name="T19" fmla="*/ 4 h 43"/>
                    <a:gd name="T20" fmla="*/ 8 w 9"/>
                    <a:gd name="T21" fmla="*/ 3 h 43"/>
                    <a:gd name="T22" fmla="*/ 6 w 9"/>
                    <a:gd name="T23" fmla="*/ 1 h 43"/>
                    <a:gd name="T24" fmla="*/ 5 w 9"/>
                    <a:gd name="T25" fmla="*/ 0 h 43"/>
                    <a:gd name="T26" fmla="*/ 5 w 9"/>
                    <a:gd name="T27" fmla="*/ 0 h 43"/>
                    <a:gd name="T28" fmla="*/ 3 w 9"/>
                    <a:gd name="T29" fmla="*/ 1 h 43"/>
                    <a:gd name="T30" fmla="*/ 2 w 9"/>
                    <a:gd name="T31" fmla="*/ 3 h 43"/>
                    <a:gd name="T32" fmla="*/ 0 w 9"/>
                    <a:gd name="T33" fmla="*/ 4 h 43"/>
                    <a:gd name="T34" fmla="*/ 0 w 9"/>
                    <a:gd name="T35" fmla="*/ 5 h 43"/>
                    <a:gd name="T36" fmla="*/ 0 w 9"/>
                    <a:gd name="T37" fmla="*/ 4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3">
                      <a:moveTo>
                        <a:pt x="0" y="40"/>
                      </a:moveTo>
                      <a:lnTo>
                        <a:pt x="2" y="40"/>
                      </a:lnTo>
                      <a:lnTo>
                        <a:pt x="3" y="42"/>
                      </a:lnTo>
                      <a:lnTo>
                        <a:pt x="5" y="43"/>
                      </a:lnTo>
                      <a:lnTo>
                        <a:pt x="6" y="42"/>
                      </a:lnTo>
                      <a:lnTo>
                        <a:pt x="8" y="40"/>
                      </a:lnTo>
                      <a:lnTo>
                        <a:pt x="9" y="39"/>
                      </a:lnTo>
                      <a:lnTo>
                        <a:pt x="9" y="4"/>
                      </a:lnTo>
                      <a:lnTo>
                        <a:pt x="8" y="3"/>
                      </a:lnTo>
                      <a:lnTo>
                        <a:pt x="6" y="1"/>
                      </a:lnTo>
                      <a:lnTo>
                        <a:pt x="5" y="0"/>
                      </a:lnTo>
                      <a:lnTo>
                        <a:pt x="3" y="1"/>
                      </a:lnTo>
                      <a:lnTo>
                        <a:pt x="2" y="3"/>
                      </a:lnTo>
                      <a:lnTo>
                        <a:pt x="0" y="4"/>
                      </a:lnTo>
                      <a:lnTo>
                        <a:pt x="0" y="5"/>
                      </a:lnTo>
                      <a:lnTo>
                        <a:pt x="0"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7" name="任意多边形 1378">
                  <a:extLst>
                    <a:ext uri="{FF2B5EF4-FFF2-40B4-BE49-F238E27FC236}">
                      <a16:creationId xmlns:a16="http://schemas.microsoft.com/office/drawing/2014/main" id="{05849756-9208-9FBB-D7AA-4E151648D67A}"/>
                    </a:ext>
                  </a:extLst>
                </p:cNvPr>
                <p:cNvSpPr>
                  <a:spLocks/>
                </p:cNvSpPr>
                <p:nvPr/>
              </p:nvSpPr>
              <p:spPr bwMode="auto">
                <a:xfrm>
                  <a:off x="425" y="2809"/>
                  <a:ext cx="9" cy="44"/>
                </a:xfrm>
                <a:custGeom>
                  <a:avLst/>
                  <a:gdLst>
                    <a:gd name="T0" fmla="*/ 0 w 9"/>
                    <a:gd name="T1" fmla="*/ 41 h 44"/>
                    <a:gd name="T2" fmla="*/ 2 w 9"/>
                    <a:gd name="T3" fmla="*/ 41 h 44"/>
                    <a:gd name="T4" fmla="*/ 3 w 9"/>
                    <a:gd name="T5" fmla="*/ 43 h 44"/>
                    <a:gd name="T6" fmla="*/ 5 w 9"/>
                    <a:gd name="T7" fmla="*/ 44 h 44"/>
                    <a:gd name="T8" fmla="*/ 5 w 9"/>
                    <a:gd name="T9" fmla="*/ 44 h 44"/>
                    <a:gd name="T10" fmla="*/ 6 w 9"/>
                    <a:gd name="T11" fmla="*/ 43 h 44"/>
                    <a:gd name="T12" fmla="*/ 8 w 9"/>
                    <a:gd name="T13" fmla="*/ 41 h 44"/>
                    <a:gd name="T14" fmla="*/ 9 w 9"/>
                    <a:gd name="T15" fmla="*/ 40 h 44"/>
                    <a:gd name="T16" fmla="*/ 9 w 9"/>
                    <a:gd name="T17" fmla="*/ 40 h 44"/>
                    <a:gd name="T18" fmla="*/ 9 w 9"/>
                    <a:gd name="T19" fmla="*/ 5 h 44"/>
                    <a:gd name="T20" fmla="*/ 8 w 9"/>
                    <a:gd name="T21" fmla="*/ 3 h 44"/>
                    <a:gd name="T22" fmla="*/ 6 w 9"/>
                    <a:gd name="T23" fmla="*/ 2 h 44"/>
                    <a:gd name="T24" fmla="*/ 5 w 9"/>
                    <a:gd name="T25" fmla="*/ 0 h 44"/>
                    <a:gd name="T26" fmla="*/ 5 w 9"/>
                    <a:gd name="T27" fmla="*/ 0 h 44"/>
                    <a:gd name="T28" fmla="*/ 3 w 9"/>
                    <a:gd name="T29" fmla="*/ 2 h 44"/>
                    <a:gd name="T30" fmla="*/ 2 w 9"/>
                    <a:gd name="T31" fmla="*/ 3 h 44"/>
                    <a:gd name="T32" fmla="*/ 0 w 9"/>
                    <a:gd name="T33" fmla="*/ 5 h 44"/>
                    <a:gd name="T34" fmla="*/ 0 w 9"/>
                    <a:gd name="T35" fmla="*/ 6 h 44"/>
                    <a:gd name="T36" fmla="*/ 0 w 9"/>
                    <a:gd name="T37" fmla="*/ 41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4">
                      <a:moveTo>
                        <a:pt x="0" y="41"/>
                      </a:moveTo>
                      <a:lnTo>
                        <a:pt x="2" y="41"/>
                      </a:lnTo>
                      <a:lnTo>
                        <a:pt x="3" y="43"/>
                      </a:lnTo>
                      <a:lnTo>
                        <a:pt x="5" y="44"/>
                      </a:lnTo>
                      <a:lnTo>
                        <a:pt x="6" y="43"/>
                      </a:lnTo>
                      <a:lnTo>
                        <a:pt x="8" y="41"/>
                      </a:lnTo>
                      <a:lnTo>
                        <a:pt x="9" y="40"/>
                      </a:lnTo>
                      <a:lnTo>
                        <a:pt x="9" y="5"/>
                      </a:lnTo>
                      <a:lnTo>
                        <a:pt x="8" y="3"/>
                      </a:lnTo>
                      <a:lnTo>
                        <a:pt x="6" y="2"/>
                      </a:lnTo>
                      <a:lnTo>
                        <a:pt x="5" y="0"/>
                      </a:lnTo>
                      <a:lnTo>
                        <a:pt x="3" y="2"/>
                      </a:lnTo>
                      <a:lnTo>
                        <a:pt x="2" y="3"/>
                      </a:lnTo>
                      <a:lnTo>
                        <a:pt x="0" y="5"/>
                      </a:lnTo>
                      <a:lnTo>
                        <a:pt x="0" y="6"/>
                      </a:ln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grpSp>
          <p:sp>
            <p:nvSpPr>
              <p:cNvPr id="83" name="任意多边形 1379">
                <a:extLst>
                  <a:ext uri="{FF2B5EF4-FFF2-40B4-BE49-F238E27FC236}">
                    <a16:creationId xmlns:a16="http://schemas.microsoft.com/office/drawing/2014/main" id="{147DA06B-858E-59A0-7C9A-95C237B798A6}"/>
                  </a:ext>
                </a:extLst>
              </p:cNvPr>
              <p:cNvSpPr>
                <a:spLocks/>
              </p:cNvSpPr>
              <p:nvPr/>
            </p:nvSpPr>
            <p:spPr bwMode="auto">
              <a:xfrm>
                <a:off x="2545" y="8189"/>
                <a:ext cx="63" cy="205"/>
              </a:xfrm>
              <a:custGeom>
                <a:avLst/>
                <a:gdLst>
                  <a:gd name="T0" fmla="*/ 12 w 25"/>
                  <a:gd name="T1" fmla="*/ 82 h 82"/>
                  <a:gd name="T2" fmla="*/ 0 w 25"/>
                  <a:gd name="T3" fmla="*/ 0 h 82"/>
                  <a:gd name="T4" fmla="*/ 25 w 25"/>
                  <a:gd name="T5" fmla="*/ 0 h 82"/>
                  <a:gd name="T6" fmla="*/ 12 w 25"/>
                  <a:gd name="T7" fmla="*/ 82 h 82"/>
                </a:gdLst>
                <a:ahLst/>
                <a:cxnLst>
                  <a:cxn ang="0">
                    <a:pos x="T0" y="T1"/>
                  </a:cxn>
                  <a:cxn ang="0">
                    <a:pos x="T2" y="T3"/>
                  </a:cxn>
                  <a:cxn ang="0">
                    <a:pos x="T4" y="T5"/>
                  </a:cxn>
                  <a:cxn ang="0">
                    <a:pos x="T6" y="T7"/>
                  </a:cxn>
                </a:cxnLst>
                <a:rect l="0" t="0" r="r" b="b"/>
                <a:pathLst>
                  <a:path w="25" h="82">
                    <a:moveTo>
                      <a:pt x="12" y="82"/>
                    </a:moveTo>
                    <a:lnTo>
                      <a:pt x="0" y="0"/>
                    </a:lnTo>
                    <a:lnTo>
                      <a:pt x="25" y="0"/>
                    </a:lnTo>
                    <a:lnTo>
                      <a:pt x="12" y="82"/>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grpSp>
            <p:nvGrpSpPr>
              <p:cNvPr id="84" name="组合 1380">
                <a:extLst>
                  <a:ext uri="{FF2B5EF4-FFF2-40B4-BE49-F238E27FC236}">
                    <a16:creationId xmlns:a16="http://schemas.microsoft.com/office/drawing/2014/main" id="{EB3455F6-2AF1-B434-EE4C-BF2D8E290C35}"/>
                  </a:ext>
                </a:extLst>
              </p:cNvPr>
              <p:cNvGrpSpPr>
                <a:grpSpLocks/>
              </p:cNvGrpSpPr>
              <p:nvPr/>
            </p:nvGrpSpPr>
            <p:grpSpPr bwMode="auto">
              <a:xfrm>
                <a:off x="2588" y="8029"/>
                <a:ext cx="4090" cy="23"/>
                <a:chOff x="435" y="2811"/>
                <a:chExt cx="1636" cy="9"/>
              </a:xfrm>
            </p:grpSpPr>
            <p:sp>
              <p:nvSpPr>
                <p:cNvPr id="99" name="任意多边形 1381">
                  <a:extLst>
                    <a:ext uri="{FF2B5EF4-FFF2-40B4-BE49-F238E27FC236}">
                      <a16:creationId xmlns:a16="http://schemas.microsoft.com/office/drawing/2014/main" id="{5A039977-81B7-E9E6-3F03-40C01EB5007C}"/>
                    </a:ext>
                  </a:extLst>
                </p:cNvPr>
                <p:cNvSpPr>
                  <a:spLocks/>
                </p:cNvSpPr>
                <p:nvPr/>
              </p:nvSpPr>
              <p:spPr bwMode="auto">
                <a:xfrm>
                  <a:off x="435" y="2811"/>
                  <a:ext cx="44" cy="9"/>
                </a:xfrm>
                <a:custGeom>
                  <a:avLst/>
                  <a:gdLst>
                    <a:gd name="T0" fmla="*/ 6 w 44"/>
                    <a:gd name="T1" fmla="*/ 0 h 9"/>
                    <a:gd name="T2" fmla="*/ 5 w 44"/>
                    <a:gd name="T3" fmla="*/ 0 h 9"/>
                    <a:gd name="T4" fmla="*/ 3 w 44"/>
                    <a:gd name="T5" fmla="*/ 1 h 9"/>
                    <a:gd name="T6" fmla="*/ 2 w 44"/>
                    <a:gd name="T7" fmla="*/ 3 h 9"/>
                    <a:gd name="T8" fmla="*/ 0 w 44"/>
                    <a:gd name="T9" fmla="*/ 4 h 9"/>
                    <a:gd name="T10" fmla="*/ 0 w 44"/>
                    <a:gd name="T11" fmla="*/ 4 h 9"/>
                    <a:gd name="T12" fmla="*/ 2 w 44"/>
                    <a:gd name="T13" fmla="*/ 6 h 9"/>
                    <a:gd name="T14" fmla="*/ 3 w 44"/>
                    <a:gd name="T15" fmla="*/ 7 h 9"/>
                    <a:gd name="T16" fmla="*/ 5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6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6" y="0"/>
                      </a:moveTo>
                      <a:lnTo>
                        <a:pt x="5" y="0"/>
                      </a:lnTo>
                      <a:lnTo>
                        <a:pt x="3" y="1"/>
                      </a:lnTo>
                      <a:lnTo>
                        <a:pt x="2" y="3"/>
                      </a:lnTo>
                      <a:lnTo>
                        <a:pt x="0" y="4"/>
                      </a:lnTo>
                      <a:lnTo>
                        <a:pt x="2" y="6"/>
                      </a:lnTo>
                      <a:lnTo>
                        <a:pt x="3" y="7"/>
                      </a:lnTo>
                      <a:lnTo>
                        <a:pt x="5" y="9"/>
                      </a:lnTo>
                      <a:lnTo>
                        <a:pt x="38" y="9"/>
                      </a:lnTo>
                      <a:lnTo>
                        <a:pt x="40" y="9"/>
                      </a:lnTo>
                      <a:lnTo>
                        <a:pt x="41" y="9"/>
                      </a:lnTo>
                      <a:lnTo>
                        <a:pt x="43" y="7"/>
                      </a:lnTo>
                      <a:lnTo>
                        <a:pt x="44" y="6"/>
                      </a:lnTo>
                      <a:lnTo>
                        <a:pt x="44" y="4"/>
                      </a:lnTo>
                      <a:lnTo>
                        <a:pt x="43" y="3"/>
                      </a:lnTo>
                      <a:lnTo>
                        <a:pt x="41" y="1"/>
                      </a:lnTo>
                      <a:lnTo>
                        <a:pt x="40" y="0"/>
                      </a:lnTo>
                      <a:lnTo>
                        <a:pt x="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0" name="任意多边形 1382">
                  <a:extLst>
                    <a:ext uri="{FF2B5EF4-FFF2-40B4-BE49-F238E27FC236}">
                      <a16:creationId xmlns:a16="http://schemas.microsoft.com/office/drawing/2014/main" id="{EAFE9C8B-B82B-573E-CFD2-3FF49D8BC8D9}"/>
                    </a:ext>
                  </a:extLst>
                </p:cNvPr>
                <p:cNvSpPr>
                  <a:spLocks/>
                </p:cNvSpPr>
                <p:nvPr/>
              </p:nvSpPr>
              <p:spPr bwMode="auto">
                <a:xfrm>
                  <a:off x="497"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1" name="任意多边形 1383">
                  <a:extLst>
                    <a:ext uri="{FF2B5EF4-FFF2-40B4-BE49-F238E27FC236}">
                      <a16:creationId xmlns:a16="http://schemas.microsoft.com/office/drawing/2014/main" id="{BC6EC0B4-0E1A-0467-D412-D5F7CA0AE311}"/>
                    </a:ext>
                  </a:extLst>
                </p:cNvPr>
                <p:cNvSpPr>
                  <a:spLocks/>
                </p:cNvSpPr>
                <p:nvPr/>
              </p:nvSpPr>
              <p:spPr bwMode="auto">
                <a:xfrm>
                  <a:off x="558"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2" name="任意多边形 1722">
                  <a:extLst>
                    <a:ext uri="{FF2B5EF4-FFF2-40B4-BE49-F238E27FC236}">
                      <a16:creationId xmlns:a16="http://schemas.microsoft.com/office/drawing/2014/main" id="{7B0ABECE-68D7-1AD4-4391-C8E740050BC0}"/>
                    </a:ext>
                  </a:extLst>
                </p:cNvPr>
                <p:cNvSpPr>
                  <a:spLocks/>
                </p:cNvSpPr>
                <p:nvPr/>
              </p:nvSpPr>
              <p:spPr bwMode="auto">
                <a:xfrm>
                  <a:off x="619"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3" name="任意多边形 1723">
                  <a:extLst>
                    <a:ext uri="{FF2B5EF4-FFF2-40B4-BE49-F238E27FC236}">
                      <a16:creationId xmlns:a16="http://schemas.microsoft.com/office/drawing/2014/main" id="{43C1E030-0BCB-2AD1-FA1C-3E5EE73B6EFC}"/>
                    </a:ext>
                  </a:extLst>
                </p:cNvPr>
                <p:cNvSpPr>
                  <a:spLocks/>
                </p:cNvSpPr>
                <p:nvPr/>
              </p:nvSpPr>
              <p:spPr bwMode="auto">
                <a:xfrm>
                  <a:off x="680"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4" name="任意多边形 1724">
                  <a:extLst>
                    <a:ext uri="{FF2B5EF4-FFF2-40B4-BE49-F238E27FC236}">
                      <a16:creationId xmlns:a16="http://schemas.microsoft.com/office/drawing/2014/main" id="{FC3AE1EC-9802-E2AD-639A-D166900C6745}"/>
                    </a:ext>
                  </a:extLst>
                </p:cNvPr>
                <p:cNvSpPr>
                  <a:spLocks/>
                </p:cNvSpPr>
                <p:nvPr/>
              </p:nvSpPr>
              <p:spPr bwMode="auto">
                <a:xfrm>
                  <a:off x="742" y="2811"/>
                  <a:ext cx="43" cy="9"/>
                </a:xfrm>
                <a:custGeom>
                  <a:avLst/>
                  <a:gdLst>
                    <a:gd name="T0" fmla="*/ 4 w 43"/>
                    <a:gd name="T1" fmla="*/ 0 h 9"/>
                    <a:gd name="T2" fmla="*/ 2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2 w 43"/>
                    <a:gd name="T17" fmla="*/ 9 h 9"/>
                    <a:gd name="T18" fmla="*/ 37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2" y="0"/>
                      </a:lnTo>
                      <a:lnTo>
                        <a:pt x="1" y="1"/>
                      </a:lnTo>
                      <a:lnTo>
                        <a:pt x="0" y="3"/>
                      </a:lnTo>
                      <a:lnTo>
                        <a:pt x="0" y="4"/>
                      </a:lnTo>
                      <a:lnTo>
                        <a:pt x="0" y="6"/>
                      </a:lnTo>
                      <a:lnTo>
                        <a:pt x="0" y="7"/>
                      </a:lnTo>
                      <a:lnTo>
                        <a:pt x="1" y="9"/>
                      </a:lnTo>
                      <a:lnTo>
                        <a:pt x="2" y="9"/>
                      </a:lnTo>
                      <a:lnTo>
                        <a:pt x="37"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5" name="任意多边形 1725">
                  <a:extLst>
                    <a:ext uri="{FF2B5EF4-FFF2-40B4-BE49-F238E27FC236}">
                      <a16:creationId xmlns:a16="http://schemas.microsoft.com/office/drawing/2014/main" id="{C1D677E2-BC37-509D-51C0-14CF1B7898E5}"/>
                    </a:ext>
                  </a:extLst>
                </p:cNvPr>
                <p:cNvSpPr>
                  <a:spLocks/>
                </p:cNvSpPr>
                <p:nvPr/>
              </p:nvSpPr>
              <p:spPr bwMode="auto">
                <a:xfrm>
                  <a:off x="803"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6" name="任意多边形 1726">
                  <a:extLst>
                    <a:ext uri="{FF2B5EF4-FFF2-40B4-BE49-F238E27FC236}">
                      <a16:creationId xmlns:a16="http://schemas.microsoft.com/office/drawing/2014/main" id="{5ADF70A3-6B81-F4D2-EF0F-7E80BB984D51}"/>
                    </a:ext>
                  </a:extLst>
                </p:cNvPr>
                <p:cNvSpPr>
                  <a:spLocks/>
                </p:cNvSpPr>
                <p:nvPr/>
              </p:nvSpPr>
              <p:spPr bwMode="auto">
                <a:xfrm>
                  <a:off x="864"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7" name="任意多边形 1727">
                  <a:extLst>
                    <a:ext uri="{FF2B5EF4-FFF2-40B4-BE49-F238E27FC236}">
                      <a16:creationId xmlns:a16="http://schemas.microsoft.com/office/drawing/2014/main" id="{259B2B5B-68EB-8C40-4B4F-5EA454865122}"/>
                    </a:ext>
                  </a:extLst>
                </p:cNvPr>
                <p:cNvSpPr>
                  <a:spLocks/>
                </p:cNvSpPr>
                <p:nvPr/>
              </p:nvSpPr>
              <p:spPr bwMode="auto">
                <a:xfrm>
                  <a:off x="925"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8" name="任意多边形 1728">
                  <a:extLst>
                    <a:ext uri="{FF2B5EF4-FFF2-40B4-BE49-F238E27FC236}">
                      <a16:creationId xmlns:a16="http://schemas.microsoft.com/office/drawing/2014/main" id="{E53EBB4C-2438-D971-56D9-F8F4F5044E2E}"/>
                    </a:ext>
                  </a:extLst>
                </p:cNvPr>
                <p:cNvSpPr>
                  <a:spLocks/>
                </p:cNvSpPr>
                <p:nvPr/>
              </p:nvSpPr>
              <p:spPr bwMode="auto">
                <a:xfrm>
                  <a:off x="986"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09" name="任意多边形 1729">
                  <a:extLst>
                    <a:ext uri="{FF2B5EF4-FFF2-40B4-BE49-F238E27FC236}">
                      <a16:creationId xmlns:a16="http://schemas.microsoft.com/office/drawing/2014/main" id="{75AAC6FF-9654-2A99-4CA5-50480C1F9775}"/>
                    </a:ext>
                  </a:extLst>
                </p:cNvPr>
                <p:cNvSpPr>
                  <a:spLocks/>
                </p:cNvSpPr>
                <p:nvPr/>
              </p:nvSpPr>
              <p:spPr bwMode="auto">
                <a:xfrm>
                  <a:off x="1048"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1 w 43"/>
                    <a:gd name="T23" fmla="*/ 9 h 9"/>
                    <a:gd name="T24" fmla="*/ 42 w 43"/>
                    <a:gd name="T25" fmla="*/ 7 h 9"/>
                    <a:gd name="T26" fmla="*/ 43 w 43"/>
                    <a:gd name="T27" fmla="*/ 6 h 9"/>
                    <a:gd name="T28" fmla="*/ 43 w 43"/>
                    <a:gd name="T29" fmla="*/ 4 h 9"/>
                    <a:gd name="T30" fmla="*/ 42 w 43"/>
                    <a:gd name="T31" fmla="*/ 3 h 9"/>
                    <a:gd name="T32" fmla="*/ 41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3" y="6"/>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0" name="任意多边形 1730">
                  <a:extLst>
                    <a:ext uri="{FF2B5EF4-FFF2-40B4-BE49-F238E27FC236}">
                      <a16:creationId xmlns:a16="http://schemas.microsoft.com/office/drawing/2014/main" id="{B87B5664-6008-1C40-1A9A-B9B3DD97FBCD}"/>
                    </a:ext>
                  </a:extLst>
                </p:cNvPr>
                <p:cNvSpPr>
                  <a:spLocks/>
                </p:cNvSpPr>
                <p:nvPr/>
              </p:nvSpPr>
              <p:spPr bwMode="auto">
                <a:xfrm>
                  <a:off x="1109"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1" name="任意多边形 1731">
                  <a:extLst>
                    <a:ext uri="{FF2B5EF4-FFF2-40B4-BE49-F238E27FC236}">
                      <a16:creationId xmlns:a16="http://schemas.microsoft.com/office/drawing/2014/main" id="{32BD1600-C64F-C539-4AC4-09301EEA188A}"/>
                    </a:ext>
                  </a:extLst>
                </p:cNvPr>
                <p:cNvSpPr>
                  <a:spLocks/>
                </p:cNvSpPr>
                <p:nvPr/>
              </p:nvSpPr>
              <p:spPr bwMode="auto">
                <a:xfrm>
                  <a:off x="1170"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2" y="7"/>
                      </a:lnTo>
                      <a:lnTo>
                        <a:pt x="44" y="6"/>
                      </a:lnTo>
                      <a:lnTo>
                        <a:pt x="44" y="4"/>
                      </a:lnTo>
                      <a:lnTo>
                        <a:pt x="42"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2" name="任意多边形 1732">
                  <a:extLst>
                    <a:ext uri="{FF2B5EF4-FFF2-40B4-BE49-F238E27FC236}">
                      <a16:creationId xmlns:a16="http://schemas.microsoft.com/office/drawing/2014/main" id="{54FAA33A-B895-A8B7-3917-B74926FF3D6B}"/>
                    </a:ext>
                  </a:extLst>
                </p:cNvPr>
                <p:cNvSpPr>
                  <a:spLocks/>
                </p:cNvSpPr>
                <p:nvPr/>
              </p:nvSpPr>
              <p:spPr bwMode="auto">
                <a:xfrm>
                  <a:off x="1231"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3" name="任意多边形 1733">
                  <a:extLst>
                    <a:ext uri="{FF2B5EF4-FFF2-40B4-BE49-F238E27FC236}">
                      <a16:creationId xmlns:a16="http://schemas.microsoft.com/office/drawing/2014/main" id="{753DD852-95C6-3A90-CA1E-D06F4F61240F}"/>
                    </a:ext>
                  </a:extLst>
                </p:cNvPr>
                <p:cNvSpPr>
                  <a:spLocks/>
                </p:cNvSpPr>
                <p:nvPr/>
              </p:nvSpPr>
              <p:spPr bwMode="auto">
                <a:xfrm>
                  <a:off x="1293"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4" name="任意多边形 1734">
                  <a:extLst>
                    <a:ext uri="{FF2B5EF4-FFF2-40B4-BE49-F238E27FC236}">
                      <a16:creationId xmlns:a16="http://schemas.microsoft.com/office/drawing/2014/main" id="{9E38EA85-DD56-3DDF-4990-AD684D7B502F}"/>
                    </a:ext>
                  </a:extLst>
                </p:cNvPr>
                <p:cNvSpPr>
                  <a:spLocks/>
                </p:cNvSpPr>
                <p:nvPr/>
              </p:nvSpPr>
              <p:spPr bwMode="auto">
                <a:xfrm>
                  <a:off x="1354"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5" name="任意多边形 1735">
                  <a:extLst>
                    <a:ext uri="{FF2B5EF4-FFF2-40B4-BE49-F238E27FC236}">
                      <a16:creationId xmlns:a16="http://schemas.microsoft.com/office/drawing/2014/main" id="{E5E4243F-C037-0106-14CF-2D3EB38A4701}"/>
                    </a:ext>
                  </a:extLst>
                </p:cNvPr>
                <p:cNvSpPr>
                  <a:spLocks/>
                </p:cNvSpPr>
                <p:nvPr/>
              </p:nvSpPr>
              <p:spPr bwMode="auto">
                <a:xfrm>
                  <a:off x="1415" y="2811"/>
                  <a:ext cx="44" cy="9"/>
                </a:xfrm>
                <a:custGeom>
                  <a:avLst/>
                  <a:gdLst>
                    <a:gd name="T0" fmla="*/ 4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6" name="任意多边形 1736">
                  <a:extLst>
                    <a:ext uri="{FF2B5EF4-FFF2-40B4-BE49-F238E27FC236}">
                      <a16:creationId xmlns:a16="http://schemas.microsoft.com/office/drawing/2014/main" id="{AE338BE6-8CEC-2E53-82F6-995D80DC9AC2}"/>
                    </a:ext>
                  </a:extLst>
                </p:cNvPr>
                <p:cNvSpPr>
                  <a:spLocks/>
                </p:cNvSpPr>
                <p:nvPr/>
              </p:nvSpPr>
              <p:spPr bwMode="auto">
                <a:xfrm>
                  <a:off x="1476"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7" name="任意多边形 1737">
                  <a:extLst>
                    <a:ext uri="{FF2B5EF4-FFF2-40B4-BE49-F238E27FC236}">
                      <a16:creationId xmlns:a16="http://schemas.microsoft.com/office/drawing/2014/main" id="{6FF8CB09-7057-2DC0-4886-B2E87C80D271}"/>
                    </a:ext>
                  </a:extLst>
                </p:cNvPr>
                <p:cNvSpPr>
                  <a:spLocks/>
                </p:cNvSpPr>
                <p:nvPr/>
              </p:nvSpPr>
              <p:spPr bwMode="auto">
                <a:xfrm>
                  <a:off x="1538" y="2811"/>
                  <a:ext cx="43" cy="9"/>
                </a:xfrm>
                <a:custGeom>
                  <a:avLst/>
                  <a:gdLst>
                    <a:gd name="T0" fmla="*/ 4 w 43"/>
                    <a:gd name="T1" fmla="*/ 0 h 9"/>
                    <a:gd name="T2" fmla="*/ 2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2 w 43"/>
                    <a:gd name="T17" fmla="*/ 9 h 9"/>
                    <a:gd name="T18" fmla="*/ 37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2" y="0"/>
                      </a:lnTo>
                      <a:lnTo>
                        <a:pt x="1" y="1"/>
                      </a:lnTo>
                      <a:lnTo>
                        <a:pt x="0" y="3"/>
                      </a:lnTo>
                      <a:lnTo>
                        <a:pt x="0" y="4"/>
                      </a:lnTo>
                      <a:lnTo>
                        <a:pt x="0" y="6"/>
                      </a:lnTo>
                      <a:lnTo>
                        <a:pt x="0" y="7"/>
                      </a:lnTo>
                      <a:lnTo>
                        <a:pt x="1" y="9"/>
                      </a:lnTo>
                      <a:lnTo>
                        <a:pt x="2" y="9"/>
                      </a:lnTo>
                      <a:lnTo>
                        <a:pt x="37"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8" name="任意多边形 1738">
                  <a:extLst>
                    <a:ext uri="{FF2B5EF4-FFF2-40B4-BE49-F238E27FC236}">
                      <a16:creationId xmlns:a16="http://schemas.microsoft.com/office/drawing/2014/main" id="{8389BF43-821F-65A8-88B0-FA5758C6524D}"/>
                    </a:ext>
                  </a:extLst>
                </p:cNvPr>
                <p:cNvSpPr>
                  <a:spLocks/>
                </p:cNvSpPr>
                <p:nvPr/>
              </p:nvSpPr>
              <p:spPr bwMode="auto">
                <a:xfrm>
                  <a:off x="1599"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1 w 43"/>
                    <a:gd name="T23" fmla="*/ 9 h 9"/>
                    <a:gd name="T24" fmla="*/ 42 w 43"/>
                    <a:gd name="T25" fmla="*/ 7 h 9"/>
                    <a:gd name="T26" fmla="*/ 43 w 43"/>
                    <a:gd name="T27" fmla="*/ 6 h 9"/>
                    <a:gd name="T28" fmla="*/ 43 w 43"/>
                    <a:gd name="T29" fmla="*/ 4 h 9"/>
                    <a:gd name="T30" fmla="*/ 42 w 43"/>
                    <a:gd name="T31" fmla="*/ 3 h 9"/>
                    <a:gd name="T32" fmla="*/ 41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3" y="6"/>
                      </a:lnTo>
                      <a:lnTo>
                        <a:pt x="43"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19" name="任意多边形 1739">
                  <a:extLst>
                    <a:ext uri="{FF2B5EF4-FFF2-40B4-BE49-F238E27FC236}">
                      <a16:creationId xmlns:a16="http://schemas.microsoft.com/office/drawing/2014/main" id="{EF1EA964-CD74-AE2B-3D62-833F10ACFDEB}"/>
                    </a:ext>
                  </a:extLst>
                </p:cNvPr>
                <p:cNvSpPr>
                  <a:spLocks/>
                </p:cNvSpPr>
                <p:nvPr/>
              </p:nvSpPr>
              <p:spPr bwMode="auto">
                <a:xfrm>
                  <a:off x="1660"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0" name="任意多边形 1740">
                  <a:extLst>
                    <a:ext uri="{FF2B5EF4-FFF2-40B4-BE49-F238E27FC236}">
                      <a16:creationId xmlns:a16="http://schemas.microsoft.com/office/drawing/2014/main" id="{3B92C734-68B4-6D87-BED4-BB669C505750}"/>
                    </a:ext>
                  </a:extLst>
                </p:cNvPr>
                <p:cNvSpPr>
                  <a:spLocks/>
                </p:cNvSpPr>
                <p:nvPr/>
              </p:nvSpPr>
              <p:spPr bwMode="auto">
                <a:xfrm>
                  <a:off x="1721"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2" y="7"/>
                      </a:lnTo>
                      <a:lnTo>
                        <a:pt x="44" y="6"/>
                      </a:lnTo>
                      <a:lnTo>
                        <a:pt x="44" y="4"/>
                      </a:lnTo>
                      <a:lnTo>
                        <a:pt x="42"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1" name="任意多边形 1741">
                  <a:extLst>
                    <a:ext uri="{FF2B5EF4-FFF2-40B4-BE49-F238E27FC236}">
                      <a16:creationId xmlns:a16="http://schemas.microsoft.com/office/drawing/2014/main" id="{48156874-9BA8-D1AC-219A-852626E9D4E6}"/>
                    </a:ext>
                  </a:extLst>
                </p:cNvPr>
                <p:cNvSpPr>
                  <a:spLocks/>
                </p:cNvSpPr>
                <p:nvPr/>
              </p:nvSpPr>
              <p:spPr bwMode="auto">
                <a:xfrm>
                  <a:off x="1782"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2" name="任意多边形 1742">
                  <a:extLst>
                    <a:ext uri="{FF2B5EF4-FFF2-40B4-BE49-F238E27FC236}">
                      <a16:creationId xmlns:a16="http://schemas.microsoft.com/office/drawing/2014/main" id="{59ABEE64-7BB6-A750-AA5B-00B31F9E0330}"/>
                    </a:ext>
                  </a:extLst>
                </p:cNvPr>
                <p:cNvSpPr>
                  <a:spLocks/>
                </p:cNvSpPr>
                <p:nvPr/>
              </p:nvSpPr>
              <p:spPr bwMode="auto">
                <a:xfrm>
                  <a:off x="1844" y="2811"/>
                  <a:ext cx="43" cy="9"/>
                </a:xfrm>
                <a:custGeom>
                  <a:avLst/>
                  <a:gdLst>
                    <a:gd name="T0" fmla="*/ 4 w 43"/>
                    <a:gd name="T1" fmla="*/ 0 h 9"/>
                    <a:gd name="T2" fmla="*/ 3 w 43"/>
                    <a:gd name="T3" fmla="*/ 0 h 9"/>
                    <a:gd name="T4" fmla="*/ 1 w 43"/>
                    <a:gd name="T5" fmla="*/ 1 h 9"/>
                    <a:gd name="T6" fmla="*/ 0 w 43"/>
                    <a:gd name="T7" fmla="*/ 3 h 9"/>
                    <a:gd name="T8" fmla="*/ 0 w 43"/>
                    <a:gd name="T9" fmla="*/ 4 h 9"/>
                    <a:gd name="T10" fmla="*/ 0 w 43"/>
                    <a:gd name="T11" fmla="*/ 6 h 9"/>
                    <a:gd name="T12" fmla="*/ 0 w 43"/>
                    <a:gd name="T13" fmla="*/ 7 h 9"/>
                    <a:gd name="T14" fmla="*/ 1 w 43"/>
                    <a:gd name="T15" fmla="*/ 9 h 9"/>
                    <a:gd name="T16" fmla="*/ 3 w 43"/>
                    <a:gd name="T17" fmla="*/ 9 h 9"/>
                    <a:gd name="T18" fmla="*/ 38 w 43"/>
                    <a:gd name="T19" fmla="*/ 9 h 9"/>
                    <a:gd name="T20" fmla="*/ 39 w 43"/>
                    <a:gd name="T21" fmla="*/ 9 h 9"/>
                    <a:gd name="T22" fmla="*/ 40 w 43"/>
                    <a:gd name="T23" fmla="*/ 9 h 9"/>
                    <a:gd name="T24" fmla="*/ 42 w 43"/>
                    <a:gd name="T25" fmla="*/ 7 h 9"/>
                    <a:gd name="T26" fmla="*/ 43 w 43"/>
                    <a:gd name="T27" fmla="*/ 6 h 9"/>
                    <a:gd name="T28" fmla="*/ 43 w 43"/>
                    <a:gd name="T29" fmla="*/ 4 h 9"/>
                    <a:gd name="T30" fmla="*/ 42 w 43"/>
                    <a:gd name="T31" fmla="*/ 3 h 9"/>
                    <a:gd name="T32" fmla="*/ 40 w 43"/>
                    <a:gd name="T33" fmla="*/ 1 h 9"/>
                    <a:gd name="T34" fmla="*/ 39 w 43"/>
                    <a:gd name="T35" fmla="*/ 0 h 9"/>
                    <a:gd name="T36" fmla="*/ 4 w 43"/>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 h="9">
                      <a:moveTo>
                        <a:pt x="4" y="0"/>
                      </a:moveTo>
                      <a:lnTo>
                        <a:pt x="3" y="0"/>
                      </a:lnTo>
                      <a:lnTo>
                        <a:pt x="1" y="1"/>
                      </a:lnTo>
                      <a:lnTo>
                        <a:pt x="0" y="3"/>
                      </a:lnTo>
                      <a:lnTo>
                        <a:pt x="0" y="4"/>
                      </a:lnTo>
                      <a:lnTo>
                        <a:pt x="0" y="6"/>
                      </a:lnTo>
                      <a:lnTo>
                        <a:pt x="0" y="7"/>
                      </a:lnTo>
                      <a:lnTo>
                        <a:pt x="1" y="9"/>
                      </a:lnTo>
                      <a:lnTo>
                        <a:pt x="3" y="9"/>
                      </a:lnTo>
                      <a:lnTo>
                        <a:pt x="38" y="9"/>
                      </a:lnTo>
                      <a:lnTo>
                        <a:pt x="39" y="9"/>
                      </a:lnTo>
                      <a:lnTo>
                        <a:pt x="40" y="9"/>
                      </a:lnTo>
                      <a:lnTo>
                        <a:pt x="42" y="7"/>
                      </a:lnTo>
                      <a:lnTo>
                        <a:pt x="43" y="6"/>
                      </a:lnTo>
                      <a:lnTo>
                        <a:pt x="43" y="4"/>
                      </a:lnTo>
                      <a:lnTo>
                        <a:pt x="42" y="3"/>
                      </a:lnTo>
                      <a:lnTo>
                        <a:pt x="40"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3" name="任意多边形 1743">
                  <a:extLst>
                    <a:ext uri="{FF2B5EF4-FFF2-40B4-BE49-F238E27FC236}">
                      <a16:creationId xmlns:a16="http://schemas.microsoft.com/office/drawing/2014/main" id="{8F2276C4-3908-5B50-A1B8-3CC89133F85D}"/>
                    </a:ext>
                  </a:extLst>
                </p:cNvPr>
                <p:cNvSpPr>
                  <a:spLocks/>
                </p:cNvSpPr>
                <p:nvPr/>
              </p:nvSpPr>
              <p:spPr bwMode="auto">
                <a:xfrm>
                  <a:off x="1905" y="2811"/>
                  <a:ext cx="44" cy="9"/>
                </a:xfrm>
                <a:custGeom>
                  <a:avLst/>
                  <a:gdLst>
                    <a:gd name="T0" fmla="*/ 4 w 44"/>
                    <a:gd name="T1" fmla="*/ 0 h 9"/>
                    <a:gd name="T2" fmla="*/ 3 w 44"/>
                    <a:gd name="T3" fmla="*/ 0 h 9"/>
                    <a:gd name="T4" fmla="*/ 1 w 44"/>
                    <a:gd name="T5" fmla="*/ 1 h 9"/>
                    <a:gd name="T6" fmla="*/ 0 w 44"/>
                    <a:gd name="T7" fmla="*/ 3 h 9"/>
                    <a:gd name="T8" fmla="*/ 0 w 44"/>
                    <a:gd name="T9" fmla="*/ 4 h 9"/>
                    <a:gd name="T10" fmla="*/ 0 w 44"/>
                    <a:gd name="T11" fmla="*/ 6 h 9"/>
                    <a:gd name="T12" fmla="*/ 0 w 44"/>
                    <a:gd name="T13" fmla="*/ 7 h 9"/>
                    <a:gd name="T14" fmla="*/ 1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1" y="1"/>
                      </a:lnTo>
                      <a:lnTo>
                        <a:pt x="0" y="3"/>
                      </a:lnTo>
                      <a:lnTo>
                        <a:pt x="0" y="4"/>
                      </a:lnTo>
                      <a:lnTo>
                        <a:pt x="0" y="6"/>
                      </a:lnTo>
                      <a:lnTo>
                        <a:pt x="0" y="7"/>
                      </a:lnTo>
                      <a:lnTo>
                        <a:pt x="1"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4" name="任意多边形 1744">
                  <a:extLst>
                    <a:ext uri="{FF2B5EF4-FFF2-40B4-BE49-F238E27FC236}">
                      <a16:creationId xmlns:a16="http://schemas.microsoft.com/office/drawing/2014/main" id="{D34D1D9E-0D14-6AAE-075F-37B79794AAD3}"/>
                    </a:ext>
                  </a:extLst>
                </p:cNvPr>
                <p:cNvSpPr>
                  <a:spLocks/>
                </p:cNvSpPr>
                <p:nvPr/>
              </p:nvSpPr>
              <p:spPr bwMode="auto">
                <a:xfrm>
                  <a:off x="1966" y="2811"/>
                  <a:ext cx="44" cy="9"/>
                </a:xfrm>
                <a:custGeom>
                  <a:avLst/>
                  <a:gdLst>
                    <a:gd name="T0" fmla="*/ 4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39 w 44"/>
                    <a:gd name="T21" fmla="*/ 9 h 9"/>
                    <a:gd name="T22" fmla="*/ 41 w 44"/>
                    <a:gd name="T23" fmla="*/ 9 h 9"/>
                    <a:gd name="T24" fmla="*/ 42 w 44"/>
                    <a:gd name="T25" fmla="*/ 7 h 9"/>
                    <a:gd name="T26" fmla="*/ 44 w 44"/>
                    <a:gd name="T27" fmla="*/ 6 h 9"/>
                    <a:gd name="T28" fmla="*/ 44 w 44"/>
                    <a:gd name="T29" fmla="*/ 4 h 9"/>
                    <a:gd name="T30" fmla="*/ 42 w 44"/>
                    <a:gd name="T31" fmla="*/ 3 h 9"/>
                    <a:gd name="T32" fmla="*/ 41 w 44"/>
                    <a:gd name="T33" fmla="*/ 1 h 9"/>
                    <a:gd name="T34" fmla="*/ 39 w 44"/>
                    <a:gd name="T35" fmla="*/ 0 h 9"/>
                    <a:gd name="T36" fmla="*/ 4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4" y="0"/>
                      </a:moveTo>
                      <a:lnTo>
                        <a:pt x="3" y="0"/>
                      </a:lnTo>
                      <a:lnTo>
                        <a:pt x="2" y="1"/>
                      </a:lnTo>
                      <a:lnTo>
                        <a:pt x="0" y="3"/>
                      </a:lnTo>
                      <a:lnTo>
                        <a:pt x="0" y="4"/>
                      </a:lnTo>
                      <a:lnTo>
                        <a:pt x="0" y="6"/>
                      </a:lnTo>
                      <a:lnTo>
                        <a:pt x="0" y="7"/>
                      </a:lnTo>
                      <a:lnTo>
                        <a:pt x="2" y="9"/>
                      </a:lnTo>
                      <a:lnTo>
                        <a:pt x="3" y="9"/>
                      </a:lnTo>
                      <a:lnTo>
                        <a:pt x="38" y="9"/>
                      </a:lnTo>
                      <a:lnTo>
                        <a:pt x="39" y="9"/>
                      </a:lnTo>
                      <a:lnTo>
                        <a:pt x="41" y="9"/>
                      </a:lnTo>
                      <a:lnTo>
                        <a:pt x="42" y="7"/>
                      </a:lnTo>
                      <a:lnTo>
                        <a:pt x="44" y="6"/>
                      </a:lnTo>
                      <a:lnTo>
                        <a:pt x="44" y="4"/>
                      </a:lnTo>
                      <a:lnTo>
                        <a:pt x="42" y="3"/>
                      </a:lnTo>
                      <a:lnTo>
                        <a:pt x="41" y="1"/>
                      </a:lnTo>
                      <a:lnTo>
                        <a:pt x="39" y="0"/>
                      </a:lnTo>
                      <a:lnTo>
                        <a:pt x="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125" name="任意多边形 1745">
                  <a:extLst>
                    <a:ext uri="{FF2B5EF4-FFF2-40B4-BE49-F238E27FC236}">
                      <a16:creationId xmlns:a16="http://schemas.microsoft.com/office/drawing/2014/main" id="{C78B0C14-D065-268D-5481-5B2570C769A9}"/>
                    </a:ext>
                  </a:extLst>
                </p:cNvPr>
                <p:cNvSpPr>
                  <a:spLocks/>
                </p:cNvSpPr>
                <p:nvPr/>
              </p:nvSpPr>
              <p:spPr bwMode="auto">
                <a:xfrm>
                  <a:off x="2027" y="2811"/>
                  <a:ext cx="44" cy="9"/>
                </a:xfrm>
                <a:custGeom>
                  <a:avLst/>
                  <a:gdLst>
                    <a:gd name="T0" fmla="*/ 5 w 44"/>
                    <a:gd name="T1" fmla="*/ 0 h 9"/>
                    <a:gd name="T2" fmla="*/ 3 w 44"/>
                    <a:gd name="T3" fmla="*/ 0 h 9"/>
                    <a:gd name="T4" fmla="*/ 2 w 44"/>
                    <a:gd name="T5" fmla="*/ 1 h 9"/>
                    <a:gd name="T6" fmla="*/ 0 w 44"/>
                    <a:gd name="T7" fmla="*/ 3 h 9"/>
                    <a:gd name="T8" fmla="*/ 0 w 44"/>
                    <a:gd name="T9" fmla="*/ 4 h 9"/>
                    <a:gd name="T10" fmla="*/ 0 w 44"/>
                    <a:gd name="T11" fmla="*/ 6 h 9"/>
                    <a:gd name="T12" fmla="*/ 0 w 44"/>
                    <a:gd name="T13" fmla="*/ 7 h 9"/>
                    <a:gd name="T14" fmla="*/ 2 w 44"/>
                    <a:gd name="T15" fmla="*/ 9 h 9"/>
                    <a:gd name="T16" fmla="*/ 3 w 44"/>
                    <a:gd name="T17" fmla="*/ 9 h 9"/>
                    <a:gd name="T18" fmla="*/ 38 w 44"/>
                    <a:gd name="T19" fmla="*/ 9 h 9"/>
                    <a:gd name="T20" fmla="*/ 40 w 44"/>
                    <a:gd name="T21" fmla="*/ 9 h 9"/>
                    <a:gd name="T22" fmla="*/ 41 w 44"/>
                    <a:gd name="T23" fmla="*/ 9 h 9"/>
                    <a:gd name="T24" fmla="*/ 43 w 44"/>
                    <a:gd name="T25" fmla="*/ 7 h 9"/>
                    <a:gd name="T26" fmla="*/ 44 w 44"/>
                    <a:gd name="T27" fmla="*/ 6 h 9"/>
                    <a:gd name="T28" fmla="*/ 44 w 44"/>
                    <a:gd name="T29" fmla="*/ 4 h 9"/>
                    <a:gd name="T30" fmla="*/ 43 w 44"/>
                    <a:gd name="T31" fmla="*/ 3 h 9"/>
                    <a:gd name="T32" fmla="*/ 41 w 44"/>
                    <a:gd name="T33" fmla="*/ 1 h 9"/>
                    <a:gd name="T34" fmla="*/ 40 w 44"/>
                    <a:gd name="T35" fmla="*/ 0 h 9"/>
                    <a:gd name="T36" fmla="*/ 5 w 44"/>
                    <a:gd name="T37"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9">
                      <a:moveTo>
                        <a:pt x="5" y="0"/>
                      </a:moveTo>
                      <a:lnTo>
                        <a:pt x="3" y="0"/>
                      </a:lnTo>
                      <a:lnTo>
                        <a:pt x="2" y="1"/>
                      </a:lnTo>
                      <a:lnTo>
                        <a:pt x="0" y="3"/>
                      </a:lnTo>
                      <a:lnTo>
                        <a:pt x="0" y="4"/>
                      </a:lnTo>
                      <a:lnTo>
                        <a:pt x="0" y="6"/>
                      </a:lnTo>
                      <a:lnTo>
                        <a:pt x="0" y="7"/>
                      </a:lnTo>
                      <a:lnTo>
                        <a:pt x="2" y="9"/>
                      </a:lnTo>
                      <a:lnTo>
                        <a:pt x="3" y="9"/>
                      </a:lnTo>
                      <a:lnTo>
                        <a:pt x="38" y="9"/>
                      </a:lnTo>
                      <a:lnTo>
                        <a:pt x="40" y="9"/>
                      </a:lnTo>
                      <a:lnTo>
                        <a:pt x="41" y="9"/>
                      </a:lnTo>
                      <a:lnTo>
                        <a:pt x="43" y="7"/>
                      </a:lnTo>
                      <a:lnTo>
                        <a:pt x="44" y="6"/>
                      </a:lnTo>
                      <a:lnTo>
                        <a:pt x="44" y="4"/>
                      </a:lnTo>
                      <a:lnTo>
                        <a:pt x="43" y="3"/>
                      </a:lnTo>
                      <a:lnTo>
                        <a:pt x="41" y="1"/>
                      </a:lnTo>
                      <a:lnTo>
                        <a:pt x="40" y="0"/>
                      </a:ln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grpSp>
          <p:grpSp>
            <p:nvGrpSpPr>
              <p:cNvPr id="85" name="组合 1746">
                <a:extLst>
                  <a:ext uri="{FF2B5EF4-FFF2-40B4-BE49-F238E27FC236}">
                    <a16:creationId xmlns:a16="http://schemas.microsoft.com/office/drawing/2014/main" id="{3AC85551-C094-19FF-F338-C94F531550B5}"/>
                  </a:ext>
                </a:extLst>
              </p:cNvPr>
              <p:cNvGrpSpPr>
                <a:grpSpLocks/>
              </p:cNvGrpSpPr>
              <p:nvPr/>
            </p:nvGrpSpPr>
            <p:grpSpPr bwMode="auto">
              <a:xfrm>
                <a:off x="6678" y="8029"/>
                <a:ext cx="25" cy="390"/>
                <a:chOff x="2071" y="2811"/>
                <a:chExt cx="10" cy="156"/>
              </a:xfrm>
            </p:grpSpPr>
            <p:sp>
              <p:nvSpPr>
                <p:cNvPr id="96" name="任意多边形 1747">
                  <a:extLst>
                    <a:ext uri="{FF2B5EF4-FFF2-40B4-BE49-F238E27FC236}">
                      <a16:creationId xmlns:a16="http://schemas.microsoft.com/office/drawing/2014/main" id="{D5B6E9C2-BFD8-E9FC-13A7-ADCEB9C73552}"/>
                    </a:ext>
                  </a:extLst>
                </p:cNvPr>
                <p:cNvSpPr>
                  <a:spLocks/>
                </p:cNvSpPr>
                <p:nvPr/>
              </p:nvSpPr>
              <p:spPr bwMode="auto">
                <a:xfrm>
                  <a:off x="2071" y="2923"/>
                  <a:ext cx="9" cy="44"/>
                </a:xfrm>
                <a:custGeom>
                  <a:avLst/>
                  <a:gdLst>
                    <a:gd name="T0" fmla="*/ 0 w 9"/>
                    <a:gd name="T1" fmla="*/ 39 h 44"/>
                    <a:gd name="T2" fmla="*/ 0 w 9"/>
                    <a:gd name="T3" fmla="*/ 39 h 44"/>
                    <a:gd name="T4" fmla="*/ 2 w 9"/>
                    <a:gd name="T5" fmla="*/ 41 h 44"/>
                    <a:gd name="T6" fmla="*/ 3 w 9"/>
                    <a:gd name="T7" fmla="*/ 42 h 44"/>
                    <a:gd name="T8" fmla="*/ 4 w 9"/>
                    <a:gd name="T9" fmla="*/ 44 h 44"/>
                    <a:gd name="T10" fmla="*/ 4 w 9"/>
                    <a:gd name="T11" fmla="*/ 44 h 44"/>
                    <a:gd name="T12" fmla="*/ 6 w 9"/>
                    <a:gd name="T13" fmla="*/ 42 h 44"/>
                    <a:gd name="T14" fmla="*/ 7 w 9"/>
                    <a:gd name="T15" fmla="*/ 41 h 44"/>
                    <a:gd name="T16" fmla="*/ 9 w 9"/>
                    <a:gd name="T17" fmla="*/ 41 h 44"/>
                    <a:gd name="T18" fmla="*/ 9 w 9"/>
                    <a:gd name="T19" fmla="*/ 6 h 44"/>
                    <a:gd name="T20" fmla="*/ 9 w 9"/>
                    <a:gd name="T21" fmla="*/ 4 h 44"/>
                    <a:gd name="T22" fmla="*/ 9 w 9"/>
                    <a:gd name="T23" fmla="*/ 3 h 44"/>
                    <a:gd name="T24" fmla="*/ 7 w 9"/>
                    <a:gd name="T25" fmla="*/ 2 h 44"/>
                    <a:gd name="T26" fmla="*/ 6 w 9"/>
                    <a:gd name="T27" fmla="*/ 0 h 44"/>
                    <a:gd name="T28" fmla="*/ 4 w 9"/>
                    <a:gd name="T29" fmla="*/ 0 h 44"/>
                    <a:gd name="T30" fmla="*/ 3 w 9"/>
                    <a:gd name="T31" fmla="*/ 2 h 44"/>
                    <a:gd name="T32" fmla="*/ 2 w 9"/>
                    <a:gd name="T33" fmla="*/ 3 h 44"/>
                    <a:gd name="T34" fmla="*/ 0 w 9"/>
                    <a:gd name="T35" fmla="*/ 4 h 44"/>
                    <a:gd name="T36" fmla="*/ 0 w 9"/>
                    <a:gd name="T37"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 h="44">
                      <a:moveTo>
                        <a:pt x="0" y="39"/>
                      </a:moveTo>
                      <a:lnTo>
                        <a:pt x="0" y="39"/>
                      </a:lnTo>
                      <a:lnTo>
                        <a:pt x="2" y="41"/>
                      </a:lnTo>
                      <a:lnTo>
                        <a:pt x="3" y="42"/>
                      </a:lnTo>
                      <a:lnTo>
                        <a:pt x="4" y="44"/>
                      </a:lnTo>
                      <a:lnTo>
                        <a:pt x="6" y="42"/>
                      </a:lnTo>
                      <a:lnTo>
                        <a:pt x="7" y="41"/>
                      </a:lnTo>
                      <a:lnTo>
                        <a:pt x="9" y="41"/>
                      </a:lnTo>
                      <a:lnTo>
                        <a:pt x="9" y="6"/>
                      </a:lnTo>
                      <a:lnTo>
                        <a:pt x="9" y="4"/>
                      </a:lnTo>
                      <a:lnTo>
                        <a:pt x="9" y="3"/>
                      </a:lnTo>
                      <a:lnTo>
                        <a:pt x="7" y="2"/>
                      </a:lnTo>
                      <a:lnTo>
                        <a:pt x="6" y="0"/>
                      </a:lnTo>
                      <a:lnTo>
                        <a:pt x="4" y="0"/>
                      </a:lnTo>
                      <a:lnTo>
                        <a:pt x="3" y="2"/>
                      </a:lnTo>
                      <a:lnTo>
                        <a:pt x="2" y="3"/>
                      </a:lnTo>
                      <a:lnTo>
                        <a:pt x="0" y="4"/>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97" name="任意多边形 1748">
                  <a:extLst>
                    <a:ext uri="{FF2B5EF4-FFF2-40B4-BE49-F238E27FC236}">
                      <a16:creationId xmlns:a16="http://schemas.microsoft.com/office/drawing/2014/main" id="{4501DCCD-9D2F-72CD-2D55-A4DCE0BFC0CA}"/>
                    </a:ext>
                  </a:extLst>
                </p:cNvPr>
                <p:cNvSpPr>
                  <a:spLocks/>
                </p:cNvSpPr>
                <p:nvPr/>
              </p:nvSpPr>
              <p:spPr bwMode="auto">
                <a:xfrm>
                  <a:off x="2071" y="2862"/>
                  <a:ext cx="10" cy="44"/>
                </a:xfrm>
                <a:custGeom>
                  <a:avLst/>
                  <a:gdLst>
                    <a:gd name="T0" fmla="*/ 0 w 10"/>
                    <a:gd name="T1" fmla="*/ 39 h 44"/>
                    <a:gd name="T2" fmla="*/ 0 w 10"/>
                    <a:gd name="T3" fmla="*/ 41 h 44"/>
                    <a:gd name="T4" fmla="*/ 2 w 10"/>
                    <a:gd name="T5" fmla="*/ 42 h 44"/>
                    <a:gd name="T6" fmla="*/ 3 w 10"/>
                    <a:gd name="T7" fmla="*/ 44 h 44"/>
                    <a:gd name="T8" fmla="*/ 4 w 10"/>
                    <a:gd name="T9" fmla="*/ 44 h 44"/>
                    <a:gd name="T10" fmla="*/ 6 w 10"/>
                    <a:gd name="T11" fmla="*/ 44 h 44"/>
                    <a:gd name="T12" fmla="*/ 7 w 10"/>
                    <a:gd name="T13" fmla="*/ 44 h 44"/>
                    <a:gd name="T14" fmla="*/ 9 w 10"/>
                    <a:gd name="T15" fmla="*/ 42 h 44"/>
                    <a:gd name="T16" fmla="*/ 9 w 10"/>
                    <a:gd name="T17" fmla="*/ 41 h 44"/>
                    <a:gd name="T18" fmla="*/ 10 w 10"/>
                    <a:gd name="T19" fmla="*/ 6 h 44"/>
                    <a:gd name="T20" fmla="*/ 10 w 10"/>
                    <a:gd name="T21" fmla="*/ 4 h 44"/>
                    <a:gd name="T22" fmla="*/ 9 w 10"/>
                    <a:gd name="T23" fmla="*/ 3 h 44"/>
                    <a:gd name="T24" fmla="*/ 7 w 10"/>
                    <a:gd name="T25" fmla="*/ 1 h 44"/>
                    <a:gd name="T26" fmla="*/ 6 w 10"/>
                    <a:gd name="T27" fmla="*/ 0 h 44"/>
                    <a:gd name="T28" fmla="*/ 4 w 10"/>
                    <a:gd name="T29" fmla="*/ 0 h 44"/>
                    <a:gd name="T30" fmla="*/ 3 w 10"/>
                    <a:gd name="T31" fmla="*/ 1 h 44"/>
                    <a:gd name="T32" fmla="*/ 2 w 10"/>
                    <a:gd name="T33" fmla="*/ 3 h 44"/>
                    <a:gd name="T34" fmla="*/ 2 w 10"/>
                    <a:gd name="T35" fmla="*/ 4 h 44"/>
                    <a:gd name="T36" fmla="*/ 0 w 10"/>
                    <a:gd name="T37" fmla="*/ 39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44">
                      <a:moveTo>
                        <a:pt x="0" y="39"/>
                      </a:moveTo>
                      <a:lnTo>
                        <a:pt x="0" y="41"/>
                      </a:lnTo>
                      <a:lnTo>
                        <a:pt x="2" y="42"/>
                      </a:lnTo>
                      <a:lnTo>
                        <a:pt x="3" y="44"/>
                      </a:lnTo>
                      <a:lnTo>
                        <a:pt x="4" y="44"/>
                      </a:lnTo>
                      <a:lnTo>
                        <a:pt x="6" y="44"/>
                      </a:lnTo>
                      <a:lnTo>
                        <a:pt x="7" y="44"/>
                      </a:lnTo>
                      <a:lnTo>
                        <a:pt x="9" y="42"/>
                      </a:lnTo>
                      <a:lnTo>
                        <a:pt x="9" y="41"/>
                      </a:lnTo>
                      <a:lnTo>
                        <a:pt x="10" y="6"/>
                      </a:lnTo>
                      <a:lnTo>
                        <a:pt x="10" y="4"/>
                      </a:lnTo>
                      <a:lnTo>
                        <a:pt x="9" y="3"/>
                      </a:lnTo>
                      <a:lnTo>
                        <a:pt x="7" y="1"/>
                      </a:lnTo>
                      <a:lnTo>
                        <a:pt x="6" y="0"/>
                      </a:lnTo>
                      <a:lnTo>
                        <a:pt x="4" y="0"/>
                      </a:lnTo>
                      <a:lnTo>
                        <a:pt x="3" y="1"/>
                      </a:lnTo>
                      <a:lnTo>
                        <a:pt x="2" y="3"/>
                      </a:lnTo>
                      <a:lnTo>
                        <a:pt x="2" y="4"/>
                      </a:lnTo>
                      <a:lnTo>
                        <a:pt x="0"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98" name="任意多边形 1749">
                  <a:extLst>
                    <a:ext uri="{FF2B5EF4-FFF2-40B4-BE49-F238E27FC236}">
                      <a16:creationId xmlns:a16="http://schemas.microsoft.com/office/drawing/2014/main" id="{EA2E6049-DB0E-1416-3D3A-A50C26EB6313}"/>
                    </a:ext>
                  </a:extLst>
                </p:cNvPr>
                <p:cNvSpPr>
                  <a:spLocks/>
                </p:cNvSpPr>
                <p:nvPr/>
              </p:nvSpPr>
              <p:spPr bwMode="auto">
                <a:xfrm>
                  <a:off x="2073" y="2811"/>
                  <a:ext cx="8" cy="33"/>
                </a:xfrm>
                <a:custGeom>
                  <a:avLst/>
                  <a:gdLst>
                    <a:gd name="T0" fmla="*/ 0 w 8"/>
                    <a:gd name="T1" fmla="*/ 29 h 33"/>
                    <a:gd name="T2" fmla="*/ 0 w 8"/>
                    <a:gd name="T3" fmla="*/ 30 h 33"/>
                    <a:gd name="T4" fmla="*/ 0 w 8"/>
                    <a:gd name="T5" fmla="*/ 32 h 33"/>
                    <a:gd name="T6" fmla="*/ 1 w 8"/>
                    <a:gd name="T7" fmla="*/ 33 h 33"/>
                    <a:gd name="T8" fmla="*/ 2 w 8"/>
                    <a:gd name="T9" fmla="*/ 33 h 33"/>
                    <a:gd name="T10" fmla="*/ 4 w 8"/>
                    <a:gd name="T11" fmla="*/ 33 h 33"/>
                    <a:gd name="T12" fmla="*/ 5 w 8"/>
                    <a:gd name="T13" fmla="*/ 33 h 33"/>
                    <a:gd name="T14" fmla="*/ 7 w 8"/>
                    <a:gd name="T15" fmla="*/ 32 h 33"/>
                    <a:gd name="T16" fmla="*/ 8 w 8"/>
                    <a:gd name="T17" fmla="*/ 30 h 33"/>
                    <a:gd name="T18" fmla="*/ 8 w 8"/>
                    <a:gd name="T19" fmla="*/ 6 h 33"/>
                    <a:gd name="T20" fmla="*/ 8 w 8"/>
                    <a:gd name="T21" fmla="*/ 4 h 33"/>
                    <a:gd name="T22" fmla="*/ 7 w 8"/>
                    <a:gd name="T23" fmla="*/ 3 h 33"/>
                    <a:gd name="T24" fmla="*/ 5 w 8"/>
                    <a:gd name="T25" fmla="*/ 1 h 33"/>
                    <a:gd name="T26" fmla="*/ 4 w 8"/>
                    <a:gd name="T27" fmla="*/ 0 h 33"/>
                    <a:gd name="T28" fmla="*/ 4 w 8"/>
                    <a:gd name="T29" fmla="*/ 0 h 33"/>
                    <a:gd name="T30" fmla="*/ 2 w 8"/>
                    <a:gd name="T31" fmla="*/ 1 h 33"/>
                    <a:gd name="T32" fmla="*/ 1 w 8"/>
                    <a:gd name="T33" fmla="*/ 3 h 33"/>
                    <a:gd name="T34" fmla="*/ 0 w 8"/>
                    <a:gd name="T35" fmla="*/ 4 h 33"/>
                    <a:gd name="T36" fmla="*/ 0 w 8"/>
                    <a:gd name="T37" fmla="*/ 2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 h="33">
                      <a:moveTo>
                        <a:pt x="0" y="29"/>
                      </a:moveTo>
                      <a:lnTo>
                        <a:pt x="0" y="30"/>
                      </a:lnTo>
                      <a:lnTo>
                        <a:pt x="0" y="32"/>
                      </a:lnTo>
                      <a:lnTo>
                        <a:pt x="1" y="33"/>
                      </a:lnTo>
                      <a:lnTo>
                        <a:pt x="2" y="33"/>
                      </a:lnTo>
                      <a:lnTo>
                        <a:pt x="4" y="33"/>
                      </a:lnTo>
                      <a:lnTo>
                        <a:pt x="5" y="33"/>
                      </a:lnTo>
                      <a:lnTo>
                        <a:pt x="7" y="32"/>
                      </a:lnTo>
                      <a:lnTo>
                        <a:pt x="8" y="30"/>
                      </a:lnTo>
                      <a:lnTo>
                        <a:pt x="8" y="6"/>
                      </a:lnTo>
                      <a:lnTo>
                        <a:pt x="8" y="4"/>
                      </a:lnTo>
                      <a:lnTo>
                        <a:pt x="7" y="3"/>
                      </a:lnTo>
                      <a:lnTo>
                        <a:pt x="5" y="1"/>
                      </a:lnTo>
                      <a:lnTo>
                        <a:pt x="4" y="0"/>
                      </a:lnTo>
                      <a:lnTo>
                        <a:pt x="2" y="1"/>
                      </a:lnTo>
                      <a:lnTo>
                        <a:pt x="1" y="3"/>
                      </a:lnTo>
                      <a:lnTo>
                        <a:pt x="0" y="4"/>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grpSp>
          <p:sp>
            <p:nvSpPr>
              <p:cNvPr id="86" name="矩形 1750">
                <a:extLst>
                  <a:ext uri="{FF2B5EF4-FFF2-40B4-BE49-F238E27FC236}">
                    <a16:creationId xmlns:a16="http://schemas.microsoft.com/office/drawing/2014/main" id="{DB41D50E-BDFF-3813-4E1D-FF1A46D8DC89}"/>
                  </a:ext>
                </a:extLst>
              </p:cNvPr>
              <p:cNvSpPr>
                <a:spLocks noChangeArrowheads="1"/>
              </p:cNvSpPr>
              <p:nvPr/>
            </p:nvSpPr>
            <p:spPr bwMode="auto">
              <a:xfrm>
                <a:off x="5810" y="7722"/>
                <a:ext cx="803"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87" name="矩形 1751">
                <a:extLst>
                  <a:ext uri="{FF2B5EF4-FFF2-40B4-BE49-F238E27FC236}">
                    <a16:creationId xmlns:a16="http://schemas.microsoft.com/office/drawing/2014/main" id="{CE179395-E123-6695-EA5D-7638E125E45C}"/>
                  </a:ext>
                </a:extLst>
              </p:cNvPr>
              <p:cNvSpPr>
                <a:spLocks noChangeArrowheads="1"/>
              </p:cNvSpPr>
              <p:nvPr/>
            </p:nvSpPr>
            <p:spPr bwMode="auto">
              <a:xfrm>
                <a:off x="5978" y="77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sz="1600" b="1" i="0" u="none" strike="noStrike" cap="none" normalizeH="0" baseline="0">
                  <a:ln>
                    <a:noFill/>
                  </a:ln>
                  <a:solidFill>
                    <a:schemeClr val="tx1"/>
                  </a:solidFill>
                  <a:effectLst/>
                  <a:latin typeface="Arial" panose="020B0604020202020204" pitchFamily="34" charset="0"/>
                </a:endParaRPr>
              </a:p>
            </p:txBody>
          </p:sp>
          <p:grpSp>
            <p:nvGrpSpPr>
              <p:cNvPr id="88" name="组合 1752">
                <a:extLst>
                  <a:ext uri="{FF2B5EF4-FFF2-40B4-BE49-F238E27FC236}">
                    <a16:creationId xmlns:a16="http://schemas.microsoft.com/office/drawing/2014/main" id="{740BAD7D-D9BF-5CD5-5697-4EECD8B4E664}"/>
                  </a:ext>
                </a:extLst>
              </p:cNvPr>
              <p:cNvGrpSpPr>
                <a:grpSpLocks/>
              </p:cNvGrpSpPr>
              <p:nvPr/>
            </p:nvGrpSpPr>
            <p:grpSpPr bwMode="auto">
              <a:xfrm>
                <a:off x="3793" y="7767"/>
                <a:ext cx="670" cy="645"/>
                <a:chOff x="917" y="2706"/>
                <a:chExt cx="268" cy="258"/>
              </a:xfrm>
            </p:grpSpPr>
            <p:sp>
              <p:nvSpPr>
                <p:cNvPr id="94" name="直线 1753">
                  <a:extLst>
                    <a:ext uri="{FF2B5EF4-FFF2-40B4-BE49-F238E27FC236}">
                      <a16:creationId xmlns:a16="http://schemas.microsoft.com/office/drawing/2014/main" id="{827B8BBE-4B0C-4857-19B6-2E6876257BD3}"/>
                    </a:ext>
                  </a:extLst>
                </p:cNvPr>
                <p:cNvSpPr>
                  <a:spLocks noChangeShapeType="1"/>
                </p:cNvSpPr>
                <p:nvPr/>
              </p:nvSpPr>
              <p:spPr bwMode="auto">
                <a:xfrm flipH="1" flipV="1">
                  <a:off x="917" y="2706"/>
                  <a:ext cx="209" cy="202"/>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95" name="任意多边形 1754">
                  <a:extLst>
                    <a:ext uri="{FF2B5EF4-FFF2-40B4-BE49-F238E27FC236}">
                      <a16:creationId xmlns:a16="http://schemas.microsoft.com/office/drawing/2014/main" id="{4578A929-AC96-6883-1669-4F10AA7C8996}"/>
                    </a:ext>
                  </a:extLst>
                </p:cNvPr>
                <p:cNvSpPr>
                  <a:spLocks/>
                </p:cNvSpPr>
                <p:nvPr/>
              </p:nvSpPr>
              <p:spPr bwMode="auto">
                <a:xfrm>
                  <a:off x="1118" y="2898"/>
                  <a:ext cx="67" cy="66"/>
                </a:xfrm>
                <a:custGeom>
                  <a:avLst/>
                  <a:gdLst>
                    <a:gd name="T0" fmla="*/ 67 w 67"/>
                    <a:gd name="T1" fmla="*/ 66 h 66"/>
                    <a:gd name="T2" fmla="*/ 0 w 67"/>
                    <a:gd name="T3" fmla="*/ 18 h 66"/>
                    <a:gd name="T4" fmla="*/ 16 w 67"/>
                    <a:gd name="T5" fmla="*/ 0 h 66"/>
                    <a:gd name="T6" fmla="*/ 67 w 67"/>
                    <a:gd name="T7" fmla="*/ 66 h 66"/>
                  </a:gdLst>
                  <a:ahLst/>
                  <a:cxnLst>
                    <a:cxn ang="0">
                      <a:pos x="T0" y="T1"/>
                    </a:cxn>
                    <a:cxn ang="0">
                      <a:pos x="T2" y="T3"/>
                    </a:cxn>
                    <a:cxn ang="0">
                      <a:pos x="T4" y="T5"/>
                    </a:cxn>
                    <a:cxn ang="0">
                      <a:pos x="T6" y="T7"/>
                    </a:cxn>
                  </a:cxnLst>
                  <a:rect l="0" t="0" r="r" b="b"/>
                  <a:pathLst>
                    <a:path w="67" h="66">
                      <a:moveTo>
                        <a:pt x="67" y="66"/>
                      </a:moveTo>
                      <a:lnTo>
                        <a:pt x="0" y="18"/>
                      </a:lnTo>
                      <a:lnTo>
                        <a:pt x="16" y="0"/>
                      </a:lnTo>
                      <a:lnTo>
                        <a:pt x="67" y="66"/>
                      </a:lnTo>
                      <a:close/>
                    </a:path>
                  </a:pathLst>
                </a:custGeom>
                <a:solidFill>
                  <a:srgbClr val="000000"/>
                </a:solidFill>
                <a:ln w="1588">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p>
              </p:txBody>
            </p:sp>
          </p:grpSp>
          <p:sp>
            <p:nvSpPr>
              <p:cNvPr id="89" name="矩形 1755">
                <a:extLst>
                  <a:ext uri="{FF2B5EF4-FFF2-40B4-BE49-F238E27FC236}">
                    <a16:creationId xmlns:a16="http://schemas.microsoft.com/office/drawing/2014/main" id="{0EA0F298-9076-AB36-83B9-8CACDE9B5462}"/>
                  </a:ext>
                </a:extLst>
              </p:cNvPr>
              <p:cNvSpPr>
                <a:spLocks noChangeArrowheads="1"/>
              </p:cNvSpPr>
              <p:nvPr/>
            </p:nvSpPr>
            <p:spPr bwMode="auto">
              <a:xfrm>
                <a:off x="3913" y="7722"/>
                <a:ext cx="805"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90" name="矩形 1756">
                <a:extLst>
                  <a:ext uri="{FF2B5EF4-FFF2-40B4-BE49-F238E27FC236}">
                    <a16:creationId xmlns:a16="http://schemas.microsoft.com/office/drawing/2014/main" id="{BAD09F41-6D16-7BB3-293B-1A9CA2D8C6A0}"/>
                  </a:ext>
                </a:extLst>
              </p:cNvPr>
              <p:cNvSpPr>
                <a:spLocks noChangeArrowheads="1"/>
              </p:cNvSpPr>
              <p:nvPr/>
            </p:nvSpPr>
            <p:spPr bwMode="auto">
              <a:xfrm>
                <a:off x="4080" y="7757"/>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准许</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91" name="矩形 1757">
                <a:extLst>
                  <a:ext uri="{FF2B5EF4-FFF2-40B4-BE49-F238E27FC236}">
                    <a16:creationId xmlns:a16="http://schemas.microsoft.com/office/drawing/2014/main" id="{7E2F7E54-EADE-85AF-90F4-16F9BE739786}"/>
                  </a:ext>
                </a:extLst>
              </p:cNvPr>
              <p:cNvSpPr>
                <a:spLocks noChangeArrowheads="1"/>
              </p:cNvSpPr>
              <p:nvPr/>
            </p:nvSpPr>
            <p:spPr bwMode="auto">
              <a:xfrm>
                <a:off x="2563" y="7722"/>
                <a:ext cx="802"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600" b="1"/>
              </a:p>
            </p:txBody>
          </p:sp>
          <p:sp>
            <p:nvSpPr>
              <p:cNvPr id="92" name="矩形 1758">
                <a:extLst>
                  <a:ext uri="{FF2B5EF4-FFF2-40B4-BE49-F238E27FC236}">
                    <a16:creationId xmlns:a16="http://schemas.microsoft.com/office/drawing/2014/main" id="{4CDCC4EF-7286-C7FD-1559-327B1B3CA32D}"/>
                  </a:ext>
                </a:extLst>
              </p:cNvPr>
              <p:cNvSpPr>
                <a:spLocks noChangeArrowheads="1"/>
              </p:cNvSpPr>
              <p:nvPr/>
            </p:nvSpPr>
            <p:spPr bwMode="auto">
              <a:xfrm>
                <a:off x="2728" y="7757"/>
                <a:ext cx="60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a:ln>
                      <a:noFill/>
                    </a:ln>
                    <a:solidFill>
                      <a:srgbClr val="000000"/>
                    </a:solidFill>
                    <a:effectLst/>
                    <a:latin typeface="Calibri" panose="020F0502020204030204" pitchFamily="34" charset="0"/>
                    <a:ea typeface="宋体" panose="02010600030101010101" pitchFamily="2" charset="-122"/>
                    <a:cs typeface="华康简宋" charset="-122"/>
                  </a:rPr>
                  <a:t>准许</a:t>
                </a:r>
                <a:endParaRPr kumimoji="0" lang="zh-CN" altLang="zh-CN" sz="1600" b="1" i="0" u="none" strike="noStrike" cap="none" normalizeH="0" baseline="0">
                  <a:ln>
                    <a:noFill/>
                  </a:ln>
                  <a:solidFill>
                    <a:schemeClr val="tx1"/>
                  </a:solidFill>
                  <a:effectLst/>
                  <a:latin typeface="Arial" panose="020B0604020202020204" pitchFamily="34" charset="0"/>
                </a:endParaRPr>
              </a:p>
            </p:txBody>
          </p:sp>
          <p:sp>
            <p:nvSpPr>
              <p:cNvPr id="93" name="矩形 2144">
                <a:extLst>
                  <a:ext uri="{FF2B5EF4-FFF2-40B4-BE49-F238E27FC236}">
                    <a16:creationId xmlns:a16="http://schemas.microsoft.com/office/drawing/2014/main" id="{CE1944D5-7702-93B5-477E-5EE776E4C178}"/>
                  </a:ext>
                </a:extLst>
              </p:cNvPr>
              <p:cNvSpPr>
                <a:spLocks noChangeArrowheads="1"/>
              </p:cNvSpPr>
              <p:nvPr/>
            </p:nvSpPr>
            <p:spPr bwMode="auto">
              <a:xfrm>
                <a:off x="3430" y="10372"/>
                <a:ext cx="60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华康简宋" charset="-122"/>
                  </a:rPr>
                  <a:t>挂起</a:t>
                </a:r>
                <a:endParaRPr kumimoji="0" lang="zh-CN" altLang="zh-CN" sz="1600" b="1" i="0" u="none" strike="noStrike" cap="none" normalizeH="0" baseline="0" dirty="0">
                  <a:ln>
                    <a:noFill/>
                  </a:ln>
                  <a:solidFill>
                    <a:schemeClr val="tx1"/>
                  </a:solidFill>
                  <a:effectLst/>
                  <a:latin typeface="Arial" panose="020B0604020202020204" pitchFamily="34" charset="0"/>
                </a:endParaRPr>
              </a:p>
            </p:txBody>
          </p:sp>
        </p:grpSp>
      </p:grpSp>
      <p:sp>
        <p:nvSpPr>
          <p:cNvPr id="2" name="标注: 线形 1">
            <a:extLst>
              <a:ext uri="{FF2B5EF4-FFF2-40B4-BE49-F238E27FC236}">
                <a16:creationId xmlns:a16="http://schemas.microsoft.com/office/drawing/2014/main" id="{E15561D7-5F9E-30ED-7D7E-14BF8161E449}"/>
              </a:ext>
            </a:extLst>
          </p:cNvPr>
          <p:cNvSpPr/>
          <p:nvPr/>
        </p:nvSpPr>
        <p:spPr>
          <a:xfrm>
            <a:off x="7925376" y="4382813"/>
            <a:ext cx="1135118" cy="641131"/>
          </a:xfrm>
          <a:prstGeom prst="borderCallout1">
            <a:avLst>
              <a:gd name="adj1" fmla="val 18750"/>
              <a:gd name="adj2" fmla="val -8333"/>
              <a:gd name="adj3" fmla="val -17008"/>
              <a:gd name="adj4" fmla="val -97592"/>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阻塞原语</a:t>
            </a:r>
          </a:p>
        </p:txBody>
      </p:sp>
      <p:sp>
        <p:nvSpPr>
          <p:cNvPr id="3" name="标注: 线形 2">
            <a:extLst>
              <a:ext uri="{FF2B5EF4-FFF2-40B4-BE49-F238E27FC236}">
                <a16:creationId xmlns:a16="http://schemas.microsoft.com/office/drawing/2014/main" id="{21ED56A5-8822-D8EF-6502-FECDE4D0B772}"/>
              </a:ext>
            </a:extLst>
          </p:cNvPr>
          <p:cNvSpPr/>
          <p:nvPr/>
        </p:nvSpPr>
        <p:spPr>
          <a:xfrm>
            <a:off x="6564287" y="5227619"/>
            <a:ext cx="1135118" cy="641131"/>
          </a:xfrm>
          <a:prstGeom prst="borderCallout1">
            <a:avLst>
              <a:gd name="adj1" fmla="val 18750"/>
              <a:gd name="adj2" fmla="val -8333"/>
              <a:gd name="adj3" fmla="val -102254"/>
              <a:gd name="adj4" fmla="val -101296"/>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zh-CN" altLang="en-US" dirty="0"/>
              <a:t>唤醒原语</a:t>
            </a:r>
          </a:p>
        </p:txBody>
      </p:sp>
      <p:sp>
        <p:nvSpPr>
          <p:cNvPr id="136" name="标注: 线形 135">
            <a:extLst>
              <a:ext uri="{FF2B5EF4-FFF2-40B4-BE49-F238E27FC236}">
                <a16:creationId xmlns:a16="http://schemas.microsoft.com/office/drawing/2014/main" id="{261984E2-9390-8BDE-A23D-D52285DE2A60}"/>
              </a:ext>
            </a:extLst>
          </p:cNvPr>
          <p:cNvSpPr/>
          <p:nvPr/>
        </p:nvSpPr>
        <p:spPr>
          <a:xfrm>
            <a:off x="9696370" y="1792013"/>
            <a:ext cx="1135118" cy="641131"/>
          </a:xfrm>
          <a:prstGeom prst="borderCallout1">
            <a:avLst>
              <a:gd name="adj1" fmla="val 18750"/>
              <a:gd name="adj2" fmla="val -8333"/>
              <a:gd name="adj3" fmla="val 169877"/>
              <a:gd name="adj4" fmla="val -38333"/>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终止原语</a:t>
            </a:r>
          </a:p>
        </p:txBody>
      </p:sp>
      <p:sp>
        <p:nvSpPr>
          <p:cNvPr id="137" name="标注: 线形 136">
            <a:extLst>
              <a:ext uri="{FF2B5EF4-FFF2-40B4-BE49-F238E27FC236}">
                <a16:creationId xmlns:a16="http://schemas.microsoft.com/office/drawing/2014/main" id="{391A022B-EFB7-7F9A-BA6E-850275FF67D2}"/>
              </a:ext>
            </a:extLst>
          </p:cNvPr>
          <p:cNvSpPr/>
          <p:nvPr/>
        </p:nvSpPr>
        <p:spPr>
          <a:xfrm>
            <a:off x="5996728" y="756744"/>
            <a:ext cx="1135118" cy="641131"/>
          </a:xfrm>
          <a:prstGeom prst="borderCallout1">
            <a:avLst>
              <a:gd name="adj1" fmla="val 18750"/>
              <a:gd name="adj2" fmla="val -8333"/>
              <a:gd name="adj3" fmla="val 96107"/>
              <a:gd name="adj4" fmla="val -93888"/>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zh-CN" altLang="en-US" dirty="0"/>
              <a:t>创建原语</a:t>
            </a:r>
          </a:p>
        </p:txBody>
      </p:sp>
      <p:sp>
        <p:nvSpPr>
          <p:cNvPr id="138" name="标注: 线形 137">
            <a:extLst>
              <a:ext uri="{FF2B5EF4-FFF2-40B4-BE49-F238E27FC236}">
                <a16:creationId xmlns:a16="http://schemas.microsoft.com/office/drawing/2014/main" id="{5C7BCCDF-2BA4-1F61-AE4A-B53DDA58B074}"/>
              </a:ext>
            </a:extLst>
          </p:cNvPr>
          <p:cNvSpPr/>
          <p:nvPr/>
        </p:nvSpPr>
        <p:spPr>
          <a:xfrm flipH="1">
            <a:off x="1272328" y="4703378"/>
            <a:ext cx="1135118" cy="641131"/>
          </a:xfrm>
          <a:prstGeom prst="borderCallout1">
            <a:avLst>
              <a:gd name="adj1" fmla="val 18750"/>
              <a:gd name="adj2" fmla="val -8333"/>
              <a:gd name="adj3" fmla="val 105943"/>
              <a:gd name="adj4" fmla="val -17537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激活原语</a:t>
            </a:r>
          </a:p>
        </p:txBody>
      </p:sp>
      <p:sp>
        <p:nvSpPr>
          <p:cNvPr id="139" name="标注: 线形 138">
            <a:extLst>
              <a:ext uri="{FF2B5EF4-FFF2-40B4-BE49-F238E27FC236}">
                <a16:creationId xmlns:a16="http://schemas.microsoft.com/office/drawing/2014/main" id="{1886680C-0942-CF76-49B5-A91823833640}"/>
              </a:ext>
            </a:extLst>
          </p:cNvPr>
          <p:cNvSpPr/>
          <p:nvPr/>
        </p:nvSpPr>
        <p:spPr>
          <a:xfrm flipH="1">
            <a:off x="1272328" y="3836275"/>
            <a:ext cx="1135118" cy="641131"/>
          </a:xfrm>
          <a:prstGeom prst="borderCallout1">
            <a:avLst>
              <a:gd name="adj1" fmla="val 18750"/>
              <a:gd name="adj2" fmla="val -8333"/>
              <a:gd name="adj3" fmla="val -38319"/>
              <a:gd name="adj4" fmla="val -1800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t>挂起原语</a:t>
            </a:r>
          </a:p>
        </p:txBody>
      </p:sp>
    </p:spTree>
    <p:extLst>
      <p:ext uri="{BB962C8B-B14F-4D97-AF65-F5344CB8AC3E}">
        <p14:creationId xmlns:p14="http://schemas.microsoft.com/office/powerpoint/2010/main" val="256490957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.3.4  </a:t>
            </a:r>
            <a:r>
              <a:rPr lang="zh-CN" altLang="en-US" dirty="0"/>
              <a:t>进程的挂起与激活</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11715" y="1775020"/>
            <a:ext cx="10968990" cy="3007101"/>
          </a:xfrm>
        </p:spPr>
        <p:txBody>
          <a:bodyPr>
            <a:noAutofit/>
          </a:bodyPr>
          <a:lstStyle/>
          <a:p>
            <a:pPr marL="0" indent="0">
              <a:lnSpc>
                <a:spcPct val="150000"/>
              </a:lnSpc>
              <a:buNone/>
            </a:pPr>
            <a:r>
              <a:rPr lang="en-US" altLang="zh-CN" sz="2800" dirty="0"/>
              <a:t>      </a:t>
            </a:r>
            <a:r>
              <a:rPr lang="zh-CN" altLang="zh-CN" sz="2800" dirty="0"/>
              <a:t>当发生激活进程的事件时，例如，父进程或用户进程请求激活指定进程，若该进程驻留在外存而内存中已有足够的空间时，则可将在外存上处于挂起状态的进程换入内存。这时，系统将利用</a:t>
            </a:r>
            <a:r>
              <a:rPr lang="zh-CN" altLang="zh-CN" sz="2800" dirty="0">
                <a:solidFill>
                  <a:srgbClr val="0000FF"/>
                </a:solidFill>
              </a:rPr>
              <a:t>激活原语</a:t>
            </a:r>
            <a:r>
              <a:rPr lang="en-US" altLang="zh-CN" sz="2800" dirty="0">
                <a:solidFill>
                  <a:srgbClr val="0000FF"/>
                </a:solidFill>
              </a:rPr>
              <a:t>active( )</a:t>
            </a:r>
            <a:r>
              <a:rPr lang="zh-CN" altLang="zh-CN" sz="2800" dirty="0"/>
              <a:t>将指定进程激活。</a:t>
            </a:r>
            <a:r>
              <a:rPr lang="en-US" altLang="zh-CN" sz="2800" dirty="0"/>
              <a:t>    </a:t>
            </a:r>
          </a:p>
          <a:p>
            <a:pPr marL="0" indent="0">
              <a:lnSpc>
                <a:spcPct val="150000"/>
              </a:lnSpc>
              <a:buNone/>
            </a:pPr>
            <a:endParaRPr lang="zh-CN" altLang="zh-CN" sz="2800" dirty="0"/>
          </a:p>
        </p:txBody>
      </p:sp>
    </p:spTree>
    <p:custDataLst>
      <p:tags r:id="rId1"/>
    </p:custDataLst>
    <p:extLst>
      <p:ext uri="{BB962C8B-B14F-4D97-AF65-F5344CB8AC3E}">
        <p14:creationId xmlns:p14="http://schemas.microsoft.com/office/powerpoint/2010/main" val="120242319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18CED1-7284-C3C8-2FAE-341E62C84581}"/>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77FD3B15-98BC-18A2-C2FA-F28E06689FBC}"/>
              </a:ext>
            </a:extLst>
          </p:cNvPr>
          <p:cNvSpPr>
            <a:spLocks noGrp="1"/>
          </p:cNvSpPr>
          <p:nvPr>
            <p:ph idx="1"/>
          </p:nvPr>
        </p:nvSpPr>
        <p:spPr/>
        <p:txBody>
          <a:bodyPr>
            <a:normAutofit fontScale="92500"/>
          </a:bodyPr>
          <a:lstStyle/>
          <a:p>
            <a:pPr marL="0" indent="0">
              <a:lnSpc>
                <a:spcPct val="150000"/>
              </a:lnSpc>
              <a:buNone/>
            </a:pPr>
            <a:r>
              <a:rPr lang="en-US" altLang="zh-CN" sz="2800" dirty="0"/>
              <a:t>1</a:t>
            </a:r>
            <a:r>
              <a:rPr lang="zh-CN" altLang="en-US" sz="2800" dirty="0"/>
              <a:t>）</a:t>
            </a:r>
            <a:r>
              <a:rPr lang="zh-CN" altLang="zh-CN" sz="2800" dirty="0"/>
              <a:t>激活原语先将进程从</a:t>
            </a:r>
            <a:r>
              <a:rPr lang="zh-CN" altLang="zh-CN" sz="2800" dirty="0">
                <a:solidFill>
                  <a:srgbClr val="0000FF"/>
                </a:solidFill>
              </a:rPr>
              <a:t>外存调入内存</a:t>
            </a:r>
            <a:r>
              <a:rPr lang="zh-CN" altLang="zh-CN" sz="2800" dirty="0"/>
              <a:t>，检查该进程的现行</a:t>
            </a:r>
            <a:r>
              <a:rPr lang="zh-CN" altLang="zh-CN" sz="2800" dirty="0">
                <a:solidFill>
                  <a:srgbClr val="0000FF"/>
                </a:solidFill>
              </a:rPr>
              <a:t>状态</a:t>
            </a:r>
            <a:r>
              <a:rPr lang="zh-CN" altLang="zh-CN" sz="2800" dirty="0"/>
              <a:t>，若是静止就绪，便将之改为活动就绪；若为静止阻塞便将之改为活动阻塞。</a:t>
            </a:r>
            <a:endParaRPr lang="en-US" altLang="zh-CN" sz="2800" dirty="0"/>
          </a:p>
          <a:p>
            <a:pPr marL="0" indent="0">
              <a:lnSpc>
                <a:spcPct val="150000"/>
              </a:lnSpc>
              <a:buNone/>
            </a:pPr>
            <a:r>
              <a:rPr lang="en-US" altLang="zh-CN" sz="2800" dirty="0"/>
              <a:t>2</a:t>
            </a:r>
            <a:r>
              <a:rPr lang="zh-CN" altLang="en-US" sz="2800" dirty="0"/>
              <a:t>）</a:t>
            </a:r>
            <a:r>
              <a:rPr lang="zh-CN" altLang="zh-CN" sz="2800" dirty="0"/>
              <a:t>假如采用的是抢占调度策略，则每当有新进程进入就绪队列时，应检查是否要进行重新</a:t>
            </a:r>
            <a:r>
              <a:rPr lang="zh-CN" altLang="zh-CN" sz="2800" dirty="0">
                <a:solidFill>
                  <a:srgbClr val="0000FF"/>
                </a:solidFill>
              </a:rPr>
              <a:t>调度</a:t>
            </a:r>
            <a:r>
              <a:rPr lang="zh-CN" altLang="zh-CN" sz="2800" dirty="0"/>
              <a:t>，即由调度程序将被激活进程与当前进程进行优先级的比较，如果被激活进程的优先级更低，就不必重新调度；否则，立即剥夺当前进程的运行，把处理机分配给刚被激活的进程。</a:t>
            </a:r>
            <a:r>
              <a:rPr lang="en-US" altLang="zh-CN" sz="2800" dirty="0"/>
              <a:t> </a:t>
            </a:r>
            <a:endParaRPr lang="zh-CN" altLang="zh-CN" sz="2800" dirty="0"/>
          </a:p>
          <a:p>
            <a:endParaRPr lang="zh-CN" altLang="en-US" sz="2800" dirty="0"/>
          </a:p>
        </p:txBody>
      </p:sp>
    </p:spTree>
    <p:extLst>
      <p:ext uri="{BB962C8B-B14F-4D97-AF65-F5344CB8AC3E}">
        <p14:creationId xmlns:p14="http://schemas.microsoft.com/office/powerpoint/2010/main" val="86602778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71DB4D-5FDF-4ADA-9FF3-F34AAF5C6AED}"/>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CDF66698-D019-495D-AA2A-366FF58FFF14}"/>
              </a:ext>
            </a:extLst>
          </p:cNvPr>
          <p:cNvSpPr>
            <a:spLocks noGrp="1"/>
          </p:cNvSpPr>
          <p:nvPr>
            <p:ph idx="1"/>
          </p:nvPr>
        </p:nvSpPr>
        <p:spPr/>
        <p:txBody>
          <a:bodyPr>
            <a:normAutofit/>
          </a:bodyPr>
          <a:lstStyle/>
          <a:p>
            <a:pPr marL="0" indent="0">
              <a:buNone/>
            </a:pPr>
            <a:r>
              <a:rPr lang="zh-CN" altLang="en-US" sz="2800" dirty="0"/>
              <a:t>进程控制就是对系统中的进程实施有效的管理，通过使用</a:t>
            </a:r>
            <a:r>
              <a:rPr lang="en-US" altLang="zh-CN" sz="2800" dirty="0"/>
              <a:t>_________</a:t>
            </a:r>
            <a:r>
              <a:rPr lang="zh-CN" altLang="en-US" sz="2800" dirty="0"/>
              <a:t>、进程撤消、进程阻塞、进程唤醒等进程控制原语实现。 </a:t>
            </a:r>
          </a:p>
          <a:p>
            <a:pPr marL="0" indent="0">
              <a:buNone/>
            </a:pPr>
            <a:r>
              <a:rPr lang="zh-CN" altLang="en-US" sz="2800" dirty="0"/>
              <a:t> </a:t>
            </a:r>
            <a:r>
              <a:rPr lang="en-US" altLang="zh-CN" sz="2800" dirty="0"/>
              <a:t>A. </a:t>
            </a:r>
            <a:r>
              <a:rPr lang="zh-CN" altLang="en-US" sz="2800" dirty="0"/>
              <a:t>进程运行    </a:t>
            </a:r>
            <a:r>
              <a:rPr lang="en-US" altLang="zh-CN" sz="2800" dirty="0"/>
              <a:t>B</a:t>
            </a:r>
            <a:r>
              <a:rPr lang="zh-CN" altLang="en-US" sz="2800" dirty="0"/>
              <a:t>．进程管理 </a:t>
            </a:r>
          </a:p>
          <a:p>
            <a:pPr marL="0" indent="0">
              <a:buNone/>
            </a:pPr>
            <a:r>
              <a:rPr lang="zh-CN" altLang="en-US" sz="2800" dirty="0"/>
              <a:t> </a:t>
            </a:r>
            <a:r>
              <a:rPr lang="en-US" altLang="zh-CN" sz="2800" dirty="0"/>
              <a:t>C. </a:t>
            </a:r>
            <a:r>
              <a:rPr lang="zh-CN" altLang="en-US" sz="2800" dirty="0"/>
              <a:t>进程创建    </a:t>
            </a:r>
            <a:r>
              <a:rPr lang="en-US" altLang="zh-CN" sz="2800" dirty="0"/>
              <a:t>D</a:t>
            </a:r>
            <a:r>
              <a:rPr lang="zh-CN" altLang="en-US" sz="2800" dirty="0"/>
              <a:t>．进程同步</a:t>
            </a:r>
          </a:p>
        </p:txBody>
      </p:sp>
    </p:spTree>
    <p:extLst>
      <p:ext uri="{BB962C8B-B14F-4D97-AF65-F5344CB8AC3E}">
        <p14:creationId xmlns:p14="http://schemas.microsoft.com/office/powerpoint/2010/main" val="338102183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901D30-DDD8-4D6C-A15F-DCB027CC597D}"/>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FD5982D4-2A99-4F75-9A23-8AE0298A7309}"/>
              </a:ext>
            </a:extLst>
          </p:cNvPr>
          <p:cNvSpPr>
            <a:spLocks noGrp="1"/>
          </p:cNvSpPr>
          <p:nvPr>
            <p:ph idx="1"/>
          </p:nvPr>
        </p:nvSpPr>
        <p:spPr/>
        <p:txBody>
          <a:bodyPr>
            <a:normAutofit/>
          </a:bodyPr>
          <a:lstStyle/>
          <a:p>
            <a:pPr marL="0" indent="0">
              <a:buNone/>
            </a:pPr>
            <a:r>
              <a:rPr lang="en-US" altLang="zh-CN" sz="2800" dirty="0"/>
              <a:t> </a:t>
            </a:r>
            <a:r>
              <a:rPr lang="zh-CN" altLang="en-US" sz="2800" dirty="0"/>
              <a:t>对进程的管理和控制使用</a:t>
            </a:r>
            <a:r>
              <a:rPr lang="en-US" altLang="zh-CN" sz="2800" dirty="0"/>
              <a:t>_________</a:t>
            </a:r>
            <a:r>
              <a:rPr lang="zh-CN" altLang="en-US" sz="2800" dirty="0"/>
              <a:t>。    </a:t>
            </a:r>
          </a:p>
          <a:p>
            <a:pPr marL="0" indent="0">
              <a:buNone/>
            </a:pPr>
            <a:r>
              <a:rPr lang="zh-CN" altLang="en-US" sz="2800" dirty="0"/>
              <a:t> </a:t>
            </a:r>
            <a:r>
              <a:rPr lang="en-US" altLang="zh-CN" sz="2800" dirty="0"/>
              <a:t>A. </a:t>
            </a:r>
            <a:r>
              <a:rPr lang="zh-CN" altLang="en-US" sz="2800" dirty="0"/>
              <a:t>指令    		</a:t>
            </a:r>
            <a:r>
              <a:rPr lang="en-US" altLang="zh-CN" sz="2800" dirty="0"/>
              <a:t>B</a:t>
            </a:r>
            <a:r>
              <a:rPr lang="zh-CN" altLang="en-US" sz="2800" dirty="0"/>
              <a:t>．原语 </a:t>
            </a:r>
          </a:p>
          <a:p>
            <a:pPr marL="0" indent="0">
              <a:buNone/>
            </a:pPr>
            <a:r>
              <a:rPr lang="zh-CN" altLang="en-US" sz="2800" dirty="0"/>
              <a:t> </a:t>
            </a:r>
            <a:r>
              <a:rPr lang="en-US" altLang="zh-CN" sz="2800" dirty="0"/>
              <a:t>C. </a:t>
            </a:r>
            <a:r>
              <a:rPr lang="zh-CN" altLang="en-US" sz="2800" dirty="0"/>
              <a:t>信号量   	</a:t>
            </a:r>
            <a:r>
              <a:rPr lang="en-US" altLang="zh-CN" sz="2800" dirty="0"/>
              <a:t>D</a:t>
            </a:r>
            <a:r>
              <a:rPr lang="zh-CN" altLang="en-US" sz="2800" dirty="0"/>
              <a:t>．信箱通信</a:t>
            </a:r>
          </a:p>
        </p:txBody>
      </p:sp>
    </p:spTree>
    <p:extLst>
      <p:ext uri="{BB962C8B-B14F-4D97-AF65-F5344CB8AC3E}">
        <p14:creationId xmlns:p14="http://schemas.microsoft.com/office/powerpoint/2010/main" val="107650379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76325" y="114300"/>
            <a:ext cx="9387205" cy="705485"/>
          </a:xfrm>
        </p:spPr>
        <p:txBody>
          <a:bodyPr/>
          <a:lstStyle/>
          <a:p>
            <a:pPr algn="ctr"/>
            <a:r>
              <a:rPr lang="en-US" altLang="zh-CN" dirty="0"/>
              <a:t>2.4  </a:t>
            </a:r>
            <a:r>
              <a:rPr lang="zh-CN" altLang="en-US" dirty="0"/>
              <a:t>线程</a:t>
            </a:r>
            <a:endParaRPr lang="en-US" altLang="zh-CN" dirty="0"/>
          </a:p>
        </p:txBody>
      </p:sp>
      <p:sp>
        <p:nvSpPr>
          <p:cNvPr id="3" name="内容占位符 2"/>
          <p:cNvSpPr>
            <a:spLocks noGrp="1"/>
          </p:cNvSpPr>
          <p:nvPr>
            <p:ph idx="1"/>
          </p:nvPr>
        </p:nvSpPr>
        <p:spPr>
          <a:xfrm>
            <a:off x="1849120" y="1432216"/>
            <a:ext cx="6817360" cy="3149943"/>
          </a:xfrm>
        </p:spPr>
        <p:txBody>
          <a:bodyPr>
            <a:normAutofit/>
          </a:bodyPr>
          <a:lstStyle/>
          <a:p>
            <a:pPr>
              <a:buBlip>
                <a:blip r:embed="rId3"/>
              </a:buBlip>
            </a:pPr>
            <a:r>
              <a:rPr lang="en-US" altLang="zh-CN" sz="3200" dirty="0"/>
              <a:t> </a:t>
            </a:r>
            <a:r>
              <a:rPr lang="en-US" altLang="zh-CN" sz="3200" u="dottedHeavy" dirty="0"/>
              <a:t>2</a:t>
            </a:r>
            <a:r>
              <a:rPr lang="en-US" altLang="zh-CN" sz="3200" u="dottedHeavy" dirty="0">
                <a:solidFill>
                  <a:schemeClr val="tx1"/>
                </a:solidFill>
                <a:uFillTx/>
              </a:rPr>
              <a:t>.4.1  </a:t>
            </a:r>
            <a:r>
              <a:rPr lang="zh-CN" altLang="en-US" sz="3200" u="dottedHeavy" dirty="0"/>
              <a:t>线程的引入及基本概念</a:t>
            </a:r>
            <a:endParaRPr sz="3200" u="dottedHeavy" dirty="0">
              <a:solidFill>
                <a:schemeClr val="tx1"/>
              </a:solidFill>
              <a:uFillTx/>
            </a:endParaRPr>
          </a:p>
          <a:p>
            <a:pPr>
              <a:buBlip>
                <a:blip r:embed="rId3"/>
              </a:buBlip>
            </a:pPr>
            <a:r>
              <a:rPr sz="3200" dirty="0"/>
              <a:t> </a:t>
            </a:r>
            <a:r>
              <a:rPr lang="en-US" sz="3200" u="dottedHeavy" dirty="0"/>
              <a:t>2</a:t>
            </a:r>
            <a:r>
              <a:rPr lang="en-US" altLang="zh-CN" sz="3200" u="dottedHeavy" dirty="0"/>
              <a:t>.4.2  </a:t>
            </a:r>
            <a:r>
              <a:rPr lang="zh-CN" altLang="en-US" sz="3200" u="dottedHeavy" dirty="0"/>
              <a:t>线程的管理</a:t>
            </a:r>
            <a:r>
              <a:rPr lang="en-US" altLang="zh-CN" sz="3200" u="dottedHeavy" dirty="0"/>
              <a:t> </a:t>
            </a:r>
          </a:p>
          <a:p>
            <a:pPr>
              <a:buBlip>
                <a:blip r:embed="rId3"/>
              </a:buBlip>
            </a:pPr>
            <a:r>
              <a:rPr lang="zh-CN" altLang="en-US" sz="3200" dirty="0"/>
              <a:t> </a:t>
            </a:r>
            <a:r>
              <a:rPr lang="en-US" altLang="zh-CN" sz="3200" u="dottedHeavy" dirty="0"/>
              <a:t>2.4.3  </a:t>
            </a:r>
            <a:r>
              <a:rPr lang="zh-CN" altLang="en-US" sz="3200" u="dottedHeavy" dirty="0"/>
              <a:t>多线程的实现</a:t>
            </a:r>
            <a:endParaRPr lang="en-US" altLang="zh-CN" sz="3200" u="dottedHeavy" dirty="0"/>
          </a:p>
        </p:txBody>
      </p:sp>
    </p:spTree>
    <p:custDataLst>
      <p:tags r:id="rId1"/>
    </p:custDataLst>
    <p:extLst>
      <p:ext uri="{BB962C8B-B14F-4D97-AF65-F5344CB8AC3E}">
        <p14:creationId xmlns:p14="http://schemas.microsoft.com/office/powerpoint/2010/main" val="326821172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7F9DB-9245-C38F-4AEE-E11DCA518AB8}"/>
              </a:ext>
            </a:extLst>
          </p:cNvPr>
          <p:cNvSpPr>
            <a:spLocks noGrp="1"/>
          </p:cNvSpPr>
          <p:nvPr>
            <p:ph type="title"/>
          </p:nvPr>
        </p:nvSpPr>
        <p:spPr>
          <a:xfrm>
            <a:off x="698022" y="1018259"/>
            <a:ext cx="10969200" cy="705600"/>
          </a:xfrm>
        </p:spPr>
        <p:txBody>
          <a:bodyPr/>
          <a:lstStyle/>
          <a:p>
            <a:r>
              <a:rPr lang="zh-CN" altLang="en-US" dirty="0"/>
              <a:t>课前思考题</a:t>
            </a:r>
          </a:p>
        </p:txBody>
      </p:sp>
      <p:sp>
        <p:nvSpPr>
          <p:cNvPr id="3" name="内容占位符 2">
            <a:extLst>
              <a:ext uri="{FF2B5EF4-FFF2-40B4-BE49-F238E27FC236}">
                <a16:creationId xmlns:a16="http://schemas.microsoft.com/office/drawing/2014/main" id="{FCF70F97-8AFC-2FFA-8599-70D1338A23F4}"/>
              </a:ext>
            </a:extLst>
          </p:cNvPr>
          <p:cNvSpPr>
            <a:spLocks noGrp="1"/>
          </p:cNvSpPr>
          <p:nvPr>
            <p:ph idx="1"/>
          </p:nvPr>
        </p:nvSpPr>
        <p:spPr>
          <a:xfrm>
            <a:off x="1323034" y="2606567"/>
            <a:ext cx="9344966" cy="3054525"/>
          </a:xfrm>
        </p:spPr>
        <p:txBody>
          <a:bodyPr/>
          <a:lstStyle/>
          <a:p>
            <a:pPr marL="0" indent="0">
              <a:buNone/>
            </a:pPr>
            <a:r>
              <a:rPr lang="en-US" altLang="zh-CN" dirty="0"/>
              <a:t>1. </a:t>
            </a:r>
            <a:r>
              <a:rPr lang="zh-CN" altLang="en-US" dirty="0"/>
              <a:t>线程是 “轻量级进程（</a:t>
            </a:r>
            <a:r>
              <a:rPr lang="en-US" altLang="zh-CN" dirty="0"/>
              <a:t>Lightweight Process, LWP</a:t>
            </a:r>
            <a:r>
              <a:rPr lang="zh-CN" altLang="en-US" dirty="0"/>
              <a:t>）”，请具体说明：线程的 “轻量” 体现在哪些方面？ </a:t>
            </a:r>
            <a:endParaRPr lang="en-US" altLang="zh-CN" dirty="0"/>
          </a:p>
          <a:p>
            <a:pPr marL="0" indent="0">
              <a:buNone/>
            </a:pPr>
            <a:r>
              <a:rPr lang="en-US" altLang="zh-CN" dirty="0"/>
              <a:t>2. </a:t>
            </a:r>
            <a:r>
              <a:rPr lang="zh-CN" altLang="en-US" dirty="0"/>
              <a:t>请列举一个 “必须使用多线程” 才能提升性能的实际应用场景（非多线程则无法高效完成）</a:t>
            </a:r>
          </a:p>
        </p:txBody>
      </p:sp>
    </p:spTree>
    <p:extLst>
      <p:ext uri="{BB962C8B-B14F-4D97-AF65-F5344CB8AC3E}">
        <p14:creationId xmlns:p14="http://schemas.microsoft.com/office/powerpoint/2010/main" val="96971844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.4.1  </a:t>
            </a:r>
            <a:r>
              <a:rPr lang="zh-CN" altLang="en-US" dirty="0"/>
              <a:t>线程的引入及基本概念</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509858" y="1250730"/>
            <a:ext cx="10968990" cy="4845269"/>
          </a:xfrm>
        </p:spPr>
        <p:txBody>
          <a:bodyPr>
            <a:noAutofit/>
          </a:bodyPr>
          <a:lstStyle/>
          <a:p>
            <a:pPr marL="0" indent="0">
              <a:lnSpc>
                <a:spcPct val="150000"/>
              </a:lnSpc>
              <a:buNone/>
            </a:pPr>
            <a:r>
              <a:rPr lang="en-US" altLang="zh-CN" dirty="0"/>
              <a:t> </a:t>
            </a:r>
            <a:r>
              <a:rPr lang="en-US" altLang="zh-CN" b="1" dirty="0"/>
              <a:t>1</a:t>
            </a:r>
            <a:r>
              <a:rPr lang="zh-CN" altLang="zh-CN" b="1" dirty="0"/>
              <a:t>．线程的引入</a:t>
            </a:r>
            <a:endParaRPr lang="zh-CN" altLang="zh-CN" dirty="0"/>
          </a:p>
          <a:p>
            <a:pPr marL="0" indent="0">
              <a:lnSpc>
                <a:spcPct val="150000"/>
              </a:lnSpc>
              <a:buNone/>
            </a:pPr>
            <a:r>
              <a:rPr lang="en-US" altLang="zh-CN" dirty="0"/>
              <a:t>    </a:t>
            </a:r>
            <a:r>
              <a:rPr lang="zh-CN" altLang="zh-CN" dirty="0"/>
              <a:t>进程有两个基本属性：</a:t>
            </a:r>
          </a:p>
          <a:p>
            <a:pPr marL="0" indent="0">
              <a:lnSpc>
                <a:spcPct val="150000"/>
              </a:lnSpc>
              <a:buNone/>
            </a:pPr>
            <a:r>
              <a:rPr lang="en-US" altLang="zh-CN" dirty="0"/>
              <a:t>   </a:t>
            </a:r>
            <a:r>
              <a:rPr lang="zh-CN" altLang="zh-CN" dirty="0"/>
              <a:t>（</a:t>
            </a:r>
            <a:r>
              <a:rPr lang="en-US" altLang="zh-CN" dirty="0"/>
              <a:t>1</a:t>
            </a:r>
            <a:r>
              <a:rPr lang="zh-CN" altLang="zh-CN" dirty="0"/>
              <a:t>）资源分配的基本单位。（</a:t>
            </a:r>
            <a:r>
              <a:rPr lang="en-US" altLang="zh-CN" dirty="0"/>
              <a:t>2</a:t>
            </a:r>
            <a:r>
              <a:rPr lang="zh-CN" altLang="zh-CN" dirty="0"/>
              <a:t>）处理机调度的基本单位。</a:t>
            </a:r>
          </a:p>
          <a:p>
            <a:pPr marL="0" indent="0">
              <a:lnSpc>
                <a:spcPct val="150000"/>
              </a:lnSpc>
              <a:buNone/>
            </a:pPr>
            <a:r>
              <a:rPr lang="en-US" altLang="zh-CN" dirty="0"/>
              <a:t>     </a:t>
            </a:r>
            <a:r>
              <a:rPr lang="zh-CN" altLang="zh-CN" dirty="0">
                <a:solidFill>
                  <a:srgbClr val="692B99"/>
                </a:solidFill>
              </a:rPr>
              <a:t>系统不宜设置过多进程，进程切换的频率也不能太高</a:t>
            </a:r>
            <a:r>
              <a:rPr lang="zh-CN" altLang="en-US" dirty="0"/>
              <a:t>，</a:t>
            </a:r>
            <a:r>
              <a:rPr lang="zh-CN" altLang="en-US" dirty="0">
                <a:solidFill>
                  <a:srgbClr val="692B99"/>
                </a:solidFill>
              </a:rPr>
              <a:t>否则系统开销较大</a:t>
            </a:r>
            <a:r>
              <a:rPr lang="zh-CN" altLang="zh-CN" dirty="0"/>
              <a:t>。但这限制了并发程度的进一步提高。</a:t>
            </a:r>
            <a:endParaRPr lang="en-US" altLang="zh-CN" dirty="0"/>
          </a:p>
          <a:p>
            <a:pPr marL="0" indent="0">
              <a:lnSpc>
                <a:spcPct val="150000"/>
              </a:lnSpc>
              <a:buNone/>
            </a:pPr>
            <a:r>
              <a:rPr lang="en-US" altLang="zh-CN" dirty="0"/>
              <a:t>      </a:t>
            </a:r>
            <a:r>
              <a:rPr lang="zh-CN" altLang="zh-CN" dirty="0"/>
              <a:t>那么如何</a:t>
            </a:r>
            <a:r>
              <a:rPr lang="zh-CN" altLang="zh-CN" dirty="0">
                <a:solidFill>
                  <a:srgbClr val="0000FF"/>
                </a:solidFill>
              </a:rPr>
              <a:t>既能提高程序的并发程度，又能减少操作系统的开销</a:t>
            </a:r>
            <a:r>
              <a:rPr lang="zh-CN" altLang="zh-CN" dirty="0"/>
              <a:t>呢？</a:t>
            </a:r>
          </a:p>
          <a:p>
            <a:pPr marL="0" indent="0">
              <a:lnSpc>
                <a:spcPct val="150000"/>
              </a:lnSpc>
              <a:buNone/>
            </a:pPr>
            <a:endParaRPr lang="zh-CN" altLang="zh-CN" dirty="0"/>
          </a:p>
        </p:txBody>
      </p:sp>
    </p:spTree>
    <p:custDataLst>
      <p:tags r:id="rId1"/>
    </p:custDataLst>
    <p:extLst>
      <p:ext uri="{BB962C8B-B14F-4D97-AF65-F5344CB8AC3E}">
        <p14:creationId xmlns:p14="http://schemas.microsoft.com/office/powerpoint/2010/main" val="22580489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.4.1  </a:t>
            </a:r>
            <a:r>
              <a:rPr lang="zh-CN" altLang="en-US" dirty="0"/>
              <a:t>线程的引入及基本概念</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572817" y="1317171"/>
            <a:ext cx="11352857" cy="5040085"/>
          </a:xfrm>
        </p:spPr>
        <p:txBody>
          <a:bodyPr>
            <a:noAutofit/>
          </a:bodyPr>
          <a:lstStyle/>
          <a:p>
            <a:pPr marL="0" indent="0">
              <a:lnSpc>
                <a:spcPct val="150000"/>
              </a:lnSpc>
              <a:buNone/>
            </a:pPr>
            <a:r>
              <a:rPr lang="en-US" altLang="zh-CN" dirty="0"/>
              <a:t>      </a:t>
            </a:r>
            <a:r>
              <a:rPr lang="en-US" altLang="zh-CN" b="1" dirty="0"/>
              <a:t>2</a:t>
            </a:r>
            <a:r>
              <a:rPr lang="zh-CN" altLang="zh-CN" b="1" dirty="0"/>
              <a:t>．线程的</a:t>
            </a:r>
            <a:r>
              <a:rPr lang="zh-CN" altLang="en-US" b="1" dirty="0"/>
              <a:t>基本概念</a:t>
            </a:r>
            <a:endParaRPr lang="zh-CN" altLang="zh-CN" dirty="0"/>
          </a:p>
          <a:p>
            <a:pPr marL="0" indent="0">
              <a:lnSpc>
                <a:spcPct val="150000"/>
              </a:lnSpc>
              <a:buNone/>
            </a:pPr>
            <a:r>
              <a:rPr lang="en-US" altLang="zh-CN" dirty="0"/>
              <a:t>      </a:t>
            </a:r>
            <a:r>
              <a:rPr lang="zh-CN" altLang="zh-CN" b="1" dirty="0">
                <a:solidFill>
                  <a:srgbClr val="FF0000"/>
                </a:solidFill>
              </a:rPr>
              <a:t>线程</a:t>
            </a:r>
            <a:r>
              <a:rPr lang="zh-CN" altLang="zh-CN" dirty="0">
                <a:solidFill>
                  <a:srgbClr val="FF0000"/>
                </a:solidFill>
              </a:rPr>
              <a:t>是进程内的一个相对独立的、可独立调度和指派的执行单元。</a:t>
            </a:r>
            <a:r>
              <a:rPr lang="zh-CN" altLang="zh-CN" dirty="0"/>
              <a:t>有些操作系统中，将线程叫</a:t>
            </a:r>
            <a:r>
              <a:rPr lang="zh-CN" altLang="zh-CN" dirty="0">
                <a:solidFill>
                  <a:srgbClr val="FF0000"/>
                </a:solidFill>
              </a:rPr>
              <a:t>轻型进程</a:t>
            </a:r>
            <a:r>
              <a:rPr lang="zh-CN" altLang="zh-CN" dirty="0"/>
              <a:t>（</a:t>
            </a:r>
            <a:r>
              <a:rPr lang="en-US" altLang="zh-CN" dirty="0"/>
              <a:t>Light-weight Process</a:t>
            </a:r>
            <a:r>
              <a:rPr lang="zh-CN" altLang="zh-CN" dirty="0"/>
              <a:t>）；而把传统的进程叫重型进程（</a:t>
            </a:r>
            <a:r>
              <a:rPr lang="en-US" altLang="zh-CN" dirty="0"/>
              <a:t>Heavy-weight Process</a:t>
            </a:r>
            <a:r>
              <a:rPr lang="zh-CN" altLang="zh-CN" dirty="0"/>
              <a:t>）。</a:t>
            </a:r>
            <a:endParaRPr lang="en-US" altLang="zh-CN" dirty="0"/>
          </a:p>
          <a:p>
            <a:pPr marL="0" indent="0">
              <a:lnSpc>
                <a:spcPct val="150000"/>
              </a:lnSpc>
              <a:buNone/>
            </a:pPr>
            <a:endParaRPr lang="zh-CN" altLang="zh-CN" dirty="0"/>
          </a:p>
        </p:txBody>
      </p:sp>
    </p:spTree>
    <p:custDataLst>
      <p:tags r:id="rId1"/>
    </p:custDataLst>
    <p:extLst>
      <p:ext uri="{BB962C8B-B14F-4D97-AF65-F5344CB8AC3E}">
        <p14:creationId xmlns:p14="http://schemas.microsoft.com/office/powerpoint/2010/main" val="357968612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CC990-AF30-B160-0806-A77F77267ED8}"/>
              </a:ext>
            </a:extLst>
          </p:cNvPr>
          <p:cNvSpPr>
            <a:spLocks noGrp="1"/>
          </p:cNvSpPr>
          <p:nvPr>
            <p:ph type="title"/>
          </p:nvPr>
        </p:nvSpPr>
        <p:spPr/>
        <p:txBody>
          <a:bodyPr/>
          <a:lstStyle/>
          <a:p>
            <a:r>
              <a:rPr lang="zh-CN" altLang="en-US"/>
              <a:t>多线程例</a:t>
            </a:r>
            <a:endParaRPr lang="zh-CN" altLang="en-US" dirty="0"/>
          </a:p>
        </p:txBody>
      </p:sp>
      <p:pic>
        <p:nvPicPr>
          <p:cNvPr id="5" name="内容占位符 4">
            <a:extLst>
              <a:ext uri="{FF2B5EF4-FFF2-40B4-BE49-F238E27FC236}">
                <a16:creationId xmlns:a16="http://schemas.microsoft.com/office/drawing/2014/main" id="{7811920E-B90B-45C6-1B4C-4AC4D6DC6971}"/>
              </a:ext>
            </a:extLst>
          </p:cNvPr>
          <p:cNvPicPr>
            <a:picLocks noGrp="1" noChangeAspect="1"/>
          </p:cNvPicPr>
          <p:nvPr>
            <p:ph idx="1"/>
          </p:nvPr>
        </p:nvPicPr>
        <p:blipFill>
          <a:blip r:embed="rId3"/>
          <a:stretch>
            <a:fillRect/>
          </a:stretch>
        </p:blipFill>
        <p:spPr>
          <a:xfrm>
            <a:off x="1278906" y="1227138"/>
            <a:ext cx="9627839" cy="5022850"/>
          </a:xfrm>
        </p:spPr>
      </p:pic>
    </p:spTree>
    <p:extLst>
      <p:ext uri="{BB962C8B-B14F-4D97-AF65-F5344CB8AC3E}">
        <p14:creationId xmlns:p14="http://schemas.microsoft.com/office/powerpoint/2010/main" val="371069176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ACAE9-43F4-9EBE-C094-167B42D7C1E4}"/>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D8EA9BEB-E8BD-3966-FFC0-6E74DCD2CF23}"/>
              </a:ext>
            </a:extLst>
          </p:cNvPr>
          <p:cNvSpPr>
            <a:spLocks noGrp="1"/>
          </p:cNvSpPr>
          <p:nvPr>
            <p:ph idx="1"/>
          </p:nvPr>
        </p:nvSpPr>
        <p:spPr/>
        <p:txBody>
          <a:bodyPr>
            <a:normAutofit/>
          </a:bodyPr>
          <a:lstStyle/>
          <a:p>
            <a:pPr marL="0" indent="0">
              <a:buNone/>
            </a:pPr>
            <a:r>
              <a:rPr lang="en-US" altLang="zh-CN" dirty="0"/>
              <a:t> </a:t>
            </a:r>
            <a:r>
              <a:rPr lang="zh-CN" altLang="zh-CN" dirty="0"/>
              <a:t>根据线程概念可知，线程具有以下性质：</a:t>
            </a:r>
            <a:r>
              <a:rPr lang="en-US" altLang="zh-CN" dirty="0"/>
              <a:t> </a:t>
            </a:r>
            <a:endParaRPr lang="zh-CN" altLang="zh-CN" dirty="0"/>
          </a:p>
          <a:p>
            <a:pPr marL="0" indent="0">
              <a:buNone/>
            </a:pPr>
            <a:r>
              <a:rPr lang="zh-CN" altLang="zh-CN" dirty="0"/>
              <a:t>（</a:t>
            </a:r>
            <a:r>
              <a:rPr lang="en-US" altLang="zh-CN" dirty="0"/>
              <a:t>1</a:t>
            </a:r>
            <a:r>
              <a:rPr lang="zh-CN" altLang="zh-CN" dirty="0"/>
              <a:t>）线程是进程内的一个相对独立的</a:t>
            </a:r>
            <a:r>
              <a:rPr lang="zh-CN" altLang="zh-CN" dirty="0">
                <a:solidFill>
                  <a:srgbClr val="0000FF"/>
                </a:solidFill>
              </a:rPr>
              <a:t>可执行单元</a:t>
            </a:r>
            <a:r>
              <a:rPr lang="zh-CN" altLang="zh-CN" dirty="0"/>
              <a:t>。</a:t>
            </a:r>
            <a:r>
              <a:rPr lang="en-US" altLang="zh-CN" dirty="0"/>
              <a:t> </a:t>
            </a:r>
            <a:endParaRPr lang="zh-CN" altLang="zh-CN" dirty="0"/>
          </a:p>
          <a:p>
            <a:pPr marL="0" indent="0">
              <a:buNone/>
            </a:pPr>
            <a:r>
              <a:rPr lang="zh-CN" altLang="zh-CN" dirty="0"/>
              <a:t>（</a:t>
            </a:r>
            <a:r>
              <a:rPr lang="en-US" altLang="zh-CN" dirty="0"/>
              <a:t>2</a:t>
            </a:r>
            <a:r>
              <a:rPr lang="zh-CN" altLang="zh-CN" dirty="0"/>
              <a:t>）线程是操作系统中的</a:t>
            </a:r>
            <a:r>
              <a:rPr lang="zh-CN" altLang="zh-CN" dirty="0">
                <a:solidFill>
                  <a:srgbClr val="0000FF"/>
                </a:solidFill>
              </a:rPr>
              <a:t>基本调度单元</a:t>
            </a:r>
            <a:r>
              <a:rPr lang="zh-CN" altLang="zh-CN" dirty="0"/>
              <a:t>。</a:t>
            </a:r>
          </a:p>
          <a:p>
            <a:pPr marL="0" indent="0">
              <a:buNone/>
            </a:pPr>
            <a:r>
              <a:rPr lang="zh-CN" altLang="zh-CN" dirty="0"/>
              <a:t>（</a:t>
            </a:r>
            <a:r>
              <a:rPr lang="en-US" altLang="zh-CN" dirty="0"/>
              <a:t>3</a:t>
            </a:r>
            <a:r>
              <a:rPr lang="zh-CN" altLang="zh-CN" dirty="0"/>
              <a:t>）</a:t>
            </a:r>
            <a:r>
              <a:rPr lang="zh-CN" altLang="zh-CN" dirty="0">
                <a:solidFill>
                  <a:srgbClr val="0000FF"/>
                </a:solidFill>
              </a:rPr>
              <a:t>一个进程中至少应有一个线程</a:t>
            </a:r>
            <a:r>
              <a:rPr lang="zh-CN" altLang="zh-CN" dirty="0"/>
              <a:t>。</a:t>
            </a:r>
          </a:p>
          <a:p>
            <a:pPr marL="0" indent="0">
              <a:buNone/>
            </a:pPr>
            <a:r>
              <a:rPr lang="zh-CN" altLang="zh-CN" dirty="0"/>
              <a:t>（</a:t>
            </a:r>
            <a:r>
              <a:rPr lang="en-US" altLang="zh-CN" dirty="0"/>
              <a:t>4</a:t>
            </a:r>
            <a:r>
              <a:rPr lang="zh-CN" altLang="zh-CN" dirty="0"/>
              <a:t>）</a:t>
            </a:r>
            <a:r>
              <a:rPr lang="zh-CN" altLang="zh-CN" dirty="0">
                <a:solidFill>
                  <a:srgbClr val="0000FF"/>
                </a:solidFill>
              </a:rPr>
              <a:t>线程并不拥有资源</a:t>
            </a:r>
            <a:r>
              <a:rPr lang="zh-CN" altLang="zh-CN" dirty="0"/>
              <a:t>，而是共享和使用包含它的进程所拥有的全部资源。</a:t>
            </a:r>
            <a:r>
              <a:rPr lang="en-US" altLang="zh-CN" dirty="0"/>
              <a:t> </a:t>
            </a:r>
            <a:endParaRPr lang="zh-CN" altLang="zh-CN" dirty="0"/>
          </a:p>
          <a:p>
            <a:pPr marL="0" indent="0">
              <a:buNone/>
            </a:pPr>
            <a:r>
              <a:rPr lang="zh-CN" altLang="zh-CN" dirty="0"/>
              <a:t>（</a:t>
            </a:r>
            <a:r>
              <a:rPr lang="en-US" altLang="zh-CN" dirty="0"/>
              <a:t>5</a:t>
            </a:r>
            <a:r>
              <a:rPr lang="zh-CN" altLang="zh-CN" dirty="0"/>
              <a:t>）线程在需要时也可创建其他线程。</a:t>
            </a:r>
            <a:r>
              <a:rPr lang="en-US" altLang="zh-CN" dirty="0"/>
              <a:t> </a:t>
            </a:r>
            <a:endParaRPr lang="zh-CN" altLang="en-US" dirty="0"/>
          </a:p>
        </p:txBody>
      </p:sp>
    </p:spTree>
    <p:extLst>
      <p:ext uri="{BB962C8B-B14F-4D97-AF65-F5344CB8AC3E}">
        <p14:creationId xmlns:p14="http://schemas.microsoft.com/office/powerpoint/2010/main" val="2018433570"/>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页脚占位符 3"/>
          <p:cNvSpPr>
            <a:spLocks noGrp="1"/>
          </p:cNvSpPr>
          <p:nvPr>
            <p:ph type="ftr" sz="quarter" idx="10"/>
          </p:nvPr>
        </p:nvSpPr>
        <p:spPr bwMode="auto">
          <a:xfrm>
            <a:off x="0" y="6553200"/>
            <a:ext cx="9144000" cy="304800"/>
          </a:xfrm>
          <a:prstGeom prst="rect">
            <a:avLst/>
          </a:prstGeom>
          <a:solidFill>
            <a:srgbClr val="A31203"/>
          </a:solid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zh-CN"/>
            </a:defPPr>
            <a:lvl1pPr algn="ctr" rtl="0" fontAlgn="base">
              <a:spcBef>
                <a:spcPct val="0"/>
              </a:spcBef>
              <a:spcAft>
                <a:spcPct val="0"/>
              </a:spcAft>
              <a:defRPr kumimoji="0" sz="1400" kern="1200">
                <a:solidFill>
                  <a:schemeClr val="tx1"/>
                </a:solidFill>
                <a:latin typeface="Tahoma" pitchFamily="34"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a:lstStyle>
          <a:p>
            <a:endParaRPr lang="en-US" altLang="zh-CN"/>
          </a:p>
        </p:txBody>
      </p:sp>
      <p:sp>
        <p:nvSpPr>
          <p:cNvPr id="240643" name="灯片编号占位符 4"/>
          <p:cNvSpPr>
            <a:spLocks noGrp="1"/>
          </p:cNvSpPr>
          <p:nvPr>
            <p:ph type="sldNum" sz="quarter" idx="11"/>
          </p:nvPr>
        </p:nvSpPr>
        <p:spPr bwMode="auto">
          <a:xfrm>
            <a:off x="69342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zh-CN"/>
            </a:defPPr>
            <a:lvl1pPr algn="r" rtl="0" fontAlgn="base">
              <a:spcBef>
                <a:spcPct val="0"/>
              </a:spcBef>
              <a:spcAft>
                <a:spcPct val="0"/>
              </a:spcAft>
              <a:defRPr kumimoji="0" sz="1400" kern="1200">
                <a:solidFill>
                  <a:schemeClr val="bg1"/>
                </a:solidFill>
                <a:latin typeface="Times New Roman" pitchFamily="18"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a:lstStyle>
          <a:p>
            <a:pPr>
              <a:defRPr/>
            </a:pPr>
            <a:r>
              <a:rPr lang="en-US" altLang="zh-CN"/>
              <a:t>Page </a:t>
            </a:r>
            <a:fld id="{F2330D9E-31CC-4C05-A950-A5ACA2348F28}" type="slidenum">
              <a:rPr lang="en-US" altLang="zh-CN" smtClean="0"/>
              <a:pPr>
                <a:defRPr/>
              </a:pPr>
              <a:t>60</a:t>
            </a:fld>
            <a:endParaRPr lang="en-US" altLang="zh-CN"/>
          </a:p>
        </p:txBody>
      </p:sp>
      <p:sp>
        <p:nvSpPr>
          <p:cNvPr id="240644" name="日期占位符 5"/>
          <p:cNvSpPr>
            <a:spLocks noGrp="1"/>
          </p:cNvSpPr>
          <p:nvPr>
            <p:ph type="dt" sz="quarter" idx="12"/>
          </p:nvPr>
        </p:nvSpPr>
        <p:spPr>
          <a:noFill/>
        </p:spPr>
        <p:txBody>
          <a:bodyPr/>
          <a:lstStyle/>
          <a:p>
            <a:fld id="{C3E3582F-4A90-4085-91C9-91B8141542AB}" type="datetime1">
              <a:rPr lang="zh-CN" altLang="en-US" smtClean="0"/>
              <a:pPr/>
              <a:t>2025/10/8</a:t>
            </a:fld>
            <a:endParaRPr lang="en-US" altLang="zh-CN"/>
          </a:p>
        </p:txBody>
      </p:sp>
      <p:sp>
        <p:nvSpPr>
          <p:cNvPr id="333826" name="Rectangle 2"/>
          <p:cNvSpPr>
            <a:spLocks noGrp="1" noChangeArrowheads="1"/>
          </p:cNvSpPr>
          <p:nvPr>
            <p:ph type="title"/>
          </p:nvPr>
        </p:nvSpPr>
        <p:spPr/>
        <p:txBody>
          <a:bodyPr/>
          <a:lstStyle/>
          <a:p>
            <a:pPr eaLnBrk="1" hangingPunct="1">
              <a:defRPr/>
            </a:pPr>
            <a:r>
              <a:rPr lang="zh-CN" altLang="en-US" b="1"/>
              <a:t>线程的基本概念</a:t>
            </a:r>
          </a:p>
        </p:txBody>
      </p:sp>
      <p:sp>
        <p:nvSpPr>
          <p:cNvPr id="240646" name="Rectangle 3"/>
          <p:cNvSpPr>
            <a:spLocks noGrp="1" noChangeArrowheads="1"/>
          </p:cNvSpPr>
          <p:nvPr>
            <p:ph type="body" idx="1"/>
          </p:nvPr>
        </p:nvSpPr>
        <p:spPr>
          <a:xfrm>
            <a:off x="608330" y="1227455"/>
            <a:ext cx="10968990" cy="2114459"/>
          </a:xfrm>
        </p:spPr>
        <p:txBody>
          <a:bodyPr/>
          <a:lstStyle/>
          <a:p>
            <a:pPr eaLnBrk="1" hangingPunct="1">
              <a:lnSpc>
                <a:spcPct val="90000"/>
              </a:lnSpc>
            </a:pPr>
            <a:r>
              <a:rPr lang="zh-CN" altLang="en-US" sz="3200" b="1" dirty="0">
                <a:latin typeface="Times New Roman" pitchFamily="18" charset="0"/>
              </a:rPr>
              <a:t>具有线程的</a:t>
            </a:r>
            <a:r>
              <a:rPr lang="en-US" altLang="zh-CN" sz="3200" b="1" dirty="0">
                <a:latin typeface="Times New Roman" pitchFamily="18" charset="0"/>
              </a:rPr>
              <a:t>OS</a:t>
            </a:r>
            <a:r>
              <a:rPr lang="zh-CN" altLang="en-US" sz="3200" b="1" dirty="0">
                <a:latin typeface="Times New Roman" pitchFamily="18" charset="0"/>
              </a:rPr>
              <a:t>中，其进程</a:t>
            </a:r>
          </a:p>
          <a:p>
            <a:pPr lvl="1" eaLnBrk="1" hangingPunct="1">
              <a:spcBef>
                <a:spcPct val="30000"/>
              </a:spcBef>
            </a:pPr>
            <a:r>
              <a:rPr lang="zh-CN" altLang="en-US" sz="2800" b="1" dirty="0">
                <a:latin typeface="Times New Roman" pitchFamily="18" charset="0"/>
              </a:rPr>
              <a:t>是作为</a:t>
            </a:r>
            <a:r>
              <a:rPr lang="zh-CN" altLang="en-US" sz="2800" b="1" dirty="0">
                <a:solidFill>
                  <a:srgbClr val="0000FF"/>
                </a:solidFill>
                <a:latin typeface="Times New Roman" pitchFamily="18" charset="0"/>
              </a:rPr>
              <a:t>拥有系统资源的基本单位</a:t>
            </a:r>
            <a:r>
              <a:rPr lang="zh-CN" altLang="en-US" sz="2800" b="1" dirty="0">
                <a:latin typeface="Times New Roman" pitchFamily="18" charset="0"/>
              </a:rPr>
              <a:t>， 但</a:t>
            </a:r>
            <a:r>
              <a:rPr lang="zh-CN" altLang="en-US" sz="2800" b="1" dirty="0">
                <a:solidFill>
                  <a:srgbClr val="0000FF"/>
                </a:solidFill>
                <a:latin typeface="Times New Roman" pitchFamily="18" charset="0"/>
              </a:rPr>
              <a:t>不再作为一个执行的实体</a:t>
            </a:r>
            <a:r>
              <a:rPr lang="zh-CN" altLang="en-US" sz="2800" b="1" dirty="0">
                <a:latin typeface="Times New Roman" pitchFamily="18" charset="0"/>
              </a:rPr>
              <a:t>。  </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页脚占位符 3"/>
          <p:cNvSpPr>
            <a:spLocks noGrp="1"/>
          </p:cNvSpPr>
          <p:nvPr>
            <p:ph type="ftr" sz="quarter" idx="10"/>
          </p:nvPr>
        </p:nvSpPr>
        <p:spPr bwMode="auto">
          <a:xfrm>
            <a:off x="0" y="6553200"/>
            <a:ext cx="9144000" cy="304800"/>
          </a:xfrm>
          <a:prstGeom prst="rect">
            <a:avLst/>
          </a:prstGeom>
          <a:solidFill>
            <a:srgbClr val="A31203"/>
          </a:solid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zh-CN"/>
            </a:defPPr>
            <a:lvl1pPr algn="ctr" rtl="0" fontAlgn="base">
              <a:spcBef>
                <a:spcPct val="0"/>
              </a:spcBef>
              <a:spcAft>
                <a:spcPct val="0"/>
              </a:spcAft>
              <a:defRPr kumimoji="0" sz="1400" kern="1200">
                <a:solidFill>
                  <a:schemeClr val="tx1"/>
                </a:solidFill>
                <a:latin typeface="Tahoma" pitchFamily="34"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a:lstStyle>
          <a:p>
            <a:endParaRPr lang="en-US" altLang="zh-CN"/>
          </a:p>
        </p:txBody>
      </p:sp>
      <p:sp>
        <p:nvSpPr>
          <p:cNvPr id="241667" name="灯片编号占位符 4"/>
          <p:cNvSpPr>
            <a:spLocks noGrp="1"/>
          </p:cNvSpPr>
          <p:nvPr>
            <p:ph type="sldNum" sz="quarter" idx="11"/>
          </p:nvPr>
        </p:nvSpPr>
        <p:spPr bwMode="auto">
          <a:xfrm>
            <a:off x="6934200" y="6477000"/>
            <a:ext cx="19050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zh-CN"/>
            </a:defPPr>
            <a:lvl1pPr algn="r" rtl="0" fontAlgn="base">
              <a:spcBef>
                <a:spcPct val="0"/>
              </a:spcBef>
              <a:spcAft>
                <a:spcPct val="0"/>
              </a:spcAft>
              <a:defRPr kumimoji="0" sz="1400" kern="1200">
                <a:solidFill>
                  <a:schemeClr val="bg1"/>
                </a:solidFill>
                <a:latin typeface="Times New Roman" pitchFamily="18" charset="0"/>
                <a:ea typeface="宋体" pitchFamily="2" charset="-122"/>
                <a:cs typeface="+mn-cs"/>
              </a:defRPr>
            </a:lvl1pPr>
            <a:lvl2pPr marL="457200" algn="ctr"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ctr"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ctr"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ctr"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a:lstStyle>
          <a:p>
            <a:pPr>
              <a:defRPr/>
            </a:pPr>
            <a:r>
              <a:rPr lang="en-US" altLang="zh-CN"/>
              <a:t>Page </a:t>
            </a:r>
            <a:fld id="{F2330D9E-31CC-4C05-A950-A5ACA2348F28}" type="slidenum">
              <a:rPr lang="en-US" altLang="zh-CN" smtClean="0"/>
              <a:pPr>
                <a:defRPr/>
              </a:pPr>
              <a:t>61</a:t>
            </a:fld>
            <a:endParaRPr lang="en-US" altLang="zh-CN"/>
          </a:p>
        </p:txBody>
      </p:sp>
      <p:sp>
        <p:nvSpPr>
          <p:cNvPr id="241668" name="日期占位符 5"/>
          <p:cNvSpPr>
            <a:spLocks noGrp="1"/>
          </p:cNvSpPr>
          <p:nvPr>
            <p:ph type="dt" sz="quarter" idx="12"/>
          </p:nvPr>
        </p:nvSpPr>
        <p:spPr>
          <a:noFill/>
        </p:spPr>
        <p:txBody>
          <a:bodyPr/>
          <a:lstStyle/>
          <a:p>
            <a:fld id="{B88484AA-76FC-4F19-9F90-D4C089EEE282}" type="datetime1">
              <a:rPr lang="zh-CN" altLang="en-US" smtClean="0"/>
              <a:pPr/>
              <a:t>2025/10/8</a:t>
            </a:fld>
            <a:endParaRPr lang="en-US" altLang="zh-CN"/>
          </a:p>
        </p:txBody>
      </p:sp>
      <p:sp>
        <p:nvSpPr>
          <p:cNvPr id="374786" name="Rectangle 2"/>
          <p:cNvSpPr>
            <a:spLocks noGrp="1" noChangeArrowheads="1"/>
          </p:cNvSpPr>
          <p:nvPr>
            <p:ph type="title"/>
          </p:nvPr>
        </p:nvSpPr>
        <p:spPr/>
        <p:txBody>
          <a:bodyPr/>
          <a:lstStyle/>
          <a:p>
            <a:pPr eaLnBrk="1" hangingPunct="1">
              <a:defRPr/>
            </a:pPr>
            <a:r>
              <a:rPr lang="zh-CN" altLang="en-US" b="1"/>
              <a:t>线程的基本概念</a:t>
            </a:r>
          </a:p>
        </p:txBody>
      </p:sp>
      <p:sp>
        <p:nvSpPr>
          <p:cNvPr id="241670" name="Rectangle 3"/>
          <p:cNvSpPr>
            <a:spLocks noGrp="1" noChangeArrowheads="1"/>
          </p:cNvSpPr>
          <p:nvPr>
            <p:ph type="body" idx="1"/>
          </p:nvPr>
        </p:nvSpPr>
        <p:spPr/>
        <p:txBody>
          <a:bodyPr>
            <a:normAutofit/>
          </a:bodyPr>
          <a:lstStyle/>
          <a:p>
            <a:r>
              <a:rPr lang="zh-CN" altLang="en-US" sz="3200" b="1" dirty="0">
                <a:latin typeface="宋体" panose="02010600030101010101" pitchFamily="2" charset="-122"/>
                <a:ea typeface="宋体" panose="02010600030101010101" pitchFamily="2" charset="-122"/>
              </a:rPr>
              <a:t>线程与进程的比较</a:t>
            </a:r>
          </a:p>
          <a:p>
            <a:pPr lvl="1" algn="just" eaLnBrk="1" hangingPunct="1">
              <a:lnSpc>
                <a:spcPct val="115000"/>
              </a:lnSpc>
            </a:pPr>
            <a:r>
              <a:rPr lang="zh-CN" altLang="en-US" sz="2800" b="1" dirty="0">
                <a:solidFill>
                  <a:srgbClr val="0000FF"/>
                </a:solidFill>
                <a:latin typeface="宋体" panose="02010600030101010101" pitchFamily="2" charset="-122"/>
                <a:ea typeface="宋体" panose="02010600030101010101" pitchFamily="2" charset="-122"/>
              </a:rPr>
              <a:t>调度</a:t>
            </a:r>
            <a:r>
              <a:rPr lang="zh-CN" altLang="en-US" sz="2800" b="1" dirty="0">
                <a:latin typeface="宋体" panose="02010600030101010101" pitchFamily="2" charset="-122"/>
                <a:ea typeface="宋体" panose="02010600030101010101" pitchFamily="2" charset="-122"/>
              </a:rPr>
              <a:t>：线程作为调度的基本单位，同进程中线程切换不引起进程切换，当不同进程的线程切换才引起进程切换；进程作为拥有资源的基本单位。</a:t>
            </a:r>
          </a:p>
          <a:p>
            <a:pPr lvl="1" algn="just" eaLnBrk="1" hangingPunct="1">
              <a:lnSpc>
                <a:spcPct val="115000"/>
              </a:lnSpc>
            </a:pPr>
            <a:r>
              <a:rPr lang="zh-CN" altLang="en-US" sz="2800" b="1" dirty="0">
                <a:solidFill>
                  <a:srgbClr val="0000FF"/>
                </a:solidFill>
                <a:latin typeface="宋体" panose="02010600030101010101" pitchFamily="2" charset="-122"/>
                <a:ea typeface="宋体" panose="02010600030101010101" pitchFamily="2" charset="-122"/>
              </a:rPr>
              <a:t>并发性</a:t>
            </a:r>
            <a:r>
              <a:rPr lang="zh-CN" altLang="en-US" sz="2800" b="1" dirty="0">
                <a:latin typeface="宋体" panose="02010600030101010101" pitchFamily="2" charset="-122"/>
                <a:ea typeface="宋体" panose="02010600030101010101" pitchFamily="2" charset="-122"/>
              </a:rPr>
              <a:t>：一个进程间的多个线程可并发。 </a:t>
            </a:r>
          </a:p>
          <a:p>
            <a:pPr lvl="1" algn="just" eaLnBrk="1" hangingPunct="1">
              <a:lnSpc>
                <a:spcPct val="115000"/>
              </a:lnSpc>
            </a:pPr>
            <a:r>
              <a:rPr lang="zh-CN" altLang="en-US" sz="2800" b="1" dirty="0">
                <a:solidFill>
                  <a:srgbClr val="0000FF"/>
                </a:solidFill>
                <a:latin typeface="宋体" panose="02010600030101010101" pitchFamily="2" charset="-122"/>
                <a:ea typeface="宋体" panose="02010600030101010101" pitchFamily="2" charset="-122"/>
              </a:rPr>
              <a:t>拥有资源</a:t>
            </a:r>
            <a:r>
              <a:rPr lang="zh-CN" altLang="en-US" sz="2800" b="1" dirty="0">
                <a:latin typeface="宋体" panose="02010600030101010101" pitchFamily="2" charset="-122"/>
                <a:ea typeface="宋体" panose="02010600030101010101" pitchFamily="2" charset="-122"/>
              </a:rPr>
              <a:t>：线程仅拥有隶属进程的资源；进程是拥有资源的独立单位。 </a:t>
            </a:r>
          </a:p>
          <a:p>
            <a:pPr lvl="1" algn="just" eaLnBrk="1" hangingPunct="1">
              <a:lnSpc>
                <a:spcPct val="115000"/>
              </a:lnSpc>
            </a:pPr>
            <a:r>
              <a:rPr lang="zh-CN" altLang="en-US" sz="2800" b="1" dirty="0">
                <a:solidFill>
                  <a:srgbClr val="0000FF"/>
                </a:solidFill>
                <a:latin typeface="宋体" panose="02010600030101010101" pitchFamily="2" charset="-122"/>
                <a:ea typeface="宋体" panose="02010600030101010101" pitchFamily="2" charset="-122"/>
              </a:rPr>
              <a:t>系统开销</a:t>
            </a:r>
            <a:r>
              <a:rPr lang="zh-CN" altLang="en-US" sz="2800" b="1" dirty="0">
                <a:latin typeface="宋体" panose="02010600030101010101" pitchFamily="2" charset="-122"/>
                <a:ea typeface="宋体" panose="02010600030101010101" pitchFamily="2" charset="-122"/>
              </a:rPr>
              <a:t>：进程大；线程小。</a:t>
            </a:r>
          </a:p>
        </p:txBody>
      </p:sp>
    </p:spTree>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.4.2  </a:t>
            </a:r>
            <a:r>
              <a:rPr lang="zh-CN" altLang="en-US" dirty="0"/>
              <a:t>线程的管理</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044612"/>
            <a:ext cx="10968990" cy="4071671"/>
          </a:xfrm>
        </p:spPr>
        <p:txBody>
          <a:bodyPr>
            <a:noAutofit/>
          </a:bodyPr>
          <a:lstStyle/>
          <a:p>
            <a:pPr marL="0" indent="0">
              <a:buNone/>
            </a:pPr>
            <a:r>
              <a:rPr lang="en-US" altLang="zh-CN" dirty="0"/>
              <a:t>      </a:t>
            </a:r>
            <a:r>
              <a:rPr lang="en-US" altLang="zh-CN" b="1" dirty="0"/>
              <a:t>1</a:t>
            </a:r>
            <a:r>
              <a:rPr lang="zh-CN" altLang="zh-CN" b="1" dirty="0"/>
              <a:t>．线程</a:t>
            </a:r>
            <a:r>
              <a:rPr lang="zh-CN" altLang="en-US" b="1" dirty="0"/>
              <a:t>控制块</a:t>
            </a:r>
            <a:endParaRPr lang="zh-CN" altLang="zh-CN" dirty="0"/>
          </a:p>
          <a:p>
            <a:pPr marL="0" indent="0">
              <a:buNone/>
            </a:pPr>
            <a:r>
              <a:rPr lang="en-US" altLang="zh-CN" dirty="0"/>
              <a:t>      </a:t>
            </a:r>
            <a:r>
              <a:rPr lang="zh-CN" altLang="zh-CN" dirty="0"/>
              <a:t>任一线程有一个</a:t>
            </a:r>
            <a:r>
              <a:rPr lang="zh-CN" altLang="zh-CN" dirty="0">
                <a:solidFill>
                  <a:srgbClr val="FF0000"/>
                </a:solidFill>
              </a:rPr>
              <a:t>独立的栈</a:t>
            </a:r>
            <a:r>
              <a:rPr lang="zh-CN" altLang="zh-CN" dirty="0"/>
              <a:t>和一个</a:t>
            </a:r>
            <a:r>
              <a:rPr lang="zh-CN" altLang="zh-CN" dirty="0">
                <a:solidFill>
                  <a:srgbClr val="FF0000"/>
                </a:solidFill>
              </a:rPr>
              <a:t>线程控制块</a:t>
            </a:r>
            <a:r>
              <a:rPr lang="zh-CN" altLang="zh-CN" dirty="0"/>
              <a:t>（</a:t>
            </a:r>
            <a:r>
              <a:rPr lang="en-US" altLang="zh-CN" dirty="0"/>
              <a:t>Thread Control Block</a:t>
            </a:r>
            <a:r>
              <a:rPr lang="zh-CN" altLang="zh-CN" dirty="0"/>
              <a:t>，</a:t>
            </a:r>
            <a:r>
              <a:rPr lang="en-US" altLang="zh-CN" dirty="0"/>
              <a:t>TCB</a:t>
            </a:r>
            <a:r>
              <a:rPr lang="zh-CN" altLang="zh-CN" dirty="0"/>
              <a:t>），线程使用线程控制块来描述其数据结构。</a:t>
            </a:r>
            <a:r>
              <a:rPr lang="en-US" altLang="zh-CN" dirty="0"/>
              <a:t>TCB</a:t>
            </a:r>
            <a:r>
              <a:rPr lang="zh-CN" altLang="zh-CN" dirty="0"/>
              <a:t>的内容包括线程标识、优先数，及线程状态、寄存器值、堆栈指针等信息，如下所示：</a:t>
            </a:r>
          </a:p>
          <a:p>
            <a:r>
              <a:rPr lang="zh-CN" altLang="zh-CN" dirty="0"/>
              <a:t>（</a:t>
            </a:r>
            <a:r>
              <a:rPr lang="en-US" altLang="zh-CN" dirty="0"/>
              <a:t>1</a:t>
            </a:r>
            <a:r>
              <a:rPr lang="zh-CN" altLang="zh-CN" dirty="0"/>
              <a:t>）线程状态。用于保存线程的当前状态，例如执行、阻塞、就绪。</a:t>
            </a:r>
          </a:p>
          <a:p>
            <a:r>
              <a:rPr lang="zh-CN" altLang="zh-CN" dirty="0"/>
              <a:t>（</a:t>
            </a:r>
            <a:r>
              <a:rPr lang="en-US" altLang="zh-CN" dirty="0"/>
              <a:t>2</a:t>
            </a:r>
            <a:r>
              <a:rPr lang="zh-CN" altLang="zh-CN" dirty="0"/>
              <a:t>）寄存器值。用于保存线程寄存器的上下文。</a:t>
            </a:r>
          </a:p>
          <a:p>
            <a:r>
              <a:rPr lang="zh-CN" altLang="zh-CN" dirty="0"/>
              <a:t>（</a:t>
            </a:r>
            <a:r>
              <a:rPr lang="en-US" altLang="zh-CN" dirty="0"/>
              <a:t>3</a:t>
            </a:r>
            <a:r>
              <a:rPr lang="zh-CN" altLang="zh-CN" dirty="0"/>
              <a:t>）堆栈指针。用于保存线程的栈指针。</a:t>
            </a:r>
          </a:p>
        </p:txBody>
      </p:sp>
    </p:spTree>
    <p:custDataLst>
      <p:tags r:id="rId1"/>
    </p:custDataLst>
    <p:extLst>
      <p:ext uri="{BB962C8B-B14F-4D97-AF65-F5344CB8AC3E}">
        <p14:creationId xmlns:p14="http://schemas.microsoft.com/office/powerpoint/2010/main" val="794740702"/>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.4.2  </a:t>
            </a:r>
            <a:r>
              <a:rPr lang="zh-CN" altLang="en-US" dirty="0"/>
              <a:t>线程的管理</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044612"/>
            <a:ext cx="10968990" cy="4380827"/>
          </a:xfrm>
        </p:spPr>
        <p:txBody>
          <a:bodyPr>
            <a:noAutofit/>
          </a:bodyPr>
          <a:lstStyle/>
          <a:p>
            <a:pPr marL="0" indent="0">
              <a:lnSpc>
                <a:spcPct val="150000"/>
              </a:lnSpc>
              <a:buNone/>
            </a:pPr>
            <a:r>
              <a:rPr lang="en-US" altLang="zh-CN" dirty="0"/>
              <a:t>      </a:t>
            </a:r>
            <a:r>
              <a:rPr lang="en-US" altLang="zh-CN" b="1" dirty="0"/>
              <a:t>2</a:t>
            </a:r>
            <a:r>
              <a:rPr lang="zh-CN" altLang="zh-CN" b="1" dirty="0"/>
              <a:t>．线程</a:t>
            </a:r>
            <a:r>
              <a:rPr lang="zh-CN" altLang="en-US" b="1" dirty="0"/>
              <a:t>的创建和终止</a:t>
            </a:r>
            <a:endParaRPr lang="zh-CN" altLang="zh-CN" dirty="0"/>
          </a:p>
          <a:p>
            <a:pPr marL="0" indent="0">
              <a:lnSpc>
                <a:spcPct val="150000"/>
              </a:lnSpc>
              <a:buNone/>
            </a:pPr>
            <a:r>
              <a:rPr lang="en-US" altLang="zh-CN" dirty="0"/>
              <a:t>      </a:t>
            </a:r>
            <a:r>
              <a:rPr lang="zh-CN" altLang="zh-CN" dirty="0">
                <a:solidFill>
                  <a:srgbClr val="0000FF"/>
                </a:solidFill>
              </a:rPr>
              <a:t>线程的状态转换是通过相关的控制原语来实现的</a:t>
            </a:r>
            <a:r>
              <a:rPr lang="zh-CN" altLang="zh-CN" dirty="0"/>
              <a:t>。常用的原语有：创建线程、终止线程、阻塞线程等。</a:t>
            </a:r>
            <a:r>
              <a:rPr lang="en-US" altLang="zh-CN" dirty="0"/>
              <a:t> </a:t>
            </a:r>
            <a:endParaRPr lang="zh-CN" altLang="zh-CN" dirty="0"/>
          </a:p>
          <a:p>
            <a:pPr>
              <a:lnSpc>
                <a:spcPct val="150000"/>
              </a:lnSpc>
            </a:pPr>
            <a:r>
              <a:rPr lang="zh-CN" altLang="zh-CN" dirty="0"/>
              <a:t>在创建新线程时，需要利用一个线程创建函数</a:t>
            </a:r>
            <a:r>
              <a:rPr lang="en-US" altLang="zh-CN" dirty="0"/>
              <a:t>(</a:t>
            </a:r>
            <a:r>
              <a:rPr lang="zh-CN" altLang="zh-CN" dirty="0"/>
              <a:t>或系统调用</a:t>
            </a:r>
            <a:r>
              <a:rPr lang="en-US" altLang="zh-CN" dirty="0"/>
              <a:t>)</a:t>
            </a:r>
            <a:r>
              <a:rPr lang="zh-CN" altLang="zh-CN" dirty="0"/>
              <a:t>，并提供相应的参数，如指向线程主程序的入口指针、堆栈的大小，以及用于调度的优先级等。在线程创建函数执行完后，将返回一个线程标识符供以后使用。</a:t>
            </a:r>
          </a:p>
          <a:p>
            <a:pPr>
              <a:lnSpc>
                <a:spcPct val="150000"/>
              </a:lnSpc>
            </a:pPr>
            <a:r>
              <a:rPr lang="zh-CN" altLang="zh-CN" dirty="0"/>
              <a:t>终止线程的方式有两种：一种是在线程完成了自己的工作后自愿退出；另一种是线程在运行中出现错误或由于某种原因而被其它线程强行终止。</a:t>
            </a:r>
            <a:r>
              <a:rPr lang="en-US" altLang="zh-CN" dirty="0"/>
              <a:t> </a:t>
            </a:r>
            <a:endParaRPr lang="zh-CN" altLang="zh-CN" dirty="0"/>
          </a:p>
        </p:txBody>
      </p:sp>
    </p:spTree>
    <p:custDataLst>
      <p:tags r:id="rId1"/>
    </p:custDataLst>
    <p:extLst>
      <p:ext uri="{BB962C8B-B14F-4D97-AF65-F5344CB8AC3E}">
        <p14:creationId xmlns:p14="http://schemas.microsoft.com/office/powerpoint/2010/main" val="201503947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A1353C6-5012-4164-B8F1-6C1DB0354E50}"/>
              </a:ext>
            </a:extLst>
          </p:cNvPr>
          <p:cNvSpPr>
            <a:spLocks noGrp="1"/>
          </p:cNvSpPr>
          <p:nvPr>
            <p:ph idx="1"/>
          </p:nvPr>
        </p:nvSpPr>
        <p:spPr>
          <a:xfrm>
            <a:off x="954494" y="1334601"/>
            <a:ext cx="7817213" cy="3616688"/>
          </a:xfrm>
        </p:spPr>
        <p:txBody>
          <a:bodyPr>
            <a:normAutofit/>
          </a:bodyPr>
          <a:lstStyle/>
          <a:p>
            <a:pPr>
              <a:lnSpc>
                <a:spcPct val="200000"/>
              </a:lnSpc>
            </a:pPr>
            <a:r>
              <a:rPr lang="zh-CN" altLang="zh-CN" sz="2800" dirty="0"/>
              <a:t>线程实现的方式</a:t>
            </a:r>
            <a:r>
              <a:rPr lang="zh-CN" altLang="en-US" sz="2800" dirty="0"/>
              <a:t>：</a:t>
            </a:r>
            <a:endParaRPr lang="en-US" altLang="zh-CN" sz="2800" dirty="0"/>
          </a:p>
          <a:p>
            <a:pPr lvl="1">
              <a:lnSpc>
                <a:spcPct val="200000"/>
              </a:lnSpc>
            </a:pPr>
            <a:r>
              <a:rPr lang="zh-CN" altLang="zh-CN" b="1" dirty="0"/>
              <a:t>用户级线程</a:t>
            </a:r>
            <a:endParaRPr lang="en-US" altLang="zh-CN" dirty="0"/>
          </a:p>
          <a:p>
            <a:pPr lvl="1">
              <a:lnSpc>
                <a:spcPct val="200000"/>
              </a:lnSpc>
            </a:pPr>
            <a:r>
              <a:rPr lang="zh-CN" altLang="zh-CN" b="1" dirty="0"/>
              <a:t>内核级线程</a:t>
            </a:r>
            <a:endParaRPr lang="en-US" altLang="zh-CN" dirty="0"/>
          </a:p>
          <a:p>
            <a:pPr lvl="1">
              <a:lnSpc>
                <a:spcPct val="200000"/>
              </a:lnSpc>
            </a:pPr>
            <a:r>
              <a:rPr lang="zh-CN" altLang="zh-CN" b="1" dirty="0"/>
              <a:t>混合级线程</a:t>
            </a:r>
            <a:r>
              <a:rPr lang="zh-CN" altLang="zh-CN" dirty="0"/>
              <a:t>。</a:t>
            </a:r>
            <a:endParaRPr lang="zh-CN" altLang="en-US" dirty="0"/>
          </a:p>
        </p:txBody>
      </p:sp>
      <p:sp>
        <p:nvSpPr>
          <p:cNvPr id="4" name="标题 1">
            <a:extLst>
              <a:ext uri="{FF2B5EF4-FFF2-40B4-BE49-F238E27FC236}">
                <a16:creationId xmlns:a16="http://schemas.microsoft.com/office/drawing/2014/main" id="{E1D9058A-6E2F-4259-B768-567D9470EA1F}"/>
              </a:ext>
            </a:extLst>
          </p:cNvPr>
          <p:cNvSpPr>
            <a:spLocks noGrp="1"/>
          </p:cNvSpPr>
          <p:nvPr>
            <p:ph type="title"/>
          </p:nvPr>
        </p:nvSpPr>
        <p:spPr>
          <a:xfrm>
            <a:off x="1076325" y="114300"/>
            <a:ext cx="10969625" cy="706438"/>
          </a:xfrm>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Tree>
    <p:extLst>
      <p:ext uri="{BB962C8B-B14F-4D97-AF65-F5344CB8AC3E}">
        <p14:creationId xmlns:p14="http://schemas.microsoft.com/office/powerpoint/2010/main" val="64372504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320896" y="858000"/>
            <a:ext cx="10968990" cy="3625357"/>
          </a:xfrm>
        </p:spPr>
        <p:txBody>
          <a:bodyPr>
            <a:noAutofit/>
          </a:bodyPr>
          <a:lstStyle/>
          <a:p>
            <a:pPr marL="0" indent="0">
              <a:buNone/>
            </a:pPr>
            <a:r>
              <a:rPr lang="en-US" altLang="zh-CN" b="1" dirty="0"/>
              <a:t>1</a:t>
            </a:r>
            <a:r>
              <a:rPr lang="zh-CN" altLang="zh-CN" b="1" dirty="0"/>
              <a:t>．</a:t>
            </a:r>
            <a:r>
              <a:rPr lang="zh-CN" altLang="en-US" b="1" dirty="0"/>
              <a:t>用户级线程</a:t>
            </a:r>
            <a:endParaRPr lang="en-US" altLang="zh-CN" b="1" dirty="0"/>
          </a:p>
          <a:p>
            <a:pPr marL="0" indent="0">
              <a:buNone/>
            </a:pPr>
            <a:r>
              <a:rPr lang="en-US" altLang="zh-CN" dirty="0"/>
              <a:t>       </a:t>
            </a:r>
            <a:r>
              <a:rPr lang="zh-CN" altLang="zh-CN" dirty="0"/>
              <a:t>用户级线程（</a:t>
            </a:r>
            <a:r>
              <a:rPr lang="en-US" altLang="zh-CN" dirty="0"/>
              <a:t>User-Level Threads</a:t>
            </a:r>
            <a:r>
              <a:rPr lang="zh-CN" altLang="zh-CN" dirty="0"/>
              <a:t>，</a:t>
            </a:r>
            <a:r>
              <a:rPr lang="en-US" altLang="zh-CN" dirty="0"/>
              <a:t>ULT</a:t>
            </a:r>
            <a:r>
              <a:rPr lang="zh-CN" altLang="zh-CN" dirty="0"/>
              <a:t>）由用户应用程序建立，</a:t>
            </a:r>
            <a:r>
              <a:rPr lang="zh-CN" altLang="zh-CN" dirty="0">
                <a:solidFill>
                  <a:srgbClr val="FF0000"/>
                </a:solidFill>
              </a:rPr>
              <a:t>仅存在于用户空间中</a:t>
            </a:r>
            <a:r>
              <a:rPr lang="zh-CN" altLang="zh-CN" dirty="0"/>
              <a:t>。对于这种线程的创建、 撤消、线程之间的同步与通信等功能，都</a:t>
            </a:r>
            <a:r>
              <a:rPr lang="zh-CN" altLang="zh-CN" dirty="0">
                <a:solidFill>
                  <a:srgbClr val="0000FF"/>
                </a:solidFill>
              </a:rPr>
              <a:t>无须利用系统调用来实现</a:t>
            </a:r>
            <a:r>
              <a:rPr lang="zh-CN" altLang="zh-CN" dirty="0"/>
              <a:t>。对于用户级线程的切换，</a:t>
            </a:r>
            <a:r>
              <a:rPr lang="zh-CN" altLang="zh-CN" dirty="0">
                <a:solidFill>
                  <a:srgbClr val="0000FF"/>
                </a:solidFill>
              </a:rPr>
              <a:t>无须内核的支持</a:t>
            </a:r>
            <a:r>
              <a:rPr lang="zh-CN" altLang="zh-CN" dirty="0"/>
              <a:t>。由于切换的规则远比进程调度和切换的规则简单，因而使线程的切换速度特别快。可见，</a:t>
            </a:r>
            <a:r>
              <a:rPr lang="zh-CN" altLang="zh-CN" dirty="0">
                <a:solidFill>
                  <a:srgbClr val="FF0000"/>
                </a:solidFill>
              </a:rPr>
              <a:t>操作系统内核并不知道有用户级线程的存在</a:t>
            </a:r>
            <a:r>
              <a:rPr lang="zh-CN" altLang="zh-CN" dirty="0"/>
              <a:t>，这种线程是与内核无关的。</a:t>
            </a:r>
            <a:r>
              <a:rPr lang="en-US" altLang="zh-CN" dirty="0"/>
              <a:t>MS-DOS</a:t>
            </a:r>
            <a:r>
              <a:rPr lang="zh-CN" altLang="zh-CN" dirty="0"/>
              <a:t>和</a:t>
            </a:r>
            <a:r>
              <a:rPr lang="en-US" altLang="zh-CN" dirty="0"/>
              <a:t>UNIX</a:t>
            </a:r>
            <a:r>
              <a:rPr lang="zh-CN" altLang="zh-CN" dirty="0"/>
              <a:t>属于此类。</a:t>
            </a:r>
          </a:p>
          <a:p>
            <a:pPr marL="0" indent="0">
              <a:buNone/>
            </a:pPr>
            <a:endParaRPr lang="en-US" altLang="zh-CN" dirty="0"/>
          </a:p>
          <a:p>
            <a:pPr marL="0" indent="0">
              <a:buNone/>
            </a:pPr>
            <a:r>
              <a:rPr lang="zh-CN" altLang="zh-CN" dirty="0"/>
              <a:t> </a:t>
            </a:r>
          </a:p>
        </p:txBody>
      </p:sp>
      <p:pic>
        <p:nvPicPr>
          <p:cNvPr id="5" name="图片 4">
            <a:extLst>
              <a:ext uri="{FF2B5EF4-FFF2-40B4-BE49-F238E27FC236}">
                <a16:creationId xmlns:a16="http://schemas.microsoft.com/office/drawing/2014/main" id="{2915CCDC-4F88-4493-9864-D798256AEC2F}"/>
              </a:ext>
            </a:extLst>
          </p:cNvPr>
          <p:cNvPicPr>
            <a:picLocks noChangeAspect="1"/>
          </p:cNvPicPr>
          <p:nvPr/>
        </p:nvPicPr>
        <p:blipFill>
          <a:blip r:embed="rId4"/>
          <a:stretch>
            <a:fillRect/>
          </a:stretch>
        </p:blipFill>
        <p:spPr>
          <a:xfrm>
            <a:off x="4502021" y="2425186"/>
            <a:ext cx="6396275" cy="4318443"/>
          </a:xfrm>
          <a:prstGeom prst="rect">
            <a:avLst/>
          </a:prstGeom>
        </p:spPr>
      </p:pic>
    </p:spTree>
    <p:custDataLst>
      <p:tags r:id="rId1"/>
    </p:custDataLst>
    <p:extLst>
      <p:ext uri="{BB962C8B-B14F-4D97-AF65-F5344CB8AC3E}">
        <p14:creationId xmlns:p14="http://schemas.microsoft.com/office/powerpoint/2010/main" val="2397286346"/>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62757" y="969662"/>
            <a:ext cx="11059551" cy="5431133"/>
          </a:xfrm>
        </p:spPr>
        <p:txBody>
          <a:bodyPr>
            <a:noAutofit/>
          </a:bodyPr>
          <a:lstStyle/>
          <a:p>
            <a:pPr marL="0" indent="0">
              <a:buNone/>
            </a:pPr>
            <a:r>
              <a:rPr lang="en-US" altLang="zh-CN" sz="2200" dirty="0"/>
              <a:t>   </a:t>
            </a:r>
            <a:r>
              <a:rPr lang="zh-CN" altLang="zh-CN" sz="2200" dirty="0"/>
              <a:t>用户级线程有很多</a:t>
            </a:r>
            <a:r>
              <a:rPr lang="zh-CN" altLang="zh-CN" sz="2200" b="1" dirty="0"/>
              <a:t>优点</a:t>
            </a:r>
            <a:r>
              <a:rPr lang="zh-CN" altLang="zh-CN" sz="2200" dirty="0"/>
              <a:t>，具体如下：</a:t>
            </a:r>
          </a:p>
          <a:p>
            <a:r>
              <a:rPr lang="zh-CN" altLang="zh-CN" sz="2200" dirty="0"/>
              <a:t>（</a:t>
            </a:r>
            <a:r>
              <a:rPr lang="en-US" altLang="zh-CN" sz="2200" dirty="0"/>
              <a:t>1</a:t>
            </a:r>
            <a:r>
              <a:rPr lang="zh-CN" altLang="zh-CN" sz="2200" dirty="0"/>
              <a:t>）所有线程管理的数据结构都在一个进程的用户地址空间，所以</a:t>
            </a:r>
            <a:r>
              <a:rPr lang="zh-CN" altLang="zh-CN" sz="2200" dirty="0">
                <a:solidFill>
                  <a:srgbClr val="FF0000"/>
                </a:solidFill>
              </a:rPr>
              <a:t>线程的切换无需陷入内核</a:t>
            </a:r>
            <a:r>
              <a:rPr lang="zh-CN" altLang="zh-CN" sz="2200" dirty="0"/>
              <a:t>，故切换开销小，切换速度快。</a:t>
            </a:r>
          </a:p>
          <a:p>
            <a:r>
              <a:rPr lang="zh-CN" altLang="zh-CN" sz="2200" dirty="0"/>
              <a:t>（</a:t>
            </a:r>
            <a:r>
              <a:rPr lang="en-US" altLang="zh-CN" sz="2200" dirty="0"/>
              <a:t>2</a:t>
            </a:r>
            <a:r>
              <a:rPr lang="zh-CN" altLang="zh-CN" sz="2200" dirty="0"/>
              <a:t>）线程库可提供</a:t>
            </a:r>
            <a:r>
              <a:rPr lang="zh-CN" altLang="zh-CN" sz="2200" dirty="0">
                <a:solidFill>
                  <a:srgbClr val="FF0000"/>
                </a:solidFill>
              </a:rPr>
              <a:t>多种调度算法供应用程序选择</a:t>
            </a:r>
            <a:r>
              <a:rPr lang="zh-CN" altLang="zh-CN" sz="2200" dirty="0"/>
              <a:t>，调度灵活。不会扰乱底层的操作系统调度器。</a:t>
            </a:r>
          </a:p>
          <a:p>
            <a:r>
              <a:rPr lang="zh-CN" altLang="zh-CN" sz="2200" dirty="0"/>
              <a:t>（</a:t>
            </a:r>
            <a:r>
              <a:rPr lang="en-US" altLang="zh-CN" sz="2200" dirty="0"/>
              <a:t>3</a:t>
            </a:r>
            <a:r>
              <a:rPr lang="zh-CN" altLang="zh-CN" sz="2200" dirty="0"/>
              <a:t>）可以在任何操作系统中运行。</a:t>
            </a:r>
            <a:r>
              <a:rPr lang="zh-CN" altLang="zh-CN" sz="2200" dirty="0">
                <a:solidFill>
                  <a:srgbClr val="FF0000"/>
                </a:solidFill>
              </a:rPr>
              <a:t>不需要对内核进行修改以支持用户级线程</a:t>
            </a:r>
            <a:r>
              <a:rPr lang="zh-CN" altLang="zh-CN" sz="2200" dirty="0"/>
              <a:t>。线程库是一组供所有应用程序共享的应用级软件包。</a:t>
            </a:r>
          </a:p>
          <a:p>
            <a:pPr marL="0" indent="0">
              <a:buNone/>
            </a:pPr>
            <a:r>
              <a:rPr lang="en-US" altLang="zh-CN" sz="2200" dirty="0"/>
              <a:t>   </a:t>
            </a:r>
            <a:r>
              <a:rPr lang="zh-CN" altLang="zh-CN" sz="2200" dirty="0"/>
              <a:t>同时，它也有两个明显的</a:t>
            </a:r>
            <a:r>
              <a:rPr lang="zh-CN" altLang="zh-CN" sz="2200" b="1" dirty="0"/>
              <a:t>缺点</a:t>
            </a:r>
            <a:r>
              <a:rPr lang="zh-CN" altLang="zh-CN" sz="2200" dirty="0"/>
              <a:t>：</a:t>
            </a:r>
          </a:p>
          <a:p>
            <a:r>
              <a:rPr lang="zh-CN" altLang="zh-CN" sz="2200" dirty="0"/>
              <a:t>（</a:t>
            </a:r>
            <a:r>
              <a:rPr lang="en-US" altLang="zh-CN" sz="2200" dirty="0"/>
              <a:t>1</a:t>
            </a:r>
            <a:r>
              <a:rPr lang="zh-CN" altLang="zh-CN" sz="2200" dirty="0"/>
              <a:t>）用户级线程因执行一个系统调用而阻塞时会导致整个进程中所有线程都阻塞。</a:t>
            </a:r>
          </a:p>
          <a:p>
            <a:r>
              <a:rPr lang="zh-CN" altLang="zh-CN" sz="2200" dirty="0"/>
              <a:t>（</a:t>
            </a:r>
            <a:r>
              <a:rPr lang="en-US" altLang="zh-CN" sz="2200" dirty="0"/>
              <a:t>2</a:t>
            </a:r>
            <a:r>
              <a:rPr lang="zh-CN" altLang="zh-CN" sz="2200" dirty="0"/>
              <a:t>）在多处理机系统中，同一进程中的多个线程</a:t>
            </a:r>
            <a:r>
              <a:rPr lang="zh-CN" altLang="zh-CN" sz="2200" dirty="0">
                <a:solidFill>
                  <a:srgbClr val="FF0000"/>
                </a:solidFill>
              </a:rPr>
              <a:t>无法调度到多个</a:t>
            </a:r>
            <a:r>
              <a:rPr lang="en-US" altLang="zh-CN" sz="2200" dirty="0">
                <a:solidFill>
                  <a:srgbClr val="FF0000"/>
                </a:solidFill>
              </a:rPr>
              <a:t>CPU</a:t>
            </a:r>
            <a:r>
              <a:rPr lang="zh-CN" altLang="zh-CN" sz="2200" dirty="0">
                <a:solidFill>
                  <a:srgbClr val="FF0000"/>
                </a:solidFill>
              </a:rPr>
              <a:t>上执行</a:t>
            </a:r>
            <a:r>
              <a:rPr lang="zh-CN" altLang="zh-CN" sz="2200" dirty="0"/>
              <a:t>。</a:t>
            </a:r>
            <a:r>
              <a:rPr lang="en-US" altLang="zh-CN" sz="2200" dirty="0"/>
              <a:t> </a:t>
            </a:r>
            <a:endParaRPr lang="zh-CN" altLang="zh-CN" sz="2200" dirty="0"/>
          </a:p>
        </p:txBody>
      </p:sp>
    </p:spTree>
    <p:custDataLst>
      <p:tags r:id="rId1"/>
    </p:custDataLst>
    <p:extLst>
      <p:ext uri="{BB962C8B-B14F-4D97-AF65-F5344CB8AC3E}">
        <p14:creationId xmlns:p14="http://schemas.microsoft.com/office/powerpoint/2010/main" val="1231580157"/>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xEl>
                                              <p:pRg st="5" end="5"/>
                                            </p:txEl>
                                          </p:spTgt>
                                        </p:tgtEl>
                                        <p:attrNameLst>
                                          <p:attrName>style.visibility</p:attrName>
                                        </p:attrNameLst>
                                      </p:cBhvr>
                                      <p:to>
                                        <p:strVal val="visible"/>
                                      </p:to>
                                    </p:set>
                                    <p:animEffect transition="in" filter="fade">
                                      <p:cBhvr>
                                        <p:cTn id="32" dur="500"/>
                                        <p:tgtEl>
                                          <p:spTgt spid="1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3">
                                            <p:txEl>
                                              <p:pRg st="6" end="6"/>
                                            </p:txEl>
                                          </p:spTgt>
                                        </p:tgtEl>
                                        <p:attrNameLst>
                                          <p:attrName>style.visibility</p:attrName>
                                        </p:attrNameLst>
                                      </p:cBhvr>
                                      <p:to>
                                        <p:strVal val="visible"/>
                                      </p:to>
                                    </p:set>
                                    <p:animEffect transition="in" filter="fade">
                                      <p:cBhvr>
                                        <p:cTn id="3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456432" y="864924"/>
            <a:ext cx="10968990" cy="3337206"/>
          </a:xfrm>
        </p:spPr>
        <p:txBody>
          <a:bodyPr>
            <a:noAutofit/>
          </a:bodyPr>
          <a:lstStyle/>
          <a:p>
            <a:pPr marL="0" indent="0">
              <a:buNone/>
            </a:pPr>
            <a:r>
              <a:rPr lang="en-US" altLang="zh-CN" sz="2200" b="1" dirty="0"/>
              <a:t>2</a:t>
            </a:r>
            <a:r>
              <a:rPr lang="zh-CN" altLang="zh-CN" sz="2200" b="1" dirty="0"/>
              <a:t>．</a:t>
            </a:r>
            <a:r>
              <a:rPr lang="zh-CN" altLang="en-US" sz="2200" b="1" dirty="0"/>
              <a:t>内核级线程</a:t>
            </a:r>
            <a:endParaRPr lang="en-US" altLang="zh-CN" sz="2200" b="1" dirty="0"/>
          </a:p>
          <a:p>
            <a:pPr marL="0" indent="0">
              <a:buNone/>
            </a:pPr>
            <a:r>
              <a:rPr lang="en-US" altLang="zh-CN" sz="2200" dirty="0"/>
              <a:t>      </a:t>
            </a:r>
            <a:r>
              <a:rPr lang="zh-CN" altLang="zh-CN" sz="2200" dirty="0"/>
              <a:t>内核级线程（</a:t>
            </a:r>
            <a:r>
              <a:rPr lang="en-US" altLang="zh-CN" sz="2200" dirty="0"/>
              <a:t>Kernel-Level Threads</a:t>
            </a:r>
            <a:r>
              <a:rPr lang="zh-CN" altLang="zh-CN" sz="2200" dirty="0"/>
              <a:t>，</a:t>
            </a:r>
            <a:r>
              <a:rPr lang="en-US" altLang="zh-CN" sz="2200" dirty="0"/>
              <a:t>KLT</a:t>
            </a:r>
            <a:r>
              <a:rPr lang="zh-CN" altLang="zh-CN" sz="2200" dirty="0"/>
              <a:t>），又称内核支持线程或轻量级进程，是在内核的支持下运行的，即无论是用户进程中的线程，还是系统进程中的线程，</a:t>
            </a:r>
            <a:r>
              <a:rPr lang="zh-CN" altLang="zh-CN" sz="2200" dirty="0">
                <a:solidFill>
                  <a:srgbClr val="FF0000"/>
                </a:solidFill>
              </a:rPr>
              <a:t>它们的创建、撤消和切换等，是依靠内核实现的</a:t>
            </a:r>
            <a:r>
              <a:rPr lang="zh-CN" altLang="zh-CN" sz="2200" dirty="0"/>
              <a:t>。内核不仅负责进程间线程的调度，还负责同一进程的不同线程间的调度。此外，</a:t>
            </a:r>
            <a:r>
              <a:rPr lang="zh-CN" altLang="zh-CN" sz="2200" dirty="0">
                <a:solidFill>
                  <a:srgbClr val="FF0000"/>
                </a:solidFill>
              </a:rPr>
              <a:t>在内核空间还为每一个内核级线程设置了一个线程控制块</a:t>
            </a:r>
            <a:r>
              <a:rPr lang="zh-CN" altLang="zh-CN" sz="2200" dirty="0"/>
              <a:t>，保存在核心空间，</a:t>
            </a:r>
            <a:r>
              <a:rPr lang="zh-CN" altLang="zh-CN" sz="2200" dirty="0">
                <a:solidFill>
                  <a:srgbClr val="FF0000"/>
                </a:solidFill>
              </a:rPr>
              <a:t>内核是根据该控制块而感知某线程的存在的</a:t>
            </a:r>
            <a:r>
              <a:rPr lang="zh-CN" altLang="zh-CN" sz="2200" dirty="0"/>
              <a:t>，并对其加以控制。</a:t>
            </a:r>
            <a:r>
              <a:rPr lang="en-US" altLang="zh-CN" sz="2200" dirty="0"/>
              <a:t>Windows NT</a:t>
            </a:r>
            <a:r>
              <a:rPr lang="zh-CN" altLang="zh-CN" sz="2200" dirty="0"/>
              <a:t>就属于此类。</a:t>
            </a:r>
            <a:r>
              <a:rPr lang="en-US" altLang="zh-CN" sz="2200" dirty="0"/>
              <a:t> </a:t>
            </a:r>
            <a:endParaRPr lang="zh-CN" altLang="zh-CN" sz="2200" dirty="0"/>
          </a:p>
        </p:txBody>
      </p:sp>
      <p:pic>
        <p:nvPicPr>
          <p:cNvPr id="5" name="图片 4">
            <a:extLst>
              <a:ext uri="{FF2B5EF4-FFF2-40B4-BE49-F238E27FC236}">
                <a16:creationId xmlns:a16="http://schemas.microsoft.com/office/drawing/2014/main" id="{5DBDE0FB-9B25-4374-97AA-591AAE10620F}"/>
              </a:ext>
            </a:extLst>
          </p:cNvPr>
          <p:cNvPicPr>
            <a:picLocks noChangeAspect="1"/>
          </p:cNvPicPr>
          <p:nvPr/>
        </p:nvPicPr>
        <p:blipFill>
          <a:blip r:embed="rId4"/>
          <a:stretch>
            <a:fillRect/>
          </a:stretch>
        </p:blipFill>
        <p:spPr>
          <a:xfrm>
            <a:off x="4291645" y="1818641"/>
            <a:ext cx="5345904" cy="4310016"/>
          </a:xfrm>
          <a:prstGeom prst="rect">
            <a:avLst/>
          </a:prstGeom>
        </p:spPr>
      </p:pic>
    </p:spTree>
    <p:custDataLst>
      <p:tags r:id="rId1"/>
    </p:custDataLst>
    <p:extLst>
      <p:ext uri="{BB962C8B-B14F-4D97-AF65-F5344CB8AC3E}">
        <p14:creationId xmlns:p14="http://schemas.microsoft.com/office/powerpoint/2010/main" val="3783985004"/>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722718" y="1314432"/>
            <a:ext cx="10783482" cy="3072509"/>
          </a:xfrm>
        </p:spPr>
        <p:txBody>
          <a:bodyPr>
            <a:noAutofit/>
          </a:bodyPr>
          <a:lstStyle/>
          <a:p>
            <a:pPr marL="0" indent="0">
              <a:buNone/>
            </a:pPr>
            <a:r>
              <a:rPr lang="en-US" altLang="zh-CN" sz="2800" dirty="0"/>
              <a:t>   </a:t>
            </a:r>
            <a:r>
              <a:rPr lang="zh-CN" altLang="zh-CN" sz="2800" dirty="0"/>
              <a:t>内核级线程</a:t>
            </a:r>
            <a:r>
              <a:rPr lang="zh-CN" altLang="en-US" sz="2800" b="1" dirty="0"/>
              <a:t>优点</a:t>
            </a:r>
            <a:r>
              <a:rPr lang="zh-CN" altLang="zh-CN" sz="2800" dirty="0"/>
              <a:t>：</a:t>
            </a:r>
          </a:p>
          <a:p>
            <a:r>
              <a:rPr lang="zh-CN" altLang="zh-CN" sz="2800" dirty="0"/>
              <a:t>（</a:t>
            </a:r>
            <a:r>
              <a:rPr lang="en-US" altLang="zh-CN" sz="2800" dirty="0"/>
              <a:t>1</a:t>
            </a:r>
            <a:r>
              <a:rPr lang="zh-CN" altLang="zh-CN" sz="2800" dirty="0"/>
              <a:t>）可以把同一进程的多个线程调度到不同</a:t>
            </a:r>
            <a:r>
              <a:rPr lang="en-US" altLang="zh-CN" sz="2800" dirty="0"/>
              <a:t>CPU</a:t>
            </a:r>
            <a:r>
              <a:rPr lang="zh-CN" altLang="zh-CN" sz="2800" dirty="0"/>
              <a:t>中。</a:t>
            </a:r>
          </a:p>
          <a:p>
            <a:r>
              <a:rPr lang="zh-CN" altLang="zh-CN" sz="2800" dirty="0"/>
              <a:t>（</a:t>
            </a:r>
            <a:r>
              <a:rPr lang="en-US" altLang="zh-CN" sz="2800" dirty="0"/>
              <a:t>2</a:t>
            </a:r>
            <a:r>
              <a:rPr lang="zh-CN" altLang="zh-CN" sz="2800" dirty="0"/>
              <a:t>）进程中的一个线程阻塞，不会阻塞同一进程的其他线程。</a:t>
            </a:r>
          </a:p>
          <a:p>
            <a:pPr marL="0" indent="0">
              <a:buNone/>
            </a:pPr>
            <a:r>
              <a:rPr lang="en-US" altLang="zh-CN" sz="2800" dirty="0"/>
              <a:t>   </a:t>
            </a:r>
            <a:r>
              <a:rPr lang="zh-CN" altLang="zh-CN" sz="2800" dirty="0"/>
              <a:t>同时，它也有其无法克服的</a:t>
            </a:r>
            <a:r>
              <a:rPr lang="zh-CN" altLang="zh-CN" sz="2800" b="1" dirty="0"/>
              <a:t>缺点</a:t>
            </a:r>
            <a:r>
              <a:rPr lang="zh-CN" altLang="zh-CN" sz="2800" dirty="0"/>
              <a:t>：即使</a:t>
            </a:r>
            <a:r>
              <a:rPr lang="en-US" altLang="zh-CN" sz="2800" dirty="0"/>
              <a:t>CPU</a:t>
            </a:r>
            <a:r>
              <a:rPr lang="zh-CN" altLang="zh-CN" sz="2800" dirty="0"/>
              <a:t>在同一进程的多个线程之间切换，也要陷入内核，所以</a:t>
            </a:r>
            <a:r>
              <a:rPr lang="zh-CN" altLang="zh-CN" sz="2800" dirty="0">
                <a:solidFill>
                  <a:srgbClr val="FF0000"/>
                </a:solidFill>
              </a:rPr>
              <a:t>切换的速度和效率不如用户级线程</a:t>
            </a:r>
            <a:r>
              <a:rPr lang="zh-CN" altLang="zh-CN" sz="2800" dirty="0"/>
              <a:t>。</a:t>
            </a:r>
          </a:p>
          <a:p>
            <a:pPr marL="0" indent="0">
              <a:buNone/>
            </a:pPr>
            <a:endParaRPr lang="zh-CN" altLang="zh-CN" sz="2800" dirty="0"/>
          </a:p>
        </p:txBody>
      </p:sp>
    </p:spTree>
    <p:custDataLst>
      <p:tags r:id="rId1"/>
    </p:custDataLst>
    <p:extLst>
      <p:ext uri="{BB962C8B-B14F-4D97-AF65-F5344CB8AC3E}">
        <p14:creationId xmlns:p14="http://schemas.microsoft.com/office/powerpoint/2010/main" val="396861026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2</a:t>
            </a:r>
            <a:r>
              <a:rPr lang="en-US" altLang="zh-CN" dirty="0">
                <a:sym typeface="+mn-ea"/>
              </a:rPr>
              <a:t>.4.3  </a:t>
            </a:r>
            <a:r>
              <a:rPr lang="zh-CN" altLang="en-US" dirty="0">
                <a:sym typeface="+mn-ea"/>
              </a:rPr>
              <a:t>多</a:t>
            </a:r>
            <a:r>
              <a:rPr lang="zh-CN" altLang="en-US" dirty="0"/>
              <a:t>线程的实现</a:t>
            </a:r>
          </a:p>
        </p:txBody>
      </p:sp>
      <p:sp>
        <p:nvSpPr>
          <p:cNvPr id="4" name="Rectangle 27"/>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内容占位符 2"/>
          <p:cNvSpPr>
            <a:spLocks noGrp="1"/>
          </p:cNvSpPr>
          <p:nvPr>
            <p:ph idx="1"/>
          </p:nvPr>
        </p:nvSpPr>
        <p:spPr>
          <a:xfrm>
            <a:off x="692738" y="1044612"/>
            <a:ext cx="10968990" cy="4376473"/>
          </a:xfrm>
        </p:spPr>
        <p:txBody>
          <a:bodyPr>
            <a:noAutofit/>
          </a:bodyPr>
          <a:lstStyle/>
          <a:p>
            <a:pPr marL="0" indent="0">
              <a:lnSpc>
                <a:spcPct val="150000"/>
              </a:lnSpc>
              <a:buNone/>
            </a:pPr>
            <a:r>
              <a:rPr lang="en-US" altLang="zh-CN" sz="2800" b="1" dirty="0"/>
              <a:t>3</a:t>
            </a:r>
            <a:r>
              <a:rPr lang="zh-CN" altLang="zh-CN" sz="2800" b="1" dirty="0"/>
              <a:t>．</a:t>
            </a:r>
            <a:r>
              <a:rPr lang="zh-CN" altLang="en-US" sz="2800" b="1" dirty="0"/>
              <a:t>混合级线程</a:t>
            </a:r>
            <a:endParaRPr lang="en-US" altLang="zh-CN" sz="2800" b="1" dirty="0"/>
          </a:p>
          <a:p>
            <a:pPr marL="0" indent="0">
              <a:lnSpc>
                <a:spcPct val="150000"/>
              </a:lnSpc>
              <a:buNone/>
            </a:pPr>
            <a:r>
              <a:rPr lang="en-US" altLang="zh-CN" sz="2800" dirty="0"/>
              <a:t>       </a:t>
            </a:r>
            <a:r>
              <a:rPr lang="zh-CN" altLang="zh-CN" sz="2800" dirty="0"/>
              <a:t>线程创建完全在用户空间中完成，线程的调度和同步也在应用程序中进行。</a:t>
            </a:r>
            <a:r>
              <a:rPr lang="zh-CN" altLang="zh-CN" sz="2800" dirty="0">
                <a:solidFill>
                  <a:srgbClr val="FF0000"/>
                </a:solidFill>
              </a:rPr>
              <a:t>一个应用程序中的多个用户级线程被映射到一些（小于或等于用户级线程的数目）内核级线程上</a:t>
            </a:r>
            <a:r>
              <a:rPr lang="zh-CN" altLang="zh-CN" sz="2800" dirty="0"/>
              <a:t>。在该方法中，同一个应用程序中的多个线程可以在多个</a:t>
            </a:r>
            <a:r>
              <a:rPr lang="en-US" altLang="zh-CN" sz="2800" dirty="0"/>
              <a:t>CPU</a:t>
            </a:r>
            <a:r>
              <a:rPr lang="zh-CN" altLang="zh-CN" sz="2800" dirty="0"/>
              <a:t>上并行地运行，某个会引起阻塞的系统调用不需要阻塞整个进程。</a:t>
            </a:r>
          </a:p>
        </p:txBody>
      </p:sp>
    </p:spTree>
    <p:custDataLst>
      <p:tags r:id="rId1"/>
    </p:custDataLst>
    <p:extLst>
      <p:ext uri="{BB962C8B-B14F-4D97-AF65-F5344CB8AC3E}">
        <p14:creationId xmlns:p14="http://schemas.microsoft.com/office/powerpoint/2010/main" val="1206692601"/>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B25C3A-CF13-49E1-8E47-698B2DEE4D97}"/>
              </a:ext>
            </a:extLst>
          </p:cNvPr>
          <p:cNvSpPr>
            <a:spLocks noGrp="1"/>
          </p:cNvSpPr>
          <p:nvPr>
            <p:ph type="title"/>
          </p:nvPr>
        </p:nvSpPr>
        <p:spPr/>
        <p:txBody>
          <a:bodyPr>
            <a:normAutofit/>
          </a:bodyPr>
          <a:lstStyle/>
          <a:p>
            <a:r>
              <a:rPr lang="zh-CN" altLang="en-US" sz="2400" b="0" dirty="0"/>
              <a:t>混合级线程</a:t>
            </a:r>
          </a:p>
        </p:txBody>
      </p:sp>
      <p:grpSp>
        <p:nvGrpSpPr>
          <p:cNvPr id="4" name="PA_淘宝店chenying0907 44">
            <a:extLst>
              <a:ext uri="{FF2B5EF4-FFF2-40B4-BE49-F238E27FC236}">
                <a16:creationId xmlns:a16="http://schemas.microsoft.com/office/drawing/2014/main" id="{377DCA3E-170E-41B1-A0CC-89484DB5D514}"/>
              </a:ext>
            </a:extLst>
          </p:cNvPr>
          <p:cNvGrpSpPr/>
          <p:nvPr>
            <p:custDataLst>
              <p:tags r:id="rId1"/>
            </p:custDataLst>
          </p:nvPr>
        </p:nvGrpSpPr>
        <p:grpSpPr>
          <a:xfrm>
            <a:off x="-9190" y="0"/>
            <a:ext cx="620750" cy="791858"/>
            <a:chOff x="0" y="-21236"/>
            <a:chExt cx="3311527" cy="4224338"/>
          </a:xfrm>
        </p:grpSpPr>
        <p:sp>
          <p:nvSpPr>
            <p:cNvPr id="5" name="淘宝店chenying0907 37">
              <a:extLst>
                <a:ext uri="{FF2B5EF4-FFF2-40B4-BE49-F238E27FC236}">
                  <a16:creationId xmlns:a16="http://schemas.microsoft.com/office/drawing/2014/main" id="{E51B1488-B647-49F0-A278-8D68DC0E440D}"/>
                </a:ext>
              </a:extLst>
            </p:cNvPr>
            <p:cNvSpPr/>
            <p:nvPr/>
          </p:nvSpPr>
          <p:spPr bwMode="auto">
            <a:xfrm rot="5400000">
              <a:off x="-264318" y="627258"/>
              <a:ext cx="3840163" cy="3311525"/>
            </a:xfrm>
            <a:custGeom>
              <a:avLst/>
              <a:gdLst>
                <a:gd name="T0" fmla="*/ 0 w 2419"/>
                <a:gd name="T1" fmla="*/ 0 h 2086"/>
                <a:gd name="T2" fmla="*/ 753 w 2419"/>
                <a:gd name="T3" fmla="*/ 2008 h 2086"/>
                <a:gd name="T4" fmla="*/ 1228 w 2419"/>
                <a:gd name="T5" fmla="*/ 2086 h 2086"/>
                <a:gd name="T6" fmla="*/ 2419 w 2419"/>
                <a:gd name="T7" fmla="*/ 2086 h 2086"/>
                <a:gd name="T8" fmla="*/ 0 w 2419"/>
                <a:gd name="T9" fmla="*/ 0 h 2086"/>
              </a:gdLst>
              <a:ahLst/>
              <a:cxnLst>
                <a:cxn ang="0">
                  <a:pos x="T0" y="T1"/>
                </a:cxn>
                <a:cxn ang="0">
                  <a:pos x="T2" y="T3"/>
                </a:cxn>
                <a:cxn ang="0">
                  <a:pos x="T4" y="T5"/>
                </a:cxn>
                <a:cxn ang="0">
                  <a:pos x="T6" y="T7"/>
                </a:cxn>
                <a:cxn ang="0">
                  <a:pos x="T8" y="T9"/>
                </a:cxn>
              </a:cxnLst>
              <a:rect l="0" t="0" r="r" b="b"/>
              <a:pathLst>
                <a:path w="2419" h="2086">
                  <a:moveTo>
                    <a:pt x="0" y="0"/>
                  </a:moveTo>
                  <a:lnTo>
                    <a:pt x="753" y="2008"/>
                  </a:lnTo>
                  <a:lnTo>
                    <a:pt x="1228" y="2086"/>
                  </a:lnTo>
                  <a:lnTo>
                    <a:pt x="2419" y="2086"/>
                  </a:lnTo>
                  <a:lnTo>
                    <a:pt x="0" y="0"/>
                  </a:ln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 name="淘宝店chenying0907 38">
              <a:extLst>
                <a:ext uri="{FF2B5EF4-FFF2-40B4-BE49-F238E27FC236}">
                  <a16:creationId xmlns:a16="http://schemas.microsoft.com/office/drawing/2014/main" id="{31F91C8C-BEDF-41EE-99D7-69BC54BEC652}"/>
                </a:ext>
              </a:extLst>
            </p:cNvPr>
            <p:cNvSpPr/>
            <p:nvPr/>
          </p:nvSpPr>
          <p:spPr bwMode="auto">
            <a:xfrm rot="5400000">
              <a:off x="927895" y="-825304"/>
              <a:ext cx="1579563" cy="3187700"/>
            </a:xfrm>
            <a:custGeom>
              <a:avLst/>
              <a:gdLst>
                <a:gd name="T0" fmla="*/ 242 w 995"/>
                <a:gd name="T1" fmla="*/ 0 h 2008"/>
                <a:gd name="T2" fmla="*/ 0 w 995"/>
                <a:gd name="T3" fmla="*/ 305 h 2008"/>
                <a:gd name="T4" fmla="*/ 0 w 995"/>
                <a:gd name="T5" fmla="*/ 1845 h 2008"/>
                <a:gd name="T6" fmla="*/ 995 w 995"/>
                <a:gd name="T7" fmla="*/ 2008 h 2008"/>
                <a:gd name="T8" fmla="*/ 242 w 995"/>
                <a:gd name="T9" fmla="*/ 0 h 2008"/>
              </a:gdLst>
              <a:ahLst/>
              <a:cxnLst>
                <a:cxn ang="0">
                  <a:pos x="T0" y="T1"/>
                </a:cxn>
                <a:cxn ang="0">
                  <a:pos x="T2" y="T3"/>
                </a:cxn>
                <a:cxn ang="0">
                  <a:pos x="T4" y="T5"/>
                </a:cxn>
                <a:cxn ang="0">
                  <a:pos x="T6" y="T7"/>
                </a:cxn>
                <a:cxn ang="0">
                  <a:pos x="T8" y="T9"/>
                </a:cxn>
              </a:cxnLst>
              <a:rect l="0" t="0" r="r" b="b"/>
              <a:pathLst>
                <a:path w="995" h="2008">
                  <a:moveTo>
                    <a:pt x="242" y="0"/>
                  </a:moveTo>
                  <a:lnTo>
                    <a:pt x="0" y="305"/>
                  </a:lnTo>
                  <a:lnTo>
                    <a:pt x="0" y="1845"/>
                  </a:lnTo>
                  <a:lnTo>
                    <a:pt x="995" y="2008"/>
                  </a:lnTo>
                  <a:lnTo>
                    <a:pt x="242"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淘宝店chenying0907 39">
              <a:extLst>
                <a:ext uri="{FF2B5EF4-FFF2-40B4-BE49-F238E27FC236}">
                  <a16:creationId xmlns:a16="http://schemas.microsoft.com/office/drawing/2014/main" id="{9E212435-C5C0-412A-9684-F67777375D6A}"/>
                </a:ext>
              </a:extLst>
            </p:cNvPr>
            <p:cNvSpPr/>
            <p:nvPr/>
          </p:nvSpPr>
          <p:spPr bwMode="auto">
            <a:xfrm rot="5400000">
              <a:off x="-975519" y="954283"/>
              <a:ext cx="2333625" cy="382588"/>
            </a:xfrm>
            <a:custGeom>
              <a:avLst/>
              <a:gdLst>
                <a:gd name="T0" fmla="*/ 0 w 1470"/>
                <a:gd name="T1" fmla="*/ 0 h 241"/>
                <a:gd name="T2" fmla="*/ 0 w 1470"/>
                <a:gd name="T3" fmla="*/ 233 h 241"/>
                <a:gd name="T4" fmla="*/ 0 w 1470"/>
                <a:gd name="T5" fmla="*/ 241 h 241"/>
                <a:gd name="T6" fmla="*/ 1470 w 1470"/>
                <a:gd name="T7" fmla="*/ 241 h 241"/>
                <a:gd name="T8" fmla="*/ 0 w 1470"/>
                <a:gd name="T9" fmla="*/ 0 h 241"/>
              </a:gdLst>
              <a:ahLst/>
              <a:cxnLst>
                <a:cxn ang="0">
                  <a:pos x="T0" y="T1"/>
                </a:cxn>
                <a:cxn ang="0">
                  <a:pos x="T2" y="T3"/>
                </a:cxn>
                <a:cxn ang="0">
                  <a:pos x="T4" y="T5"/>
                </a:cxn>
                <a:cxn ang="0">
                  <a:pos x="T6" y="T7"/>
                </a:cxn>
                <a:cxn ang="0">
                  <a:pos x="T8" y="T9"/>
                </a:cxn>
              </a:cxnLst>
              <a:rect l="0" t="0" r="r" b="b"/>
              <a:pathLst>
                <a:path w="1470" h="241">
                  <a:moveTo>
                    <a:pt x="0" y="0"/>
                  </a:moveTo>
                  <a:lnTo>
                    <a:pt x="0" y="233"/>
                  </a:lnTo>
                  <a:lnTo>
                    <a:pt x="0" y="241"/>
                  </a:lnTo>
                  <a:lnTo>
                    <a:pt x="1470" y="241"/>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8" name="图片 7">
            <a:extLst>
              <a:ext uri="{FF2B5EF4-FFF2-40B4-BE49-F238E27FC236}">
                <a16:creationId xmlns:a16="http://schemas.microsoft.com/office/drawing/2014/main" id="{0415113C-9B67-4035-AE58-41F703A125C9}"/>
              </a:ext>
            </a:extLst>
          </p:cNvPr>
          <p:cNvPicPr>
            <a:picLocks noChangeAspect="1"/>
          </p:cNvPicPr>
          <p:nvPr/>
        </p:nvPicPr>
        <p:blipFill>
          <a:blip r:embed="rId3"/>
          <a:stretch>
            <a:fillRect/>
          </a:stretch>
        </p:blipFill>
        <p:spPr>
          <a:xfrm>
            <a:off x="467360" y="987425"/>
            <a:ext cx="7846067" cy="4774760"/>
          </a:xfrm>
          <a:prstGeom prst="rect">
            <a:avLst/>
          </a:prstGeom>
        </p:spPr>
      </p:pic>
      <p:sp>
        <p:nvSpPr>
          <p:cNvPr id="9" name="文本框 8">
            <a:extLst>
              <a:ext uri="{FF2B5EF4-FFF2-40B4-BE49-F238E27FC236}">
                <a16:creationId xmlns:a16="http://schemas.microsoft.com/office/drawing/2014/main" id="{039CCBBA-9CA7-4F5F-B284-BAB1C8241E75}"/>
              </a:ext>
            </a:extLst>
          </p:cNvPr>
          <p:cNvSpPr txBox="1"/>
          <p:nvPr/>
        </p:nvSpPr>
        <p:spPr>
          <a:xfrm>
            <a:off x="8313427" y="1205640"/>
            <a:ext cx="2087880" cy="368300"/>
          </a:xfrm>
          <a:prstGeom prst="rect">
            <a:avLst/>
          </a:prstGeom>
          <a:noFill/>
        </p:spPr>
        <p:txBody>
          <a:bodyPr wrap="square" rtlCol="0">
            <a:spAutoFit/>
          </a:bodyPr>
          <a:lstStyle/>
          <a:p>
            <a:r>
              <a:rPr lang="en-US" altLang="zh-CN" dirty="0"/>
              <a:t>&lt;-</a:t>
            </a:r>
            <a:r>
              <a:rPr lang="zh-CN" altLang="en-US" dirty="0"/>
              <a:t>一种混合型线程</a:t>
            </a:r>
          </a:p>
        </p:txBody>
      </p:sp>
      <p:sp>
        <p:nvSpPr>
          <p:cNvPr id="10" name="文本框 9">
            <a:extLst>
              <a:ext uri="{FF2B5EF4-FFF2-40B4-BE49-F238E27FC236}">
                <a16:creationId xmlns:a16="http://schemas.microsoft.com/office/drawing/2014/main" id="{427D6136-6893-41DB-ADEA-47304D3E8D98}"/>
              </a:ext>
            </a:extLst>
          </p:cNvPr>
          <p:cNvSpPr txBox="1"/>
          <p:nvPr/>
        </p:nvSpPr>
        <p:spPr>
          <a:xfrm>
            <a:off x="8716345" y="1775460"/>
            <a:ext cx="893445" cy="368300"/>
          </a:xfrm>
          <a:prstGeom prst="rect">
            <a:avLst/>
          </a:prstGeom>
          <a:noFill/>
        </p:spPr>
        <p:txBody>
          <a:bodyPr wrap="square" rtlCol="0">
            <a:spAutoFit/>
          </a:bodyPr>
          <a:lstStyle/>
          <a:p>
            <a:r>
              <a:rPr lang="zh-CN" altLang="en-US" b="1" dirty="0">
                <a:solidFill>
                  <a:srgbClr val="FF0000"/>
                </a:solidFill>
              </a:rPr>
              <a:t>多对多</a:t>
            </a:r>
          </a:p>
        </p:txBody>
      </p:sp>
    </p:spTree>
    <p:extLst>
      <p:ext uri="{BB962C8B-B14F-4D97-AF65-F5344CB8AC3E}">
        <p14:creationId xmlns:p14="http://schemas.microsoft.com/office/powerpoint/2010/main" val="3325988153"/>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E0890-E86C-4E24-A61A-F64D12A05C4B}"/>
              </a:ext>
            </a:extLst>
          </p:cNvPr>
          <p:cNvSpPr>
            <a:spLocks noGrp="1"/>
          </p:cNvSpPr>
          <p:nvPr>
            <p:ph type="title"/>
          </p:nvPr>
        </p:nvSpPr>
        <p:spPr>
          <a:xfrm>
            <a:off x="1021967" y="255530"/>
            <a:ext cx="4301148" cy="705600"/>
          </a:xfrm>
        </p:spPr>
        <p:txBody>
          <a:bodyPr/>
          <a:lstStyle/>
          <a:p>
            <a:r>
              <a:rPr lang="zh-CN" altLang="en-US" dirty="0"/>
              <a:t>课堂练习</a:t>
            </a:r>
          </a:p>
        </p:txBody>
      </p:sp>
      <p:sp>
        <p:nvSpPr>
          <p:cNvPr id="3" name="内容占位符 2">
            <a:extLst>
              <a:ext uri="{FF2B5EF4-FFF2-40B4-BE49-F238E27FC236}">
                <a16:creationId xmlns:a16="http://schemas.microsoft.com/office/drawing/2014/main" id="{B2C7B6C8-F82F-445D-8DF5-2394C7C00147}"/>
              </a:ext>
            </a:extLst>
          </p:cNvPr>
          <p:cNvSpPr>
            <a:spLocks noGrp="1"/>
          </p:cNvSpPr>
          <p:nvPr>
            <p:ph idx="1"/>
          </p:nvPr>
        </p:nvSpPr>
        <p:spPr/>
        <p:txBody>
          <a:bodyPr>
            <a:normAutofit/>
          </a:bodyPr>
          <a:lstStyle/>
          <a:p>
            <a:pPr marL="0" indent="0">
              <a:lnSpc>
                <a:spcPct val="150000"/>
              </a:lnSpc>
              <a:spcAft>
                <a:spcPts val="1000"/>
              </a:spcAft>
              <a:buNone/>
            </a:pP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1. </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为什么在多</a:t>
            </a: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CPU</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环境中一个进程中的多个用户级线程不能在多个</a:t>
            </a: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CPU</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上执行？（</a:t>
            </a: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   </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a:t>
            </a:r>
          </a:p>
          <a:p>
            <a:pPr marL="0" indent="0">
              <a:lnSpc>
                <a:spcPct val="150000"/>
              </a:lnSpc>
              <a:spcAft>
                <a:spcPts val="1000"/>
              </a:spcAft>
              <a:buNone/>
            </a:pP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A.</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用户级线程没有</a:t>
            </a: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PC</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指针</a:t>
            </a:r>
          </a:p>
          <a:p>
            <a:pPr marL="0" indent="0">
              <a:lnSpc>
                <a:spcPct val="150000"/>
              </a:lnSpc>
              <a:spcAft>
                <a:spcPts val="1000"/>
              </a:spcAft>
              <a:buNone/>
            </a:pP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B.</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用户级线程没有栈</a:t>
            </a:r>
          </a:p>
          <a:p>
            <a:pPr marL="0" indent="0">
              <a:lnSpc>
                <a:spcPct val="150000"/>
              </a:lnSpc>
              <a:spcAft>
                <a:spcPts val="1000"/>
              </a:spcAft>
              <a:buNone/>
            </a:pP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C.</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用户级线程没有</a:t>
            </a: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TCB</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50000"/>
              </a:lnSpc>
              <a:spcAft>
                <a:spcPts val="1000"/>
              </a:spcAft>
              <a:buNone/>
            </a:pPr>
            <a:r>
              <a:rPr lang="en-US" altLang="zh-CN" dirty="0">
                <a:effectLst/>
                <a:latin typeface="Tahoma" panose="020B0604030504040204" pitchFamily="34" charset="0"/>
                <a:ea typeface="微软雅黑" panose="020B0503020204020204" pitchFamily="34" charset="-122"/>
                <a:cs typeface="Times New Roman" panose="02020603050405020304" pitchFamily="18" charset="0"/>
              </a:rPr>
              <a:t>D.CPU</a:t>
            </a:r>
            <a:r>
              <a:rPr lang="zh-CN" altLang="zh-CN" dirty="0">
                <a:effectLst/>
                <a:latin typeface="Tahoma" panose="020B0604030504040204" pitchFamily="34" charset="0"/>
                <a:ea typeface="微软雅黑" panose="020B0503020204020204" pitchFamily="34" charset="-122"/>
                <a:cs typeface="Times New Roman" panose="02020603050405020304" pitchFamily="18" charset="0"/>
              </a:rPr>
              <a:t>调度是在内核中的，而内核不能感知到用户级线程</a:t>
            </a:r>
          </a:p>
        </p:txBody>
      </p:sp>
    </p:spTree>
    <p:extLst>
      <p:ext uri="{BB962C8B-B14F-4D97-AF65-F5344CB8AC3E}">
        <p14:creationId xmlns:p14="http://schemas.microsoft.com/office/powerpoint/2010/main" val="2320891375"/>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24D19-F1D4-4401-8E61-A026030FB0CB}"/>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05A74D8D-F87C-4BAB-A67A-1DB9B729FE31}"/>
              </a:ext>
            </a:extLst>
          </p:cNvPr>
          <p:cNvSpPr>
            <a:spLocks noGrp="1"/>
          </p:cNvSpPr>
          <p:nvPr>
            <p:ph idx="1"/>
          </p:nvPr>
        </p:nvSpPr>
        <p:spPr>
          <a:xfrm>
            <a:off x="608330" y="1227455"/>
            <a:ext cx="10968990" cy="4182745"/>
          </a:xfrm>
        </p:spPr>
        <p:txBody>
          <a:bodyPr>
            <a:normAutofit/>
          </a:bodyPr>
          <a:lstStyle/>
          <a:p>
            <a:pPr marL="0" indent="0">
              <a:lnSpc>
                <a:spcPct val="160000"/>
              </a:lnSpc>
              <a:spcAft>
                <a:spcPts val="1000"/>
              </a:spcAft>
              <a:buNone/>
            </a:pPr>
            <a:r>
              <a:rPr lang="en-US" altLang="zh-CN" dirty="0">
                <a:solidFill>
                  <a:srgbClr val="464646"/>
                </a:solidFill>
                <a:effectLst/>
                <a:latin typeface="微软雅黑" panose="020B0503020204020204" pitchFamily="34" charset="-122"/>
                <a:ea typeface="微软雅黑" panose="020B0503020204020204" pitchFamily="34" charset="-122"/>
                <a:cs typeface="宋体" panose="02010600030101010101" pitchFamily="2" charset="-122"/>
              </a:rPr>
              <a:t>2. </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下列关于线程的描述中，错误的是（　　）。</a:t>
            </a:r>
            <a:r>
              <a:rPr lang="en-US"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[2019</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年</a:t>
            </a:r>
            <a:r>
              <a:rPr lang="en-US"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408</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统考</a:t>
            </a:r>
            <a:r>
              <a:rPr lang="en-US"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spcAft>
                <a:spcPts val="1000"/>
              </a:spcAft>
              <a:buNone/>
            </a:pPr>
            <a:r>
              <a:rPr lang="en-US" altLang="zh-CN" dirty="0">
                <a:solidFill>
                  <a:srgbClr val="464646"/>
                </a:solidFill>
                <a:effectLst/>
                <a:latin typeface="微软雅黑" panose="020B0503020204020204" pitchFamily="34" charset="-122"/>
                <a:ea typeface="微软雅黑" panose="020B0503020204020204" pitchFamily="34" charset="-122"/>
                <a:cs typeface="宋体" panose="02010600030101010101" pitchFamily="2" charset="-122"/>
              </a:rPr>
              <a:t>A</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．内核级线程的调度由操作系统完成</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spcAft>
                <a:spcPts val="1000"/>
              </a:spcAft>
              <a:buNone/>
            </a:pPr>
            <a:r>
              <a:rPr lang="en-US" altLang="zh-CN" dirty="0">
                <a:solidFill>
                  <a:srgbClr val="464646"/>
                </a:solidFill>
                <a:effectLst/>
                <a:latin typeface="微软雅黑" panose="020B0503020204020204" pitchFamily="34" charset="-122"/>
                <a:ea typeface="微软雅黑" panose="020B0503020204020204" pitchFamily="34" charset="-122"/>
                <a:cs typeface="宋体" panose="02010600030101010101" pitchFamily="2" charset="-122"/>
              </a:rPr>
              <a:t>B</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．操作系统为每个用户级线程建立一个线程控制块</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spcAft>
                <a:spcPts val="1000"/>
              </a:spcAft>
              <a:buNone/>
            </a:pPr>
            <a:r>
              <a:rPr lang="en-US" altLang="zh-CN" dirty="0">
                <a:solidFill>
                  <a:srgbClr val="464646"/>
                </a:solidFill>
                <a:effectLst/>
                <a:latin typeface="微软雅黑" panose="020B0503020204020204" pitchFamily="34" charset="-122"/>
                <a:ea typeface="微软雅黑" panose="020B0503020204020204" pitchFamily="34" charset="-122"/>
                <a:cs typeface="宋体" panose="02010600030101010101" pitchFamily="2" charset="-122"/>
              </a:rPr>
              <a:t>C</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．用户级线程间的切换比内核级线程间的切换效率高</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spcAft>
                <a:spcPts val="1000"/>
              </a:spcAft>
              <a:buNone/>
            </a:pPr>
            <a:r>
              <a:rPr lang="en-US" altLang="zh-CN" dirty="0">
                <a:solidFill>
                  <a:srgbClr val="464646"/>
                </a:solidFill>
                <a:effectLst/>
                <a:latin typeface="微软雅黑" panose="020B0503020204020204" pitchFamily="34" charset="-122"/>
                <a:ea typeface="微软雅黑" panose="020B0503020204020204" pitchFamily="34" charset="-122"/>
                <a:cs typeface="宋体" panose="02010600030101010101" pitchFamily="2" charset="-122"/>
              </a:rPr>
              <a:t>D</a:t>
            </a:r>
            <a:r>
              <a:rPr lang="zh-CN" altLang="zh-CN" dirty="0">
                <a:solidFill>
                  <a:srgbClr val="464646"/>
                </a:solidFill>
                <a:effectLst/>
                <a:latin typeface="Tahoma" panose="020B0604030504040204" pitchFamily="34" charset="0"/>
                <a:ea typeface="微软雅黑" panose="020B0503020204020204" pitchFamily="34" charset="-122"/>
                <a:cs typeface="宋体" panose="02010600030101010101" pitchFamily="2" charset="-122"/>
              </a:rPr>
              <a:t>．用户级线程可以在不支持内核级线程的操作系统上实现</a:t>
            </a:r>
            <a:endParaRPr lang="zh-CN" altLang="zh-CN" dirty="0">
              <a:effectLst/>
              <a:latin typeface="Tahoma" panose="020B0604030504040204" pitchFamily="34" charset="0"/>
              <a:ea typeface="微软雅黑" panose="020B0503020204020204" pitchFamily="34" charset="-122"/>
              <a:cs typeface="Times New Roman" panose="02020603050405020304" pitchFamily="18" charset="0"/>
            </a:endParaRPr>
          </a:p>
          <a:p>
            <a:pPr marL="0" indent="0">
              <a:lnSpc>
                <a:spcPct val="160000"/>
              </a:lnSpc>
              <a:buNone/>
            </a:pPr>
            <a:endParaRPr lang="zh-CN" altLang="en-US" sz="3200" dirty="0"/>
          </a:p>
        </p:txBody>
      </p:sp>
    </p:spTree>
    <p:extLst>
      <p:ext uri="{BB962C8B-B14F-4D97-AF65-F5344CB8AC3E}">
        <p14:creationId xmlns:p14="http://schemas.microsoft.com/office/powerpoint/2010/main" val="102585751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2159C05-0C96-4854-9BB2-1BCF02C5BA75}"/>
              </a:ext>
            </a:extLst>
          </p:cNvPr>
          <p:cNvSpPr>
            <a:spLocks noGrp="1"/>
          </p:cNvSpPr>
          <p:nvPr>
            <p:ph idx="1"/>
          </p:nvPr>
        </p:nvSpPr>
        <p:spPr>
          <a:xfrm>
            <a:off x="608330" y="1227455"/>
            <a:ext cx="10968990" cy="4661715"/>
          </a:xfrm>
        </p:spPr>
        <p:txBody>
          <a:bodyPr>
            <a:normAutofit/>
          </a:bodyPr>
          <a:lstStyle/>
          <a:p>
            <a:r>
              <a:rPr lang="zh-CN" altLang="en-US" dirty="0"/>
              <a:t>思考：</a:t>
            </a:r>
            <a:endParaRPr lang="en-US" altLang="zh-CN" dirty="0"/>
          </a:p>
          <a:p>
            <a:pPr marL="0" indent="0">
              <a:buNone/>
            </a:pPr>
            <a:r>
              <a:rPr lang="en-US" altLang="zh-CN" dirty="0"/>
              <a:t>1. Java</a:t>
            </a:r>
            <a:r>
              <a:rPr lang="zh-CN" altLang="en-US" dirty="0"/>
              <a:t>程序设计中创建的线程属于哪种实现方式（教材</a:t>
            </a:r>
            <a:r>
              <a:rPr lang="en-US" altLang="zh-CN" dirty="0"/>
              <a:t>38</a:t>
            </a:r>
            <a:r>
              <a:rPr lang="zh-CN" altLang="en-US" dirty="0"/>
              <a:t>页有介绍）：</a:t>
            </a:r>
            <a:endParaRPr lang="en-US" altLang="zh-CN" dirty="0"/>
          </a:p>
          <a:p>
            <a:pPr marL="0" indent="0">
              <a:buNone/>
            </a:pPr>
            <a:r>
              <a:rPr lang="zh-CN" altLang="en-US" dirty="0"/>
              <a:t>    找到答案并能提供充足理由说明，作为平时附加成绩加分。</a:t>
            </a:r>
            <a:endParaRPr lang="en-US" altLang="zh-CN" dirty="0"/>
          </a:p>
          <a:p>
            <a:pPr marL="0" indent="0">
              <a:buNone/>
            </a:pPr>
            <a:endParaRPr lang="en-US" altLang="zh-CN" dirty="0"/>
          </a:p>
          <a:p>
            <a:pPr marL="0" indent="0">
              <a:buNone/>
            </a:pPr>
            <a:r>
              <a:rPr lang="en-US" altLang="zh-CN" i="0" dirty="0">
                <a:solidFill>
                  <a:srgbClr val="222226"/>
                </a:solidFill>
                <a:effectLst/>
                <a:latin typeface="PingFang SC"/>
              </a:rPr>
              <a:t>2. </a:t>
            </a:r>
            <a:r>
              <a:rPr lang="zh-CN" altLang="en-US" i="0" dirty="0">
                <a:solidFill>
                  <a:srgbClr val="222226"/>
                </a:solidFill>
                <a:effectLst/>
                <a:latin typeface="PingFang SC"/>
              </a:rPr>
              <a:t>为什么进程切换的开销比线程切换大呢？请说明具体原因和原理 。</a:t>
            </a:r>
            <a:endParaRPr lang="en-US" altLang="zh-CN" i="0" dirty="0">
              <a:solidFill>
                <a:srgbClr val="222226"/>
              </a:solidFill>
              <a:effectLst/>
              <a:latin typeface="PingFang SC"/>
            </a:endParaRPr>
          </a:p>
          <a:p>
            <a:pPr marL="0" indent="0">
              <a:buNone/>
            </a:pPr>
            <a:r>
              <a:rPr lang="en-US" altLang="zh-CN" b="0" i="0">
                <a:solidFill>
                  <a:srgbClr val="3D4059"/>
                </a:solidFill>
                <a:effectLst/>
                <a:latin typeface="Arial" panose="020B0604020202020204" pitchFamily="34" charset="0"/>
              </a:rPr>
              <a:t>https://www.cnblogs.com/itxdm/p/16017794.html</a:t>
            </a:r>
            <a:endParaRPr lang="en-US" altLang="zh-CN" dirty="0">
              <a:solidFill>
                <a:srgbClr val="222226"/>
              </a:solidFill>
              <a:latin typeface="PingFang SC"/>
            </a:endParaRPr>
          </a:p>
          <a:p>
            <a:pPr marL="0" indent="0">
              <a:buNone/>
            </a:pPr>
            <a:r>
              <a:rPr lang="en-US" altLang="zh-CN" dirty="0">
                <a:solidFill>
                  <a:srgbClr val="222226"/>
                </a:solidFill>
                <a:latin typeface="PingFang SC"/>
              </a:rPr>
              <a:t>3.</a:t>
            </a:r>
            <a:r>
              <a:rPr lang="zh-CN" altLang="en-US" dirty="0"/>
              <a:t>分析内核：某一操作系统中关于进程控制块的数据结构。</a:t>
            </a:r>
          </a:p>
        </p:txBody>
      </p:sp>
    </p:spTree>
    <p:extLst>
      <p:ext uri="{BB962C8B-B14F-4D97-AF65-F5344CB8AC3E}">
        <p14:creationId xmlns:p14="http://schemas.microsoft.com/office/powerpoint/2010/main" val="3498710408"/>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小结</a:t>
            </a:r>
          </a:p>
        </p:txBody>
      </p:sp>
      <p:sp>
        <p:nvSpPr>
          <p:cNvPr id="3" name="内容占位符 2"/>
          <p:cNvSpPr>
            <a:spLocks noGrp="1"/>
          </p:cNvSpPr>
          <p:nvPr>
            <p:ph idx="1"/>
          </p:nvPr>
        </p:nvSpPr>
        <p:spPr/>
        <p:txBody>
          <a:bodyPr>
            <a:normAutofit/>
          </a:bodyPr>
          <a:lstStyle/>
          <a:p>
            <a:r>
              <a:rPr lang="zh-CN" altLang="zh-CN" dirty="0"/>
              <a:t>本章引入了描述系统动态行为的进程概念，进程的动态性由运行态、就绪态、阻塞态三种基本状态来说明，状态之间可以相互转化。</a:t>
            </a:r>
            <a:r>
              <a:rPr lang="en-US" altLang="zh-CN" dirty="0"/>
              <a:t> </a:t>
            </a:r>
            <a:endParaRPr lang="zh-CN" altLang="zh-CN" dirty="0"/>
          </a:p>
          <a:p>
            <a:r>
              <a:rPr lang="zh-CN" altLang="zh-CN" dirty="0"/>
              <a:t>进程存在的实体表现为进程控制块以及对应的程序和数据。</a:t>
            </a:r>
            <a:endParaRPr lang="en-US" altLang="zh-CN" dirty="0"/>
          </a:p>
          <a:p>
            <a:r>
              <a:rPr lang="zh-CN" altLang="zh-CN" dirty="0"/>
              <a:t>进程控制块含有操作系统管理进程所需要的所有信息，包括它的当前状态、分配给它的资源、优先级和其他相关数据。</a:t>
            </a:r>
            <a:endParaRPr lang="en-US" altLang="zh-CN"/>
          </a:p>
          <a:p>
            <a:r>
              <a:rPr lang="zh-CN" altLang="zh-CN"/>
              <a:t>一</a:t>
            </a:r>
            <a:r>
              <a:rPr lang="zh-CN" altLang="zh-CN" dirty="0"/>
              <a:t>个系统中所有的进程控制块可以用表或者队列的形式来组织。</a:t>
            </a:r>
            <a:endParaRPr lang="en-US" altLang="zh-CN" dirty="0"/>
          </a:p>
          <a:p>
            <a:r>
              <a:rPr lang="zh-CN" altLang="zh-CN" dirty="0"/>
              <a:t>某些操作系统区分进程和线程的概念，前者涉及到资源的所有权，后者涉及到程序的执行，这种方法可以使性能提高、编码方便。</a:t>
            </a:r>
          </a:p>
          <a:p>
            <a:endParaRPr lang="zh-CN" altLang="zh-CN" dirty="0"/>
          </a:p>
          <a:p>
            <a:pPr marL="0" indent="0">
              <a:buNone/>
            </a:pPr>
            <a:endParaRPr lang="zh-CN" altLang="en-US" dirty="0"/>
          </a:p>
        </p:txBody>
      </p:sp>
    </p:spTree>
    <p:extLst>
      <p:ext uri="{BB962C8B-B14F-4D97-AF65-F5344CB8AC3E}">
        <p14:creationId xmlns:p14="http://schemas.microsoft.com/office/powerpoint/2010/main" val="190754679"/>
      </p:ext>
    </p:extLst>
  </p:cSld>
  <p:clrMapOvr>
    <a:masterClrMapping/>
  </p:clrMapOvr>
  <mc:AlternateContent xmlns:mc="http://schemas.openxmlformats.org/markup-compatibility/2006" xmlns:p14="http://schemas.microsoft.com/office/powerpoint/2010/main">
    <mc:Choice Requires="p14">
      <p:transition>
        <p:random/>
      </p:transition>
    </mc:Choice>
    <mc:Fallback xmlns="">
      <p:transition>
        <p:random/>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176"/>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176"/>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5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176"/>
</p:tagLst>
</file>

<file path=ppt/tags/tag101.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1321</TotalTime>
  <Words>6749</Words>
  <Application>Microsoft Office PowerPoint</Application>
  <PresentationFormat>宽屏</PresentationFormat>
  <Paragraphs>462</Paragraphs>
  <Slides>74</Slides>
  <Notes>11</Notes>
  <HiddenSlides>3</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74</vt:i4>
      </vt:variant>
    </vt:vector>
  </HeadingPairs>
  <TitlesOfParts>
    <vt:vector size="91" baseType="lpstr">
      <vt:lpstr>-apple-system</vt:lpstr>
      <vt:lpstr>Helvetica Neue</vt:lpstr>
      <vt:lpstr>PingFang SC</vt:lpstr>
      <vt:lpstr>quote-cjk-patch</vt:lpstr>
      <vt:lpstr>仿宋</vt:lpstr>
      <vt:lpstr>黑体</vt:lpstr>
      <vt:lpstr>华文新魏</vt:lpstr>
      <vt:lpstr>楷体</vt:lpstr>
      <vt:lpstr>宋体</vt:lpstr>
      <vt:lpstr>微软雅黑</vt:lpstr>
      <vt:lpstr>Arial</vt:lpstr>
      <vt:lpstr>Calibri</vt:lpstr>
      <vt:lpstr>Tahoma</vt:lpstr>
      <vt:lpstr>Times New Roman</vt:lpstr>
      <vt:lpstr>Wingdings</vt:lpstr>
      <vt:lpstr>Office 主题​​</vt:lpstr>
      <vt:lpstr>Visio</vt:lpstr>
      <vt:lpstr>第2章  进程管理</vt:lpstr>
      <vt:lpstr>本章目录</vt:lpstr>
      <vt:lpstr>2.1  进程及其状态</vt:lpstr>
      <vt:lpstr>2.1.1  进程的引入</vt:lpstr>
      <vt:lpstr> 程序的顺序执行</vt:lpstr>
      <vt:lpstr>2.1.1  进程的引入</vt:lpstr>
      <vt:lpstr>PowerPoint 演示文稿</vt:lpstr>
      <vt:lpstr>PowerPoint 演示文稿</vt:lpstr>
      <vt:lpstr>PowerPoint 演示文稿</vt:lpstr>
      <vt:lpstr>2.1.2  进程的概念</vt:lpstr>
      <vt:lpstr>PowerPoint 演示文稿</vt:lpstr>
      <vt:lpstr>2.1.2  进程的概念</vt:lpstr>
      <vt:lpstr>2.1.2  进程的概念</vt:lpstr>
      <vt:lpstr>2.1.3  进程的状态模型</vt:lpstr>
      <vt:lpstr>2.1.3  进程的状态模型</vt:lpstr>
      <vt:lpstr>2.1.3  进程的状态模型</vt:lpstr>
      <vt:lpstr>2.1.3  进程的状态模型</vt:lpstr>
      <vt:lpstr>2.1.3  进程的状态模型</vt:lpstr>
      <vt:lpstr>2.1.3  进程的状态模型</vt:lpstr>
      <vt:lpstr>问题？</vt:lpstr>
      <vt:lpstr>Linux中进程常见的六种状态</vt:lpstr>
      <vt:lpstr>PowerPoint 演示文稿</vt:lpstr>
      <vt:lpstr>问答题</vt:lpstr>
      <vt:lpstr>PowerPoint 演示文稿</vt:lpstr>
      <vt:lpstr>PowerPoint 演示文稿</vt:lpstr>
      <vt:lpstr>2.2.3  进程控制块的组织结构</vt:lpstr>
      <vt:lpstr>2.2  进程控制块</vt:lpstr>
      <vt:lpstr>进程控制块</vt:lpstr>
      <vt:lpstr>2.2.1  PCB的作用</vt:lpstr>
      <vt:lpstr>2.2.2  PCB的内容</vt:lpstr>
      <vt:lpstr>2.2.2  PCB的内容</vt:lpstr>
      <vt:lpstr>2.2.2  PCB的内容</vt:lpstr>
      <vt:lpstr>练习</vt:lpstr>
      <vt:lpstr>思考题</vt:lpstr>
      <vt:lpstr>1.PCB队列（链表）</vt:lpstr>
      <vt:lpstr>2.PCB表——索引表</vt:lpstr>
      <vt:lpstr>2.3  进程控制</vt:lpstr>
      <vt:lpstr>PowerPoint 演示文稿</vt:lpstr>
      <vt:lpstr>进程控制部分，思考如下问题</vt:lpstr>
      <vt:lpstr>2.3.1  进程的创建</vt:lpstr>
      <vt:lpstr>2.3.1  进程的创建</vt:lpstr>
      <vt:lpstr>2.3.2  进程的终止</vt:lpstr>
      <vt:lpstr>2.3.2  进程的终止</vt:lpstr>
      <vt:lpstr>2.3.3  进程的阻塞与唤醒</vt:lpstr>
      <vt:lpstr>2.3.3  进程的阻塞与唤醒</vt:lpstr>
      <vt:lpstr>2.3.3  进程的阻塞与唤醒</vt:lpstr>
      <vt:lpstr>2.3.4  进程的挂起与激活</vt:lpstr>
      <vt:lpstr>PowerPoint 演示文稿</vt:lpstr>
      <vt:lpstr>PowerPoint 演示文稿</vt:lpstr>
      <vt:lpstr>2.3.4  进程的挂起与激活</vt:lpstr>
      <vt:lpstr>PowerPoint 演示文稿</vt:lpstr>
      <vt:lpstr>练习：</vt:lpstr>
      <vt:lpstr>练习：</vt:lpstr>
      <vt:lpstr>2.4  线程</vt:lpstr>
      <vt:lpstr>课前思考题</vt:lpstr>
      <vt:lpstr>2.4.1  线程的引入及基本概念</vt:lpstr>
      <vt:lpstr>2.4.1  线程的引入及基本概念</vt:lpstr>
      <vt:lpstr>多线程例</vt:lpstr>
      <vt:lpstr>PowerPoint 演示文稿</vt:lpstr>
      <vt:lpstr>线程的基本概念</vt:lpstr>
      <vt:lpstr>线程的基本概念</vt:lpstr>
      <vt:lpstr>2.4.2  线程的管理</vt:lpstr>
      <vt:lpstr>2.4.2  线程的管理</vt:lpstr>
      <vt:lpstr>2.4.3  多线程的实现</vt:lpstr>
      <vt:lpstr>2.4.3  多线程的实现</vt:lpstr>
      <vt:lpstr>2.4.3  多线程的实现</vt:lpstr>
      <vt:lpstr>2.4.3  多线程的实现</vt:lpstr>
      <vt:lpstr>2.4.3  多线程的实现</vt:lpstr>
      <vt:lpstr>2.4.3  多线程的实现</vt:lpstr>
      <vt:lpstr>混合级线程</vt:lpstr>
      <vt:lpstr>课堂练习</vt:lpstr>
      <vt:lpstr>PowerPoint 演示文稿</vt:lpstr>
      <vt:lpstr>PowerPoint 演示文稿</vt:lpstr>
      <vt:lpstr>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操作系统概述</dc:title>
  <dc:creator/>
  <cp:lastModifiedBy>Z33789</cp:lastModifiedBy>
  <cp:revision>601</cp:revision>
  <dcterms:created xsi:type="dcterms:W3CDTF">2019-06-19T02:08:00Z</dcterms:created>
  <dcterms:modified xsi:type="dcterms:W3CDTF">2025-10-08T14:26:20Z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