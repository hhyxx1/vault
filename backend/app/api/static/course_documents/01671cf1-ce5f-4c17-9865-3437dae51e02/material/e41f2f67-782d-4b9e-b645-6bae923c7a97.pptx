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notesSlides/notesSlide1.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2.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3.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8.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9.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0.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1.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14.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5.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3"/>
  </p:notesMasterIdLst>
  <p:sldIdLst>
    <p:sldId id="427" r:id="rId2"/>
    <p:sldId id="831" r:id="rId3"/>
    <p:sldId id="851" r:id="rId4"/>
    <p:sldId id="852" r:id="rId5"/>
    <p:sldId id="854" r:id="rId6"/>
    <p:sldId id="667" r:id="rId7"/>
    <p:sldId id="669" r:id="rId8"/>
    <p:sldId id="668" r:id="rId9"/>
    <p:sldId id="836" r:id="rId10"/>
    <p:sldId id="848" r:id="rId11"/>
    <p:sldId id="832" r:id="rId12"/>
    <p:sldId id="676" r:id="rId13"/>
    <p:sldId id="849" r:id="rId14"/>
    <p:sldId id="677" r:id="rId15"/>
    <p:sldId id="850" r:id="rId16"/>
    <p:sldId id="680" r:id="rId17"/>
    <p:sldId id="679" r:id="rId18"/>
    <p:sldId id="681" r:id="rId19"/>
    <p:sldId id="682" r:id="rId20"/>
    <p:sldId id="683" r:id="rId21"/>
    <p:sldId id="684" r:id="rId22"/>
    <p:sldId id="685" r:id="rId23"/>
    <p:sldId id="686" r:id="rId24"/>
    <p:sldId id="687" r:id="rId25"/>
    <p:sldId id="688" r:id="rId26"/>
    <p:sldId id="689" r:id="rId27"/>
    <p:sldId id="853" r:id="rId28"/>
    <p:sldId id="691" r:id="rId29"/>
    <p:sldId id="690" r:id="rId30"/>
    <p:sldId id="692" r:id="rId31"/>
    <p:sldId id="702" r:id="rId32"/>
    <p:sldId id="670" r:id="rId33"/>
    <p:sldId id="731" r:id="rId34"/>
    <p:sldId id="835" r:id="rId35"/>
    <p:sldId id="694" r:id="rId36"/>
    <p:sldId id="826" r:id="rId37"/>
    <p:sldId id="827" r:id="rId38"/>
    <p:sldId id="833" r:id="rId39"/>
    <p:sldId id="671" r:id="rId40"/>
    <p:sldId id="713" r:id="rId41"/>
    <p:sldId id="695" r:id="rId42"/>
    <p:sldId id="714" r:id="rId43"/>
    <p:sldId id="715" r:id="rId44"/>
    <p:sldId id="716" r:id="rId45"/>
    <p:sldId id="718" r:id="rId46"/>
    <p:sldId id="710" r:id="rId47"/>
    <p:sldId id="719" r:id="rId48"/>
    <p:sldId id="720" r:id="rId49"/>
    <p:sldId id="721" r:id="rId50"/>
    <p:sldId id="722" r:id="rId51"/>
    <p:sldId id="723" r:id="rId52"/>
    <p:sldId id="724" r:id="rId53"/>
    <p:sldId id="732" r:id="rId54"/>
    <p:sldId id="733" r:id="rId55"/>
    <p:sldId id="734" r:id="rId56"/>
    <p:sldId id="812" r:id="rId57"/>
    <p:sldId id="856" r:id="rId58"/>
    <p:sldId id="829" r:id="rId59"/>
    <p:sldId id="830" r:id="rId60"/>
    <p:sldId id="813" r:id="rId61"/>
    <p:sldId id="735" r:id="rId62"/>
    <p:sldId id="736" r:id="rId63"/>
    <p:sldId id="737" r:id="rId64"/>
    <p:sldId id="738" r:id="rId65"/>
    <p:sldId id="712" r:id="rId66"/>
    <p:sldId id="739" r:id="rId67"/>
    <p:sldId id="740" r:id="rId68"/>
    <p:sldId id="820" r:id="rId69"/>
    <p:sldId id="828" r:id="rId70"/>
    <p:sldId id="855" r:id="rId71"/>
    <p:sldId id="672" r:id="rId72"/>
    <p:sldId id="741" r:id="rId73"/>
    <p:sldId id="743" r:id="rId74"/>
    <p:sldId id="744" r:id="rId75"/>
    <p:sldId id="742" r:id="rId76"/>
    <p:sldId id="746" r:id="rId77"/>
    <p:sldId id="745" r:id="rId78"/>
    <p:sldId id="747" r:id="rId79"/>
    <p:sldId id="823" r:id="rId80"/>
    <p:sldId id="758" r:id="rId81"/>
    <p:sldId id="673" r:id="rId82"/>
    <p:sldId id="759" r:id="rId83"/>
    <p:sldId id="760" r:id="rId84"/>
    <p:sldId id="761" r:id="rId85"/>
    <p:sldId id="762" r:id="rId86"/>
    <p:sldId id="817" r:id="rId87"/>
    <p:sldId id="763" r:id="rId88"/>
    <p:sldId id="764" r:id="rId89"/>
    <p:sldId id="819" r:id="rId90"/>
    <p:sldId id="857" r:id="rId91"/>
    <p:sldId id="814" r:id="rId92"/>
    <p:sldId id="750" r:id="rId93"/>
    <p:sldId id="773" r:id="rId94"/>
    <p:sldId id="478" r:id="rId95"/>
    <p:sldId id="480" r:id="rId96"/>
    <p:sldId id="476" r:id="rId97"/>
    <p:sldId id="477" r:id="rId98"/>
    <p:sldId id="774" r:id="rId99"/>
    <p:sldId id="776" r:id="rId100"/>
    <p:sldId id="777" r:id="rId101"/>
    <p:sldId id="840" r:id="rId102"/>
    <p:sldId id="751" r:id="rId103"/>
    <p:sldId id="783" r:id="rId104"/>
    <p:sldId id="784" r:id="rId105"/>
    <p:sldId id="786" r:id="rId106"/>
    <p:sldId id="838" r:id="rId107"/>
    <p:sldId id="789" r:id="rId108"/>
    <p:sldId id="791" r:id="rId109"/>
    <p:sldId id="790" r:id="rId110"/>
    <p:sldId id="752" r:id="rId111"/>
    <p:sldId id="674" r:id="rId112"/>
    <p:sldId id="794" r:id="rId113"/>
    <p:sldId id="795" r:id="rId114"/>
    <p:sldId id="796" r:id="rId115"/>
    <p:sldId id="797" r:id="rId116"/>
    <p:sldId id="798" r:id="rId117"/>
    <p:sldId id="799" r:id="rId118"/>
    <p:sldId id="800" r:id="rId119"/>
    <p:sldId id="824" r:id="rId120"/>
    <p:sldId id="801" r:id="rId121"/>
    <p:sldId id="675" r:id="rId122"/>
    <p:sldId id="802" r:id="rId123"/>
    <p:sldId id="803" r:id="rId124"/>
    <p:sldId id="804" r:id="rId125"/>
    <p:sldId id="810" r:id="rId126"/>
    <p:sldId id="805" r:id="rId127"/>
    <p:sldId id="825" r:id="rId128"/>
    <p:sldId id="806" r:id="rId129"/>
    <p:sldId id="859" r:id="rId130"/>
    <p:sldId id="807" r:id="rId131"/>
    <p:sldId id="808" r:id="rId132"/>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4" userDrawn="1">
          <p15:clr>
            <a:srgbClr val="A4A3A4"/>
          </p15:clr>
        </p15:guide>
        <p15:guide id="2" pos="383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CCFF"/>
    <a:srgbClr val="C8A1E5"/>
    <a:srgbClr val="692B99"/>
    <a:srgbClr val="8F46C8"/>
    <a:srgbClr val="FFFFFF"/>
    <a:srgbClr val="DE8300"/>
    <a:srgbClr val="9956CC"/>
    <a:srgbClr val="D9D9D9"/>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8" autoAdjust="0"/>
    <p:restoredTop sz="87009" autoAdjust="0"/>
  </p:normalViewPr>
  <p:slideViewPr>
    <p:cSldViewPr snapToGrid="0">
      <p:cViewPr varScale="1">
        <p:scale>
          <a:sx n="52" d="100"/>
          <a:sy n="52" d="100"/>
        </p:scale>
        <p:origin x="1204" y="60"/>
      </p:cViewPr>
      <p:guideLst>
        <p:guide orient="horz" pos="2024"/>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2025/11/23</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139362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。执行时，为了便于找到数据和指令内存每个单元都有地址；</a:t>
            </a:r>
            <a:endParaRPr lang="en-US" altLang="zh-CN" dirty="0"/>
          </a:p>
          <a:p>
            <a:pPr marL="228600" indent="-228600">
              <a:buAutoNum type="arabicPeriod" startAt="2"/>
            </a:pPr>
            <a:r>
              <a:rPr lang="zh-CN" altLang="en-US" dirty="0"/>
              <a:t>对数据的存储变为对某个地址空间的读写；</a:t>
            </a:r>
            <a:r>
              <a:rPr lang="en-US" altLang="zh-CN" dirty="0"/>
              <a:t>-&gt; </a:t>
            </a:r>
            <a:r>
              <a:rPr lang="zh-CN" altLang="en-US" dirty="0"/>
              <a:t>程序必须有编译过程，将语句变成可直接执行的机器语言</a:t>
            </a:r>
            <a:r>
              <a:rPr lang="en-US" altLang="zh-CN" dirty="0"/>
              <a:t>+</a:t>
            </a:r>
            <a:r>
              <a:rPr lang="zh-CN" altLang="en-US" dirty="0"/>
              <a:t>给变量分配存储空间（变量和指令都有对应地址），对变量的访问变成对存储空间的读写；</a:t>
            </a:r>
            <a:endParaRPr lang="en-US" altLang="zh-CN" dirty="0"/>
          </a:p>
          <a:p>
            <a:pPr marL="228600" indent="-228600">
              <a:buAutoNum type="arabicPeriod" startAt="2"/>
            </a:pPr>
            <a:r>
              <a:rPr lang="zh-CN" altLang="en-US" dirty="0"/>
              <a:t>因为编译时并不知道运行时放在内存什么地方（哪里有空放在哪里），编译时地址从</a:t>
            </a:r>
            <a:r>
              <a:rPr lang="en-US" altLang="zh-CN" dirty="0"/>
              <a:t>0</a:t>
            </a:r>
            <a:r>
              <a:rPr lang="zh-CN" altLang="en-US" dirty="0"/>
              <a:t>开始编址。</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414220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7F97344-1B7A-8A71-9955-5C892CB0DC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15988">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15988">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15988">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15988">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0280F81-5AB5-43BC-8CCA-4C698E00ED40}" type="slidenum">
              <a:rPr lang="en-US" altLang="zh-CN"/>
              <a:pPr>
                <a:spcBef>
                  <a:spcPct val="0"/>
                </a:spcBef>
              </a:pPr>
              <a:t>32</a:t>
            </a:fld>
            <a:endParaRPr lang="en-US" altLang="zh-CN"/>
          </a:p>
        </p:txBody>
      </p:sp>
      <p:sp>
        <p:nvSpPr>
          <p:cNvPr id="43011" name="Rectangle 2">
            <a:extLst>
              <a:ext uri="{FF2B5EF4-FFF2-40B4-BE49-F238E27FC236}">
                <a16:creationId xmlns:a16="http://schemas.microsoft.com/office/drawing/2014/main" id="{B57AE78E-99C1-3DC4-7565-B0391012419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4ED45B5A-8636-F8DD-B764-00221DE484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E5EA184F-08CB-A204-EC8F-9215E90E01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15988">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15988">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15988">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15988">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69646FF-AADF-4B9D-A424-701C68C76ED7}" type="slidenum">
              <a:rPr lang="en-US" altLang="zh-CN"/>
              <a:pPr>
                <a:spcBef>
                  <a:spcPct val="0"/>
                </a:spcBef>
              </a:pPr>
              <a:t>34</a:t>
            </a:fld>
            <a:endParaRPr lang="en-US" altLang="zh-CN"/>
          </a:p>
        </p:txBody>
      </p:sp>
      <p:sp>
        <p:nvSpPr>
          <p:cNvPr id="46083" name="Rectangle 2">
            <a:extLst>
              <a:ext uri="{FF2B5EF4-FFF2-40B4-BE49-F238E27FC236}">
                <a16:creationId xmlns:a16="http://schemas.microsoft.com/office/drawing/2014/main" id="{34519D1E-5D37-B729-B014-30D29BDC9652}"/>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B1387114-1F36-CDC0-6EDA-D74A78EB05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固定分区存储管理是满足多道程序设计要求的最简单的一种分区存储管理方案，曾用于IBM OS360 大型机的MFT 操作系统中。</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2068870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系统初始化后，除操作系统常驻内存部分之外，内存的用户区只有一个空闲分区。随后，分配程序根据进程的实际需求依次划分出分区，供进程使用。</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318158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3"/>
            <a:r>
              <a:rPr lang="zh-CN" altLang="en-US" dirty="0"/>
              <a:t>第一次将其划分为分区大小为2</a:t>
            </a:r>
            <a:r>
              <a:rPr lang="zh-CN" altLang="en-US" baseline="30000" dirty="0"/>
              <a:t>i</a:t>
            </a:r>
            <a:r>
              <a:rPr lang="en-US" altLang="zh-CN" baseline="30000" dirty="0"/>
              <a:t>+</a:t>
            </a:r>
            <a:r>
              <a:rPr lang="zh-CN" altLang="en-US" baseline="30000" dirty="0"/>
              <a:t>1</a:t>
            </a:r>
            <a:r>
              <a:rPr lang="zh-CN" altLang="en-US" dirty="0"/>
              <a:t>的两个分区，一个分区用于分配，另一个分区链接到分区大小为2</a:t>
            </a:r>
            <a:r>
              <a:rPr lang="zh-CN" altLang="en-US" baseline="30000" dirty="0"/>
              <a:t>i</a:t>
            </a:r>
            <a:r>
              <a:rPr lang="en-US" altLang="zh-CN" baseline="30000" dirty="0"/>
              <a:t>+</a:t>
            </a:r>
            <a:r>
              <a:rPr lang="zh-CN" altLang="en-US" baseline="30000" dirty="0"/>
              <a:t>1</a:t>
            </a:r>
            <a:r>
              <a:rPr lang="zh-CN" altLang="en-US" dirty="0"/>
              <a:t>的空闲分区链中；</a:t>
            </a:r>
          </a:p>
          <a:p>
            <a:pPr lvl="3"/>
            <a:r>
              <a:rPr lang="zh-CN" altLang="en-US" dirty="0"/>
              <a:t>第二次将第一次用于分配的空闲分区划分为分区大小2</a:t>
            </a:r>
            <a:r>
              <a:rPr lang="zh-CN" altLang="en-US" baseline="30000" dirty="0"/>
              <a:t>i</a:t>
            </a:r>
            <a:r>
              <a:rPr lang="zh-CN" altLang="en-US" dirty="0"/>
              <a:t> 的两个分区，一个分区用于分配，另一个分区链接到分区大小为2</a:t>
            </a:r>
            <a:r>
              <a:rPr lang="zh-CN" altLang="en-US" baseline="30000" dirty="0"/>
              <a:t>i </a:t>
            </a:r>
            <a:r>
              <a:rPr lang="zh-CN" altLang="en-US" dirty="0"/>
              <a:t>的空闲分区链中，以此类推。</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62</a:t>
            </a:fld>
            <a:endParaRPr lang="zh-CN" altLang="en-US"/>
          </a:p>
        </p:txBody>
      </p:sp>
    </p:spTree>
    <p:extLst>
      <p:ext uri="{BB962C8B-B14F-4D97-AF65-F5344CB8AC3E}">
        <p14:creationId xmlns:p14="http://schemas.microsoft.com/office/powerpoint/2010/main" val="3585802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79</a:t>
            </a:fld>
            <a:endParaRPr lang="zh-CN" altLang="en-US"/>
          </a:p>
        </p:txBody>
      </p:sp>
    </p:spTree>
    <p:extLst>
      <p:ext uri="{BB962C8B-B14F-4D97-AF65-F5344CB8AC3E}">
        <p14:creationId xmlns:p14="http://schemas.microsoft.com/office/powerpoint/2010/main" val="835252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82</a:t>
            </a:fld>
            <a:endParaRPr lang="zh-CN" altLang="en-US"/>
          </a:p>
        </p:txBody>
      </p:sp>
    </p:spTree>
    <p:extLst>
      <p:ext uri="{BB962C8B-B14F-4D97-AF65-F5344CB8AC3E}">
        <p14:creationId xmlns:p14="http://schemas.microsoft.com/office/powerpoint/2010/main" val="3092671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地址变换过程</a:t>
            </a:r>
          </a:p>
          <a:p>
            <a:pPr marL="914400" lvl="1" indent="-457200">
              <a:buClr>
                <a:schemeClr val="tx1"/>
              </a:buClr>
              <a:buSzPct val="100000"/>
              <a:buFont typeface="+mj-lt"/>
              <a:buAutoNum type="arabicPeriod"/>
            </a:pPr>
            <a:r>
              <a:rPr lang="zh-CN" altLang="en-US" dirty="0"/>
              <a:t>将</a:t>
            </a:r>
            <a:r>
              <a:rPr lang="zh-CN" altLang="en-US" dirty="0">
                <a:solidFill>
                  <a:srgbClr val="0000FF"/>
                </a:solidFill>
              </a:rPr>
              <a:t>逻辑地址分成页号P和页内地址w两部分</a:t>
            </a:r>
            <a:r>
              <a:rPr lang="zh-CN" altLang="en-US" dirty="0"/>
              <a:t>。</a:t>
            </a:r>
          </a:p>
          <a:p>
            <a:pPr marL="914400" lvl="1" indent="-457200">
              <a:buClr>
                <a:schemeClr val="tx1"/>
              </a:buClr>
              <a:buSzPct val="100000"/>
              <a:buFont typeface="+mj-lt"/>
              <a:buAutoNum type="arabicPeriod"/>
            </a:pPr>
            <a:r>
              <a:rPr lang="zh-CN" altLang="en-US" dirty="0"/>
              <a:t>将页号P 与页表寄存器存放的页表长度进行比较</a:t>
            </a:r>
            <a:r>
              <a:rPr lang="en-US" altLang="zh-CN" dirty="0"/>
              <a:t>——</a:t>
            </a:r>
            <a:r>
              <a:rPr lang="zh-CN" altLang="en-US" dirty="0">
                <a:solidFill>
                  <a:srgbClr val="0000FF"/>
                </a:solidFill>
              </a:rPr>
              <a:t>是否越界</a:t>
            </a:r>
          </a:p>
          <a:p>
            <a:pPr lvl="2"/>
            <a:r>
              <a:rPr lang="zh-CN" altLang="en-US" dirty="0"/>
              <a:t>若页号大于或等于页表长度，则表示本次访问的地址超出了进程地址空间，系统产生越界中断。</a:t>
            </a:r>
          </a:p>
          <a:p>
            <a:pPr lvl="2"/>
            <a:r>
              <a:rPr lang="zh-CN" altLang="en-US" dirty="0"/>
              <a:t>若页号小于页表长度，则</a:t>
            </a:r>
          </a:p>
          <a:p>
            <a:pPr lvl="3"/>
            <a:r>
              <a:rPr lang="zh-CN" altLang="en-US" dirty="0"/>
              <a:t>根据页表寄存器存放的页表始址，在内存中找到页表，查得该页号对应的物理块号</a:t>
            </a:r>
          </a:p>
          <a:p>
            <a:pPr lvl="3"/>
            <a:r>
              <a:rPr lang="zh-CN" altLang="en-US" dirty="0"/>
              <a:t>将物理块号送入物理地址寄存器的高位部分；同时将页内地址w直接送入物理地址寄存器的块内地址字段。这样就得到了二进制物理地址，完成了从逻辑地址到物理地址的变换。</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93</a:t>
            </a:fld>
            <a:endParaRPr lang="zh-CN" altLang="en-US"/>
          </a:p>
        </p:txBody>
      </p:sp>
    </p:spTree>
    <p:extLst>
      <p:ext uri="{BB962C8B-B14F-4D97-AF65-F5344CB8AC3E}">
        <p14:creationId xmlns:p14="http://schemas.microsoft.com/office/powerpoint/2010/main" val="3871270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60C96154-7C21-405C-A07B-F1C0CED625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a:extLst>
              <a:ext uri="{FF2B5EF4-FFF2-40B4-BE49-F238E27FC236}">
                <a16:creationId xmlns:a16="http://schemas.microsoft.com/office/drawing/2014/main" id="{69470A63-54DE-482B-8DCF-1E13D3657BA5}"/>
              </a:ext>
            </a:extLst>
          </p:cNvPr>
          <p:cNvSpPr>
            <a:spLocks noGrp="1" noChangeArrowheads="1"/>
          </p:cNvSpPr>
          <p:nvPr>
            <p:ph type="body" idx="1"/>
          </p:nvPr>
        </p:nvSpPr>
        <p:spPr>
          <a:ln/>
        </p:spPr>
        <p:txBody>
          <a:bodyPr>
            <a:normAutofit fontScale="85000" lnSpcReduction="20000"/>
          </a:bodyPr>
          <a:lstStyle/>
          <a:p>
            <a:pPr lvl="1" algn="just" eaLnBrk="1" hangingPunct="1">
              <a:spcAft>
                <a:spcPts val="600"/>
              </a:spcAft>
              <a:defRPr/>
            </a:pPr>
            <a:r>
              <a:rPr lang="zh-CN" altLang="en-US" sz="2800">
                <a:solidFill>
                  <a:srgbClr val="0000FF"/>
                </a:solidFill>
                <a:latin typeface="华文新魏" panose="02010800040101010101" pitchFamily="2" charset="-122"/>
                <a:ea typeface="华文新魏" panose="02010800040101010101" pitchFamily="2" charset="-122"/>
              </a:rPr>
              <a:t>将虚地址转换成二进制的数；</a:t>
            </a:r>
          </a:p>
          <a:p>
            <a:pPr lvl="1" algn="just" eaLnBrk="1" hangingPunct="1">
              <a:spcAft>
                <a:spcPts val="600"/>
              </a:spcAft>
              <a:defRPr/>
            </a:pPr>
            <a:r>
              <a:rPr lang="zh-CN" altLang="en-US" sz="2800">
                <a:solidFill>
                  <a:srgbClr val="0000FF"/>
                </a:solidFill>
                <a:latin typeface="华文新魏" panose="02010800040101010101" pitchFamily="2" charset="-122"/>
                <a:ea typeface="华文新魏" panose="02010800040101010101" pitchFamily="2" charset="-122"/>
              </a:rPr>
              <a:t>按页的大小分离出页号和位移量（低位部分是位移量，高位部分是页号）；</a:t>
            </a:r>
            <a:endParaRPr lang="zh-CN" altLang="en-US" sz="2800">
              <a:latin typeface="华文新魏" panose="02010800040101010101" pitchFamily="2" charset="-122"/>
              <a:ea typeface="华文新魏" panose="02010800040101010101" pitchFamily="2" charset="-122"/>
            </a:endParaRPr>
          </a:p>
          <a:p>
            <a:pPr lvl="1" algn="just" eaLnBrk="1" hangingPunct="1">
              <a:spcAft>
                <a:spcPts val="600"/>
              </a:spcAft>
              <a:defRPr/>
            </a:pPr>
            <a:r>
              <a:rPr lang="zh-CN" altLang="en-US" sz="2800">
                <a:latin typeface="华文新魏" panose="02010800040101010101" pitchFamily="2" charset="-122"/>
                <a:ea typeface="华文新魏" panose="02010800040101010101" pitchFamily="2" charset="-122"/>
              </a:rPr>
              <a:t>将位移量直接复制到物理地址寄存器的低位部分；</a:t>
            </a:r>
          </a:p>
          <a:p>
            <a:pPr lvl="1" algn="just" eaLnBrk="1" hangingPunct="1">
              <a:spcAft>
                <a:spcPts val="600"/>
              </a:spcAft>
              <a:defRPr/>
            </a:pPr>
            <a:r>
              <a:rPr lang="zh-CN" altLang="en-US" sz="2800">
                <a:solidFill>
                  <a:srgbClr val="FF0000"/>
                </a:solidFill>
                <a:latin typeface="华文新魏" panose="02010800040101010101" pitchFamily="2" charset="-122"/>
                <a:ea typeface="华文新魏" panose="02010800040101010101" pitchFamily="2" charset="-122"/>
              </a:rPr>
              <a:t>以页号查页表</a:t>
            </a:r>
            <a:r>
              <a:rPr lang="zh-CN" altLang="en-US" sz="2800">
                <a:latin typeface="华文新魏" panose="02010800040101010101" pitchFamily="2" charset="-122"/>
                <a:ea typeface="华文新魏" panose="02010800040101010101" pitchFamily="2" charset="-122"/>
              </a:rPr>
              <a:t>，得到对应页装入内存的块号，并将块号转换成二进制数填入物理地址寄存器的高位部分，从而形成内存地址。</a:t>
            </a:r>
          </a:p>
          <a:p>
            <a:pPr>
              <a:defRPr/>
            </a:pPr>
            <a:endParaRPr lang="zh-CN" altLang="en-US"/>
          </a:p>
        </p:txBody>
      </p:sp>
      <p:sp>
        <p:nvSpPr>
          <p:cNvPr id="72708" name="灯片编号占位符 3">
            <a:extLst>
              <a:ext uri="{FF2B5EF4-FFF2-40B4-BE49-F238E27FC236}">
                <a16:creationId xmlns:a16="http://schemas.microsoft.com/office/drawing/2014/main" id="{1E9C4F48-ECD8-423F-9023-CE1EC34A176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sz="2800">
                <a:solidFill>
                  <a:schemeClr val="tx1"/>
                </a:solidFill>
                <a:latin typeface="Arial" panose="020B0604020202020204" pitchFamily="34" charset="0"/>
                <a:ea typeface="宋体" panose="02010600030101010101" pitchFamily="2" charset="-122"/>
              </a:defRPr>
            </a:lvl1pPr>
            <a:lvl2pPr marL="742950" indent="-285750" defTabSz="915988">
              <a:defRPr sz="2800">
                <a:solidFill>
                  <a:schemeClr val="tx1"/>
                </a:solidFill>
                <a:latin typeface="Arial" panose="020B0604020202020204" pitchFamily="34" charset="0"/>
                <a:ea typeface="宋体" panose="02010600030101010101" pitchFamily="2" charset="-122"/>
              </a:defRPr>
            </a:lvl2pPr>
            <a:lvl3pPr marL="1143000" indent="-228600" defTabSz="915988">
              <a:defRPr sz="2800">
                <a:solidFill>
                  <a:schemeClr val="tx1"/>
                </a:solidFill>
                <a:latin typeface="Arial" panose="020B0604020202020204" pitchFamily="34" charset="0"/>
                <a:ea typeface="宋体" panose="02010600030101010101" pitchFamily="2" charset="-122"/>
              </a:defRPr>
            </a:lvl3pPr>
            <a:lvl4pPr marL="1600200" indent="-228600" defTabSz="915988">
              <a:defRPr sz="2800">
                <a:solidFill>
                  <a:schemeClr val="tx1"/>
                </a:solidFill>
                <a:latin typeface="Arial" panose="020B0604020202020204" pitchFamily="34" charset="0"/>
                <a:ea typeface="宋体" panose="02010600030101010101" pitchFamily="2" charset="-122"/>
              </a:defRPr>
            </a:lvl4pPr>
            <a:lvl5pPr marL="2057400" indent="-228600" defTabSz="915988">
              <a:defRPr sz="2800">
                <a:solidFill>
                  <a:schemeClr val="tx1"/>
                </a:solidFill>
                <a:latin typeface="Arial" panose="020B0604020202020204" pitchFamily="34" charset="0"/>
                <a:ea typeface="宋体" panose="02010600030101010101" pitchFamily="2" charset="-122"/>
              </a:defRPr>
            </a:lvl5pPr>
            <a:lvl6pPr marL="2514600" indent="-228600" defTabSz="915988"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defTabSz="915988"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defTabSz="915988"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defTabSz="915988"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fld id="{F894E9E1-100B-41AC-8C9C-FAC42B04D2A4}" type="slidenum">
              <a:rPr lang="en-US" altLang="zh-CN" sz="1200" smtClean="0"/>
              <a:pPr/>
              <a:t>96</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F73131"/>
                </a:solidFill>
                <a:effectLst/>
                <a:latin typeface="Arial" panose="020B0604020202020204" pitchFamily="34" charset="0"/>
              </a:rPr>
              <a:t>高速缓冲存储器</a:t>
            </a:r>
            <a:r>
              <a:rPr lang="zh-CN" altLang="en-US" b="0" i="0" dirty="0">
                <a:solidFill>
                  <a:srgbClr val="333333"/>
                </a:solidFill>
                <a:effectLst/>
                <a:latin typeface="Arial" panose="020B0604020202020204" pitchFamily="34" charset="0"/>
              </a:rPr>
              <a:t>（</a:t>
            </a:r>
            <a:r>
              <a:rPr lang="en-US" altLang="zh-CN" b="0" i="0" dirty="0">
                <a:solidFill>
                  <a:srgbClr val="F73131"/>
                </a:solidFill>
                <a:effectLst/>
                <a:latin typeface="Arial" panose="020B0604020202020204" pitchFamily="34" charset="0"/>
              </a:rPr>
              <a:t>Cache</a:t>
            </a:r>
            <a:r>
              <a:rPr lang="zh-CN" altLang="en-US" b="0" i="0" dirty="0">
                <a:solidFill>
                  <a:srgbClr val="333333"/>
                </a:solidFill>
                <a:effectLst/>
                <a:latin typeface="Arial" panose="020B0604020202020204" pitchFamily="34" charset="0"/>
              </a:rPr>
              <a:t>）不同于联想存储器</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99</a:t>
            </a:fld>
            <a:endParaRPr lang="zh-CN" altLang="en-US"/>
          </a:p>
        </p:txBody>
      </p:sp>
    </p:spTree>
    <p:extLst>
      <p:ext uri="{BB962C8B-B14F-4D97-AF65-F5344CB8AC3E}">
        <p14:creationId xmlns:p14="http://schemas.microsoft.com/office/powerpoint/2010/main" val="921444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0,137</a:t>
            </a:r>
            <a:r>
              <a:rPr lang="zh-CN" altLang="en-US" dirty="0"/>
              <a:t>）：</a:t>
            </a:r>
            <a:r>
              <a:rPr lang="en-US" altLang="zh-CN" dirty="0"/>
              <a:t>0&lt;=4,137&lt;=10k,</a:t>
            </a:r>
            <a:r>
              <a:rPr lang="zh-CN" altLang="en-US" dirty="0"/>
              <a:t>所以物理地址为：</a:t>
            </a:r>
            <a:r>
              <a:rPr lang="en-US" altLang="zh-CN" dirty="0"/>
              <a:t>50*1024+137=51337</a:t>
            </a:r>
            <a:r>
              <a:rPr lang="zh-CN" altLang="en-US" dirty="0"/>
              <a:t>（</a:t>
            </a:r>
            <a:r>
              <a:rPr lang="en-US" altLang="zh-CN" dirty="0"/>
              <a:t>1,4000</a:t>
            </a:r>
            <a:r>
              <a:rPr lang="zh-CN" altLang="en-US" dirty="0"/>
              <a:t>）：</a:t>
            </a:r>
            <a:r>
              <a:rPr lang="en-US" altLang="zh-CN" dirty="0"/>
              <a:t>1&lt;=4,</a:t>
            </a:r>
            <a:r>
              <a:rPr lang="zh-CN" altLang="en-US" dirty="0"/>
              <a:t>但</a:t>
            </a:r>
            <a:r>
              <a:rPr lang="en-US" altLang="zh-CN" dirty="0"/>
              <a:t>4000&gt;3k,</a:t>
            </a:r>
            <a:r>
              <a:rPr lang="zh-CN" altLang="en-US" dirty="0"/>
              <a:t>越界中断（</a:t>
            </a:r>
            <a:r>
              <a:rPr lang="en-US" altLang="zh-CN" dirty="0"/>
              <a:t>2,3600</a:t>
            </a:r>
            <a:r>
              <a:rPr lang="zh-CN" altLang="en-US" dirty="0"/>
              <a:t>）：</a:t>
            </a:r>
            <a:r>
              <a:rPr lang="en-US" altLang="zh-CN" dirty="0"/>
              <a:t>2&lt;=4,3600&lt;=5k,</a:t>
            </a:r>
            <a:r>
              <a:rPr lang="zh-CN" altLang="en-US" dirty="0"/>
              <a:t>所以物理地址为：</a:t>
            </a:r>
            <a:r>
              <a:rPr lang="en-US" altLang="zh-CN" dirty="0"/>
              <a:t>70*1024+3600=75280</a:t>
            </a:r>
            <a:r>
              <a:rPr lang="zh-CN" altLang="en-US" dirty="0"/>
              <a:t>（</a:t>
            </a:r>
            <a:r>
              <a:rPr lang="en-US" altLang="zh-CN" dirty="0"/>
              <a:t>5,230</a:t>
            </a:r>
            <a:r>
              <a:rPr lang="zh-CN" altLang="en-US" dirty="0"/>
              <a:t>）：因为</a:t>
            </a:r>
            <a:r>
              <a:rPr lang="en-US" altLang="zh-CN" dirty="0"/>
              <a:t>5&gt;4,</a:t>
            </a:r>
            <a:r>
              <a:rPr lang="zh-CN" altLang="en-US" dirty="0"/>
              <a:t>越界中断</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119</a:t>
            </a:fld>
            <a:endParaRPr lang="zh-CN" altLang="en-US"/>
          </a:p>
        </p:txBody>
      </p:sp>
    </p:spTree>
    <p:extLst>
      <p:ext uri="{BB962C8B-B14F-4D97-AF65-F5344CB8AC3E}">
        <p14:creationId xmlns:p14="http://schemas.microsoft.com/office/powerpoint/2010/main" val="9491135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slideMaster" Target="../slideMasters/slideMaster1.xml"/><Relationship Id="rId4" Type="http://schemas.openxmlformats.org/officeDocument/2006/relationships/tags" Target="../tags/tag3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
        <p:nvSpPr>
          <p:cNvPr id="12" name="任意多边形 11"/>
          <p:cNvSpPr/>
          <p:nvPr userDrawn="1"/>
        </p:nvSpPr>
        <p:spPr>
          <a:xfrm>
            <a:off x="0" y="1264921"/>
            <a:ext cx="12206817" cy="5281083"/>
          </a:xfrm>
          <a:custGeom>
            <a:avLst/>
            <a:gdLst/>
            <a:ahLst/>
            <a:cxnLst/>
            <a:rect l="0" t="0" r="0" b="0"/>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alpha val="100000"/>
                </a:schemeClr>
              </a:gs>
              <a:gs pos="100000">
                <a:schemeClr val="bg1">
                  <a:alpha val="89999"/>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2" name="标题 1"/>
          <p:cNvSpPr>
            <a:spLocks noGrp="1"/>
          </p:cNvSpPr>
          <p:nvPr>
            <p:ph type="ctrTitle" hasCustomPrompt="1"/>
            <p:custDataLst>
              <p:tags r:id="rId1"/>
            </p:custDataLst>
          </p:nvPr>
        </p:nvSpPr>
        <p:spPr>
          <a:xfrm>
            <a:off x="3775075" y="1981835"/>
            <a:ext cx="5626100" cy="1236345"/>
          </a:xfrm>
          <a:noFill/>
          <a:extLst>
            <a:ext uri="{909E8E84-426E-40DD-AFC4-6F175D3DCCD1}">
              <a14:hiddenFill xmlns:a14="http://schemas.microsoft.com/office/drawing/2010/main">
                <a:solidFill>
                  <a:schemeClr val="accent1">
                    <a:lumMod val="75000"/>
                  </a:schemeClr>
                </a:solidFill>
              </a14:hiddenFill>
            </a:ext>
          </a:extLst>
        </p:spPr>
        <p:txBody>
          <a:bodyPr lIns="90000" tIns="46800" rIns="90000" bIns="46800" anchor="b" anchorCtr="0">
            <a:normAutofit/>
          </a:bodyPr>
          <a:lstStyle>
            <a:lvl1pPr algn="ctr">
              <a:defRPr sz="4800" b="1" i="0" spc="300" baseline="0">
                <a:solidFill>
                  <a:schemeClr val="accent1">
                    <a:lumMod val="75000"/>
                  </a:schemeClr>
                </a:solidFill>
                <a:effectLst/>
              </a:defRPr>
            </a:lvl1pPr>
          </a:lstStyle>
          <a:p>
            <a:r>
              <a:rPr lang="zh-CN" altLang="en-US" dirty="0"/>
              <a:t>单击此处编辑标题</a:t>
            </a:r>
          </a:p>
        </p:txBody>
      </p:sp>
      <p:sp>
        <p:nvSpPr>
          <p:cNvPr id="8" name="任意多边形 7"/>
          <p:cNvSpPr/>
          <p:nvPr userDrawn="1"/>
        </p:nvSpPr>
        <p:spPr>
          <a:xfrm>
            <a:off x="156633" y="582930"/>
            <a:ext cx="12035367" cy="575733"/>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文本框 9"/>
          <p:cNvSpPr txBox="1"/>
          <p:nvPr userDrawn="1"/>
        </p:nvSpPr>
        <p:spPr>
          <a:xfrm>
            <a:off x="8974455" y="389890"/>
            <a:ext cx="2717165" cy="460375"/>
          </a:xfrm>
          <a:prstGeom prst="rect">
            <a:avLst/>
          </a:prstGeom>
          <a:solidFill>
            <a:schemeClr val="accent1">
              <a:lumMod val="75000"/>
            </a:schemeClr>
          </a:solidFill>
          <a:scene3d>
            <a:camera prst="orthographicFront">
              <a:rot lat="0" lon="0" rev="0"/>
            </a:camera>
            <a:lightRig rig="threePt" dir="t"/>
          </a:scene3d>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rPr>
              <a:t>计算机操作系统</a:t>
            </a:r>
            <a:endPar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sym typeface="+mn-ea"/>
            </a:endParaRPr>
          </a:p>
        </p:txBody>
      </p:sp>
      <p:sp>
        <p:nvSpPr>
          <p:cNvPr id="19" name="任意多边形 18"/>
          <p:cNvSpPr/>
          <p:nvPr userDrawn="1"/>
        </p:nvSpPr>
        <p:spPr>
          <a:xfrm flipH="1" flipV="1">
            <a:off x="-7620" y="5883488"/>
            <a:ext cx="12192000" cy="768349"/>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grpSp>
        <p:nvGrpSpPr>
          <p:cNvPr id="20" name="Group 10"/>
          <p:cNvGrpSpPr/>
          <p:nvPr userDrawn="1"/>
        </p:nvGrpSpPr>
        <p:grpSpPr bwMode="auto">
          <a:xfrm>
            <a:off x="9160384" y="6070822"/>
            <a:ext cx="380048" cy="380121"/>
            <a:chOff x="0" y="0"/>
            <a:chExt cx="965499" cy="965499"/>
          </a:xfrm>
        </p:grpSpPr>
        <p:sp>
          <p:nvSpPr>
            <p:cNvPr id="21" name="AutoShape 11"/>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2" name="AutoShape 12"/>
            <p:cNvSpPr/>
            <p:nvPr/>
          </p:nvSpPr>
          <p:spPr bwMode="auto">
            <a:xfrm>
              <a:off x="285759" y="283328"/>
              <a:ext cx="393981" cy="393980"/>
            </a:xfrm>
            <a:custGeom>
              <a:avLst/>
              <a:gdLst>
                <a:gd name="T0" fmla="*/ 196991 w 21376"/>
                <a:gd name="T1" fmla="*/ 196990 h 21600"/>
                <a:gd name="T2" fmla="*/ 196991 w 21376"/>
                <a:gd name="T3" fmla="*/ 196990 h 21600"/>
                <a:gd name="T4" fmla="*/ 196991 w 21376"/>
                <a:gd name="T5" fmla="*/ 196990 h 21600"/>
                <a:gd name="T6" fmla="*/ 196991 w 21376"/>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3" name="Group 13"/>
          <p:cNvGrpSpPr/>
          <p:nvPr userDrawn="1"/>
        </p:nvGrpSpPr>
        <p:grpSpPr bwMode="auto">
          <a:xfrm>
            <a:off x="9697919" y="6070822"/>
            <a:ext cx="380673" cy="380121"/>
            <a:chOff x="0" y="0"/>
            <a:chExt cx="965499" cy="965499"/>
          </a:xfrm>
        </p:grpSpPr>
        <p:sp>
          <p:nvSpPr>
            <p:cNvPr id="24" name="AutoShape 14"/>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5" name="AutoShape 15"/>
            <p:cNvSpPr/>
            <p:nvPr/>
          </p:nvSpPr>
          <p:spPr bwMode="auto">
            <a:xfrm>
              <a:off x="285759" y="283328"/>
              <a:ext cx="393981" cy="393980"/>
            </a:xfrm>
            <a:custGeom>
              <a:avLst/>
              <a:gdLst>
                <a:gd name="T0" fmla="*/ 196991 w 21600"/>
                <a:gd name="T1" fmla="*/ 196990 h 21600"/>
                <a:gd name="T2" fmla="*/ 196991 w 21600"/>
                <a:gd name="T3" fmla="*/ 196990 h 21600"/>
                <a:gd name="T4" fmla="*/ 196991 w 21600"/>
                <a:gd name="T5" fmla="*/ 196990 h 21600"/>
                <a:gd name="T6" fmla="*/ 196991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600" y="9409"/>
                    <a:pt x="21600" y="10002"/>
                  </a:cubicBezTo>
                  <a:cubicBezTo>
                    <a:pt x="21600"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6" name="Group 16"/>
          <p:cNvGrpSpPr/>
          <p:nvPr userDrawn="1"/>
        </p:nvGrpSpPr>
        <p:grpSpPr bwMode="auto">
          <a:xfrm>
            <a:off x="10236079" y="6070822"/>
            <a:ext cx="380048" cy="380121"/>
            <a:chOff x="0" y="0"/>
            <a:chExt cx="965499" cy="965499"/>
          </a:xfrm>
        </p:grpSpPr>
        <p:sp>
          <p:nvSpPr>
            <p:cNvPr id="27" name="AutoShape 17"/>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0" name="AutoShape 18"/>
            <p:cNvSpPr/>
            <p:nvPr/>
          </p:nvSpPr>
          <p:spPr bwMode="auto">
            <a:xfrm>
              <a:off x="293617" y="264823"/>
              <a:ext cx="393980" cy="393980"/>
            </a:xfrm>
            <a:custGeom>
              <a:avLst/>
              <a:gdLst>
                <a:gd name="T0" fmla="*/ 196990 w 21600"/>
                <a:gd name="T1" fmla="*/ 196990 h 21600"/>
                <a:gd name="T2" fmla="*/ 196990 w 21600"/>
                <a:gd name="T3" fmla="*/ 196990 h 21600"/>
                <a:gd name="T4" fmla="*/ 196990 w 21600"/>
                <a:gd name="T5" fmla="*/ 196990 h 21600"/>
                <a:gd name="T6" fmla="*/ 196990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949"/>
                  </a:moveTo>
                  <a:cubicBezTo>
                    <a:pt x="21600"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1" name="Group 19"/>
          <p:cNvGrpSpPr/>
          <p:nvPr userDrawn="1"/>
        </p:nvGrpSpPr>
        <p:grpSpPr bwMode="auto">
          <a:xfrm>
            <a:off x="10773613" y="6070822"/>
            <a:ext cx="380048" cy="380121"/>
            <a:chOff x="0" y="0"/>
            <a:chExt cx="965499" cy="965499"/>
          </a:xfrm>
        </p:grpSpPr>
        <p:sp>
          <p:nvSpPr>
            <p:cNvPr id="32" name="AutoShape 20"/>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3" name="AutoShape 21"/>
            <p:cNvSpPr/>
            <p:nvPr/>
          </p:nvSpPr>
          <p:spPr bwMode="auto">
            <a:xfrm>
              <a:off x="292545" y="314566"/>
              <a:ext cx="380408" cy="307104"/>
            </a:xfrm>
            <a:custGeom>
              <a:avLst/>
              <a:gdLst>
                <a:gd name="T0" fmla="*/ 190204 w 21600"/>
                <a:gd name="T1" fmla="*/ 153552 h 21600"/>
                <a:gd name="T2" fmla="*/ 190204 w 21600"/>
                <a:gd name="T3" fmla="*/ 153552 h 21600"/>
                <a:gd name="T4" fmla="*/ 190204 w 21600"/>
                <a:gd name="T5" fmla="*/ 153552 h 21600"/>
                <a:gd name="T6" fmla="*/ 190204 w 21600"/>
                <a:gd name="T7" fmla="*/ 1535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3222"/>
                  </a:moveTo>
                  <a:cubicBezTo>
                    <a:pt x="20632" y="3222"/>
                    <a:pt x="20946" y="3384"/>
                    <a:pt x="21208" y="3713"/>
                  </a:cubicBezTo>
                  <a:cubicBezTo>
                    <a:pt x="21470" y="4042"/>
                    <a:pt x="21600" y="4427"/>
                    <a:pt x="21600" y="4865"/>
                  </a:cubicBezTo>
                  <a:lnTo>
                    <a:pt x="21600" y="19984"/>
                  </a:lnTo>
                  <a:cubicBezTo>
                    <a:pt x="21600" y="20421"/>
                    <a:pt x="21470" y="20803"/>
                    <a:pt x="21208" y="21121"/>
                  </a:cubicBezTo>
                  <a:cubicBezTo>
                    <a:pt x="20946" y="21441"/>
                    <a:pt x="20632" y="21600"/>
                    <a:pt x="20263" y="21600"/>
                  </a:cubicBezTo>
                  <a:lnTo>
                    <a:pt x="1348" y="21600"/>
                  </a:lnTo>
                  <a:cubicBezTo>
                    <a:pt x="981" y="21600"/>
                    <a:pt x="663" y="21441"/>
                    <a:pt x="399" y="21121"/>
                  </a:cubicBezTo>
                  <a:cubicBezTo>
                    <a:pt x="134" y="20803"/>
                    <a:pt x="0" y="20421"/>
                    <a:pt x="0" y="19984"/>
                  </a:cubicBezTo>
                  <a:lnTo>
                    <a:pt x="0" y="4865"/>
                  </a:lnTo>
                  <a:cubicBezTo>
                    <a:pt x="0" y="4427"/>
                    <a:pt x="134" y="4042"/>
                    <a:pt x="399" y="3713"/>
                  </a:cubicBezTo>
                  <a:cubicBezTo>
                    <a:pt x="663" y="3384"/>
                    <a:pt x="981" y="3222"/>
                    <a:pt x="1348" y="3222"/>
                  </a:cubicBezTo>
                  <a:lnTo>
                    <a:pt x="5638" y="3222"/>
                  </a:lnTo>
                  <a:lnTo>
                    <a:pt x="6318" y="1460"/>
                  </a:lnTo>
                  <a:cubicBezTo>
                    <a:pt x="6458" y="1057"/>
                    <a:pt x="6717" y="713"/>
                    <a:pt x="7089" y="425"/>
                  </a:cubicBezTo>
                  <a:cubicBezTo>
                    <a:pt x="7466" y="143"/>
                    <a:pt x="7838" y="0"/>
                    <a:pt x="8203" y="0"/>
                  </a:cubicBezTo>
                  <a:lnTo>
                    <a:pt x="13396" y="0"/>
                  </a:lnTo>
                  <a:cubicBezTo>
                    <a:pt x="13763" y="0"/>
                    <a:pt x="14135" y="143"/>
                    <a:pt x="14510" y="425"/>
                  </a:cubicBezTo>
                  <a:cubicBezTo>
                    <a:pt x="14884" y="713"/>
                    <a:pt x="15146" y="1057"/>
                    <a:pt x="15293" y="1460"/>
                  </a:cubicBezTo>
                  <a:lnTo>
                    <a:pt x="15961" y="3222"/>
                  </a:lnTo>
                  <a:lnTo>
                    <a:pt x="20263" y="3222"/>
                  </a:lnTo>
                  <a:close/>
                  <a:moveTo>
                    <a:pt x="10806" y="19185"/>
                  </a:moveTo>
                  <a:cubicBezTo>
                    <a:pt x="11572" y="19185"/>
                    <a:pt x="12299" y="19002"/>
                    <a:pt x="12987" y="18650"/>
                  </a:cubicBezTo>
                  <a:cubicBezTo>
                    <a:pt x="13672" y="18294"/>
                    <a:pt x="14270" y="17810"/>
                    <a:pt x="14774" y="17196"/>
                  </a:cubicBezTo>
                  <a:cubicBezTo>
                    <a:pt x="15278" y="16582"/>
                    <a:pt x="15677" y="15862"/>
                    <a:pt x="15974" y="15048"/>
                  </a:cubicBezTo>
                  <a:cubicBezTo>
                    <a:pt x="16270" y="14234"/>
                    <a:pt x="16419" y="13356"/>
                    <a:pt x="16419" y="12421"/>
                  </a:cubicBezTo>
                  <a:cubicBezTo>
                    <a:pt x="16419" y="11499"/>
                    <a:pt x="16270" y="10623"/>
                    <a:pt x="15974" y="9795"/>
                  </a:cubicBezTo>
                  <a:cubicBezTo>
                    <a:pt x="15677" y="8966"/>
                    <a:pt x="15278" y="8249"/>
                    <a:pt x="14774" y="7644"/>
                  </a:cubicBezTo>
                  <a:cubicBezTo>
                    <a:pt x="14270" y="7036"/>
                    <a:pt x="13672" y="6557"/>
                    <a:pt x="12987" y="6199"/>
                  </a:cubicBezTo>
                  <a:cubicBezTo>
                    <a:pt x="12299" y="5843"/>
                    <a:pt x="11572" y="5667"/>
                    <a:pt x="10806" y="5667"/>
                  </a:cubicBezTo>
                  <a:cubicBezTo>
                    <a:pt x="10039" y="5667"/>
                    <a:pt x="9312" y="5846"/>
                    <a:pt x="8619" y="6199"/>
                  </a:cubicBezTo>
                  <a:cubicBezTo>
                    <a:pt x="7929" y="6557"/>
                    <a:pt x="7332" y="7036"/>
                    <a:pt x="6827" y="7644"/>
                  </a:cubicBezTo>
                  <a:cubicBezTo>
                    <a:pt x="6323" y="8249"/>
                    <a:pt x="5922" y="8963"/>
                    <a:pt x="5625" y="9789"/>
                  </a:cubicBezTo>
                  <a:cubicBezTo>
                    <a:pt x="5329" y="10612"/>
                    <a:pt x="5180" y="11490"/>
                    <a:pt x="5180" y="12421"/>
                  </a:cubicBezTo>
                  <a:cubicBezTo>
                    <a:pt x="5180" y="13356"/>
                    <a:pt x="5329" y="14234"/>
                    <a:pt x="5625" y="15048"/>
                  </a:cubicBezTo>
                  <a:cubicBezTo>
                    <a:pt x="5922" y="15862"/>
                    <a:pt x="6323" y="16582"/>
                    <a:pt x="6827" y="17196"/>
                  </a:cubicBezTo>
                  <a:cubicBezTo>
                    <a:pt x="7332" y="17810"/>
                    <a:pt x="7929" y="18294"/>
                    <a:pt x="8619" y="18650"/>
                  </a:cubicBezTo>
                  <a:cubicBezTo>
                    <a:pt x="9312" y="19005"/>
                    <a:pt x="10039" y="19185"/>
                    <a:pt x="10806" y="19185"/>
                  </a:cubicBezTo>
                  <a:moveTo>
                    <a:pt x="10806" y="7832"/>
                  </a:moveTo>
                  <a:cubicBezTo>
                    <a:pt x="11337" y="7832"/>
                    <a:pt x="11834" y="7953"/>
                    <a:pt x="12294" y="8191"/>
                  </a:cubicBezTo>
                  <a:cubicBezTo>
                    <a:pt x="12754" y="8432"/>
                    <a:pt x="13158" y="8755"/>
                    <a:pt x="13501" y="9169"/>
                  </a:cubicBezTo>
                  <a:cubicBezTo>
                    <a:pt x="13846" y="9583"/>
                    <a:pt x="14118" y="10068"/>
                    <a:pt x="14316" y="10623"/>
                  </a:cubicBezTo>
                  <a:cubicBezTo>
                    <a:pt x="14515" y="11184"/>
                    <a:pt x="14615" y="11781"/>
                    <a:pt x="14615" y="12421"/>
                  </a:cubicBezTo>
                  <a:cubicBezTo>
                    <a:pt x="14615" y="13056"/>
                    <a:pt x="14515" y="13649"/>
                    <a:pt x="14316" y="14205"/>
                  </a:cubicBezTo>
                  <a:cubicBezTo>
                    <a:pt x="14118" y="14757"/>
                    <a:pt x="13846" y="15245"/>
                    <a:pt x="13501" y="15668"/>
                  </a:cubicBezTo>
                  <a:cubicBezTo>
                    <a:pt x="13158" y="16091"/>
                    <a:pt x="12752" y="16420"/>
                    <a:pt x="12289" y="16661"/>
                  </a:cubicBezTo>
                  <a:cubicBezTo>
                    <a:pt x="11824" y="16899"/>
                    <a:pt x="11330" y="17016"/>
                    <a:pt x="10806" y="17016"/>
                  </a:cubicBezTo>
                  <a:cubicBezTo>
                    <a:pt x="10274" y="17016"/>
                    <a:pt x="9777" y="16899"/>
                    <a:pt x="9312" y="16661"/>
                  </a:cubicBezTo>
                  <a:cubicBezTo>
                    <a:pt x="8847" y="16420"/>
                    <a:pt x="8443" y="16091"/>
                    <a:pt x="8100" y="15668"/>
                  </a:cubicBezTo>
                  <a:cubicBezTo>
                    <a:pt x="7755" y="15245"/>
                    <a:pt x="7483" y="14754"/>
                    <a:pt x="7285" y="14199"/>
                  </a:cubicBezTo>
                  <a:cubicBezTo>
                    <a:pt x="7084" y="13641"/>
                    <a:pt x="6984" y="13044"/>
                    <a:pt x="6984" y="12421"/>
                  </a:cubicBezTo>
                  <a:cubicBezTo>
                    <a:pt x="6984" y="11781"/>
                    <a:pt x="7084" y="11184"/>
                    <a:pt x="7285" y="10623"/>
                  </a:cubicBezTo>
                  <a:cubicBezTo>
                    <a:pt x="7483" y="10068"/>
                    <a:pt x="7755" y="9583"/>
                    <a:pt x="8100" y="9169"/>
                  </a:cubicBezTo>
                  <a:cubicBezTo>
                    <a:pt x="8443" y="8755"/>
                    <a:pt x="8847" y="8431"/>
                    <a:pt x="9312" y="8191"/>
                  </a:cubicBezTo>
                  <a:cubicBezTo>
                    <a:pt x="9777" y="7953"/>
                    <a:pt x="10274" y="7832"/>
                    <a:pt x="10806" y="783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4" name="Group 22"/>
          <p:cNvGrpSpPr/>
          <p:nvPr userDrawn="1"/>
        </p:nvGrpSpPr>
        <p:grpSpPr bwMode="auto">
          <a:xfrm>
            <a:off x="11311148" y="6070822"/>
            <a:ext cx="380048" cy="380121"/>
            <a:chOff x="0" y="0"/>
            <a:chExt cx="965499" cy="965499"/>
          </a:xfrm>
        </p:grpSpPr>
        <p:sp>
          <p:nvSpPr>
            <p:cNvPr id="35" name="AutoShape 23"/>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6" name="AutoShape 24"/>
            <p:cNvSpPr/>
            <p:nvPr/>
          </p:nvSpPr>
          <p:spPr bwMode="auto">
            <a:xfrm>
              <a:off x="293617" y="331589"/>
              <a:ext cx="380408" cy="296161"/>
            </a:xfrm>
            <a:custGeom>
              <a:avLst/>
              <a:gdLst>
                <a:gd name="T0" fmla="*/ 190204 w 21600"/>
                <a:gd name="T1" fmla="*/ 148081 h 21600"/>
                <a:gd name="T2" fmla="*/ 190204 w 21600"/>
                <a:gd name="T3" fmla="*/ 148081 h 21600"/>
                <a:gd name="T4" fmla="*/ 190204 w 21600"/>
                <a:gd name="T5" fmla="*/ 148081 h 21600"/>
                <a:gd name="T6" fmla="*/ 190204 w 21600"/>
                <a:gd name="T7" fmla="*/ 1480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82" y="15633"/>
                  </a:moveTo>
                  <a:cubicBezTo>
                    <a:pt x="11211" y="15633"/>
                    <a:pt x="11622" y="15565"/>
                    <a:pt x="12011" y="15416"/>
                  </a:cubicBezTo>
                  <a:cubicBezTo>
                    <a:pt x="12403" y="15272"/>
                    <a:pt x="12778" y="15084"/>
                    <a:pt x="13138" y="14855"/>
                  </a:cubicBezTo>
                  <a:cubicBezTo>
                    <a:pt x="13498" y="14626"/>
                    <a:pt x="13845" y="14361"/>
                    <a:pt x="14181" y="14073"/>
                  </a:cubicBezTo>
                  <a:cubicBezTo>
                    <a:pt x="14516" y="13774"/>
                    <a:pt x="14844" y="13471"/>
                    <a:pt x="15168" y="13160"/>
                  </a:cubicBezTo>
                  <a:cubicBezTo>
                    <a:pt x="16142" y="12226"/>
                    <a:pt x="17126" y="11306"/>
                    <a:pt x="18120" y="10410"/>
                  </a:cubicBezTo>
                  <a:cubicBezTo>
                    <a:pt x="19112" y="9515"/>
                    <a:pt x="20113" y="8616"/>
                    <a:pt x="21120" y="7714"/>
                  </a:cubicBezTo>
                  <a:cubicBezTo>
                    <a:pt x="21198" y="7640"/>
                    <a:pt x="21279" y="7570"/>
                    <a:pt x="21360" y="7496"/>
                  </a:cubicBezTo>
                  <a:cubicBezTo>
                    <a:pt x="21443" y="7429"/>
                    <a:pt x="21524" y="7347"/>
                    <a:pt x="21600" y="7250"/>
                  </a:cubicBezTo>
                  <a:lnTo>
                    <a:pt x="21600" y="19981"/>
                  </a:lnTo>
                  <a:cubicBezTo>
                    <a:pt x="21600" y="20416"/>
                    <a:pt x="21470" y="20800"/>
                    <a:pt x="21208" y="21118"/>
                  </a:cubicBezTo>
                  <a:cubicBezTo>
                    <a:pt x="20946" y="21438"/>
                    <a:pt x="20632" y="21600"/>
                    <a:pt x="20265" y="21600"/>
                  </a:cubicBezTo>
                  <a:lnTo>
                    <a:pt x="1346" y="21600"/>
                  </a:lnTo>
                  <a:cubicBezTo>
                    <a:pt x="979" y="21600"/>
                    <a:pt x="663" y="21438"/>
                    <a:pt x="396" y="21118"/>
                  </a:cubicBezTo>
                  <a:cubicBezTo>
                    <a:pt x="132" y="20803"/>
                    <a:pt x="0" y="20419"/>
                    <a:pt x="0" y="19981"/>
                  </a:cubicBezTo>
                  <a:lnTo>
                    <a:pt x="0" y="7250"/>
                  </a:lnTo>
                  <a:cubicBezTo>
                    <a:pt x="75" y="7347"/>
                    <a:pt x="156" y="7429"/>
                    <a:pt x="239" y="7496"/>
                  </a:cubicBezTo>
                  <a:cubicBezTo>
                    <a:pt x="320" y="7570"/>
                    <a:pt x="401" y="7640"/>
                    <a:pt x="479" y="7714"/>
                  </a:cubicBezTo>
                  <a:cubicBezTo>
                    <a:pt x="1488" y="8616"/>
                    <a:pt x="2487" y="9514"/>
                    <a:pt x="3481" y="10410"/>
                  </a:cubicBezTo>
                  <a:cubicBezTo>
                    <a:pt x="4473" y="11306"/>
                    <a:pt x="5457" y="12223"/>
                    <a:pt x="6434" y="13160"/>
                  </a:cubicBezTo>
                  <a:cubicBezTo>
                    <a:pt x="6738" y="13454"/>
                    <a:pt x="7058" y="13744"/>
                    <a:pt x="7394" y="14038"/>
                  </a:cubicBezTo>
                  <a:cubicBezTo>
                    <a:pt x="7729" y="14338"/>
                    <a:pt x="8079" y="14599"/>
                    <a:pt x="8437" y="14840"/>
                  </a:cubicBezTo>
                  <a:cubicBezTo>
                    <a:pt x="8797" y="15075"/>
                    <a:pt x="9174" y="15269"/>
                    <a:pt x="9568" y="15413"/>
                  </a:cubicBezTo>
                  <a:cubicBezTo>
                    <a:pt x="9965" y="15563"/>
                    <a:pt x="10371" y="15633"/>
                    <a:pt x="10782" y="15633"/>
                  </a:cubicBezTo>
                  <a:moveTo>
                    <a:pt x="10782" y="12413"/>
                  </a:moveTo>
                  <a:cubicBezTo>
                    <a:pt x="10540" y="12413"/>
                    <a:pt x="10278" y="12334"/>
                    <a:pt x="9996" y="12167"/>
                  </a:cubicBezTo>
                  <a:cubicBezTo>
                    <a:pt x="9715" y="12005"/>
                    <a:pt x="9441" y="11806"/>
                    <a:pt x="9171" y="11576"/>
                  </a:cubicBezTo>
                  <a:cubicBezTo>
                    <a:pt x="8900" y="11347"/>
                    <a:pt x="8638" y="11106"/>
                    <a:pt x="8380" y="10854"/>
                  </a:cubicBezTo>
                  <a:cubicBezTo>
                    <a:pt x="8121" y="10601"/>
                    <a:pt x="7896" y="10390"/>
                    <a:pt x="7700" y="10222"/>
                  </a:cubicBezTo>
                  <a:cubicBezTo>
                    <a:pt x="6752" y="9356"/>
                    <a:pt x="5819" y="8507"/>
                    <a:pt x="4891" y="7664"/>
                  </a:cubicBezTo>
                  <a:cubicBezTo>
                    <a:pt x="3966" y="6815"/>
                    <a:pt x="3023" y="5960"/>
                    <a:pt x="2061" y="5087"/>
                  </a:cubicBezTo>
                  <a:cubicBezTo>
                    <a:pt x="1882" y="4920"/>
                    <a:pt x="1672" y="4691"/>
                    <a:pt x="1434" y="4406"/>
                  </a:cubicBezTo>
                  <a:cubicBezTo>
                    <a:pt x="1194" y="4118"/>
                    <a:pt x="974" y="3804"/>
                    <a:pt x="766" y="3460"/>
                  </a:cubicBezTo>
                  <a:cubicBezTo>
                    <a:pt x="560" y="3110"/>
                    <a:pt x="384" y="2761"/>
                    <a:pt x="239" y="2405"/>
                  </a:cubicBezTo>
                  <a:cubicBezTo>
                    <a:pt x="95" y="2050"/>
                    <a:pt x="22" y="1724"/>
                    <a:pt x="22" y="1436"/>
                  </a:cubicBezTo>
                  <a:cubicBezTo>
                    <a:pt x="22" y="1051"/>
                    <a:pt x="164" y="713"/>
                    <a:pt x="443" y="425"/>
                  </a:cubicBezTo>
                  <a:cubicBezTo>
                    <a:pt x="727" y="143"/>
                    <a:pt x="1025" y="0"/>
                    <a:pt x="1346" y="0"/>
                  </a:cubicBezTo>
                  <a:lnTo>
                    <a:pt x="20265" y="0"/>
                  </a:lnTo>
                  <a:cubicBezTo>
                    <a:pt x="20583" y="0"/>
                    <a:pt x="20882" y="143"/>
                    <a:pt x="21161" y="425"/>
                  </a:cubicBezTo>
                  <a:cubicBezTo>
                    <a:pt x="21438" y="713"/>
                    <a:pt x="21577" y="1051"/>
                    <a:pt x="21577" y="1436"/>
                  </a:cubicBezTo>
                  <a:cubicBezTo>
                    <a:pt x="21577" y="1724"/>
                    <a:pt x="21504" y="2050"/>
                    <a:pt x="21360" y="2405"/>
                  </a:cubicBezTo>
                  <a:cubicBezTo>
                    <a:pt x="21215" y="2761"/>
                    <a:pt x="21039" y="3110"/>
                    <a:pt x="20833" y="3460"/>
                  </a:cubicBezTo>
                  <a:cubicBezTo>
                    <a:pt x="20627" y="3804"/>
                    <a:pt x="20402" y="4121"/>
                    <a:pt x="20165" y="4406"/>
                  </a:cubicBezTo>
                  <a:cubicBezTo>
                    <a:pt x="19927" y="4691"/>
                    <a:pt x="19717" y="4923"/>
                    <a:pt x="19538" y="5087"/>
                  </a:cubicBezTo>
                  <a:cubicBezTo>
                    <a:pt x="18578" y="5948"/>
                    <a:pt x="17633" y="6803"/>
                    <a:pt x="16708" y="7652"/>
                  </a:cubicBezTo>
                  <a:cubicBezTo>
                    <a:pt x="15782" y="8501"/>
                    <a:pt x="14844" y="9356"/>
                    <a:pt x="13899" y="10222"/>
                  </a:cubicBezTo>
                  <a:cubicBezTo>
                    <a:pt x="13703" y="10390"/>
                    <a:pt x="13481" y="10601"/>
                    <a:pt x="13226" y="10854"/>
                  </a:cubicBezTo>
                  <a:cubicBezTo>
                    <a:pt x="12971" y="11106"/>
                    <a:pt x="12709" y="11347"/>
                    <a:pt x="12435" y="11576"/>
                  </a:cubicBezTo>
                  <a:cubicBezTo>
                    <a:pt x="12161" y="11806"/>
                    <a:pt x="11884" y="12005"/>
                    <a:pt x="11603" y="12167"/>
                  </a:cubicBezTo>
                  <a:cubicBezTo>
                    <a:pt x="11321" y="12334"/>
                    <a:pt x="11064" y="12413"/>
                    <a:pt x="10829" y="12413"/>
                  </a:cubicBezTo>
                  <a:lnTo>
                    <a:pt x="10804" y="12413"/>
                  </a:lnTo>
                  <a:lnTo>
                    <a:pt x="10782" y="12413"/>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sp>
        <p:nvSpPr>
          <p:cNvPr id="37" name="任意多边形: 形状 28"/>
          <p:cNvSpPr/>
          <p:nvPr userDrawn="1"/>
        </p:nvSpPr>
        <p:spPr>
          <a:xfrm>
            <a:off x="-7619" y="6662481"/>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8" name="任意多边形: 形状 27"/>
          <p:cNvSpPr/>
          <p:nvPr userDrawn="1"/>
        </p:nvSpPr>
        <p:spPr>
          <a:xfrm flipH="1" flipV="1">
            <a:off x="11219155" y="6662481"/>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 name="副标题 2"/>
          <p:cNvSpPr>
            <a:spLocks noGrp="1"/>
          </p:cNvSpPr>
          <p:nvPr>
            <p:ph type="subTitle" idx="1" hasCustomPrompt="1"/>
            <p:custDataLst>
              <p:tags r:id="rId2"/>
            </p:custDataLst>
          </p:nvPr>
        </p:nvSpPr>
        <p:spPr>
          <a:xfrm>
            <a:off x="1198880" y="3878580"/>
            <a:ext cx="9799320" cy="1154430"/>
          </a:xfrm>
        </p:spPr>
        <p:txBody>
          <a:bodyPr lIns="90000" tIns="46800" rIns="90000" bIns="46800">
            <a:normAutofit/>
          </a:bodyPr>
          <a:lstStyle>
            <a:lvl1pPr marL="0" indent="0" algn="ctr" eaLnBrk="1" fontAlgn="auto" latinLnBrk="0" hangingPunct="1">
              <a:lnSpc>
                <a:spcPct val="110000"/>
              </a:lnSpc>
              <a:buNone/>
              <a:defRPr sz="2800" b="1" u="none" strike="noStrike" kern="1200" cap="none" spc="200" normalizeH="0" baseline="0">
                <a:solidFill>
                  <a:schemeClr val="tx1">
                    <a:lumMod val="75000"/>
                    <a:lumOff val="25000"/>
                  </a:schemeClr>
                </a:solidFill>
                <a:uFillTx/>
                <a:latin typeface="仿宋" panose="02010609060101010101" charset="-122"/>
                <a:ea typeface="仿宋"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076395" y="11437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hasCustomPrompt="1"/>
            <p:custDataLst>
              <p:tags r:id="rId2"/>
            </p:custDataLst>
          </p:nvPr>
        </p:nvSpPr>
        <p:spPr>
          <a:xfrm>
            <a:off x="608330" y="1227455"/>
            <a:ext cx="10968990" cy="5022215"/>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 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9" name="任意多边形: 形状 28"/>
          <p:cNvSpPr/>
          <p:nvPr userDrawn="1"/>
        </p:nvSpPr>
        <p:spPr>
          <a:xfrm>
            <a:off x="-3650" y="6666997"/>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8" name="任意多边形: 形状 27"/>
          <p:cNvSpPr/>
          <p:nvPr userDrawn="1"/>
        </p:nvSpPr>
        <p:spPr>
          <a:xfrm flipH="1" flipV="1">
            <a:off x="11223124" y="6666997"/>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cxnSp>
        <p:nvCxnSpPr>
          <p:cNvPr id="22" name="直接连接符 21"/>
          <p:cNvCxnSpPr/>
          <p:nvPr userDrawn="1"/>
        </p:nvCxnSpPr>
        <p:spPr>
          <a:xfrm>
            <a:off x="1003784" y="807477"/>
            <a:ext cx="101997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331470" y="250825"/>
            <a:ext cx="431800" cy="431800"/>
          </a:xfrm>
          <a:prstGeom prst="rect">
            <a:avLst/>
          </a:prstGeom>
          <a:noFill/>
          <a:ln w="12700" cmpd="sng">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5" name="矩形 24"/>
          <p:cNvSpPr/>
          <p:nvPr userDrawn="1"/>
        </p:nvSpPr>
        <p:spPr>
          <a:xfrm>
            <a:off x="548005" y="450215"/>
            <a:ext cx="360045" cy="3600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pic>
        <p:nvPicPr>
          <p:cNvPr id="5" name="图片 4" descr="TK5CG72_)U3`D_PXLQ1U9PP"/>
          <p:cNvPicPr>
            <a:picLocks noChangeAspect="1"/>
          </p:cNvPicPr>
          <p:nvPr userDrawn="1"/>
        </p:nvPicPr>
        <p:blipFill>
          <a:blip r:embed="rId5"/>
          <a:stretch>
            <a:fillRect/>
          </a:stretch>
        </p:blipFill>
        <p:spPr>
          <a:xfrm>
            <a:off x="11351895" y="73660"/>
            <a:ext cx="715645" cy="785495"/>
          </a:xfrm>
          <a:prstGeom prst="rect">
            <a:avLst/>
          </a:prstGeom>
        </p:spPr>
      </p:pic>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2025/11/23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2025/11/23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2025/11/23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2025/11/23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2025/11/23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1_内容">
    <p:spTree>
      <p:nvGrpSpPr>
        <p:cNvPr id="1" name=""/>
        <p:cNvGrpSpPr/>
        <p:nvPr/>
      </p:nvGrpSpPr>
      <p:grpSpPr>
        <a:xfrm>
          <a:off x="0" y="0"/>
          <a:ext cx="0" cy="0"/>
          <a:chOff x="0" y="0"/>
          <a:chExt cx="0" cy="0"/>
        </a:xfrm>
      </p:grpSpPr>
      <p:sp>
        <p:nvSpPr>
          <p:cNvPr id="2" name="内容占位符 1"/>
          <p:cNvSpPr>
            <a:spLocks noGrp="1"/>
          </p:cNvSpPr>
          <p:nvPr>
            <p:ph/>
          </p:nvPr>
        </p:nvSpPr>
        <p:spPr>
          <a:xfrm>
            <a:off x="484718" y="595313"/>
            <a:ext cx="11207749" cy="34226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184128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2025/11/23</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random/>
      </p:transition>
    </mc:Choice>
    <mc:Fallback xmlns="">
      <p:transition>
        <p:random/>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92.xml"/><Relationship Id="rId4" Type="http://schemas.openxmlformats.org/officeDocument/2006/relationships/image" Target="../media/image16.emf"/></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104.xml"/><Relationship Id="rId4" Type="http://schemas.openxmlformats.org/officeDocument/2006/relationships/image" Target="../media/image20.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05.xml"/><Relationship Id="rId4" Type="http://schemas.openxmlformats.org/officeDocument/2006/relationships/image" Target="../media/image20.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106.xml"/><Relationship Id="rId4" Type="http://schemas.openxmlformats.org/officeDocument/2006/relationships/image" Target="../media/image21.emf"/></Relationships>
</file>

<file path=ppt/slides/_rels/slide6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7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5.xml"/><Relationship Id="rId6" Type="http://schemas.openxmlformats.org/officeDocument/2006/relationships/image" Target="../media/image14.png"/><Relationship Id="rId5" Type="http://schemas.openxmlformats.org/officeDocument/2006/relationships/image" Target="../media/image20.emf"/><Relationship Id="rId4" Type="http://schemas.openxmlformats.org/officeDocument/2006/relationships/oleObject" Target="../embeddings/oleObject2.bin"/></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8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8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8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image" Target="../media/image30.png"/><Relationship Id="rId4" Type="http://schemas.openxmlformats.org/officeDocument/2006/relationships/notesSlide" Target="../notesSlides/notesSlide12.xml"/></Relationships>
</file>

<file path=ppt/slides/_rels/slide9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image" Target="../media/image3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10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10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10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10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1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1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1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1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1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1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1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1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1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448685" y="2077085"/>
            <a:ext cx="7120890" cy="1236345"/>
          </a:xfrm>
        </p:spPr>
        <p:txBody>
          <a:bodyPr>
            <a:normAutofit/>
          </a:bodyPr>
          <a:lstStyle/>
          <a:p>
            <a:pPr algn="l"/>
            <a:r>
              <a:rPr lang="zh-CN" altLang="zh-CN" sz="5400" dirty="0">
                <a:solidFill>
                  <a:schemeClr val="accent1">
                    <a:lumMod val="75000"/>
                  </a:schemeClr>
                </a:solidFill>
              </a:rPr>
              <a:t>第</a:t>
            </a:r>
            <a:r>
              <a:rPr lang="en-US" altLang="zh-CN" sz="5400" dirty="0">
                <a:solidFill>
                  <a:schemeClr val="accent1">
                    <a:lumMod val="75000"/>
                  </a:schemeClr>
                </a:solidFill>
              </a:rPr>
              <a:t>6</a:t>
            </a:r>
            <a:r>
              <a:rPr lang="zh-CN" altLang="zh-CN" sz="5400" dirty="0">
                <a:solidFill>
                  <a:schemeClr val="accent1">
                    <a:lumMod val="75000"/>
                  </a:schemeClr>
                </a:solidFill>
              </a:rPr>
              <a:t>章  基本存储管理</a:t>
            </a:r>
          </a:p>
        </p:txBody>
      </p:sp>
      <p:sp>
        <p:nvSpPr>
          <p:cNvPr id="7" name="矩形 6"/>
          <p:cNvSpPr/>
          <p:nvPr/>
        </p:nvSpPr>
        <p:spPr>
          <a:xfrm flipV="1">
            <a:off x="3229610" y="3371850"/>
            <a:ext cx="6516000" cy="18000"/>
          </a:xfrm>
          <a:prstGeom prst="rect">
            <a:avLst/>
          </a:prstGeom>
          <a:gradFill>
            <a:gsLst>
              <a:gs pos="0">
                <a:schemeClr val="accent1">
                  <a:lumMod val="75000"/>
                </a:schemeClr>
              </a:gs>
              <a:gs pos="68000">
                <a:srgbClr val="90B4E9">
                  <a:alpha val="100000"/>
                </a:srgbClr>
              </a:gs>
              <a:gs pos="100000">
                <a:schemeClr val="bg1"/>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09" name="任意多边形 33808"/>
          <p:cNvSpPr/>
          <p:nvPr/>
        </p:nvSpPr>
        <p:spPr>
          <a:xfrm>
            <a:off x="3696970" y="402177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14CD68"/>
              </a:gs>
              <a:gs pos="100000">
                <a:srgbClr val="035C7D"/>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0" name="任意多边形 33809"/>
          <p:cNvSpPr/>
          <p:nvPr/>
        </p:nvSpPr>
        <p:spPr>
          <a:xfrm>
            <a:off x="3696970" y="458438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FECF40"/>
              </a:gs>
              <a:gs pos="100000">
                <a:srgbClr val="846C21"/>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1" name="任意多边形 33810"/>
          <p:cNvSpPr/>
          <p:nvPr/>
        </p:nvSpPr>
        <p:spPr>
          <a:xfrm>
            <a:off x="3696970" y="5127308"/>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C8A1E5"/>
              </a:gs>
              <a:gs pos="100000">
                <a:srgbClr val="692B99"/>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pic>
        <p:nvPicPr>
          <p:cNvPr id="5" name="图片 4" descr="TK5CG72_)U3`D_PXLQ1U9PP"/>
          <p:cNvPicPr>
            <a:picLocks noChangeAspect="1"/>
          </p:cNvPicPr>
          <p:nvPr userDrawn="1"/>
        </p:nvPicPr>
        <p:blipFill>
          <a:blip r:embed="rId5"/>
          <a:stretch>
            <a:fillRect/>
          </a:stretch>
        </p:blipFill>
        <p:spPr>
          <a:xfrm>
            <a:off x="1272540" y="1724660"/>
            <a:ext cx="1560195" cy="1711960"/>
          </a:xfrm>
          <a:prstGeom prst="rect">
            <a:avLst/>
          </a:prstGeom>
        </p:spPr>
      </p:pic>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descr="图形用户界面, 图示&#10;&#10;描述已自动生成">
            <a:extLst>
              <a:ext uri="{FF2B5EF4-FFF2-40B4-BE49-F238E27FC236}">
                <a16:creationId xmlns:a16="http://schemas.microsoft.com/office/drawing/2014/main" id="{57CC26E3-5FE5-20A2-4B29-5D0994A4F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53" y="668909"/>
            <a:ext cx="11618410" cy="5257329"/>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47612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0CBCB-52B7-4B2E-1CC8-75B5EBB80183}"/>
              </a:ext>
            </a:extLst>
          </p:cNvPr>
          <p:cNvSpPr>
            <a:spLocks noGrp="1"/>
          </p:cNvSpPr>
          <p:nvPr>
            <p:ph type="title"/>
          </p:nvPr>
        </p:nvSpPr>
        <p:spPr>
          <a:xfrm>
            <a:off x="730406" y="991700"/>
            <a:ext cx="10969200" cy="705600"/>
          </a:xfrm>
        </p:spPr>
        <p:txBody>
          <a:bodyPr/>
          <a:lstStyle/>
          <a:p>
            <a:r>
              <a:rPr lang="zh-CN" altLang="en-US" dirty="0"/>
              <a:t>请思考如下问题：</a:t>
            </a:r>
          </a:p>
        </p:txBody>
      </p:sp>
      <p:sp>
        <p:nvSpPr>
          <p:cNvPr id="3" name="内容占位符 2">
            <a:extLst>
              <a:ext uri="{FF2B5EF4-FFF2-40B4-BE49-F238E27FC236}">
                <a16:creationId xmlns:a16="http://schemas.microsoft.com/office/drawing/2014/main" id="{91A8BF30-B622-6ECB-9FC2-DC56BA66674E}"/>
              </a:ext>
            </a:extLst>
          </p:cNvPr>
          <p:cNvSpPr>
            <a:spLocks noGrp="1"/>
          </p:cNvSpPr>
          <p:nvPr>
            <p:ph idx="1"/>
          </p:nvPr>
        </p:nvSpPr>
        <p:spPr>
          <a:xfrm>
            <a:off x="608330" y="2224216"/>
            <a:ext cx="10968990" cy="4025454"/>
          </a:xfrm>
        </p:spPr>
        <p:txBody>
          <a:bodyPr>
            <a:normAutofit fontScale="92500"/>
          </a:bodyPr>
          <a:lstStyle/>
          <a:p>
            <a:pPr marL="457200" lvl="0" indent="-457200">
              <a:buClr>
                <a:schemeClr val="tx2"/>
              </a:buClr>
              <a:buSzPct val="100000"/>
              <a:buFont typeface="+mj-lt"/>
              <a:buAutoNum type="arabicPeriod"/>
            </a:pPr>
            <a:r>
              <a:rPr lang="zh-CN" altLang="zh-CN" sz="2800" dirty="0"/>
              <a:t>计算机系统中有哪些存储设备？ 程序运行时在哪些存储设备中？ </a:t>
            </a:r>
          </a:p>
          <a:p>
            <a:pPr marL="457200" lvl="0" indent="-457200">
              <a:buClr>
                <a:schemeClr val="tx2"/>
              </a:buClr>
              <a:buSzPct val="100000"/>
              <a:buFont typeface="+mj-lt"/>
              <a:buAutoNum type="arabicPeriod"/>
            </a:pPr>
            <a:r>
              <a:rPr lang="zh-CN" altLang="zh-CN" sz="2800" dirty="0"/>
              <a:t>执行时是如何找到要执行的代码和数据？</a:t>
            </a:r>
          </a:p>
          <a:p>
            <a:pPr marL="457200" lvl="0" indent="-457200">
              <a:buClr>
                <a:schemeClr val="tx2"/>
              </a:buClr>
              <a:buSzPct val="100000"/>
              <a:buFont typeface="+mj-lt"/>
              <a:buAutoNum type="arabicPeriod"/>
            </a:pPr>
            <a:r>
              <a:rPr lang="zh-CN" altLang="zh-CN" sz="2800" dirty="0"/>
              <a:t>编译后的程序文件（如</a:t>
            </a:r>
            <a:r>
              <a:rPr lang="en-US" altLang="zh-CN" sz="2800" dirty="0"/>
              <a:t>.exe</a:t>
            </a:r>
            <a:r>
              <a:rPr lang="zh-CN" altLang="zh-CN" sz="2800" dirty="0"/>
              <a:t>）存放在硬盘上，它是如何被</a:t>
            </a:r>
            <a:r>
              <a:rPr lang="en-US" altLang="zh-CN" sz="2800" dirty="0"/>
              <a:t> “</a:t>
            </a:r>
            <a:r>
              <a:rPr lang="zh-CN" altLang="zh-CN" sz="2800" dirty="0"/>
              <a:t>加载</a:t>
            </a:r>
            <a:r>
              <a:rPr lang="en-US" altLang="zh-CN" sz="2800" dirty="0"/>
              <a:t>” </a:t>
            </a:r>
            <a:r>
              <a:rPr lang="zh-CN" altLang="zh-CN" sz="2800" dirty="0"/>
              <a:t>到内存中开始运行的？加载过程中操作系统会做哪些关键操作？</a:t>
            </a:r>
          </a:p>
          <a:p>
            <a:pPr marL="457200" lvl="0" indent="-457200">
              <a:buClr>
                <a:schemeClr val="tx2"/>
              </a:buClr>
              <a:buSzPct val="100000"/>
              <a:buFont typeface="+mj-lt"/>
              <a:buAutoNum type="arabicPeriod"/>
            </a:pPr>
            <a:r>
              <a:rPr lang="zh-CN" altLang="zh-CN" sz="2800" dirty="0"/>
              <a:t>程序中用</a:t>
            </a:r>
            <a:r>
              <a:rPr lang="en-US" altLang="zh-CN" sz="2800" dirty="0"/>
              <a:t>malloc</a:t>
            </a:r>
            <a:r>
              <a:rPr lang="zh-CN" altLang="zh-CN" sz="2800" dirty="0"/>
              <a:t>申请的动态内存，和静态变量占用的内存有什么不同？ </a:t>
            </a:r>
          </a:p>
          <a:p>
            <a:pPr marL="457200" indent="-457200">
              <a:buClr>
                <a:schemeClr val="tx2"/>
              </a:buClr>
              <a:buSzPct val="100000"/>
              <a:buFont typeface="+mj-lt"/>
              <a:buAutoNum type="arabicPeriod"/>
            </a:pPr>
            <a:endParaRPr lang="zh-CN" altLang="en-US" sz="2800" dirty="0"/>
          </a:p>
        </p:txBody>
      </p:sp>
    </p:spTree>
    <p:extLst>
      <p:ext uri="{BB962C8B-B14F-4D97-AF65-F5344CB8AC3E}">
        <p14:creationId xmlns:p14="http://schemas.microsoft.com/office/powerpoint/2010/main" val="331111480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F9406F-161F-E045-45FD-82FFBE8FC499}"/>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3086D56D-BB70-F8C2-3F96-2156F187AEDA}"/>
              </a:ext>
            </a:extLst>
          </p:cNvPr>
          <p:cNvSpPr>
            <a:spLocks noGrp="1"/>
          </p:cNvSpPr>
          <p:nvPr>
            <p:ph idx="1"/>
          </p:nvPr>
        </p:nvSpPr>
        <p:spPr>
          <a:xfrm>
            <a:off x="611505" y="1608446"/>
            <a:ext cx="10968990" cy="3641107"/>
          </a:xfrm>
        </p:spPr>
        <p:txBody>
          <a:bodyPr/>
          <a:lstStyle/>
          <a:p>
            <a:pPr marL="0" indent="0">
              <a:buNone/>
            </a:pPr>
            <a:r>
              <a:rPr lang="zh-CN" altLang="en-US" b="1" dirty="0"/>
              <a:t>程序中通过 </a:t>
            </a:r>
            <a:r>
              <a:rPr lang="en-US" altLang="zh-CN" b="1" dirty="0"/>
              <a:t>malloc</a:t>
            </a:r>
            <a:r>
              <a:rPr lang="zh-CN" altLang="en-US" b="1" dirty="0"/>
              <a:t> 函数申请的动态内存，其分配和管理的核心特点是（ ）</a:t>
            </a:r>
          </a:p>
          <a:p>
            <a:pPr marL="0" indent="0">
              <a:buNone/>
            </a:pPr>
            <a:r>
              <a:rPr lang="en-US" altLang="zh-CN" dirty="0"/>
              <a:t>A. </a:t>
            </a:r>
            <a:r>
              <a:rPr lang="zh-CN" altLang="en-US" dirty="0"/>
              <a:t>编译时确定地址，存储在数据段</a:t>
            </a:r>
            <a:endParaRPr lang="en-US" altLang="zh-CN" dirty="0"/>
          </a:p>
          <a:p>
            <a:pPr marL="0" indent="0">
              <a:buNone/>
            </a:pPr>
            <a:r>
              <a:rPr lang="en-US" altLang="zh-CN" dirty="0"/>
              <a:t>B. </a:t>
            </a:r>
            <a:r>
              <a:rPr lang="zh-CN" altLang="en-US" dirty="0"/>
              <a:t>运行时动态分配，存储在栈中</a:t>
            </a:r>
            <a:endParaRPr lang="en-US" altLang="zh-CN" dirty="0"/>
          </a:p>
          <a:p>
            <a:pPr marL="0" indent="0">
              <a:buNone/>
            </a:pPr>
            <a:r>
              <a:rPr lang="en-US" altLang="zh-CN" dirty="0"/>
              <a:t>C. </a:t>
            </a:r>
            <a:r>
              <a:rPr lang="zh-CN" altLang="en-US" dirty="0"/>
              <a:t>运行时显式申请，存储在堆中，需手动释放</a:t>
            </a:r>
            <a:endParaRPr lang="en-US" altLang="zh-CN" dirty="0"/>
          </a:p>
          <a:p>
            <a:pPr marL="0" indent="0">
              <a:buNone/>
            </a:pPr>
            <a:r>
              <a:rPr lang="en-US" altLang="zh-CN" dirty="0"/>
              <a:t>D. </a:t>
            </a:r>
            <a:r>
              <a:rPr lang="zh-CN" altLang="en-US" dirty="0"/>
              <a:t>随函数调用分配，函数返回时自动释放</a:t>
            </a:r>
          </a:p>
          <a:p>
            <a:pPr marL="0" indent="0">
              <a:buNone/>
            </a:pPr>
            <a:endParaRPr lang="zh-CN" altLang="en-US" dirty="0"/>
          </a:p>
        </p:txBody>
      </p:sp>
    </p:spTree>
    <p:extLst>
      <p:ext uri="{BB962C8B-B14F-4D97-AF65-F5344CB8AC3E}">
        <p14:creationId xmlns:p14="http://schemas.microsoft.com/office/powerpoint/2010/main" val="371719368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84DD21-6F49-A0F1-0DA9-115BB0B06634}"/>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56E9BCD0-4EA5-F1C2-1A7E-0113FEB09E18}"/>
              </a:ext>
            </a:extLst>
          </p:cNvPr>
          <p:cNvSpPr>
            <a:spLocks noGrp="1"/>
          </p:cNvSpPr>
          <p:nvPr>
            <p:ph idx="1"/>
          </p:nvPr>
        </p:nvSpPr>
        <p:spPr>
          <a:xfrm>
            <a:off x="611505" y="1313953"/>
            <a:ext cx="10968990" cy="3443399"/>
          </a:xfrm>
        </p:spPr>
        <p:txBody>
          <a:bodyPr/>
          <a:lstStyle/>
          <a:p>
            <a:pPr marL="0" indent="0">
              <a:buNone/>
            </a:pPr>
            <a:r>
              <a:rPr lang="zh-CN" altLang="en-US" b="1" dirty="0"/>
              <a:t>下列存储设备按访问速度从快到慢排序，正确的是（ ）</a:t>
            </a:r>
          </a:p>
          <a:p>
            <a:pPr marL="0" indent="0">
              <a:buNone/>
            </a:pPr>
            <a:r>
              <a:rPr lang="en-US" altLang="zh-CN" dirty="0"/>
              <a:t>A. </a:t>
            </a:r>
            <a:r>
              <a:rPr lang="zh-CN" altLang="en-US" dirty="0"/>
              <a:t>寄存器 → </a:t>
            </a:r>
            <a:r>
              <a:rPr lang="en-US" altLang="zh-CN" dirty="0"/>
              <a:t>L2 </a:t>
            </a:r>
            <a:r>
              <a:rPr lang="zh-CN" altLang="en-US" dirty="0"/>
              <a:t>缓存 → 内存 → 硬盘</a:t>
            </a:r>
            <a:endParaRPr lang="en-US" altLang="zh-CN" dirty="0"/>
          </a:p>
          <a:p>
            <a:pPr marL="0" indent="0">
              <a:buNone/>
            </a:pPr>
            <a:r>
              <a:rPr lang="en-US" altLang="zh-CN" dirty="0"/>
              <a:t>B. L1 </a:t>
            </a:r>
            <a:r>
              <a:rPr lang="zh-CN" altLang="en-US" dirty="0"/>
              <a:t>缓存 → 内存 → 寄存器 →硬盘</a:t>
            </a:r>
            <a:endParaRPr lang="en-US" altLang="zh-CN" dirty="0"/>
          </a:p>
          <a:p>
            <a:pPr marL="0" indent="0">
              <a:buNone/>
            </a:pPr>
            <a:r>
              <a:rPr lang="en-US" altLang="zh-CN" dirty="0"/>
              <a:t>C. </a:t>
            </a:r>
            <a:r>
              <a:rPr lang="zh-CN" altLang="en-US" dirty="0"/>
              <a:t>内存 → </a:t>
            </a:r>
            <a:r>
              <a:rPr lang="en-US" altLang="zh-CN" dirty="0"/>
              <a:t>L1 </a:t>
            </a:r>
            <a:r>
              <a:rPr lang="zh-CN" altLang="en-US" dirty="0"/>
              <a:t>缓存 → 机械 硬盘</a:t>
            </a:r>
            <a:r>
              <a:rPr lang="en-US" altLang="zh-CN" dirty="0"/>
              <a:t> → </a:t>
            </a:r>
            <a:r>
              <a:rPr lang="zh-CN" altLang="en-US" dirty="0"/>
              <a:t>固态硬盘</a:t>
            </a:r>
            <a:endParaRPr lang="en-US" altLang="zh-CN" dirty="0"/>
          </a:p>
          <a:p>
            <a:pPr marL="0" indent="0">
              <a:buNone/>
            </a:pPr>
            <a:r>
              <a:rPr lang="en-US" altLang="zh-CN" dirty="0"/>
              <a:t>D. </a:t>
            </a:r>
            <a:r>
              <a:rPr lang="zh-CN" altLang="en-US" dirty="0"/>
              <a:t>寄存器 → 内存 → </a:t>
            </a:r>
            <a:r>
              <a:rPr lang="en-US" altLang="zh-CN" dirty="0"/>
              <a:t>L2 </a:t>
            </a:r>
            <a:r>
              <a:rPr lang="zh-CN" altLang="en-US" dirty="0"/>
              <a:t>缓存 →机械硬盘</a:t>
            </a:r>
            <a:endParaRPr lang="en-US" altLang="zh-CN" dirty="0"/>
          </a:p>
          <a:p>
            <a:pPr marL="0" indent="0">
              <a:buNone/>
            </a:pPr>
            <a:endParaRPr lang="zh-CN" altLang="en-US" dirty="0"/>
          </a:p>
        </p:txBody>
      </p:sp>
    </p:spTree>
    <p:extLst>
      <p:ext uri="{BB962C8B-B14F-4D97-AF65-F5344CB8AC3E}">
        <p14:creationId xmlns:p14="http://schemas.microsoft.com/office/powerpoint/2010/main" val="153399335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08761" y="241622"/>
            <a:ext cx="9387205" cy="705485"/>
          </a:xfrm>
        </p:spPr>
        <p:txBody>
          <a:bodyPr>
            <a:normAutofit/>
          </a:bodyPr>
          <a:lstStyle/>
          <a:p>
            <a:pPr algn="ctr"/>
            <a:r>
              <a:rPr lang="zh-CN" altLang="en-US" sz="4000" dirty="0"/>
              <a:t>本章目录</a:t>
            </a:r>
          </a:p>
        </p:txBody>
      </p:sp>
      <p:sp>
        <p:nvSpPr>
          <p:cNvPr id="3" name="内容占位符 2"/>
          <p:cNvSpPr>
            <a:spLocks noGrp="1"/>
          </p:cNvSpPr>
          <p:nvPr>
            <p:ph idx="1"/>
          </p:nvPr>
        </p:nvSpPr>
        <p:spPr>
          <a:xfrm>
            <a:off x="3636011" y="1227455"/>
            <a:ext cx="5855230" cy="5265942"/>
          </a:xfrm>
        </p:spPr>
        <p:txBody>
          <a:bodyPr>
            <a:normAutofit/>
          </a:bodyPr>
          <a:lstStyle/>
          <a:p>
            <a:pPr>
              <a:buBlip>
                <a:blip r:embed="rId3"/>
              </a:buBlip>
            </a:pPr>
            <a:r>
              <a:rPr lang="en-US" altLang="zh-CN" sz="3600" dirty="0"/>
              <a:t> </a:t>
            </a:r>
            <a:r>
              <a:rPr lang="en-US" altLang="zh-CN" sz="3600" u="dottedHeavy" dirty="0">
                <a:solidFill>
                  <a:schemeClr val="tx1"/>
                </a:solidFill>
                <a:uFillTx/>
              </a:rPr>
              <a:t>6.1  </a:t>
            </a:r>
            <a:r>
              <a:rPr sz="3600" u="dottedHeavy" dirty="0">
                <a:solidFill>
                  <a:schemeClr val="tx1"/>
                </a:solidFill>
                <a:uFillTx/>
              </a:rPr>
              <a:t>存储管理的基本功能</a:t>
            </a:r>
          </a:p>
          <a:p>
            <a:pPr>
              <a:buBlip>
                <a:blip r:embed="rId3"/>
              </a:buBlip>
            </a:pPr>
            <a:r>
              <a:rPr sz="3600" dirty="0"/>
              <a:t> </a:t>
            </a:r>
            <a:r>
              <a:rPr lang="en-US" altLang="zh-CN" sz="3600" u="dottedHeavy" dirty="0"/>
              <a:t>6.2  </a:t>
            </a:r>
            <a:r>
              <a:rPr lang="en-US" altLang="zh-CN" sz="3600" u="dottedHeavy" dirty="0" err="1"/>
              <a:t>分区存储管理</a:t>
            </a:r>
            <a:r>
              <a:rPr lang="en-US" altLang="zh-CN" sz="3600" u="dottedHeavy" dirty="0"/>
              <a:t>                  </a:t>
            </a:r>
          </a:p>
          <a:p>
            <a:pPr>
              <a:buBlip>
                <a:blip r:embed="rId3"/>
              </a:buBlip>
            </a:pPr>
            <a:r>
              <a:rPr sz="3600" dirty="0"/>
              <a:t> </a:t>
            </a:r>
            <a:r>
              <a:rPr lang="en-US" altLang="zh-CN" sz="3600" u="dottedHeavy" dirty="0"/>
              <a:t>6.3  </a:t>
            </a:r>
            <a:r>
              <a:rPr lang="en-US" altLang="zh-CN" sz="3600" u="dottedHeavy" dirty="0" err="1"/>
              <a:t>内存扩充技术</a:t>
            </a:r>
            <a:endParaRPr lang="en-US" altLang="zh-CN" sz="3600" dirty="0"/>
          </a:p>
          <a:p>
            <a:pPr>
              <a:buBlip>
                <a:blip r:embed="rId3"/>
              </a:buBlip>
            </a:pPr>
            <a:r>
              <a:rPr sz="3600" dirty="0"/>
              <a:t> </a:t>
            </a:r>
            <a:r>
              <a:rPr lang="en-US" altLang="zh-CN" sz="3600" u="dottedHeavy" dirty="0"/>
              <a:t>6.4  </a:t>
            </a:r>
            <a:r>
              <a:rPr lang="en-US" altLang="zh-CN" sz="3600" u="dottedHeavy" dirty="0" err="1"/>
              <a:t>分页存储管理</a:t>
            </a:r>
            <a:endParaRPr lang="en-US" altLang="zh-CN" sz="3600" u="dottedHeavy" dirty="0"/>
          </a:p>
          <a:p>
            <a:pPr>
              <a:buBlip>
                <a:blip r:embed="rId3"/>
              </a:buBlip>
            </a:pPr>
            <a:r>
              <a:rPr sz="3600" dirty="0"/>
              <a:t> </a:t>
            </a:r>
            <a:r>
              <a:rPr lang="en-US" altLang="zh-CN" sz="3600" u="dottedHeavy" dirty="0"/>
              <a:t>6.5  </a:t>
            </a:r>
            <a:r>
              <a:rPr lang="en-US" altLang="zh-CN" sz="3600" u="dottedHeavy" dirty="0" err="1"/>
              <a:t>分段存储管理</a:t>
            </a:r>
            <a:endParaRPr lang="en-US" altLang="zh-CN" sz="3600" u="dottedHeavy" dirty="0"/>
          </a:p>
          <a:p>
            <a:pPr>
              <a:buBlip>
                <a:blip r:embed="rId3"/>
              </a:buBlip>
            </a:pPr>
            <a:r>
              <a:rPr sz="3600" dirty="0"/>
              <a:t> </a:t>
            </a:r>
            <a:r>
              <a:rPr lang="en-US" altLang="zh-CN" sz="3600" u="dottedHeavy" dirty="0"/>
              <a:t>6.6  </a:t>
            </a:r>
            <a:r>
              <a:rPr lang="en-US" altLang="zh-CN" sz="3600" u="dottedHeavy" dirty="0" err="1"/>
              <a:t>段页式存储管理</a:t>
            </a:r>
            <a:endParaRPr lang="en-US" altLang="zh-CN" sz="3600" u="dottedHeavy" dirty="0"/>
          </a:p>
        </p:txBody>
      </p:sp>
    </p:spTree>
    <p:custDataLst>
      <p:tags r:id="rId1"/>
    </p:custData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25752" y="756852"/>
            <a:ext cx="9387205" cy="705485"/>
          </a:xfrm>
        </p:spPr>
        <p:txBody>
          <a:bodyPr>
            <a:normAutofit fontScale="90000"/>
          </a:bodyPr>
          <a:lstStyle/>
          <a:p>
            <a:pPr algn="ctr"/>
            <a:r>
              <a:rPr lang="en-US" altLang="zh-CN" sz="4400" dirty="0"/>
              <a:t>6.1  </a:t>
            </a:r>
            <a:r>
              <a:rPr sz="4400" dirty="0">
                <a:sym typeface="+mn-ea"/>
              </a:rPr>
              <a:t>存储管理的基本功能</a:t>
            </a:r>
            <a:endParaRPr lang="en-US" altLang="zh-CN" sz="4400" dirty="0"/>
          </a:p>
        </p:txBody>
      </p:sp>
      <p:sp>
        <p:nvSpPr>
          <p:cNvPr id="3" name="内容占位符 2"/>
          <p:cNvSpPr>
            <a:spLocks noGrp="1"/>
          </p:cNvSpPr>
          <p:nvPr>
            <p:ph idx="1"/>
          </p:nvPr>
        </p:nvSpPr>
        <p:spPr>
          <a:xfrm>
            <a:off x="2447996" y="2162432"/>
            <a:ext cx="7722235" cy="1550774"/>
          </a:xfrm>
        </p:spPr>
        <p:txBody>
          <a:bodyPr>
            <a:normAutofit/>
          </a:bodyPr>
          <a:lstStyle/>
          <a:p>
            <a:pPr>
              <a:buBlip>
                <a:blip r:embed="rId3"/>
              </a:buBlip>
            </a:pPr>
            <a:r>
              <a:rPr lang="en-US" altLang="zh-CN" sz="3200" dirty="0"/>
              <a:t> </a:t>
            </a:r>
            <a:r>
              <a:rPr lang="en-US" altLang="zh-CN" sz="3200" u="dottedHeavy" dirty="0">
                <a:solidFill>
                  <a:schemeClr val="tx1"/>
                </a:solidFill>
                <a:uFillTx/>
              </a:rPr>
              <a:t>6.1.1  </a:t>
            </a:r>
            <a:r>
              <a:rPr sz="3200" u="dottedHeavy" dirty="0">
                <a:solidFill>
                  <a:schemeClr val="tx1"/>
                </a:solidFill>
                <a:uFillTx/>
              </a:rPr>
              <a:t>存储系统的基本概念</a:t>
            </a:r>
          </a:p>
          <a:p>
            <a:pPr>
              <a:buBlip>
                <a:blip r:embed="rId3"/>
              </a:buBlip>
            </a:pPr>
            <a:r>
              <a:rPr sz="3200" dirty="0"/>
              <a:t> </a:t>
            </a:r>
            <a:r>
              <a:rPr lang="en-US" altLang="zh-CN" sz="3200" u="dottedHeavy" dirty="0"/>
              <a:t>6.1.2  </a:t>
            </a:r>
            <a:r>
              <a:rPr sz="3200" u="dottedHeavy" dirty="0"/>
              <a:t>存储管理的基本功能</a:t>
            </a:r>
            <a:r>
              <a:rPr lang="en-US" altLang="zh-CN" sz="3200" u="dottedHeavy" dirty="0"/>
              <a:t>                  </a:t>
            </a:r>
          </a:p>
        </p:txBody>
      </p:sp>
    </p:spTree>
    <p:custDataLst>
      <p:tags r:id="rId1"/>
    </p:custData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sym typeface="+mn-ea"/>
              </a:rPr>
              <a:t>6.1.1  </a:t>
            </a:r>
            <a:r>
              <a:rPr sz="3600" dirty="0">
                <a:sym typeface="+mn-ea"/>
              </a:rPr>
              <a:t>存储系统的基本概念</a:t>
            </a:r>
            <a:endParaRPr lang="zh-CN" altLang="en-US" sz="3600" dirty="0"/>
          </a:p>
        </p:txBody>
      </p:sp>
      <p:sp>
        <p:nvSpPr>
          <p:cNvPr id="3" name="内容占位符 2"/>
          <p:cNvSpPr>
            <a:spLocks noGrp="1"/>
          </p:cNvSpPr>
          <p:nvPr>
            <p:ph idx="1"/>
          </p:nvPr>
        </p:nvSpPr>
        <p:spPr>
          <a:xfrm>
            <a:off x="611505" y="849108"/>
            <a:ext cx="10968990" cy="670952"/>
          </a:xfrm>
        </p:spPr>
        <p:txBody>
          <a:bodyPr>
            <a:noAutofit/>
          </a:bodyPr>
          <a:lstStyle/>
          <a:p>
            <a:pPr marL="0" indent="0">
              <a:buNone/>
            </a:pPr>
            <a:r>
              <a:rPr lang="zh-CN" altLang="en-US" sz="2800" dirty="0"/>
              <a:t>在计算机系统中，存储是有层次的。</a:t>
            </a:r>
          </a:p>
        </p:txBody>
      </p:sp>
      <p:pic>
        <p:nvPicPr>
          <p:cNvPr id="4" name="图片 3"/>
          <p:cNvPicPr>
            <a:picLocks noChangeAspect="1"/>
          </p:cNvPicPr>
          <p:nvPr>
            <p:custDataLst>
              <p:tags r:id="rId2"/>
            </p:custDataLst>
          </p:nvPr>
        </p:nvPicPr>
        <p:blipFill>
          <a:blip r:embed="rId4"/>
          <a:stretch>
            <a:fillRect/>
          </a:stretch>
        </p:blipFill>
        <p:spPr>
          <a:xfrm>
            <a:off x="0" y="1518436"/>
            <a:ext cx="12192000" cy="5094514"/>
          </a:xfrm>
          <a:prstGeom prst="rect">
            <a:avLst/>
          </a:prstGeom>
        </p:spPr>
      </p:pic>
      <p:sp>
        <p:nvSpPr>
          <p:cNvPr id="5" name="矩形: 圆角 4">
            <a:extLst>
              <a:ext uri="{FF2B5EF4-FFF2-40B4-BE49-F238E27FC236}">
                <a16:creationId xmlns:a16="http://schemas.microsoft.com/office/drawing/2014/main" id="{6E87F844-C6E9-4B06-98B5-C8A743AF1F91}"/>
              </a:ext>
            </a:extLst>
          </p:cNvPr>
          <p:cNvSpPr/>
          <p:nvPr/>
        </p:nvSpPr>
        <p:spPr>
          <a:xfrm>
            <a:off x="-1" y="4576335"/>
            <a:ext cx="12045595" cy="98565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7CEE88E-7C3D-BDC1-3ECE-80C1E9FF26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37" b="6172"/>
          <a:stretch/>
        </p:blipFill>
        <p:spPr bwMode="auto">
          <a:xfrm>
            <a:off x="1084037" y="231354"/>
            <a:ext cx="10116417" cy="6070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66908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E52FBD02-C253-FEC0-0922-D4756323E240}"/>
              </a:ext>
            </a:extLst>
          </p:cNvPr>
          <p:cNvGraphicFramePr>
            <a:graphicFrameLocks noGrp="1"/>
          </p:cNvGraphicFramePr>
          <p:nvPr>
            <p:extLst>
              <p:ext uri="{D42A27DB-BD31-4B8C-83A1-F6EECF244321}">
                <p14:modId xmlns:p14="http://schemas.microsoft.com/office/powerpoint/2010/main" val="3973345504"/>
              </p:ext>
            </p:extLst>
          </p:nvPr>
        </p:nvGraphicFramePr>
        <p:xfrm>
          <a:off x="420131" y="1136821"/>
          <a:ext cx="11157510" cy="5082829"/>
        </p:xfrm>
        <a:graphic>
          <a:graphicData uri="http://schemas.openxmlformats.org/drawingml/2006/table">
            <a:tbl>
              <a:tblPr firstRow="1" firstCol="1" bandRow="1">
                <a:tableStyleId>{3B4B98B0-60AC-42C2-AFA5-B58CD77FA1E5}</a:tableStyleId>
              </a:tblPr>
              <a:tblGrid>
                <a:gridCol w="1865869">
                  <a:extLst>
                    <a:ext uri="{9D8B030D-6E8A-4147-A177-3AD203B41FA5}">
                      <a16:colId xmlns:a16="http://schemas.microsoft.com/office/drawing/2014/main" val="1889445644"/>
                    </a:ext>
                  </a:extLst>
                </a:gridCol>
                <a:gridCol w="1532238">
                  <a:extLst>
                    <a:ext uri="{9D8B030D-6E8A-4147-A177-3AD203B41FA5}">
                      <a16:colId xmlns:a16="http://schemas.microsoft.com/office/drawing/2014/main" val="2970045716"/>
                    </a:ext>
                  </a:extLst>
                </a:gridCol>
                <a:gridCol w="2817340">
                  <a:extLst>
                    <a:ext uri="{9D8B030D-6E8A-4147-A177-3AD203B41FA5}">
                      <a16:colId xmlns:a16="http://schemas.microsoft.com/office/drawing/2014/main" val="2707347485"/>
                    </a:ext>
                  </a:extLst>
                </a:gridCol>
                <a:gridCol w="2261287">
                  <a:extLst>
                    <a:ext uri="{9D8B030D-6E8A-4147-A177-3AD203B41FA5}">
                      <a16:colId xmlns:a16="http://schemas.microsoft.com/office/drawing/2014/main" val="1496151313"/>
                    </a:ext>
                  </a:extLst>
                </a:gridCol>
                <a:gridCol w="2680776">
                  <a:extLst>
                    <a:ext uri="{9D8B030D-6E8A-4147-A177-3AD203B41FA5}">
                      <a16:colId xmlns:a16="http://schemas.microsoft.com/office/drawing/2014/main" val="1701287707"/>
                    </a:ext>
                  </a:extLst>
                </a:gridCol>
              </a:tblGrid>
              <a:tr h="467071">
                <a:tc>
                  <a:txBody>
                    <a:bodyPr/>
                    <a:lstStyle/>
                    <a:p>
                      <a:pPr algn="just">
                        <a:buNone/>
                      </a:pPr>
                      <a:r>
                        <a:rPr lang="zh-CN" sz="1400" kern="100">
                          <a:effectLst/>
                        </a:rPr>
                        <a:t>存储层级</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典型访问时间</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单核心</a:t>
                      </a:r>
                      <a:r>
                        <a:rPr lang="en-US" sz="1400" kern="100">
                          <a:effectLst/>
                        </a:rPr>
                        <a:t> / </a:t>
                      </a:r>
                      <a:r>
                        <a:rPr lang="zh-CN" sz="1400" kern="100">
                          <a:effectLst/>
                        </a:rPr>
                        <a:t>单设备典型容量</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dirty="0">
                          <a:effectLst/>
                        </a:rPr>
                        <a:t>单位容量成本（相对值）</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性能定位</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1534519424"/>
                  </a:ext>
                </a:extLst>
              </a:tr>
              <a:tr h="659394">
                <a:tc>
                  <a:txBody>
                    <a:bodyPr/>
                    <a:lstStyle/>
                    <a:p>
                      <a:pPr algn="just">
                        <a:buNone/>
                      </a:pPr>
                      <a:r>
                        <a:rPr lang="zh-CN" sz="1400" kern="100" dirty="0">
                          <a:effectLst/>
                        </a:rPr>
                        <a:t>寄存器</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dirty="0">
                          <a:effectLst/>
                        </a:rPr>
                        <a:t>0.1–0.5 ns</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几十到上百字节（如</a:t>
                      </a:r>
                      <a:r>
                        <a:rPr lang="en-US" sz="1400" kern="100">
                          <a:effectLst/>
                        </a:rPr>
                        <a:t> 32×64bit</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dirty="0">
                          <a:effectLst/>
                        </a:rPr>
                        <a:t>最高（</a:t>
                      </a:r>
                      <a:r>
                        <a:rPr lang="en-US" sz="1400" kern="100" dirty="0">
                          <a:effectLst/>
                        </a:rPr>
                        <a:t>≈1000x </a:t>
                      </a:r>
                      <a:r>
                        <a:rPr lang="zh-CN" sz="1400" kern="100" dirty="0">
                          <a:effectLst/>
                        </a:rPr>
                        <a:t>内存）</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CPU </a:t>
                      </a:r>
                      <a:r>
                        <a:rPr lang="zh-CN" sz="1400" kern="100">
                          <a:effectLst/>
                        </a:rPr>
                        <a:t>内部直接操作单元，无延迟供给数据</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62322059"/>
                  </a:ext>
                </a:extLst>
              </a:tr>
              <a:tr h="659394">
                <a:tc>
                  <a:txBody>
                    <a:bodyPr/>
                    <a:lstStyle/>
                    <a:p>
                      <a:pPr algn="just">
                        <a:buNone/>
                      </a:pPr>
                      <a:r>
                        <a:rPr lang="en-US" sz="1400" kern="100">
                          <a:effectLst/>
                        </a:rPr>
                        <a:t>L1 </a:t>
                      </a:r>
                      <a:r>
                        <a:rPr lang="zh-CN" sz="1400" kern="100">
                          <a:effectLst/>
                        </a:rPr>
                        <a:t>缓存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1–4 ns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32KB–128KB</a:t>
                      </a:r>
                      <a:r>
                        <a:rPr lang="zh-CN" sz="1400" kern="100">
                          <a:effectLst/>
                        </a:rPr>
                        <a:t>（核心私有）</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很高（</a:t>
                      </a:r>
                      <a:r>
                        <a:rPr lang="en-US" sz="1400" kern="100">
                          <a:effectLst/>
                        </a:rPr>
                        <a:t>≈100x </a:t>
                      </a:r>
                      <a:r>
                        <a:rPr lang="zh-CN" sz="1400" kern="100">
                          <a:effectLst/>
                        </a:rPr>
                        <a:t>内存）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核心</a:t>
                      </a:r>
                      <a:r>
                        <a:rPr lang="en-US" sz="1400" kern="100">
                          <a:effectLst/>
                        </a:rPr>
                        <a:t> “</a:t>
                      </a:r>
                      <a:r>
                        <a:rPr lang="zh-CN" sz="1400" kern="100">
                          <a:effectLst/>
                        </a:rPr>
                        <a:t>贴身缓存</a:t>
                      </a:r>
                      <a:r>
                        <a:rPr lang="en-US" sz="1400" kern="100">
                          <a:effectLst/>
                        </a:rPr>
                        <a:t>”</a:t>
                      </a:r>
                      <a:r>
                        <a:rPr lang="zh-CN" sz="1400" kern="100">
                          <a:effectLst/>
                        </a:rPr>
                        <a:t>，优先保障指令</a:t>
                      </a:r>
                      <a:r>
                        <a:rPr lang="en-US" sz="1400" kern="100">
                          <a:effectLst/>
                        </a:rPr>
                        <a:t> / </a:t>
                      </a:r>
                      <a:r>
                        <a:rPr lang="zh-CN" sz="1400" kern="100">
                          <a:effectLst/>
                        </a:rPr>
                        <a:t>数据即时访问</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369399848"/>
                  </a:ext>
                </a:extLst>
              </a:tr>
              <a:tr h="659394">
                <a:tc>
                  <a:txBody>
                    <a:bodyPr/>
                    <a:lstStyle/>
                    <a:p>
                      <a:pPr algn="just">
                        <a:buNone/>
                      </a:pPr>
                      <a:r>
                        <a:rPr lang="en-US" sz="1400" kern="100">
                          <a:effectLst/>
                        </a:rPr>
                        <a:t>L2 </a:t>
                      </a:r>
                      <a:r>
                        <a:rPr lang="zh-CN" sz="1400" kern="100">
                          <a:effectLst/>
                        </a:rPr>
                        <a:t>缓存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5–20 ns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256KB–2MB</a:t>
                      </a:r>
                      <a:r>
                        <a:rPr lang="zh-CN" sz="1400" kern="100">
                          <a:effectLst/>
                        </a:rPr>
                        <a:t>（核心私有）</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高（</a:t>
                      </a:r>
                      <a:r>
                        <a:rPr lang="en-US" sz="1400" kern="100">
                          <a:effectLst/>
                        </a:rPr>
                        <a:t>≈20x </a:t>
                      </a:r>
                      <a:r>
                        <a:rPr lang="zh-CN" sz="1400" kern="100">
                          <a:effectLst/>
                        </a:rPr>
                        <a:t>内存）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L1 </a:t>
                      </a:r>
                      <a:r>
                        <a:rPr lang="zh-CN" sz="1400" kern="100">
                          <a:effectLst/>
                        </a:rPr>
                        <a:t>补充，缓存更多近期数据，降低缺页率</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4257366623"/>
                  </a:ext>
                </a:extLst>
              </a:tr>
              <a:tr h="659394">
                <a:tc>
                  <a:txBody>
                    <a:bodyPr/>
                    <a:lstStyle/>
                    <a:p>
                      <a:pPr algn="just">
                        <a:buNone/>
                      </a:pPr>
                      <a:r>
                        <a:rPr lang="en-US" sz="1400" kern="100">
                          <a:effectLst/>
                        </a:rPr>
                        <a:t>L3 </a:t>
                      </a:r>
                      <a:r>
                        <a:rPr lang="zh-CN" sz="1400" kern="100">
                          <a:effectLst/>
                        </a:rPr>
                        <a:t>缓存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20–60 ns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4MB–64MB</a:t>
                      </a:r>
                      <a:r>
                        <a:rPr lang="zh-CN" sz="1400" kern="100">
                          <a:effectLst/>
                        </a:rPr>
                        <a:t>（多核心共享）</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中（</a:t>
                      </a:r>
                      <a:r>
                        <a:rPr lang="en-US" sz="1400" kern="100">
                          <a:effectLst/>
                        </a:rPr>
                        <a:t>≈5x </a:t>
                      </a:r>
                      <a:r>
                        <a:rPr lang="zh-CN" sz="1400" kern="100">
                          <a:effectLst/>
                        </a:rPr>
                        <a:t>内存）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全核心共享缓冲，进一步降低内存访问频率</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968727921"/>
                  </a:ext>
                </a:extLst>
              </a:tr>
              <a:tr h="659394">
                <a:tc>
                  <a:txBody>
                    <a:bodyPr/>
                    <a:lstStyle/>
                    <a:p>
                      <a:pPr algn="just">
                        <a:buNone/>
                      </a:pPr>
                      <a:r>
                        <a:rPr lang="zh-CN" sz="1400" kern="100">
                          <a:effectLst/>
                        </a:rPr>
                        <a:t>内存（</a:t>
                      </a:r>
                      <a:r>
                        <a:rPr lang="en-US" sz="1400" kern="100">
                          <a:effectLst/>
                        </a:rPr>
                        <a:t>DDR5</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60–100 ns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8GB–128GB</a:t>
                      </a:r>
                      <a:r>
                        <a:rPr lang="zh-CN" sz="1400" kern="100">
                          <a:effectLst/>
                        </a:rPr>
                        <a:t>（单通道</a:t>
                      </a:r>
                      <a:r>
                        <a:rPr lang="en-US" sz="1400" kern="100">
                          <a:effectLst/>
                        </a:rPr>
                        <a:t> / </a:t>
                      </a:r>
                      <a:r>
                        <a:rPr lang="zh-CN" sz="1400" kern="100">
                          <a:effectLst/>
                        </a:rPr>
                        <a:t>多通道）</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中低（基准值</a:t>
                      </a:r>
                      <a:r>
                        <a:rPr lang="en-US" sz="1400" kern="100">
                          <a:effectLst/>
                        </a:rPr>
                        <a:t> 1x</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主存空间，存储运行中程序的完整数据</a:t>
                      </a:r>
                      <a:r>
                        <a:rPr lang="en-US" sz="1400" kern="100">
                          <a:effectLst/>
                        </a:rPr>
                        <a:t> / </a:t>
                      </a:r>
                      <a:r>
                        <a:rPr lang="zh-CN" sz="1400" kern="100">
                          <a:effectLst/>
                        </a:rPr>
                        <a:t>指令</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6117680"/>
                  </a:ext>
                </a:extLst>
              </a:tr>
              <a:tr h="659394">
                <a:tc>
                  <a:txBody>
                    <a:bodyPr/>
                    <a:lstStyle/>
                    <a:p>
                      <a:pPr algn="just">
                        <a:buNone/>
                      </a:pPr>
                      <a:r>
                        <a:rPr lang="zh-CN" sz="1400" kern="100" dirty="0">
                          <a:effectLst/>
                        </a:rPr>
                        <a:t>硬盘（</a:t>
                      </a:r>
                      <a:r>
                        <a:rPr lang="en-US" sz="1400" kern="100" dirty="0" err="1">
                          <a:effectLst/>
                        </a:rPr>
                        <a:t>NVMe</a:t>
                      </a:r>
                      <a:r>
                        <a:rPr lang="en-US" sz="1400" kern="100" dirty="0">
                          <a:effectLst/>
                        </a:rPr>
                        <a:t> SSD</a:t>
                      </a:r>
                      <a:r>
                        <a:rPr lang="zh-CN" sz="1400" kern="100" dirty="0">
                          <a:effectLst/>
                        </a:rPr>
                        <a:t>）</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10–100 μs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256GB–4TB</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低（</a:t>
                      </a:r>
                      <a:r>
                        <a:rPr lang="en-US" sz="1400" kern="100">
                          <a:effectLst/>
                        </a:rPr>
                        <a:t>≈0.1x </a:t>
                      </a:r>
                      <a:r>
                        <a:rPr lang="zh-CN" sz="1400" kern="100">
                          <a:effectLst/>
                        </a:rPr>
                        <a:t>内存）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高速持久存储，替代传统机械硬盘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293986236"/>
                  </a:ext>
                </a:extLst>
              </a:tr>
              <a:tr h="659394">
                <a:tc>
                  <a:txBody>
                    <a:bodyPr/>
                    <a:lstStyle/>
                    <a:p>
                      <a:pPr algn="just">
                        <a:buNone/>
                      </a:pPr>
                      <a:r>
                        <a:rPr lang="zh-CN" sz="1400" kern="100">
                          <a:effectLst/>
                        </a:rPr>
                        <a:t>硬盘（机械</a:t>
                      </a:r>
                      <a:r>
                        <a:rPr lang="en-US" sz="1400" kern="100">
                          <a:effectLst/>
                        </a:rPr>
                        <a:t> HDD</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5–10 ms</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en-US" sz="1400" kern="100">
                          <a:effectLst/>
                        </a:rPr>
                        <a:t>1TB–18TB</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a:effectLst/>
                        </a:rPr>
                        <a:t>最低（</a:t>
                      </a:r>
                      <a:r>
                        <a:rPr lang="en-US" sz="1400" kern="100">
                          <a:effectLst/>
                        </a:rPr>
                        <a:t>≈0.01x </a:t>
                      </a:r>
                      <a:r>
                        <a:rPr lang="zh-CN" sz="1400" kern="100">
                          <a:effectLst/>
                        </a:rPr>
                        <a:t>内存）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buNone/>
                      </a:pPr>
                      <a:r>
                        <a:rPr lang="zh-CN" sz="1400" kern="100" dirty="0">
                          <a:effectLst/>
                        </a:rPr>
                        <a:t>大容量低成本存储，适合归档数据</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65749128"/>
                  </a:ext>
                </a:extLst>
              </a:tr>
            </a:tbl>
          </a:graphicData>
        </a:graphic>
      </p:graphicFrame>
      <p:sp>
        <p:nvSpPr>
          <p:cNvPr id="7" name="文本框 6">
            <a:extLst>
              <a:ext uri="{FF2B5EF4-FFF2-40B4-BE49-F238E27FC236}">
                <a16:creationId xmlns:a16="http://schemas.microsoft.com/office/drawing/2014/main" id="{02DB9FB2-9730-8C6E-9BE6-611836EB5D33}"/>
              </a:ext>
            </a:extLst>
          </p:cNvPr>
          <p:cNvSpPr txBox="1"/>
          <p:nvPr/>
        </p:nvSpPr>
        <p:spPr>
          <a:xfrm>
            <a:off x="2225956" y="269018"/>
            <a:ext cx="8586206" cy="461665"/>
          </a:xfrm>
          <a:prstGeom prst="rect">
            <a:avLst/>
          </a:prstGeom>
          <a:noFill/>
        </p:spPr>
        <p:txBody>
          <a:bodyPr wrap="square" rtlCol="0">
            <a:spAutoFit/>
          </a:bodyPr>
          <a:lstStyle/>
          <a:p>
            <a:r>
              <a:rPr lang="zh-CN" altLang="en-US" sz="2400" b="1" dirty="0"/>
              <a:t>寄存器、</a:t>
            </a:r>
            <a:r>
              <a:rPr lang="en-US" altLang="zh-CN" sz="2400" b="1" dirty="0"/>
              <a:t>L1/L2/L3 </a:t>
            </a:r>
            <a:r>
              <a:rPr lang="zh-CN" altLang="en-US" sz="2400" b="1" dirty="0"/>
              <a:t>缓存、内存、硬盘</a:t>
            </a:r>
            <a:r>
              <a:rPr lang="zh-CN" altLang="en-US" sz="2400" dirty="0"/>
              <a:t> 的成本 </a:t>
            </a:r>
            <a:r>
              <a:rPr lang="en-US" altLang="zh-CN" sz="2400" dirty="0"/>
              <a:t>- </a:t>
            </a:r>
            <a:r>
              <a:rPr lang="zh-CN" altLang="en-US" sz="2400" dirty="0"/>
              <a:t>性能权衡分析表</a:t>
            </a:r>
          </a:p>
        </p:txBody>
      </p:sp>
      <p:sp>
        <p:nvSpPr>
          <p:cNvPr id="8" name="文本框 7">
            <a:extLst>
              <a:ext uri="{FF2B5EF4-FFF2-40B4-BE49-F238E27FC236}">
                <a16:creationId xmlns:a16="http://schemas.microsoft.com/office/drawing/2014/main" id="{09C8A81E-63D2-4FD9-074E-B973563626E2}"/>
              </a:ext>
            </a:extLst>
          </p:cNvPr>
          <p:cNvSpPr txBox="1"/>
          <p:nvPr/>
        </p:nvSpPr>
        <p:spPr>
          <a:xfrm>
            <a:off x="2113005" y="6265561"/>
            <a:ext cx="5486400" cy="400110"/>
          </a:xfrm>
          <a:prstGeom prst="rect">
            <a:avLst/>
          </a:prstGeom>
          <a:noFill/>
        </p:spPr>
        <p:txBody>
          <a:bodyPr wrap="square" rtlCol="0">
            <a:spAutoFit/>
          </a:bodyPr>
          <a:lstStyle/>
          <a:p>
            <a:r>
              <a:rPr lang="zh-CN" altLang="en-US" sz="2000" dirty="0"/>
              <a:t>速度越快 → 单位容量成本越高 → 容量越小</a:t>
            </a:r>
          </a:p>
        </p:txBody>
      </p:sp>
    </p:spTree>
    <p:extLst>
      <p:ext uri="{BB962C8B-B14F-4D97-AF65-F5344CB8AC3E}">
        <p14:creationId xmlns:p14="http://schemas.microsoft.com/office/powerpoint/2010/main" val="353733573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2EDC6B1-E61D-2DFF-D70F-16364F6FA014}"/>
              </a:ext>
            </a:extLst>
          </p:cNvPr>
          <p:cNvPicPr>
            <a:picLocks noChangeAspect="1"/>
          </p:cNvPicPr>
          <p:nvPr/>
        </p:nvPicPr>
        <p:blipFill>
          <a:blip r:embed="rId2"/>
          <a:stretch>
            <a:fillRect/>
          </a:stretch>
        </p:blipFill>
        <p:spPr>
          <a:xfrm>
            <a:off x="1857763" y="432486"/>
            <a:ext cx="7817578" cy="6234033"/>
          </a:xfrm>
          <a:prstGeom prst="rect">
            <a:avLst/>
          </a:prstGeom>
        </p:spPr>
      </p:pic>
    </p:spTree>
    <p:extLst>
      <p:ext uri="{BB962C8B-B14F-4D97-AF65-F5344CB8AC3E}">
        <p14:creationId xmlns:p14="http://schemas.microsoft.com/office/powerpoint/2010/main" val="119442171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6.1.1  </a:t>
            </a:r>
            <a:r>
              <a:rPr>
                <a:sym typeface="+mn-ea"/>
              </a:rPr>
              <a:t>存储系统的基本概念</a:t>
            </a:r>
            <a:endParaRPr lang="zh-CN" altLang="en-US"/>
          </a:p>
        </p:txBody>
      </p:sp>
      <p:sp>
        <p:nvSpPr>
          <p:cNvPr id="3" name="内容占位符 2"/>
          <p:cNvSpPr>
            <a:spLocks noGrp="1"/>
          </p:cNvSpPr>
          <p:nvPr>
            <p:ph idx="1"/>
          </p:nvPr>
        </p:nvSpPr>
        <p:spPr>
          <a:xfrm>
            <a:off x="376573" y="1421854"/>
            <a:ext cx="9169813" cy="4209230"/>
          </a:xfrm>
        </p:spPr>
        <p:txBody>
          <a:bodyPr>
            <a:normAutofit/>
          </a:bodyPr>
          <a:lstStyle/>
          <a:p>
            <a:pPr>
              <a:spcAft>
                <a:spcPts val="1600"/>
              </a:spcAft>
            </a:pPr>
            <a:r>
              <a:rPr sz="2800" dirty="0">
                <a:sym typeface="+mn-ea"/>
              </a:rPr>
              <a:t>通常，内存被划分为系统区和用户区两部分。</a:t>
            </a:r>
          </a:p>
          <a:p>
            <a:pPr lvl="1"/>
            <a:r>
              <a:rPr sz="2800" dirty="0">
                <a:sym typeface="+mn-ea"/>
              </a:rPr>
              <a:t>系统区： 用于加载操作系统常驻内存部分（内核）；</a:t>
            </a:r>
          </a:p>
          <a:p>
            <a:pPr lvl="1"/>
            <a:r>
              <a:rPr sz="2800" dirty="0">
                <a:sym typeface="+mn-ea"/>
              </a:rPr>
              <a:t>用户区：除系统区以外的全部内存空间，供当前正在执行的用户程序使用。</a:t>
            </a:r>
            <a:endParaRPr sz="2800" b="1" dirty="0">
              <a:latin typeface="楷体" panose="02010609060101010101" charset="-122"/>
              <a:ea typeface="楷体" panose="02010609060101010101" charset="-122"/>
              <a:sym typeface="+mn-ea"/>
            </a:endParaRPr>
          </a:p>
          <a:p>
            <a:pPr lvl="0"/>
            <a:r>
              <a:rPr lang="zh-CN" altLang="en-US" sz="2800" dirty="0"/>
              <a:t>操作系统的存储管理模块需要对</a:t>
            </a:r>
            <a:r>
              <a:rPr lang="zh-CN" altLang="en-US" sz="2800" dirty="0">
                <a:solidFill>
                  <a:srgbClr val="FF0000"/>
                </a:solidFill>
              </a:rPr>
              <a:t>内存的用户区</a:t>
            </a:r>
            <a:r>
              <a:rPr lang="zh-CN" altLang="en-US" sz="2800" dirty="0"/>
              <a:t>进行细分，以加载多个用户程序。</a:t>
            </a:r>
          </a:p>
        </p:txBody>
      </p:sp>
      <p:pic>
        <p:nvPicPr>
          <p:cNvPr id="8" name="图片 7" descr="Q()(QF2SN8HIZ5`K3S{H)8T"/>
          <p:cNvPicPr>
            <a:picLocks noChangeAspect="1"/>
          </p:cNvPicPr>
          <p:nvPr/>
        </p:nvPicPr>
        <p:blipFill>
          <a:blip r:embed="rId3"/>
          <a:stretch>
            <a:fillRect/>
          </a:stretch>
        </p:blipFill>
        <p:spPr>
          <a:xfrm>
            <a:off x="9546386" y="835031"/>
            <a:ext cx="2032203" cy="5187938"/>
          </a:xfrm>
          <a:prstGeom prst="rect">
            <a:avLst/>
          </a:prstGeom>
        </p:spPr>
      </p:pic>
    </p:spTree>
    <p:custDataLst>
      <p:tags r:id="rId1"/>
    </p:custData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71CBD272-4083-CDF8-6AE5-8DC0516B75D4}"/>
              </a:ext>
            </a:extLst>
          </p:cNvPr>
          <p:cNvGraphicFramePr>
            <a:graphicFrameLocks noGrp="1"/>
          </p:cNvGraphicFramePr>
          <p:nvPr>
            <p:extLst>
              <p:ext uri="{D42A27DB-BD31-4B8C-83A1-F6EECF244321}">
                <p14:modId xmlns:p14="http://schemas.microsoft.com/office/powerpoint/2010/main" val="1524258405"/>
              </p:ext>
            </p:extLst>
          </p:nvPr>
        </p:nvGraphicFramePr>
        <p:xfrm>
          <a:off x="611188" y="1000898"/>
          <a:ext cx="10969624" cy="5283378"/>
        </p:xfrm>
        <a:graphic>
          <a:graphicData uri="http://schemas.openxmlformats.org/drawingml/2006/table">
            <a:tbl>
              <a:tblPr firstRow="1" firstCol="1" bandRow="1">
                <a:tableStyleId>{3B4B98B0-60AC-42C2-AFA5-B58CD77FA1E5}</a:tableStyleId>
              </a:tblPr>
              <a:tblGrid>
                <a:gridCol w="5471511">
                  <a:extLst>
                    <a:ext uri="{9D8B030D-6E8A-4147-A177-3AD203B41FA5}">
                      <a16:colId xmlns:a16="http://schemas.microsoft.com/office/drawing/2014/main" val="1608056096"/>
                    </a:ext>
                  </a:extLst>
                </a:gridCol>
                <a:gridCol w="5498113">
                  <a:extLst>
                    <a:ext uri="{9D8B030D-6E8A-4147-A177-3AD203B41FA5}">
                      <a16:colId xmlns:a16="http://schemas.microsoft.com/office/drawing/2014/main" val="3729320026"/>
                    </a:ext>
                  </a:extLst>
                </a:gridCol>
              </a:tblGrid>
              <a:tr h="612824">
                <a:tc>
                  <a:txBody>
                    <a:bodyPr/>
                    <a:lstStyle/>
                    <a:p>
                      <a:pPr algn="just">
                        <a:lnSpc>
                          <a:spcPct val="150000"/>
                        </a:lnSpc>
                        <a:buNone/>
                      </a:pPr>
                      <a:r>
                        <a:rPr lang="zh-CN" sz="2000" kern="100">
                          <a:effectLst/>
                        </a:rPr>
                        <a:t>系统区内存</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lnSpc>
                          <a:spcPct val="150000"/>
                        </a:lnSpc>
                        <a:buNone/>
                      </a:pPr>
                      <a:r>
                        <a:rPr lang="zh-CN" sz="2000" kern="100" dirty="0">
                          <a:effectLst/>
                        </a:rPr>
                        <a:t>用户程序内存</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87761878"/>
                  </a:ext>
                </a:extLst>
              </a:tr>
              <a:tr h="612824">
                <a:tc>
                  <a:txBody>
                    <a:bodyPr/>
                    <a:lstStyle/>
                    <a:p>
                      <a:pPr algn="just">
                        <a:lnSpc>
                          <a:spcPct val="150000"/>
                        </a:lnSpc>
                        <a:buNone/>
                      </a:pPr>
                      <a:r>
                        <a:rPr lang="zh-CN" sz="1800" b="0" kern="100" dirty="0">
                          <a:effectLst/>
                        </a:rPr>
                        <a:t>仅内核态可直接访问，用户态程序无权限操作（否则触发异常）</a:t>
                      </a:r>
                      <a:endParaRPr 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lnSpc>
                          <a:spcPct val="150000"/>
                        </a:lnSpc>
                        <a:buNone/>
                      </a:pPr>
                      <a:r>
                        <a:rPr lang="zh-CN" sz="1800" kern="100" dirty="0">
                          <a:effectLst/>
                        </a:rPr>
                        <a:t>普通用户程序在用户态访问，受内存保护机制限制（如页表权限）</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849343813"/>
                  </a:ext>
                </a:extLst>
              </a:tr>
              <a:tr h="612824">
                <a:tc>
                  <a:txBody>
                    <a:bodyPr/>
                    <a:lstStyle/>
                    <a:p>
                      <a:pPr algn="just">
                        <a:lnSpc>
                          <a:spcPct val="150000"/>
                        </a:lnSpc>
                        <a:buNone/>
                      </a:pPr>
                      <a:r>
                        <a:rPr lang="zh-CN" sz="1800" b="1" kern="100" dirty="0">
                          <a:effectLst/>
                        </a:rPr>
                        <a:t>存放操作系统内核代码</a:t>
                      </a:r>
                      <a:r>
                        <a:rPr lang="zh-CN" sz="1800" b="0" kern="100" dirty="0">
                          <a:effectLst/>
                        </a:rPr>
                        <a:t>、数据结构、中断处理程序、系统级缓存等</a:t>
                      </a:r>
                      <a:endParaRPr 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lnSpc>
                          <a:spcPct val="150000"/>
                        </a:lnSpc>
                        <a:buNone/>
                      </a:pPr>
                      <a:r>
                        <a:rPr lang="zh-CN" sz="1800" kern="100" dirty="0">
                          <a:effectLst/>
                        </a:rPr>
                        <a:t>存放</a:t>
                      </a:r>
                      <a:r>
                        <a:rPr lang="zh-CN" sz="1800" b="1" kern="100" dirty="0">
                          <a:effectLst/>
                        </a:rPr>
                        <a:t>应用程序的代码</a:t>
                      </a:r>
                      <a:r>
                        <a:rPr lang="zh-CN" sz="1800" kern="100" dirty="0">
                          <a:effectLst/>
                        </a:rPr>
                        <a:t>、全局变量、堆、栈、动态库等</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2132434256"/>
                  </a:ext>
                </a:extLst>
              </a:tr>
              <a:tr h="612824">
                <a:tc>
                  <a:txBody>
                    <a:bodyPr/>
                    <a:lstStyle/>
                    <a:p>
                      <a:pPr algn="just">
                        <a:lnSpc>
                          <a:spcPct val="150000"/>
                        </a:lnSpc>
                        <a:buNone/>
                      </a:pPr>
                      <a:r>
                        <a:rPr lang="zh-CN" sz="1800" b="0" kern="100" dirty="0">
                          <a:effectLst/>
                        </a:rPr>
                        <a:t>由操作系统内核自主管理，用户无法直接干预</a:t>
                      </a:r>
                      <a:endParaRPr 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lnSpc>
                          <a:spcPct val="150000"/>
                        </a:lnSpc>
                        <a:buNone/>
                      </a:pPr>
                      <a:r>
                        <a:rPr lang="zh-CN" sz="1800" kern="100" dirty="0">
                          <a:effectLst/>
                        </a:rPr>
                        <a:t>由操作系统为用户程序分配和回收，用户可通过</a:t>
                      </a:r>
                      <a:r>
                        <a:rPr lang="en-US" sz="1800" kern="100" dirty="0">
                          <a:effectLst/>
                        </a:rPr>
                        <a:t> API</a:t>
                      </a:r>
                      <a:r>
                        <a:rPr lang="zh-CN" sz="1800" kern="100" dirty="0">
                          <a:effectLst/>
                        </a:rPr>
                        <a:t>（如</a:t>
                      </a:r>
                      <a:r>
                        <a:rPr lang="en-US" sz="1800" kern="100" dirty="0">
                          <a:effectLst/>
                        </a:rPr>
                        <a:t>malloc</a:t>
                      </a:r>
                      <a:r>
                        <a:rPr lang="zh-CN" sz="1800" kern="100" dirty="0">
                          <a:effectLst/>
                        </a:rPr>
                        <a:t>）申请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1617388968"/>
                  </a:ext>
                </a:extLst>
              </a:tr>
              <a:tr h="612824">
                <a:tc>
                  <a:txBody>
                    <a:bodyPr/>
                    <a:lstStyle/>
                    <a:p>
                      <a:pPr algn="just">
                        <a:lnSpc>
                          <a:spcPct val="150000"/>
                        </a:lnSpc>
                        <a:buNone/>
                      </a:pPr>
                      <a:r>
                        <a:rPr lang="zh-CN" sz="1800" b="0" kern="100" dirty="0">
                          <a:effectLst/>
                        </a:rPr>
                        <a:t>所有进程共享同一块系统区内存（内核空间）</a:t>
                      </a:r>
                      <a:endParaRPr 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lnSpc>
                          <a:spcPct val="150000"/>
                        </a:lnSpc>
                        <a:buNone/>
                      </a:pPr>
                      <a:r>
                        <a:rPr lang="zh-CN" sz="1800" b="1" kern="100" dirty="0">
                          <a:effectLst/>
                        </a:rPr>
                        <a:t>每个用户程序有独立的虚拟地址空间</a:t>
                      </a:r>
                      <a:r>
                        <a:rPr lang="zh-CN" sz="1800" kern="100" dirty="0">
                          <a:effectLst/>
                        </a:rPr>
                        <a:t>，进程间内存默认隔离</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572260615"/>
                  </a:ext>
                </a:extLst>
              </a:tr>
              <a:tr h="612824">
                <a:tc>
                  <a:txBody>
                    <a:bodyPr/>
                    <a:lstStyle/>
                    <a:p>
                      <a:pPr algn="just">
                        <a:lnSpc>
                          <a:spcPct val="150000"/>
                        </a:lnSpc>
                        <a:buNone/>
                      </a:pPr>
                      <a:r>
                        <a:rPr lang="zh-CN" sz="1800" b="0" kern="100" dirty="0">
                          <a:effectLst/>
                        </a:rPr>
                        <a:t>随操作系统启动而分配，关机时释放</a:t>
                      </a:r>
                      <a:endParaRPr 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tc>
                  <a:txBody>
                    <a:bodyPr/>
                    <a:lstStyle/>
                    <a:p>
                      <a:pPr algn="just">
                        <a:lnSpc>
                          <a:spcPct val="150000"/>
                        </a:lnSpc>
                        <a:buNone/>
                      </a:pPr>
                      <a:r>
                        <a:rPr lang="zh-CN" sz="1800" kern="100" dirty="0">
                          <a:effectLst/>
                        </a:rPr>
                        <a:t>随用户程序启动而分配，程序退出时回收</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1450" marR="171450" marT="114300" marB="114300" anchor="ctr"/>
                </a:tc>
                <a:extLst>
                  <a:ext uri="{0D108BD9-81ED-4DB2-BD59-A6C34878D82A}">
                    <a16:rowId xmlns:a16="http://schemas.microsoft.com/office/drawing/2014/main" val="3021649115"/>
                  </a:ext>
                </a:extLst>
              </a:tr>
            </a:tbl>
          </a:graphicData>
        </a:graphic>
      </p:graphicFrame>
    </p:spTree>
    <p:extLst>
      <p:ext uri="{BB962C8B-B14F-4D97-AF65-F5344CB8AC3E}">
        <p14:creationId xmlns:p14="http://schemas.microsoft.com/office/powerpoint/2010/main" val="406441504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t>物理地址和逻辑地址</a:t>
            </a:r>
          </a:p>
        </p:txBody>
      </p:sp>
      <p:sp>
        <p:nvSpPr>
          <p:cNvPr id="3" name="内容占位符 2"/>
          <p:cNvSpPr>
            <a:spLocks noGrp="1"/>
          </p:cNvSpPr>
          <p:nvPr>
            <p:ph idx="1"/>
          </p:nvPr>
        </p:nvSpPr>
        <p:spPr>
          <a:xfrm>
            <a:off x="608330" y="1065529"/>
            <a:ext cx="10968990" cy="2987487"/>
          </a:xfrm>
        </p:spPr>
        <p:txBody>
          <a:bodyPr>
            <a:normAutofit/>
          </a:bodyPr>
          <a:lstStyle/>
          <a:p>
            <a:pPr marL="0" indent="0">
              <a:buNone/>
            </a:pPr>
            <a:r>
              <a:rPr lang="en-US" altLang="zh-CN" sz="2800" b="1" dirty="0"/>
              <a:t>(1)</a:t>
            </a:r>
            <a:r>
              <a:rPr sz="2800" b="1" dirty="0"/>
              <a:t>物理地址和物理地址空间</a:t>
            </a:r>
            <a:endParaRPr lang="zh-CN" altLang="en-US" sz="2800" b="1" dirty="0"/>
          </a:p>
          <a:p>
            <a:r>
              <a:rPr lang="zh-CN" altLang="en-US" sz="2800" dirty="0"/>
              <a:t>为了便于程序执行时找到数据和指令，内存每个单元都有地址；</a:t>
            </a:r>
            <a:endParaRPr lang="en-US" altLang="zh-CN" sz="2800" dirty="0">
              <a:solidFill>
                <a:srgbClr val="FF0000"/>
              </a:solidFill>
            </a:endParaRPr>
          </a:p>
          <a:p>
            <a:r>
              <a:rPr lang="zh-CN" altLang="en-US" sz="2800" dirty="0">
                <a:solidFill>
                  <a:srgbClr val="FF0000"/>
                </a:solidFill>
              </a:rPr>
              <a:t>内存单元的地址称为物理地址</a:t>
            </a:r>
            <a:r>
              <a:rPr lang="zh-CN" altLang="en-US" sz="2800" dirty="0"/>
              <a:t>，也称为绝对地址，即数据在内存的实际存放位置。</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A660D-F9D0-7B4D-7DC9-2E1D6F207794}"/>
              </a:ext>
            </a:extLst>
          </p:cNvPr>
          <p:cNvSpPr>
            <a:spLocks noGrp="1"/>
          </p:cNvSpPr>
          <p:nvPr>
            <p:ph type="title"/>
          </p:nvPr>
        </p:nvSpPr>
        <p:spPr>
          <a:xfrm>
            <a:off x="816903" y="868132"/>
            <a:ext cx="10969200" cy="705600"/>
          </a:xfrm>
        </p:spPr>
        <p:txBody>
          <a:bodyPr/>
          <a:lstStyle/>
          <a:p>
            <a:r>
              <a:rPr lang="zh-CN" altLang="en-US" dirty="0"/>
              <a:t>程序执行时： </a:t>
            </a:r>
            <a:r>
              <a:rPr lang="en-US" altLang="zh-CN" dirty="0"/>
              <a:t>CPU</a:t>
            </a:r>
            <a:r>
              <a:rPr lang="zh-CN" altLang="en-US" dirty="0"/>
              <a:t>是不知道变量的</a:t>
            </a:r>
          </a:p>
        </p:txBody>
      </p:sp>
      <p:sp>
        <p:nvSpPr>
          <p:cNvPr id="3" name="内容占位符 2">
            <a:extLst>
              <a:ext uri="{FF2B5EF4-FFF2-40B4-BE49-F238E27FC236}">
                <a16:creationId xmlns:a16="http://schemas.microsoft.com/office/drawing/2014/main" id="{6AAEB438-E3E0-E1F9-2DA0-C6B0C02F6748}"/>
              </a:ext>
            </a:extLst>
          </p:cNvPr>
          <p:cNvSpPr>
            <a:spLocks noGrp="1"/>
          </p:cNvSpPr>
          <p:nvPr>
            <p:ph idx="1"/>
          </p:nvPr>
        </p:nvSpPr>
        <p:spPr>
          <a:xfrm>
            <a:off x="817113" y="1853513"/>
            <a:ext cx="10968990" cy="3262183"/>
          </a:xfrm>
        </p:spPr>
        <p:txBody>
          <a:bodyPr>
            <a:normAutofit/>
          </a:bodyPr>
          <a:lstStyle/>
          <a:p>
            <a:pPr marL="0" indent="0">
              <a:spcBef>
                <a:spcPts val="1200"/>
              </a:spcBef>
              <a:buClr>
                <a:schemeClr val="tx1"/>
              </a:buClr>
              <a:buSzPct val="100000"/>
              <a:buNone/>
            </a:pPr>
            <a:r>
              <a:rPr lang="zh-CN" altLang="en-US" dirty="0">
                <a:solidFill>
                  <a:srgbClr val="7030A0"/>
                </a:solidFill>
              </a:rPr>
              <a:t>对数据</a:t>
            </a:r>
            <a:r>
              <a:rPr lang="en-US" altLang="zh-CN" dirty="0">
                <a:solidFill>
                  <a:srgbClr val="7030A0"/>
                </a:solidFill>
              </a:rPr>
              <a:t>/</a:t>
            </a:r>
            <a:r>
              <a:rPr lang="zh-CN" altLang="en-US" dirty="0">
                <a:solidFill>
                  <a:srgbClr val="7030A0"/>
                </a:solidFill>
              </a:rPr>
              <a:t>变量的存取需要变为对某个内存地址（物理地址）的读写；</a:t>
            </a:r>
            <a:r>
              <a:rPr lang="en-US" altLang="zh-CN" dirty="0">
                <a:solidFill>
                  <a:srgbClr val="7030A0"/>
                </a:solidFill>
              </a:rPr>
              <a:t>---&gt;</a:t>
            </a:r>
          </a:p>
          <a:p>
            <a:pPr marL="0" indent="0">
              <a:spcBef>
                <a:spcPts val="1200"/>
              </a:spcBef>
              <a:buClr>
                <a:schemeClr val="tx1"/>
              </a:buClr>
              <a:buSzPct val="100000"/>
              <a:buNone/>
            </a:pPr>
            <a:r>
              <a:rPr lang="zh-CN" altLang="en-US" dirty="0">
                <a:solidFill>
                  <a:srgbClr val="00B050"/>
                </a:solidFill>
              </a:rPr>
              <a:t>程序必须有编译过程，将程序语句变成机器语言 </a:t>
            </a:r>
            <a:r>
              <a:rPr lang="en-US" altLang="zh-CN" b="1" dirty="0">
                <a:solidFill>
                  <a:srgbClr val="00B050"/>
                </a:solidFill>
              </a:rPr>
              <a:t>+</a:t>
            </a:r>
            <a:r>
              <a:rPr lang="en-US" altLang="zh-CN" dirty="0">
                <a:solidFill>
                  <a:srgbClr val="00B050"/>
                </a:solidFill>
              </a:rPr>
              <a:t> </a:t>
            </a:r>
            <a:r>
              <a:rPr lang="zh-CN" altLang="en-US" dirty="0">
                <a:solidFill>
                  <a:srgbClr val="00B050"/>
                </a:solidFill>
              </a:rPr>
              <a:t>给变量分配存储空间（有对应地址），对变量的访问变成对某存储地址的读写；</a:t>
            </a:r>
            <a:r>
              <a:rPr lang="en-US" altLang="zh-CN" dirty="0">
                <a:solidFill>
                  <a:srgbClr val="00B050"/>
                </a:solidFill>
              </a:rPr>
              <a:t>---&gt;</a:t>
            </a:r>
          </a:p>
          <a:p>
            <a:pPr marL="0" indent="0">
              <a:spcBef>
                <a:spcPts val="1200"/>
              </a:spcBef>
              <a:buClr>
                <a:schemeClr val="tx1"/>
              </a:buClr>
              <a:buSzPct val="100000"/>
              <a:buNone/>
            </a:pPr>
            <a:r>
              <a:rPr lang="zh-CN" altLang="en-US" dirty="0">
                <a:solidFill>
                  <a:srgbClr val="FF0000"/>
                </a:solidFill>
              </a:rPr>
              <a:t>如何将变量和指令转换为其内存地址？</a:t>
            </a:r>
            <a:r>
              <a:rPr lang="zh-CN" altLang="en-US" dirty="0"/>
              <a:t>（</a:t>
            </a:r>
            <a:r>
              <a:rPr lang="zh-CN" altLang="en-US" dirty="0">
                <a:latin typeface="华文新魏" panose="02010800040101010101" pitchFamily="2" charset="-122"/>
                <a:ea typeface="华文新魏" panose="02010800040101010101" pitchFamily="2" charset="-122"/>
              </a:rPr>
              <a:t>编译程序并不知道运行时放在内存什么地方</a:t>
            </a:r>
            <a:r>
              <a:rPr lang="zh-CN" altLang="en-US" dirty="0"/>
              <a:t>）</a:t>
            </a:r>
            <a:r>
              <a:rPr lang="en-US" altLang="zh-CN" dirty="0"/>
              <a:t>---&gt;</a:t>
            </a:r>
          </a:p>
        </p:txBody>
      </p:sp>
      <p:sp>
        <p:nvSpPr>
          <p:cNvPr id="4" name="文本框 3">
            <a:extLst>
              <a:ext uri="{FF2B5EF4-FFF2-40B4-BE49-F238E27FC236}">
                <a16:creationId xmlns:a16="http://schemas.microsoft.com/office/drawing/2014/main" id="{A36406CF-5764-11C5-D3AF-E3EE0C1FCC5A}"/>
              </a:ext>
            </a:extLst>
          </p:cNvPr>
          <p:cNvSpPr txBox="1"/>
          <p:nvPr/>
        </p:nvSpPr>
        <p:spPr>
          <a:xfrm>
            <a:off x="1309817" y="5338118"/>
            <a:ext cx="7327557" cy="523220"/>
          </a:xfrm>
          <a:prstGeom prst="rect">
            <a:avLst/>
          </a:prstGeom>
          <a:noFill/>
        </p:spPr>
        <p:txBody>
          <a:bodyPr wrap="square" rtlCol="0">
            <a:spAutoFit/>
          </a:bodyPr>
          <a:lstStyle/>
          <a:p>
            <a:r>
              <a:rPr lang="zh-CN" altLang="en-US" sz="2800" dirty="0">
                <a:solidFill>
                  <a:srgbClr val="0000FF"/>
                </a:solidFill>
                <a:latin typeface="+mn-ea"/>
              </a:rPr>
              <a:t>虚拟地址（从</a:t>
            </a:r>
            <a:r>
              <a:rPr lang="en-US" altLang="zh-CN" sz="2800" dirty="0">
                <a:solidFill>
                  <a:srgbClr val="0000FF"/>
                </a:solidFill>
                <a:latin typeface="+mn-ea"/>
              </a:rPr>
              <a:t>0</a:t>
            </a:r>
            <a:r>
              <a:rPr lang="zh-CN" altLang="en-US" sz="2800" dirty="0">
                <a:solidFill>
                  <a:srgbClr val="0000FF"/>
                </a:solidFill>
                <a:latin typeface="+mn-ea"/>
              </a:rPr>
              <a:t>编址）</a:t>
            </a:r>
            <a:r>
              <a:rPr lang="en-US" altLang="zh-CN" sz="2800" dirty="0">
                <a:solidFill>
                  <a:srgbClr val="0000FF"/>
                </a:solidFill>
                <a:latin typeface="+mn-ea"/>
              </a:rPr>
              <a:t>+ </a:t>
            </a:r>
            <a:r>
              <a:rPr lang="zh-CN" altLang="en-US" sz="2800" dirty="0">
                <a:solidFill>
                  <a:srgbClr val="0000FF"/>
                </a:solidFill>
                <a:latin typeface="+mn-ea"/>
              </a:rPr>
              <a:t>装入内存地址转换</a:t>
            </a:r>
          </a:p>
        </p:txBody>
      </p:sp>
    </p:spTree>
    <p:extLst>
      <p:ext uri="{BB962C8B-B14F-4D97-AF65-F5344CB8AC3E}">
        <p14:creationId xmlns:p14="http://schemas.microsoft.com/office/powerpoint/2010/main" val="25166768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t>物理地址和逻辑地址</a:t>
            </a:r>
          </a:p>
        </p:txBody>
      </p:sp>
      <p:sp>
        <p:nvSpPr>
          <p:cNvPr id="3" name="内容占位符 2"/>
          <p:cNvSpPr>
            <a:spLocks noGrp="1"/>
          </p:cNvSpPr>
          <p:nvPr>
            <p:ph idx="1"/>
          </p:nvPr>
        </p:nvSpPr>
        <p:spPr>
          <a:xfrm>
            <a:off x="611505" y="1373338"/>
            <a:ext cx="10968990" cy="2823424"/>
          </a:xfrm>
        </p:spPr>
        <p:txBody>
          <a:bodyPr>
            <a:normAutofit/>
          </a:bodyPr>
          <a:lstStyle/>
          <a:p>
            <a:pPr marL="0" indent="0">
              <a:buNone/>
            </a:pPr>
            <a:r>
              <a:rPr lang="en-US" altLang="zh-CN" sz="2800" b="1" dirty="0"/>
              <a:t>(2)</a:t>
            </a:r>
            <a:r>
              <a:rPr sz="2800" b="1" dirty="0"/>
              <a:t>逻辑地址和逻辑地址空间</a:t>
            </a:r>
          </a:p>
          <a:p>
            <a:r>
              <a:rPr lang="zh-CN" altLang="en-US" sz="2800" dirty="0"/>
              <a:t>程序中的地址（从0 开始编址）称为</a:t>
            </a:r>
            <a:r>
              <a:rPr lang="zh-CN" altLang="en-US" sz="2800" dirty="0">
                <a:solidFill>
                  <a:srgbClr val="0000FF"/>
                </a:solidFill>
              </a:rPr>
              <a:t>逻辑地址</a:t>
            </a:r>
            <a:r>
              <a:rPr lang="zh-CN" altLang="en-US" sz="2800" dirty="0"/>
              <a:t>或相对地址。</a:t>
            </a:r>
          </a:p>
          <a:p>
            <a:r>
              <a:rPr lang="zh-CN" altLang="en-US" sz="2800" dirty="0"/>
              <a:t>逻辑地址的集合称为逻辑地址空间或相对地址空间。</a:t>
            </a:r>
          </a:p>
        </p:txBody>
      </p:sp>
      <p:sp>
        <p:nvSpPr>
          <p:cNvPr id="4" name="文本框 3">
            <a:extLst>
              <a:ext uri="{FF2B5EF4-FFF2-40B4-BE49-F238E27FC236}">
                <a16:creationId xmlns:a16="http://schemas.microsoft.com/office/drawing/2014/main" id="{926B9035-F5C6-FA03-C010-4FD978652810}"/>
              </a:ext>
            </a:extLst>
          </p:cNvPr>
          <p:cNvSpPr txBox="1"/>
          <p:nvPr/>
        </p:nvSpPr>
        <p:spPr>
          <a:xfrm>
            <a:off x="1223159" y="4750130"/>
            <a:ext cx="8419605" cy="1308179"/>
          </a:xfrm>
          <a:prstGeom prst="rect">
            <a:avLst/>
          </a:prstGeom>
          <a:noFill/>
        </p:spPr>
        <p:txBody>
          <a:bodyPr wrap="square" rtlCol="0">
            <a:spAutoFit/>
          </a:bodyPr>
          <a:lstStyle/>
          <a:p>
            <a:pPr>
              <a:lnSpc>
                <a:spcPct val="150000"/>
              </a:lnSpc>
            </a:pPr>
            <a:r>
              <a:rPr lang="zh-CN" altLang="en-US" sz="2800" dirty="0">
                <a:solidFill>
                  <a:srgbClr val="0000FF"/>
                </a:solidFill>
              </a:rPr>
              <a:t>物理地址：内存地址</a:t>
            </a:r>
            <a:endParaRPr lang="en-US" altLang="zh-CN" sz="2800" dirty="0">
              <a:solidFill>
                <a:srgbClr val="0000FF"/>
              </a:solidFill>
            </a:endParaRPr>
          </a:p>
          <a:p>
            <a:pPr>
              <a:lnSpc>
                <a:spcPct val="150000"/>
              </a:lnSpc>
            </a:pPr>
            <a:r>
              <a:rPr lang="zh-CN" altLang="en-US" sz="2800" dirty="0">
                <a:solidFill>
                  <a:srgbClr val="0000FF"/>
                </a:solidFill>
              </a:rPr>
              <a:t>物理地址空间：内存地址的集合</a:t>
            </a:r>
          </a:p>
        </p:txBody>
      </p:sp>
    </p:spTree>
    <p:custDataLst>
      <p:tags r:id="rId1"/>
    </p:custData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U~2{CC@L_6T@C280JJ{JU(N"/>
          <p:cNvPicPr>
            <a:picLocks noChangeAspect="1"/>
          </p:cNvPicPr>
          <p:nvPr>
            <p:custDataLst>
              <p:tags r:id="rId2"/>
            </p:custDataLst>
          </p:nvPr>
        </p:nvPicPr>
        <p:blipFill>
          <a:blip r:embed="rId4"/>
          <a:stretch>
            <a:fillRect/>
          </a:stretch>
        </p:blipFill>
        <p:spPr>
          <a:xfrm>
            <a:off x="944433" y="1557293"/>
            <a:ext cx="9899376" cy="4503428"/>
          </a:xfrm>
          <a:prstGeom prst="rect">
            <a:avLst/>
          </a:prstGeom>
        </p:spPr>
      </p:pic>
      <p:sp>
        <p:nvSpPr>
          <p:cNvPr id="2" name="标题 1"/>
          <p:cNvSpPr>
            <a:spLocks noGrp="1"/>
          </p:cNvSpPr>
          <p:nvPr>
            <p:ph type="title"/>
          </p:nvPr>
        </p:nvSpPr>
        <p:spPr/>
        <p:txBody>
          <a:bodyPr/>
          <a:lstStyle/>
          <a:p>
            <a:r>
              <a:rPr lang="en-US" altLang="zh-CN"/>
              <a:t>1.</a:t>
            </a:r>
            <a:r>
              <a:t>物理地址和逻辑地址</a:t>
            </a:r>
          </a:p>
        </p:txBody>
      </p:sp>
      <p:sp>
        <p:nvSpPr>
          <p:cNvPr id="3" name="内容占位符 2"/>
          <p:cNvSpPr>
            <a:spLocks noGrp="1"/>
          </p:cNvSpPr>
          <p:nvPr>
            <p:ph idx="1"/>
          </p:nvPr>
        </p:nvSpPr>
        <p:spPr>
          <a:xfrm>
            <a:off x="520148" y="941238"/>
            <a:ext cx="10968990" cy="5184140"/>
          </a:xfrm>
        </p:spPr>
        <p:txBody>
          <a:bodyPr>
            <a:normAutofit/>
          </a:bodyPr>
          <a:lstStyle/>
          <a:p>
            <a:pPr marL="0" indent="0">
              <a:buNone/>
            </a:pPr>
            <a:r>
              <a:rPr lang="en-US" altLang="zh-CN" sz="3200" b="1" dirty="0"/>
              <a:t>(2)</a:t>
            </a:r>
            <a:r>
              <a:rPr sz="3200" b="1" dirty="0"/>
              <a:t>逻辑地址和逻辑地址空间</a:t>
            </a:r>
            <a:endParaRPr lang="zh-CN" altLang="en-US" sz="3200" dirty="0"/>
          </a:p>
        </p:txBody>
      </p:sp>
      <p:sp>
        <p:nvSpPr>
          <p:cNvPr id="6" name="椭圆 5">
            <a:extLst>
              <a:ext uri="{FF2B5EF4-FFF2-40B4-BE49-F238E27FC236}">
                <a16:creationId xmlns:a16="http://schemas.microsoft.com/office/drawing/2014/main" id="{FF535220-0AE6-4083-93CF-39B9A3B0E33D}"/>
              </a:ext>
            </a:extLst>
          </p:cNvPr>
          <p:cNvSpPr/>
          <p:nvPr/>
        </p:nvSpPr>
        <p:spPr>
          <a:xfrm>
            <a:off x="2423712" y="2859814"/>
            <a:ext cx="1112703" cy="7160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919C04A-4EED-4307-8803-ABEBA7C294C2}"/>
              </a:ext>
            </a:extLst>
          </p:cNvPr>
          <p:cNvSpPr/>
          <p:nvPr/>
        </p:nvSpPr>
        <p:spPr>
          <a:xfrm>
            <a:off x="8480802" y="2631195"/>
            <a:ext cx="1112703" cy="7160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661A259-A56E-427B-9347-985DB59962D4}"/>
              </a:ext>
            </a:extLst>
          </p:cNvPr>
          <p:cNvSpPr/>
          <p:nvPr/>
        </p:nvSpPr>
        <p:spPr>
          <a:xfrm>
            <a:off x="6004643" y="2540940"/>
            <a:ext cx="1112703" cy="7160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343E25F8-1AD7-4A68-8E1A-6053710C9382}"/>
              </a:ext>
            </a:extLst>
          </p:cNvPr>
          <p:cNvSpPr txBox="1"/>
          <p:nvPr/>
        </p:nvSpPr>
        <p:spPr>
          <a:xfrm>
            <a:off x="7121233" y="2540940"/>
            <a:ext cx="1359569" cy="369332"/>
          </a:xfrm>
          <a:prstGeom prst="rect">
            <a:avLst/>
          </a:prstGeom>
          <a:noFill/>
        </p:spPr>
        <p:txBody>
          <a:bodyPr wrap="square" rtlCol="0">
            <a:spAutoFit/>
          </a:bodyPr>
          <a:lstStyle/>
          <a:p>
            <a:r>
              <a:rPr lang="zh-CN" altLang="en-US" b="1" dirty="0">
                <a:solidFill>
                  <a:srgbClr val="0000FF"/>
                </a:solidFill>
              </a:rPr>
              <a:t>可执行文件</a:t>
            </a:r>
          </a:p>
        </p:txBody>
      </p:sp>
      <p:sp>
        <p:nvSpPr>
          <p:cNvPr id="9" name="标注: 线形(带强调线) 8">
            <a:extLst>
              <a:ext uri="{FF2B5EF4-FFF2-40B4-BE49-F238E27FC236}">
                <a16:creationId xmlns:a16="http://schemas.microsoft.com/office/drawing/2014/main" id="{41FD8C01-8B42-CF94-A608-230423B18A4A}"/>
              </a:ext>
            </a:extLst>
          </p:cNvPr>
          <p:cNvSpPr/>
          <p:nvPr/>
        </p:nvSpPr>
        <p:spPr>
          <a:xfrm>
            <a:off x="8866219" y="983102"/>
            <a:ext cx="1667194" cy="574191"/>
          </a:xfrm>
          <a:prstGeom prst="accentCallout1">
            <a:avLst>
              <a:gd name="adj1" fmla="val 18750"/>
              <a:gd name="adj2" fmla="val -8333"/>
              <a:gd name="adj3" fmla="val 290364"/>
              <a:gd name="adj4" fmla="val 7871"/>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dirty="0">
                <a:solidFill>
                  <a:srgbClr val="FF0000"/>
                </a:solidFill>
              </a:rPr>
              <a:t>装入方式</a:t>
            </a:r>
          </a:p>
        </p:txBody>
      </p:sp>
      <p:sp>
        <p:nvSpPr>
          <p:cNvPr id="11" name="标注: 弯曲线形(无边框) 10">
            <a:extLst>
              <a:ext uri="{FF2B5EF4-FFF2-40B4-BE49-F238E27FC236}">
                <a16:creationId xmlns:a16="http://schemas.microsoft.com/office/drawing/2014/main" id="{B790D20F-ED8B-8F24-27D6-E1FCE4EDE5C3}"/>
              </a:ext>
            </a:extLst>
          </p:cNvPr>
          <p:cNvSpPr/>
          <p:nvPr/>
        </p:nvSpPr>
        <p:spPr>
          <a:xfrm>
            <a:off x="9120249" y="5628904"/>
            <a:ext cx="1413164" cy="522072"/>
          </a:xfrm>
          <a:prstGeom prst="callout2">
            <a:avLst>
              <a:gd name="adj1" fmla="val 18750"/>
              <a:gd name="adj2" fmla="val -8333"/>
              <a:gd name="adj3" fmla="val 18750"/>
              <a:gd name="adj4" fmla="val -16667"/>
              <a:gd name="adj5" fmla="val -412945"/>
              <a:gd name="adj6" fmla="val -7394"/>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solidFill>
                  <a:srgbClr val="0000FF"/>
                </a:solidFill>
              </a:rPr>
              <a:t>地址转换</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t>地址重定位</a:t>
            </a:r>
          </a:p>
        </p:txBody>
      </p:sp>
      <p:sp>
        <p:nvSpPr>
          <p:cNvPr id="3" name="内容占位符 2"/>
          <p:cNvSpPr>
            <a:spLocks noGrp="1"/>
          </p:cNvSpPr>
          <p:nvPr>
            <p:ph idx="1"/>
          </p:nvPr>
        </p:nvSpPr>
        <p:spPr>
          <a:xfrm>
            <a:off x="608330" y="1065529"/>
            <a:ext cx="10968990" cy="5228393"/>
          </a:xfrm>
        </p:spPr>
        <p:txBody>
          <a:bodyPr>
            <a:normAutofit/>
          </a:bodyPr>
          <a:lstStyle/>
          <a:p>
            <a:r>
              <a:rPr lang="zh-CN" altLang="en-US" sz="2600" dirty="0"/>
              <a:t>在多道程序环境中，</a:t>
            </a:r>
            <a:r>
              <a:rPr lang="zh-CN" altLang="en-US" sz="2600" dirty="0">
                <a:solidFill>
                  <a:srgbClr val="0000FF"/>
                </a:solidFill>
              </a:rPr>
              <a:t>用户程序的装入模块使用的是逻辑地址，而处理机是按物理地址访问内存的</a:t>
            </a:r>
            <a:r>
              <a:rPr lang="zh-CN" altLang="en-US" sz="2600" dirty="0"/>
              <a:t>。</a:t>
            </a:r>
            <a:endParaRPr lang="en-US" altLang="zh-CN" sz="2600" dirty="0"/>
          </a:p>
          <a:p>
            <a:r>
              <a:rPr lang="zh-CN" altLang="en-US" sz="2600" dirty="0"/>
              <a:t>为了保证程序的正确执行，存储管理需要把</a:t>
            </a:r>
            <a:r>
              <a:rPr lang="zh-CN" altLang="en-US" sz="2600" dirty="0">
                <a:solidFill>
                  <a:srgbClr val="FF0000"/>
                </a:solidFill>
              </a:rPr>
              <a:t>程序地址空间的逻辑地址变换成内存空间的物理地址</a:t>
            </a:r>
            <a:r>
              <a:rPr lang="zh-CN" altLang="en-US" sz="2600" dirty="0"/>
              <a:t>，即具备地址重定位功能。</a:t>
            </a:r>
            <a:endParaRPr lang="en-US" altLang="zh-CN" sz="2600" dirty="0"/>
          </a:p>
          <a:p>
            <a:r>
              <a:rPr lang="zh-CN" altLang="en-US" sz="2600" dirty="0"/>
              <a:t>地址重定位又称为地址变换、地址映射。</a:t>
            </a:r>
          </a:p>
          <a:p>
            <a:r>
              <a:rPr lang="zh-CN" altLang="en-US" sz="2600" dirty="0"/>
              <a:t>根据地址重定位的</a:t>
            </a:r>
            <a:r>
              <a:rPr lang="zh-CN" altLang="en-US" sz="2600" dirty="0">
                <a:solidFill>
                  <a:srgbClr val="0000FF"/>
                </a:solidFill>
              </a:rPr>
              <a:t>时机</a:t>
            </a:r>
            <a:r>
              <a:rPr lang="zh-CN" altLang="en-US" sz="2600" dirty="0"/>
              <a:t>不同，地址重定位又分为：</a:t>
            </a:r>
          </a:p>
          <a:p>
            <a:pPr lvl="1"/>
            <a:r>
              <a:rPr lang="zh-CN" altLang="en-US" sz="2600" dirty="0">
                <a:solidFill>
                  <a:srgbClr val="FF0000"/>
                </a:solidFill>
              </a:rPr>
              <a:t>静态地址重定位</a:t>
            </a:r>
          </a:p>
          <a:p>
            <a:pPr lvl="1"/>
            <a:r>
              <a:rPr lang="zh-CN" altLang="en-US" sz="2600" dirty="0">
                <a:solidFill>
                  <a:srgbClr val="FF0000"/>
                </a:solidFill>
              </a:rPr>
              <a:t>动态地址重定位。</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t>静态地址重定位</a:t>
            </a:r>
          </a:p>
        </p:txBody>
      </p:sp>
      <p:sp>
        <p:nvSpPr>
          <p:cNvPr id="3" name="内容占位符 2"/>
          <p:cNvSpPr>
            <a:spLocks noGrp="1"/>
          </p:cNvSpPr>
          <p:nvPr>
            <p:ph idx="1"/>
          </p:nvPr>
        </p:nvSpPr>
        <p:spPr/>
        <p:txBody>
          <a:bodyPr>
            <a:normAutofit/>
          </a:bodyPr>
          <a:lstStyle/>
          <a:p>
            <a:r>
              <a:rPr lang="zh-CN" altLang="en-US" sz="2800" dirty="0"/>
              <a:t>静态地址重定位发生在程序被装入内存的过程中，在</a:t>
            </a:r>
            <a:r>
              <a:rPr lang="zh-CN" altLang="en-US" sz="2800" dirty="0">
                <a:solidFill>
                  <a:srgbClr val="FF0000"/>
                </a:solidFill>
              </a:rPr>
              <a:t>程序运行之前</a:t>
            </a:r>
            <a:r>
              <a:rPr lang="zh-CN" altLang="en-US" sz="2800" dirty="0"/>
              <a:t>就完成了地址重定位。</a:t>
            </a:r>
          </a:p>
          <a:p>
            <a:pPr marL="0" indent="0">
              <a:buNone/>
            </a:pPr>
            <a:r>
              <a:rPr lang="zh-CN" altLang="en-US" sz="2800" dirty="0"/>
              <a:t>                   物理地址 = 装入内存的起始地址 + 逻辑地址</a:t>
            </a:r>
          </a:p>
        </p:txBody>
      </p:sp>
      <p:pic>
        <p:nvPicPr>
          <p:cNvPr id="4" name="图片 3" descr="HF8@Q`M$3(SR])]YB(`P]IJ"/>
          <p:cNvPicPr>
            <a:picLocks noChangeAspect="1"/>
          </p:cNvPicPr>
          <p:nvPr/>
        </p:nvPicPr>
        <p:blipFill>
          <a:blip r:embed="rId3"/>
          <a:stretch>
            <a:fillRect/>
          </a:stretch>
        </p:blipFill>
        <p:spPr>
          <a:xfrm>
            <a:off x="3518901" y="3057525"/>
            <a:ext cx="5154197" cy="3470597"/>
          </a:xfrm>
          <a:prstGeom prst="rect">
            <a:avLst/>
          </a:prstGeom>
        </p:spPr>
      </p:pic>
    </p:spTree>
    <p:custDataLst>
      <p:tags r:id="rId1"/>
    </p:custData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t>静态地址重定位</a:t>
            </a:r>
          </a:p>
        </p:txBody>
      </p:sp>
      <p:sp>
        <p:nvSpPr>
          <p:cNvPr id="3" name="内容占位符 2"/>
          <p:cNvSpPr>
            <a:spLocks noGrp="1"/>
          </p:cNvSpPr>
          <p:nvPr>
            <p:ph idx="1"/>
          </p:nvPr>
        </p:nvSpPr>
        <p:spPr>
          <a:xfrm>
            <a:off x="608330" y="1227455"/>
            <a:ext cx="10968990" cy="4258945"/>
          </a:xfrm>
        </p:spPr>
        <p:txBody>
          <a:bodyPr>
            <a:normAutofit/>
          </a:bodyPr>
          <a:lstStyle/>
          <a:p>
            <a:r>
              <a:rPr lang="zh-CN" altLang="en-US" sz="2800" dirty="0"/>
              <a:t>优点：</a:t>
            </a:r>
          </a:p>
          <a:p>
            <a:pPr lvl="1"/>
            <a:r>
              <a:rPr lang="zh-CN" altLang="en-US" sz="2800" dirty="0"/>
              <a:t>静态地址重定位</a:t>
            </a:r>
            <a:r>
              <a:rPr lang="zh-CN" altLang="en-US" sz="2800" dirty="0">
                <a:solidFill>
                  <a:srgbClr val="0000FF"/>
                </a:solidFill>
              </a:rPr>
              <a:t>不需要硬件支持</a:t>
            </a:r>
            <a:r>
              <a:rPr lang="zh-CN" altLang="en-US" sz="2800" dirty="0"/>
              <a:t>。</a:t>
            </a:r>
          </a:p>
          <a:p>
            <a:r>
              <a:rPr lang="zh-CN" altLang="en-US" sz="2800" dirty="0"/>
              <a:t>缺点：</a:t>
            </a:r>
          </a:p>
          <a:p>
            <a:pPr lvl="1"/>
            <a:r>
              <a:rPr lang="zh-CN" altLang="en-US" sz="2800" dirty="0"/>
              <a:t>用户程序只能装入内存的一个</a:t>
            </a:r>
            <a:r>
              <a:rPr lang="zh-CN" altLang="en-US" sz="2800" dirty="0">
                <a:solidFill>
                  <a:srgbClr val="0000FF"/>
                </a:solidFill>
              </a:rPr>
              <a:t>连续存储区域</a:t>
            </a:r>
            <a:r>
              <a:rPr lang="zh-CN" altLang="en-US" sz="2800" dirty="0"/>
              <a:t>上，不能装入多个离散区域。</a:t>
            </a:r>
          </a:p>
          <a:p>
            <a:pPr lvl="1"/>
            <a:r>
              <a:rPr lang="zh-CN" altLang="en-US" sz="2800" dirty="0"/>
              <a:t>用户程序地址重定位后</a:t>
            </a:r>
            <a:r>
              <a:rPr lang="zh-CN" altLang="en-US" sz="2800" dirty="0">
                <a:solidFill>
                  <a:srgbClr val="0000FF"/>
                </a:solidFill>
              </a:rPr>
              <a:t>不允许在内存中移动</a:t>
            </a:r>
            <a:r>
              <a:rPr lang="zh-CN" altLang="en-US" sz="2800" dirty="0"/>
              <a:t>。</a:t>
            </a:r>
          </a:p>
          <a:p>
            <a:pPr marL="0" indent="0">
              <a:buNone/>
            </a:pPr>
            <a:r>
              <a:rPr lang="zh-CN" altLang="en-US" sz="2800" dirty="0"/>
              <a:t>                   </a:t>
            </a:r>
          </a:p>
        </p:txBody>
      </p:sp>
    </p:spTree>
    <p:custDataLst>
      <p:tags r:id="rId1"/>
    </p:custData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t>动态地址重定位</a:t>
            </a:r>
          </a:p>
        </p:txBody>
      </p:sp>
      <p:sp>
        <p:nvSpPr>
          <p:cNvPr id="3" name="内容占位符 2"/>
          <p:cNvSpPr>
            <a:spLocks noGrp="1"/>
          </p:cNvSpPr>
          <p:nvPr>
            <p:ph idx="1"/>
          </p:nvPr>
        </p:nvSpPr>
        <p:spPr>
          <a:xfrm>
            <a:off x="608330" y="1025525"/>
            <a:ext cx="10968990" cy="2403475"/>
          </a:xfrm>
        </p:spPr>
        <p:txBody>
          <a:bodyPr>
            <a:normAutofit fontScale="92500"/>
          </a:bodyPr>
          <a:lstStyle/>
          <a:p>
            <a:r>
              <a:rPr lang="zh-CN" altLang="en-US" sz="2800" dirty="0"/>
              <a:t>动态地址重定位发生在</a:t>
            </a:r>
            <a:r>
              <a:rPr lang="zh-CN" altLang="en-US" sz="2800" dirty="0">
                <a:solidFill>
                  <a:srgbClr val="FF0000"/>
                </a:solidFill>
              </a:rPr>
              <a:t>程序运行过程中</a:t>
            </a:r>
            <a:r>
              <a:rPr lang="zh-CN" altLang="en-US" sz="2800" dirty="0"/>
              <a:t>，即当执行到某条指令且该指令需要</a:t>
            </a:r>
            <a:r>
              <a:rPr lang="zh-CN" altLang="en-US" sz="2800" dirty="0">
                <a:solidFill>
                  <a:srgbClr val="0000FF"/>
                </a:solidFill>
              </a:rPr>
              <a:t>进行内存访问时</a:t>
            </a:r>
            <a:r>
              <a:rPr lang="zh-CN" altLang="en-US" sz="2800" dirty="0"/>
              <a:t>，再将逻辑地址转换为相应的物理地址。</a:t>
            </a:r>
          </a:p>
          <a:p>
            <a:r>
              <a:rPr lang="zh-CN" altLang="en-US" sz="2800" dirty="0"/>
              <a:t>使用</a:t>
            </a:r>
            <a:r>
              <a:rPr lang="zh-CN" altLang="en-US" sz="2800" b="1" dirty="0">
                <a:solidFill>
                  <a:srgbClr val="0000FF"/>
                </a:solidFill>
              </a:rPr>
              <a:t>重定位寄存器</a:t>
            </a:r>
            <a:r>
              <a:rPr lang="zh-CN" altLang="en-US" sz="2800" dirty="0"/>
              <a:t>存放正在执行的用户进程在内存的起始地址。</a:t>
            </a:r>
          </a:p>
          <a:p>
            <a:pPr marL="0" indent="0">
              <a:buNone/>
            </a:pPr>
            <a:r>
              <a:rPr lang="zh-CN" altLang="en-US" sz="2800" dirty="0">
                <a:solidFill>
                  <a:srgbClr val="FF0000"/>
                </a:solidFill>
              </a:rPr>
              <a:t>                   物理地址 = 重定位寄存器的值 + 逻辑地址</a:t>
            </a:r>
          </a:p>
        </p:txBody>
      </p:sp>
      <p:pic>
        <p:nvPicPr>
          <p:cNvPr id="6" name="图片 5" descr="_Y4)(Q@6L]M(Y6@JNZ8I][S"/>
          <p:cNvPicPr>
            <a:picLocks noChangeAspect="1"/>
          </p:cNvPicPr>
          <p:nvPr/>
        </p:nvPicPr>
        <p:blipFill>
          <a:blip r:embed="rId3"/>
          <a:stretch>
            <a:fillRect/>
          </a:stretch>
        </p:blipFill>
        <p:spPr>
          <a:xfrm>
            <a:off x="2670936" y="3369961"/>
            <a:ext cx="7133258" cy="3373669"/>
          </a:xfrm>
          <a:prstGeom prst="rect">
            <a:avLst/>
          </a:prstGeom>
        </p:spPr>
      </p:pic>
    </p:spTree>
    <p:custDataLst>
      <p:tags r:id="rId1"/>
    </p:custData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t>动态地址重定位</a:t>
            </a:r>
          </a:p>
        </p:txBody>
      </p:sp>
      <p:sp>
        <p:nvSpPr>
          <p:cNvPr id="3" name="内容占位符 2"/>
          <p:cNvSpPr>
            <a:spLocks noGrp="1"/>
          </p:cNvSpPr>
          <p:nvPr>
            <p:ph idx="1"/>
          </p:nvPr>
        </p:nvSpPr>
        <p:spPr>
          <a:xfrm>
            <a:off x="608330" y="1025525"/>
            <a:ext cx="10968990" cy="4912567"/>
          </a:xfrm>
        </p:spPr>
        <p:txBody>
          <a:bodyPr>
            <a:normAutofit/>
          </a:bodyPr>
          <a:lstStyle/>
          <a:p>
            <a:r>
              <a:rPr lang="zh-CN" altLang="en-US" sz="2800" dirty="0"/>
              <a:t>优点：</a:t>
            </a:r>
          </a:p>
          <a:p>
            <a:pPr lvl="1"/>
            <a:r>
              <a:rPr lang="zh-CN" altLang="en-US" sz="2800" dirty="0">
                <a:solidFill>
                  <a:srgbClr val="0000FF"/>
                </a:solidFill>
              </a:rPr>
              <a:t>支持程序执行过程在内存中移动</a:t>
            </a:r>
            <a:r>
              <a:rPr lang="zh-CN" altLang="en-US" sz="2800" dirty="0"/>
              <a:t>。 </a:t>
            </a:r>
          </a:p>
          <a:p>
            <a:pPr lvl="1"/>
            <a:r>
              <a:rPr lang="zh-CN" altLang="en-US" sz="2800" dirty="0"/>
              <a:t>支持程序在内存中离散存储。用每个离散部分的内存起始地址</a:t>
            </a:r>
            <a:r>
              <a:rPr lang="zh-CN" altLang="en-US" sz="2800" dirty="0">
                <a:solidFill>
                  <a:srgbClr val="0000FF"/>
                </a:solidFill>
              </a:rPr>
              <a:t>重置重定位寄存器</a:t>
            </a:r>
            <a:r>
              <a:rPr lang="zh-CN" altLang="en-US" sz="2800" dirty="0"/>
              <a:t>，就可以实现正确的地址重定位。</a:t>
            </a:r>
          </a:p>
          <a:p>
            <a:pPr lvl="0"/>
            <a:r>
              <a:rPr lang="zh-CN" altLang="en-US" sz="2800" dirty="0"/>
              <a:t>缺点：</a:t>
            </a:r>
          </a:p>
          <a:p>
            <a:pPr lvl="1"/>
            <a:r>
              <a:rPr lang="zh-CN" altLang="en-US" sz="2800" dirty="0"/>
              <a:t>与静态地址重定位相比，动态地址重定位</a:t>
            </a:r>
            <a:r>
              <a:rPr lang="zh-CN" altLang="en-US" sz="2800" dirty="0">
                <a:solidFill>
                  <a:srgbClr val="0000FF"/>
                </a:solidFill>
              </a:rPr>
              <a:t>需要附加硬件支持</a:t>
            </a:r>
            <a:r>
              <a:rPr lang="zh-CN" altLang="en-US" sz="2800" dirty="0"/>
              <a:t>（重定位寄存器），增加了机器成本。</a:t>
            </a:r>
          </a:p>
        </p:txBody>
      </p:sp>
    </p:spTree>
    <p:custDataLst>
      <p:tags r:id="rId1"/>
    </p:custData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3.程序的装入方式</a:t>
            </a:r>
          </a:p>
        </p:txBody>
      </p:sp>
      <p:sp>
        <p:nvSpPr>
          <p:cNvPr id="3" name="内容占位符 2"/>
          <p:cNvSpPr>
            <a:spLocks noGrp="1"/>
          </p:cNvSpPr>
          <p:nvPr>
            <p:ph idx="1"/>
          </p:nvPr>
        </p:nvSpPr>
        <p:spPr/>
        <p:txBody>
          <a:bodyPr>
            <a:normAutofit/>
          </a:bodyPr>
          <a:lstStyle/>
          <a:p>
            <a:r>
              <a:rPr lang="zh-CN" altLang="en-US" sz="2800" dirty="0"/>
              <a:t>程序经过</a:t>
            </a:r>
            <a:r>
              <a:rPr lang="zh-CN" altLang="en-US" sz="2800" dirty="0">
                <a:solidFill>
                  <a:srgbClr val="0000FF"/>
                </a:solidFill>
              </a:rPr>
              <a:t>编译、链接</a:t>
            </a:r>
            <a:r>
              <a:rPr lang="zh-CN" altLang="en-US" sz="2800" dirty="0"/>
              <a:t>生成</a:t>
            </a:r>
            <a:r>
              <a:rPr lang="zh-CN" altLang="en-US" sz="2800" dirty="0">
                <a:solidFill>
                  <a:srgbClr val="0000FF"/>
                </a:solidFill>
              </a:rPr>
              <a:t>装入</a:t>
            </a:r>
            <a:r>
              <a:rPr lang="zh-CN" altLang="en-US" sz="2800" dirty="0"/>
              <a:t>模块。</a:t>
            </a:r>
            <a:endParaRPr lang="en-US" altLang="zh-CN" sz="2800" dirty="0"/>
          </a:p>
          <a:p>
            <a:r>
              <a:rPr lang="zh-CN" altLang="en-US" sz="2800" dirty="0"/>
              <a:t>根据</a:t>
            </a:r>
            <a:r>
              <a:rPr lang="zh-CN" altLang="en-US" sz="2800" dirty="0">
                <a:solidFill>
                  <a:srgbClr val="0000FF"/>
                </a:solidFill>
              </a:rPr>
              <a:t>装入时是否需要地址重定位</a:t>
            </a:r>
            <a:r>
              <a:rPr lang="zh-CN" altLang="en-US" sz="2800" dirty="0"/>
              <a:t>及采用的地址重定位方式，有以下三种程序装入方式：</a:t>
            </a:r>
          </a:p>
          <a:p>
            <a:pPr lvl="1"/>
            <a:r>
              <a:rPr lang="zh-CN" altLang="en-US" sz="2800" dirty="0"/>
              <a:t>绝对装入方式（</a:t>
            </a:r>
            <a:r>
              <a:rPr lang="zh-CN" altLang="en-US" sz="2800" dirty="0">
                <a:solidFill>
                  <a:srgbClr val="FF0000"/>
                </a:solidFill>
              </a:rPr>
              <a:t>无需地址重定位</a:t>
            </a:r>
            <a:r>
              <a:rPr lang="zh-CN" altLang="en-US" sz="2800" dirty="0"/>
              <a:t>）</a:t>
            </a:r>
          </a:p>
          <a:p>
            <a:pPr lvl="1"/>
            <a:r>
              <a:rPr lang="zh-CN" altLang="en-US" sz="2800" dirty="0"/>
              <a:t>可重定位装入方式（</a:t>
            </a:r>
            <a:r>
              <a:rPr lang="zh-CN" altLang="en-US" sz="2800" dirty="0">
                <a:solidFill>
                  <a:srgbClr val="FF0000"/>
                </a:solidFill>
              </a:rPr>
              <a:t>需地址重定位，静态地址重定位</a:t>
            </a:r>
            <a:r>
              <a:rPr lang="zh-CN" altLang="en-US" sz="2800" dirty="0"/>
              <a:t>）</a:t>
            </a:r>
          </a:p>
          <a:p>
            <a:pPr lvl="1"/>
            <a:r>
              <a:rPr lang="zh-CN" altLang="en-US" sz="2800" dirty="0"/>
              <a:t>动态运行时装入方式（</a:t>
            </a:r>
            <a:r>
              <a:rPr lang="zh-CN" altLang="en-US" sz="2800" dirty="0">
                <a:solidFill>
                  <a:srgbClr val="FF0000"/>
                </a:solidFill>
              </a:rPr>
              <a:t>需地址重定位，动态地址重定位</a:t>
            </a:r>
            <a:r>
              <a:rPr lang="zh-CN" altLang="en-US" sz="2800" dirty="0"/>
              <a:t>）</a:t>
            </a:r>
          </a:p>
        </p:txBody>
      </p:sp>
    </p:spTree>
    <p:custDataLst>
      <p:tags r:id="rId1"/>
    </p:custData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rPr>
                <a:sym typeface="+mn-ea"/>
              </a:rPr>
              <a:t>绝对装入方式</a:t>
            </a:r>
            <a:endParaRPr lang="en-US" altLang="zh-CN"/>
          </a:p>
        </p:txBody>
      </p:sp>
      <p:sp>
        <p:nvSpPr>
          <p:cNvPr id="3" name="内容占位符 2"/>
          <p:cNvSpPr>
            <a:spLocks noGrp="1"/>
          </p:cNvSpPr>
          <p:nvPr>
            <p:ph idx="1"/>
          </p:nvPr>
        </p:nvSpPr>
        <p:spPr/>
        <p:txBody>
          <a:bodyPr>
            <a:normAutofit/>
          </a:bodyPr>
          <a:lstStyle/>
          <a:p>
            <a:r>
              <a:rPr lang="zh-CN" altLang="en-US" sz="3200" dirty="0"/>
              <a:t>绝对装入方式是在</a:t>
            </a:r>
            <a:r>
              <a:rPr lang="zh-CN" altLang="en-US" sz="3200" dirty="0">
                <a:solidFill>
                  <a:srgbClr val="0000FF"/>
                </a:solidFill>
              </a:rPr>
              <a:t>单道程序设计技术阶段</a:t>
            </a:r>
            <a:r>
              <a:rPr lang="zh-CN" altLang="en-US" sz="3200" dirty="0"/>
              <a:t>，操作系统采用的一种程序装入方式。</a:t>
            </a:r>
          </a:p>
          <a:p>
            <a:r>
              <a:rPr lang="zh-CN" altLang="en-US" sz="3200" dirty="0"/>
              <a:t>装入模块使用的是物理地址，系统就按照此物理地址，将代码和数据装入内存的对应存储区，</a:t>
            </a:r>
            <a:r>
              <a:rPr lang="zh-CN" altLang="en-US" sz="3200" dirty="0">
                <a:solidFill>
                  <a:srgbClr val="FF0000"/>
                </a:solidFill>
              </a:rPr>
              <a:t>无须进行地址重定位。</a:t>
            </a:r>
          </a:p>
        </p:txBody>
      </p:sp>
    </p:spTree>
    <p:custDataLst>
      <p:tags r:id="rId1"/>
    </p:custData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rPr>
                <a:sym typeface="+mn-ea"/>
              </a:rPr>
              <a:t>可重定位装入方式</a:t>
            </a:r>
            <a:endParaRPr lang="en-US" altLang="zh-CN"/>
          </a:p>
        </p:txBody>
      </p:sp>
      <p:sp>
        <p:nvSpPr>
          <p:cNvPr id="3" name="内容占位符 2"/>
          <p:cNvSpPr>
            <a:spLocks noGrp="1"/>
          </p:cNvSpPr>
          <p:nvPr>
            <p:ph idx="1"/>
          </p:nvPr>
        </p:nvSpPr>
        <p:spPr>
          <a:xfrm>
            <a:off x="608330" y="1227455"/>
            <a:ext cx="10968990" cy="3483441"/>
          </a:xfrm>
        </p:spPr>
        <p:txBody>
          <a:bodyPr>
            <a:normAutofit/>
          </a:bodyPr>
          <a:lstStyle/>
          <a:p>
            <a:r>
              <a:rPr lang="zh-CN" altLang="en-US" sz="2800" dirty="0"/>
              <a:t>多道程序设计技术阶段一种程序装入方式。</a:t>
            </a:r>
          </a:p>
          <a:p>
            <a:r>
              <a:rPr lang="zh-CN" altLang="en-US" sz="2800" dirty="0"/>
              <a:t>装入模块使用的是逻辑地址，系统在将其</a:t>
            </a:r>
            <a:r>
              <a:rPr lang="zh-CN" altLang="en-US" sz="2800" dirty="0">
                <a:solidFill>
                  <a:srgbClr val="0000FF"/>
                </a:solidFill>
              </a:rPr>
              <a:t>装入内存的过程中</a:t>
            </a:r>
            <a:r>
              <a:rPr lang="zh-CN" altLang="en-US" sz="2800" dirty="0"/>
              <a:t>，完成了逻辑地址到物理地址的重定位。</a:t>
            </a:r>
          </a:p>
          <a:p>
            <a:r>
              <a:rPr lang="zh-CN" altLang="en-US" sz="2800" dirty="0"/>
              <a:t>此方式采用的是静态地址重定位，因此程序装入内存后不允许移动。</a:t>
            </a:r>
          </a:p>
        </p:txBody>
      </p:sp>
    </p:spTree>
    <p:custDataLst>
      <p:tags r:id="rId1"/>
    </p:custData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(3)</a:t>
            </a:r>
            <a:r>
              <a:rPr>
                <a:sym typeface="+mn-ea"/>
              </a:rPr>
              <a:t>动态运行时装入方式</a:t>
            </a:r>
            <a:endParaRPr lang="en-US" altLang="zh-CN"/>
          </a:p>
        </p:txBody>
      </p:sp>
      <p:sp>
        <p:nvSpPr>
          <p:cNvPr id="3" name="内容占位符 2"/>
          <p:cNvSpPr>
            <a:spLocks noGrp="1"/>
          </p:cNvSpPr>
          <p:nvPr>
            <p:ph idx="1"/>
          </p:nvPr>
        </p:nvSpPr>
        <p:spPr/>
        <p:txBody>
          <a:bodyPr>
            <a:normAutofit/>
          </a:bodyPr>
          <a:lstStyle/>
          <a:p>
            <a:r>
              <a:rPr lang="zh-CN" altLang="en-US" sz="2800" dirty="0"/>
              <a:t>多道程序设计技术阶段。</a:t>
            </a:r>
          </a:p>
          <a:p>
            <a:r>
              <a:rPr lang="zh-CN" altLang="en-US" sz="2800" dirty="0"/>
              <a:t>装入模块使用的是逻辑地址，系统在将其装入内存时未进行地址重定位，而是在此后的</a:t>
            </a:r>
            <a:r>
              <a:rPr lang="zh-CN" altLang="en-US" sz="2800" dirty="0">
                <a:solidFill>
                  <a:srgbClr val="FF0000"/>
                </a:solidFill>
              </a:rPr>
              <a:t>程序执行过程中，完成了逻辑地址到物理地址的重定位</a:t>
            </a:r>
            <a:r>
              <a:rPr lang="zh-CN" altLang="en-US" sz="2800" dirty="0"/>
              <a:t>。</a:t>
            </a:r>
          </a:p>
          <a:p>
            <a:r>
              <a:rPr lang="zh-CN" altLang="en-US" sz="2800" dirty="0"/>
              <a:t>此方式采用动态地址重定位，支持程序在内存中离散加载和装入内存后进行移动。</a:t>
            </a:r>
          </a:p>
        </p:txBody>
      </p:sp>
    </p:spTree>
    <p:custDataLst>
      <p:tags r:id="rId1"/>
    </p:custData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84AAD0-1027-B43C-72DD-E1C8796022CC}"/>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8A07C76E-A06A-DB7E-2832-657B2DB67B20}"/>
              </a:ext>
            </a:extLst>
          </p:cNvPr>
          <p:cNvSpPr>
            <a:spLocks noGrp="1"/>
          </p:cNvSpPr>
          <p:nvPr>
            <p:ph idx="1"/>
          </p:nvPr>
        </p:nvSpPr>
        <p:spPr>
          <a:xfrm>
            <a:off x="608330" y="1227455"/>
            <a:ext cx="10968990" cy="4024167"/>
          </a:xfrm>
        </p:spPr>
        <p:txBody>
          <a:bodyPr/>
          <a:lstStyle/>
          <a:p>
            <a:pPr marL="0" indent="0">
              <a:buNone/>
            </a:pPr>
            <a:r>
              <a:rPr lang="zh-CN" altLang="en-US" b="1" dirty="0"/>
              <a:t>现代操作系统中，程序编译时分配的 “相对地址” 最终如何转换为 </a:t>
            </a:r>
            <a:r>
              <a:rPr lang="en-US" altLang="zh-CN" b="1" dirty="0"/>
              <a:t>CPU </a:t>
            </a:r>
            <a:r>
              <a:rPr lang="zh-CN" altLang="en-US" b="1" dirty="0"/>
              <a:t>可访问的 “物理地址”？（ ）</a:t>
            </a:r>
          </a:p>
          <a:p>
            <a:pPr marL="0" indent="0">
              <a:buNone/>
            </a:pPr>
            <a:r>
              <a:rPr lang="en-US" altLang="zh-CN" dirty="0"/>
              <a:t>A. </a:t>
            </a:r>
            <a:r>
              <a:rPr lang="zh-CN" altLang="en-US" dirty="0"/>
              <a:t>编译器直接将相对地址转换为物理地址</a:t>
            </a:r>
            <a:endParaRPr lang="en-US" altLang="zh-CN" dirty="0"/>
          </a:p>
          <a:p>
            <a:pPr marL="0" indent="0">
              <a:buNone/>
            </a:pPr>
            <a:r>
              <a:rPr lang="en-US" altLang="zh-CN" dirty="0"/>
              <a:t>B. </a:t>
            </a:r>
            <a:r>
              <a:rPr lang="zh-CN" altLang="en-US" dirty="0"/>
              <a:t>链接器将相对地址修正为绝对物理地址</a:t>
            </a:r>
            <a:endParaRPr lang="en-US" altLang="zh-CN" dirty="0"/>
          </a:p>
          <a:p>
            <a:pPr marL="0" indent="0">
              <a:buNone/>
            </a:pPr>
            <a:r>
              <a:rPr lang="en-US" altLang="zh-CN" dirty="0"/>
              <a:t>C. </a:t>
            </a:r>
            <a:r>
              <a:rPr lang="zh-CN" altLang="en-US" dirty="0"/>
              <a:t>操作系统通过地址转换完成转换</a:t>
            </a:r>
            <a:endParaRPr lang="en-US" altLang="zh-CN" dirty="0"/>
          </a:p>
          <a:p>
            <a:pPr marL="0" indent="0">
              <a:buNone/>
            </a:pPr>
            <a:r>
              <a:rPr lang="en-US" altLang="zh-CN" dirty="0"/>
              <a:t>D. CPU </a:t>
            </a:r>
            <a:r>
              <a:rPr lang="zh-CN" altLang="en-US" dirty="0"/>
              <a:t>直接解析相对地址为物理地址</a:t>
            </a:r>
          </a:p>
          <a:p>
            <a:pPr marL="0" indent="0">
              <a:buNone/>
            </a:pPr>
            <a:endParaRPr lang="zh-CN" altLang="en-US" dirty="0"/>
          </a:p>
        </p:txBody>
      </p:sp>
    </p:spTree>
    <p:extLst>
      <p:ext uri="{BB962C8B-B14F-4D97-AF65-F5344CB8AC3E}">
        <p14:creationId xmlns:p14="http://schemas.microsoft.com/office/powerpoint/2010/main" val="151218785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6.1.2</a:t>
            </a:r>
            <a:r>
              <a:t>存储管理的基本功能</a:t>
            </a:r>
          </a:p>
        </p:txBody>
      </p:sp>
      <p:sp>
        <p:nvSpPr>
          <p:cNvPr id="3" name="内容占位符 2"/>
          <p:cNvSpPr>
            <a:spLocks noGrp="1"/>
          </p:cNvSpPr>
          <p:nvPr>
            <p:ph idx="1"/>
          </p:nvPr>
        </p:nvSpPr>
        <p:spPr>
          <a:xfrm>
            <a:off x="611505" y="1227456"/>
            <a:ext cx="10968990" cy="4600468"/>
          </a:xfrm>
        </p:spPr>
        <p:txBody>
          <a:bodyPr>
            <a:noAutofit/>
          </a:bodyPr>
          <a:lstStyle/>
          <a:p>
            <a:pPr lvl="0"/>
            <a:r>
              <a:rPr sz="2800" dirty="0">
                <a:sym typeface="+mn-ea"/>
              </a:rPr>
              <a:t>存储管理的目标是合理有效地组织存储空间管理，进行内存的分配和回收，以支持多个进程并发执行，同时提高内存空间的利用率并方便用户使用。因此，存储管理应具有以下基本功能：</a:t>
            </a:r>
          </a:p>
          <a:p>
            <a:pPr lvl="1"/>
            <a:r>
              <a:rPr sz="2800" dirty="0">
                <a:sym typeface="+mn-ea"/>
              </a:rPr>
              <a:t>内存的分配和回收。</a:t>
            </a:r>
          </a:p>
          <a:p>
            <a:pPr lvl="1"/>
            <a:r>
              <a:rPr sz="2800" dirty="0">
                <a:sym typeface="+mn-ea"/>
              </a:rPr>
              <a:t>地址重定位。</a:t>
            </a:r>
          </a:p>
          <a:p>
            <a:pPr lvl="1"/>
            <a:r>
              <a:rPr sz="2800" dirty="0">
                <a:sym typeface="+mn-ea"/>
              </a:rPr>
              <a:t>内存的共享与保护。</a:t>
            </a:r>
          </a:p>
          <a:p>
            <a:pPr lvl="1"/>
            <a:r>
              <a:rPr sz="2800" dirty="0">
                <a:sym typeface="+mn-ea"/>
              </a:rPr>
              <a:t>内存的扩充。</a:t>
            </a:r>
            <a:endParaRPr lang="zh-CN" altLang="en-US" sz="2800" dirty="0">
              <a:sym typeface="+mn-ea"/>
            </a:endParaRPr>
          </a:p>
        </p:txBody>
      </p:sp>
    </p:spTree>
    <p:custDataLst>
      <p:tags r:id="rId1"/>
    </p:custData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6.1.2</a:t>
            </a:r>
            <a:r>
              <a:rPr>
                <a:sym typeface="+mn-ea"/>
              </a:rPr>
              <a:t>存储管理的基本功能</a:t>
            </a:r>
            <a:r>
              <a:rPr lang="en-US" altLang="zh-CN">
                <a:sym typeface="+mn-ea"/>
              </a:rPr>
              <a:t>——</a:t>
            </a:r>
            <a:r>
              <a:t>内存的分配与回收</a:t>
            </a:r>
          </a:p>
        </p:txBody>
      </p:sp>
      <p:sp>
        <p:nvSpPr>
          <p:cNvPr id="3" name="内容占位符 2"/>
          <p:cNvSpPr>
            <a:spLocks noGrp="1"/>
          </p:cNvSpPr>
          <p:nvPr>
            <p:ph idx="1"/>
          </p:nvPr>
        </p:nvSpPr>
        <p:spPr>
          <a:xfrm>
            <a:off x="608330" y="1227456"/>
            <a:ext cx="10968990" cy="4369114"/>
          </a:xfrm>
        </p:spPr>
        <p:txBody>
          <a:bodyPr>
            <a:normAutofit/>
          </a:bodyPr>
          <a:lstStyle/>
          <a:p>
            <a:r>
              <a:rPr sz="2800" dirty="0">
                <a:sym typeface="+mn-ea"/>
              </a:rPr>
              <a:t>内存的分配和回收是存储管理的主要功能之一。</a:t>
            </a:r>
          </a:p>
          <a:p>
            <a:r>
              <a:rPr sz="2800" dirty="0">
                <a:sym typeface="+mn-ea"/>
              </a:rPr>
              <a:t>存储管理要为每一个并发执行的进程分配内存，并在进程执行结束后及时回收该进程占用的内存。</a:t>
            </a:r>
          </a:p>
          <a:p>
            <a:r>
              <a:rPr sz="2800" dirty="0">
                <a:sym typeface="+mn-ea"/>
              </a:rPr>
              <a:t>为此，需要设计合理有效的数据结构及内存分配和回收策略。</a:t>
            </a:r>
            <a:endParaRPr lang="zh-CN" altLang="en-US" sz="2800" dirty="0"/>
          </a:p>
        </p:txBody>
      </p:sp>
    </p:spTree>
    <p:custDataLst>
      <p:tags r:id="rId1"/>
    </p:custData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6.1.2</a:t>
            </a:r>
            <a:r>
              <a:rPr>
                <a:sym typeface="+mn-ea"/>
              </a:rPr>
              <a:t>存储管理的基本功能</a:t>
            </a:r>
            <a:r>
              <a:rPr lang="en-US" altLang="zh-CN">
                <a:sym typeface="+mn-ea"/>
              </a:rPr>
              <a:t>——</a:t>
            </a:r>
            <a:r>
              <a:rPr lang="zh-CN" altLang="en-US"/>
              <a:t>地址重定位</a:t>
            </a:r>
          </a:p>
        </p:txBody>
      </p:sp>
      <p:sp>
        <p:nvSpPr>
          <p:cNvPr id="3" name="内容占位符 2"/>
          <p:cNvSpPr>
            <a:spLocks noGrp="1"/>
          </p:cNvSpPr>
          <p:nvPr>
            <p:ph idx="1"/>
          </p:nvPr>
        </p:nvSpPr>
        <p:spPr>
          <a:xfrm>
            <a:off x="608330" y="1227455"/>
            <a:ext cx="10968990" cy="3201325"/>
          </a:xfrm>
        </p:spPr>
        <p:txBody>
          <a:bodyPr>
            <a:normAutofit/>
          </a:bodyPr>
          <a:lstStyle/>
          <a:p>
            <a:pPr>
              <a:lnSpc>
                <a:spcPct val="150000"/>
              </a:lnSpc>
            </a:pPr>
            <a:r>
              <a:rPr lang="zh-CN" altLang="en-US" sz="2800" dirty="0"/>
              <a:t>在多道程序环境中，用户程序的装入模块使用的是逻辑地址，而处理机是按物理地址访问内存的。</a:t>
            </a:r>
          </a:p>
          <a:p>
            <a:pPr>
              <a:lnSpc>
                <a:spcPct val="150000"/>
              </a:lnSpc>
            </a:pPr>
            <a:r>
              <a:rPr lang="zh-CN" altLang="en-US" sz="2800" dirty="0"/>
              <a:t>为了保证程序的正确执行，存储管理需要把</a:t>
            </a:r>
            <a:r>
              <a:rPr lang="zh-CN" altLang="en-US" sz="2800" dirty="0">
                <a:solidFill>
                  <a:srgbClr val="FF0000"/>
                </a:solidFill>
              </a:rPr>
              <a:t>程序地址空间的逻辑地址变换成内存空间的物理地址</a:t>
            </a:r>
            <a:r>
              <a:rPr lang="zh-CN" altLang="en-US" sz="2800" dirty="0"/>
              <a:t>，即具备地址重定位功能。</a:t>
            </a:r>
          </a:p>
        </p:txBody>
      </p:sp>
    </p:spTree>
    <p:custDataLst>
      <p:tags r:id="rId1"/>
    </p:custData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6.1.2</a:t>
            </a:r>
            <a:r>
              <a:rPr dirty="0">
                <a:sym typeface="+mn-ea"/>
              </a:rPr>
              <a:t>存储管理的基本功能</a:t>
            </a:r>
            <a:r>
              <a:rPr lang="en-US" altLang="zh-CN" dirty="0">
                <a:sym typeface="+mn-ea"/>
              </a:rPr>
              <a:t>——</a:t>
            </a:r>
            <a:r>
              <a:rPr dirty="0">
                <a:sym typeface="+mn-ea"/>
              </a:rPr>
              <a:t>内存的共享与保护</a:t>
            </a:r>
            <a:endParaRPr lang="zh-CN" altLang="en-US" dirty="0"/>
          </a:p>
        </p:txBody>
      </p:sp>
      <p:sp>
        <p:nvSpPr>
          <p:cNvPr id="3" name="内容占位符 2"/>
          <p:cNvSpPr>
            <a:spLocks noGrp="1"/>
          </p:cNvSpPr>
          <p:nvPr>
            <p:ph idx="1"/>
          </p:nvPr>
        </p:nvSpPr>
        <p:spPr>
          <a:xfrm>
            <a:off x="608330" y="1260505"/>
            <a:ext cx="10968990" cy="4589451"/>
          </a:xfrm>
        </p:spPr>
        <p:txBody>
          <a:bodyPr>
            <a:normAutofit/>
          </a:bodyPr>
          <a:lstStyle/>
          <a:p>
            <a:pPr>
              <a:lnSpc>
                <a:spcPct val="150000"/>
              </a:lnSpc>
            </a:pPr>
            <a:r>
              <a:rPr lang="zh-CN" altLang="en-US" sz="2800" dirty="0">
                <a:sym typeface="+mn-ea"/>
              </a:rPr>
              <a:t>存储共享：对于</a:t>
            </a:r>
            <a:r>
              <a:rPr sz="2800" dirty="0">
                <a:sym typeface="+mn-ea"/>
              </a:rPr>
              <a:t>不同用户进程存在共享系统程序、用户程序或数据段的情况，存储管理模块在内存中提供一个共享副本。</a:t>
            </a:r>
          </a:p>
          <a:p>
            <a:pPr>
              <a:lnSpc>
                <a:spcPct val="150000"/>
              </a:lnSpc>
            </a:pPr>
            <a:r>
              <a:rPr lang="zh-CN" altLang="en-US" sz="2800" dirty="0">
                <a:sym typeface="+mn-ea"/>
              </a:rPr>
              <a:t>存储保护：</a:t>
            </a:r>
            <a:r>
              <a:rPr sz="2800" dirty="0">
                <a:sym typeface="+mn-ea"/>
              </a:rPr>
              <a:t>约束各个进程只能在自己的存储区执行，以防相互干扰和破坏。</a:t>
            </a:r>
          </a:p>
          <a:p>
            <a:pPr>
              <a:lnSpc>
                <a:spcPct val="150000"/>
              </a:lnSpc>
            </a:pPr>
            <a:r>
              <a:rPr sz="2800" dirty="0">
                <a:sym typeface="+mn-ea"/>
              </a:rPr>
              <a:t>常见的内存保护方法有</a:t>
            </a:r>
            <a:r>
              <a:rPr sz="2800" dirty="0">
                <a:solidFill>
                  <a:srgbClr val="0000FF"/>
                </a:solidFill>
                <a:sym typeface="+mn-ea"/>
              </a:rPr>
              <a:t>上下界保护法</a:t>
            </a:r>
            <a:r>
              <a:rPr sz="2800" dirty="0">
                <a:sym typeface="+mn-ea"/>
              </a:rPr>
              <a:t>、保护键法、</a:t>
            </a:r>
            <a:r>
              <a:rPr sz="2800" dirty="0">
                <a:solidFill>
                  <a:srgbClr val="0000FF"/>
                </a:solidFill>
                <a:sym typeface="+mn-ea"/>
              </a:rPr>
              <a:t>界限寄存器</a:t>
            </a:r>
            <a:r>
              <a:rPr sz="2800" dirty="0">
                <a:sym typeface="+mn-ea"/>
              </a:rPr>
              <a:t>与CPU 的用户态或核心态工作方式相结合的保护方法。</a:t>
            </a:r>
            <a:endParaRPr lang="zh-CN" altLang="en-US" sz="2800" dirty="0"/>
          </a:p>
        </p:txBody>
      </p:sp>
    </p:spTree>
    <p:custDataLst>
      <p:tags r:id="rId1"/>
    </p:custData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8" name="Rectangle 4">
            <a:extLst>
              <a:ext uri="{FF2B5EF4-FFF2-40B4-BE49-F238E27FC236}">
                <a16:creationId xmlns:a16="http://schemas.microsoft.com/office/drawing/2014/main" id="{F7263855-68CC-7364-62BC-520C6BD670C5}"/>
              </a:ext>
            </a:extLst>
          </p:cNvPr>
          <p:cNvSpPr>
            <a:spLocks noChangeArrowheads="1"/>
          </p:cNvSpPr>
          <p:nvPr/>
        </p:nvSpPr>
        <p:spPr bwMode="auto">
          <a:xfrm>
            <a:off x="583417" y="223666"/>
            <a:ext cx="8825448" cy="177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zh-CN" altLang="en-US" sz="2800" dirty="0">
                <a:solidFill>
                  <a:schemeClr val="tx1"/>
                </a:solidFill>
                <a:latin typeface="Times New Roman" panose="02020603050405020304" pitchFamily="18" charset="0"/>
              </a:rPr>
              <a:t>界地址保护</a:t>
            </a:r>
          </a:p>
          <a:p>
            <a:pPr eaLnBrk="1" hangingPunct="1">
              <a:lnSpc>
                <a:spcPct val="120000"/>
              </a:lnSpc>
              <a:spcBef>
                <a:spcPct val="20000"/>
              </a:spcBef>
              <a:buFont typeface="Wingdings" panose="05000000000000000000" pitchFamily="2" charset="2"/>
              <a:buNone/>
            </a:pPr>
            <a:r>
              <a:rPr lang="zh-CN" altLang="en-US" sz="2800" dirty="0">
                <a:solidFill>
                  <a:srgbClr val="000099"/>
                </a:solidFill>
                <a:latin typeface="Times New Roman" panose="02020603050405020304" pitchFamily="18" charset="0"/>
              </a:rPr>
              <a:t> ① 上下界防护</a:t>
            </a:r>
          </a:p>
          <a:p>
            <a:pPr eaLnBrk="1" hangingPunct="1">
              <a:lnSpc>
                <a:spcPct val="120000"/>
              </a:lnSpc>
              <a:spcBef>
                <a:spcPct val="20000"/>
              </a:spcBef>
              <a:buFont typeface="Wingdings" panose="05000000000000000000" pitchFamily="2" charset="2"/>
              <a:buNone/>
            </a:pPr>
            <a:r>
              <a:rPr lang="zh-CN" altLang="en-US" sz="24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例：程序大小为</a:t>
            </a:r>
            <a:r>
              <a:rPr lang="en-US" altLang="zh-CN" sz="2800" dirty="0">
                <a:solidFill>
                  <a:schemeClr val="tx1"/>
                </a:solidFill>
                <a:latin typeface="Times New Roman" panose="02020603050405020304" pitchFamily="18" charset="0"/>
              </a:rPr>
              <a:t>4KB</a:t>
            </a:r>
            <a:r>
              <a:rPr lang="zh-CN" altLang="en-US" sz="2800" dirty="0">
                <a:solidFill>
                  <a:schemeClr val="tx1"/>
                </a:solidFill>
                <a:latin typeface="Times New Roman" panose="02020603050405020304" pitchFamily="18" charset="0"/>
              </a:rPr>
              <a:t>，主存首址为</a:t>
            </a:r>
            <a:r>
              <a:rPr lang="en-US" altLang="zh-CN" sz="2800" dirty="0">
                <a:solidFill>
                  <a:schemeClr val="tx1"/>
                </a:solidFill>
                <a:latin typeface="Times New Roman" panose="02020603050405020304" pitchFamily="18" charset="0"/>
              </a:rPr>
              <a:t>20KB</a:t>
            </a:r>
            <a:r>
              <a:rPr lang="zh-CN" altLang="en-US" sz="2800" dirty="0">
                <a:solidFill>
                  <a:schemeClr val="tx1"/>
                </a:solidFill>
                <a:latin typeface="Times New Roman" panose="02020603050405020304" pitchFamily="18" charset="0"/>
              </a:rPr>
              <a:t>。</a:t>
            </a:r>
          </a:p>
        </p:txBody>
      </p:sp>
      <p:grpSp>
        <p:nvGrpSpPr>
          <p:cNvPr id="2" name="Group 27">
            <a:extLst>
              <a:ext uri="{FF2B5EF4-FFF2-40B4-BE49-F238E27FC236}">
                <a16:creationId xmlns:a16="http://schemas.microsoft.com/office/drawing/2014/main" id="{8483E332-C5D1-867F-0237-2D430A197DF2}"/>
              </a:ext>
            </a:extLst>
          </p:cNvPr>
          <p:cNvGrpSpPr>
            <a:grpSpLocks/>
          </p:cNvGrpSpPr>
          <p:nvPr/>
        </p:nvGrpSpPr>
        <p:grpSpPr bwMode="auto">
          <a:xfrm>
            <a:off x="3225799" y="2535239"/>
            <a:ext cx="3362767" cy="3624261"/>
            <a:chOff x="1207" y="1624"/>
            <a:chExt cx="1545" cy="2283"/>
          </a:xfrm>
        </p:grpSpPr>
        <p:sp>
          <p:nvSpPr>
            <p:cNvPr id="42000" name="Text Box 6">
              <a:extLst>
                <a:ext uri="{FF2B5EF4-FFF2-40B4-BE49-F238E27FC236}">
                  <a16:creationId xmlns:a16="http://schemas.microsoft.com/office/drawing/2014/main" id="{A6EE1044-55DB-CDFA-61A7-9B65ED086091}"/>
                </a:ext>
              </a:extLst>
            </p:cNvPr>
            <p:cNvSpPr txBox="1">
              <a:spLocks noChangeArrowheads="1"/>
            </p:cNvSpPr>
            <p:nvPr/>
          </p:nvSpPr>
          <p:spPr bwMode="auto">
            <a:xfrm>
              <a:off x="1803" y="1772"/>
              <a:ext cx="945" cy="1671"/>
            </a:xfrm>
            <a:prstGeom prst="rect">
              <a:avLst/>
            </a:prstGeom>
            <a:solidFill>
              <a:srgbClr val="FFCC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2000" dirty="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2000" dirty="0">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r>
                <a:rPr kumimoji="1" lang="en-US" altLang="zh-CN" sz="2400" dirty="0">
                  <a:solidFill>
                    <a:schemeClr val="tx1"/>
                  </a:solidFill>
                  <a:latin typeface="Times New Roman" panose="02020603050405020304" pitchFamily="18" charset="0"/>
                </a:rPr>
                <a:t> mov  r</a:t>
              </a:r>
              <a:r>
                <a:rPr kumimoji="1" lang="en-US" altLang="zh-CN" sz="2400" baseline="-25000" dirty="0">
                  <a:solidFill>
                    <a:schemeClr val="tx1"/>
                  </a:solidFill>
                  <a:latin typeface="Times New Roman" panose="02020603050405020304" pitchFamily="18" charset="0"/>
                </a:rPr>
                <a:t>1 </a:t>
              </a:r>
              <a:r>
                <a:rPr kumimoji="1" lang="en-US" altLang="zh-CN" sz="2400" dirty="0">
                  <a:solidFill>
                    <a:schemeClr val="tx1"/>
                  </a:solidFill>
                  <a:latin typeface="Times New Roman" panose="02020603050405020304" pitchFamily="18" charset="0"/>
                </a:rPr>
                <a:t>, [500]</a:t>
              </a:r>
            </a:p>
            <a:p>
              <a:pPr algn="just" eaLnBrk="1" hangingPunct="1">
                <a:lnSpc>
                  <a:spcPct val="100000"/>
                </a:lnSpc>
                <a:spcBef>
                  <a:spcPct val="0"/>
                </a:spcBef>
                <a:buClrTx/>
                <a:buSzTx/>
                <a:buFontTx/>
                <a:buNone/>
              </a:pPr>
              <a:endParaRPr kumimoji="1" lang="en-US" altLang="zh-CN" sz="2400" dirty="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2400" dirty="0">
                  <a:solidFill>
                    <a:schemeClr val="tx1"/>
                  </a:solidFill>
                  <a:latin typeface="Times New Roman" panose="02020603050405020304" pitchFamily="18" charset="0"/>
                </a:rPr>
                <a:t> 123</a:t>
              </a:r>
            </a:p>
          </p:txBody>
        </p:sp>
        <p:sp>
          <p:nvSpPr>
            <p:cNvPr id="42001" name="Text Box 7">
              <a:extLst>
                <a:ext uri="{FF2B5EF4-FFF2-40B4-BE49-F238E27FC236}">
                  <a16:creationId xmlns:a16="http://schemas.microsoft.com/office/drawing/2014/main" id="{69DBC4F2-9F0D-B8B7-4F92-F3167EA69FD8}"/>
                </a:ext>
              </a:extLst>
            </p:cNvPr>
            <p:cNvSpPr txBox="1">
              <a:spLocks noChangeArrowheads="1"/>
            </p:cNvSpPr>
            <p:nvPr/>
          </p:nvSpPr>
          <p:spPr bwMode="auto">
            <a:xfrm>
              <a:off x="1633" y="1624"/>
              <a:ext cx="1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0</a:t>
              </a:r>
            </a:p>
          </p:txBody>
        </p:sp>
        <p:sp>
          <p:nvSpPr>
            <p:cNvPr id="42002" name="Text Box 8">
              <a:extLst>
                <a:ext uri="{FF2B5EF4-FFF2-40B4-BE49-F238E27FC236}">
                  <a16:creationId xmlns:a16="http://schemas.microsoft.com/office/drawing/2014/main" id="{E7606A36-394A-9881-FD33-6473182614EA}"/>
                </a:ext>
              </a:extLst>
            </p:cNvPr>
            <p:cNvSpPr txBox="1">
              <a:spLocks noChangeArrowheads="1"/>
            </p:cNvSpPr>
            <p:nvPr/>
          </p:nvSpPr>
          <p:spPr bwMode="auto">
            <a:xfrm>
              <a:off x="1416" y="1956"/>
              <a:ext cx="5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20KB</a:t>
              </a:r>
            </a:p>
          </p:txBody>
        </p:sp>
        <p:sp>
          <p:nvSpPr>
            <p:cNvPr id="42003" name="Text Box 9">
              <a:extLst>
                <a:ext uri="{FF2B5EF4-FFF2-40B4-BE49-F238E27FC236}">
                  <a16:creationId xmlns:a16="http://schemas.microsoft.com/office/drawing/2014/main" id="{42B0F5F0-E563-88A3-2079-56A799275A85}"/>
                </a:ext>
              </a:extLst>
            </p:cNvPr>
            <p:cNvSpPr txBox="1">
              <a:spLocks noChangeArrowheads="1"/>
            </p:cNvSpPr>
            <p:nvPr/>
          </p:nvSpPr>
          <p:spPr bwMode="auto">
            <a:xfrm>
              <a:off x="1207" y="3301"/>
              <a:ext cx="6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256KB</a:t>
              </a:r>
              <a:r>
                <a:rPr kumimoji="1" lang="en-US" altLang="zh-CN" sz="2000">
                  <a:solidFill>
                    <a:schemeClr val="tx1"/>
                  </a:solidFill>
                  <a:latin typeface="Times New Roman" panose="02020603050405020304" pitchFamily="18" charset="0"/>
                  <a:sym typeface="Symbol" panose="05050102010706020507" pitchFamily="18" charset="2"/>
                </a:rPr>
                <a:t></a:t>
              </a:r>
              <a:r>
                <a:rPr kumimoji="1" lang="en-US" altLang="zh-CN" sz="2000">
                  <a:solidFill>
                    <a:schemeClr val="tx1"/>
                  </a:solidFill>
                  <a:latin typeface="Times New Roman" panose="02020603050405020304" pitchFamily="18" charset="0"/>
                </a:rPr>
                <a:t>1</a:t>
              </a:r>
            </a:p>
          </p:txBody>
        </p:sp>
        <p:sp>
          <p:nvSpPr>
            <p:cNvPr id="42004" name="Text Box 10">
              <a:extLst>
                <a:ext uri="{FF2B5EF4-FFF2-40B4-BE49-F238E27FC236}">
                  <a16:creationId xmlns:a16="http://schemas.microsoft.com/office/drawing/2014/main" id="{2372F1B1-F46D-6C53-8818-601CCE065A41}"/>
                </a:ext>
              </a:extLst>
            </p:cNvPr>
            <p:cNvSpPr txBox="1">
              <a:spLocks noChangeArrowheads="1"/>
            </p:cNvSpPr>
            <p:nvPr/>
          </p:nvSpPr>
          <p:spPr bwMode="auto">
            <a:xfrm>
              <a:off x="1938" y="3461"/>
              <a:ext cx="66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000">
                  <a:solidFill>
                    <a:schemeClr val="tx1"/>
                  </a:solidFill>
                  <a:latin typeface="Times New Roman" panose="02020603050405020304" pitchFamily="18" charset="0"/>
                </a:rPr>
                <a:t>存储空间</a:t>
              </a:r>
            </a:p>
          </p:txBody>
        </p:sp>
        <p:sp>
          <p:nvSpPr>
            <p:cNvPr id="902155" name="Line 11">
              <a:extLst>
                <a:ext uri="{FF2B5EF4-FFF2-40B4-BE49-F238E27FC236}">
                  <a16:creationId xmlns:a16="http://schemas.microsoft.com/office/drawing/2014/main" id="{F2DD5CF7-C17F-4D63-B234-66D42F254825}"/>
                </a:ext>
              </a:extLst>
            </p:cNvPr>
            <p:cNvSpPr>
              <a:spLocks noChangeShapeType="1"/>
            </p:cNvSpPr>
            <p:nvPr/>
          </p:nvSpPr>
          <p:spPr bwMode="auto">
            <a:xfrm>
              <a:off x="1807" y="2080"/>
              <a:ext cx="945" cy="0"/>
            </a:xfrm>
            <a:prstGeom prst="line">
              <a:avLst/>
            </a:prstGeom>
            <a:noFill/>
            <a:ln w="9525">
              <a:solidFill>
                <a:schemeClr val="tx1"/>
              </a:solidFill>
              <a:round/>
              <a:headEnd/>
              <a:tailEnd/>
            </a:ln>
            <a:effec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sz="2400">
                <a:effectLst>
                  <a:outerShdw blurRad="38100" dist="38100" dir="2700000" algn="tl">
                    <a:srgbClr val="000000">
                      <a:alpha val="43137"/>
                    </a:srgbClr>
                  </a:outerShdw>
                </a:effectLst>
                <a:latin typeface="Arial" charset="0"/>
              </a:endParaRPr>
            </a:p>
          </p:txBody>
        </p:sp>
        <p:sp>
          <p:nvSpPr>
            <p:cNvPr id="902156" name="Line 12">
              <a:extLst>
                <a:ext uri="{FF2B5EF4-FFF2-40B4-BE49-F238E27FC236}">
                  <a16:creationId xmlns:a16="http://schemas.microsoft.com/office/drawing/2014/main" id="{944E2433-2D43-46DD-B29E-1B879BA48434}"/>
                </a:ext>
              </a:extLst>
            </p:cNvPr>
            <p:cNvSpPr>
              <a:spLocks noChangeShapeType="1"/>
            </p:cNvSpPr>
            <p:nvPr/>
          </p:nvSpPr>
          <p:spPr bwMode="auto">
            <a:xfrm>
              <a:off x="1807" y="2976"/>
              <a:ext cx="945" cy="0"/>
            </a:xfrm>
            <a:prstGeom prst="line">
              <a:avLst/>
            </a:prstGeom>
            <a:noFill/>
            <a:ln w="9525">
              <a:solidFill>
                <a:schemeClr val="tx1"/>
              </a:solidFill>
              <a:round/>
              <a:headEnd/>
              <a:tailEnd/>
            </a:ln>
            <a:effec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sz="2400">
                <a:effectLst>
                  <a:outerShdw blurRad="38100" dist="38100" dir="2700000" algn="tl">
                    <a:srgbClr val="000000">
                      <a:alpha val="43137"/>
                    </a:srgbClr>
                  </a:outerShdw>
                </a:effectLst>
                <a:latin typeface="Arial" charset="0"/>
              </a:endParaRPr>
            </a:p>
          </p:txBody>
        </p:sp>
        <p:sp>
          <p:nvSpPr>
            <p:cNvPr id="42007" name="Text Box 13">
              <a:extLst>
                <a:ext uri="{FF2B5EF4-FFF2-40B4-BE49-F238E27FC236}">
                  <a16:creationId xmlns:a16="http://schemas.microsoft.com/office/drawing/2014/main" id="{B77BF9EE-B85D-7902-0A75-BFEF444EF8A2}"/>
                </a:ext>
              </a:extLst>
            </p:cNvPr>
            <p:cNvSpPr txBox="1">
              <a:spLocks noChangeArrowheads="1"/>
            </p:cNvSpPr>
            <p:nvPr/>
          </p:nvSpPr>
          <p:spPr bwMode="auto">
            <a:xfrm>
              <a:off x="1416" y="2695"/>
              <a:ext cx="5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24KB</a:t>
              </a:r>
            </a:p>
          </p:txBody>
        </p:sp>
      </p:grpSp>
      <p:grpSp>
        <p:nvGrpSpPr>
          <p:cNvPr id="3" name="Group 29">
            <a:extLst>
              <a:ext uri="{FF2B5EF4-FFF2-40B4-BE49-F238E27FC236}">
                <a16:creationId xmlns:a16="http://schemas.microsoft.com/office/drawing/2014/main" id="{B3AEBDC3-1155-3D9C-D5E4-5C10B1642967}"/>
              </a:ext>
            </a:extLst>
          </p:cNvPr>
          <p:cNvGrpSpPr>
            <a:grpSpLocks/>
          </p:cNvGrpSpPr>
          <p:nvPr/>
        </p:nvGrpSpPr>
        <p:grpSpPr bwMode="auto">
          <a:xfrm>
            <a:off x="1157965" y="2813061"/>
            <a:ext cx="1990118" cy="879478"/>
            <a:chOff x="-70" y="1772"/>
            <a:chExt cx="1113" cy="554"/>
          </a:xfrm>
        </p:grpSpPr>
        <p:sp>
          <p:nvSpPr>
            <p:cNvPr id="41998" name="Text Box 14">
              <a:extLst>
                <a:ext uri="{FF2B5EF4-FFF2-40B4-BE49-F238E27FC236}">
                  <a16:creationId xmlns:a16="http://schemas.microsoft.com/office/drawing/2014/main" id="{A660D902-C7B8-CF8F-4D8C-70FD2FC8C8E3}"/>
                </a:ext>
              </a:extLst>
            </p:cNvPr>
            <p:cNvSpPr txBox="1">
              <a:spLocks noChangeArrowheads="1"/>
            </p:cNvSpPr>
            <p:nvPr/>
          </p:nvSpPr>
          <p:spPr bwMode="auto">
            <a:xfrm>
              <a:off x="-70" y="1772"/>
              <a:ext cx="1113"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2400" dirty="0">
                  <a:solidFill>
                    <a:schemeClr val="tx1"/>
                  </a:solidFill>
                  <a:latin typeface="Times New Roman" panose="02020603050405020304" pitchFamily="18" charset="0"/>
                </a:rPr>
                <a:t>下界寄存器</a:t>
              </a:r>
            </a:p>
          </p:txBody>
        </p:sp>
        <p:sp>
          <p:nvSpPr>
            <p:cNvPr id="41999" name="Text Box 15">
              <a:extLst>
                <a:ext uri="{FF2B5EF4-FFF2-40B4-BE49-F238E27FC236}">
                  <a16:creationId xmlns:a16="http://schemas.microsoft.com/office/drawing/2014/main" id="{17B8801E-B8A1-C2EA-F0D1-9C257586E860}"/>
                </a:ext>
              </a:extLst>
            </p:cNvPr>
            <p:cNvSpPr txBox="1">
              <a:spLocks noChangeArrowheads="1"/>
            </p:cNvSpPr>
            <p:nvPr/>
          </p:nvSpPr>
          <p:spPr bwMode="auto">
            <a:xfrm>
              <a:off x="567" y="2051"/>
              <a:ext cx="449" cy="275"/>
            </a:xfrm>
            <a:prstGeom prst="rect">
              <a:avLst/>
            </a:prstGeom>
            <a:solidFill>
              <a:srgbClr val="CC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a:solidFill>
                    <a:schemeClr val="tx1"/>
                  </a:solidFill>
                  <a:latin typeface="Times New Roman" panose="02020603050405020304" pitchFamily="18" charset="0"/>
                </a:rPr>
                <a:t>   </a:t>
              </a:r>
            </a:p>
          </p:txBody>
        </p:sp>
      </p:grpSp>
      <p:sp>
        <p:nvSpPr>
          <p:cNvPr id="902162" name="Text Box 18">
            <a:extLst>
              <a:ext uri="{FF2B5EF4-FFF2-40B4-BE49-F238E27FC236}">
                <a16:creationId xmlns:a16="http://schemas.microsoft.com/office/drawing/2014/main" id="{269B8F3E-3151-F3DC-56EB-760F95D96FCF}"/>
              </a:ext>
            </a:extLst>
          </p:cNvPr>
          <p:cNvSpPr txBox="1">
            <a:spLocks noChangeArrowheads="1"/>
          </p:cNvSpPr>
          <p:nvPr/>
        </p:nvSpPr>
        <p:spPr bwMode="auto">
          <a:xfrm>
            <a:off x="2261435" y="3278188"/>
            <a:ext cx="8834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2000">
                <a:solidFill>
                  <a:schemeClr val="tx1"/>
                </a:solidFill>
                <a:latin typeface="Times New Roman" panose="02020603050405020304" pitchFamily="18" charset="0"/>
              </a:rPr>
              <a:t>20KB</a:t>
            </a:r>
          </a:p>
        </p:txBody>
      </p:sp>
      <p:grpSp>
        <p:nvGrpSpPr>
          <p:cNvPr id="4" name="Group 30">
            <a:extLst>
              <a:ext uri="{FF2B5EF4-FFF2-40B4-BE49-F238E27FC236}">
                <a16:creationId xmlns:a16="http://schemas.microsoft.com/office/drawing/2014/main" id="{2D4E2E53-988D-4F0D-7E4C-98EB23C82403}"/>
              </a:ext>
            </a:extLst>
          </p:cNvPr>
          <p:cNvGrpSpPr>
            <a:grpSpLocks/>
          </p:cNvGrpSpPr>
          <p:nvPr/>
        </p:nvGrpSpPr>
        <p:grpSpPr bwMode="auto">
          <a:xfrm>
            <a:off x="1157942" y="3911603"/>
            <a:ext cx="2202798" cy="795338"/>
            <a:chOff x="105" y="2464"/>
            <a:chExt cx="1052" cy="501"/>
          </a:xfrm>
        </p:grpSpPr>
        <p:sp>
          <p:nvSpPr>
            <p:cNvPr id="41996" name="Text Box 16">
              <a:extLst>
                <a:ext uri="{FF2B5EF4-FFF2-40B4-BE49-F238E27FC236}">
                  <a16:creationId xmlns:a16="http://schemas.microsoft.com/office/drawing/2014/main" id="{A2D58A92-95AE-2FD0-E8E9-FFF311C9FE83}"/>
                </a:ext>
              </a:extLst>
            </p:cNvPr>
            <p:cNvSpPr txBox="1">
              <a:spLocks noChangeArrowheads="1"/>
            </p:cNvSpPr>
            <p:nvPr/>
          </p:nvSpPr>
          <p:spPr bwMode="auto">
            <a:xfrm>
              <a:off x="105" y="2464"/>
              <a:ext cx="10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2400" dirty="0">
                  <a:solidFill>
                    <a:schemeClr val="tx1"/>
                  </a:solidFill>
                  <a:latin typeface="Times New Roman" panose="02020603050405020304" pitchFamily="18" charset="0"/>
                </a:rPr>
                <a:t>上界寄存器</a:t>
              </a:r>
            </a:p>
          </p:txBody>
        </p:sp>
        <p:sp>
          <p:nvSpPr>
            <p:cNvPr id="41997" name="Text Box 17">
              <a:extLst>
                <a:ext uri="{FF2B5EF4-FFF2-40B4-BE49-F238E27FC236}">
                  <a16:creationId xmlns:a16="http://schemas.microsoft.com/office/drawing/2014/main" id="{483103B6-AB59-7F96-E594-2DA6A37C86FD}"/>
                </a:ext>
              </a:extLst>
            </p:cNvPr>
            <p:cNvSpPr txBox="1">
              <a:spLocks noChangeArrowheads="1"/>
            </p:cNvSpPr>
            <p:nvPr/>
          </p:nvSpPr>
          <p:spPr bwMode="auto">
            <a:xfrm>
              <a:off x="632" y="2724"/>
              <a:ext cx="398" cy="241"/>
            </a:xfrm>
            <a:prstGeom prst="rect">
              <a:avLst/>
            </a:prstGeom>
            <a:solidFill>
              <a:srgbClr val="CC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a:solidFill>
                    <a:schemeClr val="tx1"/>
                  </a:solidFill>
                  <a:latin typeface="Times New Roman" panose="02020603050405020304" pitchFamily="18" charset="0"/>
                </a:rPr>
                <a:t>   </a:t>
              </a:r>
            </a:p>
          </p:txBody>
        </p:sp>
      </p:grpSp>
      <p:sp>
        <p:nvSpPr>
          <p:cNvPr id="902163" name="Text Box 19">
            <a:extLst>
              <a:ext uri="{FF2B5EF4-FFF2-40B4-BE49-F238E27FC236}">
                <a16:creationId xmlns:a16="http://schemas.microsoft.com/office/drawing/2014/main" id="{99D432C1-5892-B96F-3A96-EC785F7B6965}"/>
              </a:ext>
            </a:extLst>
          </p:cNvPr>
          <p:cNvSpPr txBox="1">
            <a:spLocks noChangeArrowheads="1"/>
          </p:cNvSpPr>
          <p:nvPr/>
        </p:nvSpPr>
        <p:spPr bwMode="auto">
          <a:xfrm>
            <a:off x="2296963" y="4337049"/>
            <a:ext cx="895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2000" dirty="0">
                <a:solidFill>
                  <a:schemeClr val="tx1"/>
                </a:solidFill>
                <a:latin typeface="Times New Roman" panose="02020603050405020304" pitchFamily="18" charset="0"/>
              </a:rPr>
              <a:t>24KB</a:t>
            </a:r>
          </a:p>
        </p:txBody>
      </p:sp>
      <p:sp>
        <p:nvSpPr>
          <p:cNvPr id="902168" name="Rectangle 24">
            <a:extLst>
              <a:ext uri="{FF2B5EF4-FFF2-40B4-BE49-F238E27FC236}">
                <a16:creationId xmlns:a16="http://schemas.microsoft.com/office/drawing/2014/main" id="{EDFDF747-A009-4A3E-9020-5E6F23758981}"/>
              </a:ext>
            </a:extLst>
          </p:cNvPr>
          <p:cNvSpPr>
            <a:spLocks noChangeArrowheads="1"/>
          </p:cNvSpPr>
          <p:nvPr/>
        </p:nvSpPr>
        <p:spPr bwMode="auto">
          <a:xfrm>
            <a:off x="6593558" y="2382027"/>
            <a:ext cx="5458710" cy="391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b="1">
                <a:solidFill>
                  <a:srgbClr val="4138FA"/>
                </a:solidFill>
                <a:latin typeface="Arial" panose="020B0604020202020204" pitchFamily="34" charset="0"/>
                <a:ea typeface="宋体" panose="02010600030101010101" pitchFamily="2" charset="-122"/>
              </a:defRPr>
            </a:lvl1pPr>
            <a:lvl2pPr marL="914400" indent="-341313" eaLnBrk="0" hangingPunct="0">
              <a:defRPr sz="1400" b="1">
                <a:solidFill>
                  <a:srgbClr val="4138FA"/>
                </a:solidFill>
                <a:latin typeface="Arial" panose="020B0604020202020204" pitchFamily="34" charset="0"/>
                <a:ea typeface="宋体" panose="02010600030101010101" pitchFamily="2" charset="-122"/>
              </a:defRPr>
            </a:lvl2pPr>
            <a:lvl3pPr marL="1143000" indent="-228600" eaLnBrk="0" hangingPunct="0">
              <a:defRPr sz="1400" b="1">
                <a:solidFill>
                  <a:srgbClr val="4138FA"/>
                </a:solidFill>
                <a:latin typeface="Arial" panose="020B0604020202020204" pitchFamily="34" charset="0"/>
                <a:ea typeface="宋体" panose="02010600030101010101" pitchFamily="2" charset="-122"/>
              </a:defRPr>
            </a:lvl3pPr>
            <a:lvl4pPr marL="1600200" indent="-228600" eaLnBrk="0" hangingPunct="0">
              <a:defRPr sz="1400" b="1">
                <a:solidFill>
                  <a:srgbClr val="4138FA"/>
                </a:solidFill>
                <a:latin typeface="Arial" panose="020B0604020202020204" pitchFamily="34" charset="0"/>
                <a:ea typeface="宋体" panose="02010600030101010101" pitchFamily="2" charset="-122"/>
              </a:defRPr>
            </a:lvl4pPr>
            <a:lvl5pPr marL="2057400" indent="-228600" eaLnBrk="0" hangingPunct="0">
              <a:defRPr sz="1400" b="1">
                <a:solidFill>
                  <a:srgbClr val="4138FA"/>
                </a:solidFill>
                <a:latin typeface="Arial" panose="020B0604020202020204" pitchFamily="34" charset="0"/>
                <a:ea typeface="宋体" panose="02010600030101010101" pitchFamily="2" charset="-122"/>
              </a:defRPr>
            </a:lvl5pPr>
            <a:lvl6pPr marL="25146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1400" b="1">
                <a:solidFill>
                  <a:srgbClr val="4138FA"/>
                </a:solidFill>
                <a:latin typeface="Arial" panose="020B0604020202020204" pitchFamily="34" charset="0"/>
                <a:ea typeface="宋体" panose="02010600030101010101" pitchFamily="2" charset="-122"/>
              </a:defRPr>
            </a:lvl6pPr>
            <a:lvl7pPr marL="29718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1400" b="1">
                <a:solidFill>
                  <a:srgbClr val="4138FA"/>
                </a:solidFill>
                <a:latin typeface="Arial" panose="020B0604020202020204" pitchFamily="34" charset="0"/>
                <a:ea typeface="宋体" panose="02010600030101010101" pitchFamily="2" charset="-122"/>
              </a:defRPr>
            </a:lvl7pPr>
            <a:lvl8pPr marL="34290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1400" b="1">
                <a:solidFill>
                  <a:srgbClr val="4138FA"/>
                </a:solidFill>
                <a:latin typeface="Arial" panose="020B0604020202020204" pitchFamily="34" charset="0"/>
                <a:ea typeface="宋体" panose="02010600030101010101" pitchFamily="2" charset="-122"/>
              </a:defRPr>
            </a:lvl8pPr>
            <a:lvl9pPr marL="3886200" indent="-228600" algn="ctr" eaLnBrk="0" fontAlgn="base" hangingPunct="0">
              <a:lnSpc>
                <a:spcPct val="120000"/>
              </a:lnSpc>
              <a:spcBef>
                <a:spcPct val="0"/>
              </a:spcBef>
              <a:spcAft>
                <a:spcPct val="0"/>
              </a:spcAft>
              <a:buClr>
                <a:schemeClr val="tx2"/>
              </a:buClr>
              <a:buSzPct val="95000"/>
              <a:buFont typeface="Wingdings" panose="05000000000000000000" pitchFamily="2" charset="2"/>
              <a:buChar char="Ø"/>
              <a:defRPr sz="1400" b="1">
                <a:solidFill>
                  <a:srgbClr val="4138FA"/>
                </a:solidFill>
                <a:latin typeface="Arial" panose="020B0604020202020204" pitchFamily="34" charset="0"/>
                <a:ea typeface="宋体" panose="02010600030101010101" pitchFamily="2" charset="-122"/>
              </a:defRPr>
            </a:lvl9pPr>
          </a:lstStyle>
          <a:p>
            <a:pPr lvl="1" eaLnBrk="1" hangingPunct="1">
              <a:lnSpc>
                <a:spcPct val="130000"/>
              </a:lnSpc>
              <a:spcBef>
                <a:spcPct val="30000"/>
              </a:spcBef>
              <a:buClr>
                <a:schemeClr val="tx2"/>
              </a:buClr>
              <a:buSzPct val="95000"/>
              <a:buFont typeface="Wingdings" panose="05000000000000000000" pitchFamily="2" charset="2"/>
              <a:buBlip>
                <a:blip r:embed="rId3"/>
              </a:buBlip>
              <a:defRPr/>
            </a:pPr>
            <a:r>
              <a:rPr lang="zh-CN" altLang="en-US" sz="2800" dirty="0">
                <a:solidFill>
                  <a:schemeClr val="tx1"/>
                </a:solidFill>
                <a:latin typeface="Times New Roman" panose="02020603050405020304" pitchFamily="18" charset="0"/>
                <a:sym typeface="Symbol" panose="05050102010706020507" pitchFamily="18" charset="2"/>
              </a:rPr>
              <a:t>如何</a:t>
            </a:r>
            <a:r>
              <a:rPr lang="zh-CN" altLang="en-US" sz="2800" dirty="0">
                <a:solidFill>
                  <a:schemeClr val="tx1"/>
                </a:solidFill>
                <a:latin typeface="Times New Roman" panose="02020603050405020304" pitchFamily="18" charset="0"/>
              </a:rPr>
              <a:t>设置上下界寄存器内容 ？</a:t>
            </a:r>
          </a:p>
          <a:p>
            <a:pPr lvl="1" eaLnBrk="1" hangingPunct="1">
              <a:lnSpc>
                <a:spcPct val="130000"/>
              </a:lnSpc>
              <a:spcBef>
                <a:spcPct val="30000"/>
              </a:spcBef>
              <a:buClr>
                <a:schemeClr val="tx2"/>
              </a:buClr>
              <a:buSzPct val="95000"/>
              <a:buFont typeface="Wingdings" panose="05000000000000000000" pitchFamily="2" charset="2"/>
              <a:buBlip>
                <a:blip r:embed="rId3"/>
              </a:buBlip>
              <a:defRPr/>
            </a:pPr>
            <a:r>
              <a:rPr lang="zh-CN" altLang="en-US" sz="2800" dirty="0">
                <a:solidFill>
                  <a:schemeClr val="tx1"/>
                </a:solidFill>
                <a:latin typeface="Times New Roman" panose="02020603050405020304" pitchFamily="18" charset="0"/>
                <a:sym typeface="Symbol" panose="05050102010706020507" pitchFamily="18" charset="2"/>
              </a:rPr>
              <a:t>如何判断是否越界 ？</a:t>
            </a:r>
          </a:p>
          <a:p>
            <a:pPr eaLnBrk="1" hangingPunct="1">
              <a:lnSpc>
                <a:spcPct val="130000"/>
              </a:lnSpc>
              <a:spcBef>
                <a:spcPct val="30000"/>
              </a:spcBef>
              <a:buClr>
                <a:schemeClr val="tx2"/>
              </a:buClr>
              <a:buSzPct val="95000"/>
              <a:buFont typeface="Wingdings" panose="05000000000000000000" pitchFamily="2" charset="2"/>
              <a:buNone/>
              <a:defRPr/>
            </a:pPr>
            <a:r>
              <a:rPr lang="zh-CN" altLang="en-US" sz="2400" dirty="0">
                <a:solidFill>
                  <a:srgbClr val="0000FF"/>
                </a:solidFill>
                <a:latin typeface="Times New Roman" panose="02020603050405020304" pitchFamily="18" charset="0"/>
                <a:sym typeface="Symbol" panose="05050102010706020507" pitchFamily="18" charset="2"/>
              </a:rPr>
              <a:t>               若  </a:t>
            </a:r>
            <a:r>
              <a:rPr lang="en-US" altLang="zh-CN" sz="2800" b="0" dirty="0">
                <a:solidFill>
                  <a:srgbClr val="0000FF"/>
                </a:solidFill>
                <a:latin typeface="Times New Roman" panose="02020603050405020304" pitchFamily="18" charset="0"/>
              </a:rPr>
              <a:t>20KB≤D</a:t>
            </a:r>
            <a:r>
              <a:rPr lang="zh-CN" altLang="en-US" sz="2800" b="0" dirty="0">
                <a:solidFill>
                  <a:srgbClr val="0000FF"/>
                </a:solidFill>
                <a:latin typeface="Times New Roman" panose="02020603050405020304" pitchFamily="18" charset="0"/>
              </a:rPr>
              <a:t>＜</a:t>
            </a:r>
            <a:r>
              <a:rPr lang="en-US" altLang="zh-CN" sz="2800" b="0" dirty="0">
                <a:solidFill>
                  <a:srgbClr val="0000FF"/>
                </a:solidFill>
                <a:latin typeface="Times New Roman" panose="02020603050405020304" pitchFamily="18" charset="0"/>
              </a:rPr>
              <a:t>24KB    </a:t>
            </a:r>
          </a:p>
          <a:p>
            <a:pPr eaLnBrk="1" hangingPunct="1">
              <a:lnSpc>
                <a:spcPct val="130000"/>
              </a:lnSpc>
              <a:spcBef>
                <a:spcPct val="30000"/>
              </a:spcBef>
              <a:buClr>
                <a:schemeClr val="tx2"/>
              </a:buClr>
              <a:buSzPct val="95000"/>
              <a:buFont typeface="Wingdings" panose="05000000000000000000" pitchFamily="2" charset="2"/>
              <a:buNone/>
              <a:defRPr/>
            </a:pPr>
            <a:r>
              <a:rPr lang="en-US" altLang="zh-CN" sz="2800" b="0" dirty="0">
                <a:solidFill>
                  <a:srgbClr val="0000FF"/>
                </a:solidFill>
                <a:latin typeface="Times New Roman" panose="02020603050405020304" pitchFamily="18" charset="0"/>
              </a:rPr>
              <a:t>                 </a:t>
            </a:r>
            <a:r>
              <a:rPr lang="zh-CN" altLang="en-US" sz="2800" b="0" dirty="0">
                <a:solidFill>
                  <a:srgbClr val="0000FF"/>
                </a:solidFill>
                <a:latin typeface="Times New Roman" panose="02020603050405020304" pitchFamily="18" charset="0"/>
              </a:rPr>
              <a:t>允许访问；</a:t>
            </a:r>
          </a:p>
          <a:p>
            <a:pPr eaLnBrk="1" hangingPunct="1">
              <a:lnSpc>
                <a:spcPct val="130000"/>
              </a:lnSpc>
              <a:spcBef>
                <a:spcPct val="30000"/>
              </a:spcBef>
              <a:buClr>
                <a:schemeClr val="tx2"/>
              </a:buClr>
              <a:buSzPct val="95000"/>
              <a:buFont typeface="Wingdings" panose="05000000000000000000" pitchFamily="2" charset="2"/>
              <a:buNone/>
              <a:defRPr/>
            </a:pPr>
            <a:r>
              <a:rPr lang="zh-CN" altLang="en-US" sz="2800" b="0" dirty="0">
                <a:solidFill>
                  <a:srgbClr val="0000FF"/>
                </a:solidFill>
                <a:latin typeface="Times New Roman" panose="02020603050405020304" pitchFamily="18" charset="0"/>
              </a:rPr>
              <a:t>             否则发生越界中断。</a:t>
            </a:r>
          </a:p>
        </p:txBody>
      </p:sp>
      <p:sp>
        <p:nvSpPr>
          <p:cNvPr id="902175" name="Text Box 31">
            <a:extLst>
              <a:ext uri="{FF2B5EF4-FFF2-40B4-BE49-F238E27FC236}">
                <a16:creationId xmlns:a16="http://schemas.microsoft.com/office/drawing/2014/main" id="{FE82A94A-9AF7-07DA-4FA7-EE7CDEF1600B}"/>
              </a:ext>
            </a:extLst>
          </p:cNvPr>
          <p:cNvSpPr txBox="1">
            <a:spLocks noChangeArrowheads="1"/>
          </p:cNvSpPr>
          <p:nvPr/>
        </p:nvSpPr>
        <p:spPr bwMode="auto">
          <a:xfrm>
            <a:off x="2711451" y="5988050"/>
            <a:ext cx="33813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2400" dirty="0">
                <a:solidFill>
                  <a:schemeClr val="tx1"/>
                </a:solidFill>
                <a:latin typeface="Times New Roman" panose="02020603050405020304" pitchFamily="18" charset="0"/>
              </a:rPr>
              <a:t>界限寄存器保护示意图</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2148">
                                            <p:txEl>
                                              <p:pRg st="0" end="0"/>
                                            </p:txEl>
                                          </p:spTgt>
                                        </p:tgtEl>
                                        <p:attrNameLst>
                                          <p:attrName>style.visibility</p:attrName>
                                        </p:attrNameLst>
                                      </p:cBhvr>
                                      <p:to>
                                        <p:strVal val="visible"/>
                                      </p:to>
                                    </p:set>
                                    <p:anim calcmode="lin" valueType="num">
                                      <p:cBhvr additive="base">
                                        <p:cTn id="7" dur="1000" fill="hold"/>
                                        <p:tgtEl>
                                          <p:spTgt spid="902148">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021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02148">
                                            <p:txEl>
                                              <p:pRg st="1" end="1"/>
                                            </p:txEl>
                                          </p:spTgt>
                                        </p:tgtEl>
                                        <p:attrNameLst>
                                          <p:attrName>style.visibility</p:attrName>
                                        </p:attrNameLst>
                                      </p:cBhvr>
                                      <p:to>
                                        <p:strVal val="visible"/>
                                      </p:to>
                                    </p:set>
                                    <p:anim calcmode="lin" valueType="num">
                                      <p:cBhvr additive="base">
                                        <p:cTn id="13" dur="1000" fill="hold"/>
                                        <p:tgtEl>
                                          <p:spTgt spid="902148">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0214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02148">
                                            <p:txEl>
                                              <p:pRg st="2" end="2"/>
                                            </p:txEl>
                                          </p:spTgt>
                                        </p:tgtEl>
                                        <p:attrNameLst>
                                          <p:attrName>style.visibility</p:attrName>
                                        </p:attrNameLst>
                                      </p:cBhvr>
                                      <p:to>
                                        <p:strVal val="visible"/>
                                      </p:to>
                                    </p:set>
                                    <p:anim calcmode="lin" valueType="num">
                                      <p:cBhvr additive="base">
                                        <p:cTn id="19" dur="500" fill="hold"/>
                                        <p:tgtEl>
                                          <p:spTgt spid="90214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021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0217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fill="hold"/>
                                        <p:tgtEl>
                                          <p:spTgt spid="4"/>
                                        </p:tgtEl>
                                        <p:attrNameLst>
                                          <p:attrName>ppt_x</p:attrName>
                                        </p:attrNameLst>
                                      </p:cBhvr>
                                      <p:tavLst>
                                        <p:tav tm="0">
                                          <p:val>
                                            <p:strVal val="0-#ppt_w/2"/>
                                          </p:val>
                                        </p:tav>
                                        <p:tav tm="100000">
                                          <p:val>
                                            <p:strVal val="#ppt_x"/>
                                          </p:val>
                                        </p:tav>
                                      </p:tavLst>
                                    </p:anim>
                                    <p:anim calcmode="lin" valueType="num">
                                      <p:cBhvr additive="base">
                                        <p:cTn id="4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902168">
                                            <p:txEl>
                                              <p:pRg st="0" end="0"/>
                                            </p:txEl>
                                          </p:spTgt>
                                        </p:tgtEl>
                                        <p:attrNameLst>
                                          <p:attrName>style.visibility</p:attrName>
                                        </p:attrNameLst>
                                      </p:cBhvr>
                                      <p:to>
                                        <p:strVal val="visible"/>
                                      </p:to>
                                    </p:set>
                                    <p:anim calcmode="lin" valueType="num">
                                      <p:cBhvr additive="base">
                                        <p:cTn id="47" dur="500" fill="hold"/>
                                        <p:tgtEl>
                                          <p:spTgt spid="902168">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021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902162"/>
                                        </p:tgtEl>
                                        <p:attrNameLst>
                                          <p:attrName>style.visibility</p:attrName>
                                        </p:attrNameLst>
                                      </p:cBhvr>
                                      <p:to>
                                        <p:strVal val="visible"/>
                                      </p:to>
                                    </p:set>
                                    <p:anim calcmode="lin" valueType="num">
                                      <p:cBhvr additive="base">
                                        <p:cTn id="53" dur="500" fill="hold"/>
                                        <p:tgtEl>
                                          <p:spTgt spid="902162"/>
                                        </p:tgtEl>
                                        <p:attrNameLst>
                                          <p:attrName>ppt_x</p:attrName>
                                        </p:attrNameLst>
                                      </p:cBhvr>
                                      <p:tavLst>
                                        <p:tav tm="0">
                                          <p:val>
                                            <p:strVal val="0-#ppt_w/2"/>
                                          </p:val>
                                        </p:tav>
                                        <p:tav tm="100000">
                                          <p:val>
                                            <p:strVal val="#ppt_x"/>
                                          </p:val>
                                        </p:tav>
                                      </p:tavLst>
                                    </p:anim>
                                    <p:anim calcmode="lin" valueType="num">
                                      <p:cBhvr additive="base">
                                        <p:cTn id="54" dur="500" fill="hold"/>
                                        <p:tgtEl>
                                          <p:spTgt spid="902162"/>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902163"/>
                                        </p:tgtEl>
                                        <p:attrNameLst>
                                          <p:attrName>style.visibility</p:attrName>
                                        </p:attrNameLst>
                                      </p:cBhvr>
                                      <p:to>
                                        <p:strVal val="visible"/>
                                      </p:to>
                                    </p:set>
                                    <p:anim calcmode="lin" valueType="num">
                                      <p:cBhvr additive="base">
                                        <p:cTn id="59" dur="500" fill="hold"/>
                                        <p:tgtEl>
                                          <p:spTgt spid="902163"/>
                                        </p:tgtEl>
                                        <p:attrNameLst>
                                          <p:attrName>ppt_x</p:attrName>
                                        </p:attrNameLst>
                                      </p:cBhvr>
                                      <p:tavLst>
                                        <p:tav tm="0">
                                          <p:val>
                                            <p:strVal val="0-#ppt_w/2"/>
                                          </p:val>
                                        </p:tav>
                                        <p:tav tm="100000">
                                          <p:val>
                                            <p:strVal val="#ppt_x"/>
                                          </p:val>
                                        </p:tav>
                                      </p:tavLst>
                                    </p:anim>
                                    <p:anim calcmode="lin" valueType="num">
                                      <p:cBhvr additive="base">
                                        <p:cTn id="60" dur="500" fill="hold"/>
                                        <p:tgtEl>
                                          <p:spTgt spid="902163"/>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902168">
                                            <p:txEl>
                                              <p:pRg st="1" end="1"/>
                                            </p:txEl>
                                          </p:spTgt>
                                        </p:tgtEl>
                                        <p:attrNameLst>
                                          <p:attrName>style.visibility</p:attrName>
                                        </p:attrNameLst>
                                      </p:cBhvr>
                                      <p:to>
                                        <p:strVal val="visible"/>
                                      </p:to>
                                    </p:set>
                                    <p:anim calcmode="lin" valueType="num">
                                      <p:cBhvr additive="base">
                                        <p:cTn id="65" dur="500" fill="hold"/>
                                        <p:tgtEl>
                                          <p:spTgt spid="902168">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9021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nodeType="clickEffect">
                                  <p:stCondLst>
                                    <p:cond delay="0"/>
                                  </p:stCondLst>
                                  <p:childTnLst>
                                    <p:set>
                                      <p:cBhvr>
                                        <p:cTn id="70" dur="1" fill="hold">
                                          <p:stCondLst>
                                            <p:cond delay="0"/>
                                          </p:stCondLst>
                                        </p:cTn>
                                        <p:tgtEl>
                                          <p:spTgt spid="902168">
                                            <p:txEl>
                                              <p:pRg st="2" end="2"/>
                                            </p:txEl>
                                          </p:spTgt>
                                        </p:tgtEl>
                                        <p:attrNameLst>
                                          <p:attrName>style.visibility</p:attrName>
                                        </p:attrNameLst>
                                      </p:cBhvr>
                                      <p:to>
                                        <p:strVal val="visible"/>
                                      </p:to>
                                    </p:set>
                                    <p:anim calcmode="lin" valueType="num">
                                      <p:cBhvr additive="base">
                                        <p:cTn id="71" dur="500" fill="hold"/>
                                        <p:tgtEl>
                                          <p:spTgt spid="902168">
                                            <p:txEl>
                                              <p:pRg st="2" end="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902168">
                                            <p:txEl>
                                              <p:pRg st="2" end="2"/>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902168">
                                            <p:txEl>
                                              <p:pRg st="3" end="3"/>
                                            </p:txEl>
                                          </p:spTgt>
                                        </p:tgtEl>
                                        <p:attrNameLst>
                                          <p:attrName>style.visibility</p:attrName>
                                        </p:attrNameLst>
                                      </p:cBhvr>
                                      <p:to>
                                        <p:strVal val="visible"/>
                                      </p:to>
                                    </p:set>
                                    <p:anim calcmode="lin" valueType="num">
                                      <p:cBhvr additive="base">
                                        <p:cTn id="75" dur="500" fill="hold"/>
                                        <p:tgtEl>
                                          <p:spTgt spid="902168">
                                            <p:txEl>
                                              <p:pRg st="3" end="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902168">
                                            <p:txEl>
                                              <p:pRg st="3" end="3"/>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902168">
                                            <p:txEl>
                                              <p:pRg st="4" end="4"/>
                                            </p:txEl>
                                          </p:spTgt>
                                        </p:tgtEl>
                                        <p:attrNameLst>
                                          <p:attrName>style.visibility</p:attrName>
                                        </p:attrNameLst>
                                      </p:cBhvr>
                                      <p:to>
                                        <p:strVal val="visible"/>
                                      </p:to>
                                    </p:set>
                                    <p:anim calcmode="lin" valueType="num">
                                      <p:cBhvr additive="base">
                                        <p:cTn id="79" dur="500" fill="hold"/>
                                        <p:tgtEl>
                                          <p:spTgt spid="902168">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90216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48" grpId="0" build="p"/>
      <p:bldP spid="902162" grpId="0"/>
      <p:bldP spid="902163" grpId="0"/>
      <p:bldP spid="90217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8BC47E79-B69E-D8EF-2D2B-C509CABAB7DE}"/>
              </a:ext>
            </a:extLst>
          </p:cNvPr>
          <p:cNvSpPr>
            <a:spLocks noGrp="1" noChangeArrowheads="1"/>
          </p:cNvSpPr>
          <p:nvPr>
            <p:ph type="body" idx="1"/>
          </p:nvPr>
        </p:nvSpPr>
        <p:spPr>
          <a:xfrm>
            <a:off x="703049" y="960399"/>
            <a:ext cx="9844643" cy="5334764"/>
          </a:xfrm>
        </p:spPr>
        <p:txBody>
          <a:bodyPr>
            <a:noAutofit/>
          </a:bodyPr>
          <a:lstStyle/>
          <a:p>
            <a:pPr algn="just" eaLnBrk="1" hangingPunct="1">
              <a:lnSpc>
                <a:spcPct val="100000"/>
              </a:lnSpc>
              <a:buFont typeface="Wingdings" panose="05000000000000000000" pitchFamily="2" charset="2"/>
              <a:buNone/>
            </a:pPr>
            <a:r>
              <a:rPr lang="zh-CN" altLang="en-US" sz="2800" b="1" dirty="0">
                <a:solidFill>
                  <a:srgbClr val="000066"/>
                </a:solidFill>
              </a:rPr>
              <a:t>例：有一程序装入内存的首地址是</a:t>
            </a:r>
            <a:r>
              <a:rPr lang="en-US" altLang="zh-CN" sz="2800" b="1" dirty="0">
                <a:solidFill>
                  <a:srgbClr val="000066"/>
                </a:solidFill>
              </a:rPr>
              <a:t>500</a:t>
            </a:r>
            <a:r>
              <a:rPr lang="zh-CN" altLang="en-US" sz="2800" b="1" dirty="0">
                <a:solidFill>
                  <a:srgbClr val="000066"/>
                </a:solidFill>
              </a:rPr>
              <a:t>，末地址是</a:t>
            </a:r>
            <a:r>
              <a:rPr lang="en-US" altLang="zh-CN" sz="2800" b="1" dirty="0">
                <a:solidFill>
                  <a:srgbClr val="000066"/>
                </a:solidFill>
              </a:rPr>
              <a:t>1500</a:t>
            </a:r>
            <a:r>
              <a:rPr lang="zh-CN" altLang="en-US" sz="2800" b="1" dirty="0">
                <a:solidFill>
                  <a:srgbClr val="000066"/>
                </a:solidFill>
              </a:rPr>
              <a:t>，访问内存的逻辑</a:t>
            </a:r>
            <a:r>
              <a:rPr lang="en-US" altLang="zh-CN" sz="2800" b="1" dirty="0">
                <a:solidFill>
                  <a:srgbClr val="000066"/>
                </a:solidFill>
              </a:rPr>
              <a:t>/</a:t>
            </a:r>
            <a:r>
              <a:rPr lang="zh-CN" altLang="en-US" sz="2800" b="1" dirty="0">
                <a:solidFill>
                  <a:srgbClr val="000066"/>
                </a:solidFill>
              </a:rPr>
              <a:t>虚地址是</a:t>
            </a:r>
            <a:r>
              <a:rPr lang="en-US" altLang="zh-CN" sz="2800" b="1" dirty="0">
                <a:solidFill>
                  <a:srgbClr val="000066"/>
                </a:solidFill>
              </a:rPr>
              <a:t>500</a:t>
            </a:r>
            <a:r>
              <a:rPr lang="zh-CN" altLang="en-US" sz="2800" b="1" dirty="0">
                <a:solidFill>
                  <a:srgbClr val="000066"/>
                </a:solidFill>
              </a:rPr>
              <a:t>、</a:t>
            </a:r>
            <a:r>
              <a:rPr lang="en-US" altLang="zh-CN" sz="2800" b="1" dirty="0">
                <a:solidFill>
                  <a:srgbClr val="000066"/>
                </a:solidFill>
              </a:rPr>
              <a:t>345</a:t>
            </a:r>
            <a:r>
              <a:rPr lang="zh-CN" altLang="en-US" sz="2800" b="1" dirty="0">
                <a:solidFill>
                  <a:srgbClr val="000066"/>
                </a:solidFill>
              </a:rPr>
              <a:t>、</a:t>
            </a:r>
            <a:r>
              <a:rPr lang="en-US" altLang="zh-CN" sz="2800" b="1" dirty="0">
                <a:solidFill>
                  <a:srgbClr val="000066"/>
                </a:solidFill>
              </a:rPr>
              <a:t>1010</a:t>
            </a:r>
            <a:r>
              <a:rPr lang="zh-CN" altLang="en-US" sz="2800" b="1" dirty="0">
                <a:solidFill>
                  <a:srgbClr val="000066"/>
                </a:solidFill>
              </a:rPr>
              <a:t>，判断是否合法。</a:t>
            </a:r>
            <a:endParaRPr lang="zh-CN" altLang="en-US" sz="2000" b="1" dirty="0">
              <a:solidFill>
                <a:srgbClr val="000066"/>
              </a:solidFill>
            </a:endParaRPr>
          </a:p>
          <a:p>
            <a:pPr algn="just" eaLnBrk="1" hangingPunct="1">
              <a:lnSpc>
                <a:spcPct val="100000"/>
              </a:lnSpc>
              <a:spcBef>
                <a:spcPct val="0"/>
              </a:spcBef>
              <a:buFont typeface="Wingdings" panose="05000000000000000000" pitchFamily="2" charset="2"/>
              <a:buNone/>
            </a:pPr>
            <a:r>
              <a:rPr lang="zh-CN" altLang="en-US" sz="2000" b="1" dirty="0"/>
              <a:t>    </a:t>
            </a:r>
            <a:r>
              <a:rPr lang="zh-CN" altLang="en-US" b="1" dirty="0"/>
              <a:t>解： </a:t>
            </a:r>
          </a:p>
          <a:p>
            <a:pPr algn="just" eaLnBrk="1" hangingPunct="1">
              <a:lnSpc>
                <a:spcPct val="100000"/>
              </a:lnSpc>
              <a:spcBef>
                <a:spcPct val="10000"/>
              </a:spcBef>
              <a:spcAft>
                <a:spcPct val="10000"/>
              </a:spcAft>
              <a:buFont typeface="Wingdings" panose="05000000000000000000" pitchFamily="2" charset="2"/>
              <a:buNone/>
            </a:pPr>
            <a:r>
              <a:rPr lang="zh-CN" altLang="en-US" b="1" dirty="0"/>
              <a:t>     逻辑地址＋装入内存的首地址＝ 物理地址</a:t>
            </a:r>
          </a:p>
          <a:p>
            <a:pPr algn="just" eaLnBrk="1" hangingPunct="1">
              <a:lnSpc>
                <a:spcPct val="100000"/>
              </a:lnSpc>
              <a:spcBef>
                <a:spcPct val="0"/>
              </a:spcBef>
              <a:buFont typeface="Wingdings" panose="05000000000000000000" pitchFamily="2" charset="2"/>
              <a:buNone/>
            </a:pPr>
            <a:r>
              <a:rPr lang="zh-CN" altLang="en-US" b="1" dirty="0"/>
              <a:t>     </a:t>
            </a:r>
            <a:r>
              <a:rPr lang="en-US" altLang="zh-CN" b="1" dirty="0"/>
              <a:t>1</a:t>
            </a:r>
            <a:r>
              <a:rPr lang="zh-CN" altLang="en-US" b="1" dirty="0"/>
              <a:t>、</a:t>
            </a:r>
            <a:r>
              <a:rPr lang="en-US" altLang="zh-CN" b="1" dirty="0"/>
              <a:t>500</a:t>
            </a:r>
            <a:r>
              <a:rPr lang="zh-CN" altLang="en-US" b="1" dirty="0"/>
              <a:t>＋</a:t>
            </a:r>
            <a:r>
              <a:rPr lang="en-US" altLang="zh-CN" b="1" dirty="0"/>
              <a:t>500 </a:t>
            </a:r>
            <a:r>
              <a:rPr lang="zh-CN" altLang="en-US" b="1" dirty="0"/>
              <a:t>＝ </a:t>
            </a:r>
            <a:r>
              <a:rPr lang="en-US" altLang="zh-CN" b="1" dirty="0"/>
              <a:t>1000      </a:t>
            </a:r>
          </a:p>
          <a:p>
            <a:pPr algn="just" eaLnBrk="1" hangingPunct="1">
              <a:lnSpc>
                <a:spcPct val="100000"/>
              </a:lnSpc>
              <a:spcBef>
                <a:spcPct val="0"/>
              </a:spcBef>
              <a:buFont typeface="Wingdings" panose="05000000000000000000" pitchFamily="2" charset="2"/>
              <a:buNone/>
            </a:pPr>
            <a:r>
              <a:rPr lang="en-US" altLang="zh-CN" b="1" dirty="0"/>
              <a:t>            500  ≤   1000 </a:t>
            </a:r>
            <a:r>
              <a:rPr lang="zh-CN" altLang="en-US" b="1" dirty="0"/>
              <a:t>＜  </a:t>
            </a:r>
            <a:r>
              <a:rPr lang="en-US" altLang="zh-CN" b="1" dirty="0"/>
              <a:t>1500</a:t>
            </a:r>
            <a:r>
              <a:rPr lang="zh-CN" altLang="en-US" b="1" dirty="0"/>
              <a:t>（√）</a:t>
            </a:r>
          </a:p>
          <a:p>
            <a:pPr algn="just" eaLnBrk="1" hangingPunct="1">
              <a:lnSpc>
                <a:spcPct val="100000"/>
              </a:lnSpc>
              <a:spcBef>
                <a:spcPct val="0"/>
              </a:spcBef>
              <a:buFont typeface="Wingdings" panose="05000000000000000000" pitchFamily="2" charset="2"/>
              <a:buNone/>
            </a:pPr>
            <a:r>
              <a:rPr lang="zh-CN" altLang="en-US" b="1" dirty="0"/>
              <a:t>     </a:t>
            </a:r>
            <a:r>
              <a:rPr lang="en-US" altLang="zh-CN" b="1" dirty="0"/>
              <a:t>2</a:t>
            </a:r>
            <a:r>
              <a:rPr lang="zh-CN" altLang="en-US" b="1" dirty="0"/>
              <a:t>、</a:t>
            </a:r>
            <a:r>
              <a:rPr lang="en-US" altLang="zh-CN" b="1" dirty="0"/>
              <a:t>345</a:t>
            </a:r>
            <a:r>
              <a:rPr lang="zh-CN" altLang="en-US" b="1" dirty="0"/>
              <a:t>＋</a:t>
            </a:r>
            <a:r>
              <a:rPr lang="en-US" altLang="zh-CN" b="1" dirty="0"/>
              <a:t>500 </a:t>
            </a:r>
            <a:r>
              <a:rPr lang="zh-CN" altLang="en-US" b="1" dirty="0"/>
              <a:t>＝ </a:t>
            </a:r>
            <a:r>
              <a:rPr lang="en-US" altLang="zh-CN" b="1" dirty="0"/>
              <a:t>845        </a:t>
            </a:r>
          </a:p>
          <a:p>
            <a:pPr algn="just" eaLnBrk="1" hangingPunct="1">
              <a:lnSpc>
                <a:spcPct val="100000"/>
              </a:lnSpc>
              <a:spcBef>
                <a:spcPct val="0"/>
              </a:spcBef>
              <a:buFont typeface="Wingdings" panose="05000000000000000000" pitchFamily="2" charset="2"/>
              <a:buNone/>
            </a:pPr>
            <a:r>
              <a:rPr lang="en-US" altLang="zh-CN" b="1" dirty="0"/>
              <a:t>            500  ≤   845  </a:t>
            </a:r>
            <a:r>
              <a:rPr lang="zh-CN" altLang="en-US" b="1" dirty="0"/>
              <a:t>＜  </a:t>
            </a:r>
            <a:r>
              <a:rPr lang="en-US" altLang="zh-CN" b="1" dirty="0"/>
              <a:t>1500</a:t>
            </a:r>
            <a:r>
              <a:rPr lang="zh-CN" altLang="en-US" b="1" dirty="0"/>
              <a:t>（√）</a:t>
            </a:r>
          </a:p>
          <a:p>
            <a:pPr algn="just" eaLnBrk="1" hangingPunct="1">
              <a:lnSpc>
                <a:spcPct val="100000"/>
              </a:lnSpc>
              <a:spcBef>
                <a:spcPct val="0"/>
              </a:spcBef>
              <a:buFont typeface="Wingdings" panose="05000000000000000000" pitchFamily="2" charset="2"/>
              <a:buNone/>
            </a:pPr>
            <a:r>
              <a:rPr lang="zh-CN" altLang="en-US" b="1" dirty="0"/>
              <a:t>     </a:t>
            </a:r>
            <a:r>
              <a:rPr lang="en-US" altLang="zh-CN" b="1" dirty="0"/>
              <a:t>3</a:t>
            </a:r>
            <a:r>
              <a:rPr lang="zh-CN" altLang="en-US" b="1" dirty="0"/>
              <a:t>、</a:t>
            </a:r>
            <a:r>
              <a:rPr lang="en-US" altLang="zh-CN" b="1" dirty="0"/>
              <a:t>1010</a:t>
            </a:r>
            <a:r>
              <a:rPr lang="zh-CN" altLang="en-US" b="1" dirty="0"/>
              <a:t>＋</a:t>
            </a:r>
            <a:r>
              <a:rPr lang="en-US" altLang="zh-CN" b="1" dirty="0"/>
              <a:t>500 </a:t>
            </a:r>
            <a:r>
              <a:rPr lang="zh-CN" altLang="en-US" b="1" dirty="0"/>
              <a:t>＝ </a:t>
            </a:r>
            <a:r>
              <a:rPr lang="en-US" altLang="zh-CN" b="1" dirty="0"/>
              <a:t>1510   </a:t>
            </a:r>
          </a:p>
          <a:p>
            <a:pPr algn="just" eaLnBrk="1" hangingPunct="1">
              <a:lnSpc>
                <a:spcPct val="100000"/>
              </a:lnSpc>
              <a:spcBef>
                <a:spcPct val="0"/>
              </a:spcBef>
              <a:buFont typeface="Wingdings" panose="05000000000000000000" pitchFamily="2" charset="2"/>
              <a:buNone/>
            </a:pPr>
            <a:r>
              <a:rPr lang="en-US" altLang="zh-CN" b="1" dirty="0"/>
              <a:t>            500  ≤   1510 </a:t>
            </a:r>
            <a:r>
              <a:rPr lang="en-US" altLang="zh-CN" b="1" dirty="0">
                <a:latin typeface="宋体" panose="02010600030101010101" pitchFamily="2" charset="-122"/>
              </a:rPr>
              <a:t>≮</a:t>
            </a:r>
            <a:r>
              <a:rPr lang="en-US" altLang="zh-CN" b="1" dirty="0"/>
              <a:t>  1500</a:t>
            </a:r>
            <a:r>
              <a:rPr lang="zh-CN" altLang="en-US" b="1" dirty="0"/>
              <a:t>（</a:t>
            </a:r>
            <a:r>
              <a:rPr lang="en-US" altLang="zh-CN" b="1" dirty="0"/>
              <a:t>×</a:t>
            </a:r>
            <a:r>
              <a:rPr lang="zh-CN" altLang="en-US" b="1" dirty="0"/>
              <a:t>）</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2082">
                                            <p:txEl>
                                              <p:pRg st="0" end="0"/>
                                            </p:txEl>
                                          </p:spTgt>
                                        </p:tgtEl>
                                        <p:attrNameLst>
                                          <p:attrName>style.visibility</p:attrName>
                                        </p:attrNameLst>
                                      </p:cBhvr>
                                      <p:to>
                                        <p:strVal val="visible"/>
                                      </p:to>
                                    </p:set>
                                    <p:animEffect transition="in" filter="blinds(horizontal)">
                                      <p:cBhvr>
                                        <p:cTn id="7" dur="500"/>
                                        <p:tgtEl>
                                          <p:spTgt spid="3020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2082">
                                            <p:txEl>
                                              <p:pRg st="1" end="1"/>
                                            </p:txEl>
                                          </p:spTgt>
                                        </p:tgtEl>
                                        <p:attrNameLst>
                                          <p:attrName>style.visibility</p:attrName>
                                        </p:attrNameLst>
                                      </p:cBhvr>
                                      <p:to>
                                        <p:strVal val="visible"/>
                                      </p:to>
                                    </p:set>
                                    <p:animEffect transition="in" filter="blinds(horizontal)">
                                      <p:cBhvr>
                                        <p:cTn id="12" dur="500"/>
                                        <p:tgtEl>
                                          <p:spTgt spid="3020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2082">
                                            <p:txEl>
                                              <p:pRg st="2" end="2"/>
                                            </p:txEl>
                                          </p:spTgt>
                                        </p:tgtEl>
                                        <p:attrNameLst>
                                          <p:attrName>style.visibility</p:attrName>
                                        </p:attrNameLst>
                                      </p:cBhvr>
                                      <p:to>
                                        <p:strVal val="visible"/>
                                      </p:to>
                                    </p:set>
                                    <p:animEffect transition="in" filter="blinds(horizontal)">
                                      <p:cBhvr>
                                        <p:cTn id="17" dur="500"/>
                                        <p:tgtEl>
                                          <p:spTgt spid="30208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2082">
                                            <p:txEl>
                                              <p:pRg st="3" end="3"/>
                                            </p:txEl>
                                          </p:spTgt>
                                        </p:tgtEl>
                                        <p:attrNameLst>
                                          <p:attrName>style.visibility</p:attrName>
                                        </p:attrNameLst>
                                      </p:cBhvr>
                                      <p:to>
                                        <p:strVal val="visible"/>
                                      </p:to>
                                    </p:set>
                                    <p:animEffect transition="in" filter="blinds(horizontal)">
                                      <p:cBhvr>
                                        <p:cTn id="22" dur="500"/>
                                        <p:tgtEl>
                                          <p:spTgt spid="30208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2082">
                                            <p:txEl>
                                              <p:pRg st="4" end="4"/>
                                            </p:txEl>
                                          </p:spTgt>
                                        </p:tgtEl>
                                        <p:attrNameLst>
                                          <p:attrName>style.visibility</p:attrName>
                                        </p:attrNameLst>
                                      </p:cBhvr>
                                      <p:to>
                                        <p:strVal val="visible"/>
                                      </p:to>
                                    </p:set>
                                    <p:animEffect transition="in" filter="blinds(horizontal)">
                                      <p:cBhvr>
                                        <p:cTn id="27" dur="500"/>
                                        <p:tgtEl>
                                          <p:spTgt spid="30208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2082">
                                            <p:txEl>
                                              <p:pRg st="5" end="5"/>
                                            </p:txEl>
                                          </p:spTgt>
                                        </p:tgtEl>
                                        <p:attrNameLst>
                                          <p:attrName>style.visibility</p:attrName>
                                        </p:attrNameLst>
                                      </p:cBhvr>
                                      <p:to>
                                        <p:strVal val="visible"/>
                                      </p:to>
                                    </p:set>
                                    <p:animEffect transition="in" filter="blinds(horizontal)">
                                      <p:cBhvr>
                                        <p:cTn id="32" dur="500"/>
                                        <p:tgtEl>
                                          <p:spTgt spid="30208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2082">
                                            <p:txEl>
                                              <p:pRg st="6" end="6"/>
                                            </p:txEl>
                                          </p:spTgt>
                                        </p:tgtEl>
                                        <p:attrNameLst>
                                          <p:attrName>style.visibility</p:attrName>
                                        </p:attrNameLst>
                                      </p:cBhvr>
                                      <p:to>
                                        <p:strVal val="visible"/>
                                      </p:to>
                                    </p:set>
                                    <p:animEffect transition="in" filter="blinds(horizontal)">
                                      <p:cBhvr>
                                        <p:cTn id="37" dur="500"/>
                                        <p:tgtEl>
                                          <p:spTgt spid="30208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2082">
                                            <p:txEl>
                                              <p:pRg st="7" end="7"/>
                                            </p:txEl>
                                          </p:spTgt>
                                        </p:tgtEl>
                                        <p:attrNameLst>
                                          <p:attrName>style.visibility</p:attrName>
                                        </p:attrNameLst>
                                      </p:cBhvr>
                                      <p:to>
                                        <p:strVal val="visible"/>
                                      </p:to>
                                    </p:set>
                                    <p:animEffect transition="in" filter="blinds(horizontal)">
                                      <p:cBhvr>
                                        <p:cTn id="42" dur="500"/>
                                        <p:tgtEl>
                                          <p:spTgt spid="302082">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02082">
                                            <p:txEl>
                                              <p:pRg st="8" end="8"/>
                                            </p:txEl>
                                          </p:spTgt>
                                        </p:tgtEl>
                                        <p:attrNameLst>
                                          <p:attrName>style.visibility</p:attrName>
                                        </p:attrNameLst>
                                      </p:cBhvr>
                                      <p:to>
                                        <p:strVal val="visible"/>
                                      </p:to>
                                    </p:set>
                                    <p:animEffect transition="in" filter="blinds(horizontal)">
                                      <p:cBhvr>
                                        <p:cTn id="47" dur="500"/>
                                        <p:tgtEl>
                                          <p:spTgt spid="30208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6" name="Rectangle 4">
            <a:extLst>
              <a:ext uri="{FF2B5EF4-FFF2-40B4-BE49-F238E27FC236}">
                <a16:creationId xmlns:a16="http://schemas.microsoft.com/office/drawing/2014/main" id="{0BAB5B40-7F02-0719-1F15-6A7F8F5A7BEA}"/>
              </a:ext>
            </a:extLst>
          </p:cNvPr>
          <p:cNvSpPr>
            <a:spLocks noChangeArrowheads="1"/>
          </p:cNvSpPr>
          <p:nvPr/>
        </p:nvSpPr>
        <p:spPr bwMode="auto">
          <a:xfrm>
            <a:off x="285162" y="342475"/>
            <a:ext cx="8947583" cy="116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lvl="1" eaLnBrk="1" hangingPunct="1">
              <a:lnSpc>
                <a:spcPct val="120000"/>
              </a:lnSpc>
              <a:spcBef>
                <a:spcPct val="20000"/>
              </a:spcBef>
              <a:buFont typeface="Wingdings" panose="05000000000000000000" pitchFamily="2" charset="2"/>
              <a:buNone/>
            </a:pPr>
            <a:r>
              <a:rPr lang="en-US" altLang="zh-CN" dirty="0">
                <a:solidFill>
                  <a:srgbClr val="000099"/>
                </a:solidFill>
                <a:latin typeface="Times New Roman" panose="02020603050405020304" pitchFamily="18" charset="0"/>
              </a:rPr>
              <a:t>② </a:t>
            </a:r>
            <a:r>
              <a:rPr lang="zh-CN" altLang="en-US" dirty="0">
                <a:solidFill>
                  <a:srgbClr val="000099"/>
                </a:solidFill>
                <a:latin typeface="Times New Roman" panose="02020603050405020304" pitchFamily="18" charset="0"/>
              </a:rPr>
              <a:t>基地址、限长防护</a:t>
            </a:r>
          </a:p>
          <a:p>
            <a:pPr eaLnBrk="1" hangingPunct="1">
              <a:lnSpc>
                <a:spcPct val="120000"/>
              </a:lnSpc>
              <a:spcBef>
                <a:spcPct val="20000"/>
              </a:spcBef>
              <a:buFont typeface="Wingdings" panose="05000000000000000000" pitchFamily="2" charset="2"/>
              <a:buNone/>
            </a:pPr>
            <a:r>
              <a:rPr lang="zh-CN" altLang="en-US" sz="24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例：程序大小为</a:t>
            </a:r>
            <a:r>
              <a:rPr lang="en-US" altLang="zh-CN" sz="2800" dirty="0">
                <a:solidFill>
                  <a:schemeClr val="tx1"/>
                </a:solidFill>
                <a:latin typeface="Times New Roman" panose="02020603050405020304" pitchFamily="18" charset="0"/>
              </a:rPr>
              <a:t>4KB</a:t>
            </a:r>
            <a:r>
              <a:rPr lang="zh-CN" altLang="en-US" sz="2800" dirty="0">
                <a:solidFill>
                  <a:schemeClr val="tx1"/>
                </a:solidFill>
                <a:latin typeface="Times New Roman" panose="02020603050405020304" pitchFamily="18" charset="0"/>
              </a:rPr>
              <a:t>，主存首址为</a:t>
            </a:r>
            <a:r>
              <a:rPr lang="en-US" altLang="zh-CN" sz="2800" dirty="0">
                <a:solidFill>
                  <a:schemeClr val="tx1"/>
                </a:solidFill>
                <a:latin typeface="Times New Roman" panose="02020603050405020304" pitchFamily="18" charset="0"/>
              </a:rPr>
              <a:t>20KB</a:t>
            </a:r>
            <a:r>
              <a:rPr lang="zh-CN" altLang="en-US" sz="2800" dirty="0">
                <a:solidFill>
                  <a:schemeClr val="tx1"/>
                </a:solidFill>
                <a:latin typeface="Times New Roman" panose="02020603050405020304" pitchFamily="18" charset="0"/>
              </a:rPr>
              <a:t>。</a:t>
            </a:r>
          </a:p>
        </p:txBody>
      </p:sp>
      <p:sp>
        <p:nvSpPr>
          <p:cNvPr id="904215" name="Rectangle 23">
            <a:extLst>
              <a:ext uri="{FF2B5EF4-FFF2-40B4-BE49-F238E27FC236}">
                <a16:creationId xmlns:a16="http://schemas.microsoft.com/office/drawing/2014/main" id="{2F52ECA9-4EA8-481A-8C9D-020C6B281BEC}"/>
              </a:ext>
            </a:extLst>
          </p:cNvPr>
          <p:cNvSpPr>
            <a:spLocks noChangeArrowheads="1"/>
          </p:cNvSpPr>
          <p:nvPr/>
        </p:nvSpPr>
        <p:spPr bwMode="auto">
          <a:xfrm>
            <a:off x="5499101" y="2119313"/>
            <a:ext cx="4818063"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lvl="1" eaLnBrk="1" hangingPunct="1">
              <a:lnSpc>
                <a:spcPct val="130000"/>
              </a:lnSpc>
              <a:defRPr/>
            </a:pPr>
            <a:r>
              <a:rPr lang="zh-CN" altLang="en-US" sz="2400" dirty="0">
                <a:solidFill>
                  <a:schemeClr val="tx1"/>
                </a:solidFill>
                <a:latin typeface="Times New Roman" panose="02020603050405020304" pitchFamily="18" charset="0"/>
                <a:sym typeface="Symbol" panose="05050102010706020507" pitchFamily="18" charset="2"/>
              </a:rPr>
              <a:t>如何</a:t>
            </a:r>
            <a:r>
              <a:rPr lang="zh-CN" altLang="en-US" sz="2400" dirty="0">
                <a:solidFill>
                  <a:schemeClr val="tx1"/>
                </a:solidFill>
                <a:latin typeface="Times New Roman" panose="02020603050405020304" pitchFamily="18" charset="0"/>
              </a:rPr>
              <a:t>设置基址、限长寄存器内容 ？</a:t>
            </a:r>
          </a:p>
          <a:p>
            <a:pPr lvl="1" eaLnBrk="1" hangingPunct="1">
              <a:lnSpc>
                <a:spcPct val="130000"/>
              </a:lnSpc>
              <a:defRPr/>
            </a:pPr>
            <a:r>
              <a:rPr lang="zh-CN" altLang="en-US" sz="2400" dirty="0">
                <a:solidFill>
                  <a:schemeClr val="tx1"/>
                </a:solidFill>
                <a:latin typeface="Times New Roman" panose="02020603050405020304" pitchFamily="18" charset="0"/>
                <a:sym typeface="Symbol" panose="05050102010706020507" pitchFamily="18" charset="2"/>
              </a:rPr>
              <a:t>如何判断是否越界 ？</a:t>
            </a:r>
          </a:p>
          <a:p>
            <a:pPr eaLnBrk="1" hangingPunct="1">
              <a:lnSpc>
                <a:spcPct val="130000"/>
              </a:lnSpc>
              <a:buFont typeface="Wingdings" panose="05000000000000000000" pitchFamily="2" charset="2"/>
              <a:buNone/>
              <a:defRPr/>
            </a:pPr>
            <a:r>
              <a:rPr lang="zh-CN" altLang="en-US" sz="2400" dirty="0">
                <a:solidFill>
                  <a:schemeClr val="tx1"/>
                </a:solidFill>
                <a:latin typeface="Times New Roman" panose="02020603050405020304" pitchFamily="18" charset="0"/>
                <a:sym typeface="Symbol" panose="05050102010706020507" pitchFamily="18" charset="2"/>
              </a:rPr>
              <a:t>               </a:t>
            </a:r>
            <a:r>
              <a:rPr lang="zh-CN" altLang="en-US" sz="2400" dirty="0">
                <a:solidFill>
                  <a:srgbClr val="0000FF"/>
                </a:solidFill>
                <a:latin typeface="Times New Roman" panose="02020603050405020304" pitchFamily="18" charset="0"/>
                <a:sym typeface="Symbol" panose="05050102010706020507" pitchFamily="18" charset="2"/>
              </a:rPr>
              <a:t>若 逻辑地址 </a:t>
            </a:r>
            <a:r>
              <a:rPr lang="zh-CN" altLang="en-US" sz="2400" dirty="0">
                <a:solidFill>
                  <a:srgbClr val="0000FF"/>
                </a:solidFill>
                <a:latin typeface="Times New Roman" panose="02020603050405020304" pitchFamily="18" charset="0"/>
              </a:rPr>
              <a:t>＜ </a:t>
            </a:r>
            <a:r>
              <a:rPr lang="en-US" altLang="zh-CN" sz="2400" dirty="0">
                <a:solidFill>
                  <a:srgbClr val="0000FF"/>
                </a:solidFill>
                <a:latin typeface="Times New Roman" panose="02020603050405020304" pitchFamily="18" charset="0"/>
              </a:rPr>
              <a:t>4KB    </a:t>
            </a:r>
          </a:p>
          <a:p>
            <a:pPr eaLnBrk="1" hangingPunct="1">
              <a:lnSpc>
                <a:spcPct val="130000"/>
              </a:lnSpc>
              <a:buFont typeface="Wingdings" panose="05000000000000000000" pitchFamily="2" charset="2"/>
              <a:buNone/>
              <a:defRPr/>
            </a:pPr>
            <a:r>
              <a:rPr lang="en-US" altLang="zh-CN" sz="2400" dirty="0">
                <a:solidFill>
                  <a:srgbClr val="0000FF"/>
                </a:solidFill>
                <a:latin typeface="Times New Roman" panose="02020603050405020304" pitchFamily="18" charset="0"/>
              </a:rPr>
              <a:t>                    </a:t>
            </a:r>
            <a:r>
              <a:rPr lang="zh-CN" altLang="en-US" sz="2400" dirty="0">
                <a:solidFill>
                  <a:srgbClr val="0000FF"/>
                </a:solidFill>
                <a:latin typeface="Times New Roman" panose="02020603050405020304" pitchFamily="18" charset="0"/>
              </a:rPr>
              <a:t>允许访问；</a:t>
            </a:r>
          </a:p>
          <a:p>
            <a:pPr eaLnBrk="1" hangingPunct="1">
              <a:lnSpc>
                <a:spcPct val="130000"/>
              </a:lnSpc>
              <a:buFont typeface="Wingdings" panose="05000000000000000000" pitchFamily="2" charset="2"/>
              <a:buNone/>
              <a:defRPr/>
            </a:pPr>
            <a:r>
              <a:rPr lang="zh-CN" altLang="en-US" sz="2400" dirty="0">
                <a:solidFill>
                  <a:srgbClr val="0000FF"/>
                </a:solidFill>
                <a:latin typeface="Times New Roman" panose="02020603050405020304" pitchFamily="18" charset="0"/>
              </a:rPr>
              <a:t>               否则发生越界中断</a:t>
            </a:r>
          </a:p>
        </p:txBody>
      </p:sp>
      <p:grpSp>
        <p:nvGrpSpPr>
          <p:cNvPr id="2" name="Group 25">
            <a:extLst>
              <a:ext uri="{FF2B5EF4-FFF2-40B4-BE49-F238E27FC236}">
                <a16:creationId xmlns:a16="http://schemas.microsoft.com/office/drawing/2014/main" id="{F7DB6202-9DCB-8CE7-134A-569B4CF2C2DC}"/>
              </a:ext>
            </a:extLst>
          </p:cNvPr>
          <p:cNvGrpSpPr>
            <a:grpSpLocks/>
          </p:cNvGrpSpPr>
          <p:nvPr/>
        </p:nvGrpSpPr>
        <p:grpSpPr bwMode="auto">
          <a:xfrm>
            <a:off x="2743200" y="1515719"/>
            <a:ext cx="2935288" cy="3872257"/>
            <a:chOff x="1207" y="1624"/>
            <a:chExt cx="1545" cy="2049"/>
          </a:xfrm>
        </p:grpSpPr>
        <p:sp>
          <p:nvSpPr>
            <p:cNvPr id="45072" name="Text Box 26">
              <a:extLst>
                <a:ext uri="{FF2B5EF4-FFF2-40B4-BE49-F238E27FC236}">
                  <a16:creationId xmlns:a16="http://schemas.microsoft.com/office/drawing/2014/main" id="{3CFB43CA-5698-E8D6-B66E-48FA0B046BAC}"/>
                </a:ext>
              </a:extLst>
            </p:cNvPr>
            <p:cNvSpPr txBox="1">
              <a:spLocks noChangeArrowheads="1"/>
            </p:cNvSpPr>
            <p:nvPr/>
          </p:nvSpPr>
          <p:spPr bwMode="auto">
            <a:xfrm>
              <a:off x="1803" y="1772"/>
              <a:ext cx="945" cy="1671"/>
            </a:xfrm>
            <a:prstGeom prst="rect">
              <a:avLst/>
            </a:prstGeom>
            <a:solidFill>
              <a:srgbClr val="FFCC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200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2000">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r>
                <a:rPr kumimoji="1" lang="en-US" altLang="zh-CN" sz="2000">
                  <a:solidFill>
                    <a:schemeClr val="tx1"/>
                  </a:solidFill>
                  <a:latin typeface="Times New Roman" panose="02020603050405020304" pitchFamily="18" charset="0"/>
                </a:rPr>
                <a:t> mov  r</a:t>
              </a:r>
              <a:r>
                <a:rPr kumimoji="1" lang="en-US" altLang="zh-CN" sz="2000" baseline="-25000">
                  <a:solidFill>
                    <a:schemeClr val="tx1"/>
                  </a:solidFill>
                  <a:latin typeface="Times New Roman" panose="02020603050405020304" pitchFamily="18" charset="0"/>
                </a:rPr>
                <a:t>1 </a:t>
              </a:r>
              <a:r>
                <a:rPr kumimoji="1" lang="en-US" altLang="zh-CN" sz="2000">
                  <a:solidFill>
                    <a:schemeClr val="tx1"/>
                  </a:solidFill>
                  <a:latin typeface="Times New Roman" panose="02020603050405020304" pitchFamily="18" charset="0"/>
                </a:rPr>
                <a:t>, [500]</a:t>
              </a:r>
            </a:p>
            <a:p>
              <a:pPr algn="just" eaLnBrk="1" hangingPunct="1">
                <a:lnSpc>
                  <a:spcPct val="100000"/>
                </a:lnSpc>
                <a:spcBef>
                  <a:spcPct val="0"/>
                </a:spcBef>
                <a:buClrTx/>
                <a:buSzTx/>
                <a:buFontTx/>
                <a:buNone/>
              </a:pPr>
              <a:endParaRPr kumimoji="1" lang="en-US" altLang="zh-CN" sz="200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2000">
                  <a:solidFill>
                    <a:schemeClr val="tx1"/>
                  </a:solidFill>
                  <a:latin typeface="Times New Roman" panose="02020603050405020304" pitchFamily="18" charset="0"/>
                </a:rPr>
                <a:t> 123</a:t>
              </a:r>
            </a:p>
          </p:txBody>
        </p:sp>
        <p:sp>
          <p:nvSpPr>
            <p:cNvPr id="45073" name="Text Box 27">
              <a:extLst>
                <a:ext uri="{FF2B5EF4-FFF2-40B4-BE49-F238E27FC236}">
                  <a16:creationId xmlns:a16="http://schemas.microsoft.com/office/drawing/2014/main" id="{0FA00116-F5B0-C078-BE7B-7CCD596785BC}"/>
                </a:ext>
              </a:extLst>
            </p:cNvPr>
            <p:cNvSpPr txBox="1">
              <a:spLocks noChangeArrowheads="1"/>
            </p:cNvSpPr>
            <p:nvPr/>
          </p:nvSpPr>
          <p:spPr bwMode="auto">
            <a:xfrm>
              <a:off x="1633" y="1624"/>
              <a:ext cx="17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0</a:t>
              </a:r>
            </a:p>
          </p:txBody>
        </p:sp>
        <p:sp>
          <p:nvSpPr>
            <p:cNvPr id="45074" name="Text Box 28">
              <a:extLst>
                <a:ext uri="{FF2B5EF4-FFF2-40B4-BE49-F238E27FC236}">
                  <a16:creationId xmlns:a16="http://schemas.microsoft.com/office/drawing/2014/main" id="{87892877-0517-405D-1566-A8218FEA76EF}"/>
                </a:ext>
              </a:extLst>
            </p:cNvPr>
            <p:cNvSpPr txBox="1">
              <a:spLocks noChangeArrowheads="1"/>
            </p:cNvSpPr>
            <p:nvPr/>
          </p:nvSpPr>
          <p:spPr bwMode="auto">
            <a:xfrm>
              <a:off x="1416" y="1956"/>
              <a:ext cx="50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20KB</a:t>
              </a:r>
            </a:p>
          </p:txBody>
        </p:sp>
        <p:sp>
          <p:nvSpPr>
            <p:cNvPr id="45075" name="Text Box 29">
              <a:extLst>
                <a:ext uri="{FF2B5EF4-FFF2-40B4-BE49-F238E27FC236}">
                  <a16:creationId xmlns:a16="http://schemas.microsoft.com/office/drawing/2014/main" id="{B23A15F4-BB60-C6AF-FCF1-DFC7FB43BF7F}"/>
                </a:ext>
              </a:extLst>
            </p:cNvPr>
            <p:cNvSpPr txBox="1">
              <a:spLocks noChangeArrowheads="1"/>
            </p:cNvSpPr>
            <p:nvPr/>
          </p:nvSpPr>
          <p:spPr bwMode="auto">
            <a:xfrm>
              <a:off x="1207" y="3301"/>
              <a:ext cx="6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256KB</a:t>
              </a:r>
              <a:r>
                <a:rPr kumimoji="1" lang="en-US" altLang="zh-CN" sz="2000">
                  <a:solidFill>
                    <a:schemeClr val="tx1"/>
                  </a:solidFill>
                  <a:latin typeface="Times New Roman" panose="02020603050405020304" pitchFamily="18" charset="0"/>
                  <a:sym typeface="Symbol" panose="05050102010706020507" pitchFamily="18" charset="2"/>
                </a:rPr>
                <a:t></a:t>
              </a:r>
              <a:r>
                <a:rPr kumimoji="1" lang="en-US" altLang="zh-CN" sz="2000">
                  <a:solidFill>
                    <a:schemeClr val="tx1"/>
                  </a:solidFill>
                  <a:latin typeface="Times New Roman" panose="02020603050405020304" pitchFamily="18" charset="0"/>
                </a:rPr>
                <a:t>1</a:t>
              </a:r>
            </a:p>
          </p:txBody>
        </p:sp>
        <p:sp>
          <p:nvSpPr>
            <p:cNvPr id="45076" name="Text Box 30">
              <a:extLst>
                <a:ext uri="{FF2B5EF4-FFF2-40B4-BE49-F238E27FC236}">
                  <a16:creationId xmlns:a16="http://schemas.microsoft.com/office/drawing/2014/main" id="{769E727F-4499-733C-6E61-5B51A74F9FF5}"/>
                </a:ext>
              </a:extLst>
            </p:cNvPr>
            <p:cNvSpPr txBox="1">
              <a:spLocks noChangeArrowheads="1"/>
            </p:cNvSpPr>
            <p:nvPr/>
          </p:nvSpPr>
          <p:spPr bwMode="auto">
            <a:xfrm>
              <a:off x="1938" y="3461"/>
              <a:ext cx="6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000">
                  <a:solidFill>
                    <a:schemeClr val="tx1"/>
                  </a:solidFill>
                  <a:latin typeface="Times New Roman" panose="02020603050405020304" pitchFamily="18" charset="0"/>
                </a:rPr>
                <a:t>存储空间</a:t>
              </a:r>
            </a:p>
          </p:txBody>
        </p:sp>
        <p:sp>
          <p:nvSpPr>
            <p:cNvPr id="904223" name="Line 31">
              <a:extLst>
                <a:ext uri="{FF2B5EF4-FFF2-40B4-BE49-F238E27FC236}">
                  <a16:creationId xmlns:a16="http://schemas.microsoft.com/office/drawing/2014/main" id="{C8399E81-55D3-419F-80F8-4F5EAF10476B}"/>
                </a:ext>
              </a:extLst>
            </p:cNvPr>
            <p:cNvSpPr>
              <a:spLocks noChangeShapeType="1"/>
            </p:cNvSpPr>
            <p:nvPr/>
          </p:nvSpPr>
          <p:spPr bwMode="auto">
            <a:xfrm>
              <a:off x="1807" y="2080"/>
              <a:ext cx="945" cy="0"/>
            </a:xfrm>
            <a:prstGeom prst="line">
              <a:avLst/>
            </a:prstGeom>
            <a:noFill/>
            <a:ln w="9525">
              <a:solidFill>
                <a:schemeClr val="tx1"/>
              </a:solidFill>
              <a:round/>
              <a:headEnd/>
              <a:tailEnd/>
            </a:ln>
            <a:effec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sz="2400">
                <a:effectLst>
                  <a:outerShdw blurRad="38100" dist="38100" dir="2700000" algn="tl">
                    <a:srgbClr val="000000">
                      <a:alpha val="43137"/>
                    </a:srgbClr>
                  </a:outerShdw>
                </a:effectLst>
                <a:latin typeface="Arial" charset="0"/>
              </a:endParaRPr>
            </a:p>
          </p:txBody>
        </p:sp>
        <p:sp>
          <p:nvSpPr>
            <p:cNvPr id="904224" name="Line 32">
              <a:extLst>
                <a:ext uri="{FF2B5EF4-FFF2-40B4-BE49-F238E27FC236}">
                  <a16:creationId xmlns:a16="http://schemas.microsoft.com/office/drawing/2014/main" id="{6E2BEC30-1B83-44D3-99E2-F7F04CE8B965}"/>
                </a:ext>
              </a:extLst>
            </p:cNvPr>
            <p:cNvSpPr>
              <a:spLocks noChangeShapeType="1"/>
            </p:cNvSpPr>
            <p:nvPr/>
          </p:nvSpPr>
          <p:spPr bwMode="auto">
            <a:xfrm>
              <a:off x="1807" y="2804"/>
              <a:ext cx="945" cy="0"/>
            </a:xfrm>
            <a:prstGeom prst="line">
              <a:avLst/>
            </a:prstGeom>
            <a:noFill/>
            <a:ln w="9525">
              <a:solidFill>
                <a:schemeClr val="tx1"/>
              </a:solidFill>
              <a:round/>
              <a:headEnd/>
              <a:tailEnd/>
            </a:ln>
            <a:effec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sz="2400">
                <a:effectLst>
                  <a:outerShdw blurRad="38100" dist="38100" dir="2700000" algn="tl">
                    <a:srgbClr val="000000">
                      <a:alpha val="43137"/>
                    </a:srgbClr>
                  </a:outerShdw>
                </a:effectLst>
                <a:latin typeface="Arial" charset="0"/>
              </a:endParaRPr>
            </a:p>
          </p:txBody>
        </p:sp>
        <p:sp>
          <p:nvSpPr>
            <p:cNvPr id="45079" name="Text Box 33">
              <a:extLst>
                <a:ext uri="{FF2B5EF4-FFF2-40B4-BE49-F238E27FC236}">
                  <a16:creationId xmlns:a16="http://schemas.microsoft.com/office/drawing/2014/main" id="{F8C3391D-194B-ABB2-0CC2-71DD0F93EF64}"/>
                </a:ext>
              </a:extLst>
            </p:cNvPr>
            <p:cNvSpPr txBox="1">
              <a:spLocks noChangeArrowheads="1"/>
            </p:cNvSpPr>
            <p:nvPr/>
          </p:nvSpPr>
          <p:spPr bwMode="auto">
            <a:xfrm>
              <a:off x="1416" y="2695"/>
              <a:ext cx="5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a:solidFill>
                    <a:schemeClr val="tx1"/>
                  </a:solidFill>
                  <a:latin typeface="Times New Roman" panose="02020603050405020304" pitchFamily="18" charset="0"/>
                </a:rPr>
                <a:t>24KB</a:t>
              </a:r>
            </a:p>
          </p:txBody>
        </p:sp>
      </p:grpSp>
      <p:grpSp>
        <p:nvGrpSpPr>
          <p:cNvPr id="3" name="Group 41">
            <a:extLst>
              <a:ext uri="{FF2B5EF4-FFF2-40B4-BE49-F238E27FC236}">
                <a16:creationId xmlns:a16="http://schemas.microsoft.com/office/drawing/2014/main" id="{C4121312-FFFD-5B06-E1DA-0F3738CCA0AF}"/>
              </a:ext>
            </a:extLst>
          </p:cNvPr>
          <p:cNvGrpSpPr>
            <a:grpSpLocks/>
          </p:cNvGrpSpPr>
          <p:nvPr/>
        </p:nvGrpSpPr>
        <p:grpSpPr bwMode="auto">
          <a:xfrm>
            <a:off x="1182752" y="2455060"/>
            <a:ext cx="1924774" cy="1007278"/>
            <a:chOff x="117" y="1764"/>
            <a:chExt cx="899" cy="533"/>
          </a:xfrm>
        </p:grpSpPr>
        <p:sp>
          <p:nvSpPr>
            <p:cNvPr id="45070" name="Text Box 42">
              <a:extLst>
                <a:ext uri="{FF2B5EF4-FFF2-40B4-BE49-F238E27FC236}">
                  <a16:creationId xmlns:a16="http://schemas.microsoft.com/office/drawing/2014/main" id="{210B810C-26B4-0772-97B4-B9B4BA756544}"/>
                </a:ext>
              </a:extLst>
            </p:cNvPr>
            <p:cNvSpPr txBox="1">
              <a:spLocks noChangeArrowheads="1"/>
            </p:cNvSpPr>
            <p:nvPr/>
          </p:nvSpPr>
          <p:spPr bwMode="auto">
            <a:xfrm>
              <a:off x="117" y="1764"/>
              <a:ext cx="83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2000" dirty="0">
                  <a:solidFill>
                    <a:schemeClr val="tx1"/>
                  </a:solidFill>
                  <a:latin typeface="Times New Roman" panose="02020603050405020304" pitchFamily="18" charset="0"/>
                </a:rPr>
                <a:t>基址寄存器</a:t>
              </a:r>
            </a:p>
          </p:txBody>
        </p:sp>
        <p:sp>
          <p:nvSpPr>
            <p:cNvPr id="45071" name="Text Box 43">
              <a:extLst>
                <a:ext uri="{FF2B5EF4-FFF2-40B4-BE49-F238E27FC236}">
                  <a16:creationId xmlns:a16="http://schemas.microsoft.com/office/drawing/2014/main" id="{96483074-4960-A827-1407-719035E80CDA}"/>
                </a:ext>
              </a:extLst>
            </p:cNvPr>
            <p:cNvSpPr txBox="1">
              <a:spLocks noChangeArrowheads="1"/>
            </p:cNvSpPr>
            <p:nvPr/>
          </p:nvSpPr>
          <p:spPr bwMode="auto">
            <a:xfrm>
              <a:off x="428" y="2051"/>
              <a:ext cx="588" cy="246"/>
            </a:xfrm>
            <a:prstGeom prst="rect">
              <a:avLst/>
            </a:prstGeom>
            <a:solidFill>
              <a:srgbClr val="CC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a:solidFill>
                    <a:schemeClr val="tx1"/>
                  </a:solidFill>
                  <a:latin typeface="Times New Roman" panose="02020603050405020304" pitchFamily="18" charset="0"/>
                </a:rPr>
                <a:t>   </a:t>
              </a:r>
            </a:p>
          </p:txBody>
        </p:sp>
      </p:grpSp>
      <p:sp>
        <p:nvSpPr>
          <p:cNvPr id="904236" name="Text Box 44">
            <a:extLst>
              <a:ext uri="{FF2B5EF4-FFF2-40B4-BE49-F238E27FC236}">
                <a16:creationId xmlns:a16="http://schemas.microsoft.com/office/drawing/2014/main" id="{EE460FB5-D6A1-0D07-03D4-7AD57B14EEB1}"/>
              </a:ext>
            </a:extLst>
          </p:cNvPr>
          <p:cNvSpPr txBox="1">
            <a:spLocks noChangeArrowheads="1"/>
          </p:cNvSpPr>
          <p:nvPr/>
        </p:nvSpPr>
        <p:spPr bwMode="auto">
          <a:xfrm>
            <a:off x="2005706" y="3029834"/>
            <a:ext cx="10533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2000" dirty="0">
                <a:solidFill>
                  <a:schemeClr val="tx1"/>
                </a:solidFill>
                <a:latin typeface="Times New Roman" panose="02020603050405020304" pitchFamily="18" charset="0"/>
              </a:rPr>
              <a:t>20KB</a:t>
            </a:r>
          </a:p>
        </p:txBody>
      </p:sp>
      <p:grpSp>
        <p:nvGrpSpPr>
          <p:cNvPr id="4" name="Group 45">
            <a:extLst>
              <a:ext uri="{FF2B5EF4-FFF2-40B4-BE49-F238E27FC236}">
                <a16:creationId xmlns:a16="http://schemas.microsoft.com/office/drawing/2014/main" id="{0C73221F-8990-8700-B5E8-7224577337BC}"/>
              </a:ext>
            </a:extLst>
          </p:cNvPr>
          <p:cNvGrpSpPr>
            <a:grpSpLocks/>
          </p:cNvGrpSpPr>
          <p:nvPr/>
        </p:nvGrpSpPr>
        <p:grpSpPr bwMode="auto">
          <a:xfrm>
            <a:off x="1110765" y="3574473"/>
            <a:ext cx="2051091" cy="956253"/>
            <a:chOff x="72" y="2464"/>
            <a:chExt cx="958" cy="506"/>
          </a:xfrm>
        </p:grpSpPr>
        <p:sp>
          <p:nvSpPr>
            <p:cNvPr id="45068" name="Text Box 46">
              <a:extLst>
                <a:ext uri="{FF2B5EF4-FFF2-40B4-BE49-F238E27FC236}">
                  <a16:creationId xmlns:a16="http://schemas.microsoft.com/office/drawing/2014/main" id="{B85FC26A-746D-D760-2E3B-390AC65879C4}"/>
                </a:ext>
              </a:extLst>
            </p:cNvPr>
            <p:cNvSpPr txBox="1">
              <a:spLocks noChangeArrowheads="1"/>
            </p:cNvSpPr>
            <p:nvPr/>
          </p:nvSpPr>
          <p:spPr bwMode="auto">
            <a:xfrm>
              <a:off x="72" y="2464"/>
              <a:ext cx="79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2000" dirty="0">
                  <a:solidFill>
                    <a:schemeClr val="tx1"/>
                  </a:solidFill>
                  <a:latin typeface="Times New Roman" panose="02020603050405020304" pitchFamily="18" charset="0"/>
                </a:rPr>
                <a:t>限长寄存器</a:t>
              </a:r>
            </a:p>
          </p:txBody>
        </p:sp>
        <p:sp>
          <p:nvSpPr>
            <p:cNvPr id="45069" name="Text Box 47">
              <a:extLst>
                <a:ext uri="{FF2B5EF4-FFF2-40B4-BE49-F238E27FC236}">
                  <a16:creationId xmlns:a16="http://schemas.microsoft.com/office/drawing/2014/main" id="{22A82B27-B247-4533-4C36-E01A7D44721D}"/>
                </a:ext>
              </a:extLst>
            </p:cNvPr>
            <p:cNvSpPr txBox="1">
              <a:spLocks noChangeArrowheads="1"/>
            </p:cNvSpPr>
            <p:nvPr/>
          </p:nvSpPr>
          <p:spPr bwMode="auto">
            <a:xfrm>
              <a:off x="442" y="2724"/>
              <a:ext cx="588" cy="246"/>
            </a:xfrm>
            <a:prstGeom prst="rect">
              <a:avLst/>
            </a:prstGeom>
            <a:solidFill>
              <a:srgbClr val="CC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a:solidFill>
                    <a:schemeClr val="tx1"/>
                  </a:solidFill>
                  <a:latin typeface="Times New Roman" panose="02020603050405020304" pitchFamily="18" charset="0"/>
                </a:rPr>
                <a:t>   </a:t>
              </a:r>
            </a:p>
          </p:txBody>
        </p:sp>
      </p:grpSp>
      <p:sp>
        <p:nvSpPr>
          <p:cNvPr id="904240" name="Text Box 48">
            <a:extLst>
              <a:ext uri="{FF2B5EF4-FFF2-40B4-BE49-F238E27FC236}">
                <a16:creationId xmlns:a16="http://schemas.microsoft.com/office/drawing/2014/main" id="{AB7BE0EF-2872-3F4A-8A64-B45F6BE840EA}"/>
              </a:ext>
            </a:extLst>
          </p:cNvPr>
          <p:cNvSpPr txBox="1">
            <a:spLocks noChangeArrowheads="1"/>
          </p:cNvSpPr>
          <p:nvPr/>
        </p:nvSpPr>
        <p:spPr bwMode="auto">
          <a:xfrm>
            <a:off x="2190700" y="4088806"/>
            <a:ext cx="10747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2000">
                <a:solidFill>
                  <a:schemeClr val="tx1"/>
                </a:solidFill>
                <a:latin typeface="Times New Roman" panose="02020603050405020304" pitchFamily="18" charset="0"/>
              </a:rPr>
              <a:t> 4KB</a:t>
            </a:r>
          </a:p>
        </p:txBody>
      </p:sp>
      <p:sp>
        <p:nvSpPr>
          <p:cNvPr id="904241" name="Text Box 49">
            <a:extLst>
              <a:ext uri="{FF2B5EF4-FFF2-40B4-BE49-F238E27FC236}">
                <a16:creationId xmlns:a16="http://schemas.microsoft.com/office/drawing/2014/main" id="{64998D0E-4DB0-A942-D582-A55CD2EA172D}"/>
              </a:ext>
            </a:extLst>
          </p:cNvPr>
          <p:cNvSpPr txBox="1">
            <a:spLocks noChangeArrowheads="1"/>
          </p:cNvSpPr>
          <p:nvPr/>
        </p:nvSpPr>
        <p:spPr bwMode="auto">
          <a:xfrm>
            <a:off x="1530952" y="5517557"/>
            <a:ext cx="3995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3"/>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3"/>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3"/>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3"/>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2400">
                <a:solidFill>
                  <a:schemeClr val="tx1"/>
                </a:solidFill>
                <a:latin typeface="Times New Roman" panose="02020603050405020304" pitchFamily="18" charset="0"/>
              </a:rPr>
              <a:t>界限寄存器保护示意图</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04196">
                                            <p:txEl>
                                              <p:pRg st="0" end="0"/>
                                            </p:txEl>
                                          </p:spTgt>
                                        </p:tgtEl>
                                        <p:attrNameLst>
                                          <p:attrName>style.visibility</p:attrName>
                                        </p:attrNameLst>
                                      </p:cBhvr>
                                      <p:to>
                                        <p:strVal val="visible"/>
                                      </p:to>
                                    </p:set>
                                    <p:anim calcmode="lin" valueType="num">
                                      <p:cBhvr additive="base">
                                        <p:cTn id="7" dur="500" fill="hold"/>
                                        <p:tgtEl>
                                          <p:spTgt spid="90419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041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04196">
                                            <p:txEl>
                                              <p:pRg st="1" end="1"/>
                                            </p:txEl>
                                          </p:spTgt>
                                        </p:tgtEl>
                                        <p:attrNameLst>
                                          <p:attrName>style.visibility</p:attrName>
                                        </p:attrNameLst>
                                      </p:cBhvr>
                                      <p:to>
                                        <p:strVal val="visible"/>
                                      </p:to>
                                    </p:set>
                                    <p:anim calcmode="lin" valueType="num">
                                      <p:cBhvr additive="base">
                                        <p:cTn id="13" dur="500" fill="hold"/>
                                        <p:tgtEl>
                                          <p:spTgt spid="9041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04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0424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0-#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0-#ppt_w/2"/>
                                          </p:val>
                                        </p:tav>
                                        <p:tav tm="100000">
                                          <p:val>
                                            <p:strVal val="#ppt_x"/>
                                          </p:val>
                                        </p:tav>
                                      </p:tavLst>
                                    </p:anim>
                                    <p:anim calcmode="lin" valueType="num">
                                      <p:cBhvr additive="base">
                                        <p:cTn id="3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nodeType="clickEffect">
                                  <p:stCondLst>
                                    <p:cond delay="0"/>
                                  </p:stCondLst>
                                  <p:childTnLst>
                                    <p:set>
                                      <p:cBhvr>
                                        <p:cTn id="40" dur="1" fill="hold">
                                          <p:stCondLst>
                                            <p:cond delay="0"/>
                                          </p:stCondLst>
                                        </p:cTn>
                                        <p:tgtEl>
                                          <p:spTgt spid="904215">
                                            <p:txEl>
                                              <p:pRg st="0" end="0"/>
                                            </p:txEl>
                                          </p:spTgt>
                                        </p:tgtEl>
                                        <p:attrNameLst>
                                          <p:attrName>style.visibility</p:attrName>
                                        </p:attrNameLst>
                                      </p:cBhvr>
                                      <p:to>
                                        <p:strVal val="visible"/>
                                      </p:to>
                                    </p:set>
                                    <p:anim calcmode="lin" valueType="num">
                                      <p:cBhvr additive="base">
                                        <p:cTn id="41" dur="500" fill="hold"/>
                                        <p:tgtEl>
                                          <p:spTgt spid="904215">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9042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904236"/>
                                        </p:tgtEl>
                                        <p:attrNameLst>
                                          <p:attrName>style.visibility</p:attrName>
                                        </p:attrNameLst>
                                      </p:cBhvr>
                                      <p:to>
                                        <p:strVal val="visible"/>
                                      </p:to>
                                    </p:set>
                                    <p:anim calcmode="lin" valueType="num">
                                      <p:cBhvr additive="base">
                                        <p:cTn id="47" dur="500" fill="hold"/>
                                        <p:tgtEl>
                                          <p:spTgt spid="904236"/>
                                        </p:tgtEl>
                                        <p:attrNameLst>
                                          <p:attrName>ppt_x</p:attrName>
                                        </p:attrNameLst>
                                      </p:cBhvr>
                                      <p:tavLst>
                                        <p:tav tm="0">
                                          <p:val>
                                            <p:strVal val="0-#ppt_w/2"/>
                                          </p:val>
                                        </p:tav>
                                        <p:tav tm="100000">
                                          <p:val>
                                            <p:strVal val="#ppt_x"/>
                                          </p:val>
                                        </p:tav>
                                      </p:tavLst>
                                    </p:anim>
                                    <p:anim calcmode="lin" valueType="num">
                                      <p:cBhvr additive="base">
                                        <p:cTn id="48" dur="500" fill="hold"/>
                                        <p:tgtEl>
                                          <p:spTgt spid="904236"/>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904240"/>
                                        </p:tgtEl>
                                        <p:attrNameLst>
                                          <p:attrName>style.visibility</p:attrName>
                                        </p:attrNameLst>
                                      </p:cBhvr>
                                      <p:to>
                                        <p:strVal val="visible"/>
                                      </p:to>
                                    </p:set>
                                    <p:anim calcmode="lin" valueType="num">
                                      <p:cBhvr additive="base">
                                        <p:cTn id="53" dur="500" fill="hold"/>
                                        <p:tgtEl>
                                          <p:spTgt spid="904240"/>
                                        </p:tgtEl>
                                        <p:attrNameLst>
                                          <p:attrName>ppt_x</p:attrName>
                                        </p:attrNameLst>
                                      </p:cBhvr>
                                      <p:tavLst>
                                        <p:tav tm="0">
                                          <p:val>
                                            <p:strVal val="0-#ppt_w/2"/>
                                          </p:val>
                                        </p:tav>
                                        <p:tav tm="100000">
                                          <p:val>
                                            <p:strVal val="#ppt_x"/>
                                          </p:val>
                                        </p:tav>
                                      </p:tavLst>
                                    </p:anim>
                                    <p:anim calcmode="lin" valueType="num">
                                      <p:cBhvr additive="base">
                                        <p:cTn id="54" dur="500" fill="hold"/>
                                        <p:tgtEl>
                                          <p:spTgt spid="904240"/>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904215">
                                            <p:txEl>
                                              <p:pRg st="1" end="1"/>
                                            </p:txEl>
                                          </p:spTgt>
                                        </p:tgtEl>
                                        <p:attrNameLst>
                                          <p:attrName>style.visibility</p:attrName>
                                        </p:attrNameLst>
                                      </p:cBhvr>
                                      <p:to>
                                        <p:strVal val="visible"/>
                                      </p:to>
                                    </p:set>
                                    <p:anim calcmode="lin" valueType="num">
                                      <p:cBhvr additive="base">
                                        <p:cTn id="59" dur="500" fill="hold"/>
                                        <p:tgtEl>
                                          <p:spTgt spid="904215">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9042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904215">
                                            <p:txEl>
                                              <p:pRg st="2" end="2"/>
                                            </p:txEl>
                                          </p:spTgt>
                                        </p:tgtEl>
                                        <p:attrNameLst>
                                          <p:attrName>style.visibility</p:attrName>
                                        </p:attrNameLst>
                                      </p:cBhvr>
                                      <p:to>
                                        <p:strVal val="visible"/>
                                      </p:to>
                                    </p:set>
                                    <p:anim calcmode="lin" valueType="num">
                                      <p:cBhvr additive="base">
                                        <p:cTn id="65" dur="500" fill="hold"/>
                                        <p:tgtEl>
                                          <p:spTgt spid="904215">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904215">
                                            <p:txEl>
                                              <p:pRg st="2" end="2"/>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904215">
                                            <p:txEl>
                                              <p:pRg st="3" end="3"/>
                                            </p:txEl>
                                          </p:spTgt>
                                        </p:tgtEl>
                                        <p:attrNameLst>
                                          <p:attrName>style.visibility</p:attrName>
                                        </p:attrNameLst>
                                      </p:cBhvr>
                                      <p:to>
                                        <p:strVal val="visible"/>
                                      </p:to>
                                    </p:set>
                                    <p:anim calcmode="lin" valueType="num">
                                      <p:cBhvr additive="base">
                                        <p:cTn id="69" dur="500" fill="hold"/>
                                        <p:tgtEl>
                                          <p:spTgt spid="904215">
                                            <p:txEl>
                                              <p:pRg st="3" end="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904215">
                                            <p:txEl>
                                              <p:pRg st="3" end="3"/>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904215">
                                            <p:txEl>
                                              <p:pRg st="4" end="4"/>
                                            </p:txEl>
                                          </p:spTgt>
                                        </p:tgtEl>
                                        <p:attrNameLst>
                                          <p:attrName>style.visibility</p:attrName>
                                        </p:attrNameLst>
                                      </p:cBhvr>
                                      <p:to>
                                        <p:strVal val="visible"/>
                                      </p:to>
                                    </p:set>
                                    <p:anim calcmode="lin" valueType="num">
                                      <p:cBhvr additive="base">
                                        <p:cTn id="73" dur="500" fill="hold"/>
                                        <p:tgtEl>
                                          <p:spTgt spid="904215">
                                            <p:txEl>
                                              <p:pRg st="4" end="4"/>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9042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236" grpId="0"/>
      <p:bldP spid="904240" grpId="0"/>
      <p:bldP spid="90424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6.1.2</a:t>
            </a:r>
            <a:r>
              <a:rPr>
                <a:sym typeface="+mn-ea"/>
              </a:rPr>
              <a:t>存储管理的基本功能</a:t>
            </a:r>
            <a:r>
              <a:rPr lang="en-US" altLang="zh-CN">
                <a:sym typeface="+mn-ea"/>
              </a:rPr>
              <a:t>——</a:t>
            </a:r>
            <a:r>
              <a:rPr lang="zh-CN" altLang="en-US"/>
              <a:t>内存的扩充</a:t>
            </a:r>
          </a:p>
        </p:txBody>
      </p:sp>
      <p:sp>
        <p:nvSpPr>
          <p:cNvPr id="3" name="内容占位符 2"/>
          <p:cNvSpPr>
            <a:spLocks noGrp="1"/>
          </p:cNvSpPr>
          <p:nvPr>
            <p:ph idx="1"/>
          </p:nvPr>
        </p:nvSpPr>
        <p:spPr>
          <a:xfrm>
            <a:off x="608330" y="1227456"/>
            <a:ext cx="10968990" cy="3664034"/>
          </a:xfrm>
        </p:spPr>
        <p:txBody>
          <a:bodyPr>
            <a:normAutofit/>
          </a:bodyPr>
          <a:lstStyle/>
          <a:p>
            <a:pPr>
              <a:lnSpc>
                <a:spcPct val="150000"/>
              </a:lnSpc>
            </a:pPr>
            <a:r>
              <a:rPr lang="zh-CN" altLang="en-US" sz="2800" dirty="0"/>
              <a:t>存储管理需要通过软件方法在有限的内存空间运行比内存容量大得多的作业，从而让用户感觉到内存空间变大了。这种软件方法称为内存扩充技术，其本质仅是逻辑上的扩充。</a:t>
            </a:r>
          </a:p>
          <a:p>
            <a:pPr>
              <a:lnSpc>
                <a:spcPct val="150000"/>
              </a:lnSpc>
            </a:pPr>
            <a:r>
              <a:rPr lang="zh-CN" altLang="en-US" sz="2800" dirty="0"/>
              <a:t>早期的覆盖技术和交换技术、现代操作系统普遍采用的虚拟内存技术都属于内存扩充技术。</a:t>
            </a:r>
          </a:p>
        </p:txBody>
      </p:sp>
    </p:spTree>
    <p:custDataLst>
      <p:tags r:id="rId1"/>
    </p:custData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DAC8BB-5AB6-4E4E-8E91-79377BC9F2AD}"/>
              </a:ext>
            </a:extLst>
          </p:cNvPr>
          <p:cNvSpPr>
            <a:spLocks noGrp="1"/>
          </p:cNvSpPr>
          <p:nvPr>
            <p:ph type="title"/>
          </p:nvPr>
        </p:nvSpPr>
        <p:spPr>
          <a:xfrm>
            <a:off x="957642" y="255530"/>
            <a:ext cx="4338753" cy="705600"/>
          </a:xfrm>
        </p:spPr>
        <p:txBody>
          <a:bodyPr/>
          <a:lstStyle/>
          <a:p>
            <a:r>
              <a:rPr lang="zh-CN" altLang="en-US" dirty="0"/>
              <a:t>课堂练习</a:t>
            </a:r>
          </a:p>
        </p:txBody>
      </p:sp>
      <p:sp>
        <p:nvSpPr>
          <p:cNvPr id="3" name="内容占位符 2">
            <a:extLst>
              <a:ext uri="{FF2B5EF4-FFF2-40B4-BE49-F238E27FC236}">
                <a16:creationId xmlns:a16="http://schemas.microsoft.com/office/drawing/2014/main" id="{03318533-57BA-4CC8-B721-0098284ADD72}"/>
              </a:ext>
            </a:extLst>
          </p:cNvPr>
          <p:cNvSpPr>
            <a:spLocks noGrp="1"/>
          </p:cNvSpPr>
          <p:nvPr>
            <p:ph idx="1"/>
          </p:nvPr>
        </p:nvSpPr>
        <p:spPr>
          <a:xfrm>
            <a:off x="608330" y="1227456"/>
            <a:ext cx="10968990" cy="1990408"/>
          </a:xfrm>
        </p:spPr>
        <p:txBody>
          <a:bodyPr>
            <a:normAutofit/>
          </a:bodyPr>
          <a:lstStyle/>
          <a:p>
            <a:pPr marL="0" indent="0">
              <a:buNone/>
            </a:pPr>
            <a:r>
              <a:rPr lang="en-US" altLang="zh-CN" sz="2800" dirty="0"/>
              <a:t>1. </a:t>
            </a:r>
            <a:r>
              <a:rPr lang="zh-CN" altLang="en-US" sz="2800" dirty="0"/>
              <a:t>存储管理的目的是</a:t>
            </a:r>
            <a:r>
              <a:rPr lang="en-US" altLang="zh-CN" sz="2800" dirty="0"/>
              <a:t>(    ) </a:t>
            </a:r>
            <a:r>
              <a:rPr lang="zh-CN" altLang="en-US" sz="2800" dirty="0"/>
              <a:t>。</a:t>
            </a:r>
          </a:p>
          <a:p>
            <a:pPr marL="0" indent="0">
              <a:buNone/>
            </a:pPr>
            <a:r>
              <a:rPr lang="en-US" altLang="zh-CN" sz="2800" dirty="0"/>
              <a:t>A</a:t>
            </a:r>
            <a:r>
              <a:rPr lang="zh-CN" altLang="en-US" sz="2800" dirty="0"/>
              <a:t>、方便用户              　　　　  </a:t>
            </a:r>
            <a:r>
              <a:rPr lang="en-US" altLang="zh-CN" sz="2800" dirty="0"/>
              <a:t>B</a:t>
            </a:r>
            <a:r>
              <a:rPr lang="zh-CN" altLang="en-US" sz="2800" dirty="0"/>
              <a:t>、提高主存空间利用率 </a:t>
            </a:r>
          </a:p>
          <a:p>
            <a:pPr marL="0" indent="0">
              <a:buNone/>
            </a:pPr>
            <a:r>
              <a:rPr lang="en-US" altLang="zh-CN" sz="2800" dirty="0"/>
              <a:t>C</a:t>
            </a:r>
            <a:r>
              <a:rPr lang="zh-CN" altLang="en-US" sz="2800" dirty="0"/>
              <a:t>、方便用户和提高主存利用率  </a:t>
            </a:r>
            <a:r>
              <a:rPr lang="en-US" altLang="zh-CN" sz="2800" dirty="0"/>
              <a:t>D</a:t>
            </a:r>
            <a:r>
              <a:rPr lang="zh-CN" altLang="en-US" sz="2800" dirty="0"/>
              <a:t>、增加主存实际容量</a:t>
            </a:r>
          </a:p>
        </p:txBody>
      </p:sp>
      <p:sp>
        <p:nvSpPr>
          <p:cNvPr id="4" name="文本框 3">
            <a:extLst>
              <a:ext uri="{FF2B5EF4-FFF2-40B4-BE49-F238E27FC236}">
                <a16:creationId xmlns:a16="http://schemas.microsoft.com/office/drawing/2014/main" id="{F581EBC0-EA0A-4F30-BCF2-50F23F0D23C7}"/>
              </a:ext>
            </a:extLst>
          </p:cNvPr>
          <p:cNvSpPr txBox="1"/>
          <p:nvPr/>
        </p:nvSpPr>
        <p:spPr>
          <a:xfrm>
            <a:off x="608330" y="4025733"/>
            <a:ext cx="10632675" cy="1845762"/>
          </a:xfrm>
          <a:prstGeom prst="rect">
            <a:avLst/>
          </a:prstGeom>
          <a:noFill/>
        </p:spPr>
        <p:txBody>
          <a:bodyPr wrap="square" rtlCol="0">
            <a:spAutoFit/>
          </a:bodyPr>
          <a:lstStyle/>
          <a:p>
            <a:pPr>
              <a:lnSpc>
                <a:spcPct val="130000"/>
              </a:lnSpc>
              <a:spcAft>
                <a:spcPts val="1000"/>
              </a:spcAft>
              <a:buClr>
                <a:srgbClr val="2094CE"/>
              </a:buClr>
              <a:buSzPct val="80000"/>
            </a:pPr>
            <a:r>
              <a:rPr lang="en-US" altLang="zh-CN" sz="2800" spc="150" noProof="1">
                <a:latin typeface="Arial" panose="020B0604020202020204" pitchFamily="34" charset="0"/>
                <a:ea typeface="微软雅黑" panose="020B0503020204020204" pitchFamily="34" charset="-122"/>
                <a:sym typeface="+mn-ea"/>
              </a:rPr>
              <a:t>2.</a:t>
            </a:r>
            <a:r>
              <a:rPr lang="zh-CN" altLang="en-US" sz="2800" spc="150" noProof="1">
                <a:latin typeface="Arial" panose="020B0604020202020204" pitchFamily="34" charset="0"/>
                <a:ea typeface="微软雅黑" panose="020B0503020204020204" pitchFamily="34" charset="-122"/>
                <a:sym typeface="+mn-ea"/>
              </a:rPr>
              <a:t> 动态重定位是在作业的</a:t>
            </a:r>
            <a:r>
              <a:rPr lang="en-US" altLang="zh-CN" sz="2800" spc="150" noProof="1">
                <a:latin typeface="Arial" panose="020B0604020202020204" pitchFamily="34" charset="0"/>
                <a:ea typeface="微软雅黑" panose="020B0503020204020204" pitchFamily="34" charset="-122"/>
                <a:sym typeface="+mn-ea"/>
              </a:rPr>
              <a:t>(    )</a:t>
            </a:r>
            <a:r>
              <a:rPr lang="zh-CN" altLang="en-US" sz="2800" spc="150" noProof="1">
                <a:latin typeface="Arial" panose="020B0604020202020204" pitchFamily="34" charset="0"/>
                <a:ea typeface="微软雅黑" panose="020B0503020204020204" pitchFamily="34" charset="-122"/>
                <a:sym typeface="+mn-ea"/>
              </a:rPr>
              <a:t>中进行的。</a:t>
            </a:r>
          </a:p>
          <a:p>
            <a:pPr>
              <a:lnSpc>
                <a:spcPct val="130000"/>
              </a:lnSpc>
              <a:spcAft>
                <a:spcPts val="1000"/>
              </a:spcAft>
              <a:buClr>
                <a:srgbClr val="2094CE"/>
              </a:buClr>
              <a:buSzPct val="80000"/>
            </a:pPr>
            <a:r>
              <a:rPr lang="en-US" altLang="zh-CN" sz="2800" spc="150" noProof="1">
                <a:latin typeface="Arial" panose="020B0604020202020204" pitchFamily="34" charset="0"/>
                <a:ea typeface="微软雅黑" panose="020B0503020204020204" pitchFamily="34" charset="-122"/>
                <a:sym typeface="+mn-ea"/>
              </a:rPr>
              <a:t>A</a:t>
            </a:r>
            <a:r>
              <a:rPr lang="zh-CN" altLang="en-US" sz="2800" spc="150" noProof="1">
                <a:latin typeface="Arial" panose="020B0604020202020204" pitchFamily="34" charset="0"/>
                <a:ea typeface="微软雅黑" panose="020B0503020204020204" pitchFamily="34" charset="-122"/>
                <a:sym typeface="+mn-ea"/>
              </a:rPr>
              <a:t>、编译过程  　　</a:t>
            </a:r>
            <a:r>
              <a:rPr lang="en-US" altLang="zh-CN" sz="2800" spc="150" noProof="1">
                <a:latin typeface="Arial" panose="020B0604020202020204" pitchFamily="34" charset="0"/>
                <a:ea typeface="微软雅黑" panose="020B0503020204020204" pitchFamily="34" charset="-122"/>
                <a:sym typeface="+mn-ea"/>
              </a:rPr>
              <a:t>B</a:t>
            </a:r>
            <a:r>
              <a:rPr lang="zh-CN" altLang="en-US" sz="2800" spc="150" noProof="1">
                <a:latin typeface="Arial" panose="020B0604020202020204" pitchFamily="34" charset="0"/>
                <a:ea typeface="微软雅黑" panose="020B0503020204020204" pitchFamily="34" charset="-122"/>
                <a:sym typeface="+mn-ea"/>
              </a:rPr>
              <a:t>、装入过程 　　</a:t>
            </a:r>
            <a:r>
              <a:rPr lang="en-US" altLang="zh-CN" sz="2800" spc="150" noProof="1">
                <a:latin typeface="Arial" panose="020B0604020202020204" pitchFamily="34" charset="0"/>
                <a:ea typeface="微软雅黑" panose="020B0503020204020204" pitchFamily="34" charset="-122"/>
                <a:sym typeface="+mn-ea"/>
              </a:rPr>
              <a:t>C</a:t>
            </a:r>
            <a:r>
              <a:rPr lang="zh-CN" altLang="en-US" sz="2800" spc="150" noProof="1">
                <a:latin typeface="Arial" panose="020B0604020202020204" pitchFamily="34" charset="0"/>
                <a:ea typeface="微软雅黑" panose="020B0503020204020204" pitchFamily="34" charset="-122"/>
                <a:sym typeface="+mn-ea"/>
              </a:rPr>
              <a:t>、修改过程 　　</a:t>
            </a:r>
            <a:r>
              <a:rPr lang="en-US" altLang="zh-CN" sz="2800" spc="150" noProof="1">
                <a:latin typeface="Arial" panose="020B0604020202020204" pitchFamily="34" charset="0"/>
                <a:ea typeface="微软雅黑" panose="020B0503020204020204" pitchFamily="34" charset="-122"/>
                <a:sym typeface="+mn-ea"/>
              </a:rPr>
              <a:t>D</a:t>
            </a:r>
            <a:r>
              <a:rPr lang="zh-CN" altLang="en-US" sz="2800" spc="150" noProof="1">
                <a:latin typeface="Arial" panose="020B0604020202020204" pitchFamily="34" charset="0"/>
                <a:ea typeface="微软雅黑" panose="020B0503020204020204" pitchFamily="34" charset="-122"/>
                <a:sym typeface="+mn-ea"/>
              </a:rPr>
              <a:t>、执行过程</a:t>
            </a:r>
          </a:p>
        </p:txBody>
      </p:sp>
    </p:spTree>
    <p:extLst>
      <p:ext uri="{BB962C8B-B14F-4D97-AF65-F5344CB8AC3E}">
        <p14:creationId xmlns:p14="http://schemas.microsoft.com/office/powerpoint/2010/main" val="173953083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1C97A5-EDE5-4660-A1CF-75B2EC84DD31}"/>
              </a:ext>
            </a:extLst>
          </p:cNvPr>
          <p:cNvSpPr>
            <a:spLocks noGrp="1"/>
          </p:cNvSpPr>
          <p:nvPr>
            <p:ph type="title"/>
          </p:nvPr>
        </p:nvSpPr>
        <p:spPr>
          <a:xfrm>
            <a:off x="1076395" y="114370"/>
            <a:ext cx="4516883" cy="705600"/>
          </a:xfrm>
        </p:spPr>
        <p:txBody>
          <a:bodyPr/>
          <a:lstStyle/>
          <a:p>
            <a:r>
              <a:rPr lang="zh-CN" altLang="en-US" dirty="0"/>
              <a:t>课堂练习</a:t>
            </a:r>
          </a:p>
        </p:txBody>
      </p:sp>
      <p:sp>
        <p:nvSpPr>
          <p:cNvPr id="3" name="内容占位符 2">
            <a:extLst>
              <a:ext uri="{FF2B5EF4-FFF2-40B4-BE49-F238E27FC236}">
                <a16:creationId xmlns:a16="http://schemas.microsoft.com/office/drawing/2014/main" id="{5D263F50-E3F4-4910-9285-B442803BDD6E}"/>
              </a:ext>
            </a:extLst>
          </p:cNvPr>
          <p:cNvSpPr>
            <a:spLocks noGrp="1"/>
          </p:cNvSpPr>
          <p:nvPr>
            <p:ph idx="1"/>
          </p:nvPr>
        </p:nvSpPr>
        <p:spPr>
          <a:xfrm>
            <a:off x="693544" y="996030"/>
            <a:ext cx="10637602" cy="2102450"/>
          </a:xfrm>
        </p:spPr>
        <p:txBody>
          <a:bodyPr>
            <a:normAutofit/>
          </a:bodyPr>
          <a:lstStyle/>
          <a:p>
            <a:pPr marL="0" indent="0">
              <a:buNone/>
            </a:pPr>
            <a:r>
              <a:rPr lang="en-US" altLang="zh-CN" sz="2800" dirty="0"/>
              <a:t>3. </a:t>
            </a:r>
            <a:r>
              <a:rPr lang="zh-CN" altLang="en-US" sz="2800" dirty="0"/>
              <a:t>提高主存利用率主要是通过</a:t>
            </a:r>
            <a:r>
              <a:rPr lang="en-US" altLang="zh-CN" sz="2800" dirty="0"/>
              <a:t>(    )</a:t>
            </a:r>
            <a:r>
              <a:rPr lang="zh-CN" altLang="en-US" sz="2800" dirty="0"/>
              <a:t>实现的。</a:t>
            </a:r>
          </a:p>
          <a:p>
            <a:pPr marL="0" indent="0">
              <a:buNone/>
            </a:pPr>
            <a:r>
              <a:rPr lang="en-US" altLang="zh-CN" sz="2800" dirty="0"/>
              <a:t>A</a:t>
            </a:r>
            <a:r>
              <a:rPr lang="zh-CN" altLang="en-US" sz="2800" dirty="0"/>
              <a:t>、内存分配 　　</a:t>
            </a:r>
            <a:r>
              <a:rPr lang="en-US" altLang="zh-CN" sz="2800" dirty="0"/>
              <a:t>B</a:t>
            </a:r>
            <a:r>
              <a:rPr lang="zh-CN" altLang="en-US" sz="2800" dirty="0"/>
              <a:t>、内存保护 　　</a:t>
            </a:r>
            <a:r>
              <a:rPr lang="en-US" altLang="zh-CN" sz="2800" dirty="0"/>
              <a:t>C</a:t>
            </a:r>
            <a:r>
              <a:rPr lang="zh-CN" altLang="en-US" sz="2800" dirty="0"/>
              <a:t>、地址转换　　 </a:t>
            </a:r>
            <a:r>
              <a:rPr lang="en-US" altLang="zh-CN" sz="2800" dirty="0"/>
              <a:t>D</a:t>
            </a:r>
            <a:r>
              <a:rPr lang="zh-CN" altLang="en-US" sz="2800" dirty="0"/>
              <a:t>、内存扩充</a:t>
            </a:r>
          </a:p>
        </p:txBody>
      </p:sp>
      <p:sp>
        <p:nvSpPr>
          <p:cNvPr id="4" name="文本框 3">
            <a:extLst>
              <a:ext uri="{FF2B5EF4-FFF2-40B4-BE49-F238E27FC236}">
                <a16:creationId xmlns:a16="http://schemas.microsoft.com/office/drawing/2014/main" id="{DD057B10-8531-36B1-1336-4515AB7E8845}"/>
              </a:ext>
            </a:extLst>
          </p:cNvPr>
          <p:cNvSpPr txBox="1"/>
          <p:nvPr/>
        </p:nvSpPr>
        <p:spPr>
          <a:xfrm>
            <a:off x="716692" y="3274540"/>
            <a:ext cx="10614454" cy="3247877"/>
          </a:xfrm>
          <a:prstGeom prst="rect">
            <a:avLst/>
          </a:prstGeom>
          <a:noFill/>
        </p:spPr>
        <p:txBody>
          <a:bodyPr wrap="square" rtlCol="0">
            <a:spAutoFit/>
          </a:bodyPr>
          <a:lstStyle/>
          <a:p>
            <a:pPr>
              <a:lnSpc>
                <a:spcPct val="150000"/>
              </a:lnSpc>
            </a:pPr>
            <a:r>
              <a:rPr lang="en-US" altLang="zh-CN" sz="2800" dirty="0">
                <a:latin typeface="+mn-ea"/>
              </a:rPr>
              <a:t>4. </a:t>
            </a:r>
            <a:r>
              <a:rPr lang="zh-CN" altLang="en-US" sz="2800" dirty="0">
                <a:latin typeface="+mn-ea"/>
              </a:rPr>
              <a:t>下列哪种是内存保护的核心目的？（ ）</a:t>
            </a:r>
          </a:p>
          <a:p>
            <a:pPr>
              <a:lnSpc>
                <a:spcPct val="150000"/>
              </a:lnSpc>
            </a:pPr>
            <a:r>
              <a:rPr lang="en-US" altLang="zh-CN" sz="2800" dirty="0">
                <a:latin typeface="+mn-ea"/>
              </a:rPr>
              <a:t>A</a:t>
            </a:r>
            <a:r>
              <a:rPr lang="zh-CN" altLang="en-US" sz="2800" dirty="0">
                <a:latin typeface="+mn-ea"/>
              </a:rPr>
              <a:t>、</a:t>
            </a:r>
            <a:r>
              <a:rPr lang="en-US" altLang="zh-CN" sz="2800" dirty="0">
                <a:latin typeface="+mn-ea"/>
              </a:rPr>
              <a:t> </a:t>
            </a:r>
            <a:r>
              <a:rPr lang="zh-CN" altLang="en-US" sz="2800" dirty="0">
                <a:latin typeface="+mn-ea"/>
              </a:rPr>
              <a:t>提高内存空间的利用率</a:t>
            </a:r>
          </a:p>
          <a:p>
            <a:pPr>
              <a:lnSpc>
                <a:spcPct val="150000"/>
              </a:lnSpc>
            </a:pPr>
            <a:r>
              <a:rPr lang="en-US" altLang="zh-CN" sz="2800" dirty="0">
                <a:latin typeface="+mn-ea"/>
              </a:rPr>
              <a:t>B</a:t>
            </a:r>
            <a:r>
              <a:rPr lang="zh-CN" altLang="en-US" sz="2800" dirty="0">
                <a:latin typeface="+mn-ea"/>
              </a:rPr>
              <a:t>、</a:t>
            </a:r>
            <a:r>
              <a:rPr lang="en-US" altLang="zh-CN" sz="2800" dirty="0">
                <a:latin typeface="+mn-ea"/>
              </a:rPr>
              <a:t> </a:t>
            </a:r>
            <a:r>
              <a:rPr lang="zh-CN" altLang="en-US" sz="2800" dirty="0">
                <a:latin typeface="+mn-ea"/>
              </a:rPr>
              <a:t>防止程序非法访问其他程序的内存区域</a:t>
            </a:r>
          </a:p>
          <a:p>
            <a:pPr>
              <a:lnSpc>
                <a:spcPct val="150000"/>
              </a:lnSpc>
            </a:pPr>
            <a:r>
              <a:rPr lang="en-US" altLang="zh-CN" sz="2800" dirty="0">
                <a:latin typeface="+mn-ea"/>
              </a:rPr>
              <a:t>C</a:t>
            </a:r>
            <a:r>
              <a:rPr lang="zh-CN" altLang="en-US" sz="2800" dirty="0">
                <a:latin typeface="+mn-ea"/>
              </a:rPr>
              <a:t>、</a:t>
            </a:r>
            <a:r>
              <a:rPr lang="en-US" altLang="zh-CN" sz="2800" dirty="0">
                <a:latin typeface="+mn-ea"/>
              </a:rPr>
              <a:t> </a:t>
            </a:r>
            <a:r>
              <a:rPr lang="zh-CN" altLang="en-US" sz="2800" dirty="0">
                <a:latin typeface="+mn-ea"/>
              </a:rPr>
              <a:t>加快地址转换的速度</a:t>
            </a:r>
          </a:p>
          <a:p>
            <a:pPr>
              <a:lnSpc>
                <a:spcPct val="150000"/>
              </a:lnSpc>
            </a:pPr>
            <a:r>
              <a:rPr lang="en-US" altLang="zh-CN" sz="2800" dirty="0">
                <a:latin typeface="+mn-ea"/>
              </a:rPr>
              <a:t>D</a:t>
            </a:r>
            <a:r>
              <a:rPr lang="zh-CN" altLang="en-US" sz="2800" dirty="0">
                <a:latin typeface="+mn-ea"/>
              </a:rPr>
              <a:t>、</a:t>
            </a:r>
            <a:r>
              <a:rPr lang="en-US" altLang="zh-CN" sz="2800" dirty="0">
                <a:latin typeface="+mn-ea"/>
              </a:rPr>
              <a:t> </a:t>
            </a:r>
            <a:r>
              <a:rPr lang="zh-CN" altLang="en-US" sz="2800" dirty="0">
                <a:latin typeface="+mn-ea"/>
              </a:rPr>
              <a:t>实现内存的动态分配与回收</a:t>
            </a:r>
          </a:p>
        </p:txBody>
      </p:sp>
    </p:spTree>
    <p:extLst>
      <p:ext uri="{BB962C8B-B14F-4D97-AF65-F5344CB8AC3E}">
        <p14:creationId xmlns:p14="http://schemas.microsoft.com/office/powerpoint/2010/main" val="25998345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图片包含 文本&#10;&#10;描述已自动生成">
            <a:extLst>
              <a:ext uri="{FF2B5EF4-FFF2-40B4-BE49-F238E27FC236}">
                <a16:creationId xmlns:a16="http://schemas.microsoft.com/office/drawing/2014/main" id="{486E5D2D-E739-0D13-9A6A-FB0CF60C89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0026" y="985652"/>
            <a:ext cx="8919528" cy="5343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045626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a:t>6.2  </a:t>
            </a:r>
            <a:r>
              <a:rPr>
                <a:sym typeface="+mn-ea"/>
              </a:rPr>
              <a:t>分区存储管理</a:t>
            </a:r>
            <a:endParaRPr lang="en-US" altLang="zh-CN"/>
          </a:p>
        </p:txBody>
      </p:sp>
      <p:sp>
        <p:nvSpPr>
          <p:cNvPr id="3" name="内容占位符 2"/>
          <p:cNvSpPr>
            <a:spLocks noGrp="1"/>
          </p:cNvSpPr>
          <p:nvPr>
            <p:ph idx="1"/>
          </p:nvPr>
        </p:nvSpPr>
        <p:spPr>
          <a:xfrm>
            <a:off x="2380087" y="1446848"/>
            <a:ext cx="7722235" cy="3542030"/>
          </a:xfrm>
        </p:spPr>
        <p:txBody>
          <a:bodyPr>
            <a:normAutofit/>
          </a:bodyPr>
          <a:lstStyle/>
          <a:p>
            <a:pPr>
              <a:buBlip>
                <a:blip r:embed="rId3"/>
              </a:buBlip>
            </a:pPr>
            <a:r>
              <a:rPr lang="en-US" altLang="zh-CN" sz="3200" dirty="0"/>
              <a:t> </a:t>
            </a:r>
            <a:r>
              <a:rPr lang="en-US" altLang="zh-CN" sz="3200" u="dottedHeavy" dirty="0">
                <a:solidFill>
                  <a:schemeClr val="tx1"/>
                </a:solidFill>
                <a:uFillTx/>
              </a:rPr>
              <a:t>6.2.1  </a:t>
            </a:r>
            <a:r>
              <a:rPr sz="3200" u="dottedHeavy" dirty="0">
                <a:solidFill>
                  <a:schemeClr val="tx1"/>
                </a:solidFill>
                <a:uFillTx/>
              </a:rPr>
              <a:t>固定分区存储管理</a:t>
            </a:r>
          </a:p>
          <a:p>
            <a:pPr>
              <a:buBlip>
                <a:blip r:embed="rId3"/>
              </a:buBlip>
            </a:pPr>
            <a:r>
              <a:rPr sz="3200" dirty="0"/>
              <a:t> </a:t>
            </a:r>
            <a:r>
              <a:rPr lang="en-US" altLang="zh-CN" sz="3200" u="dottedHeavy" dirty="0"/>
              <a:t>6.2.2  </a:t>
            </a:r>
            <a:r>
              <a:rPr sz="3200" u="dottedHeavy" dirty="0"/>
              <a:t>动态分区存储管理</a:t>
            </a:r>
          </a:p>
          <a:p>
            <a:pPr>
              <a:buBlip>
                <a:blip r:embed="rId3"/>
              </a:buBlip>
            </a:pPr>
            <a:r>
              <a:rPr lang="en-US" altLang="zh-CN" sz="3200" u="dottedHeavy" dirty="0"/>
              <a:t> 6.2.3  </a:t>
            </a:r>
            <a:r>
              <a:rPr sz="3200" u="dottedHeavy" dirty="0"/>
              <a:t>动态重定位分区存储管理</a:t>
            </a:r>
            <a:r>
              <a:rPr lang="en-US" altLang="zh-CN" sz="3200" u="dottedHeavy" dirty="0"/>
              <a:t>                    </a:t>
            </a:r>
          </a:p>
        </p:txBody>
      </p:sp>
      <p:sp>
        <p:nvSpPr>
          <p:cNvPr id="4" name="标题 1">
            <a:extLst>
              <a:ext uri="{FF2B5EF4-FFF2-40B4-BE49-F238E27FC236}">
                <a16:creationId xmlns:a16="http://schemas.microsoft.com/office/drawing/2014/main" id="{1034CEA9-8B34-43F0-B6A2-BDEA36AE8261}"/>
              </a:ext>
            </a:extLst>
          </p:cNvPr>
          <p:cNvSpPr txBox="1">
            <a:spLocks/>
          </p:cNvSpPr>
          <p:nvPr/>
        </p:nvSpPr>
        <p:spPr>
          <a:xfrm>
            <a:off x="2872144" y="3970274"/>
            <a:ext cx="4591646" cy="738886"/>
          </a:xfrm>
          <a:prstGeom prst="rect">
            <a:avLst/>
          </a:prstGeom>
        </p:spPr>
        <p:txBody>
          <a:bodyPr vert="horz" lIns="90000" tIns="46800" rIns="90000" bIns="46800" rtlCol="0" anchor="ctr" anchorCtr="0">
            <a:normAutofit fontScale="92500"/>
          </a:bodyPr>
          <a:lstStyle>
            <a:lvl1pPr marL="0" marR="0" algn="l" defTabSz="914400" rtl="0" eaLnBrk="1" fontAlgn="auto" latinLnBrk="0" hangingPunct="1">
              <a:lnSpc>
                <a:spcPct val="100000"/>
              </a:lnSpc>
              <a:spcBef>
                <a:spcPct val="0"/>
              </a:spcBef>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r>
              <a:rPr lang="zh-CN" altLang="en-US" dirty="0">
                <a:solidFill>
                  <a:srgbClr val="FF0000"/>
                </a:solidFill>
              </a:rPr>
              <a:t>属于连续分配存储管理</a:t>
            </a:r>
          </a:p>
        </p:txBody>
      </p:sp>
    </p:spTree>
    <p:custDataLst>
      <p:tags r:id="rId1"/>
    </p:custData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连续分配存储管理</a:t>
            </a:r>
          </a:p>
        </p:txBody>
      </p:sp>
      <p:sp>
        <p:nvSpPr>
          <p:cNvPr id="3" name="内容占位符 2"/>
          <p:cNvSpPr>
            <a:spLocks noGrp="1"/>
          </p:cNvSpPr>
          <p:nvPr>
            <p:ph idx="1"/>
          </p:nvPr>
        </p:nvSpPr>
        <p:spPr>
          <a:xfrm>
            <a:off x="185195" y="1051186"/>
            <a:ext cx="11759878" cy="5022215"/>
          </a:xfrm>
        </p:spPr>
        <p:txBody>
          <a:bodyPr>
            <a:noAutofit/>
          </a:bodyPr>
          <a:lstStyle/>
          <a:p>
            <a:r>
              <a:rPr lang="zh-CN" altLang="en-US" sz="2800" dirty="0"/>
              <a:t>连续分配存储管理方式是指为一个用户程序分配一个</a:t>
            </a:r>
            <a:r>
              <a:rPr lang="zh-CN" altLang="en-US" sz="2800" b="1" dirty="0">
                <a:solidFill>
                  <a:srgbClr val="FF0000"/>
                </a:solidFill>
              </a:rPr>
              <a:t>连续的内存空间</a:t>
            </a:r>
            <a:r>
              <a:rPr lang="zh-CN" altLang="en-US" sz="2800" dirty="0"/>
              <a:t>。</a:t>
            </a:r>
          </a:p>
          <a:p>
            <a:pPr lvl="1"/>
            <a:r>
              <a:rPr lang="zh-CN" altLang="en-US" sz="2800" b="1" dirty="0"/>
              <a:t>单一连续分配存储管理</a:t>
            </a:r>
            <a:r>
              <a:rPr lang="zh-CN" altLang="en-US" sz="2800" dirty="0"/>
              <a:t>：内存的用户区仅装入一个程序 </a:t>
            </a:r>
            <a:endParaRPr lang="en-US" altLang="zh-CN" sz="2800" dirty="0"/>
          </a:p>
          <a:p>
            <a:pPr lvl="1"/>
            <a:endParaRPr lang="zh-CN" altLang="en-US" sz="2800" dirty="0"/>
          </a:p>
          <a:p>
            <a:pPr lvl="1"/>
            <a:r>
              <a:rPr sz="2800" b="1" dirty="0">
                <a:sym typeface="+mn-ea"/>
              </a:rPr>
              <a:t>分区存储管理</a:t>
            </a:r>
            <a:r>
              <a:rPr sz="2800" dirty="0">
                <a:sym typeface="+mn-ea"/>
              </a:rPr>
              <a:t>：将内存的用户区划</a:t>
            </a:r>
            <a:r>
              <a:rPr sz="2800" dirty="0">
                <a:solidFill>
                  <a:srgbClr val="FF0000"/>
                </a:solidFill>
                <a:sym typeface="+mn-ea"/>
              </a:rPr>
              <a:t>分成多个区域</a:t>
            </a:r>
            <a:r>
              <a:rPr sz="2800" dirty="0">
                <a:sym typeface="+mn-ea"/>
              </a:rPr>
              <a:t>，每个区域称为一个分区，每个分区</a:t>
            </a:r>
            <a:r>
              <a:rPr lang="zh-CN" altLang="en-US" sz="2800" dirty="0">
                <a:sym typeface="+mn-ea"/>
              </a:rPr>
              <a:t>可</a:t>
            </a:r>
            <a:r>
              <a:rPr lang="zh-CN" altLang="en-US" sz="2800" dirty="0"/>
              <a:t>装入一个用户程序，可以实现多道程序同时运行。分区存储管理又分为：</a:t>
            </a:r>
          </a:p>
          <a:p>
            <a:pPr lvl="2"/>
            <a:r>
              <a:rPr lang="zh-CN" altLang="en-US" sz="2800" b="1" dirty="0">
                <a:solidFill>
                  <a:srgbClr val="0000FF"/>
                </a:solidFill>
                <a:latin typeface="华文楷体" panose="02010600040101010101" pitchFamily="2" charset="-122"/>
                <a:ea typeface="华文楷体" panose="02010600040101010101" pitchFamily="2" charset="-122"/>
              </a:rPr>
              <a:t>固定分区存储管理</a:t>
            </a:r>
          </a:p>
          <a:p>
            <a:pPr lvl="2"/>
            <a:r>
              <a:rPr lang="zh-CN" altLang="en-US" sz="2800" b="1" dirty="0">
                <a:solidFill>
                  <a:srgbClr val="0000FF"/>
                </a:solidFill>
                <a:latin typeface="华文楷体" panose="02010600040101010101" pitchFamily="2" charset="-122"/>
                <a:ea typeface="华文楷体" panose="02010600040101010101" pitchFamily="2" charset="-122"/>
              </a:rPr>
              <a:t>动态分区存储管理</a:t>
            </a:r>
          </a:p>
          <a:p>
            <a:pPr lvl="2"/>
            <a:r>
              <a:rPr lang="zh-CN" altLang="en-US" sz="2800" b="1" dirty="0">
                <a:solidFill>
                  <a:srgbClr val="0000FF"/>
                </a:solidFill>
                <a:latin typeface="华文楷体" panose="02010600040101010101" pitchFamily="2" charset="-122"/>
                <a:ea typeface="华文楷体" panose="02010600040101010101" pitchFamily="2" charset="-122"/>
              </a:rPr>
              <a:t>动态重定位分区存储管理</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6.2.1  固定分区存储管理</a:t>
            </a:r>
            <a:endParaRPr lang="zh-CN" altLang="en-US"/>
          </a:p>
        </p:txBody>
      </p:sp>
      <p:sp>
        <p:nvSpPr>
          <p:cNvPr id="3" name="内容占位符 2"/>
          <p:cNvSpPr>
            <a:spLocks noGrp="1"/>
          </p:cNvSpPr>
          <p:nvPr>
            <p:ph idx="1"/>
          </p:nvPr>
        </p:nvSpPr>
        <p:spPr>
          <a:xfrm>
            <a:off x="608330" y="1227456"/>
            <a:ext cx="10968990" cy="3917422"/>
          </a:xfrm>
        </p:spPr>
        <p:txBody>
          <a:bodyPr>
            <a:normAutofit/>
          </a:bodyPr>
          <a:lstStyle/>
          <a:p>
            <a:pPr>
              <a:lnSpc>
                <a:spcPct val="150000"/>
              </a:lnSpc>
            </a:pPr>
            <a:r>
              <a:rPr lang="zh-CN" altLang="en-US" sz="2800" dirty="0"/>
              <a:t>固定分区存储管理是指系统在</a:t>
            </a:r>
            <a:r>
              <a:rPr lang="zh-CN" altLang="en-US" sz="2800" dirty="0">
                <a:solidFill>
                  <a:srgbClr val="FF0000"/>
                </a:solidFill>
              </a:rPr>
              <a:t>初始化时</a:t>
            </a:r>
            <a:r>
              <a:rPr lang="zh-CN" altLang="en-US" sz="2800" dirty="0"/>
              <a:t>，把用户区划分成</a:t>
            </a:r>
            <a:r>
              <a:rPr lang="zh-CN" altLang="en-US" sz="2800" dirty="0">
                <a:solidFill>
                  <a:srgbClr val="FF0000"/>
                </a:solidFill>
              </a:rPr>
              <a:t>若干固定大小</a:t>
            </a:r>
            <a:r>
              <a:rPr lang="zh-CN" altLang="en-US" sz="2800" dirty="0"/>
              <a:t>的区域，在每个分区中可装入一个程序。分区一旦划分好，在系统运行期间就</a:t>
            </a:r>
            <a:r>
              <a:rPr lang="zh-CN" altLang="en-US" sz="2800" dirty="0">
                <a:solidFill>
                  <a:srgbClr val="FF0000"/>
                </a:solidFill>
              </a:rPr>
              <a:t>不能再重新划分</a:t>
            </a:r>
            <a:r>
              <a:rPr lang="zh-CN" altLang="en-US" sz="2800" dirty="0"/>
              <a:t>。</a:t>
            </a:r>
          </a:p>
          <a:p>
            <a:pPr lvl="1">
              <a:lnSpc>
                <a:spcPct val="150000"/>
              </a:lnSpc>
            </a:pPr>
            <a:r>
              <a:rPr lang="zh-CN" altLang="en-US" sz="2800" dirty="0"/>
              <a:t>“固定”的含义：</a:t>
            </a:r>
            <a:r>
              <a:rPr lang="zh-CN" altLang="en-US" sz="2800" b="1" dirty="0">
                <a:solidFill>
                  <a:srgbClr val="0000FF"/>
                </a:solidFill>
              </a:rPr>
              <a:t>分区的数目</a:t>
            </a:r>
            <a:r>
              <a:rPr lang="zh-CN" altLang="en-US" sz="2800" dirty="0"/>
              <a:t>和</a:t>
            </a:r>
            <a:r>
              <a:rPr lang="zh-CN" altLang="en-US" sz="2800" b="1" dirty="0">
                <a:solidFill>
                  <a:srgbClr val="0000FF"/>
                </a:solidFill>
              </a:rPr>
              <a:t>每个分区的大小</a:t>
            </a:r>
            <a:r>
              <a:rPr lang="zh-CN" altLang="en-US" sz="2800" dirty="0"/>
              <a:t>是固定的。</a:t>
            </a:r>
          </a:p>
          <a:p>
            <a:pPr lvl="1">
              <a:lnSpc>
                <a:spcPct val="150000"/>
              </a:lnSpc>
            </a:pPr>
            <a:r>
              <a:rPr lang="zh-CN" altLang="en-US" sz="2800" dirty="0">
                <a:solidFill>
                  <a:srgbClr val="0000FF"/>
                </a:solidFill>
              </a:rPr>
              <a:t>两种固定分区的划分方式：分区大小相等、分区大小不等</a:t>
            </a:r>
            <a:r>
              <a:rPr lang="zh-CN" altLang="en-US" sz="2800" dirty="0"/>
              <a:t>。</a:t>
            </a:r>
          </a:p>
        </p:txBody>
      </p:sp>
    </p:spTree>
    <p:custDataLst>
      <p:tags r:id="rId1"/>
    </p:custData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1.</a:t>
            </a:r>
            <a:r>
              <a:rPr>
                <a:sym typeface="+mn-ea"/>
              </a:rPr>
              <a:t>固定分区的划分方式</a:t>
            </a:r>
          </a:p>
        </p:txBody>
      </p:sp>
      <p:sp>
        <p:nvSpPr>
          <p:cNvPr id="3" name="内容占位符 2"/>
          <p:cNvSpPr>
            <a:spLocks noGrp="1"/>
          </p:cNvSpPr>
          <p:nvPr>
            <p:ph idx="1"/>
          </p:nvPr>
        </p:nvSpPr>
        <p:spPr>
          <a:xfrm>
            <a:off x="608330" y="1227455"/>
            <a:ext cx="6683721" cy="5022215"/>
          </a:xfrm>
        </p:spPr>
        <p:txBody>
          <a:bodyPr>
            <a:normAutofit/>
          </a:bodyPr>
          <a:lstStyle/>
          <a:p>
            <a:pPr marL="0" indent="0">
              <a:buNone/>
            </a:pPr>
            <a:r>
              <a:rPr lang="en-US" altLang="zh-CN" b="1" dirty="0"/>
              <a:t>(1)</a:t>
            </a:r>
            <a:r>
              <a:rPr lang="zh-CN" altLang="en-US" b="1" dirty="0"/>
              <a:t>分区大小相等</a:t>
            </a:r>
            <a:r>
              <a:rPr lang="zh-CN" altLang="en-US" dirty="0"/>
              <a:t>，</a:t>
            </a:r>
            <a:r>
              <a:rPr lang="en-US" altLang="zh-CN" dirty="0"/>
              <a:t>如图6-4(a)</a:t>
            </a:r>
            <a:r>
              <a:rPr lang="en-US" altLang="zh-CN" dirty="0" err="1"/>
              <a:t>所示</a:t>
            </a:r>
            <a:r>
              <a:rPr dirty="0"/>
              <a:t>。</a:t>
            </a:r>
          </a:p>
          <a:p>
            <a:pPr lvl="0"/>
            <a:r>
              <a:rPr dirty="0"/>
              <a:t>缺点：</a:t>
            </a:r>
            <a:r>
              <a:rPr dirty="0">
                <a:sym typeface="+mn-ea"/>
              </a:rPr>
              <a:t>缺乏灵活性。</a:t>
            </a:r>
          </a:p>
          <a:p>
            <a:pPr lvl="1"/>
            <a:r>
              <a:rPr dirty="0"/>
              <a:t>若程序小于分区容量，则内部碎片严重，</a:t>
            </a:r>
            <a:r>
              <a:rPr dirty="0">
                <a:sym typeface="+mn-ea"/>
              </a:rPr>
              <a:t>内存利用率低下。</a:t>
            </a:r>
          </a:p>
          <a:p>
            <a:pPr lvl="1"/>
            <a:r>
              <a:rPr dirty="0">
                <a:sym typeface="+mn-ea"/>
              </a:rPr>
              <a:t>若程序大于分区容量，则无法装入到分区中，致使该程序无法运行。</a:t>
            </a:r>
          </a:p>
          <a:p>
            <a:pPr marL="457200" lvl="1" indent="0">
              <a:buNone/>
            </a:pPr>
            <a:endParaRPr dirty="0">
              <a:sym typeface="+mn-ea"/>
            </a:endParaRPr>
          </a:p>
          <a:p>
            <a:pPr marL="457200" lvl="1" indent="0">
              <a:buNone/>
            </a:pPr>
            <a:r>
              <a:rPr sz="2000" dirty="0">
                <a:solidFill>
                  <a:srgbClr val="0000FF"/>
                </a:solidFill>
              </a:rPr>
              <a:t>注：</a:t>
            </a:r>
            <a:r>
              <a:rPr sz="2000" dirty="0">
                <a:solidFill>
                  <a:srgbClr val="0000FF"/>
                </a:solidFill>
                <a:sym typeface="+mn-ea"/>
              </a:rPr>
              <a:t>内存中无法被利用的空间称为碎片； </a:t>
            </a:r>
          </a:p>
          <a:p>
            <a:pPr marL="457200" lvl="1" indent="0">
              <a:buNone/>
            </a:pPr>
            <a:r>
              <a:rPr sz="2000" dirty="0">
                <a:solidFill>
                  <a:srgbClr val="0000FF"/>
                </a:solidFill>
                <a:sym typeface="+mn-ea"/>
              </a:rPr>
              <a:t>     若碎片出现在分区内部，则称为内碎片</a:t>
            </a:r>
          </a:p>
        </p:txBody>
      </p:sp>
      <p:pic>
        <p:nvPicPr>
          <p:cNvPr id="4" name="图片 3" descr="09F4LLU6UQNZTQH5OHN`]GM"/>
          <p:cNvPicPr>
            <a:picLocks noChangeAspect="1"/>
          </p:cNvPicPr>
          <p:nvPr/>
        </p:nvPicPr>
        <p:blipFill>
          <a:blip r:embed="rId3"/>
          <a:stretch>
            <a:fillRect/>
          </a:stretch>
        </p:blipFill>
        <p:spPr>
          <a:xfrm>
            <a:off x="7292050" y="0"/>
            <a:ext cx="3478543" cy="6562846"/>
          </a:xfrm>
          <a:prstGeom prst="rect">
            <a:avLst/>
          </a:prstGeom>
        </p:spPr>
      </p:pic>
    </p:spTree>
    <p:custDataLst>
      <p:tags r:id="rId1"/>
    </p:custData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1.</a:t>
            </a:r>
            <a:r>
              <a:rPr>
                <a:sym typeface="+mn-ea"/>
              </a:rPr>
              <a:t>固定分区的划分方式</a:t>
            </a:r>
          </a:p>
        </p:txBody>
      </p:sp>
      <p:sp>
        <p:nvSpPr>
          <p:cNvPr id="3" name="内容占位符 2"/>
          <p:cNvSpPr>
            <a:spLocks noGrp="1"/>
          </p:cNvSpPr>
          <p:nvPr>
            <p:ph idx="1"/>
          </p:nvPr>
        </p:nvSpPr>
        <p:spPr>
          <a:xfrm>
            <a:off x="363847" y="1012824"/>
            <a:ext cx="7032376" cy="5325745"/>
          </a:xfrm>
        </p:spPr>
        <p:txBody>
          <a:bodyPr>
            <a:normAutofit/>
          </a:bodyPr>
          <a:lstStyle/>
          <a:p>
            <a:pPr marL="0" indent="0">
              <a:buNone/>
            </a:pPr>
            <a:r>
              <a:rPr lang="en-US" altLang="zh-CN" b="1" dirty="0"/>
              <a:t>(2)</a:t>
            </a:r>
            <a:r>
              <a:rPr lang="zh-CN" altLang="en-US" b="1" dirty="0"/>
              <a:t>分区大小不等</a:t>
            </a:r>
            <a:r>
              <a:rPr lang="zh-CN" altLang="en-US" dirty="0"/>
              <a:t>，</a:t>
            </a:r>
            <a:r>
              <a:rPr lang="en-US" altLang="zh-CN" dirty="0"/>
              <a:t>如图6-4(b)</a:t>
            </a:r>
            <a:r>
              <a:rPr lang="en-US" altLang="zh-CN" dirty="0" err="1"/>
              <a:t>所示</a:t>
            </a:r>
            <a:r>
              <a:rPr dirty="0"/>
              <a:t>。</a:t>
            </a:r>
          </a:p>
          <a:p>
            <a:pPr lvl="0"/>
            <a:r>
              <a:rPr dirty="0">
                <a:sym typeface="+mn-ea"/>
              </a:rPr>
              <a:t>系统将内存固定划分成多个较小分区、适量中等分区及少量大分区，并根据程序的大小选择适当的分区。</a:t>
            </a:r>
          </a:p>
          <a:p>
            <a:pPr lvl="1"/>
            <a:r>
              <a:rPr dirty="0">
                <a:sym typeface="+mn-ea"/>
              </a:rPr>
              <a:t>小于8MB 的分区可以容纳更小的程序，减少了内碎片的数量；</a:t>
            </a:r>
          </a:p>
          <a:p>
            <a:pPr lvl="1"/>
            <a:r>
              <a:rPr dirty="0">
                <a:sym typeface="+mn-ea"/>
              </a:rPr>
              <a:t>大于8MB 的大程序也有机会找到一个大分区运行。</a:t>
            </a:r>
            <a:endParaRPr sz="2000" dirty="0">
              <a:sym typeface="+mn-ea"/>
            </a:endParaRPr>
          </a:p>
        </p:txBody>
      </p:sp>
      <p:pic>
        <p:nvPicPr>
          <p:cNvPr id="4" name="图片 3" descr="09F4LLU6UQNZTQH5OHN`]GM"/>
          <p:cNvPicPr>
            <a:picLocks noChangeAspect="1"/>
          </p:cNvPicPr>
          <p:nvPr/>
        </p:nvPicPr>
        <p:blipFill>
          <a:blip r:embed="rId3"/>
          <a:stretch>
            <a:fillRect/>
          </a:stretch>
        </p:blipFill>
        <p:spPr>
          <a:xfrm>
            <a:off x="7928658" y="157767"/>
            <a:ext cx="3228927" cy="6091904"/>
          </a:xfrm>
          <a:prstGeom prst="rect">
            <a:avLst/>
          </a:prstGeom>
        </p:spPr>
      </p:pic>
    </p:spTree>
    <p:custDataLst>
      <p:tags r:id="rId1"/>
    </p:custData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2.</a:t>
            </a:r>
            <a:r>
              <a:rPr>
                <a:sym typeface="+mn-ea"/>
              </a:rPr>
              <a:t>内存分配及采用的数据结构</a:t>
            </a:r>
          </a:p>
        </p:txBody>
      </p:sp>
      <p:sp>
        <p:nvSpPr>
          <p:cNvPr id="3" name="内容占位符 2"/>
          <p:cNvSpPr>
            <a:spLocks noGrp="1"/>
          </p:cNvSpPr>
          <p:nvPr>
            <p:ph idx="1"/>
          </p:nvPr>
        </p:nvSpPr>
        <p:spPr>
          <a:xfrm>
            <a:off x="618490" y="971551"/>
            <a:ext cx="10969200" cy="5581650"/>
          </a:xfrm>
        </p:spPr>
        <p:txBody>
          <a:bodyPr>
            <a:normAutofit/>
          </a:bodyPr>
          <a:lstStyle/>
          <a:p>
            <a:r>
              <a:rPr sz="2800" dirty="0">
                <a:solidFill>
                  <a:srgbClr val="0000FF"/>
                </a:solidFill>
                <a:sym typeface="+mn-ea"/>
              </a:rPr>
              <a:t>分区说明表：用于记录每个分区的大小、起始地址和状态等信息</a:t>
            </a:r>
            <a:r>
              <a:rPr sz="2800" dirty="0">
                <a:sym typeface="+mn-ea"/>
              </a:rPr>
              <a:t>。</a:t>
            </a:r>
          </a:p>
          <a:p>
            <a:pPr lvl="1"/>
            <a:r>
              <a:rPr sz="2800" dirty="0">
                <a:sym typeface="+mn-ea"/>
              </a:rPr>
              <a:t>操作系统利用分区说明表，完成内存的分配和回收工作。</a:t>
            </a:r>
            <a:endParaRPr dirty="0">
              <a:sym typeface="+mn-ea"/>
            </a:endParaRPr>
          </a:p>
        </p:txBody>
      </p:sp>
      <p:pic>
        <p:nvPicPr>
          <p:cNvPr id="5" name="图片 4" descr="OA8L7NKDZH{G@PS4_M$~KD2"/>
          <p:cNvPicPr>
            <a:picLocks noChangeAspect="1"/>
          </p:cNvPicPr>
          <p:nvPr/>
        </p:nvPicPr>
        <p:blipFill>
          <a:blip r:embed="rId3"/>
          <a:stretch>
            <a:fillRect/>
          </a:stretch>
        </p:blipFill>
        <p:spPr>
          <a:xfrm>
            <a:off x="2146567" y="2133285"/>
            <a:ext cx="7624043" cy="4419915"/>
          </a:xfrm>
          <a:prstGeom prst="rect">
            <a:avLst/>
          </a:prstGeom>
        </p:spPr>
      </p:pic>
    </p:spTree>
    <p:custDataLst>
      <p:tags r:id="rId1"/>
    </p:custData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分区存储管理的优缺点</a:t>
            </a:r>
          </a:p>
        </p:txBody>
      </p:sp>
      <p:sp>
        <p:nvSpPr>
          <p:cNvPr id="3" name="内容占位符 2"/>
          <p:cNvSpPr>
            <a:spLocks noGrp="1"/>
          </p:cNvSpPr>
          <p:nvPr>
            <p:ph idx="1"/>
          </p:nvPr>
        </p:nvSpPr>
        <p:spPr>
          <a:xfrm>
            <a:off x="618490" y="1227456"/>
            <a:ext cx="10735310" cy="4444140"/>
          </a:xfrm>
        </p:spPr>
        <p:txBody>
          <a:bodyPr>
            <a:normAutofit/>
          </a:bodyPr>
          <a:lstStyle/>
          <a:p>
            <a:r>
              <a:rPr sz="2600" dirty="0">
                <a:sym typeface="+mn-ea"/>
              </a:rPr>
              <a:t>优点：</a:t>
            </a:r>
          </a:p>
          <a:p>
            <a:pPr lvl="1"/>
            <a:r>
              <a:rPr sz="2600" dirty="0">
                <a:sym typeface="+mn-ea"/>
              </a:rPr>
              <a:t>与单一连续分配方式相比，固定分区存储管理的内存利用率高，且支持多道程序设计，</a:t>
            </a:r>
          </a:p>
          <a:p>
            <a:pPr lvl="0"/>
            <a:r>
              <a:rPr sz="2600" dirty="0">
                <a:sym typeface="+mn-ea"/>
              </a:rPr>
              <a:t>缺点：</a:t>
            </a:r>
          </a:p>
          <a:p>
            <a:pPr lvl="1"/>
            <a:r>
              <a:rPr sz="2600" dirty="0">
                <a:sym typeface="+mn-ea"/>
              </a:rPr>
              <a:t>分区的数目在系统生成阶段已经确定，限制了系统并发进程的数目；</a:t>
            </a:r>
          </a:p>
          <a:p>
            <a:pPr lvl="1"/>
            <a:r>
              <a:rPr sz="2600" dirty="0">
                <a:sym typeface="+mn-ea"/>
              </a:rPr>
              <a:t>分区大小固定不变，</a:t>
            </a:r>
            <a:r>
              <a:rPr sz="2600" dirty="0">
                <a:solidFill>
                  <a:srgbClr val="0000FF"/>
                </a:solidFill>
                <a:sym typeface="+mn-ea"/>
              </a:rPr>
              <a:t>内碎片数量较多</a:t>
            </a:r>
            <a:r>
              <a:rPr sz="2600" dirty="0">
                <a:sym typeface="+mn-ea"/>
              </a:rPr>
              <a:t>，导致内存空间的浪费。</a:t>
            </a:r>
          </a:p>
        </p:txBody>
      </p:sp>
    </p:spTree>
    <p:custDataLst>
      <p:tags r:id="rId1"/>
    </p:custData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ym typeface="+mn-ea"/>
              </a:rPr>
              <a:t>6.2.</a:t>
            </a:r>
            <a:r>
              <a:rPr lang="en-US" altLang="zh-CN" dirty="0">
                <a:sym typeface="+mn-ea"/>
              </a:rPr>
              <a:t>2</a:t>
            </a:r>
            <a:r>
              <a:rPr dirty="0">
                <a:sym typeface="+mn-ea"/>
              </a:rPr>
              <a:t>  动态分区存储管理</a:t>
            </a:r>
            <a:endParaRPr lang="zh-CN" altLang="en-US" dirty="0"/>
          </a:p>
        </p:txBody>
      </p:sp>
      <p:sp>
        <p:nvSpPr>
          <p:cNvPr id="3" name="内容占位符 2"/>
          <p:cNvSpPr>
            <a:spLocks noGrp="1"/>
          </p:cNvSpPr>
          <p:nvPr>
            <p:ph idx="1"/>
          </p:nvPr>
        </p:nvSpPr>
        <p:spPr>
          <a:xfrm>
            <a:off x="608330" y="1023713"/>
            <a:ext cx="10968990" cy="705600"/>
          </a:xfrm>
        </p:spPr>
        <p:txBody>
          <a:bodyPr>
            <a:normAutofit fontScale="92500"/>
          </a:bodyPr>
          <a:lstStyle/>
          <a:p>
            <a:r>
              <a:rPr lang="zh-CN" altLang="en-US" sz="2800" dirty="0">
                <a:solidFill>
                  <a:srgbClr val="0000FF"/>
                </a:solidFill>
              </a:rPr>
              <a:t>分区是根据进程的实际需要动态地划分，也称为可变分区存储管理。</a:t>
            </a:r>
          </a:p>
        </p:txBody>
      </p:sp>
      <p:pic>
        <p:nvPicPr>
          <p:cNvPr id="6" name="图片 5">
            <a:extLst>
              <a:ext uri="{FF2B5EF4-FFF2-40B4-BE49-F238E27FC236}">
                <a16:creationId xmlns:a16="http://schemas.microsoft.com/office/drawing/2014/main" id="{421BD9B4-7906-4D75-97BA-E763C367B88E}"/>
              </a:ext>
            </a:extLst>
          </p:cNvPr>
          <p:cNvPicPr>
            <a:picLocks noChangeAspect="1"/>
          </p:cNvPicPr>
          <p:nvPr/>
        </p:nvPicPr>
        <p:blipFill>
          <a:blip r:embed="rId4"/>
          <a:srcRect r="-319" b="9540"/>
          <a:stretch>
            <a:fillRect/>
          </a:stretch>
        </p:blipFill>
        <p:spPr>
          <a:xfrm>
            <a:off x="177799" y="1933056"/>
            <a:ext cx="11867795" cy="3627485"/>
          </a:xfrm>
          <a:prstGeom prst="rect">
            <a:avLst/>
          </a:prstGeom>
        </p:spPr>
      </p:pic>
      <p:sp>
        <p:nvSpPr>
          <p:cNvPr id="4" name="文本框 3">
            <a:extLst>
              <a:ext uri="{FF2B5EF4-FFF2-40B4-BE49-F238E27FC236}">
                <a16:creationId xmlns:a16="http://schemas.microsoft.com/office/drawing/2014/main" id="{26FAD980-C18C-C4F2-CCB0-C31933E8A476}"/>
              </a:ext>
            </a:extLst>
          </p:cNvPr>
          <p:cNvSpPr txBox="1"/>
          <p:nvPr/>
        </p:nvSpPr>
        <p:spPr>
          <a:xfrm>
            <a:off x="2273643" y="5764284"/>
            <a:ext cx="864973" cy="646331"/>
          </a:xfrm>
          <a:prstGeom prst="rect">
            <a:avLst/>
          </a:prstGeom>
          <a:noFill/>
        </p:spPr>
        <p:txBody>
          <a:bodyPr wrap="square" rtlCol="0">
            <a:spAutoFit/>
          </a:bodyPr>
          <a:lstStyle/>
          <a:p>
            <a:r>
              <a:rPr lang="zh-CN" altLang="en-US" b="1" dirty="0">
                <a:solidFill>
                  <a:srgbClr val="7030A0"/>
                </a:solidFill>
              </a:rPr>
              <a:t>进程</a:t>
            </a:r>
            <a:r>
              <a:rPr lang="en-US" altLang="zh-CN" b="1" dirty="0">
                <a:solidFill>
                  <a:srgbClr val="7030A0"/>
                </a:solidFill>
              </a:rPr>
              <a:t>1</a:t>
            </a:r>
            <a:r>
              <a:rPr lang="zh-CN" altLang="en-US" b="1" dirty="0">
                <a:solidFill>
                  <a:srgbClr val="7030A0"/>
                </a:solidFill>
              </a:rPr>
              <a:t>运行</a:t>
            </a:r>
          </a:p>
        </p:txBody>
      </p:sp>
      <p:sp>
        <p:nvSpPr>
          <p:cNvPr id="5" name="文本框 4">
            <a:extLst>
              <a:ext uri="{FF2B5EF4-FFF2-40B4-BE49-F238E27FC236}">
                <a16:creationId xmlns:a16="http://schemas.microsoft.com/office/drawing/2014/main" id="{51EE6EA7-D5A3-B2E0-72B2-19D7A02AA05B}"/>
              </a:ext>
            </a:extLst>
          </p:cNvPr>
          <p:cNvSpPr txBox="1"/>
          <p:nvPr/>
        </p:nvSpPr>
        <p:spPr>
          <a:xfrm>
            <a:off x="4180702" y="5764284"/>
            <a:ext cx="864973" cy="646331"/>
          </a:xfrm>
          <a:prstGeom prst="rect">
            <a:avLst/>
          </a:prstGeom>
          <a:noFill/>
        </p:spPr>
        <p:txBody>
          <a:bodyPr wrap="square" rtlCol="0">
            <a:spAutoFit/>
          </a:bodyPr>
          <a:lstStyle/>
          <a:p>
            <a:r>
              <a:rPr lang="zh-CN" altLang="en-US" b="1" dirty="0">
                <a:solidFill>
                  <a:srgbClr val="7030A0"/>
                </a:solidFill>
              </a:rPr>
              <a:t>进程</a:t>
            </a:r>
            <a:r>
              <a:rPr lang="en-US" altLang="zh-CN" b="1" dirty="0">
                <a:solidFill>
                  <a:srgbClr val="7030A0"/>
                </a:solidFill>
              </a:rPr>
              <a:t>2</a:t>
            </a:r>
            <a:r>
              <a:rPr lang="zh-CN" altLang="en-US" b="1" dirty="0">
                <a:solidFill>
                  <a:srgbClr val="7030A0"/>
                </a:solidFill>
              </a:rPr>
              <a:t>运行</a:t>
            </a:r>
          </a:p>
        </p:txBody>
      </p:sp>
      <p:sp>
        <p:nvSpPr>
          <p:cNvPr id="7" name="文本框 6">
            <a:extLst>
              <a:ext uri="{FF2B5EF4-FFF2-40B4-BE49-F238E27FC236}">
                <a16:creationId xmlns:a16="http://schemas.microsoft.com/office/drawing/2014/main" id="{32EB3F15-1E59-CD1D-07D4-35C8A4607AEB}"/>
              </a:ext>
            </a:extLst>
          </p:cNvPr>
          <p:cNvSpPr txBox="1"/>
          <p:nvPr/>
        </p:nvSpPr>
        <p:spPr>
          <a:xfrm>
            <a:off x="6128508" y="5764283"/>
            <a:ext cx="864973" cy="646331"/>
          </a:xfrm>
          <a:prstGeom prst="rect">
            <a:avLst/>
          </a:prstGeom>
          <a:noFill/>
        </p:spPr>
        <p:txBody>
          <a:bodyPr wrap="square" rtlCol="0">
            <a:spAutoFit/>
          </a:bodyPr>
          <a:lstStyle/>
          <a:p>
            <a:r>
              <a:rPr lang="zh-CN" altLang="en-US" b="1" dirty="0">
                <a:solidFill>
                  <a:srgbClr val="7030A0"/>
                </a:solidFill>
              </a:rPr>
              <a:t>进程</a:t>
            </a:r>
            <a:r>
              <a:rPr lang="en-US" altLang="zh-CN" b="1" dirty="0">
                <a:solidFill>
                  <a:srgbClr val="7030A0"/>
                </a:solidFill>
              </a:rPr>
              <a:t>3</a:t>
            </a:r>
            <a:r>
              <a:rPr lang="zh-CN" altLang="en-US" b="1" dirty="0">
                <a:solidFill>
                  <a:srgbClr val="7030A0"/>
                </a:solidFill>
              </a:rPr>
              <a:t>运行</a:t>
            </a:r>
          </a:p>
        </p:txBody>
      </p:sp>
      <p:sp>
        <p:nvSpPr>
          <p:cNvPr id="8" name="文本框 7">
            <a:extLst>
              <a:ext uri="{FF2B5EF4-FFF2-40B4-BE49-F238E27FC236}">
                <a16:creationId xmlns:a16="http://schemas.microsoft.com/office/drawing/2014/main" id="{AA176066-6A38-3A02-912E-B625AA755C04}"/>
              </a:ext>
            </a:extLst>
          </p:cNvPr>
          <p:cNvSpPr txBox="1"/>
          <p:nvPr/>
        </p:nvSpPr>
        <p:spPr>
          <a:xfrm>
            <a:off x="8188413" y="5764283"/>
            <a:ext cx="864973" cy="646331"/>
          </a:xfrm>
          <a:prstGeom prst="rect">
            <a:avLst/>
          </a:prstGeom>
          <a:noFill/>
        </p:spPr>
        <p:txBody>
          <a:bodyPr wrap="square" rtlCol="0">
            <a:spAutoFit/>
          </a:bodyPr>
          <a:lstStyle/>
          <a:p>
            <a:r>
              <a:rPr lang="zh-CN" altLang="en-US" b="1" dirty="0">
                <a:solidFill>
                  <a:srgbClr val="7030A0"/>
                </a:solidFill>
              </a:rPr>
              <a:t>进程</a:t>
            </a:r>
            <a:r>
              <a:rPr lang="en-US" altLang="zh-CN" b="1" dirty="0">
                <a:solidFill>
                  <a:srgbClr val="7030A0"/>
                </a:solidFill>
              </a:rPr>
              <a:t>2</a:t>
            </a:r>
            <a:r>
              <a:rPr lang="zh-CN" altLang="en-US" b="1" dirty="0">
                <a:solidFill>
                  <a:srgbClr val="7030A0"/>
                </a:solidFill>
              </a:rPr>
              <a:t>结束</a:t>
            </a:r>
          </a:p>
        </p:txBody>
      </p:sp>
      <p:sp>
        <p:nvSpPr>
          <p:cNvPr id="9" name="文本框 8">
            <a:extLst>
              <a:ext uri="{FF2B5EF4-FFF2-40B4-BE49-F238E27FC236}">
                <a16:creationId xmlns:a16="http://schemas.microsoft.com/office/drawing/2014/main" id="{9FA6B361-F131-07EA-2B98-C0B4834CA6EF}"/>
              </a:ext>
            </a:extLst>
          </p:cNvPr>
          <p:cNvSpPr txBox="1"/>
          <p:nvPr/>
        </p:nvSpPr>
        <p:spPr>
          <a:xfrm>
            <a:off x="10248318" y="5764282"/>
            <a:ext cx="864973" cy="646331"/>
          </a:xfrm>
          <a:prstGeom prst="rect">
            <a:avLst/>
          </a:prstGeom>
          <a:noFill/>
        </p:spPr>
        <p:txBody>
          <a:bodyPr wrap="square" rtlCol="0">
            <a:spAutoFit/>
          </a:bodyPr>
          <a:lstStyle/>
          <a:p>
            <a:r>
              <a:rPr lang="zh-CN" altLang="en-US" b="1" dirty="0">
                <a:solidFill>
                  <a:srgbClr val="7030A0"/>
                </a:solidFill>
              </a:rPr>
              <a:t>进程</a:t>
            </a:r>
            <a:r>
              <a:rPr lang="en-US" altLang="zh-CN" b="1" dirty="0">
                <a:solidFill>
                  <a:srgbClr val="7030A0"/>
                </a:solidFill>
              </a:rPr>
              <a:t>4</a:t>
            </a:r>
            <a:r>
              <a:rPr lang="zh-CN" altLang="en-US" b="1" dirty="0">
                <a:solidFill>
                  <a:srgbClr val="7030A0"/>
                </a:solidFill>
              </a:rPr>
              <a:t>运行</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t>采用的数据结构</a:t>
            </a:r>
          </a:p>
        </p:txBody>
      </p:sp>
      <p:sp>
        <p:nvSpPr>
          <p:cNvPr id="3" name="内容占位符 2"/>
          <p:cNvSpPr>
            <a:spLocks noGrp="1"/>
          </p:cNvSpPr>
          <p:nvPr>
            <p:ph idx="1"/>
          </p:nvPr>
        </p:nvSpPr>
        <p:spPr>
          <a:xfrm>
            <a:off x="608330" y="1227456"/>
            <a:ext cx="10968990" cy="4170810"/>
          </a:xfrm>
        </p:spPr>
        <p:txBody>
          <a:bodyPr>
            <a:normAutofit/>
          </a:bodyPr>
          <a:lstStyle/>
          <a:p>
            <a:r>
              <a:rPr lang="zh-CN" altLang="en-US" sz="2600" b="1" dirty="0"/>
              <a:t>分区说明表</a:t>
            </a:r>
            <a:r>
              <a:rPr lang="zh-CN" altLang="en-US" sz="2600" dirty="0"/>
              <a:t>：描述内存的分区情况。</a:t>
            </a:r>
          </a:p>
          <a:p>
            <a:r>
              <a:rPr lang="zh-CN" altLang="en-US" sz="2600" b="1" dirty="0"/>
              <a:t>空闲分区表</a:t>
            </a:r>
            <a:r>
              <a:rPr lang="zh-CN" altLang="en-US" sz="2600" dirty="0"/>
              <a:t>或</a:t>
            </a:r>
            <a:r>
              <a:rPr lang="zh-CN" altLang="en-US" sz="2600" b="1" dirty="0"/>
              <a:t>空闲分区链</a:t>
            </a:r>
            <a:r>
              <a:rPr lang="zh-CN" altLang="en-US" sz="2600" dirty="0"/>
              <a:t>：描述内存中的空闲分区情况。</a:t>
            </a:r>
          </a:p>
          <a:p>
            <a:pPr lvl="1"/>
            <a:r>
              <a:rPr lang="zh-CN" altLang="en-US" sz="2600" dirty="0"/>
              <a:t>空闲分区表：在系统中设置一张顺序表，用于记录每个空闲分区的情况，每个空闲分区对应一个表项，表项中包括</a:t>
            </a:r>
            <a:r>
              <a:rPr lang="zh-CN" altLang="en-US" sz="2600" dirty="0">
                <a:solidFill>
                  <a:srgbClr val="FF0000"/>
                </a:solidFill>
              </a:rPr>
              <a:t>空闲分区的起始地址和分区大小</a:t>
            </a:r>
            <a:r>
              <a:rPr lang="zh-CN" altLang="en-US" sz="2600" dirty="0"/>
              <a:t>等数据项。</a:t>
            </a:r>
          </a:p>
          <a:p>
            <a:pPr lvl="1"/>
            <a:r>
              <a:rPr lang="zh-CN" altLang="en-US" sz="2600" dirty="0"/>
              <a:t>空闲分区链：在系统中设置一个链表，每个结点对应一个空闲分区的信息，如空闲分区的起始地址和分区大小等。</a:t>
            </a:r>
          </a:p>
        </p:txBody>
      </p:sp>
      <p:sp>
        <p:nvSpPr>
          <p:cNvPr id="4" name="文本框 3">
            <a:extLst>
              <a:ext uri="{FF2B5EF4-FFF2-40B4-BE49-F238E27FC236}">
                <a16:creationId xmlns:a16="http://schemas.microsoft.com/office/drawing/2014/main" id="{D7402070-98F7-A91A-B316-1355E8A650BF}"/>
              </a:ext>
            </a:extLst>
          </p:cNvPr>
          <p:cNvSpPr txBox="1"/>
          <p:nvPr/>
        </p:nvSpPr>
        <p:spPr>
          <a:xfrm>
            <a:off x="1372958" y="5421343"/>
            <a:ext cx="7869896" cy="523220"/>
          </a:xfrm>
          <a:prstGeom prst="rect">
            <a:avLst/>
          </a:prstGeom>
          <a:noFill/>
        </p:spPr>
        <p:txBody>
          <a:bodyPr wrap="square" rtlCol="0">
            <a:spAutoFit/>
          </a:bodyPr>
          <a:lstStyle/>
          <a:p>
            <a:r>
              <a:rPr lang="zh-CN" altLang="en-US" sz="2800" dirty="0">
                <a:solidFill>
                  <a:srgbClr val="0000FF"/>
                </a:solidFill>
              </a:rPr>
              <a:t>动态分区存储管理采用哪种更合适？请说明理由。</a:t>
            </a:r>
          </a:p>
        </p:txBody>
      </p:sp>
    </p:spTree>
    <p:custDataLst>
      <p:tags r:id="rId1"/>
    </p:custData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t>分区的分配和回收</a:t>
            </a:r>
          </a:p>
        </p:txBody>
      </p:sp>
      <p:sp>
        <p:nvSpPr>
          <p:cNvPr id="3" name="内容占位符 2"/>
          <p:cNvSpPr>
            <a:spLocks noGrp="1"/>
          </p:cNvSpPr>
          <p:nvPr>
            <p:ph idx="1"/>
          </p:nvPr>
        </p:nvSpPr>
        <p:spPr>
          <a:xfrm>
            <a:off x="600711" y="1285103"/>
            <a:ext cx="4700494" cy="4964567"/>
          </a:xfrm>
        </p:spPr>
        <p:txBody>
          <a:bodyPr/>
          <a:lstStyle/>
          <a:p>
            <a:pPr marL="0" indent="0">
              <a:buNone/>
            </a:pPr>
            <a:r>
              <a:rPr lang="en-US" altLang="zh-CN" b="1" dirty="0">
                <a:solidFill>
                  <a:schemeClr val="tx1"/>
                </a:solidFill>
              </a:rPr>
              <a:t>(1)</a:t>
            </a:r>
            <a:r>
              <a:rPr b="1" dirty="0">
                <a:solidFill>
                  <a:schemeClr val="tx1"/>
                </a:solidFill>
              </a:rPr>
              <a:t>分配分区</a:t>
            </a:r>
          </a:p>
          <a:p>
            <a:r>
              <a:rPr dirty="0">
                <a:solidFill>
                  <a:schemeClr val="tx1"/>
                </a:solidFill>
                <a:sym typeface="+mn-ea"/>
              </a:rPr>
              <a:t>首先，按照一定的算法，在</a:t>
            </a:r>
            <a:r>
              <a:rPr b="1" dirty="0">
                <a:solidFill>
                  <a:schemeClr val="tx1"/>
                </a:solidFill>
                <a:sym typeface="+mn-ea"/>
              </a:rPr>
              <a:t>空闲分区表或空闲分区链</a:t>
            </a:r>
            <a:r>
              <a:rPr dirty="0">
                <a:solidFill>
                  <a:schemeClr val="tx1"/>
                </a:solidFill>
                <a:sym typeface="+mn-ea"/>
              </a:rPr>
              <a:t>中</a:t>
            </a:r>
            <a:r>
              <a:rPr dirty="0">
                <a:solidFill>
                  <a:srgbClr val="FF0000"/>
                </a:solidFill>
                <a:sym typeface="+mn-ea"/>
              </a:rPr>
              <a:t>从表头或链首开始</a:t>
            </a:r>
            <a:r>
              <a:rPr dirty="0">
                <a:solidFill>
                  <a:schemeClr val="tx1"/>
                </a:solidFill>
                <a:sym typeface="+mn-ea"/>
              </a:rPr>
              <a:t>，查找一个能够满足要求的空闲分区。</a:t>
            </a:r>
            <a:endParaRPr lang="zh-CN" altLang="en-US" dirty="0">
              <a:solidFill>
                <a:schemeClr val="tx1"/>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05619379"/>
              </p:ext>
            </p:extLst>
          </p:nvPr>
        </p:nvGraphicFramePr>
        <p:xfrm>
          <a:off x="5770823" y="114370"/>
          <a:ext cx="5256248" cy="6629260"/>
        </p:xfrm>
        <a:graphic>
          <a:graphicData uri="http://schemas.openxmlformats.org/presentationml/2006/ole">
            <mc:AlternateContent xmlns:mc="http://schemas.openxmlformats.org/markup-compatibility/2006">
              <mc:Choice xmlns:v="urn:schemas-microsoft-com:vml" Requires="v">
                <p:oleObj r:id="rId3" imgW="6858000" imgH="8648700" progId="Visio.Drawing.11">
                  <p:embed/>
                </p:oleObj>
              </mc:Choice>
              <mc:Fallback>
                <p:oleObj r:id="rId3" imgW="6858000" imgH="8648700" progId="Visio.Drawing.11">
                  <p:embed/>
                  <p:pic>
                    <p:nvPicPr>
                      <p:cNvPr id="0" name="图片 4"/>
                      <p:cNvPicPr/>
                      <p:nvPr/>
                    </p:nvPicPr>
                    <p:blipFill>
                      <a:blip r:embed="rId4"/>
                      <a:stretch>
                        <a:fillRect/>
                      </a:stretch>
                    </p:blipFill>
                    <p:spPr>
                      <a:xfrm>
                        <a:off x="5770823" y="114370"/>
                        <a:ext cx="5256248" cy="6629260"/>
                      </a:xfrm>
                      <a:prstGeom prst="rect">
                        <a:avLst/>
                      </a:prstGeom>
                    </p:spPr>
                  </p:pic>
                </p:oleObj>
              </mc:Fallback>
            </mc:AlternateContent>
          </a:graphicData>
        </a:graphic>
      </p:graphicFrame>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t>分区的分配和回收</a:t>
            </a:r>
          </a:p>
        </p:txBody>
      </p:sp>
      <p:sp>
        <p:nvSpPr>
          <p:cNvPr id="3" name="内容占位符 2"/>
          <p:cNvSpPr>
            <a:spLocks noGrp="1"/>
          </p:cNvSpPr>
          <p:nvPr>
            <p:ph idx="1"/>
          </p:nvPr>
        </p:nvSpPr>
        <p:spPr>
          <a:xfrm>
            <a:off x="600710" y="916305"/>
            <a:ext cx="10786110" cy="5333365"/>
          </a:xfrm>
        </p:spPr>
        <p:txBody>
          <a:bodyPr>
            <a:normAutofit/>
          </a:bodyPr>
          <a:lstStyle/>
          <a:p>
            <a:pPr marL="0" indent="0">
              <a:buNone/>
            </a:pPr>
            <a:r>
              <a:rPr lang="en-US" altLang="zh-CN" b="1" dirty="0">
                <a:solidFill>
                  <a:schemeClr val="tx1"/>
                </a:solidFill>
              </a:rPr>
              <a:t>(2)</a:t>
            </a:r>
            <a:r>
              <a:rPr b="1" dirty="0">
                <a:solidFill>
                  <a:schemeClr val="tx1"/>
                </a:solidFill>
              </a:rPr>
              <a:t>回收分区</a:t>
            </a:r>
          </a:p>
          <a:p>
            <a:r>
              <a:rPr dirty="0">
                <a:solidFill>
                  <a:schemeClr val="tx1"/>
                </a:solidFill>
                <a:sym typeface="+mn-ea"/>
              </a:rPr>
              <a:t>当进程运行完毕系统回收其占有的分区时，需要考虑回收分区是否与空闲分区邻接，若有邻接，则应加以</a:t>
            </a:r>
            <a:r>
              <a:rPr b="1" dirty="0">
                <a:solidFill>
                  <a:srgbClr val="FF0000"/>
                </a:solidFill>
                <a:sym typeface="+mn-ea"/>
              </a:rPr>
              <a:t>合并</a:t>
            </a:r>
            <a:r>
              <a:rPr dirty="0">
                <a:solidFill>
                  <a:schemeClr val="tx1"/>
                </a:solidFill>
                <a:sym typeface="+mn-ea"/>
              </a:rPr>
              <a:t>。</a:t>
            </a:r>
            <a:r>
              <a:rPr lang="zh-CN" altLang="en-US" dirty="0"/>
              <a:t>四种情况：</a:t>
            </a:r>
            <a:r>
              <a:rPr lang="zh-CN" altLang="en-US" sz="2400" dirty="0">
                <a:solidFill>
                  <a:schemeClr val="tx1">
                    <a:lumMod val="75000"/>
                    <a:lumOff val="25000"/>
                  </a:schemeClr>
                </a:solidFill>
                <a:latin typeface="微软雅黑" pitchFamily="34" charset="-122"/>
              </a:rPr>
              <a:t> （上邻空闲分区，下邻空闲分区，上、下邻空闲分区和上、下邻占用区）</a:t>
            </a:r>
            <a:endParaRPr dirty="0">
              <a:solidFill>
                <a:schemeClr val="tx1"/>
              </a:solidFill>
              <a:sym typeface="+mn-ea"/>
            </a:endParaRPr>
          </a:p>
        </p:txBody>
      </p:sp>
      <p:pic>
        <p:nvPicPr>
          <p:cNvPr id="5" name="Picture 2">
            <a:extLst>
              <a:ext uri="{FF2B5EF4-FFF2-40B4-BE49-F238E27FC236}">
                <a16:creationId xmlns:a16="http://schemas.microsoft.com/office/drawing/2014/main" id="{0A9586F0-2C5D-441E-B724-A5488FD43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102" y="3051328"/>
            <a:ext cx="7843431" cy="3580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3．动态分区分配算法</a:t>
            </a:r>
          </a:p>
        </p:txBody>
      </p:sp>
      <p:sp>
        <p:nvSpPr>
          <p:cNvPr id="3" name="内容占位符 2"/>
          <p:cNvSpPr>
            <a:spLocks noGrp="1"/>
          </p:cNvSpPr>
          <p:nvPr>
            <p:ph idx="1"/>
          </p:nvPr>
        </p:nvSpPr>
        <p:spPr>
          <a:xfrm>
            <a:off x="611505" y="1100133"/>
            <a:ext cx="10968990" cy="5022215"/>
          </a:xfrm>
        </p:spPr>
        <p:txBody>
          <a:bodyPr>
            <a:noAutofit/>
          </a:bodyPr>
          <a:lstStyle/>
          <a:p>
            <a:r>
              <a:rPr lang="zh-CN" altLang="en-US" sz="2800" b="1" dirty="0"/>
              <a:t>顺序搜索分配算法</a:t>
            </a:r>
          </a:p>
          <a:p>
            <a:pPr lvl="1"/>
            <a:r>
              <a:rPr sz="2800" dirty="0">
                <a:sym typeface="+mn-ea"/>
              </a:rPr>
              <a:t>空闲分区表的表头或链首开始依次搜索 </a:t>
            </a:r>
          </a:p>
          <a:p>
            <a:pPr lvl="1"/>
            <a:r>
              <a:rPr sz="2800" dirty="0">
                <a:solidFill>
                  <a:srgbClr val="0000FF"/>
                </a:solidFill>
                <a:sym typeface="+mn-ea"/>
              </a:rPr>
              <a:t>分为</a:t>
            </a:r>
            <a:r>
              <a:rPr sz="2800" b="1" dirty="0">
                <a:solidFill>
                  <a:srgbClr val="0000FF"/>
                </a:solidFill>
                <a:sym typeface="+mn-ea"/>
              </a:rPr>
              <a:t>首次适应算法、循环首次适应算法、最佳适应算法和最坏适应算法</a:t>
            </a:r>
            <a:r>
              <a:rPr sz="2800" dirty="0">
                <a:sym typeface="+mn-ea"/>
              </a:rPr>
              <a:t>，区别主要在于各个空闲分区在空闲分区表或空闲分区链中排列的先后顺序不同。</a:t>
            </a:r>
          </a:p>
          <a:p>
            <a:pPr lvl="1"/>
            <a:r>
              <a:rPr sz="2800" dirty="0">
                <a:sym typeface="+mn-ea"/>
              </a:rPr>
              <a:t>分区数目很多时，顺序搜索分配算法的效率会降低。</a:t>
            </a:r>
          </a:p>
          <a:p>
            <a:pPr lvl="0" algn="l"/>
            <a:r>
              <a:rPr lang="zh-CN" altLang="en-US" sz="2800" b="1" dirty="0"/>
              <a:t>索引搜索分配算法</a:t>
            </a:r>
          </a:p>
          <a:p>
            <a:pPr lvl="1"/>
            <a:r>
              <a:rPr lang="zh-CN" altLang="en-US" sz="2800" dirty="0"/>
              <a:t>在大、中型操作系统中通常会采用索引搜索分配算法，如</a:t>
            </a:r>
            <a:r>
              <a:rPr lang="zh-CN" altLang="en-US" sz="2800" b="1" dirty="0"/>
              <a:t>伙伴系统</a:t>
            </a:r>
            <a:r>
              <a:rPr lang="zh-CN" altLang="en-US" sz="2800" dirty="0"/>
              <a:t>。</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a:t>
            </a:r>
            <a:r>
              <a:t>首次适应算法</a:t>
            </a:r>
          </a:p>
        </p:txBody>
      </p:sp>
      <p:sp>
        <p:nvSpPr>
          <p:cNvPr id="3" name="内容占位符 2"/>
          <p:cNvSpPr>
            <a:spLocks noGrp="1"/>
          </p:cNvSpPr>
          <p:nvPr>
            <p:ph idx="1"/>
          </p:nvPr>
        </p:nvSpPr>
        <p:spPr>
          <a:xfrm>
            <a:off x="608330" y="1227455"/>
            <a:ext cx="11174698" cy="5022215"/>
          </a:xfrm>
        </p:spPr>
        <p:txBody>
          <a:bodyPr>
            <a:normAutofit/>
          </a:bodyPr>
          <a:lstStyle/>
          <a:p>
            <a:r>
              <a:rPr lang="zh-CN" altLang="en-US" sz="2800" dirty="0"/>
              <a:t>该算法</a:t>
            </a:r>
            <a:r>
              <a:rPr lang="zh-CN" altLang="en-US" sz="2800" b="1" dirty="0">
                <a:solidFill>
                  <a:srgbClr val="FF0000"/>
                </a:solidFill>
              </a:rPr>
              <a:t>按照地址递增</a:t>
            </a:r>
            <a:r>
              <a:rPr lang="zh-CN" altLang="en-US" sz="2800" dirty="0"/>
              <a:t>的顺序组织空闲分区。</a:t>
            </a:r>
          </a:p>
          <a:p>
            <a:r>
              <a:rPr lang="zh-CN" altLang="en-US" sz="2800" dirty="0"/>
              <a:t>优点：</a:t>
            </a:r>
          </a:p>
          <a:p>
            <a:pPr lvl="1"/>
            <a:r>
              <a:rPr lang="zh-CN" altLang="en-US" sz="2800" dirty="0"/>
              <a:t>倾向于优先利用内存中低地址部分的空闲分区，将高地址部分的大空闲区保留下来满足大作业的使用要求。</a:t>
            </a:r>
          </a:p>
          <a:p>
            <a:r>
              <a:rPr lang="zh-CN" altLang="en-US" sz="2800" dirty="0"/>
              <a:t>缺点：</a:t>
            </a:r>
          </a:p>
          <a:p>
            <a:pPr lvl="1"/>
            <a:r>
              <a:rPr lang="zh-CN" altLang="en-US" sz="2800" dirty="0"/>
              <a:t>低地址部分不断被划分，致使留下许多难以利用的小空闲分区。</a:t>
            </a:r>
          </a:p>
          <a:p>
            <a:pPr lvl="1"/>
            <a:r>
              <a:rPr lang="zh-CN" altLang="en-US" sz="2800" dirty="0"/>
              <a:t>每次查找又都是从低地址部分开始，增加查找可用空闲分区的开销。</a:t>
            </a:r>
          </a:p>
        </p:txBody>
      </p:sp>
    </p:spTree>
    <p:custDataLst>
      <p:tags r:id="rId1"/>
    </p:custData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(2)循环首次适应算法</a:t>
            </a:r>
          </a:p>
        </p:txBody>
      </p:sp>
      <p:sp>
        <p:nvSpPr>
          <p:cNvPr id="3" name="内容占位符 2"/>
          <p:cNvSpPr>
            <a:spLocks noGrp="1"/>
          </p:cNvSpPr>
          <p:nvPr>
            <p:ph idx="1"/>
          </p:nvPr>
        </p:nvSpPr>
        <p:spPr/>
        <p:txBody>
          <a:bodyPr>
            <a:normAutofit/>
          </a:bodyPr>
          <a:lstStyle/>
          <a:p>
            <a:r>
              <a:rPr lang="zh-CN" altLang="en-US" sz="2800" dirty="0"/>
              <a:t>循环首次适应算法是由首次适应算法变化而来的。</a:t>
            </a:r>
            <a:endParaRPr lang="en-US" altLang="zh-CN" sz="2800" dirty="0"/>
          </a:p>
          <a:p>
            <a:r>
              <a:rPr lang="zh-CN" altLang="en-US" sz="2800" dirty="0"/>
              <a:t>不再是每次从表头或链首开始查找，而是</a:t>
            </a:r>
            <a:r>
              <a:rPr lang="zh-CN" altLang="en-US" sz="2800" b="1" dirty="0">
                <a:solidFill>
                  <a:srgbClr val="FF0000"/>
                </a:solidFill>
              </a:rPr>
              <a:t>从上次找到的空闲分区的下一个空闲分区开始查找</a:t>
            </a:r>
            <a:r>
              <a:rPr lang="zh-CN" altLang="en-US" sz="2800" dirty="0"/>
              <a:t>。</a:t>
            </a:r>
          </a:p>
          <a:p>
            <a:r>
              <a:rPr lang="zh-CN" altLang="en-US" sz="2800" dirty="0"/>
              <a:t>优点：</a:t>
            </a:r>
          </a:p>
          <a:p>
            <a:pPr lvl="1"/>
            <a:r>
              <a:rPr lang="zh-CN" altLang="en-US" sz="2800" dirty="0"/>
              <a:t>该算法能使内存中的空闲分区分布得更均匀，从而减少了查找可用空闲分区的开销。</a:t>
            </a:r>
          </a:p>
          <a:p>
            <a:pPr lvl="0"/>
            <a:r>
              <a:rPr lang="zh-CN" altLang="en-US" sz="2800" dirty="0"/>
              <a:t>缺点：</a:t>
            </a:r>
          </a:p>
          <a:p>
            <a:pPr lvl="1"/>
            <a:r>
              <a:rPr lang="zh-CN" altLang="en-US" sz="2800" dirty="0"/>
              <a:t>缺乏大的空闲分区。</a:t>
            </a:r>
          </a:p>
        </p:txBody>
      </p:sp>
    </p:spTree>
    <p:custDataLst>
      <p:tags r:id="rId1"/>
    </p:custData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(3)最佳适应算法</a:t>
            </a:r>
          </a:p>
        </p:txBody>
      </p:sp>
      <p:sp>
        <p:nvSpPr>
          <p:cNvPr id="3" name="内容占位符 2"/>
          <p:cNvSpPr>
            <a:spLocks noGrp="1"/>
          </p:cNvSpPr>
          <p:nvPr>
            <p:ph idx="1"/>
          </p:nvPr>
        </p:nvSpPr>
        <p:spPr>
          <a:xfrm>
            <a:off x="608330" y="1227456"/>
            <a:ext cx="10968990" cy="4093692"/>
          </a:xfrm>
        </p:spPr>
        <p:txBody>
          <a:bodyPr>
            <a:normAutofit fontScale="92500" lnSpcReduction="20000"/>
          </a:bodyPr>
          <a:lstStyle/>
          <a:p>
            <a:r>
              <a:rPr lang="zh-CN" altLang="en-US" sz="3200" dirty="0"/>
              <a:t>该算法将所有空闲分区</a:t>
            </a:r>
            <a:r>
              <a:rPr lang="zh-CN" altLang="en-US" sz="3200" b="1" dirty="0">
                <a:solidFill>
                  <a:srgbClr val="FF0000"/>
                </a:solidFill>
              </a:rPr>
              <a:t>按照分区大小依次递增</a:t>
            </a:r>
            <a:r>
              <a:rPr lang="zh-CN" altLang="en-US" sz="3200" dirty="0"/>
              <a:t>的顺序进行组织。</a:t>
            </a:r>
          </a:p>
          <a:p>
            <a:r>
              <a:rPr lang="zh-CN" altLang="en-US" sz="3200" dirty="0"/>
              <a:t>优点：</a:t>
            </a:r>
          </a:p>
          <a:p>
            <a:pPr lvl="1"/>
            <a:r>
              <a:rPr lang="zh-CN" altLang="en-US" sz="3200" dirty="0"/>
              <a:t>较大的空闲分区可以被保留下来，交给大作业使用。</a:t>
            </a:r>
          </a:p>
          <a:p>
            <a:pPr lvl="0"/>
            <a:r>
              <a:rPr lang="zh-CN" altLang="en-US" sz="3200" dirty="0"/>
              <a:t>缺点：</a:t>
            </a:r>
          </a:p>
          <a:p>
            <a:pPr lvl="1"/>
            <a:r>
              <a:rPr lang="zh-CN" altLang="en-US" sz="3200" dirty="0"/>
              <a:t>内存中留下许多难以利用的小空闲区（称为外碎片），影响了内存分配的速度。</a:t>
            </a:r>
          </a:p>
        </p:txBody>
      </p:sp>
    </p:spTree>
    <p:custDataLst>
      <p:tags r:id="rId1"/>
    </p:custData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(4)</a:t>
            </a:r>
            <a:r>
              <a:t>最坏适应算法</a:t>
            </a:r>
          </a:p>
        </p:txBody>
      </p:sp>
      <p:sp>
        <p:nvSpPr>
          <p:cNvPr id="3" name="内容占位符 2"/>
          <p:cNvSpPr>
            <a:spLocks noGrp="1"/>
          </p:cNvSpPr>
          <p:nvPr>
            <p:ph idx="1"/>
          </p:nvPr>
        </p:nvSpPr>
        <p:spPr/>
        <p:txBody>
          <a:bodyPr>
            <a:normAutofit/>
          </a:bodyPr>
          <a:lstStyle/>
          <a:p>
            <a:r>
              <a:rPr lang="zh-CN" altLang="en-US" sz="2800" dirty="0"/>
              <a:t>该算法将所有空闲分区</a:t>
            </a:r>
            <a:r>
              <a:rPr lang="zh-CN" altLang="en-US" sz="2800" b="1" dirty="0">
                <a:solidFill>
                  <a:srgbClr val="FF0000"/>
                </a:solidFill>
              </a:rPr>
              <a:t>按照分区大小依次递减</a:t>
            </a:r>
            <a:r>
              <a:rPr lang="zh-CN" altLang="en-US" sz="2800" dirty="0"/>
              <a:t>的顺序组织。这样，每次分配时，从表头或链首找到最大的空闲分区，按进程大小对空闲分区进行分配。</a:t>
            </a:r>
          </a:p>
          <a:p>
            <a:r>
              <a:rPr lang="zh-CN" altLang="en-US" sz="2800" dirty="0"/>
              <a:t>优点：</a:t>
            </a:r>
          </a:p>
          <a:p>
            <a:pPr lvl="1"/>
            <a:r>
              <a:rPr lang="zh-CN" altLang="en-US" sz="2800" dirty="0"/>
              <a:t>基本上留不下小的空闲分区，不易形成碎片。</a:t>
            </a:r>
          </a:p>
          <a:p>
            <a:pPr lvl="0"/>
            <a:r>
              <a:rPr lang="zh-CN" altLang="en-US" sz="2800" dirty="0"/>
              <a:t>缺点：</a:t>
            </a:r>
          </a:p>
          <a:p>
            <a:pPr lvl="1"/>
            <a:r>
              <a:rPr lang="zh-CN" altLang="en-US" sz="2800" dirty="0"/>
              <a:t>大的空闲分区被划分分配，当再有大作业时，系统往往不能满足要求。</a:t>
            </a:r>
          </a:p>
        </p:txBody>
      </p:sp>
    </p:spTree>
    <p:custDataLst>
      <p:tags r:id="rId1"/>
    </p:custData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4635" y="240030"/>
            <a:ext cx="10676380" cy="1042731"/>
          </a:xfrm>
        </p:spPr>
        <p:txBody>
          <a:bodyPr/>
          <a:lstStyle/>
          <a:p>
            <a:r>
              <a:rPr lang="zh-CN" altLang="en-US" dirty="0"/>
              <a:t>若一个8MB的进程提出了分配请求，下图给出了最佳适应算法、首次适应算法、循环首次适应算法和最坏适应算法的分配结果。</a:t>
            </a:r>
          </a:p>
        </p:txBody>
      </p:sp>
      <p:pic>
        <p:nvPicPr>
          <p:cNvPr id="4" name="图片 3" descr="RWZ7BYI9CR@~S9LBSVFDHRM"/>
          <p:cNvPicPr>
            <a:picLocks noChangeAspect="1"/>
          </p:cNvPicPr>
          <p:nvPr/>
        </p:nvPicPr>
        <p:blipFill>
          <a:blip r:embed="rId3"/>
          <a:stretch>
            <a:fillRect/>
          </a:stretch>
        </p:blipFill>
        <p:spPr>
          <a:xfrm>
            <a:off x="3533538" y="1282761"/>
            <a:ext cx="4884067" cy="5418981"/>
          </a:xfrm>
          <a:prstGeom prst="rect">
            <a:avLst/>
          </a:prstGeom>
        </p:spPr>
      </p:pic>
    </p:spTree>
    <p:custDataLst>
      <p:tags r:id="rId1"/>
    </p:custDataLst>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ADAEAEEA-F1F5-4E87-8BAB-4067454D381E}"/>
              </a:ext>
            </a:extLst>
          </p:cNvPr>
          <p:cNvSpPr txBox="1">
            <a:spLocks noChangeArrowheads="1"/>
          </p:cNvSpPr>
          <p:nvPr/>
        </p:nvSpPr>
        <p:spPr bwMode="auto">
          <a:xfrm>
            <a:off x="905958" y="814207"/>
            <a:ext cx="4135599" cy="4416100"/>
          </a:xfrm>
          <a:prstGeom prst="rect">
            <a:avLst/>
          </a:prstGeom>
          <a:solidFill>
            <a:schemeClr val="accent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spcAft>
                <a:spcPct val="0"/>
              </a:spcAft>
              <a:buClrTx/>
              <a:buSzTx/>
              <a:buFontTx/>
              <a:buNone/>
            </a:pPr>
            <a:r>
              <a:rPr kumimoji="1" lang="zh-CN" altLang="en-US" sz="2800" dirty="0">
                <a:solidFill>
                  <a:schemeClr val="tx1"/>
                </a:solidFill>
                <a:latin typeface="Times New Roman" panose="02020603050405020304" pitchFamily="18" charset="0"/>
                <a:ea typeface="宋体" panose="02010600030101010101" pitchFamily="2" charset="-122"/>
              </a:rPr>
              <a:t>例：程序</a:t>
            </a:r>
            <a:r>
              <a:rPr kumimoji="1" lang="en-US" altLang="zh-CN" sz="2800" dirty="0">
                <a:solidFill>
                  <a:schemeClr val="tx1"/>
                </a:solidFill>
                <a:latin typeface="Times New Roman" panose="02020603050405020304" pitchFamily="18" charset="0"/>
                <a:ea typeface="宋体" panose="02010600030101010101" pitchFamily="2" charset="-122"/>
              </a:rPr>
              <a:t>A</a:t>
            </a:r>
            <a:r>
              <a:rPr kumimoji="1" lang="zh-CN" altLang="en-US" sz="2800" dirty="0">
                <a:solidFill>
                  <a:schemeClr val="tx1"/>
                </a:solidFill>
                <a:latin typeface="Times New Roman" panose="02020603050405020304" pitchFamily="18" charset="0"/>
                <a:ea typeface="宋体" panose="02010600030101010101" pitchFamily="2" charset="-122"/>
              </a:rPr>
              <a:t>（大小</a:t>
            </a:r>
            <a:r>
              <a:rPr kumimoji="1" lang="en-US" altLang="zh-CN" sz="2800" dirty="0">
                <a:solidFill>
                  <a:schemeClr val="tx1"/>
                </a:solidFill>
                <a:latin typeface="Times New Roman" panose="02020603050405020304" pitchFamily="18" charset="0"/>
                <a:ea typeface="宋体" panose="02010600030101010101" pitchFamily="2" charset="-122"/>
              </a:rPr>
              <a:t>18KB</a:t>
            </a:r>
            <a:r>
              <a:rPr kumimoji="1" lang="zh-CN" altLang="en-US" sz="2800" dirty="0">
                <a:solidFill>
                  <a:schemeClr val="tx1"/>
                </a:solidFill>
                <a:latin typeface="Times New Roman" panose="02020603050405020304" pitchFamily="18" charset="0"/>
                <a:ea typeface="宋体" panose="02010600030101010101" pitchFamily="2" charset="-122"/>
              </a:rPr>
              <a:t>）要运行，为其分配内存。</a:t>
            </a:r>
            <a:endParaRPr kumimoji="1" lang="en-US" altLang="zh-CN" sz="2800" dirty="0">
              <a:solidFill>
                <a:schemeClr val="tx1"/>
              </a:solidFill>
              <a:latin typeface="Times New Roman" panose="02020603050405020304" pitchFamily="18" charset="0"/>
              <a:ea typeface="宋体" panose="02010600030101010101" pitchFamily="2" charset="-122"/>
            </a:endParaRPr>
          </a:p>
          <a:p>
            <a:pPr algn="just" eaLnBrk="1" hangingPunct="1">
              <a:spcAft>
                <a:spcPct val="0"/>
              </a:spcAft>
              <a:buClrTx/>
              <a:buSzTx/>
              <a:buFontTx/>
              <a:buNone/>
            </a:pPr>
            <a:r>
              <a:rPr kumimoji="1" lang="zh-CN" altLang="en-US" sz="2800" dirty="0">
                <a:solidFill>
                  <a:schemeClr val="tx1"/>
                </a:solidFill>
                <a:latin typeface="Times New Roman" panose="02020603050405020304" pitchFamily="18" charset="0"/>
                <a:ea typeface="宋体" panose="02010600030101010101" pitchFamily="2" charset="-122"/>
              </a:rPr>
              <a:t>采用首次适应算法、最佳适应算法、最坏适应算法分别分配哪块空闲区？</a:t>
            </a:r>
            <a:endParaRPr kumimoji="1" lang="en-US" altLang="zh-CN" sz="2800" dirty="0">
              <a:solidFill>
                <a:schemeClr val="tx1"/>
              </a:solidFill>
              <a:latin typeface="Times New Roman" panose="02020603050405020304" pitchFamily="18" charset="0"/>
              <a:ea typeface="宋体" panose="02010600030101010101" pitchFamily="2" charset="-122"/>
            </a:endParaRPr>
          </a:p>
        </p:txBody>
      </p:sp>
      <p:grpSp>
        <p:nvGrpSpPr>
          <p:cNvPr id="5" name="组合 63">
            <a:extLst>
              <a:ext uri="{FF2B5EF4-FFF2-40B4-BE49-F238E27FC236}">
                <a16:creationId xmlns:a16="http://schemas.microsoft.com/office/drawing/2014/main" id="{22A752F0-DEF1-4F54-9C6F-1C3A557E6F63}"/>
              </a:ext>
            </a:extLst>
          </p:cNvPr>
          <p:cNvGrpSpPr>
            <a:grpSpLocks/>
          </p:cNvGrpSpPr>
          <p:nvPr/>
        </p:nvGrpSpPr>
        <p:grpSpPr bwMode="auto">
          <a:xfrm>
            <a:off x="5954619" y="814207"/>
            <a:ext cx="3720721" cy="5229585"/>
            <a:chOff x="6338888" y="2276475"/>
            <a:chExt cx="2297112" cy="3615109"/>
          </a:xfrm>
        </p:grpSpPr>
        <p:sp>
          <p:nvSpPr>
            <p:cNvPr id="6" name="Text Box 34">
              <a:extLst>
                <a:ext uri="{FF2B5EF4-FFF2-40B4-BE49-F238E27FC236}">
                  <a16:creationId xmlns:a16="http://schemas.microsoft.com/office/drawing/2014/main" id="{241CA1CA-0EBB-43B4-9379-92E9E809D9D6}"/>
                </a:ext>
              </a:extLst>
            </p:cNvPr>
            <p:cNvSpPr txBox="1">
              <a:spLocks noChangeArrowheads="1"/>
            </p:cNvSpPr>
            <p:nvPr/>
          </p:nvSpPr>
          <p:spPr bwMode="auto">
            <a:xfrm>
              <a:off x="6338888" y="5329238"/>
              <a:ext cx="1047750"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256KB</a:t>
              </a:r>
              <a:r>
                <a:rPr kumimoji="1" lang="en-US" altLang="zh-CN" b="1">
                  <a:solidFill>
                    <a:schemeClr val="tx1"/>
                  </a:solidFill>
                  <a:latin typeface="宋体" panose="02010600030101010101" pitchFamily="2" charset="-122"/>
                  <a:ea typeface="宋体" panose="02010600030101010101" pitchFamily="2" charset="-122"/>
                </a:rPr>
                <a:t>-</a:t>
              </a:r>
              <a:r>
                <a:rPr kumimoji="1" lang="en-US" altLang="zh-CN" b="1">
                  <a:solidFill>
                    <a:schemeClr val="tx1"/>
                  </a:solidFill>
                  <a:latin typeface="Times New Roman" panose="02020603050405020304" pitchFamily="18" charset="0"/>
                  <a:ea typeface="宋体" panose="02010600030101010101" pitchFamily="2" charset="-122"/>
                </a:rPr>
                <a:t>1</a:t>
              </a:r>
            </a:p>
          </p:txBody>
        </p:sp>
        <p:sp>
          <p:nvSpPr>
            <p:cNvPr id="7" name="Rectangle 26" descr="浅色上对角线">
              <a:extLst>
                <a:ext uri="{FF2B5EF4-FFF2-40B4-BE49-F238E27FC236}">
                  <a16:creationId xmlns:a16="http://schemas.microsoft.com/office/drawing/2014/main" id="{D92FBB8F-BB76-48D8-A5C6-0590E30A2A1B}"/>
                </a:ext>
              </a:extLst>
            </p:cNvPr>
            <p:cNvSpPr>
              <a:spLocks noChangeArrowheads="1"/>
            </p:cNvSpPr>
            <p:nvPr/>
          </p:nvSpPr>
          <p:spPr bwMode="auto">
            <a:xfrm>
              <a:off x="7245525" y="2806322"/>
              <a:ext cx="1388987" cy="304476"/>
            </a:xfrm>
            <a:prstGeom prst="rect">
              <a:avLst/>
            </a:prstGeom>
            <a:pattFill prst="ltUpDiag">
              <a:fgClr>
                <a:srgbClr val="000000"/>
              </a:fgClr>
              <a:bgClr>
                <a:srgbClr val="FFFFFF"/>
              </a:bgClr>
            </a:pattFill>
            <a:ln w="9525">
              <a:solidFill>
                <a:schemeClr val="tx1"/>
              </a:solidFill>
              <a:miter lim="800000"/>
              <a:headEnd/>
              <a:tailEnd/>
            </a:ln>
          </p:spPr>
          <p:txBody>
            <a:bodyPr/>
            <a:lstStyle/>
            <a:p>
              <a:pPr marL="914400" indent="-341313" algn="ctr" eaLnBrk="1" hangingPunct="1">
                <a:lnSpc>
                  <a:spcPct val="120000"/>
                </a:lnSpc>
                <a:buClr>
                  <a:schemeClr val="tx2"/>
                </a:buClr>
                <a:buSzPct val="95000"/>
                <a:buFont typeface="Wingdings" panose="05000000000000000000" pitchFamily="2" charset="2"/>
                <a:buBlip>
                  <a:blip r:embed="rId2"/>
                </a:buBlip>
                <a:defRPr/>
              </a:pPr>
              <a:endParaRPr lang="zh-CN" altLang="zh-CN" sz="2400" b="1">
                <a:effectLst>
                  <a:outerShdw blurRad="38100" dist="38100" dir="2700000" algn="tl">
                    <a:srgbClr val="C0C0C0"/>
                  </a:outerShdw>
                </a:effectLst>
                <a:latin typeface="Arial" charset="0"/>
              </a:endParaRPr>
            </a:p>
          </p:txBody>
        </p:sp>
        <p:sp>
          <p:nvSpPr>
            <p:cNvPr id="8" name="Text Box 10">
              <a:extLst>
                <a:ext uri="{FF2B5EF4-FFF2-40B4-BE49-F238E27FC236}">
                  <a16:creationId xmlns:a16="http://schemas.microsoft.com/office/drawing/2014/main" id="{AD5FD76E-31BA-494F-A5E8-26ED6B584A4B}"/>
                </a:ext>
              </a:extLst>
            </p:cNvPr>
            <p:cNvSpPr txBox="1">
              <a:spLocks noChangeArrowheads="1"/>
            </p:cNvSpPr>
            <p:nvPr/>
          </p:nvSpPr>
          <p:spPr bwMode="auto">
            <a:xfrm>
              <a:off x="7242178" y="2459238"/>
              <a:ext cx="1387475" cy="3038475"/>
            </a:xfrm>
            <a:prstGeom prst="rect">
              <a:avLst/>
            </a:prstGeom>
            <a:solidFill>
              <a:srgbClr val="FFCCCC"/>
            </a:solidFill>
            <a:ln w="9525">
              <a:solidFill>
                <a:srgbClr val="000000"/>
              </a:solidFill>
              <a:miter lim="800000"/>
              <a:headEnd/>
              <a:tailEnd/>
            </a:ln>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       </a:t>
              </a:r>
            </a:p>
          </p:txBody>
        </p:sp>
        <p:sp>
          <p:nvSpPr>
            <p:cNvPr id="9" name="Line 11">
              <a:extLst>
                <a:ext uri="{FF2B5EF4-FFF2-40B4-BE49-F238E27FC236}">
                  <a16:creationId xmlns:a16="http://schemas.microsoft.com/office/drawing/2014/main" id="{2815F04F-2530-4D3E-9D74-B1745200884D}"/>
                </a:ext>
              </a:extLst>
            </p:cNvPr>
            <p:cNvSpPr>
              <a:spLocks noChangeShapeType="1"/>
            </p:cNvSpPr>
            <p:nvPr/>
          </p:nvSpPr>
          <p:spPr bwMode="auto">
            <a:xfrm>
              <a:off x="7249992" y="2809307"/>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0" name="Text Box 12">
              <a:extLst>
                <a:ext uri="{FF2B5EF4-FFF2-40B4-BE49-F238E27FC236}">
                  <a16:creationId xmlns:a16="http://schemas.microsoft.com/office/drawing/2014/main" id="{F670C611-C1D2-4214-A7E3-267D58E13A74}"/>
                </a:ext>
              </a:extLst>
            </p:cNvPr>
            <p:cNvSpPr txBox="1">
              <a:spLocks noChangeArrowheads="1"/>
            </p:cNvSpPr>
            <p:nvPr/>
          </p:nvSpPr>
          <p:spPr bwMode="auto">
            <a:xfrm>
              <a:off x="7540925" y="4514850"/>
              <a:ext cx="842962"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zh-CN" altLang="en-US" b="1">
                  <a:solidFill>
                    <a:srgbClr val="0000FF"/>
                  </a:solidFill>
                  <a:latin typeface="Times New Roman" panose="02020603050405020304" pitchFamily="18" charset="0"/>
                  <a:ea typeface="宋体" panose="02010600030101010101" pitchFamily="2" charset="-122"/>
                </a:rPr>
                <a:t>在使用</a:t>
              </a:r>
            </a:p>
          </p:txBody>
        </p:sp>
        <p:sp>
          <p:nvSpPr>
            <p:cNvPr id="11" name="Line 13">
              <a:extLst>
                <a:ext uri="{FF2B5EF4-FFF2-40B4-BE49-F238E27FC236}">
                  <a16:creationId xmlns:a16="http://schemas.microsoft.com/office/drawing/2014/main" id="{28E40B31-3246-43BA-8E14-3D3952A59319}"/>
                </a:ext>
              </a:extLst>
            </p:cNvPr>
            <p:cNvSpPr>
              <a:spLocks noChangeShapeType="1"/>
            </p:cNvSpPr>
            <p:nvPr/>
          </p:nvSpPr>
          <p:spPr bwMode="auto">
            <a:xfrm>
              <a:off x="7249992" y="3106320"/>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2" name="Line 14">
              <a:extLst>
                <a:ext uri="{FF2B5EF4-FFF2-40B4-BE49-F238E27FC236}">
                  <a16:creationId xmlns:a16="http://schemas.microsoft.com/office/drawing/2014/main" id="{0801FA64-ED6A-4AF4-8797-5A4C440833CE}"/>
                </a:ext>
              </a:extLst>
            </p:cNvPr>
            <p:cNvSpPr>
              <a:spLocks noChangeShapeType="1"/>
            </p:cNvSpPr>
            <p:nvPr/>
          </p:nvSpPr>
          <p:spPr bwMode="auto">
            <a:xfrm>
              <a:off x="7249992" y="4877950"/>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3" name="Text Box 15">
              <a:extLst>
                <a:ext uri="{FF2B5EF4-FFF2-40B4-BE49-F238E27FC236}">
                  <a16:creationId xmlns:a16="http://schemas.microsoft.com/office/drawing/2014/main" id="{7BEE1FC8-D788-4F75-8111-C850826B1B49}"/>
                </a:ext>
              </a:extLst>
            </p:cNvPr>
            <p:cNvSpPr txBox="1">
              <a:spLocks noChangeArrowheads="1"/>
            </p:cNvSpPr>
            <p:nvPr/>
          </p:nvSpPr>
          <p:spPr bwMode="auto">
            <a:xfrm>
              <a:off x="7526535" y="3145240"/>
              <a:ext cx="1060450"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zh-CN" altLang="en-US" b="1">
                  <a:solidFill>
                    <a:srgbClr val="0000FF"/>
                  </a:solidFill>
                  <a:latin typeface="Times New Roman" panose="02020603050405020304" pitchFamily="18" charset="0"/>
                  <a:ea typeface="宋体" panose="02010600030101010101" pitchFamily="2" charset="-122"/>
                </a:rPr>
                <a:t>在使用</a:t>
              </a:r>
            </a:p>
          </p:txBody>
        </p:sp>
        <p:sp>
          <p:nvSpPr>
            <p:cNvPr id="14" name="Line 16">
              <a:extLst>
                <a:ext uri="{FF2B5EF4-FFF2-40B4-BE49-F238E27FC236}">
                  <a16:creationId xmlns:a16="http://schemas.microsoft.com/office/drawing/2014/main" id="{A5C171AB-279B-4666-8A87-E9FE4A1ADB56}"/>
                </a:ext>
              </a:extLst>
            </p:cNvPr>
            <p:cNvSpPr>
              <a:spLocks noChangeShapeType="1"/>
            </p:cNvSpPr>
            <p:nvPr/>
          </p:nvSpPr>
          <p:spPr bwMode="auto">
            <a:xfrm>
              <a:off x="7249992" y="4218253"/>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5" name="Text Box 17">
              <a:extLst>
                <a:ext uri="{FF2B5EF4-FFF2-40B4-BE49-F238E27FC236}">
                  <a16:creationId xmlns:a16="http://schemas.microsoft.com/office/drawing/2014/main" id="{2B804001-F5E1-45F3-83AE-D288AA806C1E}"/>
                </a:ext>
              </a:extLst>
            </p:cNvPr>
            <p:cNvSpPr txBox="1">
              <a:spLocks noChangeArrowheads="1"/>
            </p:cNvSpPr>
            <p:nvPr/>
          </p:nvSpPr>
          <p:spPr bwMode="auto">
            <a:xfrm>
              <a:off x="7536263" y="3799975"/>
              <a:ext cx="857250"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zh-CN" altLang="en-US" b="1">
                  <a:solidFill>
                    <a:srgbClr val="0000FF"/>
                  </a:solidFill>
                  <a:latin typeface="Times New Roman" panose="02020603050405020304" pitchFamily="18" charset="0"/>
                  <a:ea typeface="宋体" panose="02010600030101010101" pitchFamily="2" charset="-122"/>
                </a:rPr>
                <a:t>在使用</a:t>
              </a:r>
            </a:p>
          </p:txBody>
        </p:sp>
        <p:sp>
          <p:nvSpPr>
            <p:cNvPr id="16" name="Line 18">
              <a:extLst>
                <a:ext uri="{FF2B5EF4-FFF2-40B4-BE49-F238E27FC236}">
                  <a16:creationId xmlns:a16="http://schemas.microsoft.com/office/drawing/2014/main" id="{F0502637-D5E3-4592-84C6-5DBC482352D0}"/>
                </a:ext>
              </a:extLst>
            </p:cNvPr>
            <p:cNvSpPr>
              <a:spLocks noChangeShapeType="1"/>
            </p:cNvSpPr>
            <p:nvPr/>
          </p:nvSpPr>
          <p:spPr bwMode="auto">
            <a:xfrm>
              <a:off x="7249992" y="4515266"/>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7" name="Line 19">
              <a:extLst>
                <a:ext uri="{FF2B5EF4-FFF2-40B4-BE49-F238E27FC236}">
                  <a16:creationId xmlns:a16="http://schemas.microsoft.com/office/drawing/2014/main" id="{9D83A860-61F1-4DAE-9C94-234EE69FDC0B}"/>
                </a:ext>
              </a:extLst>
            </p:cNvPr>
            <p:cNvSpPr>
              <a:spLocks noChangeShapeType="1"/>
            </p:cNvSpPr>
            <p:nvPr/>
          </p:nvSpPr>
          <p:spPr bwMode="auto">
            <a:xfrm>
              <a:off x="7249992" y="4886905"/>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8" name="Line 26">
              <a:extLst>
                <a:ext uri="{FF2B5EF4-FFF2-40B4-BE49-F238E27FC236}">
                  <a16:creationId xmlns:a16="http://schemas.microsoft.com/office/drawing/2014/main" id="{513044D7-5F99-4A52-900B-F2DC551DE387}"/>
                </a:ext>
              </a:extLst>
            </p:cNvPr>
            <p:cNvSpPr>
              <a:spLocks noChangeShapeType="1"/>
            </p:cNvSpPr>
            <p:nvPr/>
          </p:nvSpPr>
          <p:spPr bwMode="auto">
            <a:xfrm>
              <a:off x="7242547" y="3433183"/>
              <a:ext cx="138749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19" name="Text Box 27">
              <a:extLst>
                <a:ext uri="{FF2B5EF4-FFF2-40B4-BE49-F238E27FC236}">
                  <a16:creationId xmlns:a16="http://schemas.microsoft.com/office/drawing/2014/main" id="{DE2DDA8C-E256-4F9A-92CA-BF06F7AAE517}"/>
                </a:ext>
              </a:extLst>
            </p:cNvPr>
            <p:cNvSpPr txBox="1">
              <a:spLocks noChangeArrowheads="1"/>
            </p:cNvSpPr>
            <p:nvPr/>
          </p:nvSpPr>
          <p:spPr bwMode="auto">
            <a:xfrm>
              <a:off x="6702425" y="2276475"/>
              <a:ext cx="730250"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0KB</a:t>
              </a:r>
            </a:p>
          </p:txBody>
        </p:sp>
        <p:sp>
          <p:nvSpPr>
            <p:cNvPr id="20" name="Text Box 28">
              <a:extLst>
                <a:ext uri="{FF2B5EF4-FFF2-40B4-BE49-F238E27FC236}">
                  <a16:creationId xmlns:a16="http://schemas.microsoft.com/office/drawing/2014/main" id="{C09F4662-4D80-4E90-BB4A-931230E2CDE7}"/>
                </a:ext>
              </a:extLst>
            </p:cNvPr>
            <p:cNvSpPr txBox="1">
              <a:spLocks noChangeArrowheads="1"/>
            </p:cNvSpPr>
            <p:nvPr/>
          </p:nvSpPr>
          <p:spPr bwMode="auto">
            <a:xfrm>
              <a:off x="6621463" y="2614613"/>
              <a:ext cx="715962"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20KB</a:t>
              </a:r>
            </a:p>
          </p:txBody>
        </p:sp>
        <p:sp>
          <p:nvSpPr>
            <p:cNvPr id="21" name="Text Box 29">
              <a:extLst>
                <a:ext uri="{FF2B5EF4-FFF2-40B4-BE49-F238E27FC236}">
                  <a16:creationId xmlns:a16="http://schemas.microsoft.com/office/drawing/2014/main" id="{464BD479-5771-4625-A4DE-D7C7120A9AB5}"/>
                </a:ext>
              </a:extLst>
            </p:cNvPr>
            <p:cNvSpPr txBox="1">
              <a:spLocks noChangeArrowheads="1"/>
            </p:cNvSpPr>
            <p:nvPr/>
          </p:nvSpPr>
          <p:spPr bwMode="auto">
            <a:xfrm>
              <a:off x="6526213" y="3246438"/>
              <a:ext cx="844550"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100KB</a:t>
              </a:r>
            </a:p>
          </p:txBody>
        </p:sp>
        <p:sp>
          <p:nvSpPr>
            <p:cNvPr id="22" name="Text Box 32">
              <a:extLst>
                <a:ext uri="{FF2B5EF4-FFF2-40B4-BE49-F238E27FC236}">
                  <a16:creationId xmlns:a16="http://schemas.microsoft.com/office/drawing/2014/main" id="{F37B5008-B59D-4C67-9217-B8245742685E}"/>
                </a:ext>
              </a:extLst>
            </p:cNvPr>
            <p:cNvSpPr txBox="1">
              <a:spLocks noChangeArrowheads="1"/>
            </p:cNvSpPr>
            <p:nvPr/>
          </p:nvSpPr>
          <p:spPr bwMode="auto">
            <a:xfrm>
              <a:off x="6526213" y="4030663"/>
              <a:ext cx="812800"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160KB</a:t>
              </a:r>
            </a:p>
          </p:txBody>
        </p:sp>
        <p:sp>
          <p:nvSpPr>
            <p:cNvPr id="23" name="Text Box 33">
              <a:extLst>
                <a:ext uri="{FF2B5EF4-FFF2-40B4-BE49-F238E27FC236}">
                  <a16:creationId xmlns:a16="http://schemas.microsoft.com/office/drawing/2014/main" id="{B79CE203-2036-4203-A18D-49674FBADA4B}"/>
                </a:ext>
              </a:extLst>
            </p:cNvPr>
            <p:cNvSpPr txBox="1">
              <a:spLocks noChangeArrowheads="1"/>
            </p:cNvSpPr>
            <p:nvPr/>
          </p:nvSpPr>
          <p:spPr bwMode="auto">
            <a:xfrm>
              <a:off x="6540500" y="4692650"/>
              <a:ext cx="842962"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b="1">
                  <a:solidFill>
                    <a:schemeClr val="tx1"/>
                  </a:solidFill>
                  <a:latin typeface="Times New Roman" panose="02020603050405020304" pitchFamily="18" charset="0"/>
                  <a:ea typeface="宋体" panose="02010600030101010101" pitchFamily="2" charset="-122"/>
                </a:rPr>
                <a:t>210KB</a:t>
              </a:r>
            </a:p>
          </p:txBody>
        </p:sp>
        <p:sp>
          <p:nvSpPr>
            <p:cNvPr id="24" name="Text Box 37">
              <a:extLst>
                <a:ext uri="{FF2B5EF4-FFF2-40B4-BE49-F238E27FC236}">
                  <a16:creationId xmlns:a16="http://schemas.microsoft.com/office/drawing/2014/main" id="{8360E609-B9F8-4EF2-99ED-9E77AB4D7644}"/>
                </a:ext>
              </a:extLst>
            </p:cNvPr>
            <p:cNvSpPr txBox="1">
              <a:spLocks noChangeArrowheads="1"/>
            </p:cNvSpPr>
            <p:nvPr/>
          </p:nvSpPr>
          <p:spPr bwMode="auto">
            <a:xfrm>
              <a:off x="7639050" y="5532438"/>
              <a:ext cx="744537" cy="35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zh-CN" altLang="en-US" b="1" dirty="0">
                  <a:solidFill>
                    <a:schemeClr val="tx1"/>
                  </a:solidFill>
                  <a:latin typeface="Times New Roman" panose="02020603050405020304" pitchFamily="18" charset="0"/>
                  <a:ea typeface="宋体" panose="02010600030101010101" pitchFamily="2" charset="-122"/>
                </a:rPr>
                <a:t>主存</a:t>
              </a:r>
            </a:p>
          </p:txBody>
        </p:sp>
        <p:sp>
          <p:nvSpPr>
            <p:cNvPr id="25" name="Text Box 40">
              <a:extLst>
                <a:ext uri="{FF2B5EF4-FFF2-40B4-BE49-F238E27FC236}">
                  <a16:creationId xmlns:a16="http://schemas.microsoft.com/office/drawing/2014/main" id="{39D9E352-2F9C-431C-9542-F47151AA06CE}"/>
                </a:ext>
              </a:extLst>
            </p:cNvPr>
            <p:cNvSpPr txBox="1">
              <a:spLocks noChangeArrowheads="1"/>
            </p:cNvSpPr>
            <p:nvPr/>
          </p:nvSpPr>
          <p:spPr bwMode="auto">
            <a:xfrm>
              <a:off x="7686615" y="2417198"/>
              <a:ext cx="512762" cy="404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50000"/>
                </a:spcBef>
                <a:spcAft>
                  <a:spcPct val="0"/>
                </a:spcAft>
                <a:buClrTx/>
                <a:buSzTx/>
                <a:buFontTx/>
                <a:buNone/>
              </a:pPr>
              <a:r>
                <a:rPr kumimoji="1" lang="en-US" altLang="zh-CN" sz="3200" b="1" dirty="0">
                  <a:solidFill>
                    <a:srgbClr val="0000FF"/>
                  </a:solidFill>
                  <a:latin typeface="Times New Roman" panose="02020603050405020304" pitchFamily="18" charset="0"/>
                  <a:ea typeface="宋体" panose="02010600030101010101" pitchFamily="2" charset="-122"/>
                </a:rPr>
                <a:t>OS</a:t>
              </a:r>
            </a:p>
          </p:txBody>
        </p:sp>
        <p:sp>
          <p:nvSpPr>
            <p:cNvPr id="26" name="Rectangle 26" descr="浅色上对角线">
              <a:extLst>
                <a:ext uri="{FF2B5EF4-FFF2-40B4-BE49-F238E27FC236}">
                  <a16:creationId xmlns:a16="http://schemas.microsoft.com/office/drawing/2014/main" id="{B5CA2D20-4B76-4668-AB42-D0B05893E267}"/>
                </a:ext>
              </a:extLst>
            </p:cNvPr>
            <p:cNvSpPr>
              <a:spLocks noChangeArrowheads="1"/>
            </p:cNvSpPr>
            <p:nvPr/>
          </p:nvSpPr>
          <p:spPr bwMode="auto">
            <a:xfrm>
              <a:off x="7245525" y="4889890"/>
              <a:ext cx="1388987" cy="597011"/>
            </a:xfrm>
            <a:prstGeom prst="rect">
              <a:avLst/>
            </a:prstGeom>
            <a:pattFill prst="ltUpDiag">
              <a:fgClr>
                <a:srgbClr val="000000"/>
              </a:fgClr>
              <a:bgClr>
                <a:srgbClr val="FFFFFF"/>
              </a:bgClr>
            </a:pattFill>
            <a:ln w="9525">
              <a:noFill/>
              <a:miter lim="800000"/>
              <a:headEnd/>
              <a:tailEnd/>
            </a:ln>
          </p:spPr>
          <p:txBody>
            <a:bodyPr/>
            <a:lstStyle/>
            <a:p>
              <a:pPr marL="914400" indent="-341313" algn="ctr" eaLnBrk="1" hangingPunct="1">
                <a:lnSpc>
                  <a:spcPct val="120000"/>
                </a:lnSpc>
                <a:buClr>
                  <a:schemeClr val="tx2"/>
                </a:buClr>
                <a:buSzPct val="95000"/>
                <a:buFont typeface="Wingdings" panose="05000000000000000000" pitchFamily="2" charset="2"/>
                <a:buBlip>
                  <a:blip r:embed="rId2"/>
                </a:buBlip>
                <a:defRPr/>
              </a:pPr>
              <a:endParaRPr lang="zh-CN" altLang="zh-CN" sz="2400" b="1">
                <a:effectLst>
                  <a:outerShdw blurRad="38100" dist="38100" dir="2700000" algn="tl">
                    <a:srgbClr val="C0C0C0"/>
                  </a:outerShdw>
                </a:effectLst>
                <a:latin typeface="Arial" charset="0"/>
              </a:endParaRPr>
            </a:p>
          </p:txBody>
        </p:sp>
        <p:sp>
          <p:nvSpPr>
            <p:cNvPr id="27" name="Text Box 6">
              <a:extLst>
                <a:ext uri="{FF2B5EF4-FFF2-40B4-BE49-F238E27FC236}">
                  <a16:creationId xmlns:a16="http://schemas.microsoft.com/office/drawing/2014/main" id="{BACB61FB-0970-4E3C-BD17-98391CAB3A30}"/>
                </a:ext>
              </a:extLst>
            </p:cNvPr>
            <p:cNvSpPr txBox="1">
              <a:spLocks noChangeArrowheads="1"/>
            </p:cNvSpPr>
            <p:nvPr/>
          </p:nvSpPr>
          <p:spPr bwMode="auto">
            <a:xfrm>
              <a:off x="7623007" y="4955928"/>
              <a:ext cx="801688" cy="357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Aft>
                  <a:spcPct val="0"/>
                </a:spcAft>
                <a:buClrTx/>
                <a:buSzTx/>
                <a:buFontTx/>
                <a:buNone/>
              </a:pPr>
              <a:r>
                <a:rPr kumimoji="1" lang="en-US" altLang="zh-CN" b="1">
                  <a:solidFill>
                    <a:srgbClr val="0000FF"/>
                  </a:solidFill>
                  <a:latin typeface="Times New Roman" panose="02020603050405020304" pitchFamily="18" charset="0"/>
                  <a:ea typeface="宋体" panose="02010600030101010101" pitchFamily="2" charset="-122"/>
                </a:rPr>
                <a:t>46KB</a:t>
              </a:r>
            </a:p>
          </p:txBody>
        </p:sp>
        <p:sp>
          <p:nvSpPr>
            <p:cNvPr id="28" name="Rectangle 26" descr="浅色上对角线">
              <a:extLst>
                <a:ext uri="{FF2B5EF4-FFF2-40B4-BE49-F238E27FC236}">
                  <a16:creationId xmlns:a16="http://schemas.microsoft.com/office/drawing/2014/main" id="{C221DBA2-5C6A-4778-97D9-4F9F7C949D35}"/>
                </a:ext>
              </a:extLst>
            </p:cNvPr>
            <p:cNvSpPr>
              <a:spLocks noChangeArrowheads="1"/>
            </p:cNvSpPr>
            <p:nvPr/>
          </p:nvSpPr>
          <p:spPr bwMode="auto">
            <a:xfrm>
              <a:off x="7245525" y="2797367"/>
              <a:ext cx="1386009" cy="370147"/>
            </a:xfrm>
            <a:prstGeom prst="rect">
              <a:avLst/>
            </a:prstGeom>
            <a:pattFill prst="ltUpDiag">
              <a:fgClr>
                <a:srgbClr val="000000"/>
              </a:fgClr>
              <a:bgClr>
                <a:srgbClr val="FFFFFF"/>
              </a:bgClr>
            </a:pattFill>
            <a:ln w="9525" cap="sq" cmpd="sng">
              <a:solidFill>
                <a:schemeClr val="tx1"/>
              </a:solidFill>
              <a:prstDash val="sysDash"/>
              <a:miter lim="800000"/>
              <a:headEnd/>
              <a:tailEnd/>
            </a:ln>
          </p:spPr>
          <p:txBody>
            <a:bodyPr/>
            <a:lstStyle/>
            <a:p>
              <a:pPr marL="914400" indent="-341313" algn="ctr" eaLnBrk="1" hangingPunct="1">
                <a:lnSpc>
                  <a:spcPct val="120000"/>
                </a:lnSpc>
                <a:buClr>
                  <a:schemeClr val="tx2"/>
                </a:buClr>
                <a:buSzPct val="95000"/>
                <a:buFont typeface="Wingdings" panose="05000000000000000000" pitchFamily="2" charset="2"/>
                <a:buBlip>
                  <a:blip r:embed="rId2"/>
                </a:buBlip>
                <a:defRPr/>
              </a:pPr>
              <a:endParaRPr lang="zh-CN" altLang="zh-CN" sz="2400" b="1">
                <a:effectLst>
                  <a:outerShdw blurRad="38100" dist="38100" dir="2700000" algn="tl">
                    <a:srgbClr val="C0C0C0"/>
                  </a:outerShdw>
                </a:effectLst>
                <a:latin typeface="Arial" charset="0"/>
              </a:endParaRPr>
            </a:p>
          </p:txBody>
        </p:sp>
        <p:sp>
          <p:nvSpPr>
            <p:cNvPr id="29" name="Text Box 6">
              <a:extLst>
                <a:ext uri="{FF2B5EF4-FFF2-40B4-BE49-F238E27FC236}">
                  <a16:creationId xmlns:a16="http://schemas.microsoft.com/office/drawing/2014/main" id="{005F01F4-70B0-4E31-AB2C-FD1D93910CE5}"/>
                </a:ext>
              </a:extLst>
            </p:cNvPr>
            <p:cNvSpPr txBox="1">
              <a:spLocks noChangeArrowheads="1"/>
            </p:cNvSpPr>
            <p:nvPr/>
          </p:nvSpPr>
          <p:spPr bwMode="auto">
            <a:xfrm>
              <a:off x="7623007" y="2823678"/>
              <a:ext cx="801688" cy="33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Aft>
                  <a:spcPct val="0"/>
                </a:spcAft>
                <a:buClrTx/>
                <a:buSzTx/>
                <a:buFontTx/>
                <a:buNone/>
              </a:pPr>
              <a:r>
                <a:rPr kumimoji="1" lang="en-US" altLang="zh-CN" b="1">
                  <a:solidFill>
                    <a:srgbClr val="0000FF"/>
                  </a:solidFill>
                  <a:latin typeface="Times New Roman" panose="02020603050405020304" pitchFamily="18" charset="0"/>
                  <a:ea typeface="宋体" panose="02010600030101010101" pitchFamily="2" charset="-122"/>
                </a:rPr>
                <a:t>30KB</a:t>
              </a:r>
            </a:p>
          </p:txBody>
        </p:sp>
        <p:sp>
          <p:nvSpPr>
            <p:cNvPr id="30" name="Rectangle 26" descr="浅色上对角线">
              <a:extLst>
                <a:ext uri="{FF2B5EF4-FFF2-40B4-BE49-F238E27FC236}">
                  <a16:creationId xmlns:a16="http://schemas.microsoft.com/office/drawing/2014/main" id="{3E1A270E-6F70-46E0-BCAE-2BF637366868}"/>
                </a:ext>
              </a:extLst>
            </p:cNvPr>
            <p:cNvSpPr>
              <a:spLocks noChangeArrowheads="1"/>
            </p:cNvSpPr>
            <p:nvPr/>
          </p:nvSpPr>
          <p:spPr bwMode="auto">
            <a:xfrm>
              <a:off x="7245525" y="3442138"/>
              <a:ext cx="1388987" cy="286565"/>
            </a:xfrm>
            <a:prstGeom prst="rect">
              <a:avLst/>
            </a:prstGeom>
            <a:pattFill prst="ltUpDiag">
              <a:fgClr>
                <a:srgbClr val="000000"/>
              </a:fgClr>
              <a:bgClr>
                <a:srgbClr val="FFFFFF"/>
              </a:bgClr>
            </a:pattFill>
            <a:ln w="9525">
              <a:noFill/>
              <a:miter lim="800000"/>
              <a:headEnd/>
              <a:tailEnd/>
            </a:ln>
          </p:spPr>
          <p:txBody>
            <a:bodyPr/>
            <a:lstStyle/>
            <a:p>
              <a:pPr marL="914400" indent="-341313" algn="ctr" eaLnBrk="1" hangingPunct="1">
                <a:lnSpc>
                  <a:spcPct val="120000"/>
                </a:lnSpc>
                <a:buClr>
                  <a:schemeClr val="tx2"/>
                </a:buClr>
                <a:buSzPct val="95000"/>
                <a:buFont typeface="Wingdings" panose="05000000000000000000" pitchFamily="2" charset="2"/>
                <a:buBlip>
                  <a:blip r:embed="rId2"/>
                </a:buBlip>
                <a:defRPr/>
              </a:pPr>
              <a:endParaRPr lang="zh-CN" altLang="zh-CN" sz="2400" b="1">
                <a:effectLst>
                  <a:outerShdw blurRad="38100" dist="38100" dir="2700000" algn="tl">
                    <a:srgbClr val="C0C0C0"/>
                  </a:outerShdw>
                </a:effectLst>
                <a:latin typeface="Arial" charset="0"/>
              </a:endParaRPr>
            </a:p>
          </p:txBody>
        </p:sp>
        <p:sp>
          <p:nvSpPr>
            <p:cNvPr id="31" name="Text Box 6">
              <a:extLst>
                <a:ext uri="{FF2B5EF4-FFF2-40B4-BE49-F238E27FC236}">
                  <a16:creationId xmlns:a16="http://schemas.microsoft.com/office/drawing/2014/main" id="{3B4D049A-9C36-4D21-8784-7EA8424B6F7D}"/>
                </a:ext>
              </a:extLst>
            </p:cNvPr>
            <p:cNvSpPr txBox="1">
              <a:spLocks noChangeArrowheads="1"/>
            </p:cNvSpPr>
            <p:nvPr/>
          </p:nvSpPr>
          <p:spPr bwMode="auto">
            <a:xfrm>
              <a:off x="7623007" y="3410821"/>
              <a:ext cx="801688" cy="33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Aft>
                  <a:spcPct val="0"/>
                </a:spcAft>
                <a:buClrTx/>
                <a:buSzTx/>
                <a:buFontTx/>
                <a:buNone/>
              </a:pPr>
              <a:r>
                <a:rPr kumimoji="1" lang="en-US" altLang="zh-CN" b="1" dirty="0">
                  <a:solidFill>
                    <a:srgbClr val="0000FF"/>
                  </a:solidFill>
                  <a:latin typeface="Times New Roman" panose="02020603050405020304" pitchFamily="18" charset="0"/>
                  <a:ea typeface="宋体" panose="02010600030101010101" pitchFamily="2" charset="-122"/>
                </a:rPr>
                <a:t>20KB</a:t>
              </a:r>
            </a:p>
          </p:txBody>
        </p:sp>
        <p:sp>
          <p:nvSpPr>
            <p:cNvPr id="32" name="Rectangle 26" descr="浅色上对角线">
              <a:extLst>
                <a:ext uri="{FF2B5EF4-FFF2-40B4-BE49-F238E27FC236}">
                  <a16:creationId xmlns:a16="http://schemas.microsoft.com/office/drawing/2014/main" id="{6EFF2D7E-56A9-4972-8979-8E2C91393DA4}"/>
                </a:ext>
              </a:extLst>
            </p:cNvPr>
            <p:cNvSpPr>
              <a:spLocks noChangeArrowheads="1"/>
            </p:cNvSpPr>
            <p:nvPr/>
          </p:nvSpPr>
          <p:spPr bwMode="auto">
            <a:xfrm>
              <a:off x="7245525" y="4212283"/>
              <a:ext cx="1386009" cy="292535"/>
            </a:xfrm>
            <a:prstGeom prst="rect">
              <a:avLst/>
            </a:prstGeom>
            <a:pattFill prst="ltUpDiag">
              <a:fgClr>
                <a:srgbClr val="000000"/>
              </a:fgClr>
              <a:bgClr>
                <a:srgbClr val="FFFFFF"/>
              </a:bgClr>
            </a:pattFill>
            <a:ln w="9525">
              <a:noFill/>
              <a:miter lim="800000"/>
              <a:headEnd/>
              <a:tailEnd/>
            </a:ln>
          </p:spPr>
          <p:txBody>
            <a:bodyPr/>
            <a:lstStyle/>
            <a:p>
              <a:pPr marL="914400" indent="-341313" algn="ctr" eaLnBrk="1" hangingPunct="1">
                <a:lnSpc>
                  <a:spcPct val="120000"/>
                </a:lnSpc>
                <a:buClr>
                  <a:schemeClr val="tx2"/>
                </a:buClr>
                <a:buSzPct val="95000"/>
                <a:buFont typeface="Wingdings" panose="05000000000000000000" pitchFamily="2" charset="2"/>
                <a:buBlip>
                  <a:blip r:embed="rId2"/>
                </a:buBlip>
                <a:defRPr/>
              </a:pPr>
              <a:endParaRPr lang="zh-CN" altLang="zh-CN" sz="2400" b="1">
                <a:effectLst>
                  <a:outerShdw blurRad="38100" dist="38100" dir="2700000" algn="tl">
                    <a:srgbClr val="C0C0C0"/>
                  </a:outerShdw>
                </a:effectLst>
                <a:latin typeface="Arial" charset="0"/>
              </a:endParaRPr>
            </a:p>
          </p:txBody>
        </p:sp>
        <p:sp>
          <p:nvSpPr>
            <p:cNvPr id="33" name="Text Box 6">
              <a:extLst>
                <a:ext uri="{FF2B5EF4-FFF2-40B4-BE49-F238E27FC236}">
                  <a16:creationId xmlns:a16="http://schemas.microsoft.com/office/drawing/2014/main" id="{A84BBA15-C831-4C82-A725-09FEEE9CB8F1}"/>
                </a:ext>
              </a:extLst>
            </p:cNvPr>
            <p:cNvSpPr txBox="1">
              <a:spLocks noChangeArrowheads="1"/>
            </p:cNvSpPr>
            <p:nvPr/>
          </p:nvSpPr>
          <p:spPr bwMode="auto">
            <a:xfrm>
              <a:off x="7632632" y="4200092"/>
              <a:ext cx="801688" cy="33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Aft>
                  <a:spcPct val="0"/>
                </a:spcAft>
                <a:buClrTx/>
                <a:buSzTx/>
                <a:buFontTx/>
                <a:buNone/>
              </a:pPr>
              <a:r>
                <a:rPr kumimoji="1" lang="en-US" altLang="zh-CN" b="1">
                  <a:solidFill>
                    <a:srgbClr val="0000FF"/>
                  </a:solidFill>
                  <a:latin typeface="Times New Roman" panose="02020603050405020304" pitchFamily="18" charset="0"/>
                  <a:ea typeface="宋体" panose="02010600030101010101" pitchFamily="2" charset="-122"/>
                </a:rPr>
                <a:t>5KB</a:t>
              </a:r>
            </a:p>
          </p:txBody>
        </p:sp>
        <p:sp>
          <p:nvSpPr>
            <p:cNvPr id="34" name="Line 14">
              <a:extLst>
                <a:ext uri="{FF2B5EF4-FFF2-40B4-BE49-F238E27FC236}">
                  <a16:creationId xmlns:a16="http://schemas.microsoft.com/office/drawing/2014/main" id="{BA159B78-9FDA-4DDE-BC71-FE5D8532868B}"/>
                </a:ext>
              </a:extLst>
            </p:cNvPr>
            <p:cNvSpPr>
              <a:spLocks noChangeShapeType="1"/>
            </p:cNvSpPr>
            <p:nvPr/>
          </p:nvSpPr>
          <p:spPr bwMode="auto">
            <a:xfrm>
              <a:off x="7248502" y="2786919"/>
              <a:ext cx="1386009"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35" name="Line 14">
              <a:extLst>
                <a:ext uri="{FF2B5EF4-FFF2-40B4-BE49-F238E27FC236}">
                  <a16:creationId xmlns:a16="http://schemas.microsoft.com/office/drawing/2014/main" id="{1E0BD646-E9FF-42EF-9F63-5074BCF2CA63}"/>
                </a:ext>
              </a:extLst>
            </p:cNvPr>
            <p:cNvSpPr>
              <a:spLocks noChangeShapeType="1"/>
            </p:cNvSpPr>
            <p:nvPr/>
          </p:nvSpPr>
          <p:spPr bwMode="auto">
            <a:xfrm>
              <a:off x="7239570" y="3164528"/>
              <a:ext cx="1386009"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36" name="Line 14">
              <a:extLst>
                <a:ext uri="{FF2B5EF4-FFF2-40B4-BE49-F238E27FC236}">
                  <a16:creationId xmlns:a16="http://schemas.microsoft.com/office/drawing/2014/main" id="{B85277A9-E81B-40B7-970A-CA9596114BEC}"/>
                </a:ext>
              </a:extLst>
            </p:cNvPr>
            <p:cNvSpPr>
              <a:spLocks noChangeShapeType="1"/>
            </p:cNvSpPr>
            <p:nvPr/>
          </p:nvSpPr>
          <p:spPr bwMode="auto">
            <a:xfrm>
              <a:off x="7249992" y="4213776"/>
              <a:ext cx="1386008"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effectLst>
                  <a:outerShdw blurRad="38100" dist="38100" dir="2700000" algn="tl">
                    <a:srgbClr val="000000">
                      <a:alpha val="43137"/>
                    </a:srgbClr>
                  </a:outerShdw>
                </a:effectLst>
                <a:latin typeface="Arial" charset="0"/>
              </a:endParaRPr>
            </a:p>
          </p:txBody>
        </p:sp>
        <p:sp>
          <p:nvSpPr>
            <p:cNvPr id="37" name="Line 14">
              <a:extLst>
                <a:ext uri="{FF2B5EF4-FFF2-40B4-BE49-F238E27FC236}">
                  <a16:creationId xmlns:a16="http://schemas.microsoft.com/office/drawing/2014/main" id="{9209472D-1EB2-4BAC-8C19-E92FD1E32AA6}"/>
                </a:ext>
              </a:extLst>
            </p:cNvPr>
            <p:cNvSpPr>
              <a:spLocks noChangeShapeType="1"/>
            </p:cNvSpPr>
            <p:nvPr/>
          </p:nvSpPr>
          <p:spPr bwMode="auto">
            <a:xfrm>
              <a:off x="7239570" y="3712286"/>
              <a:ext cx="1386009" cy="0"/>
            </a:xfrm>
            <a:prstGeom prst="line">
              <a:avLst/>
            </a:prstGeom>
            <a:noFill/>
            <a:ln w="9525">
              <a:solidFill>
                <a:srgbClr val="000000"/>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sz="2400" b="1">
                <a:solidFill>
                  <a:srgbClr val="0000FF"/>
                </a:solidFill>
                <a:effectLst>
                  <a:outerShdw blurRad="38100" dist="38100" dir="2700000" algn="tl">
                    <a:srgbClr val="000000">
                      <a:alpha val="43137"/>
                    </a:srgbClr>
                  </a:outerShdw>
                </a:effectLst>
                <a:latin typeface="Arial" charset="0"/>
              </a:endParaRPr>
            </a:p>
          </p:txBody>
        </p:sp>
      </p:grpSp>
    </p:spTree>
    <p:extLst>
      <p:ext uri="{BB962C8B-B14F-4D97-AF65-F5344CB8AC3E}">
        <p14:creationId xmlns:p14="http://schemas.microsoft.com/office/powerpoint/2010/main" val="292785689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4655959-E483-D42B-454A-FCD4D03FC50D}"/>
              </a:ext>
            </a:extLst>
          </p:cNvPr>
          <p:cNvSpPr>
            <a:spLocks noGrp="1"/>
          </p:cNvSpPr>
          <p:nvPr>
            <p:ph idx="1"/>
          </p:nvPr>
        </p:nvSpPr>
        <p:spPr>
          <a:xfrm>
            <a:off x="608330" y="820739"/>
            <a:ext cx="10968990" cy="5428932"/>
          </a:xfrm>
        </p:spPr>
        <p:txBody>
          <a:bodyPr>
            <a:normAutofit lnSpcReduction="10000"/>
          </a:bodyPr>
          <a:lstStyle/>
          <a:p>
            <a:pPr marL="0" indent="0">
              <a:lnSpc>
                <a:spcPct val="150000"/>
              </a:lnSpc>
              <a:buNone/>
            </a:pPr>
            <a:r>
              <a:rPr lang="en-US" altLang="zh-CN" dirty="0"/>
              <a:t>1. </a:t>
            </a:r>
            <a:r>
              <a:rPr lang="zh-CN" altLang="zh-CN" dirty="0"/>
              <a:t>某系统采用动态分区存储管理，当前内存空闲分区（按地址从低到高排列）为：</a:t>
            </a:r>
            <a:r>
              <a:rPr lang="en-US" altLang="zh-CN" dirty="0"/>
              <a:t>100KB</a:t>
            </a:r>
            <a:r>
              <a:rPr lang="zh-CN" altLang="zh-CN" dirty="0"/>
              <a:t>（</a:t>
            </a:r>
            <a:r>
              <a:rPr lang="en-US" altLang="zh-CN" dirty="0"/>
              <a:t>0~100KB</a:t>
            </a:r>
            <a:r>
              <a:rPr lang="zh-CN" altLang="zh-CN" dirty="0"/>
              <a:t>）</a:t>
            </a:r>
            <a:r>
              <a:rPr lang="en-US" altLang="zh-CN" dirty="0"/>
              <a:t>→ 300KB</a:t>
            </a:r>
            <a:r>
              <a:rPr lang="zh-CN" altLang="zh-CN" dirty="0"/>
              <a:t>（</a:t>
            </a:r>
            <a:r>
              <a:rPr lang="en-US" altLang="zh-CN" dirty="0"/>
              <a:t>200~500KB</a:t>
            </a:r>
            <a:r>
              <a:rPr lang="zh-CN" altLang="zh-CN" dirty="0"/>
              <a:t>）</a:t>
            </a:r>
            <a:r>
              <a:rPr lang="en-US" altLang="zh-CN" dirty="0"/>
              <a:t>→ 150KB</a:t>
            </a:r>
            <a:r>
              <a:rPr lang="zh-CN" altLang="zh-CN" dirty="0"/>
              <a:t>（</a:t>
            </a:r>
            <a:r>
              <a:rPr lang="en-US" altLang="zh-CN" dirty="0"/>
              <a:t>600~750KB</a:t>
            </a:r>
            <a:r>
              <a:rPr lang="zh-CN" altLang="zh-CN" dirty="0"/>
              <a:t>）</a:t>
            </a:r>
            <a:r>
              <a:rPr lang="en-US" altLang="zh-CN" dirty="0"/>
              <a:t>→ 400KB</a:t>
            </a:r>
            <a:r>
              <a:rPr lang="zh-CN" altLang="zh-CN" dirty="0"/>
              <a:t>（</a:t>
            </a:r>
            <a:r>
              <a:rPr lang="en-US" altLang="zh-CN" dirty="0"/>
              <a:t>800~1200KB</a:t>
            </a:r>
            <a:r>
              <a:rPr lang="zh-CN" altLang="zh-CN" dirty="0"/>
              <a:t>）。现有三个程序依次申请内存：程序</a:t>
            </a:r>
            <a:r>
              <a:rPr lang="en-US" altLang="zh-CN" dirty="0"/>
              <a:t>A</a:t>
            </a:r>
            <a:r>
              <a:rPr lang="zh-CN" altLang="zh-CN" dirty="0"/>
              <a:t>（</a:t>
            </a:r>
            <a:r>
              <a:rPr lang="en-US" altLang="zh-CN" dirty="0"/>
              <a:t>250KB</a:t>
            </a:r>
            <a:r>
              <a:rPr lang="zh-CN" altLang="zh-CN" dirty="0"/>
              <a:t>）、程序</a:t>
            </a:r>
            <a:r>
              <a:rPr lang="en-US" altLang="zh-CN" dirty="0"/>
              <a:t>B</a:t>
            </a:r>
            <a:r>
              <a:rPr lang="zh-CN" altLang="zh-CN" dirty="0"/>
              <a:t>（</a:t>
            </a:r>
            <a:r>
              <a:rPr lang="en-US" altLang="zh-CN" dirty="0"/>
              <a:t>120KB</a:t>
            </a:r>
            <a:r>
              <a:rPr lang="zh-CN" altLang="zh-CN" dirty="0"/>
              <a:t>）、程序</a:t>
            </a:r>
            <a:r>
              <a:rPr lang="en-US" altLang="zh-CN" dirty="0"/>
              <a:t>C</a:t>
            </a:r>
            <a:r>
              <a:rPr lang="zh-CN" altLang="zh-CN" dirty="0"/>
              <a:t>（</a:t>
            </a:r>
            <a:r>
              <a:rPr lang="en-US" altLang="zh-CN" dirty="0"/>
              <a:t>350KB</a:t>
            </a:r>
            <a:r>
              <a:rPr lang="zh-CN" altLang="zh-CN" dirty="0"/>
              <a:t>）。下列关于三种分配算法分配结果的描述，</a:t>
            </a:r>
            <a:r>
              <a:rPr lang="zh-CN" altLang="zh-CN" b="1" dirty="0"/>
              <a:t>正确的是</a:t>
            </a:r>
            <a:r>
              <a:rPr lang="zh-CN" altLang="zh-CN" dirty="0"/>
              <a:t>（ ）。</a:t>
            </a:r>
          </a:p>
          <a:p>
            <a:pPr marL="0" indent="0">
              <a:lnSpc>
                <a:spcPct val="150000"/>
              </a:lnSpc>
              <a:buNone/>
            </a:pPr>
            <a:r>
              <a:rPr lang="en-US" altLang="zh-CN" dirty="0"/>
              <a:t>A. </a:t>
            </a:r>
            <a:r>
              <a:rPr lang="zh-CN" altLang="zh-CN" dirty="0"/>
              <a:t>首次适应算法中，程序</a:t>
            </a:r>
            <a:r>
              <a:rPr lang="en-US" altLang="zh-CN" dirty="0"/>
              <a:t>A</a:t>
            </a:r>
            <a:r>
              <a:rPr lang="zh-CN" altLang="zh-CN" dirty="0"/>
              <a:t>会分配到</a:t>
            </a:r>
            <a:r>
              <a:rPr lang="en-US" altLang="zh-CN" dirty="0"/>
              <a:t> 800~1200KB </a:t>
            </a:r>
            <a:r>
              <a:rPr lang="zh-CN" altLang="zh-CN" dirty="0"/>
              <a:t>分区</a:t>
            </a:r>
          </a:p>
          <a:p>
            <a:pPr marL="0" indent="0">
              <a:lnSpc>
                <a:spcPct val="150000"/>
              </a:lnSpc>
              <a:buNone/>
            </a:pPr>
            <a:r>
              <a:rPr lang="en-US" altLang="zh-CN" dirty="0"/>
              <a:t>B. </a:t>
            </a:r>
            <a:r>
              <a:rPr lang="zh-CN" altLang="zh-CN" dirty="0"/>
              <a:t>最佳适应算法中，程序</a:t>
            </a:r>
            <a:r>
              <a:rPr lang="en-US" altLang="zh-CN" dirty="0"/>
              <a:t>A</a:t>
            </a:r>
            <a:r>
              <a:rPr lang="zh-CN" altLang="zh-CN" dirty="0"/>
              <a:t>会分配到</a:t>
            </a:r>
            <a:r>
              <a:rPr lang="en-US" altLang="zh-CN" dirty="0"/>
              <a:t> 100KB</a:t>
            </a:r>
            <a:r>
              <a:rPr lang="zh-CN" altLang="zh-CN" dirty="0"/>
              <a:t>（</a:t>
            </a:r>
            <a:r>
              <a:rPr lang="en-US" altLang="zh-CN" dirty="0"/>
              <a:t>0~100KB</a:t>
            </a:r>
            <a:r>
              <a:rPr lang="zh-CN" altLang="zh-CN" dirty="0"/>
              <a:t>）分区</a:t>
            </a:r>
          </a:p>
          <a:p>
            <a:pPr marL="0" indent="0">
              <a:lnSpc>
                <a:spcPct val="150000"/>
              </a:lnSpc>
              <a:buNone/>
            </a:pPr>
            <a:r>
              <a:rPr lang="en-US" altLang="zh-CN" dirty="0"/>
              <a:t>C. </a:t>
            </a:r>
            <a:r>
              <a:rPr lang="zh-CN" altLang="zh-CN" dirty="0"/>
              <a:t>最坏适应算法中，程序</a:t>
            </a:r>
            <a:r>
              <a:rPr lang="en-US" altLang="zh-CN" dirty="0"/>
              <a:t>A</a:t>
            </a:r>
            <a:r>
              <a:rPr lang="zh-CN" altLang="zh-CN" dirty="0"/>
              <a:t>会分配到</a:t>
            </a:r>
            <a:r>
              <a:rPr lang="en-US" altLang="zh-CN" dirty="0"/>
              <a:t> 800~1200KB </a:t>
            </a:r>
            <a:r>
              <a:rPr lang="zh-CN" altLang="zh-CN" dirty="0"/>
              <a:t>分区</a:t>
            </a:r>
          </a:p>
          <a:p>
            <a:pPr marL="0" indent="0">
              <a:lnSpc>
                <a:spcPct val="150000"/>
              </a:lnSpc>
              <a:buNone/>
            </a:pPr>
            <a:r>
              <a:rPr lang="en-US" altLang="zh-CN" dirty="0"/>
              <a:t>D. </a:t>
            </a:r>
            <a:r>
              <a:rPr lang="zh-CN" altLang="zh-CN" dirty="0"/>
              <a:t>三种算法中，仅有最佳适应算法能让三个程序全部分配成功</a:t>
            </a:r>
          </a:p>
          <a:p>
            <a:pPr marL="0" indent="0">
              <a:lnSpc>
                <a:spcPct val="150000"/>
              </a:lnSpc>
              <a:buNone/>
            </a:pPr>
            <a:endParaRPr lang="zh-CN" altLang="en-US" dirty="0"/>
          </a:p>
        </p:txBody>
      </p:sp>
      <p:sp>
        <p:nvSpPr>
          <p:cNvPr id="4" name="标题 1">
            <a:extLst>
              <a:ext uri="{FF2B5EF4-FFF2-40B4-BE49-F238E27FC236}">
                <a16:creationId xmlns:a16="http://schemas.microsoft.com/office/drawing/2014/main" id="{AF339E71-38C9-2FC4-6004-F076C6467824}"/>
              </a:ext>
            </a:extLst>
          </p:cNvPr>
          <p:cNvSpPr>
            <a:spLocks noGrp="1"/>
          </p:cNvSpPr>
          <p:nvPr>
            <p:ph type="title"/>
          </p:nvPr>
        </p:nvSpPr>
        <p:spPr>
          <a:xfrm>
            <a:off x="1076325" y="114300"/>
            <a:ext cx="10969625" cy="706438"/>
          </a:xfrm>
        </p:spPr>
        <p:txBody>
          <a:bodyPr/>
          <a:lstStyle/>
          <a:p>
            <a:r>
              <a:rPr lang="zh-CN" altLang="en-US" dirty="0"/>
              <a:t>练习</a:t>
            </a:r>
          </a:p>
        </p:txBody>
      </p:sp>
    </p:spTree>
    <p:extLst>
      <p:ext uri="{BB962C8B-B14F-4D97-AF65-F5344CB8AC3E}">
        <p14:creationId xmlns:p14="http://schemas.microsoft.com/office/powerpoint/2010/main" val="97442066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A55AD0-69C5-4D8B-A917-63FA45DA1A95}"/>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F344278D-2CD5-4B6E-9BBA-1C7F35495C39}"/>
              </a:ext>
            </a:extLst>
          </p:cNvPr>
          <p:cNvSpPr>
            <a:spLocks noGrp="1"/>
          </p:cNvSpPr>
          <p:nvPr>
            <p:ph idx="1"/>
          </p:nvPr>
        </p:nvSpPr>
        <p:spPr>
          <a:xfrm>
            <a:off x="608330" y="1227455"/>
            <a:ext cx="10968990" cy="3308919"/>
          </a:xfrm>
        </p:spPr>
        <p:txBody>
          <a:bodyPr>
            <a:normAutofit/>
          </a:bodyPr>
          <a:lstStyle/>
          <a:p>
            <a:pPr marL="0" indent="0">
              <a:buNone/>
            </a:pPr>
            <a:r>
              <a:rPr lang="en-US" altLang="zh-CN" sz="2800" dirty="0"/>
              <a:t>2.</a:t>
            </a:r>
            <a:r>
              <a:rPr lang="zh-CN" altLang="en-US" sz="2800" dirty="0"/>
              <a:t>某基于动态分区存储管理的计算机，其主存容量为 </a:t>
            </a:r>
            <a:r>
              <a:rPr lang="en-US" altLang="zh-CN" sz="2800" dirty="0"/>
              <a:t>55MB</a:t>
            </a:r>
            <a:r>
              <a:rPr lang="zh-CN" altLang="en-US" sz="2800" dirty="0"/>
              <a:t>（初始为空闲），采用最佳适配算法，分配和释放的顺序为：分配 </a:t>
            </a:r>
            <a:r>
              <a:rPr lang="en-US" altLang="zh-CN" sz="2800" dirty="0"/>
              <a:t>15MB</a:t>
            </a:r>
            <a:r>
              <a:rPr lang="zh-CN" altLang="en-US" sz="2800" dirty="0"/>
              <a:t>，分配 </a:t>
            </a:r>
            <a:r>
              <a:rPr lang="en-US" altLang="zh-CN" sz="2800" dirty="0"/>
              <a:t>30MB</a:t>
            </a:r>
            <a:r>
              <a:rPr lang="zh-CN" altLang="en-US" sz="2800" dirty="0"/>
              <a:t>，释放 </a:t>
            </a:r>
            <a:r>
              <a:rPr lang="en-US" altLang="zh-CN" sz="2800" dirty="0"/>
              <a:t>15MB</a:t>
            </a:r>
            <a:r>
              <a:rPr lang="zh-CN" altLang="en-US" sz="2800" dirty="0"/>
              <a:t>，分配 </a:t>
            </a:r>
            <a:r>
              <a:rPr lang="en-US" altLang="zh-CN" sz="2800" dirty="0"/>
              <a:t>8MB</a:t>
            </a:r>
            <a:r>
              <a:rPr lang="zh-CN" altLang="en-US" sz="2800" dirty="0"/>
              <a:t>，分配 </a:t>
            </a:r>
            <a:r>
              <a:rPr lang="en-US" altLang="zh-CN" sz="2800" dirty="0"/>
              <a:t>6MB</a:t>
            </a:r>
            <a:r>
              <a:rPr lang="zh-CN" altLang="en-US" sz="2800" dirty="0"/>
              <a:t>，此时主存中最大空闲分区的大小是（   ）。</a:t>
            </a:r>
          </a:p>
          <a:p>
            <a:pPr marL="0" indent="0">
              <a:buNone/>
            </a:pPr>
            <a:r>
              <a:rPr lang="en-US" altLang="zh-CN" sz="2800" dirty="0"/>
              <a:t>   A</a:t>
            </a:r>
            <a:r>
              <a:rPr lang="zh-CN" altLang="en-US" sz="2800" dirty="0"/>
              <a:t>、</a:t>
            </a:r>
            <a:r>
              <a:rPr lang="en-US" altLang="zh-CN" sz="2800" dirty="0"/>
              <a:t>7MB </a:t>
            </a:r>
            <a:r>
              <a:rPr lang="zh-CN" altLang="en-US" sz="2800" dirty="0"/>
              <a:t>　　</a:t>
            </a:r>
            <a:r>
              <a:rPr lang="en-US" altLang="zh-CN" sz="2800" dirty="0"/>
              <a:t>B</a:t>
            </a:r>
            <a:r>
              <a:rPr lang="zh-CN" altLang="en-US" sz="2800" dirty="0"/>
              <a:t>、</a:t>
            </a:r>
            <a:r>
              <a:rPr lang="en-US" altLang="zh-CN" sz="2800" dirty="0"/>
              <a:t>9MB</a:t>
            </a:r>
            <a:r>
              <a:rPr lang="zh-CN" altLang="en-US" sz="2800" dirty="0"/>
              <a:t>　　 </a:t>
            </a:r>
            <a:r>
              <a:rPr lang="en-US" altLang="zh-CN" sz="2800" dirty="0"/>
              <a:t>C</a:t>
            </a:r>
            <a:r>
              <a:rPr lang="zh-CN" altLang="en-US" sz="2800" dirty="0"/>
              <a:t>、</a:t>
            </a:r>
            <a:r>
              <a:rPr lang="en-US" altLang="zh-CN" sz="2800" dirty="0"/>
              <a:t>10MB </a:t>
            </a:r>
            <a:r>
              <a:rPr lang="zh-CN" altLang="en-US" sz="2800" dirty="0"/>
              <a:t>　　</a:t>
            </a:r>
            <a:r>
              <a:rPr lang="en-US" altLang="zh-CN" sz="2800" dirty="0"/>
              <a:t>D</a:t>
            </a:r>
            <a:r>
              <a:rPr lang="zh-CN" altLang="en-US" sz="2800" dirty="0"/>
              <a:t>、</a:t>
            </a:r>
            <a:r>
              <a:rPr lang="en-US" altLang="zh-CN" sz="2800" dirty="0"/>
              <a:t>15MB</a:t>
            </a:r>
          </a:p>
        </p:txBody>
      </p:sp>
    </p:spTree>
    <p:extLst>
      <p:ext uri="{BB962C8B-B14F-4D97-AF65-F5344CB8AC3E}">
        <p14:creationId xmlns:p14="http://schemas.microsoft.com/office/powerpoint/2010/main" val="165961362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55BF4-A710-4C01-9076-89C3AB644FF0}"/>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F71836ED-2E13-4D41-8738-E1F864F83433}"/>
              </a:ext>
            </a:extLst>
          </p:cNvPr>
          <p:cNvSpPr>
            <a:spLocks noGrp="1"/>
          </p:cNvSpPr>
          <p:nvPr>
            <p:ph idx="1"/>
          </p:nvPr>
        </p:nvSpPr>
        <p:spPr>
          <a:xfrm>
            <a:off x="747510" y="917892"/>
            <a:ext cx="10696979" cy="5022215"/>
          </a:xfrm>
        </p:spPr>
        <p:txBody>
          <a:bodyPr/>
          <a:lstStyle/>
          <a:p>
            <a:pPr marL="0" indent="0">
              <a:buNone/>
            </a:pPr>
            <a:r>
              <a:rPr lang="en-US" altLang="zh-CN" dirty="0"/>
              <a:t>3</a:t>
            </a:r>
            <a:r>
              <a:rPr lang="zh-CN" altLang="en-US" dirty="0"/>
              <a:t>、某操作系统采用可变分区分配存储管理方法，用户区为</a:t>
            </a:r>
            <a:r>
              <a:rPr lang="en-US" altLang="zh-CN" dirty="0"/>
              <a:t>512K</a:t>
            </a:r>
            <a:r>
              <a:rPr lang="zh-CN" altLang="en-US" dirty="0"/>
              <a:t>且始址为</a:t>
            </a:r>
            <a:r>
              <a:rPr lang="en-US" altLang="zh-CN" dirty="0"/>
              <a:t>0</a:t>
            </a:r>
            <a:r>
              <a:rPr lang="zh-CN" altLang="en-US" dirty="0"/>
              <a:t>，且初始时用户区的</a:t>
            </a:r>
            <a:r>
              <a:rPr lang="en-US" altLang="zh-CN" dirty="0"/>
              <a:t>512K</a:t>
            </a:r>
            <a:r>
              <a:rPr lang="zh-CN" altLang="en-US" dirty="0"/>
              <a:t>空间空闲，用户请求下列操作：</a:t>
            </a:r>
          </a:p>
          <a:p>
            <a:pPr marL="0" indent="0">
              <a:buNone/>
            </a:pPr>
            <a:r>
              <a:rPr lang="en-US" altLang="zh-CN" dirty="0"/>
              <a:t>Req(300K), req(100K), release(300K), req(150K), req(30K), req(40K), req(60K), release(30K)</a:t>
            </a:r>
          </a:p>
          <a:p>
            <a:pPr marL="0" indent="0">
              <a:buNone/>
            </a:pPr>
            <a:r>
              <a:rPr lang="zh-CN" altLang="en-US" dirty="0"/>
              <a:t>回答下列问题：</a:t>
            </a:r>
          </a:p>
          <a:p>
            <a:pPr marL="0" indent="0">
              <a:buNone/>
            </a:pPr>
            <a:r>
              <a:rPr lang="zh-CN" altLang="en-US" dirty="0"/>
              <a:t>（</a:t>
            </a:r>
            <a:r>
              <a:rPr lang="en-US" altLang="zh-CN" dirty="0"/>
              <a:t>1</a:t>
            </a:r>
            <a:r>
              <a:rPr lang="zh-CN" altLang="en-US" dirty="0"/>
              <a:t>） 采用首次适应算法，空闲分区中有哪些空闲块（给出图示，并给出始址、大小）？</a:t>
            </a:r>
          </a:p>
          <a:p>
            <a:pPr marL="0" indent="0">
              <a:buNone/>
            </a:pPr>
            <a:r>
              <a:rPr lang="zh-CN" altLang="en-US" dirty="0"/>
              <a:t>（</a:t>
            </a:r>
            <a:r>
              <a:rPr lang="en-US" altLang="zh-CN" dirty="0"/>
              <a:t>2</a:t>
            </a:r>
            <a:r>
              <a:rPr lang="zh-CN" altLang="en-US" dirty="0"/>
              <a:t>） 采用最佳适应算法，空闲分区中有哪些空闲块（给出图示，并给出始址、大小）？</a:t>
            </a:r>
          </a:p>
        </p:txBody>
      </p:sp>
    </p:spTree>
    <p:extLst>
      <p:ext uri="{BB962C8B-B14F-4D97-AF65-F5344CB8AC3E}">
        <p14:creationId xmlns:p14="http://schemas.microsoft.com/office/powerpoint/2010/main" val="333023203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a:extLst>
              <a:ext uri="{FF2B5EF4-FFF2-40B4-BE49-F238E27FC236}">
                <a16:creationId xmlns:a16="http://schemas.microsoft.com/office/drawing/2014/main" id="{60CA2F99-9780-4DB6-A0E2-D56519E33140}"/>
              </a:ext>
            </a:extLst>
          </p:cNvPr>
          <p:cNvSpPr>
            <a:spLocks noChangeArrowheads="1"/>
          </p:cNvSpPr>
          <p:nvPr/>
        </p:nvSpPr>
        <p:spPr bwMode="auto">
          <a:xfrm>
            <a:off x="837282" y="754064"/>
            <a:ext cx="10146535"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ct val="100000"/>
              </a:lnSpc>
              <a:spcBef>
                <a:spcPct val="20000"/>
              </a:spcBef>
              <a:spcAft>
                <a:spcPct val="0"/>
              </a:spcAft>
              <a:buClr>
                <a:srgbClr val="000000"/>
              </a:buClr>
              <a:buSzTx/>
              <a:buFont typeface="Wingdings" panose="05000000000000000000" pitchFamily="2" charset="2"/>
              <a:buNone/>
            </a:pPr>
            <a:r>
              <a:rPr lang="en-US" altLang="zh-CN" sz="2800" dirty="0">
                <a:solidFill>
                  <a:srgbClr val="000066"/>
                </a:solidFill>
                <a:latin typeface="黑体" panose="02010609060101010101" pitchFamily="49" charset="-122"/>
                <a:ea typeface="黑体" panose="02010609060101010101" pitchFamily="49" charset="-122"/>
              </a:rPr>
              <a:t>【</a:t>
            </a:r>
            <a:r>
              <a:rPr lang="zh-CN" altLang="en-US" sz="2800" dirty="0">
                <a:solidFill>
                  <a:srgbClr val="000066"/>
                </a:solidFill>
                <a:latin typeface="黑体" panose="02010609060101010101" pitchFamily="49" charset="-122"/>
                <a:ea typeface="黑体" panose="02010609060101010101" pitchFamily="49" charset="-122"/>
              </a:rPr>
              <a:t>例</a:t>
            </a:r>
            <a:r>
              <a:rPr lang="en-US" altLang="zh-CN" sz="2800" dirty="0">
                <a:solidFill>
                  <a:srgbClr val="000066"/>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某时刻系统中有三个空闲区</a:t>
            </a:r>
          </a:p>
          <a:p>
            <a:pPr algn="just" eaLnBrk="1" hangingPunct="1">
              <a:lnSpc>
                <a:spcPct val="100000"/>
              </a:lnSpc>
              <a:spcBef>
                <a:spcPct val="20000"/>
              </a:spcBef>
              <a:spcAft>
                <a:spcPct val="0"/>
              </a:spcAft>
              <a:buClrTx/>
              <a:buSzTx/>
              <a:buFontTx/>
              <a:buNone/>
            </a:pPr>
            <a:r>
              <a:rPr lang="zh-CN" altLang="en-US" sz="2800" dirty="0">
                <a:solidFill>
                  <a:srgbClr val="000000"/>
                </a:solidFill>
                <a:latin typeface="黑体" panose="02010609060101010101" pitchFamily="49" charset="-122"/>
                <a:ea typeface="黑体" panose="02010609060101010101" pitchFamily="49" charset="-122"/>
              </a:rPr>
              <a:t>其大小和首址为：</a:t>
            </a:r>
          </a:p>
          <a:p>
            <a:pPr algn="just" eaLnBrk="1" hangingPunct="1">
              <a:lnSpc>
                <a:spcPct val="100000"/>
              </a:lnSpc>
              <a:spcBef>
                <a:spcPct val="20000"/>
              </a:spcBef>
              <a:spcAft>
                <a:spcPct val="0"/>
              </a:spcAft>
              <a:buClrTx/>
              <a:buSzTx/>
              <a:buFontTx/>
              <a:buNone/>
            </a:pPr>
            <a:r>
              <a:rPr lang="en-US" altLang="zh-CN" sz="2800" dirty="0">
                <a:solidFill>
                  <a:srgbClr val="000000"/>
                </a:solidFill>
                <a:latin typeface="黑体" panose="02010609060101010101" pitchFamily="49" charset="-122"/>
                <a:ea typeface="黑体" panose="02010609060101010101" pitchFamily="49" charset="-122"/>
              </a:rPr>
              <a:t>(35KB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100KB)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(12KB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156KB)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(28KB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200KB)</a:t>
            </a:r>
          </a:p>
          <a:p>
            <a:pPr algn="just" eaLnBrk="1" hangingPunct="1">
              <a:lnSpc>
                <a:spcPct val="100000"/>
              </a:lnSpc>
              <a:spcBef>
                <a:spcPct val="20000"/>
              </a:spcBef>
              <a:spcAft>
                <a:spcPct val="0"/>
              </a:spcAft>
              <a:buClrTx/>
              <a:buSzTx/>
              <a:buFontTx/>
              <a:buNone/>
            </a:pPr>
            <a:r>
              <a:rPr lang="zh-CN" altLang="en-US" sz="2800" dirty="0">
                <a:solidFill>
                  <a:srgbClr val="000000"/>
                </a:solidFill>
                <a:latin typeface="黑体" panose="02010609060101010101" pitchFamily="49" charset="-122"/>
                <a:ea typeface="黑体" panose="02010609060101010101" pitchFamily="49" charset="-122"/>
              </a:rPr>
              <a:t>有一作业系列：</a:t>
            </a:r>
          </a:p>
          <a:p>
            <a:pPr algn="just" eaLnBrk="1" hangingPunct="1">
              <a:lnSpc>
                <a:spcPct val="100000"/>
              </a:lnSpc>
              <a:spcBef>
                <a:spcPct val="20000"/>
              </a:spcBef>
              <a:spcAft>
                <a:spcPct val="0"/>
              </a:spcAft>
              <a:buClrTx/>
              <a:buSzTx/>
              <a:buFontTx/>
              <a:buNone/>
            </a:pPr>
            <a:r>
              <a:rPr lang="en-US" altLang="zh-CN" sz="2800" dirty="0">
                <a:solidFill>
                  <a:srgbClr val="000000"/>
                </a:solidFill>
                <a:latin typeface="黑体" panose="02010609060101010101" pitchFamily="49" charset="-122"/>
                <a:ea typeface="黑体" panose="02010609060101010101" pitchFamily="49" charset="-122"/>
              </a:rPr>
              <a:t>(JOB1</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12KB)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(JOB2</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30KB)</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(JOB3</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28KB) </a:t>
            </a:r>
          </a:p>
          <a:p>
            <a:pPr algn="just" eaLnBrk="1" hangingPunct="1">
              <a:lnSpc>
                <a:spcPct val="100000"/>
              </a:lnSpc>
              <a:spcBef>
                <a:spcPct val="20000"/>
              </a:spcBef>
              <a:spcAft>
                <a:spcPct val="0"/>
              </a:spcAft>
              <a:buClrTx/>
              <a:buSzTx/>
              <a:buFontTx/>
              <a:buNone/>
            </a:pPr>
            <a:r>
              <a:rPr lang="en-US" altLang="zh-CN" sz="2800" dirty="0">
                <a:solidFill>
                  <a:srgbClr val="000000"/>
                </a:solidFill>
                <a:latin typeface="黑体" panose="02010609060101010101" pitchFamily="49" charset="-122"/>
                <a:ea typeface="黑体" panose="02010609060101010101" pitchFamily="49" charset="-122"/>
              </a:rPr>
              <a:t>     </a:t>
            </a:r>
            <a:r>
              <a:rPr lang="zh-CN" altLang="en-US" sz="2800" dirty="0">
                <a:solidFill>
                  <a:srgbClr val="000066"/>
                </a:solidFill>
                <a:latin typeface="黑体" panose="02010609060101010101" pitchFamily="49" charset="-122"/>
                <a:ea typeface="黑体" panose="02010609060101010101" pitchFamily="49" charset="-122"/>
              </a:rPr>
              <a:t>分别使用</a:t>
            </a:r>
            <a:r>
              <a:rPr lang="zh-CN" altLang="en-US" sz="2800" dirty="0">
                <a:solidFill>
                  <a:srgbClr val="CC0099"/>
                </a:solidFill>
                <a:latin typeface="黑体" panose="02010609060101010101" pitchFamily="49" charset="-122"/>
                <a:ea typeface="黑体" panose="02010609060101010101" pitchFamily="49" charset="-122"/>
              </a:rPr>
              <a:t>首次适应、最佳适应和最坏适应</a:t>
            </a:r>
            <a:r>
              <a:rPr lang="zh-CN" altLang="en-US" sz="2800" dirty="0">
                <a:solidFill>
                  <a:srgbClr val="000066"/>
                </a:solidFill>
                <a:latin typeface="黑体" panose="02010609060101010101" pitchFamily="49" charset="-122"/>
                <a:ea typeface="黑体" panose="02010609060101010101" pitchFamily="49" charset="-122"/>
              </a:rPr>
              <a:t>算法对下列作业进行分配，根据分配的结果对这</a:t>
            </a:r>
            <a:r>
              <a:rPr lang="en-US" altLang="zh-CN" sz="2800" dirty="0">
                <a:solidFill>
                  <a:srgbClr val="000066"/>
                </a:solidFill>
                <a:latin typeface="黑体" panose="02010609060101010101" pitchFamily="49" charset="-122"/>
                <a:ea typeface="黑体" panose="02010609060101010101" pitchFamily="49" charset="-122"/>
                <a:cs typeface="Arial" panose="020B0604020202020204" pitchFamily="34" charset="0"/>
              </a:rPr>
              <a:t>3</a:t>
            </a:r>
            <a:r>
              <a:rPr lang="zh-CN" altLang="en-US" sz="2800" dirty="0">
                <a:solidFill>
                  <a:srgbClr val="000066"/>
                </a:solidFill>
                <a:latin typeface="黑体" panose="02010609060101010101" pitchFamily="49" charset="-122"/>
                <a:ea typeface="黑体" panose="02010609060101010101" pitchFamily="49" charset="-122"/>
              </a:rPr>
              <a:t>种算法进行比较。</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a:t>
            </a:r>
            <a:r>
              <a:rPr lang="en-US" altLang="zh-CN" dirty="0" err="1"/>
              <a:t>伙伴系统</a:t>
            </a:r>
            <a:endParaRPr lang="en-US" altLang="zh-CN" dirty="0"/>
          </a:p>
        </p:txBody>
      </p:sp>
      <p:sp>
        <p:nvSpPr>
          <p:cNvPr id="3" name="内容占位符 2"/>
          <p:cNvSpPr>
            <a:spLocks noGrp="1"/>
          </p:cNvSpPr>
          <p:nvPr>
            <p:ph idx="1"/>
          </p:nvPr>
        </p:nvSpPr>
        <p:spPr>
          <a:xfrm>
            <a:off x="515732" y="906258"/>
            <a:ext cx="10968990" cy="2522742"/>
          </a:xfrm>
        </p:spPr>
        <p:txBody>
          <a:bodyPr>
            <a:normAutofit/>
          </a:bodyPr>
          <a:lstStyle/>
          <a:p>
            <a:r>
              <a:rPr lang="zh-CN" altLang="en-US" sz="2800" dirty="0">
                <a:solidFill>
                  <a:srgbClr val="0000FF"/>
                </a:solidFill>
              </a:rPr>
              <a:t>系统规定分区的大小均为2</a:t>
            </a:r>
            <a:r>
              <a:rPr lang="zh-CN" altLang="en-US" sz="2800" baseline="30000" dirty="0">
                <a:solidFill>
                  <a:srgbClr val="0000FF"/>
                </a:solidFill>
              </a:rPr>
              <a:t>k</a:t>
            </a:r>
            <a:r>
              <a:rPr lang="zh-CN" altLang="en-US" sz="2800" dirty="0">
                <a:solidFill>
                  <a:srgbClr val="0000FF"/>
                </a:solidFill>
              </a:rPr>
              <a:t>（k为整数）</a:t>
            </a:r>
            <a:r>
              <a:rPr lang="en-US" altLang="zh-CN" sz="2800" dirty="0">
                <a:solidFill>
                  <a:srgbClr val="0000FF"/>
                </a:solidFill>
              </a:rPr>
              <a:t>.</a:t>
            </a:r>
          </a:p>
          <a:p>
            <a:r>
              <a:rPr lang="en-US" altLang="zh-CN" sz="2800" dirty="0" err="1">
                <a:solidFill>
                  <a:srgbClr val="0000FF"/>
                </a:solidFill>
              </a:rPr>
              <a:t>对于同一长度类型的所有空闲分区，单独建立一个空闲分区表（链</a:t>
            </a:r>
            <a:r>
              <a:rPr lang="en-US" altLang="zh-CN" sz="2800" dirty="0">
                <a:solidFill>
                  <a:srgbClr val="0000FF"/>
                </a:solidFill>
              </a:rPr>
              <a:t>）</a:t>
            </a:r>
            <a:r>
              <a:rPr lang="en-US" altLang="zh-CN" sz="2800" dirty="0"/>
              <a:t>。这样，系统中产生了k </a:t>
            </a:r>
            <a:r>
              <a:rPr lang="en-US" altLang="zh-CN" sz="2800" dirty="0" err="1"/>
              <a:t>个空闲分区表（链</a:t>
            </a:r>
            <a:r>
              <a:rPr lang="en-US" altLang="zh-CN" sz="2800" dirty="0"/>
              <a:t>）。</a:t>
            </a:r>
          </a:p>
          <a:p>
            <a:pPr marL="0" indent="0">
              <a:buNone/>
            </a:pPr>
            <a:r>
              <a:rPr lang="en-US" altLang="zh-CN" sz="2800" dirty="0"/>
              <a:t>  </a:t>
            </a:r>
            <a:r>
              <a:rPr dirty="0"/>
              <a:t>注：以建立空闲分区链为例讲解下面内容。</a:t>
            </a:r>
          </a:p>
        </p:txBody>
      </p:sp>
      <p:pic>
        <p:nvPicPr>
          <p:cNvPr id="1026" name="Picture 2">
            <a:extLst>
              <a:ext uri="{FF2B5EF4-FFF2-40B4-BE49-F238E27FC236}">
                <a16:creationId xmlns:a16="http://schemas.microsoft.com/office/drawing/2014/main" id="{03CA8E3E-9035-760B-63E1-EE28BBDDA1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725" y="2622845"/>
            <a:ext cx="6703997" cy="38736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(5)伙伴系统——</a:t>
            </a:r>
            <a:r>
              <a:rPr>
                <a:sym typeface="+mn-ea"/>
              </a:rPr>
              <a:t>分区分配</a:t>
            </a:r>
          </a:p>
        </p:txBody>
      </p:sp>
      <p:sp>
        <p:nvSpPr>
          <p:cNvPr id="3" name="内容占位符 2"/>
          <p:cNvSpPr>
            <a:spLocks noGrp="1"/>
          </p:cNvSpPr>
          <p:nvPr>
            <p:ph idx="1"/>
          </p:nvPr>
        </p:nvSpPr>
        <p:spPr>
          <a:xfrm>
            <a:off x="608330" y="974090"/>
            <a:ext cx="11202035" cy="5461434"/>
          </a:xfrm>
        </p:spPr>
        <p:txBody>
          <a:bodyPr>
            <a:noAutofit/>
          </a:bodyPr>
          <a:lstStyle/>
          <a:p>
            <a:r>
              <a:rPr lang="zh-CN" altLang="en-US" dirty="0"/>
              <a:t>首先根据进程长度n，计算分区长度值i（满足2</a:t>
            </a:r>
            <a:r>
              <a:rPr lang="zh-CN" altLang="en-US" baseline="30000" dirty="0"/>
              <a:t>i-1</a:t>
            </a:r>
            <a:r>
              <a:rPr lang="zh-CN" altLang="en-US" dirty="0"/>
              <a:t>＜n ≤2</a:t>
            </a:r>
            <a:r>
              <a:rPr lang="zh-CN" altLang="en-US" baseline="30000" dirty="0"/>
              <a:t>i</a:t>
            </a:r>
            <a:r>
              <a:rPr lang="zh-CN" altLang="en-US" dirty="0"/>
              <a:t>）。</a:t>
            </a:r>
          </a:p>
          <a:p>
            <a:r>
              <a:rPr lang="zh-CN" altLang="en-US" dirty="0"/>
              <a:t>然后在分区大小为i 的空闲分区链中查找；</a:t>
            </a:r>
          </a:p>
          <a:p>
            <a:pPr lvl="1"/>
            <a:r>
              <a:rPr lang="zh-CN" altLang="en-US" dirty="0"/>
              <a:t>若该空闲分区链不为空，则把该空闲分区链的第一个空闲分区分配给进程；</a:t>
            </a:r>
          </a:p>
          <a:p>
            <a:pPr lvl="1"/>
            <a:r>
              <a:rPr lang="zh-CN" altLang="en-US" dirty="0"/>
              <a:t>否则，在分区大小为2</a:t>
            </a:r>
            <a:r>
              <a:rPr lang="zh-CN" altLang="en-US" baseline="30000" dirty="0"/>
              <a:t>i</a:t>
            </a:r>
            <a:r>
              <a:rPr lang="en-US" altLang="zh-CN" baseline="30000" dirty="0"/>
              <a:t>+</a:t>
            </a:r>
            <a:r>
              <a:rPr lang="zh-CN" altLang="en-US" baseline="30000" dirty="0"/>
              <a:t>1</a:t>
            </a:r>
            <a:r>
              <a:rPr lang="zh-CN" altLang="en-US" dirty="0"/>
              <a:t>的空闲分区链中查找。</a:t>
            </a:r>
          </a:p>
          <a:p>
            <a:pPr lvl="2"/>
            <a:r>
              <a:rPr lang="zh-CN" altLang="en-US" dirty="0"/>
              <a:t>若存在分区大小为2</a:t>
            </a:r>
            <a:r>
              <a:rPr lang="zh-CN" altLang="en-US" baseline="30000" dirty="0"/>
              <a:t>i</a:t>
            </a:r>
            <a:r>
              <a:rPr lang="en-US" altLang="zh-CN" baseline="30000" dirty="0"/>
              <a:t>+</a:t>
            </a:r>
            <a:r>
              <a:rPr lang="zh-CN" altLang="en-US" baseline="30000" dirty="0"/>
              <a:t>1</a:t>
            </a:r>
            <a:r>
              <a:rPr lang="zh-CN" altLang="en-US" dirty="0"/>
              <a:t> 的一个空闲分区，则把该空闲分区分为大小相等的两个分区，这两个分区</a:t>
            </a:r>
            <a:r>
              <a:rPr lang="zh-CN" altLang="en-US" b="1" dirty="0"/>
              <a:t>称为一对伙伴</a:t>
            </a:r>
            <a:r>
              <a:rPr lang="zh-CN" altLang="en-US" dirty="0"/>
              <a:t>，其中一个分区用于分配，另一个分区链接到分区大小为2</a:t>
            </a:r>
            <a:r>
              <a:rPr lang="zh-CN" altLang="en-US" baseline="30000" dirty="0"/>
              <a:t>i</a:t>
            </a:r>
            <a:r>
              <a:rPr lang="zh-CN" altLang="en-US" dirty="0"/>
              <a:t>的空闲分区链中。</a:t>
            </a:r>
          </a:p>
          <a:p>
            <a:pPr lvl="2"/>
            <a:r>
              <a:rPr lang="zh-CN" altLang="en-US" dirty="0"/>
              <a:t>若分区大小为2</a:t>
            </a:r>
            <a:r>
              <a:rPr lang="zh-CN" altLang="en-US" baseline="30000" dirty="0"/>
              <a:t>i</a:t>
            </a:r>
            <a:r>
              <a:rPr lang="en-US" altLang="zh-CN" baseline="30000" dirty="0"/>
              <a:t>+</a:t>
            </a:r>
            <a:r>
              <a:rPr lang="zh-CN" altLang="en-US" baseline="30000" dirty="0"/>
              <a:t>1</a:t>
            </a:r>
            <a:r>
              <a:rPr lang="zh-CN" altLang="en-US" dirty="0"/>
              <a:t>的空闲分区也不存在，则继续查找分区大小为2</a:t>
            </a:r>
            <a:r>
              <a:rPr lang="zh-CN" altLang="en-US" baseline="30000" dirty="0"/>
              <a:t>i</a:t>
            </a:r>
            <a:r>
              <a:rPr lang="en-US" altLang="zh-CN" baseline="30000" dirty="0"/>
              <a:t>+</a:t>
            </a:r>
            <a:r>
              <a:rPr lang="zh-CN" altLang="en-US" baseline="30000" dirty="0"/>
              <a:t>2</a:t>
            </a:r>
            <a:r>
              <a:rPr lang="zh-CN" altLang="en-US" dirty="0"/>
              <a:t> 的空闲分区；若找到，则对其进行两次划分：</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(5)伙伴系统——</a:t>
            </a:r>
            <a:r>
              <a:rPr>
                <a:sym typeface="+mn-ea"/>
              </a:rPr>
              <a:t>分区回收</a:t>
            </a:r>
            <a:endParaRPr lang="zh-CN" altLang="en-US"/>
          </a:p>
        </p:txBody>
      </p:sp>
      <p:sp>
        <p:nvSpPr>
          <p:cNvPr id="3" name="内容占位符 2"/>
          <p:cNvSpPr>
            <a:spLocks noGrp="1"/>
          </p:cNvSpPr>
          <p:nvPr>
            <p:ph idx="1"/>
          </p:nvPr>
        </p:nvSpPr>
        <p:spPr/>
        <p:txBody>
          <a:bodyPr>
            <a:normAutofit/>
          </a:bodyPr>
          <a:lstStyle/>
          <a:p>
            <a:r>
              <a:rPr lang="zh-CN" altLang="en-US" sz="2800" dirty="0"/>
              <a:t>若已存在分区大小为2</a:t>
            </a:r>
            <a:r>
              <a:rPr lang="zh-CN" altLang="en-US" sz="2800" baseline="30000" dirty="0"/>
              <a:t>i</a:t>
            </a:r>
            <a:r>
              <a:rPr lang="zh-CN" altLang="en-US" sz="2800" dirty="0"/>
              <a:t> 的空闲分区且和回收分区相邻，说明它们互为伙伴，则将其和伙伴合并为分区大小为2</a:t>
            </a:r>
            <a:r>
              <a:rPr lang="zh-CN" altLang="en-US" sz="2800" baseline="30000" dirty="0"/>
              <a:t>i+1</a:t>
            </a:r>
            <a:r>
              <a:rPr lang="zh-CN" altLang="en-US" sz="2800" dirty="0"/>
              <a:t>的空闲分区。</a:t>
            </a:r>
            <a:endParaRPr lang="en-US" altLang="zh-CN" sz="2800" dirty="0"/>
          </a:p>
          <a:p>
            <a:r>
              <a:rPr lang="zh-CN" altLang="en-US" sz="2800" dirty="0"/>
              <a:t>若该分区大小为2</a:t>
            </a:r>
            <a:r>
              <a:rPr lang="zh-CN" altLang="en-US" sz="2800" baseline="30000" dirty="0"/>
              <a:t>i+1</a:t>
            </a:r>
            <a:r>
              <a:rPr lang="zh-CN" altLang="en-US" sz="2800" dirty="0"/>
              <a:t>的空闲分区也存在伙伴，则继续合并为分区大小为2</a:t>
            </a:r>
            <a:r>
              <a:rPr lang="zh-CN" altLang="en-US" sz="2800" baseline="30000" dirty="0"/>
              <a:t>i+2</a:t>
            </a:r>
            <a:r>
              <a:rPr lang="zh-CN" altLang="en-US" sz="2800" dirty="0"/>
              <a:t>的空闲分区，以此类推。</a:t>
            </a:r>
          </a:p>
          <a:p>
            <a:r>
              <a:rPr lang="zh-CN" altLang="en-US" sz="2800" dirty="0"/>
              <a:t>若回收分区时不存在伙伴，则新建一个结点，链接到对应长度的空闲分区链的末尾。</a:t>
            </a:r>
            <a:endParaRPr lang="en-US" altLang="zh-CN" sz="2800" dirty="0"/>
          </a:p>
          <a:p>
            <a:pPr marL="0" indent="0">
              <a:buNone/>
            </a:pPr>
            <a:r>
              <a:rPr lang="en-US" altLang="zh-CN" sz="3600" b="1" dirty="0">
                <a:solidFill>
                  <a:srgbClr val="FF0000"/>
                </a:solidFill>
              </a:rPr>
              <a:t>              </a:t>
            </a:r>
            <a:r>
              <a:rPr lang="zh-CN" altLang="en-US" sz="3600" b="1" dirty="0">
                <a:solidFill>
                  <a:srgbClr val="FF0000"/>
                </a:solidFill>
              </a:rPr>
              <a:t>合并</a:t>
            </a:r>
            <a:endParaRPr lang="en-US" altLang="zh-CN" sz="3600" b="1" dirty="0">
              <a:solidFill>
                <a:srgbClr val="FF0000"/>
              </a:solidFill>
            </a:endParaRPr>
          </a:p>
          <a:p>
            <a:endParaRPr lang="zh-CN" altLang="en-US" sz="2800" dirty="0"/>
          </a:p>
        </p:txBody>
      </p:sp>
    </p:spTree>
    <p:custDataLst>
      <p:tags r:id="rId1"/>
    </p:custData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(5)伙伴系统</a:t>
            </a:r>
            <a:endParaRPr lang="zh-CN" altLang="en-US"/>
          </a:p>
        </p:txBody>
      </p:sp>
      <p:sp>
        <p:nvSpPr>
          <p:cNvPr id="3" name="内容占位符 2"/>
          <p:cNvSpPr>
            <a:spLocks noGrp="1"/>
          </p:cNvSpPr>
          <p:nvPr>
            <p:ph idx="1"/>
          </p:nvPr>
        </p:nvSpPr>
        <p:spPr/>
        <p:txBody>
          <a:bodyPr>
            <a:normAutofit/>
          </a:bodyPr>
          <a:lstStyle/>
          <a:p>
            <a:r>
              <a:rPr lang="zh-CN" altLang="en-US" sz="2800" dirty="0"/>
              <a:t>优点：</a:t>
            </a:r>
          </a:p>
          <a:p>
            <a:pPr lvl="1"/>
            <a:r>
              <a:rPr lang="zh-CN" altLang="en-US" sz="2800" dirty="0"/>
              <a:t>伙伴系统分配分区和回收分区所花费的时间取决于查找空闲分区位置、分区划分和合并空闲分区所花费的时间。因此，索引搜索分配算法的分配效率比顺序搜索分配算法要高。</a:t>
            </a:r>
          </a:p>
          <a:p>
            <a:r>
              <a:rPr lang="zh-CN" altLang="en-US" sz="2800" dirty="0"/>
              <a:t>缺点：</a:t>
            </a:r>
          </a:p>
          <a:p>
            <a:pPr lvl="1"/>
            <a:r>
              <a:rPr lang="zh-CN" altLang="en-US" sz="2800" dirty="0"/>
              <a:t>伙伴系统的分区大小必须是2</a:t>
            </a:r>
            <a:r>
              <a:rPr lang="zh-CN" altLang="en-US" sz="2800" baseline="30000" dirty="0"/>
              <a:t>m</a:t>
            </a:r>
            <a:r>
              <a:rPr lang="zh-CN" altLang="en-US" sz="2800" dirty="0"/>
              <a:t>，所以采用索引搜索分配算法时，其碎片问题比顺序搜索分配算法略严重，空间利用率较低。</a:t>
            </a:r>
          </a:p>
        </p:txBody>
      </p:sp>
    </p:spTree>
    <p:custDataLst>
      <p:tags r:id="rId1"/>
    </p:custDataLst>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6.2.</a:t>
            </a:r>
            <a:r>
              <a:rPr lang="en-US" altLang="zh-CN">
                <a:sym typeface="+mn-ea"/>
              </a:rPr>
              <a:t>3</a:t>
            </a:r>
            <a:r>
              <a:rPr>
                <a:sym typeface="+mn-ea"/>
              </a:rPr>
              <a:t>  动态重定位分区存储管理</a:t>
            </a:r>
            <a:endParaRPr lang="zh-CN" altLang="en-US"/>
          </a:p>
        </p:txBody>
      </p:sp>
      <p:sp>
        <p:nvSpPr>
          <p:cNvPr id="3" name="内容占位符 2"/>
          <p:cNvSpPr>
            <a:spLocks noGrp="1"/>
          </p:cNvSpPr>
          <p:nvPr>
            <p:ph idx="1"/>
          </p:nvPr>
        </p:nvSpPr>
        <p:spPr>
          <a:xfrm>
            <a:off x="226194" y="1321699"/>
            <a:ext cx="8135100" cy="3003022"/>
          </a:xfrm>
        </p:spPr>
        <p:txBody>
          <a:bodyPr>
            <a:normAutofit/>
          </a:bodyPr>
          <a:lstStyle/>
          <a:p>
            <a:r>
              <a:rPr lang="zh-CN" altLang="en-US" sz="2800" dirty="0"/>
              <a:t>考虑如下情况：</a:t>
            </a:r>
          </a:p>
          <a:p>
            <a:pPr marL="0" indent="0">
              <a:buNone/>
            </a:pPr>
            <a:r>
              <a:rPr lang="zh-CN" altLang="en-US" sz="2800" dirty="0"/>
              <a:t>  例如，图6-10(a)中，如果现在有一个</a:t>
            </a:r>
            <a:r>
              <a:rPr lang="zh-CN" altLang="en-US" sz="2800" dirty="0">
                <a:solidFill>
                  <a:srgbClr val="FF0000"/>
                </a:solidFill>
              </a:rPr>
              <a:t>大小为48MB</a:t>
            </a:r>
            <a:r>
              <a:rPr lang="zh-CN" altLang="en-US" sz="2800" dirty="0"/>
              <a:t>的进程申请装入内存，由于无法为该进程分配一个连续的空闲分区，此种情况下，动态分区存储管理分配失败，该进程无法装入。</a:t>
            </a:r>
          </a:p>
        </p:txBody>
      </p:sp>
      <p:graphicFrame>
        <p:nvGraphicFramePr>
          <p:cNvPr id="5" name="对象 4"/>
          <p:cNvGraphicFramePr/>
          <p:nvPr>
            <p:extLst>
              <p:ext uri="{D42A27DB-BD31-4B8C-83A1-F6EECF244321}">
                <p14:modId xmlns:p14="http://schemas.microsoft.com/office/powerpoint/2010/main" val="2738273182"/>
              </p:ext>
            </p:extLst>
          </p:nvPr>
        </p:nvGraphicFramePr>
        <p:xfrm>
          <a:off x="8361294" y="1007535"/>
          <a:ext cx="3604512" cy="3888556"/>
        </p:xfrm>
        <a:graphic>
          <a:graphicData uri="http://schemas.openxmlformats.org/presentationml/2006/ole">
            <mc:AlternateContent xmlns:mc="http://schemas.openxmlformats.org/markup-compatibility/2006">
              <mc:Choice xmlns:v="urn:schemas-microsoft-com:vml" Requires="v">
                <p:oleObj r:id="rId3" imgW="3086100" imgH="3695700" progId="Visio.Drawing.11">
                  <p:embed/>
                </p:oleObj>
              </mc:Choice>
              <mc:Fallback>
                <p:oleObj r:id="rId3" imgW="3086100" imgH="3695700" progId="Visio.Drawing.11">
                  <p:embed/>
                  <p:pic>
                    <p:nvPicPr>
                      <p:cNvPr id="0" name="图片 7"/>
                      <p:cNvPicPr/>
                      <p:nvPr/>
                    </p:nvPicPr>
                    <p:blipFill>
                      <a:blip r:embed="rId4"/>
                      <a:stretch>
                        <a:fillRect/>
                      </a:stretch>
                    </p:blipFill>
                    <p:spPr>
                      <a:xfrm>
                        <a:off x="8361294" y="1007535"/>
                        <a:ext cx="3604512" cy="3888556"/>
                      </a:xfrm>
                      <a:prstGeom prst="rect">
                        <a:avLst/>
                      </a:prstGeom>
                    </p:spPr>
                  </p:pic>
                </p:oleObj>
              </mc:Fallback>
            </mc:AlternateContent>
          </a:graphicData>
        </a:graphic>
      </p:graphicFrame>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6.2.</a:t>
            </a:r>
            <a:r>
              <a:rPr lang="en-US" altLang="zh-CN">
                <a:sym typeface="+mn-ea"/>
              </a:rPr>
              <a:t>3</a:t>
            </a:r>
            <a:r>
              <a:rPr>
                <a:sym typeface="+mn-ea"/>
              </a:rPr>
              <a:t>  动态重定位分区存储管理</a:t>
            </a:r>
            <a:endParaRPr lang="zh-CN" altLang="en-US"/>
          </a:p>
        </p:txBody>
      </p:sp>
      <p:sp>
        <p:nvSpPr>
          <p:cNvPr id="3" name="内容占位符 2"/>
          <p:cNvSpPr>
            <a:spLocks noGrp="1"/>
          </p:cNvSpPr>
          <p:nvPr>
            <p:ph idx="1"/>
          </p:nvPr>
        </p:nvSpPr>
        <p:spPr>
          <a:xfrm>
            <a:off x="226365" y="1007536"/>
            <a:ext cx="7936230" cy="5022215"/>
          </a:xfrm>
        </p:spPr>
        <p:txBody>
          <a:bodyPr>
            <a:normAutofit/>
          </a:bodyPr>
          <a:lstStyle/>
          <a:p>
            <a:r>
              <a:rPr lang="zh-CN" altLang="en-US" sz="2600" dirty="0"/>
              <a:t>为了解决这一问题，可以对内存采用</a:t>
            </a:r>
            <a:r>
              <a:rPr lang="zh-CN" altLang="en-US" sz="2600" b="1" dirty="0">
                <a:solidFill>
                  <a:srgbClr val="FF0000"/>
                </a:solidFill>
              </a:rPr>
              <a:t>紧凑技术</a:t>
            </a:r>
            <a:r>
              <a:rPr lang="zh-CN" altLang="en-US" sz="2600" dirty="0"/>
              <a:t>。</a:t>
            </a:r>
          </a:p>
          <a:p>
            <a:pPr lvl="1"/>
            <a:r>
              <a:rPr lang="zh-CN" altLang="en-US" sz="2600" b="1" dirty="0"/>
              <a:t>紧凑</a:t>
            </a:r>
            <a:r>
              <a:rPr lang="zh-CN" altLang="en-US" sz="2600" dirty="0"/>
              <a:t>是指移动内存中原来的进程，将分散的多个空闲分区拼接成一个大的空闲分区，如图6-10(b)所示。</a:t>
            </a:r>
          </a:p>
          <a:p>
            <a:pPr lvl="0"/>
            <a:r>
              <a:rPr lang="zh-CN" altLang="en-US" sz="2600" dirty="0"/>
              <a:t>由于用户进程在内存中可能发生移动，因此必须配合</a:t>
            </a:r>
            <a:r>
              <a:rPr lang="zh-CN" altLang="en-US" sz="2600" b="1" dirty="0"/>
              <a:t>动态地址重定位</a:t>
            </a:r>
            <a:r>
              <a:rPr lang="zh-CN" altLang="en-US" sz="2600" dirty="0"/>
              <a:t>方法。</a:t>
            </a:r>
          </a:p>
          <a:p>
            <a:pPr lvl="0"/>
            <a:r>
              <a:rPr lang="zh-CN" altLang="en-US" sz="2600" dirty="0"/>
              <a:t>这种</a:t>
            </a:r>
            <a:r>
              <a:rPr lang="zh-CN" altLang="en-US" sz="2600" dirty="0">
                <a:solidFill>
                  <a:srgbClr val="FF0000"/>
                </a:solidFill>
              </a:rPr>
              <a:t>采用紧凑技术的动态分区分配方式</a:t>
            </a:r>
            <a:r>
              <a:rPr lang="zh-CN" altLang="en-US" sz="2600" dirty="0">
                <a:solidFill>
                  <a:srgbClr val="0000FF"/>
                </a:solidFill>
              </a:rPr>
              <a:t>称为动态重定位分区存储管理。</a:t>
            </a:r>
            <a:r>
              <a:rPr lang="zh-CN" altLang="en-US" sz="2600" dirty="0"/>
              <a:t>         </a:t>
            </a:r>
          </a:p>
        </p:txBody>
      </p:sp>
      <p:graphicFrame>
        <p:nvGraphicFramePr>
          <p:cNvPr id="5" name="对象 4"/>
          <p:cNvGraphicFramePr/>
          <p:nvPr>
            <p:extLst>
              <p:ext uri="{D42A27DB-BD31-4B8C-83A1-F6EECF244321}">
                <p14:modId xmlns:p14="http://schemas.microsoft.com/office/powerpoint/2010/main" val="4129742809"/>
              </p:ext>
            </p:extLst>
          </p:nvPr>
        </p:nvGraphicFramePr>
        <p:xfrm>
          <a:off x="8162595" y="1007535"/>
          <a:ext cx="3803040" cy="4502013"/>
        </p:xfrm>
        <a:graphic>
          <a:graphicData uri="http://schemas.openxmlformats.org/presentationml/2006/ole">
            <mc:AlternateContent xmlns:mc="http://schemas.openxmlformats.org/markup-compatibility/2006">
              <mc:Choice xmlns:v="urn:schemas-microsoft-com:vml" Requires="v">
                <p:oleObj r:id="rId3" imgW="3086100" imgH="3695700" progId="Visio.Drawing.11">
                  <p:embed/>
                </p:oleObj>
              </mc:Choice>
              <mc:Fallback>
                <p:oleObj r:id="rId3" imgW="3086100" imgH="3695700" progId="Visio.Drawing.11">
                  <p:embed/>
                  <p:pic>
                    <p:nvPicPr>
                      <p:cNvPr id="0" name="图片 7"/>
                      <p:cNvPicPr/>
                      <p:nvPr/>
                    </p:nvPicPr>
                    <p:blipFill>
                      <a:blip r:embed="rId4"/>
                      <a:stretch>
                        <a:fillRect/>
                      </a:stretch>
                    </p:blipFill>
                    <p:spPr>
                      <a:xfrm>
                        <a:off x="8162595" y="1007535"/>
                        <a:ext cx="3803040" cy="4502013"/>
                      </a:xfrm>
                      <a:prstGeom prst="rect">
                        <a:avLst/>
                      </a:prstGeom>
                    </p:spPr>
                  </p:pic>
                </p:oleObj>
              </mc:Fallback>
            </mc:AlternateContent>
          </a:graphicData>
        </a:graphic>
      </p:graphicFrame>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动态重定位分区分配算法</a:t>
            </a:r>
            <a:endParaRPr lang="zh-CN" altLang="en-US"/>
          </a:p>
        </p:txBody>
      </p:sp>
      <p:sp>
        <p:nvSpPr>
          <p:cNvPr id="3" name="内容占位符 2"/>
          <p:cNvSpPr>
            <a:spLocks noGrp="1"/>
          </p:cNvSpPr>
          <p:nvPr>
            <p:ph idx="1"/>
          </p:nvPr>
        </p:nvSpPr>
        <p:spPr>
          <a:xfrm>
            <a:off x="145343" y="1007536"/>
            <a:ext cx="5512435" cy="5022215"/>
          </a:xfrm>
        </p:spPr>
        <p:txBody>
          <a:bodyPr>
            <a:normAutofit/>
          </a:bodyPr>
          <a:lstStyle/>
          <a:p>
            <a:r>
              <a:rPr lang="zh-CN" altLang="en-US" dirty="0"/>
              <a:t>动态重定位分区与动态分区存储管理的分配算法基本上相同，差别仅在于：</a:t>
            </a:r>
          </a:p>
          <a:p>
            <a:pPr lvl="1"/>
            <a:r>
              <a:rPr lang="zh-CN" altLang="en-US" dirty="0"/>
              <a:t>前者增加了紧凑功能，即在找不到足够大的空闲分区来满足用户需求时，实施紧凑技术。</a:t>
            </a:r>
          </a:p>
        </p:txBody>
      </p:sp>
      <p:graphicFrame>
        <p:nvGraphicFramePr>
          <p:cNvPr id="11" name="对象 10"/>
          <p:cNvGraphicFramePr/>
          <p:nvPr>
            <p:extLst>
              <p:ext uri="{D42A27DB-BD31-4B8C-83A1-F6EECF244321}">
                <p14:modId xmlns:p14="http://schemas.microsoft.com/office/powerpoint/2010/main" val="2535219235"/>
              </p:ext>
            </p:extLst>
          </p:nvPr>
        </p:nvGraphicFramePr>
        <p:xfrm>
          <a:off x="5525465" y="828249"/>
          <a:ext cx="5979770" cy="5736094"/>
        </p:xfrm>
        <a:graphic>
          <a:graphicData uri="http://schemas.openxmlformats.org/presentationml/2006/ole">
            <mc:AlternateContent xmlns:mc="http://schemas.openxmlformats.org/markup-compatibility/2006">
              <mc:Choice xmlns:v="urn:schemas-microsoft-com:vml" Requires="v">
                <p:oleObj r:id="rId3" imgW="8343900" imgH="8648700" progId="Visio.Drawing.11">
                  <p:embed/>
                </p:oleObj>
              </mc:Choice>
              <mc:Fallback>
                <p:oleObj r:id="rId3" imgW="8343900" imgH="8648700" progId="Visio.Drawing.11">
                  <p:embed/>
                  <p:pic>
                    <p:nvPicPr>
                      <p:cNvPr id="0" name="图片 11"/>
                      <p:cNvPicPr/>
                      <p:nvPr/>
                    </p:nvPicPr>
                    <p:blipFill>
                      <a:blip r:embed="rId4"/>
                      <a:stretch>
                        <a:fillRect/>
                      </a:stretch>
                    </p:blipFill>
                    <p:spPr>
                      <a:xfrm>
                        <a:off x="5525465" y="828249"/>
                        <a:ext cx="5979770" cy="5736094"/>
                      </a:xfrm>
                      <a:prstGeom prst="rect">
                        <a:avLst/>
                      </a:prstGeom>
                    </p:spPr>
                  </p:pic>
                </p:oleObj>
              </mc:Fallback>
            </mc:AlternateContent>
          </a:graphicData>
        </a:graphic>
      </p:graphicFrame>
    </p:spTree>
    <p:custDataLst>
      <p:tags r:id="rId1"/>
    </p:custData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F5AE4-7386-458C-8F37-80D73A3A13D1}"/>
              </a:ext>
            </a:extLst>
          </p:cNvPr>
          <p:cNvSpPr>
            <a:spLocks noGrp="1"/>
          </p:cNvSpPr>
          <p:nvPr>
            <p:ph type="title"/>
          </p:nvPr>
        </p:nvSpPr>
        <p:spPr/>
        <p:txBody>
          <a:bodyPr/>
          <a:lstStyle/>
          <a:p>
            <a:endParaRPr lang="zh-CN" altLang="en-US"/>
          </a:p>
        </p:txBody>
      </p:sp>
      <p:pic>
        <p:nvPicPr>
          <p:cNvPr id="9218" name="Picture 2">
            <a:extLst>
              <a:ext uri="{FF2B5EF4-FFF2-40B4-BE49-F238E27FC236}">
                <a16:creationId xmlns:a16="http://schemas.microsoft.com/office/drawing/2014/main" id="{5F1A136C-FF86-4C86-9463-B075D0FADED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2591" y="114370"/>
            <a:ext cx="8816183" cy="647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22673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D8BE7A-56DB-4479-ACEE-59DAE6B5118E}"/>
              </a:ext>
            </a:extLst>
          </p:cNvPr>
          <p:cNvSpPr>
            <a:spLocks noGrp="1"/>
          </p:cNvSpPr>
          <p:nvPr>
            <p:ph type="title"/>
          </p:nvPr>
        </p:nvSpPr>
        <p:spPr/>
        <p:txBody>
          <a:bodyPr/>
          <a:lstStyle/>
          <a:p>
            <a:r>
              <a:rPr lang="zh-CN" altLang="en-US" dirty="0"/>
              <a:t>课堂练习</a:t>
            </a:r>
          </a:p>
        </p:txBody>
      </p:sp>
      <p:sp>
        <p:nvSpPr>
          <p:cNvPr id="3" name="内容占位符 2">
            <a:extLst>
              <a:ext uri="{FF2B5EF4-FFF2-40B4-BE49-F238E27FC236}">
                <a16:creationId xmlns:a16="http://schemas.microsoft.com/office/drawing/2014/main" id="{CF78DFC2-365E-44A7-9341-689CDFEFA1E4}"/>
              </a:ext>
            </a:extLst>
          </p:cNvPr>
          <p:cNvSpPr>
            <a:spLocks noGrp="1"/>
          </p:cNvSpPr>
          <p:nvPr>
            <p:ph idx="1"/>
          </p:nvPr>
        </p:nvSpPr>
        <p:spPr>
          <a:xfrm>
            <a:off x="774585" y="1037450"/>
            <a:ext cx="10613851" cy="5022215"/>
          </a:xfrm>
        </p:spPr>
        <p:txBody>
          <a:bodyPr>
            <a:normAutofit fontScale="92500" lnSpcReduction="20000"/>
          </a:bodyPr>
          <a:lstStyle/>
          <a:p>
            <a:pPr marL="0" indent="0">
              <a:buNone/>
            </a:pPr>
            <a:r>
              <a:rPr lang="en-US" altLang="zh-CN" dirty="0"/>
              <a:t>1</a:t>
            </a:r>
            <a:r>
              <a:rPr lang="zh-CN" altLang="en-US" dirty="0"/>
              <a:t>、动态分区管理方式按作业需求量分配主存分区，所以</a:t>
            </a:r>
            <a:r>
              <a:rPr lang="en-US" altLang="zh-CN" dirty="0"/>
              <a:t>(    )</a:t>
            </a:r>
            <a:r>
              <a:rPr lang="zh-CN" altLang="en-US" dirty="0"/>
              <a:t>。</a:t>
            </a:r>
          </a:p>
          <a:p>
            <a:pPr marL="0" indent="0">
              <a:buNone/>
            </a:pPr>
            <a:r>
              <a:rPr lang="en-US" altLang="zh-CN" dirty="0"/>
              <a:t>A</a:t>
            </a:r>
            <a:r>
              <a:rPr lang="zh-CN" altLang="en-US" dirty="0"/>
              <a:t>、分区的长度不是固定的，但分区的个数是固定的</a:t>
            </a:r>
          </a:p>
          <a:p>
            <a:pPr marL="0" indent="0">
              <a:buNone/>
            </a:pPr>
            <a:r>
              <a:rPr lang="en-US" altLang="zh-CN" dirty="0"/>
              <a:t>B</a:t>
            </a:r>
            <a:r>
              <a:rPr lang="zh-CN" altLang="en-US" dirty="0"/>
              <a:t>、分区的个数是固定的</a:t>
            </a:r>
          </a:p>
          <a:p>
            <a:pPr marL="0" indent="0">
              <a:buNone/>
            </a:pPr>
            <a:r>
              <a:rPr lang="en-US" altLang="zh-CN" dirty="0"/>
              <a:t>C</a:t>
            </a:r>
            <a:r>
              <a:rPr lang="zh-CN" altLang="en-US" dirty="0"/>
              <a:t>、分区长度和个数都是固定的</a:t>
            </a:r>
          </a:p>
          <a:p>
            <a:pPr marL="0" indent="0">
              <a:buNone/>
            </a:pPr>
            <a:r>
              <a:rPr lang="en-US" altLang="zh-CN" dirty="0"/>
              <a:t>D</a:t>
            </a:r>
            <a:r>
              <a:rPr lang="zh-CN" altLang="en-US" dirty="0"/>
              <a:t>、分区的长度不是预先固定的，分区的个数是变化的</a:t>
            </a:r>
          </a:p>
          <a:p>
            <a:pPr marL="0" indent="0">
              <a:buNone/>
            </a:pPr>
            <a:r>
              <a:rPr lang="en-US" altLang="zh-CN" dirty="0"/>
              <a:t>2</a:t>
            </a:r>
            <a:r>
              <a:rPr lang="zh-CN" altLang="en-US" dirty="0"/>
              <a:t>、动态分区存储管理中，“空闲分区链” 的主要作用是（  ）</a:t>
            </a:r>
          </a:p>
          <a:p>
            <a:pPr marL="0" indent="0">
              <a:buNone/>
            </a:pPr>
            <a:r>
              <a:rPr lang="en-US" altLang="zh-CN" dirty="0"/>
              <a:t>A. </a:t>
            </a:r>
            <a:r>
              <a:rPr lang="zh-CN" altLang="en-US" dirty="0"/>
              <a:t>记录内存中已分配分区的地址和大小</a:t>
            </a:r>
          </a:p>
          <a:p>
            <a:pPr marL="0" indent="0">
              <a:buNone/>
            </a:pPr>
            <a:r>
              <a:rPr lang="en-US" altLang="zh-CN" dirty="0"/>
              <a:t>B. </a:t>
            </a:r>
            <a:r>
              <a:rPr lang="zh-CN" altLang="en-US" dirty="0"/>
              <a:t>管理所有空闲分区，便于分配和回收</a:t>
            </a:r>
          </a:p>
          <a:p>
            <a:pPr marL="0" indent="0">
              <a:buNone/>
            </a:pPr>
            <a:r>
              <a:rPr lang="en-US" altLang="zh-CN" dirty="0"/>
              <a:t>C. </a:t>
            </a:r>
            <a:r>
              <a:rPr lang="zh-CN" altLang="en-US" dirty="0"/>
              <a:t>实现逻辑地址到物理地址的转换</a:t>
            </a:r>
          </a:p>
          <a:p>
            <a:pPr marL="0" indent="0">
              <a:buNone/>
            </a:pPr>
            <a:r>
              <a:rPr lang="en-US" altLang="zh-CN" dirty="0"/>
              <a:t>D. </a:t>
            </a:r>
            <a:r>
              <a:rPr lang="zh-CN" altLang="en-US" dirty="0"/>
              <a:t>防止程序发生越界访问</a:t>
            </a:r>
          </a:p>
        </p:txBody>
      </p:sp>
    </p:spTree>
    <p:extLst>
      <p:ext uri="{BB962C8B-B14F-4D97-AF65-F5344CB8AC3E}">
        <p14:creationId xmlns:p14="http://schemas.microsoft.com/office/powerpoint/2010/main" val="383695928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9A1F230A-2073-A57C-F304-4F8527499B76}"/>
              </a:ext>
            </a:extLst>
          </p:cNvPr>
          <p:cNvSpPr txBox="1">
            <a:spLocks noGrp="1"/>
          </p:cNvSpPr>
          <p:nvPr>
            <p:ph idx="1"/>
          </p:nvPr>
        </p:nvSpPr>
        <p:spPr>
          <a:xfrm>
            <a:off x="929288" y="918219"/>
            <a:ext cx="10969625" cy="5265930"/>
          </a:xfrm>
          <a:prstGeom prst="rect">
            <a:avLst/>
          </a:prstGeom>
          <a:noFill/>
        </p:spPr>
        <p:txBody>
          <a:bodyPr wrap="square" rtlCol="0">
            <a:spAutoFit/>
          </a:bodyPr>
          <a:lstStyle/>
          <a:p>
            <a:pPr marL="0" indent="0">
              <a:buNone/>
            </a:pPr>
            <a:r>
              <a:rPr lang="en-US" altLang="zh-CN" dirty="0">
                <a:solidFill>
                  <a:srgbClr val="000000"/>
                </a:solidFill>
                <a:latin typeface="Inter"/>
              </a:rPr>
              <a:t>3.</a:t>
            </a:r>
            <a:r>
              <a:rPr lang="zh-CN" altLang="en-US" dirty="0"/>
              <a:t>下列关于固定分区存储管理的描述，正确的是（ ）</a:t>
            </a:r>
          </a:p>
          <a:p>
            <a:pPr marL="0" indent="0">
              <a:buNone/>
            </a:pPr>
            <a:r>
              <a:rPr lang="en-US" altLang="zh-CN" dirty="0"/>
              <a:t>A. </a:t>
            </a:r>
            <a:r>
              <a:rPr lang="zh-CN" altLang="en-US" dirty="0"/>
              <a:t>分区大小随程序需求动态调整</a:t>
            </a:r>
          </a:p>
          <a:p>
            <a:pPr marL="0" indent="0">
              <a:buNone/>
            </a:pPr>
            <a:r>
              <a:rPr lang="en-US" altLang="zh-CN" dirty="0"/>
              <a:t>B. </a:t>
            </a:r>
            <a:r>
              <a:rPr lang="zh-CN" altLang="en-US" dirty="0"/>
              <a:t>各分区大小固定，划分后不可更改</a:t>
            </a:r>
          </a:p>
          <a:p>
            <a:pPr marL="0" indent="0">
              <a:buNone/>
            </a:pPr>
            <a:r>
              <a:rPr lang="en-US" altLang="zh-CN" dirty="0"/>
              <a:t>C. </a:t>
            </a:r>
            <a:r>
              <a:rPr lang="zh-CN" altLang="en-US" dirty="0"/>
              <a:t>可充分利用内存空间，无碎片产生</a:t>
            </a:r>
          </a:p>
          <a:p>
            <a:pPr marL="0" indent="0">
              <a:buNone/>
            </a:pPr>
            <a:r>
              <a:rPr lang="en-US" altLang="zh-CN" dirty="0"/>
              <a:t>D. </a:t>
            </a:r>
            <a:r>
              <a:rPr lang="zh-CN" altLang="en-US" dirty="0"/>
              <a:t>仅适用于单道程序环境</a:t>
            </a:r>
          </a:p>
          <a:p>
            <a:pPr marL="0" indent="0">
              <a:buNone/>
            </a:pPr>
            <a:r>
              <a:rPr lang="en-US" altLang="zh-CN" dirty="0"/>
              <a:t>4. </a:t>
            </a:r>
            <a:r>
              <a:rPr lang="zh-CN" altLang="en-US" dirty="0"/>
              <a:t>动态分区存储管理相比固定分区，能更充分利用内存空间，但会产生外部碎片；动态可重定位分区通过紧凑技术可消除外部碎片。（ ）</a:t>
            </a:r>
          </a:p>
          <a:p>
            <a:pPr marL="0" indent="0">
              <a:buNone/>
            </a:pPr>
            <a:r>
              <a:rPr lang="en-US" altLang="zh-CN" dirty="0"/>
              <a:t>A. </a:t>
            </a:r>
            <a:r>
              <a:rPr lang="zh-CN" altLang="en-US" dirty="0"/>
              <a:t>正确</a:t>
            </a:r>
          </a:p>
          <a:p>
            <a:pPr marL="0" indent="0">
              <a:buNone/>
            </a:pPr>
            <a:r>
              <a:rPr lang="en-US" altLang="zh-CN" dirty="0"/>
              <a:t>B. </a:t>
            </a:r>
            <a:r>
              <a:rPr lang="zh-CN" altLang="en-US" dirty="0"/>
              <a:t>错误</a:t>
            </a:r>
          </a:p>
        </p:txBody>
      </p:sp>
    </p:spTree>
    <p:extLst>
      <p:ext uri="{BB962C8B-B14F-4D97-AF65-F5344CB8AC3E}">
        <p14:creationId xmlns:p14="http://schemas.microsoft.com/office/powerpoint/2010/main" val="119655743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a:bodyPr>
          <a:lstStyle/>
          <a:p>
            <a:pPr algn="ctr"/>
            <a:r>
              <a:rPr lang="en-US" altLang="zh-CN" sz="3600" dirty="0"/>
              <a:t>6.3  </a:t>
            </a:r>
            <a:r>
              <a:rPr sz="3600" dirty="0"/>
              <a:t>内存扩充技术</a:t>
            </a:r>
          </a:p>
        </p:txBody>
      </p:sp>
      <p:sp>
        <p:nvSpPr>
          <p:cNvPr id="3" name="内容占位符 2"/>
          <p:cNvSpPr>
            <a:spLocks noGrp="1"/>
          </p:cNvSpPr>
          <p:nvPr>
            <p:ph idx="1"/>
          </p:nvPr>
        </p:nvSpPr>
        <p:spPr>
          <a:xfrm>
            <a:off x="2956415" y="2677160"/>
            <a:ext cx="6279170" cy="1503680"/>
          </a:xfrm>
        </p:spPr>
        <p:txBody>
          <a:bodyPr>
            <a:noAutofit/>
          </a:bodyPr>
          <a:lstStyle/>
          <a:p>
            <a:pPr>
              <a:buBlip>
                <a:blip r:embed="rId3"/>
              </a:buBlip>
            </a:pPr>
            <a:r>
              <a:rPr lang="en-US" altLang="zh-CN" sz="3200" dirty="0"/>
              <a:t> </a:t>
            </a:r>
            <a:r>
              <a:rPr lang="en-US" altLang="zh-CN" sz="3200" u="dottedHeavy" dirty="0">
                <a:solidFill>
                  <a:schemeClr val="tx1"/>
                </a:solidFill>
                <a:uFillTx/>
              </a:rPr>
              <a:t>6.3.1  </a:t>
            </a:r>
            <a:r>
              <a:rPr sz="3200" u="dottedHeavy" dirty="0">
                <a:solidFill>
                  <a:schemeClr val="tx1"/>
                </a:solidFill>
                <a:uFillTx/>
              </a:rPr>
              <a:t>覆盖技术</a:t>
            </a:r>
          </a:p>
          <a:p>
            <a:pPr>
              <a:buBlip>
                <a:blip r:embed="rId3"/>
              </a:buBlip>
            </a:pPr>
            <a:r>
              <a:rPr sz="3200" dirty="0"/>
              <a:t> </a:t>
            </a:r>
            <a:r>
              <a:rPr lang="en-US" altLang="zh-CN" sz="3200" u="dottedHeavy" dirty="0"/>
              <a:t>6.3.2  </a:t>
            </a:r>
            <a:r>
              <a:rPr sz="3200" u="dottedHeavy" dirty="0"/>
              <a:t>交换技术</a:t>
            </a:r>
            <a:r>
              <a:rPr lang="en-US" altLang="zh-CN" sz="3200" u="dottedHeavy" dirty="0"/>
              <a:t>                  </a:t>
            </a:r>
          </a:p>
        </p:txBody>
      </p:sp>
      <p:sp>
        <p:nvSpPr>
          <p:cNvPr id="4" name="文本框 3">
            <a:extLst>
              <a:ext uri="{FF2B5EF4-FFF2-40B4-BE49-F238E27FC236}">
                <a16:creationId xmlns:a16="http://schemas.microsoft.com/office/drawing/2014/main" id="{C290F67F-63AD-4A02-B6D0-8336689AD9CE}"/>
              </a:ext>
            </a:extLst>
          </p:cNvPr>
          <p:cNvSpPr txBox="1"/>
          <p:nvPr/>
        </p:nvSpPr>
        <p:spPr>
          <a:xfrm>
            <a:off x="1450158" y="1225252"/>
            <a:ext cx="9831400" cy="954107"/>
          </a:xfrm>
          <a:prstGeom prst="rect">
            <a:avLst/>
          </a:prstGeom>
          <a:noFill/>
        </p:spPr>
        <p:txBody>
          <a:bodyPr wrap="square" rtlCol="0">
            <a:spAutoFit/>
          </a:bodyPr>
          <a:lstStyle/>
          <a:p>
            <a:pPr algn="r"/>
            <a:r>
              <a:rPr lang="zh-CN" altLang="en-US" sz="2800" dirty="0">
                <a:solidFill>
                  <a:srgbClr val="0000FF"/>
                </a:solidFill>
                <a:latin typeface="楷体" panose="02010609060101010101" pitchFamily="49" charset="-122"/>
                <a:ea typeface="楷体" panose="02010609060101010101" pitchFamily="49" charset="-122"/>
              </a:rPr>
              <a:t>内存扩充技术是希望内存能装载运行更多、更大的程序，提高内存利用率。</a:t>
            </a:r>
          </a:p>
        </p:txBody>
      </p:sp>
    </p:spTree>
    <p:custDataLst>
      <p:tags r:id="rId1"/>
    </p:custData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6.3.1</a:t>
            </a:r>
            <a:r>
              <a:t>覆盖技术</a:t>
            </a:r>
          </a:p>
        </p:txBody>
      </p:sp>
      <p:sp>
        <p:nvSpPr>
          <p:cNvPr id="3" name="内容占位符 2"/>
          <p:cNvSpPr>
            <a:spLocks noGrp="1"/>
          </p:cNvSpPr>
          <p:nvPr>
            <p:ph idx="1"/>
          </p:nvPr>
        </p:nvSpPr>
        <p:spPr>
          <a:xfrm>
            <a:off x="276776" y="819970"/>
            <a:ext cx="10968990" cy="3296603"/>
          </a:xfrm>
        </p:spPr>
        <p:txBody>
          <a:bodyPr>
            <a:normAutofit fontScale="92500" lnSpcReduction="10000"/>
          </a:bodyPr>
          <a:lstStyle/>
          <a:p>
            <a:r>
              <a:rPr lang="en-US" altLang="zh-CN" sz="2800" dirty="0" err="1"/>
              <a:t>用于早期的单用户系统</a:t>
            </a:r>
            <a:r>
              <a:rPr lang="en-US" altLang="zh-CN" sz="2800" dirty="0"/>
              <a:t>。</a:t>
            </a:r>
          </a:p>
          <a:p>
            <a:r>
              <a:rPr lang="en-US" altLang="zh-CN" sz="2800" dirty="0" err="1"/>
              <a:t>覆盖技术</a:t>
            </a:r>
            <a:r>
              <a:rPr sz="2800" dirty="0"/>
              <a:t>：</a:t>
            </a:r>
            <a:endParaRPr lang="en-US" altLang="zh-CN" sz="2800" dirty="0"/>
          </a:p>
          <a:p>
            <a:pPr lvl="1"/>
            <a:r>
              <a:rPr lang="en-US" altLang="zh-CN" sz="2800" dirty="0" err="1"/>
              <a:t>将一个程序按照逻辑结构划分成若干程序段</a:t>
            </a:r>
            <a:r>
              <a:rPr sz="2800" dirty="0"/>
              <a:t>。</a:t>
            </a:r>
            <a:endParaRPr lang="en-US" altLang="zh-CN" sz="2800" dirty="0"/>
          </a:p>
          <a:p>
            <a:pPr lvl="1"/>
            <a:r>
              <a:rPr lang="en-US" altLang="zh-CN" sz="2800" dirty="0" err="1"/>
              <a:t>将不同时执行的程序段组成一个覆盖段小组</a:t>
            </a:r>
            <a:r>
              <a:rPr lang="en-US" altLang="zh-CN" sz="2800" dirty="0"/>
              <a:t>。</a:t>
            </a:r>
          </a:p>
          <a:p>
            <a:pPr lvl="1"/>
            <a:r>
              <a:rPr lang="en-US" altLang="zh-CN" sz="2800" dirty="0" err="1"/>
              <a:t>一个覆盖段小组的</a:t>
            </a:r>
            <a:r>
              <a:rPr lang="en-US" altLang="zh-CN" sz="2800" dirty="0" err="1">
                <a:solidFill>
                  <a:srgbClr val="0000FF"/>
                </a:solidFill>
              </a:rPr>
              <a:t>多个程序段可装入同一块内存区域</a:t>
            </a:r>
            <a:r>
              <a:rPr lang="en-US" altLang="zh-CN" sz="2800" dirty="0" err="1"/>
              <a:t>，这个内存区域称为覆盖区</a:t>
            </a:r>
            <a:r>
              <a:rPr lang="en-US" altLang="zh-CN" sz="2800" dirty="0"/>
              <a:t>。      </a:t>
            </a:r>
          </a:p>
          <a:p>
            <a:endParaRPr lang="zh-CN" altLang="en-US" sz="2800" dirty="0"/>
          </a:p>
        </p:txBody>
      </p:sp>
      <p:pic>
        <p:nvPicPr>
          <p:cNvPr id="4" name="图片 3" descr="{%A5LJ@_3{%GI2VHWCCJLTM"/>
          <p:cNvPicPr>
            <a:picLocks noChangeAspect="1"/>
          </p:cNvPicPr>
          <p:nvPr/>
        </p:nvPicPr>
        <p:blipFill>
          <a:blip r:embed="rId3"/>
          <a:stretch>
            <a:fillRect/>
          </a:stretch>
        </p:blipFill>
        <p:spPr>
          <a:xfrm>
            <a:off x="5164057" y="3648377"/>
            <a:ext cx="6332100" cy="2972342"/>
          </a:xfrm>
          <a:prstGeom prst="rect">
            <a:avLst/>
          </a:prstGeom>
        </p:spPr>
      </p:pic>
    </p:spTree>
    <p:custDataLst>
      <p:tags r:id="rId1"/>
    </p:custData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6.3.1</a:t>
            </a:r>
            <a:r>
              <a:t>覆盖技术</a:t>
            </a:r>
          </a:p>
        </p:txBody>
      </p:sp>
      <p:sp>
        <p:nvSpPr>
          <p:cNvPr id="3" name="内容占位符 2"/>
          <p:cNvSpPr>
            <a:spLocks noGrp="1"/>
          </p:cNvSpPr>
          <p:nvPr>
            <p:ph idx="1"/>
          </p:nvPr>
        </p:nvSpPr>
        <p:spPr>
          <a:xfrm>
            <a:off x="608330" y="1227455"/>
            <a:ext cx="10968990" cy="4991100"/>
          </a:xfrm>
        </p:spPr>
        <p:txBody>
          <a:bodyPr>
            <a:normAutofit/>
          </a:bodyPr>
          <a:lstStyle/>
          <a:p>
            <a:r>
              <a:rPr lang="en-US" altLang="zh-CN"/>
              <a:t>图6-12(a)</a:t>
            </a:r>
            <a:r>
              <a:t>中</a:t>
            </a:r>
            <a:r>
              <a:rPr lang="en-US" altLang="zh-CN"/>
              <a:t>，整个程序全部装入需要160KB 内存。</a:t>
            </a:r>
            <a:r>
              <a:t>采用覆盖技术，</a:t>
            </a:r>
            <a:r>
              <a:rPr lang="en-US" altLang="zh-CN"/>
              <a:t>除main 函数必须占用10KB 的内存空间外，模块A 和模块B 可以共用一个30KB 大小的存储区，模块C、D、E 可以共用一个40KB 大小的存储区。因此，覆盖区的分配情况如图6-12(b)所示。这样，只要分配80KB 的内存空间，该程序就能够运行。</a:t>
            </a:r>
          </a:p>
          <a:p>
            <a:endParaRPr lang="zh-CN" altLang="en-US"/>
          </a:p>
        </p:txBody>
      </p:sp>
      <p:pic>
        <p:nvPicPr>
          <p:cNvPr id="4" name="图片 3" descr="{%A5LJ@_3{%GI2VHWCCJLTM"/>
          <p:cNvPicPr>
            <a:picLocks noChangeAspect="1"/>
          </p:cNvPicPr>
          <p:nvPr/>
        </p:nvPicPr>
        <p:blipFill>
          <a:blip r:embed="rId3"/>
          <a:stretch>
            <a:fillRect/>
          </a:stretch>
        </p:blipFill>
        <p:spPr>
          <a:xfrm>
            <a:off x="3460750" y="4138930"/>
            <a:ext cx="4971415" cy="2333625"/>
          </a:xfrm>
          <a:prstGeom prst="rect">
            <a:avLst/>
          </a:prstGeom>
        </p:spPr>
      </p:pic>
    </p:spTree>
    <p:custDataLst>
      <p:tags r:id="rId1"/>
    </p:custData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6.3.1</a:t>
            </a:r>
            <a:r>
              <a:rPr>
                <a:sym typeface="+mn-ea"/>
              </a:rPr>
              <a:t>覆盖技术</a:t>
            </a:r>
            <a:endParaRPr lang="zh-CN" altLang="en-US"/>
          </a:p>
        </p:txBody>
      </p:sp>
      <p:sp>
        <p:nvSpPr>
          <p:cNvPr id="3" name="内容占位符 2"/>
          <p:cNvSpPr>
            <a:spLocks noGrp="1"/>
          </p:cNvSpPr>
          <p:nvPr>
            <p:ph idx="1"/>
          </p:nvPr>
        </p:nvSpPr>
        <p:spPr/>
        <p:txBody>
          <a:bodyPr/>
          <a:lstStyle/>
          <a:p>
            <a:r>
              <a:rPr lang="zh-CN" altLang="en-US"/>
              <a:t>覆盖对用户是不透明的。为了提高覆盖的效果，用户在编写程序时就要精心安排好程序的覆盖结构，并用覆盖描述语言描述覆盖段小组。</a:t>
            </a:r>
          </a:p>
          <a:p>
            <a:r>
              <a:rPr lang="zh-CN" altLang="en-US"/>
              <a:t>覆盖描述语言可以写入独立的覆盖描述文件中，并和目标程序一起提交给系统，也可附加在源文件中一起编译。</a:t>
            </a:r>
          </a:p>
        </p:txBody>
      </p:sp>
    </p:spTree>
    <p:custDataLst>
      <p:tags r:id="rId1"/>
    </p:custData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6.3.2</a:t>
            </a:r>
            <a:r>
              <a:t>交换技术</a:t>
            </a:r>
          </a:p>
        </p:txBody>
      </p:sp>
      <p:sp>
        <p:nvSpPr>
          <p:cNvPr id="3" name="内容占位符 2"/>
          <p:cNvSpPr>
            <a:spLocks noGrp="1"/>
          </p:cNvSpPr>
          <p:nvPr>
            <p:ph idx="1"/>
          </p:nvPr>
        </p:nvSpPr>
        <p:spPr>
          <a:xfrm>
            <a:off x="641381" y="1414643"/>
            <a:ext cx="10705993" cy="2573463"/>
          </a:xfrm>
        </p:spPr>
        <p:txBody>
          <a:bodyPr>
            <a:normAutofit/>
          </a:bodyPr>
          <a:lstStyle/>
          <a:p>
            <a:pPr marL="0" indent="0">
              <a:buNone/>
            </a:pPr>
            <a:r>
              <a:rPr lang="en-US" altLang="zh-CN" sz="2800" b="1" dirty="0"/>
              <a:t>1.</a:t>
            </a:r>
            <a:r>
              <a:rPr sz="2800" b="1" dirty="0"/>
              <a:t>交换技术的概念</a:t>
            </a:r>
            <a:endParaRPr lang="zh-CN" altLang="en-US" sz="2800" b="1" dirty="0"/>
          </a:p>
          <a:p>
            <a:r>
              <a:rPr lang="zh-CN" altLang="en-US" sz="2800" dirty="0"/>
              <a:t>交换技术是指把内存中暂时不能运行的进程或者暂时不用的代码和数据调到外存上，腾出足够的内存空间把已具备运行条件的进程或进程所需要的程序和数据从外存调入内存。</a:t>
            </a:r>
          </a:p>
        </p:txBody>
      </p:sp>
    </p:spTree>
    <p:custDataLst>
      <p:tags r:id="rId1"/>
    </p:custDataLst>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6.3.2</a:t>
            </a:r>
            <a:r>
              <a:rPr>
                <a:sym typeface="+mn-ea"/>
              </a:rPr>
              <a:t>交换技术</a:t>
            </a:r>
            <a:endParaRPr lang="zh-CN" altLang="en-US"/>
          </a:p>
        </p:txBody>
      </p:sp>
      <p:sp>
        <p:nvSpPr>
          <p:cNvPr id="3" name="内容占位符 2"/>
          <p:cNvSpPr>
            <a:spLocks noGrp="1"/>
          </p:cNvSpPr>
          <p:nvPr>
            <p:ph idx="1"/>
          </p:nvPr>
        </p:nvSpPr>
        <p:spPr/>
        <p:txBody>
          <a:bodyPr>
            <a:normAutofit/>
          </a:bodyPr>
          <a:lstStyle/>
          <a:p>
            <a:pPr marL="0" indent="0">
              <a:buNone/>
            </a:pPr>
            <a:r>
              <a:rPr lang="zh-CN" altLang="en-US" sz="3200" b="1" dirty="0"/>
              <a:t>2</a:t>
            </a:r>
            <a:r>
              <a:rPr lang="en-US" altLang="zh-CN" sz="3200" b="1" dirty="0"/>
              <a:t>.</a:t>
            </a:r>
            <a:r>
              <a:rPr lang="zh-CN" altLang="en-US" sz="3200" b="1" dirty="0"/>
              <a:t>交换技术的类型</a:t>
            </a:r>
          </a:p>
          <a:p>
            <a:r>
              <a:rPr lang="zh-CN" altLang="en-US" sz="2800" dirty="0">
                <a:solidFill>
                  <a:srgbClr val="0000FF"/>
                </a:solidFill>
              </a:rPr>
              <a:t>整体交换</a:t>
            </a:r>
            <a:r>
              <a:rPr lang="zh-CN" altLang="en-US" sz="2800" dirty="0"/>
              <a:t>。以整个进程为单位在内存和外存之间进行交换，其目的是减轻内存负荷，广泛用于多道程序系统。处理机中级调度的核心就是交换技术。</a:t>
            </a:r>
          </a:p>
          <a:p>
            <a:r>
              <a:rPr lang="zh-CN" altLang="en-US" sz="2800" dirty="0">
                <a:solidFill>
                  <a:srgbClr val="0000FF"/>
                </a:solidFill>
              </a:rPr>
              <a:t>部分交换</a:t>
            </a:r>
            <a:r>
              <a:rPr lang="zh-CN" altLang="en-US" sz="2800" dirty="0"/>
              <a:t>。以进程的一部分为单位，如一个页或一个段，在内存和外存之间进行交换。 其目的是支持虚拟存储器。</a:t>
            </a:r>
          </a:p>
        </p:txBody>
      </p:sp>
    </p:spTree>
    <p:custDataLst>
      <p:tags r:id="rId1"/>
    </p:custDataLst>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6.3.2</a:t>
            </a:r>
            <a:r>
              <a:t>交换技术</a:t>
            </a:r>
          </a:p>
        </p:txBody>
      </p:sp>
      <p:sp>
        <p:nvSpPr>
          <p:cNvPr id="3" name="内容占位符 2"/>
          <p:cNvSpPr>
            <a:spLocks noGrp="1"/>
          </p:cNvSpPr>
          <p:nvPr>
            <p:ph idx="1"/>
          </p:nvPr>
        </p:nvSpPr>
        <p:spPr>
          <a:xfrm>
            <a:off x="445251" y="3970375"/>
            <a:ext cx="10968990" cy="2603046"/>
          </a:xfrm>
        </p:spPr>
        <p:txBody>
          <a:bodyPr>
            <a:noAutofit/>
          </a:bodyPr>
          <a:lstStyle/>
          <a:p>
            <a:pPr marL="914400" lvl="1" indent="-457200">
              <a:buClr>
                <a:srgbClr val="0000FF"/>
              </a:buClr>
              <a:buSzPct val="100000"/>
              <a:buFont typeface="+mj-ea"/>
              <a:buAutoNum type="circleNumDbPlain"/>
            </a:pPr>
            <a:r>
              <a:rPr lang="zh-CN" altLang="en-US" sz="2000" dirty="0"/>
              <a:t>作业1先被装入内存运行；</a:t>
            </a:r>
          </a:p>
          <a:p>
            <a:pPr marL="914400" lvl="1" indent="-457200">
              <a:buClr>
                <a:srgbClr val="0000FF"/>
              </a:buClr>
              <a:buSzPct val="100000"/>
              <a:buFont typeface="+mj-ea"/>
              <a:buAutoNum type="circleNumDbPlain"/>
            </a:pPr>
            <a:r>
              <a:rPr lang="zh-CN" altLang="en-US" sz="2000" dirty="0"/>
              <a:t>把作业1 换到外存，作业2被装入内存运行；</a:t>
            </a:r>
          </a:p>
          <a:p>
            <a:pPr marL="914400" lvl="1" indent="-457200">
              <a:buClr>
                <a:srgbClr val="0000FF"/>
              </a:buClr>
              <a:buSzPct val="100000"/>
              <a:buFont typeface="+mj-ea"/>
              <a:buAutoNum type="circleNumDbPlain"/>
            </a:pPr>
            <a:r>
              <a:rPr lang="zh-CN" altLang="en-US" sz="2000" dirty="0"/>
              <a:t>系统把作业2的部分内容换到外存，调入作业3运行；</a:t>
            </a:r>
          </a:p>
          <a:p>
            <a:pPr marL="914400" lvl="1" indent="-457200">
              <a:buClr>
                <a:srgbClr val="0000FF"/>
              </a:buClr>
              <a:buSzPct val="100000"/>
              <a:buFont typeface="+mj-ea"/>
              <a:buAutoNum type="circleNumDbPlain"/>
            </a:pPr>
            <a:r>
              <a:rPr lang="zh-CN" altLang="en-US" sz="2000" dirty="0"/>
              <a:t>作业3的部分内容换到外存，再次将作业1装入内存运行；</a:t>
            </a:r>
          </a:p>
          <a:p>
            <a:pPr marL="914400" lvl="1" indent="-457200">
              <a:buClr>
                <a:srgbClr val="0000FF"/>
              </a:buClr>
              <a:buSzPct val="100000"/>
              <a:buFont typeface="+mj-ea"/>
              <a:buAutoNum type="circleNumDbPlain"/>
            </a:pPr>
            <a:r>
              <a:rPr lang="zh-CN" altLang="en-US" sz="2000" dirty="0"/>
              <a:t>当作业1运行完毕时，系统把作业3的换出部分重新装入运行；</a:t>
            </a:r>
          </a:p>
          <a:p>
            <a:pPr marL="914400" lvl="1" indent="-457200">
              <a:buClr>
                <a:srgbClr val="0000FF"/>
              </a:buClr>
              <a:buSzPct val="100000"/>
              <a:buFont typeface="+mj-ea"/>
              <a:buAutoNum type="circleNumDbPlain"/>
            </a:pPr>
            <a:r>
              <a:rPr lang="zh-CN" altLang="en-US" sz="2000" dirty="0"/>
              <a:t>待作业3运行完毕后，系统把作业2 的换出部分重新运行，直至作业2 运行完毕。</a:t>
            </a:r>
          </a:p>
        </p:txBody>
      </p:sp>
      <p:pic>
        <p:nvPicPr>
          <p:cNvPr id="4" name="图片 3"/>
          <p:cNvPicPr>
            <a:picLocks noChangeAspect="1"/>
          </p:cNvPicPr>
          <p:nvPr/>
        </p:nvPicPr>
        <p:blipFill>
          <a:blip r:embed="rId3"/>
          <a:stretch>
            <a:fillRect/>
          </a:stretch>
        </p:blipFill>
        <p:spPr>
          <a:xfrm>
            <a:off x="993267" y="889547"/>
            <a:ext cx="9242061" cy="3011250"/>
          </a:xfrm>
          <a:prstGeom prst="rect">
            <a:avLst/>
          </a:prstGeom>
        </p:spPr>
      </p:pic>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6.3.2</a:t>
            </a:r>
            <a:r>
              <a:rPr>
                <a:sym typeface="+mn-ea"/>
              </a:rPr>
              <a:t>交换技术</a:t>
            </a:r>
            <a:endParaRPr lang="zh-CN" altLang="en-US"/>
          </a:p>
        </p:txBody>
      </p:sp>
      <p:sp>
        <p:nvSpPr>
          <p:cNvPr id="3" name="内容占位符 2"/>
          <p:cNvSpPr>
            <a:spLocks noGrp="1"/>
          </p:cNvSpPr>
          <p:nvPr>
            <p:ph idx="1"/>
          </p:nvPr>
        </p:nvSpPr>
        <p:spPr/>
        <p:txBody>
          <a:bodyPr>
            <a:normAutofit/>
          </a:bodyPr>
          <a:lstStyle/>
          <a:p>
            <a:pPr marL="0" indent="0">
              <a:buNone/>
            </a:pPr>
            <a:r>
              <a:rPr lang="zh-CN" altLang="en-US" sz="2800" b="1" dirty="0"/>
              <a:t>3</a:t>
            </a:r>
            <a:r>
              <a:rPr lang="en-US" altLang="zh-CN" sz="2800" b="1" dirty="0"/>
              <a:t>.</a:t>
            </a:r>
            <a:r>
              <a:rPr lang="zh-CN" altLang="en-US" sz="2800" b="1" dirty="0"/>
              <a:t>交换空间的管理</a:t>
            </a:r>
          </a:p>
          <a:p>
            <a:pPr>
              <a:spcBef>
                <a:spcPts val="1200"/>
              </a:spcBef>
            </a:pPr>
            <a:r>
              <a:rPr lang="zh-CN" altLang="en-US" dirty="0"/>
              <a:t>为了便于管理，系统把外存分为</a:t>
            </a:r>
            <a:r>
              <a:rPr lang="zh-CN" altLang="en-US" dirty="0">
                <a:solidFill>
                  <a:srgbClr val="FF0000"/>
                </a:solidFill>
              </a:rPr>
              <a:t>文件区和对换区</a:t>
            </a:r>
            <a:r>
              <a:rPr lang="zh-CN" altLang="en-US" dirty="0"/>
              <a:t>两部分。前者用于存放文件，后者用于存放从内存换出的进程。</a:t>
            </a:r>
          </a:p>
          <a:p>
            <a:pPr>
              <a:spcBef>
                <a:spcPts val="1200"/>
              </a:spcBef>
            </a:pPr>
            <a:r>
              <a:rPr lang="zh-CN" altLang="en-US" dirty="0"/>
              <a:t>交换空间管理的主要目标是提高进程换入和换出的速度，采用的是连续分配方式。 </a:t>
            </a:r>
          </a:p>
          <a:p>
            <a:endParaRPr lang="zh-CN" altLang="en-US" sz="2800" dirty="0"/>
          </a:p>
        </p:txBody>
      </p:sp>
    </p:spTree>
    <p:custDataLst>
      <p:tags r:id="rId1"/>
    </p:custDataLst>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20719" y="290279"/>
            <a:ext cx="4717932" cy="705600"/>
          </a:xfrm>
        </p:spPr>
        <p:txBody>
          <a:bodyPr>
            <a:normAutofit fontScale="90000"/>
          </a:bodyPr>
          <a:lstStyle/>
          <a:p>
            <a:r>
              <a:rPr dirty="0">
                <a:sym typeface="+mn-ea"/>
              </a:rPr>
              <a:t>动态</a:t>
            </a:r>
            <a:r>
              <a:rPr lang="zh-CN" altLang="en-US" dirty="0">
                <a:sym typeface="+mn-ea"/>
              </a:rPr>
              <a:t>重定位</a:t>
            </a:r>
            <a:r>
              <a:rPr dirty="0">
                <a:sym typeface="+mn-ea"/>
              </a:rPr>
              <a:t>分区存储管理</a:t>
            </a:r>
            <a:endParaRPr lang="zh-CN" altLang="en-US" dirty="0"/>
          </a:p>
        </p:txBody>
      </p:sp>
      <p:sp>
        <p:nvSpPr>
          <p:cNvPr id="3" name="内容占位符 2"/>
          <p:cNvSpPr>
            <a:spLocks noGrp="1"/>
          </p:cNvSpPr>
          <p:nvPr>
            <p:ph idx="1"/>
          </p:nvPr>
        </p:nvSpPr>
        <p:spPr>
          <a:xfrm>
            <a:off x="7037409" y="1250522"/>
            <a:ext cx="5121259" cy="595920"/>
          </a:xfrm>
        </p:spPr>
        <p:txBody>
          <a:bodyPr>
            <a:normAutofit fontScale="92500"/>
          </a:bodyPr>
          <a:lstStyle/>
          <a:p>
            <a:pPr marL="0" indent="0">
              <a:buNone/>
            </a:pPr>
            <a:r>
              <a:rPr lang="zh-CN" altLang="en-US" dirty="0">
                <a:solidFill>
                  <a:srgbClr val="FF0000"/>
                </a:solidFill>
              </a:rPr>
              <a:t>若大小为48MB</a:t>
            </a:r>
            <a:r>
              <a:rPr lang="zh-CN" altLang="en-US" dirty="0"/>
              <a:t>的进程申请装入内存 </a:t>
            </a:r>
          </a:p>
        </p:txBody>
      </p:sp>
      <p:graphicFrame>
        <p:nvGraphicFramePr>
          <p:cNvPr id="5" name="对象 4"/>
          <p:cNvGraphicFramePr/>
          <p:nvPr>
            <p:extLst>
              <p:ext uri="{D42A27DB-BD31-4B8C-83A1-F6EECF244321}">
                <p14:modId xmlns:p14="http://schemas.microsoft.com/office/powerpoint/2010/main" val="1841907850"/>
              </p:ext>
            </p:extLst>
          </p:nvPr>
        </p:nvGraphicFramePr>
        <p:xfrm>
          <a:off x="7398868" y="1962872"/>
          <a:ext cx="3507832" cy="4151489"/>
        </p:xfrm>
        <a:graphic>
          <a:graphicData uri="http://schemas.openxmlformats.org/presentationml/2006/ole">
            <mc:AlternateContent xmlns:mc="http://schemas.openxmlformats.org/markup-compatibility/2006">
              <mc:Choice xmlns:v="urn:schemas-microsoft-com:vml" Requires="v">
                <p:oleObj r:id="rId4" imgW="3086100" imgH="3695700" progId="Visio.Drawing.11">
                  <p:embed/>
                </p:oleObj>
              </mc:Choice>
              <mc:Fallback>
                <p:oleObj r:id="rId4" imgW="3086100" imgH="3695700" progId="Visio.Drawing.11">
                  <p:embed/>
                  <p:pic>
                    <p:nvPicPr>
                      <p:cNvPr id="5" name="对象 4"/>
                      <p:cNvPicPr/>
                      <p:nvPr/>
                    </p:nvPicPr>
                    <p:blipFill>
                      <a:blip r:embed="rId5"/>
                      <a:stretch>
                        <a:fillRect/>
                      </a:stretch>
                    </p:blipFill>
                    <p:spPr>
                      <a:xfrm>
                        <a:off x="7398868" y="1962872"/>
                        <a:ext cx="3507832" cy="4151489"/>
                      </a:xfrm>
                      <a:prstGeom prst="rect">
                        <a:avLst/>
                      </a:prstGeom>
                    </p:spPr>
                  </p:pic>
                </p:oleObj>
              </mc:Fallback>
            </mc:AlternateContent>
          </a:graphicData>
        </a:graphic>
      </p:graphicFrame>
      <p:grpSp>
        <p:nvGrpSpPr>
          <p:cNvPr id="7" name="组合 6">
            <a:extLst>
              <a:ext uri="{FF2B5EF4-FFF2-40B4-BE49-F238E27FC236}">
                <a16:creationId xmlns:a16="http://schemas.microsoft.com/office/drawing/2014/main" id="{126B5A64-EB36-4E8E-A265-A391D6FCF4F8}"/>
              </a:ext>
            </a:extLst>
          </p:cNvPr>
          <p:cNvGrpSpPr/>
          <p:nvPr/>
        </p:nvGrpSpPr>
        <p:grpSpPr>
          <a:xfrm>
            <a:off x="183804" y="1412246"/>
            <a:ext cx="5831406" cy="4801268"/>
            <a:chOff x="253252" y="1185361"/>
            <a:chExt cx="5626687" cy="4656243"/>
          </a:xfrm>
        </p:grpSpPr>
        <p:pic>
          <p:nvPicPr>
            <p:cNvPr id="6" name="图片 5" descr="OA8L7NKDZH{G@PS4_M$~KD2">
              <a:extLst>
                <a:ext uri="{FF2B5EF4-FFF2-40B4-BE49-F238E27FC236}">
                  <a16:creationId xmlns:a16="http://schemas.microsoft.com/office/drawing/2014/main" id="{B2D7458F-9FAF-402C-926C-11E59DE6B3E3}"/>
                </a:ext>
              </a:extLst>
            </p:cNvPr>
            <p:cNvPicPr>
              <a:picLocks noChangeAspect="1"/>
            </p:cNvPicPr>
            <p:nvPr/>
          </p:nvPicPr>
          <p:blipFill rotWithShape="1">
            <a:blip r:embed="rId6"/>
            <a:srcRect t="1" r="26198" b="-5347"/>
            <a:stretch/>
          </p:blipFill>
          <p:spPr>
            <a:xfrm>
              <a:off x="253252" y="1185361"/>
              <a:ext cx="5626687" cy="4656243"/>
            </a:xfrm>
            <a:prstGeom prst="rect">
              <a:avLst/>
            </a:prstGeom>
          </p:spPr>
        </p:pic>
        <p:sp>
          <p:nvSpPr>
            <p:cNvPr id="4" name="矩形 3">
              <a:extLst>
                <a:ext uri="{FF2B5EF4-FFF2-40B4-BE49-F238E27FC236}">
                  <a16:creationId xmlns:a16="http://schemas.microsoft.com/office/drawing/2014/main" id="{9CF033C2-74F6-4DB7-9C09-96A2E26E31D3}"/>
                </a:ext>
              </a:extLst>
            </p:cNvPr>
            <p:cNvSpPr/>
            <p:nvPr/>
          </p:nvSpPr>
          <p:spPr>
            <a:xfrm>
              <a:off x="5463251" y="4872942"/>
              <a:ext cx="416688" cy="3240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标题 1">
            <a:extLst>
              <a:ext uri="{FF2B5EF4-FFF2-40B4-BE49-F238E27FC236}">
                <a16:creationId xmlns:a16="http://schemas.microsoft.com/office/drawing/2014/main" id="{DED67AF9-694C-41FB-AC4B-2F3B94A51A58}"/>
              </a:ext>
            </a:extLst>
          </p:cNvPr>
          <p:cNvSpPr txBox="1">
            <a:spLocks/>
          </p:cNvSpPr>
          <p:nvPr/>
        </p:nvSpPr>
        <p:spPr>
          <a:xfrm>
            <a:off x="1042050" y="220375"/>
            <a:ext cx="3872978"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r>
              <a:rPr lang="zh-CN" altLang="en-US" dirty="0"/>
              <a:t>固定分区存储管理</a:t>
            </a:r>
          </a:p>
        </p:txBody>
      </p:sp>
      <p:cxnSp>
        <p:nvCxnSpPr>
          <p:cNvPr id="10" name="直接连接符 9">
            <a:extLst>
              <a:ext uri="{FF2B5EF4-FFF2-40B4-BE49-F238E27FC236}">
                <a16:creationId xmlns:a16="http://schemas.microsoft.com/office/drawing/2014/main" id="{89138F6C-6220-4A65-A7C7-C11136067101}"/>
              </a:ext>
            </a:extLst>
          </p:cNvPr>
          <p:cNvCxnSpPr/>
          <p:nvPr/>
        </p:nvCxnSpPr>
        <p:spPr>
          <a:xfrm>
            <a:off x="6620719" y="0"/>
            <a:ext cx="0" cy="668222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EADFF54F-0D19-0CBD-7CCC-930A17289909}"/>
              </a:ext>
            </a:extLst>
          </p:cNvPr>
          <p:cNvSpPr txBox="1"/>
          <p:nvPr/>
        </p:nvSpPr>
        <p:spPr>
          <a:xfrm>
            <a:off x="4793133" y="3073450"/>
            <a:ext cx="3877985" cy="2308324"/>
          </a:xfrm>
          <a:prstGeom prst="rect">
            <a:avLst/>
          </a:prstGeom>
          <a:noFill/>
        </p:spPr>
        <p:txBody>
          <a:bodyPr wrap="none" rtlCol="0">
            <a:spAutoFit/>
          </a:bodyPr>
          <a:lstStyle/>
          <a:p>
            <a:pPr algn="ctr"/>
            <a:r>
              <a:rPr lang="zh-CN" altLang="en-US" sz="4800" dirty="0">
                <a:solidFill>
                  <a:srgbClr val="FF0000"/>
                </a:solidFill>
              </a:rPr>
              <a:t>连续存储</a:t>
            </a:r>
            <a:endParaRPr lang="en-US" altLang="zh-CN" sz="4800" dirty="0">
              <a:solidFill>
                <a:srgbClr val="FF0000"/>
              </a:solidFill>
            </a:endParaRPr>
          </a:p>
          <a:p>
            <a:pPr algn="ctr"/>
            <a:endParaRPr lang="en-US" altLang="zh-CN" sz="4800" dirty="0">
              <a:solidFill>
                <a:srgbClr val="FF0000"/>
              </a:solidFill>
            </a:endParaRPr>
          </a:p>
          <a:p>
            <a:pPr algn="ctr"/>
            <a:r>
              <a:rPr lang="zh-CN" altLang="en-US" sz="4800" dirty="0">
                <a:solidFill>
                  <a:srgbClr val="FF0000"/>
                </a:solidFill>
              </a:rPr>
              <a:t>内存利用率低</a:t>
            </a:r>
          </a:p>
        </p:txBody>
      </p:sp>
    </p:spTree>
    <p:custDataLst>
      <p:tags r:id="rId1"/>
    </p:custDataLst>
    <p:extLst>
      <p:ext uri="{BB962C8B-B14F-4D97-AF65-F5344CB8AC3E}">
        <p14:creationId xmlns:p14="http://schemas.microsoft.com/office/powerpoint/2010/main" val="24390593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1560" y="1100135"/>
            <a:ext cx="10968990" cy="4247370"/>
          </a:xfrm>
        </p:spPr>
        <p:txBody>
          <a:bodyPr>
            <a:normAutofit/>
          </a:bodyPr>
          <a:lstStyle/>
          <a:p>
            <a:r>
              <a:rPr lang="zh-CN" altLang="en-US" sz="2800" dirty="0"/>
              <a:t>分区存储管理会形成很多碎片，导致内存空间利用率下降。解决这个问题通常有两种办法：</a:t>
            </a:r>
          </a:p>
          <a:p>
            <a:pPr lvl="1"/>
            <a:r>
              <a:rPr lang="zh-CN" altLang="en-US" sz="2800" dirty="0"/>
              <a:t>动态重定位分区存储管理，但要紧凑增加很多额外开销；</a:t>
            </a:r>
          </a:p>
          <a:p>
            <a:pPr lvl="1"/>
            <a:r>
              <a:rPr lang="zh-CN" altLang="en-US" sz="2800" dirty="0">
                <a:solidFill>
                  <a:srgbClr val="0000FF"/>
                </a:solidFill>
              </a:rPr>
              <a:t>离散分配方式</a:t>
            </a:r>
            <a:r>
              <a:rPr lang="zh-CN" altLang="en-US" sz="2800" dirty="0"/>
              <a:t>，以提高内存空间利用率。</a:t>
            </a:r>
          </a:p>
          <a:p>
            <a:pPr lvl="2"/>
            <a:r>
              <a:rPr lang="zh-CN" altLang="en-US" sz="2800" b="1" dirty="0">
                <a:solidFill>
                  <a:srgbClr val="0000FF"/>
                </a:solidFill>
              </a:rPr>
              <a:t>分页存储管理</a:t>
            </a:r>
            <a:endParaRPr lang="zh-CN" altLang="en-US" sz="2800" dirty="0">
              <a:solidFill>
                <a:srgbClr val="0000FF"/>
              </a:solidFill>
            </a:endParaRPr>
          </a:p>
          <a:p>
            <a:pPr lvl="2"/>
            <a:r>
              <a:rPr sz="2800" b="1" dirty="0">
                <a:solidFill>
                  <a:srgbClr val="0000FF"/>
                </a:solidFill>
                <a:sym typeface="+mn-ea"/>
              </a:rPr>
              <a:t>分段存储管理</a:t>
            </a:r>
            <a:endParaRPr lang="en-US" sz="2800" dirty="0">
              <a:solidFill>
                <a:srgbClr val="0000FF"/>
              </a:solidFill>
            </a:endParaRPr>
          </a:p>
          <a:p>
            <a:pPr lvl="2"/>
            <a:r>
              <a:rPr lang="zh-CN" altLang="en-US" sz="2800" dirty="0">
                <a:solidFill>
                  <a:srgbClr val="0000FF"/>
                </a:solidFill>
              </a:rPr>
              <a:t>段页式存储管理</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a:bodyPr>
          <a:lstStyle/>
          <a:p>
            <a:pPr algn="ctr"/>
            <a:r>
              <a:rPr lang="en-US" altLang="zh-CN" sz="3600" dirty="0">
                <a:solidFill>
                  <a:schemeClr val="tx1"/>
                </a:solidFill>
              </a:rPr>
              <a:t>6.4  </a:t>
            </a:r>
            <a:r>
              <a:rPr sz="3600" dirty="0">
                <a:solidFill>
                  <a:schemeClr val="tx1"/>
                </a:solidFill>
              </a:rPr>
              <a:t>分页存储管理</a:t>
            </a:r>
          </a:p>
        </p:txBody>
      </p:sp>
      <p:sp>
        <p:nvSpPr>
          <p:cNvPr id="3" name="内容占位符 2"/>
          <p:cNvSpPr>
            <a:spLocks noGrp="1"/>
          </p:cNvSpPr>
          <p:nvPr>
            <p:ph idx="1"/>
          </p:nvPr>
        </p:nvSpPr>
        <p:spPr>
          <a:xfrm>
            <a:off x="1955985" y="1337622"/>
            <a:ext cx="8601895" cy="4009881"/>
          </a:xfrm>
        </p:spPr>
        <p:txBody>
          <a:bodyPr>
            <a:normAutofit/>
          </a:bodyPr>
          <a:lstStyle/>
          <a:p>
            <a:pPr>
              <a:buBlip>
                <a:blip r:embed="rId3"/>
              </a:buBlip>
            </a:pPr>
            <a:r>
              <a:rPr lang="en-US" altLang="zh-CN" sz="3200" b="1" dirty="0">
                <a:solidFill>
                  <a:srgbClr val="0000FF"/>
                </a:solidFill>
              </a:rPr>
              <a:t> </a:t>
            </a:r>
            <a:r>
              <a:rPr lang="en-US" altLang="zh-CN" sz="3200" b="1" u="dottedHeavy" dirty="0">
                <a:solidFill>
                  <a:srgbClr val="0000FF"/>
                </a:solidFill>
                <a:uFillTx/>
              </a:rPr>
              <a:t>6.4.1  </a:t>
            </a:r>
            <a:r>
              <a:rPr sz="3200" b="1" u="dottedHeavy" dirty="0">
                <a:solidFill>
                  <a:srgbClr val="0000FF"/>
                </a:solidFill>
                <a:uFillTx/>
              </a:rPr>
              <a:t>工作原理</a:t>
            </a:r>
          </a:p>
          <a:p>
            <a:pPr>
              <a:buBlip>
                <a:blip r:embed="rId3"/>
              </a:buBlip>
            </a:pPr>
            <a:r>
              <a:rPr sz="3200" b="1" dirty="0">
                <a:solidFill>
                  <a:srgbClr val="0000FF"/>
                </a:solidFill>
              </a:rPr>
              <a:t> </a:t>
            </a:r>
            <a:r>
              <a:rPr lang="en-US" altLang="zh-CN" sz="3200" b="1" u="dottedHeavy" dirty="0">
                <a:solidFill>
                  <a:srgbClr val="0000FF"/>
                </a:solidFill>
              </a:rPr>
              <a:t>6.4.2  </a:t>
            </a:r>
            <a:r>
              <a:rPr sz="3200" b="1" u="dottedHeavy" dirty="0">
                <a:solidFill>
                  <a:srgbClr val="0000FF"/>
                </a:solidFill>
              </a:rPr>
              <a:t>地址变换</a:t>
            </a:r>
          </a:p>
          <a:p>
            <a:pPr>
              <a:buBlip>
                <a:blip r:embed="rId3"/>
              </a:buBlip>
            </a:pPr>
            <a:r>
              <a:rPr lang="en-US" altLang="zh-CN" sz="3200" dirty="0"/>
              <a:t> </a:t>
            </a:r>
            <a:r>
              <a:rPr lang="en-US" altLang="zh-CN" sz="3200" u="dottedHeavy" dirty="0"/>
              <a:t>6.4.3  </a:t>
            </a:r>
            <a:r>
              <a:rPr sz="3200" u="dottedHeavy" dirty="0"/>
              <a:t>两级页表、多级页表</a:t>
            </a:r>
          </a:p>
          <a:p>
            <a:pPr>
              <a:buBlip>
                <a:blip r:embed="rId3"/>
              </a:buBlip>
            </a:pPr>
            <a:r>
              <a:rPr sz="3200" u="dottedHeavy" dirty="0"/>
              <a:t> </a:t>
            </a:r>
            <a:r>
              <a:rPr lang="en-US" altLang="zh-CN" sz="3200" u="dottedHeavy" dirty="0"/>
              <a:t>6.4.4  </a:t>
            </a:r>
            <a:r>
              <a:rPr sz="3200" u="dottedHeavy" dirty="0"/>
              <a:t>分页存储管理的特点</a:t>
            </a:r>
            <a:r>
              <a:rPr lang="en-US" altLang="zh-CN" sz="3200" u="dottedHeavy" dirty="0"/>
              <a:t>                  </a:t>
            </a:r>
          </a:p>
        </p:txBody>
      </p:sp>
    </p:spTree>
    <p:custDataLst>
      <p:tags r:id="rId1"/>
    </p:custData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6.4.1</a:t>
            </a:r>
            <a:r>
              <a:t>工作原理</a:t>
            </a:r>
          </a:p>
        </p:txBody>
      </p:sp>
      <p:sp>
        <p:nvSpPr>
          <p:cNvPr id="3" name="内容占位符 2"/>
          <p:cNvSpPr>
            <a:spLocks noGrp="1"/>
          </p:cNvSpPr>
          <p:nvPr>
            <p:ph idx="1"/>
          </p:nvPr>
        </p:nvSpPr>
        <p:spPr>
          <a:xfrm>
            <a:off x="249516" y="1019112"/>
            <a:ext cx="5155862" cy="5358540"/>
          </a:xfrm>
        </p:spPr>
        <p:txBody>
          <a:bodyPr>
            <a:normAutofit/>
          </a:bodyPr>
          <a:lstStyle/>
          <a:p>
            <a:pPr marL="0" indent="0">
              <a:buNone/>
            </a:pPr>
            <a:r>
              <a:rPr lang="zh-CN" altLang="en-US" sz="3200" b="1" dirty="0"/>
              <a:t>1</a:t>
            </a:r>
            <a:r>
              <a:rPr lang="en-US" altLang="zh-CN" sz="3200" b="1" dirty="0"/>
              <a:t>.</a:t>
            </a:r>
            <a:r>
              <a:rPr lang="zh-CN" altLang="en-US" sz="3200" b="1" dirty="0"/>
              <a:t>物理块和页面</a:t>
            </a:r>
          </a:p>
          <a:p>
            <a:r>
              <a:rPr lang="zh-CN" altLang="en-US" sz="2600" dirty="0">
                <a:solidFill>
                  <a:srgbClr val="0000FF"/>
                </a:solidFill>
              </a:rPr>
              <a:t>内存空间划分成若干大小相等的物理块</a:t>
            </a:r>
            <a:r>
              <a:rPr lang="zh-CN" altLang="en-US" sz="2600" dirty="0"/>
              <a:t>，块号从0 开始顺序编号。</a:t>
            </a:r>
          </a:p>
          <a:p>
            <a:r>
              <a:rPr lang="zh-CN" altLang="en-US" sz="2600" dirty="0">
                <a:solidFill>
                  <a:srgbClr val="0000FF"/>
                </a:solidFill>
              </a:rPr>
              <a:t>程序的逻辑地址空间分页</a:t>
            </a:r>
            <a:r>
              <a:rPr lang="zh-CN" altLang="en-US" sz="2600" dirty="0"/>
              <a:t>（与块大小一致） </a:t>
            </a:r>
            <a:endParaRPr lang="en-US" altLang="zh-CN" sz="2600" dirty="0"/>
          </a:p>
          <a:p>
            <a:r>
              <a:rPr lang="zh-CN" altLang="en-US" sz="2600" dirty="0"/>
              <a:t>程序的</a:t>
            </a:r>
            <a:r>
              <a:rPr lang="zh-CN" altLang="en-US" sz="2600" dirty="0">
                <a:solidFill>
                  <a:srgbClr val="0000FF"/>
                </a:solidFill>
              </a:rPr>
              <a:t>一页装入内存的一物理块</a:t>
            </a:r>
            <a:r>
              <a:rPr lang="zh-CN" altLang="en-US" sz="2600" dirty="0"/>
              <a:t>，可</a:t>
            </a:r>
            <a:r>
              <a:rPr lang="zh-CN" altLang="en-US" sz="2600" dirty="0">
                <a:solidFill>
                  <a:srgbClr val="0000FF"/>
                </a:solidFill>
              </a:rPr>
              <a:t>离散</a:t>
            </a:r>
            <a:r>
              <a:rPr lang="zh-CN" altLang="en-US" sz="2600" dirty="0"/>
              <a:t>分配。</a:t>
            </a:r>
            <a:endParaRPr lang="en-US" altLang="zh-CN" sz="2600" dirty="0"/>
          </a:p>
          <a:p>
            <a:endParaRPr lang="zh-CN" altLang="en-US" dirty="0"/>
          </a:p>
        </p:txBody>
      </p:sp>
      <p:grpSp>
        <p:nvGrpSpPr>
          <p:cNvPr id="60" name="组合 59">
            <a:extLst>
              <a:ext uri="{FF2B5EF4-FFF2-40B4-BE49-F238E27FC236}">
                <a16:creationId xmlns:a16="http://schemas.microsoft.com/office/drawing/2014/main" id="{8AD70FF1-87C1-4D83-B749-F785E585F62F}"/>
              </a:ext>
            </a:extLst>
          </p:cNvPr>
          <p:cNvGrpSpPr/>
          <p:nvPr/>
        </p:nvGrpSpPr>
        <p:grpSpPr>
          <a:xfrm>
            <a:off x="8797801" y="228299"/>
            <a:ext cx="2580113" cy="6380685"/>
            <a:chOff x="6216650" y="332474"/>
            <a:chExt cx="2708107" cy="6380685"/>
          </a:xfrm>
        </p:grpSpPr>
        <p:grpSp>
          <p:nvGrpSpPr>
            <p:cNvPr id="61" name="组合 60">
              <a:extLst>
                <a:ext uri="{FF2B5EF4-FFF2-40B4-BE49-F238E27FC236}">
                  <a16:creationId xmlns:a16="http://schemas.microsoft.com/office/drawing/2014/main" id="{EF87FEFF-0681-4B9A-A9D9-89454EE49208}"/>
                </a:ext>
              </a:extLst>
            </p:cNvPr>
            <p:cNvGrpSpPr/>
            <p:nvPr/>
          </p:nvGrpSpPr>
          <p:grpSpPr>
            <a:xfrm>
              <a:off x="6216650" y="789674"/>
              <a:ext cx="2165350" cy="5923485"/>
              <a:chOff x="6216650" y="789674"/>
              <a:chExt cx="2165350" cy="5923485"/>
            </a:xfrm>
          </p:grpSpPr>
          <p:grpSp>
            <p:nvGrpSpPr>
              <p:cNvPr id="74" name="组合 73">
                <a:extLst>
                  <a:ext uri="{FF2B5EF4-FFF2-40B4-BE49-F238E27FC236}">
                    <a16:creationId xmlns:a16="http://schemas.microsoft.com/office/drawing/2014/main" id="{4F9685BD-0A2E-4513-B6DE-C2145FEAFB4D}"/>
                  </a:ext>
                </a:extLst>
              </p:cNvPr>
              <p:cNvGrpSpPr/>
              <p:nvPr/>
            </p:nvGrpSpPr>
            <p:grpSpPr>
              <a:xfrm>
                <a:off x="6216650" y="789674"/>
                <a:ext cx="2155032" cy="5396265"/>
                <a:chOff x="6216650" y="789674"/>
                <a:chExt cx="2155032" cy="5396265"/>
              </a:xfrm>
            </p:grpSpPr>
            <p:grpSp>
              <p:nvGrpSpPr>
                <p:cNvPr id="76" name="Group 85">
                  <a:extLst>
                    <a:ext uri="{FF2B5EF4-FFF2-40B4-BE49-F238E27FC236}">
                      <a16:creationId xmlns:a16="http://schemas.microsoft.com/office/drawing/2014/main" id="{0E97B14C-C423-4028-ACEC-AC35B057BBB5}"/>
                    </a:ext>
                  </a:extLst>
                </p:cNvPr>
                <p:cNvGrpSpPr/>
                <p:nvPr/>
              </p:nvGrpSpPr>
              <p:grpSpPr bwMode="auto">
                <a:xfrm>
                  <a:off x="6238082" y="789674"/>
                  <a:ext cx="2133600" cy="5396265"/>
                  <a:chOff x="3936" y="1344"/>
                  <a:chExt cx="1344" cy="2400"/>
                </a:xfrm>
              </p:grpSpPr>
              <p:sp>
                <p:nvSpPr>
                  <p:cNvPr id="78" name="Rectangle 61">
                    <a:extLst>
                      <a:ext uri="{FF2B5EF4-FFF2-40B4-BE49-F238E27FC236}">
                        <a16:creationId xmlns:a16="http://schemas.microsoft.com/office/drawing/2014/main" id="{771C881A-5CD7-4C37-92D3-5B0563E9FBC4}"/>
                      </a:ext>
                    </a:extLst>
                  </p:cNvPr>
                  <p:cNvSpPr>
                    <a:spLocks noChangeArrowheads="1"/>
                  </p:cNvSpPr>
                  <p:nvPr/>
                </p:nvSpPr>
                <p:spPr bwMode="auto">
                  <a:xfrm>
                    <a:off x="3936" y="1344"/>
                    <a:ext cx="1344" cy="2400"/>
                  </a:xfrm>
                  <a:prstGeom prst="rect">
                    <a:avLst/>
                  </a:prstGeom>
                  <a:solidFill>
                    <a:srgbClr val="CCCCFF"/>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79" name="Group 84">
                    <a:extLst>
                      <a:ext uri="{FF2B5EF4-FFF2-40B4-BE49-F238E27FC236}">
                        <a16:creationId xmlns:a16="http://schemas.microsoft.com/office/drawing/2014/main" id="{89127229-D160-47C6-8FF1-92B83F303C72}"/>
                      </a:ext>
                    </a:extLst>
                  </p:cNvPr>
                  <p:cNvGrpSpPr/>
                  <p:nvPr/>
                </p:nvGrpSpPr>
                <p:grpSpPr bwMode="auto">
                  <a:xfrm>
                    <a:off x="3936" y="1821"/>
                    <a:ext cx="1344" cy="1683"/>
                    <a:chOff x="5616" y="1821"/>
                    <a:chExt cx="1344" cy="1683"/>
                  </a:xfrm>
                </p:grpSpPr>
                <p:sp>
                  <p:nvSpPr>
                    <p:cNvPr id="80" name="Line 76">
                      <a:extLst>
                        <a:ext uri="{FF2B5EF4-FFF2-40B4-BE49-F238E27FC236}">
                          <a16:creationId xmlns:a16="http://schemas.microsoft.com/office/drawing/2014/main" id="{0EAC463E-4484-4AAC-919E-268C10DCF5A3}"/>
                        </a:ext>
                      </a:extLst>
                    </p:cNvPr>
                    <p:cNvSpPr>
                      <a:spLocks noChangeShapeType="1"/>
                    </p:cNvSpPr>
                    <p:nvPr/>
                  </p:nvSpPr>
                  <p:spPr bwMode="auto">
                    <a:xfrm>
                      <a:off x="5616" y="206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 name="Line 77">
                      <a:extLst>
                        <a:ext uri="{FF2B5EF4-FFF2-40B4-BE49-F238E27FC236}">
                          <a16:creationId xmlns:a16="http://schemas.microsoft.com/office/drawing/2014/main" id="{5A9A6310-9586-4C63-B0F0-2A3DD41ACB6A}"/>
                        </a:ext>
                      </a:extLst>
                    </p:cNvPr>
                    <p:cNvSpPr>
                      <a:spLocks noChangeShapeType="1"/>
                    </p:cNvSpPr>
                    <p:nvPr/>
                  </p:nvSpPr>
                  <p:spPr bwMode="auto">
                    <a:xfrm>
                      <a:off x="5616" y="230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Line 78">
                      <a:extLst>
                        <a:ext uri="{FF2B5EF4-FFF2-40B4-BE49-F238E27FC236}">
                          <a16:creationId xmlns:a16="http://schemas.microsoft.com/office/drawing/2014/main" id="{FFA77110-3C8A-496B-836D-DE1C1046FC8C}"/>
                        </a:ext>
                      </a:extLst>
                    </p:cNvPr>
                    <p:cNvSpPr>
                      <a:spLocks noChangeShapeType="1"/>
                    </p:cNvSpPr>
                    <p:nvPr/>
                  </p:nvSpPr>
                  <p:spPr bwMode="auto">
                    <a:xfrm>
                      <a:off x="5616" y="254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Line 79">
                      <a:extLst>
                        <a:ext uri="{FF2B5EF4-FFF2-40B4-BE49-F238E27FC236}">
                          <a16:creationId xmlns:a16="http://schemas.microsoft.com/office/drawing/2014/main" id="{C7A05D19-2235-490D-976F-B92A0C024C33}"/>
                        </a:ext>
                      </a:extLst>
                    </p:cNvPr>
                    <p:cNvSpPr>
                      <a:spLocks noChangeShapeType="1"/>
                    </p:cNvSpPr>
                    <p:nvPr/>
                  </p:nvSpPr>
                  <p:spPr bwMode="auto">
                    <a:xfrm>
                      <a:off x="5616" y="278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 name="Line 80">
                      <a:extLst>
                        <a:ext uri="{FF2B5EF4-FFF2-40B4-BE49-F238E27FC236}">
                          <a16:creationId xmlns:a16="http://schemas.microsoft.com/office/drawing/2014/main" id="{EF0E50CD-1A35-440B-9387-E75581D54B9E}"/>
                        </a:ext>
                      </a:extLst>
                    </p:cNvPr>
                    <p:cNvSpPr>
                      <a:spLocks noChangeShapeType="1"/>
                    </p:cNvSpPr>
                    <p:nvPr/>
                  </p:nvSpPr>
                  <p:spPr bwMode="auto">
                    <a:xfrm>
                      <a:off x="5616" y="302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Line 81">
                      <a:extLst>
                        <a:ext uri="{FF2B5EF4-FFF2-40B4-BE49-F238E27FC236}">
                          <a16:creationId xmlns:a16="http://schemas.microsoft.com/office/drawing/2014/main" id="{A83062E7-A127-4963-A240-EB79B58279EE}"/>
                        </a:ext>
                      </a:extLst>
                    </p:cNvPr>
                    <p:cNvSpPr>
                      <a:spLocks noChangeShapeType="1"/>
                    </p:cNvSpPr>
                    <p:nvPr/>
                  </p:nvSpPr>
                  <p:spPr bwMode="auto">
                    <a:xfrm>
                      <a:off x="5616" y="326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Line 82">
                      <a:extLst>
                        <a:ext uri="{FF2B5EF4-FFF2-40B4-BE49-F238E27FC236}">
                          <a16:creationId xmlns:a16="http://schemas.microsoft.com/office/drawing/2014/main" id="{D8F89468-9DBF-4F5B-ACA0-24F0C43FD051}"/>
                        </a:ext>
                      </a:extLst>
                    </p:cNvPr>
                    <p:cNvSpPr>
                      <a:spLocks noChangeShapeType="1"/>
                    </p:cNvSpPr>
                    <p:nvPr/>
                  </p:nvSpPr>
                  <p:spPr bwMode="auto">
                    <a:xfrm>
                      <a:off x="5616" y="1821"/>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 name="Line 83">
                      <a:extLst>
                        <a:ext uri="{FF2B5EF4-FFF2-40B4-BE49-F238E27FC236}">
                          <a16:creationId xmlns:a16="http://schemas.microsoft.com/office/drawing/2014/main" id="{F7CDCAD3-8AA9-4960-A3A6-FA055F4F3C76}"/>
                        </a:ext>
                      </a:extLst>
                    </p:cNvPr>
                    <p:cNvSpPr>
                      <a:spLocks noChangeShapeType="1"/>
                    </p:cNvSpPr>
                    <p:nvPr/>
                  </p:nvSpPr>
                  <p:spPr bwMode="auto">
                    <a:xfrm>
                      <a:off x="5616" y="3504"/>
                      <a:ext cx="13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cxnSp>
              <p:nvCxnSpPr>
                <p:cNvPr id="77" name="直接连接符 76">
                  <a:extLst>
                    <a:ext uri="{FF2B5EF4-FFF2-40B4-BE49-F238E27FC236}">
                      <a16:creationId xmlns:a16="http://schemas.microsoft.com/office/drawing/2014/main" id="{5684B620-F9AE-4DE8-81F4-CF89804A4112}"/>
                    </a:ext>
                  </a:extLst>
                </p:cNvPr>
                <p:cNvCxnSpPr/>
                <p:nvPr/>
              </p:nvCxnSpPr>
              <p:spPr>
                <a:xfrm>
                  <a:off x="6216650" y="1313931"/>
                  <a:ext cx="2112963" cy="0"/>
                </a:xfrm>
                <a:prstGeom prst="line">
                  <a:avLst/>
                </a:prstGeom>
              </p:spPr>
              <p:style>
                <a:lnRef idx="1">
                  <a:schemeClr val="dk1"/>
                </a:lnRef>
                <a:fillRef idx="0">
                  <a:schemeClr val="dk1"/>
                </a:fillRef>
                <a:effectRef idx="0">
                  <a:schemeClr val="dk1"/>
                </a:effectRef>
                <a:fontRef idx="minor">
                  <a:schemeClr val="tx1"/>
                </a:fontRef>
              </p:style>
            </p:cxnSp>
          </p:grpSp>
          <p:sp>
            <p:nvSpPr>
              <p:cNvPr id="75" name="Rectangle 14">
                <a:extLst>
                  <a:ext uri="{FF2B5EF4-FFF2-40B4-BE49-F238E27FC236}">
                    <a16:creationId xmlns:a16="http://schemas.microsoft.com/office/drawing/2014/main" id="{2CEA537A-806B-4ED0-B48D-486397709167}"/>
                  </a:ext>
                </a:extLst>
              </p:cNvPr>
              <p:cNvSpPr>
                <a:spLocks noChangeArrowheads="1"/>
              </p:cNvSpPr>
              <p:nvPr/>
            </p:nvSpPr>
            <p:spPr bwMode="auto">
              <a:xfrm>
                <a:off x="6248400" y="6200950"/>
                <a:ext cx="2133600" cy="512209"/>
              </a:xfrm>
              <a:prstGeom prst="rect">
                <a:avLst/>
              </a:prstGeom>
              <a:solidFill>
                <a:srgbClr val="CCCCFF"/>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US" altLang="zh-CN" dirty="0">
                    <a:latin typeface="微软雅黑" panose="020B0503020204020204" pitchFamily="34" charset="-122"/>
                  </a:rPr>
                  <a:t>……</a:t>
                </a:r>
              </a:p>
            </p:txBody>
          </p:sp>
        </p:grpSp>
        <p:sp>
          <p:nvSpPr>
            <p:cNvPr id="62" name="Text Box 22">
              <a:extLst>
                <a:ext uri="{FF2B5EF4-FFF2-40B4-BE49-F238E27FC236}">
                  <a16:creationId xmlns:a16="http://schemas.microsoft.com/office/drawing/2014/main" id="{ECB1D5E4-478F-4509-BC55-80B1D0862C17}"/>
                </a:ext>
              </a:extLst>
            </p:cNvPr>
            <p:cNvSpPr txBox="1">
              <a:spLocks noChangeArrowheads="1"/>
            </p:cNvSpPr>
            <p:nvPr/>
          </p:nvSpPr>
          <p:spPr bwMode="auto">
            <a:xfrm>
              <a:off x="6463055" y="332474"/>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solidFill>
                    <a:srgbClr val="0000FF"/>
                  </a:solidFill>
                  <a:latin typeface="微软雅黑" panose="020B0503020204020204" pitchFamily="34" charset="-122"/>
                  <a:ea typeface="微软雅黑" panose="020B0503020204020204" pitchFamily="34" charset="-122"/>
                </a:rPr>
                <a:t>物理空间</a:t>
              </a:r>
            </a:p>
          </p:txBody>
        </p:sp>
        <p:grpSp>
          <p:nvGrpSpPr>
            <p:cNvPr id="63" name="Group 87">
              <a:extLst>
                <a:ext uri="{FF2B5EF4-FFF2-40B4-BE49-F238E27FC236}">
                  <a16:creationId xmlns:a16="http://schemas.microsoft.com/office/drawing/2014/main" id="{9FC9FF53-6AB2-4CBD-96E6-74BBF9DA37F1}"/>
                </a:ext>
              </a:extLst>
            </p:cNvPr>
            <p:cNvGrpSpPr/>
            <p:nvPr/>
          </p:nvGrpSpPr>
          <p:grpSpPr bwMode="auto">
            <a:xfrm>
              <a:off x="8329620" y="672060"/>
              <a:ext cx="479425" cy="5236100"/>
              <a:chOff x="5247" y="960"/>
              <a:chExt cx="302" cy="2262"/>
            </a:xfrm>
          </p:grpSpPr>
          <p:sp>
            <p:nvSpPr>
              <p:cNvPr id="67" name="Text Box 58">
                <a:extLst>
                  <a:ext uri="{FF2B5EF4-FFF2-40B4-BE49-F238E27FC236}">
                    <a16:creationId xmlns:a16="http://schemas.microsoft.com/office/drawing/2014/main" id="{602BFE4B-39B9-486F-9874-45334FE03097}"/>
                  </a:ext>
                </a:extLst>
              </p:cNvPr>
              <p:cNvSpPr txBox="1">
                <a:spLocks noChangeArrowheads="1"/>
              </p:cNvSpPr>
              <p:nvPr/>
            </p:nvSpPr>
            <p:spPr bwMode="auto">
              <a:xfrm>
                <a:off x="5271" y="960"/>
                <a:ext cx="26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0</a:t>
                </a:r>
              </a:p>
            </p:txBody>
          </p:sp>
          <p:sp>
            <p:nvSpPr>
              <p:cNvPr id="68" name="Text Box 59">
                <a:extLst>
                  <a:ext uri="{FF2B5EF4-FFF2-40B4-BE49-F238E27FC236}">
                    <a16:creationId xmlns:a16="http://schemas.microsoft.com/office/drawing/2014/main" id="{58936A12-E2BE-4B31-A7D4-AA51FA962006}"/>
                  </a:ext>
                </a:extLst>
              </p:cNvPr>
              <p:cNvSpPr txBox="1">
                <a:spLocks noChangeArrowheads="1"/>
              </p:cNvSpPr>
              <p:nvPr/>
            </p:nvSpPr>
            <p:spPr bwMode="auto">
              <a:xfrm>
                <a:off x="5247" y="1820"/>
                <a:ext cx="2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4k</a:t>
                </a:r>
              </a:p>
            </p:txBody>
          </p:sp>
          <p:sp>
            <p:nvSpPr>
              <p:cNvPr id="69" name="Text Box 60">
                <a:extLst>
                  <a:ext uri="{FF2B5EF4-FFF2-40B4-BE49-F238E27FC236}">
                    <a16:creationId xmlns:a16="http://schemas.microsoft.com/office/drawing/2014/main" id="{3BF56357-7978-48CE-BC38-4A36D41561F9}"/>
                  </a:ext>
                </a:extLst>
              </p:cNvPr>
              <p:cNvSpPr txBox="1">
                <a:spLocks noChangeArrowheads="1"/>
              </p:cNvSpPr>
              <p:nvPr/>
            </p:nvSpPr>
            <p:spPr bwMode="auto">
              <a:xfrm>
                <a:off x="5259" y="2279"/>
                <a:ext cx="2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6k</a:t>
                </a:r>
              </a:p>
            </p:txBody>
          </p:sp>
          <p:sp>
            <p:nvSpPr>
              <p:cNvPr id="70" name="Text Box 66">
                <a:extLst>
                  <a:ext uri="{FF2B5EF4-FFF2-40B4-BE49-F238E27FC236}">
                    <a16:creationId xmlns:a16="http://schemas.microsoft.com/office/drawing/2014/main" id="{FB359077-5301-4143-9314-E5F0B23E10AC}"/>
                  </a:ext>
                </a:extLst>
              </p:cNvPr>
              <p:cNvSpPr txBox="1">
                <a:spLocks noChangeArrowheads="1"/>
              </p:cNvSpPr>
              <p:nvPr/>
            </p:nvSpPr>
            <p:spPr bwMode="auto">
              <a:xfrm>
                <a:off x="5247" y="2045"/>
                <a:ext cx="2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5k</a:t>
                </a:r>
              </a:p>
            </p:txBody>
          </p:sp>
          <p:sp>
            <p:nvSpPr>
              <p:cNvPr id="71" name="Text Box 67">
                <a:extLst>
                  <a:ext uri="{FF2B5EF4-FFF2-40B4-BE49-F238E27FC236}">
                    <a16:creationId xmlns:a16="http://schemas.microsoft.com/office/drawing/2014/main" id="{21AFBC8E-38FA-42F9-AC02-221AE355477E}"/>
                  </a:ext>
                </a:extLst>
              </p:cNvPr>
              <p:cNvSpPr txBox="1">
                <a:spLocks noChangeArrowheads="1"/>
              </p:cNvSpPr>
              <p:nvPr/>
            </p:nvSpPr>
            <p:spPr bwMode="auto">
              <a:xfrm>
                <a:off x="5270" y="2767"/>
                <a:ext cx="2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8k</a:t>
                </a:r>
              </a:p>
            </p:txBody>
          </p:sp>
          <p:sp>
            <p:nvSpPr>
              <p:cNvPr id="72" name="Text Box 68">
                <a:extLst>
                  <a:ext uri="{FF2B5EF4-FFF2-40B4-BE49-F238E27FC236}">
                    <a16:creationId xmlns:a16="http://schemas.microsoft.com/office/drawing/2014/main" id="{BBAE27DC-C12D-47DB-848D-8A3C55E9940D}"/>
                  </a:ext>
                </a:extLst>
              </p:cNvPr>
              <p:cNvSpPr txBox="1">
                <a:spLocks noChangeArrowheads="1"/>
              </p:cNvSpPr>
              <p:nvPr/>
            </p:nvSpPr>
            <p:spPr bwMode="auto">
              <a:xfrm>
                <a:off x="5267" y="2512"/>
                <a:ext cx="2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7k</a:t>
                </a:r>
              </a:p>
            </p:txBody>
          </p:sp>
          <p:sp>
            <p:nvSpPr>
              <p:cNvPr id="73" name="Text Box 70">
                <a:extLst>
                  <a:ext uri="{FF2B5EF4-FFF2-40B4-BE49-F238E27FC236}">
                    <a16:creationId xmlns:a16="http://schemas.microsoft.com/office/drawing/2014/main" id="{3A62EEB4-881F-4AD6-93DC-2B9E453EB792}"/>
                  </a:ext>
                </a:extLst>
              </p:cNvPr>
              <p:cNvSpPr txBox="1">
                <a:spLocks noChangeArrowheads="1"/>
              </p:cNvSpPr>
              <p:nvPr/>
            </p:nvSpPr>
            <p:spPr bwMode="auto">
              <a:xfrm>
                <a:off x="5271" y="2991"/>
                <a:ext cx="2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9k</a:t>
                </a:r>
              </a:p>
            </p:txBody>
          </p:sp>
        </p:grpSp>
        <p:sp>
          <p:nvSpPr>
            <p:cNvPr id="64" name="Text Box 59">
              <a:extLst>
                <a:ext uri="{FF2B5EF4-FFF2-40B4-BE49-F238E27FC236}">
                  <a16:creationId xmlns:a16="http://schemas.microsoft.com/office/drawing/2014/main" id="{BEF91818-C491-48FC-8DE6-6E10364D0855}"/>
                </a:ext>
              </a:extLst>
            </p:cNvPr>
            <p:cNvSpPr txBox="1">
              <a:spLocks noChangeArrowheads="1"/>
            </p:cNvSpPr>
            <p:nvPr/>
          </p:nvSpPr>
          <p:spPr bwMode="auto">
            <a:xfrm>
              <a:off x="8366264" y="1150046"/>
              <a:ext cx="556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1k</a:t>
              </a:r>
            </a:p>
          </p:txBody>
        </p:sp>
        <p:sp>
          <p:nvSpPr>
            <p:cNvPr id="65" name="Text Box 59">
              <a:extLst>
                <a:ext uri="{FF2B5EF4-FFF2-40B4-BE49-F238E27FC236}">
                  <a16:creationId xmlns:a16="http://schemas.microsoft.com/office/drawing/2014/main" id="{9BDCDF4B-6E20-4B30-A688-D74D88310EF0}"/>
                </a:ext>
              </a:extLst>
            </p:cNvPr>
            <p:cNvSpPr txBox="1">
              <a:spLocks noChangeArrowheads="1"/>
            </p:cNvSpPr>
            <p:nvPr/>
          </p:nvSpPr>
          <p:spPr bwMode="auto">
            <a:xfrm>
              <a:off x="8368190" y="1649688"/>
              <a:ext cx="556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2k</a:t>
              </a:r>
            </a:p>
          </p:txBody>
        </p:sp>
        <p:sp>
          <p:nvSpPr>
            <p:cNvPr id="66" name="Text Box 59">
              <a:extLst>
                <a:ext uri="{FF2B5EF4-FFF2-40B4-BE49-F238E27FC236}">
                  <a16:creationId xmlns:a16="http://schemas.microsoft.com/office/drawing/2014/main" id="{3288BB1D-3AB4-43EC-9045-E824FF0C7A81}"/>
                </a:ext>
              </a:extLst>
            </p:cNvPr>
            <p:cNvSpPr txBox="1">
              <a:spLocks noChangeArrowheads="1"/>
            </p:cNvSpPr>
            <p:nvPr/>
          </p:nvSpPr>
          <p:spPr bwMode="auto">
            <a:xfrm>
              <a:off x="8368194" y="2147403"/>
              <a:ext cx="556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dirty="0">
                  <a:solidFill>
                    <a:srgbClr val="000000"/>
                  </a:solidFill>
                  <a:latin typeface="微软雅黑" panose="020B0503020204020204" pitchFamily="34" charset="-122"/>
                  <a:ea typeface="微软雅黑" panose="020B0503020204020204" pitchFamily="34" charset="-122"/>
                </a:rPr>
                <a:t>3k</a:t>
              </a:r>
            </a:p>
          </p:txBody>
        </p:sp>
      </p:grpSp>
      <p:sp>
        <p:nvSpPr>
          <p:cNvPr id="88" name="Rectangle 8">
            <a:extLst>
              <a:ext uri="{FF2B5EF4-FFF2-40B4-BE49-F238E27FC236}">
                <a16:creationId xmlns:a16="http://schemas.microsoft.com/office/drawing/2014/main" id="{653F14F3-9731-43D4-881C-AB93824ACB1B}"/>
              </a:ext>
            </a:extLst>
          </p:cNvPr>
          <p:cNvSpPr>
            <a:spLocks noChangeArrowheads="1"/>
          </p:cNvSpPr>
          <p:nvPr/>
        </p:nvSpPr>
        <p:spPr bwMode="auto">
          <a:xfrm>
            <a:off x="8820951" y="4983719"/>
            <a:ext cx="2008103" cy="547536"/>
          </a:xfrm>
          <a:prstGeom prst="rect">
            <a:avLst/>
          </a:prstGeom>
          <a:solidFill>
            <a:srgbClr val="00FF00"/>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rPr>
              <a:t>程序</a:t>
            </a:r>
            <a:r>
              <a:rPr lang="en-US" altLang="zh-CN" dirty="0">
                <a:latin typeface="微软雅黑" panose="020B0503020204020204" pitchFamily="34" charset="-122"/>
              </a:rPr>
              <a:t>2(2</a:t>
            </a:r>
            <a:r>
              <a:rPr lang="zh-CN" altLang="en-US" dirty="0">
                <a:latin typeface="微软雅黑" panose="020B0503020204020204" pitchFamily="34" charset="-122"/>
              </a:rPr>
              <a:t>页</a:t>
            </a:r>
            <a:r>
              <a:rPr lang="en-US" altLang="zh-CN" dirty="0">
                <a:latin typeface="微软雅黑" panose="020B0503020204020204" pitchFamily="34" charset="-122"/>
              </a:rPr>
              <a:t>)</a:t>
            </a:r>
          </a:p>
        </p:txBody>
      </p:sp>
      <p:sp>
        <p:nvSpPr>
          <p:cNvPr id="89" name="Rectangle 10">
            <a:extLst>
              <a:ext uri="{FF2B5EF4-FFF2-40B4-BE49-F238E27FC236}">
                <a16:creationId xmlns:a16="http://schemas.microsoft.com/office/drawing/2014/main" id="{A425DD02-09D1-49AE-9E06-8832291EFDBC}"/>
              </a:ext>
            </a:extLst>
          </p:cNvPr>
          <p:cNvSpPr>
            <a:spLocks noChangeArrowheads="1"/>
          </p:cNvSpPr>
          <p:nvPr/>
        </p:nvSpPr>
        <p:spPr bwMode="auto">
          <a:xfrm>
            <a:off x="8820951" y="3919980"/>
            <a:ext cx="2009822" cy="547536"/>
          </a:xfrm>
          <a:prstGeom prst="rect">
            <a:avLst/>
          </a:prstGeom>
          <a:solidFill>
            <a:srgbClr val="00FFFF"/>
          </a:solidFill>
          <a:ln w="9525" algn="ctr">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rPr>
              <a:t>程序</a:t>
            </a:r>
            <a:r>
              <a:rPr lang="en-US" altLang="zh-CN" dirty="0">
                <a:latin typeface="微软雅黑" panose="020B0503020204020204" pitchFamily="34" charset="-122"/>
              </a:rPr>
              <a:t>1(1</a:t>
            </a:r>
            <a:r>
              <a:rPr lang="zh-CN" altLang="en-US" dirty="0">
                <a:latin typeface="微软雅黑" panose="020B0503020204020204" pitchFamily="34" charset="-122"/>
              </a:rPr>
              <a:t>页</a:t>
            </a:r>
            <a:r>
              <a:rPr lang="en-US" altLang="zh-CN" dirty="0">
                <a:latin typeface="微软雅黑" panose="020B0503020204020204" pitchFamily="34" charset="-122"/>
              </a:rPr>
              <a:t>)</a:t>
            </a:r>
          </a:p>
        </p:txBody>
      </p:sp>
      <p:sp>
        <p:nvSpPr>
          <p:cNvPr id="90" name="Rectangle 11">
            <a:extLst>
              <a:ext uri="{FF2B5EF4-FFF2-40B4-BE49-F238E27FC236}">
                <a16:creationId xmlns:a16="http://schemas.microsoft.com/office/drawing/2014/main" id="{CD4E7593-B439-47A3-912D-3456BF51AE68}"/>
              </a:ext>
            </a:extLst>
          </p:cNvPr>
          <p:cNvSpPr>
            <a:spLocks noChangeArrowheads="1"/>
          </p:cNvSpPr>
          <p:nvPr/>
        </p:nvSpPr>
        <p:spPr bwMode="auto">
          <a:xfrm>
            <a:off x="8820951" y="4450911"/>
            <a:ext cx="2026253" cy="534721"/>
          </a:xfrm>
          <a:prstGeom prst="rect">
            <a:avLst/>
          </a:prstGeom>
          <a:solidFill>
            <a:srgbClr val="00FF00"/>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rPr>
              <a:t>程序</a:t>
            </a:r>
            <a:r>
              <a:rPr lang="en-US" altLang="zh-CN" dirty="0">
                <a:latin typeface="微软雅黑" panose="020B0503020204020204" pitchFamily="34" charset="-122"/>
              </a:rPr>
              <a:t>2(1</a:t>
            </a:r>
            <a:r>
              <a:rPr lang="zh-CN" altLang="en-US" dirty="0">
                <a:latin typeface="微软雅黑" panose="020B0503020204020204" pitchFamily="34" charset="-122"/>
              </a:rPr>
              <a:t>页</a:t>
            </a:r>
            <a:r>
              <a:rPr lang="en-US" altLang="zh-CN" dirty="0">
                <a:latin typeface="微软雅黑" panose="020B0503020204020204" pitchFamily="34" charset="-122"/>
              </a:rPr>
              <a:t>)</a:t>
            </a:r>
          </a:p>
        </p:txBody>
      </p:sp>
      <p:sp>
        <p:nvSpPr>
          <p:cNvPr id="91" name="Rectangle 12">
            <a:extLst>
              <a:ext uri="{FF2B5EF4-FFF2-40B4-BE49-F238E27FC236}">
                <a16:creationId xmlns:a16="http://schemas.microsoft.com/office/drawing/2014/main" id="{530B1268-6BFB-4D87-84BD-179D6E724BC6}"/>
              </a:ext>
            </a:extLst>
          </p:cNvPr>
          <p:cNvSpPr>
            <a:spLocks noChangeArrowheads="1"/>
          </p:cNvSpPr>
          <p:nvPr/>
        </p:nvSpPr>
        <p:spPr bwMode="auto">
          <a:xfrm>
            <a:off x="8820951" y="3368158"/>
            <a:ext cx="2012953" cy="556204"/>
          </a:xfrm>
          <a:prstGeom prst="rect">
            <a:avLst/>
          </a:prstGeom>
          <a:solidFill>
            <a:srgbClr val="00FF00"/>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rPr>
              <a:t>程序</a:t>
            </a:r>
            <a:r>
              <a:rPr lang="en-US" altLang="zh-CN" dirty="0">
                <a:latin typeface="微软雅黑" panose="020B0503020204020204" pitchFamily="34" charset="-122"/>
              </a:rPr>
              <a:t>2(0</a:t>
            </a:r>
            <a:r>
              <a:rPr lang="zh-CN" altLang="en-US" dirty="0">
                <a:latin typeface="微软雅黑" panose="020B0503020204020204" pitchFamily="34" charset="-122"/>
              </a:rPr>
              <a:t>页</a:t>
            </a:r>
            <a:r>
              <a:rPr lang="en-US" altLang="zh-CN" dirty="0">
                <a:latin typeface="微软雅黑" panose="020B0503020204020204" pitchFamily="34" charset="-122"/>
              </a:rPr>
              <a:t>)</a:t>
            </a:r>
          </a:p>
        </p:txBody>
      </p:sp>
      <p:sp>
        <p:nvSpPr>
          <p:cNvPr id="92" name="Rectangle 13">
            <a:extLst>
              <a:ext uri="{FF2B5EF4-FFF2-40B4-BE49-F238E27FC236}">
                <a16:creationId xmlns:a16="http://schemas.microsoft.com/office/drawing/2014/main" id="{8473C728-1A35-4C61-B26E-AE7CDA984EAE}"/>
              </a:ext>
            </a:extLst>
          </p:cNvPr>
          <p:cNvSpPr>
            <a:spLocks noChangeArrowheads="1"/>
          </p:cNvSpPr>
          <p:nvPr/>
        </p:nvSpPr>
        <p:spPr bwMode="auto">
          <a:xfrm>
            <a:off x="8820951" y="2850384"/>
            <a:ext cx="2026701" cy="515833"/>
          </a:xfrm>
          <a:prstGeom prst="rect">
            <a:avLst/>
          </a:prstGeom>
          <a:solidFill>
            <a:srgbClr val="00FFFF"/>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rPr>
              <a:t>程序</a:t>
            </a:r>
            <a:r>
              <a:rPr lang="en-US" altLang="zh-CN" dirty="0">
                <a:latin typeface="微软雅黑" panose="020B0503020204020204" pitchFamily="34" charset="-122"/>
              </a:rPr>
              <a:t>1(0</a:t>
            </a:r>
            <a:r>
              <a:rPr lang="zh-CN" altLang="en-US" dirty="0">
                <a:latin typeface="微软雅黑" panose="020B0503020204020204" pitchFamily="34" charset="-122"/>
              </a:rPr>
              <a:t>页</a:t>
            </a:r>
            <a:r>
              <a:rPr lang="en-US" altLang="zh-CN" dirty="0">
                <a:latin typeface="微软雅黑" panose="020B0503020204020204" pitchFamily="34" charset="-122"/>
              </a:rPr>
              <a:t>)</a:t>
            </a:r>
          </a:p>
        </p:txBody>
      </p:sp>
      <p:sp>
        <p:nvSpPr>
          <p:cNvPr id="93" name="Line 51">
            <a:extLst>
              <a:ext uri="{FF2B5EF4-FFF2-40B4-BE49-F238E27FC236}">
                <a16:creationId xmlns:a16="http://schemas.microsoft.com/office/drawing/2014/main" id="{897E78AB-8015-4178-B81A-A1261269AB3A}"/>
              </a:ext>
            </a:extLst>
          </p:cNvPr>
          <p:cNvSpPr>
            <a:spLocks noChangeShapeType="1"/>
          </p:cNvSpPr>
          <p:nvPr/>
        </p:nvSpPr>
        <p:spPr bwMode="auto">
          <a:xfrm>
            <a:off x="7153151" y="3184579"/>
            <a:ext cx="1676400"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 name="Line 52">
            <a:extLst>
              <a:ext uri="{FF2B5EF4-FFF2-40B4-BE49-F238E27FC236}">
                <a16:creationId xmlns:a16="http://schemas.microsoft.com/office/drawing/2014/main" id="{FC463FC7-25F3-4851-8086-72B0F05C6526}"/>
              </a:ext>
            </a:extLst>
          </p:cNvPr>
          <p:cNvSpPr>
            <a:spLocks noChangeShapeType="1"/>
          </p:cNvSpPr>
          <p:nvPr/>
        </p:nvSpPr>
        <p:spPr bwMode="auto">
          <a:xfrm>
            <a:off x="7329629" y="3595248"/>
            <a:ext cx="1676400" cy="657839"/>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95" name="Group 62">
            <a:extLst>
              <a:ext uri="{FF2B5EF4-FFF2-40B4-BE49-F238E27FC236}">
                <a16:creationId xmlns:a16="http://schemas.microsoft.com/office/drawing/2014/main" id="{ED95905E-6463-4B4D-B62E-F59237312257}"/>
              </a:ext>
            </a:extLst>
          </p:cNvPr>
          <p:cNvGrpSpPr/>
          <p:nvPr/>
        </p:nvGrpSpPr>
        <p:grpSpPr bwMode="auto">
          <a:xfrm>
            <a:off x="5546962" y="2171997"/>
            <a:ext cx="2133600" cy="1736684"/>
            <a:chOff x="410" y="2112"/>
            <a:chExt cx="1040" cy="862"/>
          </a:xfrm>
        </p:grpSpPr>
        <p:sp>
          <p:nvSpPr>
            <p:cNvPr id="96" name="Rectangle 19">
              <a:extLst>
                <a:ext uri="{FF2B5EF4-FFF2-40B4-BE49-F238E27FC236}">
                  <a16:creationId xmlns:a16="http://schemas.microsoft.com/office/drawing/2014/main" id="{231C95B7-D6C1-4178-838D-97272A4AD9B6}"/>
                </a:ext>
              </a:extLst>
            </p:cNvPr>
            <p:cNvSpPr>
              <a:spLocks noChangeArrowheads="1"/>
            </p:cNvSpPr>
            <p:nvPr/>
          </p:nvSpPr>
          <p:spPr bwMode="auto">
            <a:xfrm>
              <a:off x="778" y="2645"/>
              <a:ext cx="672" cy="240"/>
            </a:xfrm>
            <a:prstGeom prst="rect">
              <a:avLst/>
            </a:prstGeom>
            <a:solidFill>
              <a:srgbClr val="00FFFF"/>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rPr>
                <a:t>1</a:t>
              </a:r>
              <a:r>
                <a:rPr lang="zh-CN" altLang="en-US" sz="2000" dirty="0">
                  <a:latin typeface="微软雅黑" panose="020B0503020204020204" pitchFamily="34" charset="-122"/>
                </a:rPr>
                <a:t>页</a:t>
              </a:r>
              <a:endParaRPr lang="en-US" altLang="zh-CN" sz="2000" dirty="0">
                <a:latin typeface="微软雅黑" panose="020B0503020204020204" pitchFamily="34" charset="-122"/>
              </a:endParaRPr>
            </a:p>
          </p:txBody>
        </p:sp>
        <p:sp>
          <p:nvSpPr>
            <p:cNvPr id="97" name="Rectangle 20">
              <a:extLst>
                <a:ext uri="{FF2B5EF4-FFF2-40B4-BE49-F238E27FC236}">
                  <a16:creationId xmlns:a16="http://schemas.microsoft.com/office/drawing/2014/main" id="{08F7CB04-60C2-4518-A2B7-9784E5C6E548}"/>
                </a:ext>
              </a:extLst>
            </p:cNvPr>
            <p:cNvSpPr>
              <a:spLocks noChangeArrowheads="1"/>
            </p:cNvSpPr>
            <p:nvPr/>
          </p:nvSpPr>
          <p:spPr bwMode="auto">
            <a:xfrm>
              <a:off x="778" y="2405"/>
              <a:ext cx="672" cy="240"/>
            </a:xfrm>
            <a:prstGeom prst="rect">
              <a:avLst/>
            </a:prstGeom>
            <a:solidFill>
              <a:srgbClr val="00FFFF"/>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rPr>
                <a:t>0</a:t>
              </a:r>
              <a:r>
                <a:rPr lang="zh-CN" altLang="en-US" sz="2000" dirty="0">
                  <a:latin typeface="微软雅黑" panose="020B0503020204020204" pitchFamily="34" charset="-122"/>
                </a:rPr>
                <a:t>页</a:t>
              </a:r>
            </a:p>
          </p:txBody>
        </p:sp>
        <p:sp>
          <p:nvSpPr>
            <p:cNvPr id="98" name="Text Box 21">
              <a:extLst>
                <a:ext uri="{FF2B5EF4-FFF2-40B4-BE49-F238E27FC236}">
                  <a16:creationId xmlns:a16="http://schemas.microsoft.com/office/drawing/2014/main" id="{29DD09B1-C87C-4290-A605-1D2ADD9EFAB9}"/>
                </a:ext>
              </a:extLst>
            </p:cNvPr>
            <p:cNvSpPr txBox="1">
              <a:spLocks noChangeArrowheads="1"/>
            </p:cNvSpPr>
            <p:nvPr/>
          </p:nvSpPr>
          <p:spPr bwMode="auto">
            <a:xfrm>
              <a:off x="814" y="2112"/>
              <a:ext cx="5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sz="2000" dirty="0">
                  <a:solidFill>
                    <a:srgbClr val="0000FF"/>
                  </a:solidFill>
                  <a:latin typeface="微软雅黑" panose="020B0503020204020204" pitchFamily="34" charset="-122"/>
                  <a:ea typeface="微软雅黑" panose="020B0503020204020204" pitchFamily="34" charset="-122"/>
                </a:rPr>
                <a:t>程序</a:t>
              </a:r>
              <a:r>
                <a:rPr lang="en-US" altLang="zh-CN" sz="2000" dirty="0">
                  <a:solidFill>
                    <a:srgbClr val="0000FF"/>
                  </a:solidFill>
                  <a:latin typeface="微软雅黑" panose="020B0503020204020204" pitchFamily="34" charset="-122"/>
                  <a:ea typeface="微软雅黑" panose="020B0503020204020204" pitchFamily="34" charset="-122"/>
                </a:rPr>
                <a:t>1</a:t>
              </a:r>
            </a:p>
          </p:txBody>
        </p:sp>
        <p:sp>
          <p:nvSpPr>
            <p:cNvPr id="99" name="Text Box 49">
              <a:extLst>
                <a:ext uri="{FF2B5EF4-FFF2-40B4-BE49-F238E27FC236}">
                  <a16:creationId xmlns:a16="http://schemas.microsoft.com/office/drawing/2014/main" id="{FEF59F84-61A5-4535-804E-60A68B8771B3}"/>
                </a:ext>
              </a:extLst>
            </p:cNvPr>
            <p:cNvSpPr txBox="1">
              <a:spLocks noChangeArrowheads="1"/>
            </p:cNvSpPr>
            <p:nvPr/>
          </p:nvSpPr>
          <p:spPr bwMode="auto">
            <a:xfrm>
              <a:off x="562" y="2274"/>
              <a:ext cx="2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sz="2000">
                  <a:solidFill>
                    <a:srgbClr val="000000"/>
                  </a:solidFill>
                  <a:latin typeface="微软雅黑" panose="020B0503020204020204" pitchFamily="34" charset="-122"/>
                  <a:ea typeface="微软雅黑" panose="020B0503020204020204" pitchFamily="34" charset="-122"/>
                </a:rPr>
                <a:t>0</a:t>
              </a:r>
            </a:p>
          </p:txBody>
        </p:sp>
        <p:sp>
          <p:nvSpPr>
            <p:cNvPr id="100" name="Text Box 50">
              <a:extLst>
                <a:ext uri="{FF2B5EF4-FFF2-40B4-BE49-F238E27FC236}">
                  <a16:creationId xmlns:a16="http://schemas.microsoft.com/office/drawing/2014/main" id="{610289C7-72AB-47EE-8C63-42E785F331CA}"/>
                </a:ext>
              </a:extLst>
            </p:cNvPr>
            <p:cNvSpPr txBox="1">
              <a:spLocks noChangeArrowheads="1"/>
            </p:cNvSpPr>
            <p:nvPr/>
          </p:nvSpPr>
          <p:spPr bwMode="auto">
            <a:xfrm>
              <a:off x="483" y="2514"/>
              <a:ext cx="3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sz="2000">
                  <a:solidFill>
                    <a:srgbClr val="000000"/>
                  </a:solidFill>
                  <a:latin typeface="微软雅黑" panose="020B0503020204020204" pitchFamily="34" charset="-122"/>
                  <a:ea typeface="微软雅黑" panose="020B0503020204020204" pitchFamily="34" charset="-122"/>
                </a:rPr>
                <a:t>1k</a:t>
              </a:r>
            </a:p>
          </p:txBody>
        </p:sp>
        <p:sp>
          <p:nvSpPr>
            <p:cNvPr id="101" name="Text Box 53">
              <a:extLst>
                <a:ext uri="{FF2B5EF4-FFF2-40B4-BE49-F238E27FC236}">
                  <a16:creationId xmlns:a16="http://schemas.microsoft.com/office/drawing/2014/main" id="{66033EC3-7ACC-48FD-B3EA-3ADAEEDB42B8}"/>
                </a:ext>
              </a:extLst>
            </p:cNvPr>
            <p:cNvSpPr txBox="1">
              <a:spLocks noChangeArrowheads="1"/>
            </p:cNvSpPr>
            <p:nvPr/>
          </p:nvSpPr>
          <p:spPr bwMode="auto">
            <a:xfrm>
              <a:off x="410" y="2722"/>
              <a:ext cx="4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sz="2000" dirty="0">
                  <a:solidFill>
                    <a:srgbClr val="000000"/>
                  </a:solidFill>
                  <a:latin typeface="微软雅黑" panose="020B0503020204020204" pitchFamily="34" charset="-122"/>
                  <a:ea typeface="微软雅黑" panose="020B0503020204020204" pitchFamily="34" charset="-122"/>
                </a:rPr>
                <a:t>2k-1</a:t>
              </a:r>
            </a:p>
          </p:txBody>
        </p:sp>
      </p:grpSp>
      <p:sp>
        <p:nvSpPr>
          <p:cNvPr id="102" name="Rectangle 16">
            <a:extLst>
              <a:ext uri="{FF2B5EF4-FFF2-40B4-BE49-F238E27FC236}">
                <a16:creationId xmlns:a16="http://schemas.microsoft.com/office/drawing/2014/main" id="{09CC99E1-D4B3-4386-AB98-4B6F9E0E3A59}"/>
              </a:ext>
            </a:extLst>
          </p:cNvPr>
          <p:cNvSpPr>
            <a:spLocks noChangeArrowheads="1"/>
          </p:cNvSpPr>
          <p:nvPr/>
        </p:nvSpPr>
        <p:spPr bwMode="auto">
          <a:xfrm>
            <a:off x="8805941" y="679121"/>
            <a:ext cx="2054868" cy="1612749"/>
          </a:xfrm>
          <a:prstGeom prst="rect">
            <a:avLst/>
          </a:prstGeom>
          <a:solidFill>
            <a:srgbClr val="00FFFF">
              <a:alpha val="39000"/>
            </a:srgbClr>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dirty="0">
                <a:latin typeface="微软雅黑" panose="020B0503020204020204" pitchFamily="34" charset="-122"/>
              </a:rPr>
              <a:t>操作系统</a:t>
            </a:r>
            <a:endParaRPr lang="en-US" altLang="zh-CN" dirty="0">
              <a:latin typeface="微软雅黑" panose="020B0503020204020204" pitchFamily="34" charset="-122"/>
            </a:endParaRPr>
          </a:p>
        </p:txBody>
      </p:sp>
      <p:grpSp>
        <p:nvGrpSpPr>
          <p:cNvPr id="103" name="Group 63">
            <a:extLst>
              <a:ext uri="{FF2B5EF4-FFF2-40B4-BE49-F238E27FC236}">
                <a16:creationId xmlns:a16="http://schemas.microsoft.com/office/drawing/2014/main" id="{0852BB70-6CC5-453F-92C4-F8D06C79A701}"/>
              </a:ext>
            </a:extLst>
          </p:cNvPr>
          <p:cNvGrpSpPr/>
          <p:nvPr/>
        </p:nvGrpSpPr>
        <p:grpSpPr bwMode="auto">
          <a:xfrm>
            <a:off x="5289630" y="4405365"/>
            <a:ext cx="1961907" cy="2054889"/>
            <a:chOff x="370" y="3072"/>
            <a:chExt cx="1070" cy="1118"/>
          </a:xfrm>
        </p:grpSpPr>
        <p:sp>
          <p:nvSpPr>
            <p:cNvPr id="104" name="Rectangle 6">
              <a:extLst>
                <a:ext uri="{FF2B5EF4-FFF2-40B4-BE49-F238E27FC236}">
                  <a16:creationId xmlns:a16="http://schemas.microsoft.com/office/drawing/2014/main" id="{A542E41A-283D-49BB-8B54-FFC868736BEA}"/>
                </a:ext>
              </a:extLst>
            </p:cNvPr>
            <p:cNvSpPr>
              <a:spLocks noChangeArrowheads="1"/>
            </p:cNvSpPr>
            <p:nvPr/>
          </p:nvSpPr>
          <p:spPr bwMode="auto">
            <a:xfrm>
              <a:off x="768" y="3888"/>
              <a:ext cx="672" cy="240"/>
            </a:xfrm>
            <a:prstGeom prst="rect">
              <a:avLst/>
            </a:prstGeom>
            <a:solidFill>
              <a:srgbClr val="00FF00"/>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algn="ctr" eaLnBrk="1" hangingPunct="1"/>
              <a:r>
                <a:rPr lang="en-US" altLang="zh-CN" dirty="0">
                  <a:latin typeface="微软雅黑" panose="020B0503020204020204" pitchFamily="34" charset="-122"/>
                </a:rPr>
                <a:t>2</a:t>
              </a:r>
              <a:r>
                <a:rPr lang="zh-CN" altLang="en-US" dirty="0">
                  <a:latin typeface="微软雅黑" panose="020B0503020204020204" pitchFamily="34" charset="-122"/>
                </a:rPr>
                <a:t>页</a:t>
              </a:r>
              <a:endParaRPr lang="en-US" altLang="zh-CN" dirty="0">
                <a:latin typeface="微软雅黑" panose="020B0503020204020204" pitchFamily="34" charset="-122"/>
              </a:endParaRPr>
            </a:p>
          </p:txBody>
        </p:sp>
        <p:sp>
          <p:nvSpPr>
            <p:cNvPr id="105" name="Rectangle 17">
              <a:extLst>
                <a:ext uri="{FF2B5EF4-FFF2-40B4-BE49-F238E27FC236}">
                  <a16:creationId xmlns:a16="http://schemas.microsoft.com/office/drawing/2014/main" id="{81D470F0-0865-4275-ACC5-52529039D59D}"/>
                </a:ext>
              </a:extLst>
            </p:cNvPr>
            <p:cNvSpPr>
              <a:spLocks noChangeArrowheads="1"/>
            </p:cNvSpPr>
            <p:nvPr/>
          </p:nvSpPr>
          <p:spPr bwMode="auto">
            <a:xfrm>
              <a:off x="768" y="3648"/>
              <a:ext cx="672" cy="240"/>
            </a:xfrm>
            <a:prstGeom prst="rect">
              <a:avLst/>
            </a:prstGeom>
            <a:solidFill>
              <a:srgbClr val="00FF00"/>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algn="ctr" eaLnBrk="1" hangingPunct="1"/>
              <a:r>
                <a:rPr lang="en-US" altLang="zh-CN" dirty="0">
                  <a:latin typeface="微软雅黑" panose="020B0503020204020204" pitchFamily="34" charset="-122"/>
                </a:rPr>
                <a:t>1</a:t>
              </a:r>
              <a:r>
                <a:rPr lang="zh-CN" altLang="en-US" dirty="0">
                  <a:latin typeface="微软雅黑" panose="020B0503020204020204" pitchFamily="34" charset="-122"/>
                </a:rPr>
                <a:t>页</a:t>
              </a:r>
              <a:endParaRPr lang="en-US" altLang="zh-CN" dirty="0">
                <a:latin typeface="微软雅黑" panose="020B0503020204020204" pitchFamily="34" charset="-122"/>
              </a:endParaRPr>
            </a:p>
          </p:txBody>
        </p:sp>
        <p:sp>
          <p:nvSpPr>
            <p:cNvPr id="106" name="Rectangle 18">
              <a:extLst>
                <a:ext uri="{FF2B5EF4-FFF2-40B4-BE49-F238E27FC236}">
                  <a16:creationId xmlns:a16="http://schemas.microsoft.com/office/drawing/2014/main" id="{6E18E089-A2F0-4129-96E6-07346617905E}"/>
                </a:ext>
              </a:extLst>
            </p:cNvPr>
            <p:cNvSpPr>
              <a:spLocks noChangeArrowheads="1"/>
            </p:cNvSpPr>
            <p:nvPr/>
          </p:nvSpPr>
          <p:spPr bwMode="auto">
            <a:xfrm>
              <a:off x="768" y="3408"/>
              <a:ext cx="672" cy="240"/>
            </a:xfrm>
            <a:prstGeom prst="rect">
              <a:avLst/>
            </a:prstGeom>
            <a:solidFill>
              <a:srgbClr val="00FF00"/>
            </a:solidFill>
            <a:ln w="9525">
              <a:solidFill>
                <a:schemeClr val="tx1"/>
              </a:solidFill>
              <a:miter lim="800000"/>
            </a:ln>
          </p:spPr>
          <p:txBody>
            <a:bodyPr wrap="none" anchor="ct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algn="ctr" eaLnBrk="1" hangingPunct="1"/>
              <a:r>
                <a:rPr lang="en-US" altLang="zh-CN" dirty="0">
                  <a:latin typeface="微软雅黑" panose="020B0503020204020204" pitchFamily="34" charset="-122"/>
                </a:rPr>
                <a:t>0</a:t>
              </a:r>
              <a:r>
                <a:rPr lang="zh-CN" altLang="en-US" dirty="0">
                  <a:latin typeface="微软雅黑" panose="020B0503020204020204" pitchFamily="34" charset="-122"/>
                </a:rPr>
                <a:t>页</a:t>
              </a:r>
              <a:endParaRPr lang="en-US" altLang="zh-CN" dirty="0">
                <a:latin typeface="微软雅黑" panose="020B0503020204020204" pitchFamily="34" charset="-122"/>
              </a:endParaRPr>
            </a:p>
          </p:txBody>
        </p:sp>
        <p:sp>
          <p:nvSpPr>
            <p:cNvPr id="107" name="Text Box 48">
              <a:extLst>
                <a:ext uri="{FF2B5EF4-FFF2-40B4-BE49-F238E27FC236}">
                  <a16:creationId xmlns:a16="http://schemas.microsoft.com/office/drawing/2014/main" id="{C7F7539E-D12D-4C07-B062-55FB5B616B13}"/>
                </a:ext>
              </a:extLst>
            </p:cNvPr>
            <p:cNvSpPr txBox="1">
              <a:spLocks noChangeArrowheads="1"/>
            </p:cNvSpPr>
            <p:nvPr/>
          </p:nvSpPr>
          <p:spPr bwMode="auto">
            <a:xfrm>
              <a:off x="814" y="3072"/>
              <a:ext cx="46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zh-CN" altLang="en-US" sz="2000" dirty="0">
                  <a:solidFill>
                    <a:srgbClr val="006600"/>
                  </a:solidFill>
                  <a:latin typeface="微软雅黑" panose="020B0503020204020204" pitchFamily="34" charset="-122"/>
                  <a:ea typeface="微软雅黑" panose="020B0503020204020204" pitchFamily="34" charset="-122"/>
                </a:rPr>
                <a:t>程序</a:t>
              </a:r>
              <a:r>
                <a:rPr lang="en-US" altLang="zh-CN" sz="2000" dirty="0">
                  <a:solidFill>
                    <a:srgbClr val="006600"/>
                  </a:solidFill>
                  <a:latin typeface="微软雅黑" panose="020B0503020204020204" pitchFamily="34" charset="-122"/>
                  <a:ea typeface="微软雅黑" panose="020B0503020204020204" pitchFamily="34" charset="-122"/>
                </a:rPr>
                <a:t>2</a:t>
              </a:r>
            </a:p>
          </p:txBody>
        </p:sp>
        <p:sp>
          <p:nvSpPr>
            <p:cNvPr id="108" name="Text Box 54">
              <a:extLst>
                <a:ext uri="{FF2B5EF4-FFF2-40B4-BE49-F238E27FC236}">
                  <a16:creationId xmlns:a16="http://schemas.microsoft.com/office/drawing/2014/main" id="{5CA1D0DA-BC89-4ACA-9B14-9BD219BE0BC7}"/>
                </a:ext>
              </a:extLst>
            </p:cNvPr>
            <p:cNvSpPr txBox="1">
              <a:spLocks noChangeArrowheads="1"/>
            </p:cNvSpPr>
            <p:nvPr/>
          </p:nvSpPr>
          <p:spPr bwMode="auto">
            <a:xfrm>
              <a:off x="526" y="3314"/>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a:solidFill>
                    <a:srgbClr val="000000"/>
                  </a:solidFill>
                  <a:latin typeface="微软雅黑" panose="020B0503020204020204" pitchFamily="34" charset="-122"/>
                  <a:ea typeface="微软雅黑" panose="020B0503020204020204" pitchFamily="34" charset="-122"/>
                </a:rPr>
                <a:t>0</a:t>
              </a:r>
            </a:p>
          </p:txBody>
        </p:sp>
        <p:sp>
          <p:nvSpPr>
            <p:cNvPr id="109" name="Text Box 55">
              <a:extLst>
                <a:ext uri="{FF2B5EF4-FFF2-40B4-BE49-F238E27FC236}">
                  <a16:creationId xmlns:a16="http://schemas.microsoft.com/office/drawing/2014/main" id="{95BDECF1-DA12-4BBD-8A9F-E93725CAE013}"/>
                </a:ext>
              </a:extLst>
            </p:cNvPr>
            <p:cNvSpPr txBox="1">
              <a:spLocks noChangeArrowheads="1"/>
            </p:cNvSpPr>
            <p:nvPr/>
          </p:nvSpPr>
          <p:spPr bwMode="auto">
            <a:xfrm>
              <a:off x="447" y="3554"/>
              <a:ext cx="3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sz="2000" dirty="0">
                  <a:solidFill>
                    <a:srgbClr val="000000"/>
                  </a:solidFill>
                  <a:latin typeface="微软雅黑" panose="020B0503020204020204" pitchFamily="34" charset="-122"/>
                  <a:ea typeface="微软雅黑" panose="020B0503020204020204" pitchFamily="34" charset="-122"/>
                </a:rPr>
                <a:t>1k</a:t>
              </a:r>
            </a:p>
          </p:txBody>
        </p:sp>
        <p:sp>
          <p:nvSpPr>
            <p:cNvPr id="110" name="Text Box 56">
              <a:extLst>
                <a:ext uri="{FF2B5EF4-FFF2-40B4-BE49-F238E27FC236}">
                  <a16:creationId xmlns:a16="http://schemas.microsoft.com/office/drawing/2014/main" id="{4EAA5CD9-A82D-447F-98B9-D1B7C9811FC9}"/>
                </a:ext>
              </a:extLst>
            </p:cNvPr>
            <p:cNvSpPr txBox="1">
              <a:spLocks noChangeArrowheads="1"/>
            </p:cNvSpPr>
            <p:nvPr/>
          </p:nvSpPr>
          <p:spPr bwMode="auto">
            <a:xfrm>
              <a:off x="447" y="3762"/>
              <a:ext cx="3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sz="2000" dirty="0">
                  <a:solidFill>
                    <a:srgbClr val="000000"/>
                  </a:solidFill>
                  <a:latin typeface="微软雅黑" panose="020B0503020204020204" pitchFamily="34" charset="-122"/>
                  <a:ea typeface="微软雅黑" panose="020B0503020204020204" pitchFamily="34" charset="-122"/>
                </a:rPr>
                <a:t>2k</a:t>
              </a:r>
            </a:p>
          </p:txBody>
        </p:sp>
        <p:sp>
          <p:nvSpPr>
            <p:cNvPr id="111" name="Text Box 57">
              <a:extLst>
                <a:ext uri="{FF2B5EF4-FFF2-40B4-BE49-F238E27FC236}">
                  <a16:creationId xmlns:a16="http://schemas.microsoft.com/office/drawing/2014/main" id="{87CF7BAA-81B4-4924-BD5E-A9BC17010208}"/>
                </a:ext>
              </a:extLst>
            </p:cNvPr>
            <p:cNvSpPr txBox="1">
              <a:spLocks noChangeArrowheads="1"/>
            </p:cNvSpPr>
            <p:nvPr/>
          </p:nvSpPr>
          <p:spPr bwMode="auto">
            <a:xfrm>
              <a:off x="370" y="3938"/>
              <a:ext cx="4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rgbClr val="16297A"/>
                  </a:solidFill>
                  <a:latin typeface="Arial" panose="020B0604020202020204" pitchFamily="34" charset="0"/>
                  <a:ea typeface="宋体" panose="02010600030101010101" pitchFamily="2" charset="-122"/>
                </a:defRPr>
              </a:lvl1pPr>
              <a:lvl2pPr marL="742950" indent="-285750" eaLnBrk="0" hangingPunct="0">
                <a:defRPr kumimoji="1" sz="2400" b="1">
                  <a:solidFill>
                    <a:srgbClr val="16297A"/>
                  </a:solidFill>
                  <a:latin typeface="Arial" panose="020B0604020202020204" pitchFamily="34" charset="0"/>
                  <a:ea typeface="宋体" panose="02010600030101010101" pitchFamily="2" charset="-122"/>
                </a:defRPr>
              </a:lvl2pPr>
              <a:lvl3pPr marL="1143000" indent="-228600" eaLnBrk="0" hangingPunct="0">
                <a:defRPr kumimoji="1" sz="2400" b="1">
                  <a:solidFill>
                    <a:srgbClr val="16297A"/>
                  </a:solidFill>
                  <a:latin typeface="Arial" panose="020B0604020202020204" pitchFamily="34" charset="0"/>
                  <a:ea typeface="宋体" panose="02010600030101010101" pitchFamily="2" charset="-122"/>
                </a:defRPr>
              </a:lvl3pPr>
              <a:lvl4pPr marL="1600200" indent="-228600" eaLnBrk="0" hangingPunct="0">
                <a:defRPr kumimoji="1" sz="2400" b="1">
                  <a:solidFill>
                    <a:srgbClr val="16297A"/>
                  </a:solidFill>
                  <a:latin typeface="Arial" panose="020B0604020202020204" pitchFamily="34" charset="0"/>
                  <a:ea typeface="宋体" panose="02010600030101010101" pitchFamily="2" charset="-122"/>
                </a:defRPr>
              </a:lvl4pPr>
              <a:lvl5pPr marL="2057400" indent="-228600" eaLnBrk="0" hangingPunct="0">
                <a:defRPr kumimoji="1" sz="2400" b="1">
                  <a:solidFill>
                    <a:srgbClr val="16297A"/>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rgbClr val="16297A"/>
                  </a:solidFill>
                  <a:latin typeface="Arial" panose="020B0604020202020204" pitchFamily="34" charset="0"/>
                  <a:ea typeface="宋体" panose="02010600030101010101" pitchFamily="2" charset="-122"/>
                </a:defRPr>
              </a:lvl9pPr>
            </a:lstStyle>
            <a:p>
              <a:pPr eaLnBrk="1" hangingPunct="1"/>
              <a:r>
                <a:rPr lang="en-GB" altLang="zh-CN" sz="2000" dirty="0">
                  <a:solidFill>
                    <a:srgbClr val="000000"/>
                  </a:solidFill>
                  <a:latin typeface="微软雅黑" panose="020B0503020204020204" pitchFamily="34" charset="-122"/>
                  <a:ea typeface="微软雅黑" panose="020B0503020204020204" pitchFamily="34" charset="-122"/>
                </a:rPr>
                <a:t>3k-1</a:t>
              </a:r>
            </a:p>
          </p:txBody>
        </p:sp>
      </p:grpSp>
      <p:sp>
        <p:nvSpPr>
          <p:cNvPr id="112" name="Line 72">
            <a:extLst>
              <a:ext uri="{FF2B5EF4-FFF2-40B4-BE49-F238E27FC236}">
                <a16:creationId xmlns:a16="http://schemas.microsoft.com/office/drawing/2014/main" id="{62434B61-4465-495D-BA11-A15B562EAABF}"/>
              </a:ext>
            </a:extLst>
          </p:cNvPr>
          <p:cNvSpPr>
            <a:spLocks noChangeShapeType="1"/>
          </p:cNvSpPr>
          <p:nvPr/>
        </p:nvSpPr>
        <p:spPr bwMode="auto">
          <a:xfrm flipV="1">
            <a:off x="7153151" y="3641779"/>
            <a:ext cx="1676400" cy="152400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3" name="Line 73">
            <a:extLst>
              <a:ext uri="{FF2B5EF4-FFF2-40B4-BE49-F238E27FC236}">
                <a16:creationId xmlns:a16="http://schemas.microsoft.com/office/drawing/2014/main" id="{9F46B4A4-00C0-465E-BC9A-AD7B869BA042}"/>
              </a:ext>
            </a:extLst>
          </p:cNvPr>
          <p:cNvSpPr>
            <a:spLocks noChangeShapeType="1"/>
          </p:cNvSpPr>
          <p:nvPr/>
        </p:nvSpPr>
        <p:spPr bwMode="auto">
          <a:xfrm flipV="1">
            <a:off x="7150692" y="4756816"/>
            <a:ext cx="1632549" cy="86459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 name="Line 74">
            <a:extLst>
              <a:ext uri="{FF2B5EF4-FFF2-40B4-BE49-F238E27FC236}">
                <a16:creationId xmlns:a16="http://schemas.microsoft.com/office/drawing/2014/main" id="{C57D1B3D-D55C-4FEB-84EA-15B4B48BF29B}"/>
              </a:ext>
            </a:extLst>
          </p:cNvPr>
          <p:cNvSpPr>
            <a:spLocks noChangeShapeType="1"/>
          </p:cNvSpPr>
          <p:nvPr/>
        </p:nvSpPr>
        <p:spPr bwMode="auto">
          <a:xfrm flipV="1">
            <a:off x="7227701" y="5214991"/>
            <a:ext cx="1601850" cy="86459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5" name="文本框 114">
            <a:extLst>
              <a:ext uri="{FF2B5EF4-FFF2-40B4-BE49-F238E27FC236}">
                <a16:creationId xmlns:a16="http://schemas.microsoft.com/office/drawing/2014/main" id="{8F11D60D-C3D3-4DA4-B366-F1F3945E3CA1}"/>
              </a:ext>
            </a:extLst>
          </p:cNvPr>
          <p:cNvSpPr txBox="1"/>
          <p:nvPr/>
        </p:nvSpPr>
        <p:spPr>
          <a:xfrm>
            <a:off x="5662850" y="1358881"/>
            <a:ext cx="2804933" cy="461665"/>
          </a:xfrm>
          <a:prstGeom prst="rect">
            <a:avLst/>
          </a:prstGeom>
          <a:noFill/>
        </p:spPr>
        <p:txBody>
          <a:bodyPr wrap="square" rtlCol="0">
            <a:spAutoFit/>
          </a:bodyPr>
          <a:lstStyle/>
          <a:p>
            <a:r>
              <a:rPr lang="zh-CN" altLang="en-US" sz="2400" b="1" dirty="0"/>
              <a:t>页长 </a:t>
            </a:r>
            <a:r>
              <a:rPr lang="en-US" altLang="zh-CN" sz="2400" b="1" dirty="0"/>
              <a:t>= </a:t>
            </a:r>
            <a:r>
              <a:rPr lang="zh-CN" altLang="en-US" sz="2400" b="1" dirty="0"/>
              <a:t>块长 </a:t>
            </a:r>
            <a:r>
              <a:rPr lang="en-US" altLang="zh-CN" sz="2400" b="1" dirty="0"/>
              <a:t>= 1KB</a:t>
            </a:r>
            <a:endParaRPr lang="zh-CN" altLang="en-US" sz="2400" b="1"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12"/>
                                        </p:tgtEl>
                                        <p:attrNameLst>
                                          <p:attrName>style.visibility</p:attrName>
                                        </p:attrNameLst>
                                      </p:cBhvr>
                                      <p:to>
                                        <p:strVal val="visible"/>
                                      </p:to>
                                    </p:set>
                                    <p:animEffect transition="in" filter="fade">
                                      <p:cBhvr>
                                        <p:cTn id="59" dur="500"/>
                                        <p:tgtEl>
                                          <p:spTgt spid="112"/>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9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1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9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1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8" grpId="0" animBg="1"/>
      <p:bldP spid="89" grpId="0" animBg="1"/>
      <p:bldP spid="90" grpId="0" animBg="1"/>
      <p:bldP spid="91" grpId="0" animBg="1"/>
      <p:bldP spid="92" grpId="0" animBg="1"/>
      <p:bldP spid="93" grpId="0" animBg="1"/>
      <p:bldP spid="94" grpId="0" animBg="1"/>
      <p:bldP spid="102" grpId="0" animBg="1"/>
      <p:bldP spid="112" grpId="0" animBg="1"/>
      <p:bldP spid="113" grpId="0" animBg="1"/>
      <p:bldP spid="114" grpId="0" animBg="1"/>
      <p:bldP spid="11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6.4.1</a:t>
            </a:r>
            <a:r>
              <a:t>工作原理</a:t>
            </a:r>
          </a:p>
        </p:txBody>
      </p:sp>
      <p:sp>
        <p:nvSpPr>
          <p:cNvPr id="3" name="内容占位符 2"/>
          <p:cNvSpPr>
            <a:spLocks noGrp="1"/>
          </p:cNvSpPr>
          <p:nvPr>
            <p:ph idx="1"/>
          </p:nvPr>
        </p:nvSpPr>
        <p:spPr>
          <a:xfrm>
            <a:off x="375912" y="881405"/>
            <a:ext cx="10968990" cy="1938993"/>
          </a:xfrm>
        </p:spPr>
        <p:txBody>
          <a:bodyPr>
            <a:normAutofit/>
          </a:bodyPr>
          <a:lstStyle/>
          <a:p>
            <a:pPr marL="0" indent="0">
              <a:buNone/>
            </a:pPr>
            <a:r>
              <a:rPr lang="en-US" altLang="zh-CN" sz="2800" b="1" dirty="0"/>
              <a:t>2.</a:t>
            </a:r>
            <a:r>
              <a:rPr sz="2800" b="1" dirty="0"/>
              <a:t>页表</a:t>
            </a:r>
            <a:endParaRPr lang="zh-CN" altLang="en-US" sz="2800" b="1" dirty="0"/>
          </a:p>
          <a:p>
            <a:r>
              <a:rPr lang="zh-CN" altLang="en-US" sz="2800" dirty="0"/>
              <a:t>系统为</a:t>
            </a:r>
            <a:r>
              <a:rPr lang="zh-CN" altLang="en-US" sz="2800" dirty="0">
                <a:solidFill>
                  <a:srgbClr val="0000FF"/>
                </a:solidFill>
              </a:rPr>
              <a:t>每个进程</a:t>
            </a:r>
            <a:r>
              <a:rPr lang="zh-CN" altLang="en-US" sz="2800" dirty="0"/>
              <a:t>创建</a:t>
            </a:r>
            <a:r>
              <a:rPr lang="zh-CN" altLang="en-US" sz="2800" dirty="0">
                <a:solidFill>
                  <a:srgbClr val="0000FF"/>
                </a:solidFill>
              </a:rPr>
              <a:t>一个页表</a:t>
            </a:r>
            <a:r>
              <a:rPr lang="zh-CN" altLang="en-US" sz="2800" dirty="0"/>
              <a:t>，用于</a:t>
            </a:r>
            <a:r>
              <a:rPr lang="zh-CN" altLang="en-US" sz="2800" dirty="0">
                <a:solidFill>
                  <a:srgbClr val="0000FF"/>
                </a:solidFill>
              </a:rPr>
              <a:t>记录页与分配的物理块的对应关系</a:t>
            </a:r>
            <a:r>
              <a:rPr lang="zh-CN" altLang="en-US" sz="2800" dirty="0"/>
              <a:t>。</a:t>
            </a:r>
          </a:p>
        </p:txBody>
      </p:sp>
      <p:pic>
        <p:nvPicPr>
          <p:cNvPr id="4" name="图片 3" descr="DP3_K`JX``$FGUUQ8TUDDCX"/>
          <p:cNvPicPr>
            <a:picLocks noChangeAspect="1"/>
          </p:cNvPicPr>
          <p:nvPr/>
        </p:nvPicPr>
        <p:blipFill>
          <a:blip r:embed="rId3"/>
          <a:stretch>
            <a:fillRect/>
          </a:stretch>
        </p:blipFill>
        <p:spPr>
          <a:xfrm>
            <a:off x="605314" y="2673483"/>
            <a:ext cx="6012022" cy="3927854"/>
          </a:xfrm>
          <a:prstGeom prst="rect">
            <a:avLst/>
          </a:prstGeom>
        </p:spPr>
      </p:pic>
      <p:sp>
        <p:nvSpPr>
          <p:cNvPr id="5" name="文本框 4">
            <a:extLst>
              <a:ext uri="{FF2B5EF4-FFF2-40B4-BE49-F238E27FC236}">
                <a16:creationId xmlns:a16="http://schemas.microsoft.com/office/drawing/2014/main" id="{97AEE54F-5B3E-4CDD-B54A-F3CF109F16CA}"/>
              </a:ext>
            </a:extLst>
          </p:cNvPr>
          <p:cNvSpPr txBox="1"/>
          <p:nvPr/>
        </p:nvSpPr>
        <p:spPr>
          <a:xfrm>
            <a:off x="6846738" y="2216435"/>
            <a:ext cx="5048413" cy="1754326"/>
          </a:xfrm>
          <a:prstGeom prst="rect">
            <a:avLst/>
          </a:prstGeom>
          <a:noFill/>
        </p:spPr>
        <p:txBody>
          <a:bodyPr wrap="square" rtlCol="0">
            <a:spAutoFit/>
          </a:bodyPr>
          <a:lstStyle/>
          <a:p>
            <a:r>
              <a:rPr lang="zh-CN" altLang="en-US" sz="3600" dirty="0">
                <a:solidFill>
                  <a:srgbClr val="FF0000"/>
                </a:solidFill>
                <a:latin typeface="隶书" panose="02010509060101010101" pitchFamily="49" charset="-122"/>
                <a:ea typeface="隶书" panose="02010509060101010101" pitchFamily="49" charset="-122"/>
              </a:rPr>
              <a:t>离散分配后，如何记录每页程序放到内存什么地方？</a:t>
            </a:r>
          </a:p>
        </p:txBody>
      </p:sp>
      <p:sp>
        <p:nvSpPr>
          <p:cNvPr id="6" name="思想气泡: 云 5">
            <a:extLst>
              <a:ext uri="{FF2B5EF4-FFF2-40B4-BE49-F238E27FC236}">
                <a16:creationId xmlns:a16="http://schemas.microsoft.com/office/drawing/2014/main" id="{D163E8E1-8AE1-AFB6-1918-5E07C5F064E3}"/>
              </a:ext>
            </a:extLst>
          </p:cNvPr>
          <p:cNvSpPr/>
          <p:nvPr/>
        </p:nvSpPr>
        <p:spPr>
          <a:xfrm>
            <a:off x="8281757" y="3512657"/>
            <a:ext cx="4033705" cy="2463938"/>
          </a:xfrm>
          <a:prstGeom prst="cloudCallout">
            <a:avLst>
              <a:gd name="adj1" fmla="val -98205"/>
              <a:gd name="adj2" fmla="val 50266"/>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400" dirty="0">
                <a:solidFill>
                  <a:srgbClr val="00B050"/>
                </a:solidFill>
              </a:rPr>
              <a:t>给定一个指令或数据地址，如何知道是第几页？</a:t>
            </a:r>
            <a:endParaRPr lang="en-US" altLang="zh-CN" sz="2400" dirty="0">
              <a:solidFill>
                <a:srgbClr val="00B050"/>
              </a:solidFill>
            </a:endParaRPr>
          </a:p>
          <a:p>
            <a:pPr algn="ctr"/>
            <a:r>
              <a:rPr lang="zh-CN" altLang="en-US" sz="2400" dirty="0">
                <a:solidFill>
                  <a:srgbClr val="00B050"/>
                </a:solidFill>
              </a:rPr>
              <a:t>如，</a:t>
            </a:r>
            <a:r>
              <a:rPr lang="en-US" altLang="zh-CN" sz="2400" dirty="0">
                <a:solidFill>
                  <a:srgbClr val="00B050"/>
                </a:solidFill>
              </a:rPr>
              <a:t>load A</a:t>
            </a:r>
            <a:r>
              <a:rPr lang="zh-CN" altLang="en-US" sz="2400" dirty="0">
                <a:solidFill>
                  <a:srgbClr val="00B050"/>
                </a:solidFill>
              </a:rPr>
              <a:t>，</a:t>
            </a:r>
            <a:r>
              <a:rPr lang="en-US" altLang="zh-CN" sz="2400" dirty="0">
                <a:solidFill>
                  <a:srgbClr val="00B050"/>
                </a:solidFill>
              </a:rPr>
              <a:t>1200</a:t>
            </a:r>
            <a:endParaRPr lang="zh-CN" altLang="en-US" sz="2400" dirty="0">
              <a:solidFill>
                <a:srgbClr val="00B050"/>
              </a:solidFill>
            </a:endParaRP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6.4.1</a:t>
            </a:r>
            <a:r>
              <a:t>工作原理</a:t>
            </a:r>
          </a:p>
        </p:txBody>
      </p:sp>
      <p:sp>
        <p:nvSpPr>
          <p:cNvPr id="3" name="内容占位符 2"/>
          <p:cNvSpPr>
            <a:spLocks noGrp="1"/>
          </p:cNvSpPr>
          <p:nvPr>
            <p:ph idx="1"/>
          </p:nvPr>
        </p:nvSpPr>
        <p:spPr>
          <a:xfrm>
            <a:off x="137592" y="1160059"/>
            <a:ext cx="10968990" cy="5134610"/>
          </a:xfrm>
        </p:spPr>
        <p:txBody>
          <a:bodyPr>
            <a:normAutofit/>
          </a:bodyPr>
          <a:lstStyle/>
          <a:p>
            <a:pPr marL="0" indent="0">
              <a:buNone/>
            </a:pPr>
            <a:r>
              <a:rPr lang="en-US" altLang="zh-CN" sz="2600" b="1" dirty="0"/>
              <a:t>3.</a:t>
            </a:r>
            <a:r>
              <a:rPr sz="2600" b="1" dirty="0"/>
              <a:t>逻辑地址结构</a:t>
            </a:r>
            <a:endParaRPr lang="zh-CN" altLang="en-US" sz="2600" b="1" dirty="0"/>
          </a:p>
          <a:p>
            <a:r>
              <a:rPr lang="zh-CN" altLang="en-US" sz="2600" dirty="0"/>
              <a:t>分页后，每个逻辑地址又</a:t>
            </a:r>
            <a:r>
              <a:rPr lang="zh-CN" altLang="en-US" sz="2600" dirty="0">
                <a:solidFill>
                  <a:srgbClr val="FF0000"/>
                </a:solidFill>
              </a:rPr>
              <a:t>可以表示</a:t>
            </a:r>
            <a:r>
              <a:rPr lang="zh-CN" altLang="en-US" sz="2600" dirty="0"/>
              <a:t>为“</a:t>
            </a:r>
            <a:r>
              <a:rPr lang="zh-CN" altLang="en-US" sz="2600" b="1" dirty="0"/>
              <a:t>页号，页内地址</a:t>
            </a:r>
            <a:r>
              <a:rPr lang="zh-CN" altLang="en-US" sz="2600" dirty="0"/>
              <a:t>”的形式 </a:t>
            </a:r>
          </a:p>
          <a:p>
            <a:r>
              <a:rPr lang="zh-CN" altLang="en-US" sz="2600" dirty="0"/>
              <a:t>给定一个逻辑地址A，若页面大小为L，则页号P和页内地址w 可由下面的公式求得：</a:t>
            </a:r>
          </a:p>
          <a:p>
            <a:endParaRPr lang="zh-CN" altLang="en-US" sz="2600" dirty="0"/>
          </a:p>
          <a:p>
            <a:endParaRPr lang="en-US" altLang="zh-CN" sz="2600" dirty="0"/>
          </a:p>
          <a:p>
            <a:endParaRPr lang="zh-CN" altLang="en-US" sz="2600" dirty="0"/>
          </a:p>
          <a:p>
            <a:pPr marL="0" indent="0">
              <a:buNone/>
            </a:pPr>
            <a:r>
              <a:rPr lang="zh-CN" altLang="en-US" sz="2600" dirty="0"/>
              <a:t>  其中，INT 是取整函数，MOD 是取余函数。</a:t>
            </a:r>
          </a:p>
        </p:txBody>
      </p:sp>
      <p:pic>
        <p:nvPicPr>
          <p:cNvPr id="5" name="图片 4" descr="{FB]TDAL[836W4UUR(_N2~T"/>
          <p:cNvPicPr>
            <a:picLocks noChangeAspect="1"/>
          </p:cNvPicPr>
          <p:nvPr/>
        </p:nvPicPr>
        <p:blipFill>
          <a:blip r:embed="rId3"/>
          <a:stretch>
            <a:fillRect/>
          </a:stretch>
        </p:blipFill>
        <p:spPr>
          <a:xfrm>
            <a:off x="3750023" y="3429000"/>
            <a:ext cx="2922747" cy="1941653"/>
          </a:xfrm>
          <a:prstGeom prst="rect">
            <a:avLst/>
          </a:prstGeom>
        </p:spPr>
      </p:pic>
      <p:sp>
        <p:nvSpPr>
          <p:cNvPr id="4" name="爆炸形: 14 pt  3">
            <a:extLst>
              <a:ext uri="{FF2B5EF4-FFF2-40B4-BE49-F238E27FC236}">
                <a16:creationId xmlns:a16="http://schemas.microsoft.com/office/drawing/2014/main" id="{A8B5D9AE-FFBA-4825-9A92-070EB13844AE}"/>
              </a:ext>
            </a:extLst>
          </p:cNvPr>
          <p:cNvSpPr/>
          <p:nvPr/>
        </p:nvSpPr>
        <p:spPr>
          <a:xfrm>
            <a:off x="7070213" y="3636421"/>
            <a:ext cx="5303124" cy="2061520"/>
          </a:xfrm>
          <a:prstGeom prst="irregularSeal2">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rPr>
              <a:t>注意：逻辑地址空间是一维地址空间</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6.4.1</a:t>
            </a:r>
            <a:r>
              <a:rPr dirty="0"/>
              <a:t>工作原理</a:t>
            </a:r>
          </a:p>
        </p:txBody>
      </p:sp>
      <p:sp>
        <p:nvSpPr>
          <p:cNvPr id="3" name="内容占位符 2"/>
          <p:cNvSpPr>
            <a:spLocks noGrp="1"/>
          </p:cNvSpPr>
          <p:nvPr>
            <p:ph idx="1"/>
          </p:nvPr>
        </p:nvSpPr>
        <p:spPr>
          <a:xfrm>
            <a:off x="435772" y="1155634"/>
            <a:ext cx="5432592" cy="3763605"/>
          </a:xfrm>
        </p:spPr>
        <p:txBody>
          <a:bodyPr>
            <a:normAutofit/>
          </a:bodyPr>
          <a:lstStyle/>
          <a:p>
            <a:pPr marL="0" indent="0">
              <a:buNone/>
            </a:pPr>
            <a:r>
              <a:rPr lang="en-US" altLang="zh-CN" sz="2800" dirty="0"/>
              <a:t>例如，若页面大小为1KB，则逻辑地址1502在分页后处于1 号页内，页内地址为478 </a:t>
            </a:r>
            <a:r>
              <a:rPr lang="zh-CN" altLang="en-US" sz="2800" dirty="0"/>
              <a:t>。</a:t>
            </a:r>
            <a:endParaRPr lang="en-US" altLang="zh-CN" sz="2800" dirty="0"/>
          </a:p>
          <a:p>
            <a:pPr marL="0" indent="0">
              <a:buNone/>
            </a:pPr>
            <a:endParaRPr lang="en-US" altLang="zh-CN" sz="2800" dirty="0"/>
          </a:p>
          <a:p>
            <a:pPr marL="0" indent="0">
              <a:buNone/>
            </a:pPr>
            <a:r>
              <a:rPr lang="zh-CN" altLang="en-US" sz="2800" dirty="0">
                <a:solidFill>
                  <a:srgbClr val="FF0000"/>
                </a:solidFill>
              </a:rPr>
              <a:t>请问：逻辑地址</a:t>
            </a:r>
            <a:r>
              <a:rPr lang="en-US" altLang="zh-CN" sz="2800" dirty="0">
                <a:solidFill>
                  <a:srgbClr val="FF0000"/>
                </a:solidFill>
              </a:rPr>
              <a:t>3200</a:t>
            </a:r>
            <a:r>
              <a:rPr lang="zh-CN" altLang="en-US" sz="2800" dirty="0">
                <a:solidFill>
                  <a:srgbClr val="FF0000"/>
                </a:solidFill>
              </a:rPr>
              <a:t>和</a:t>
            </a:r>
            <a:r>
              <a:rPr lang="en-US" altLang="zh-CN" sz="2800" dirty="0">
                <a:solidFill>
                  <a:srgbClr val="FF0000"/>
                </a:solidFill>
              </a:rPr>
              <a:t>512</a:t>
            </a:r>
            <a:r>
              <a:rPr lang="zh-CN" altLang="en-US" sz="2800" dirty="0">
                <a:solidFill>
                  <a:srgbClr val="FF0000"/>
                </a:solidFill>
              </a:rPr>
              <a:t>分别处于第几页？</a:t>
            </a:r>
            <a:endParaRPr lang="en-US" altLang="zh-CN" sz="2800" dirty="0">
              <a:solidFill>
                <a:srgbClr val="FF0000"/>
              </a:solidFill>
            </a:endParaRPr>
          </a:p>
        </p:txBody>
      </p:sp>
      <p:pic>
        <p:nvPicPr>
          <p:cNvPr id="4" name="图片 3"/>
          <p:cNvPicPr>
            <a:picLocks noChangeAspect="1"/>
          </p:cNvPicPr>
          <p:nvPr/>
        </p:nvPicPr>
        <p:blipFill>
          <a:blip r:embed="rId3"/>
          <a:stretch>
            <a:fillRect/>
          </a:stretch>
        </p:blipFill>
        <p:spPr>
          <a:xfrm>
            <a:off x="6096000" y="346524"/>
            <a:ext cx="5367758" cy="5672311"/>
          </a:xfrm>
          <a:prstGeom prst="rect">
            <a:avLst/>
          </a:prstGeom>
        </p:spPr>
      </p:pic>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F682282-8648-4428-8DDA-C0121885D0B1}"/>
              </a:ext>
            </a:extLst>
          </p:cNvPr>
          <p:cNvSpPr>
            <a:spLocks noGrp="1"/>
          </p:cNvSpPr>
          <p:nvPr>
            <p:ph idx="1"/>
          </p:nvPr>
        </p:nvSpPr>
        <p:spPr>
          <a:xfrm>
            <a:off x="608120" y="1122744"/>
            <a:ext cx="10968990" cy="3784921"/>
          </a:xfrm>
        </p:spPr>
        <p:txBody>
          <a:bodyPr>
            <a:normAutofit/>
          </a:bodyPr>
          <a:lstStyle/>
          <a:p>
            <a:pPr marL="0" indent="0">
              <a:buNone/>
            </a:pPr>
            <a:r>
              <a:rPr lang="zh-CN" altLang="en-US" sz="3200" b="1" dirty="0"/>
              <a:t>页的大小 </a:t>
            </a:r>
            <a:endParaRPr lang="en-US" altLang="zh-CN" sz="3200" b="1" dirty="0"/>
          </a:p>
          <a:p>
            <a:r>
              <a:rPr lang="zh-CN" altLang="en-US" sz="2800" dirty="0"/>
              <a:t>操作系统存储管理具体</a:t>
            </a:r>
            <a:r>
              <a:rPr lang="en-US" altLang="zh-CN" sz="2800" dirty="0" err="1"/>
              <a:t>实现</a:t>
            </a:r>
            <a:r>
              <a:rPr lang="zh-CN" altLang="en-US" sz="2800" dirty="0"/>
              <a:t>时</a:t>
            </a:r>
            <a:r>
              <a:rPr lang="en-US" altLang="zh-CN" sz="2800" dirty="0"/>
              <a:t>，页面大小一般选为2的幂次方</a:t>
            </a:r>
            <a:r>
              <a:rPr lang="zh-CN" altLang="en-US" sz="2800" dirty="0"/>
              <a:t>。</a:t>
            </a:r>
            <a:endParaRPr lang="en-US" altLang="zh-CN" sz="2800" dirty="0"/>
          </a:p>
          <a:p>
            <a:endParaRPr lang="en-US" altLang="zh-CN" sz="2800" dirty="0"/>
          </a:p>
          <a:p>
            <a:pPr marL="0" indent="0">
              <a:buNone/>
            </a:pPr>
            <a:r>
              <a:rPr lang="en-US" altLang="zh-CN" sz="2800" dirty="0">
                <a:solidFill>
                  <a:srgbClr val="0000FF"/>
                </a:solidFill>
              </a:rPr>
              <a:t>    </a:t>
            </a:r>
            <a:r>
              <a:rPr lang="en-US" altLang="zh-CN" sz="2800" dirty="0" err="1">
                <a:solidFill>
                  <a:srgbClr val="0000FF"/>
                </a:solidFill>
              </a:rPr>
              <a:t>计算机系统</a:t>
            </a:r>
            <a:r>
              <a:rPr lang="zh-CN" altLang="en-US" sz="2800" dirty="0">
                <a:solidFill>
                  <a:srgbClr val="0000FF"/>
                </a:solidFill>
              </a:rPr>
              <a:t>是</a:t>
            </a:r>
            <a:r>
              <a:rPr lang="en-US" altLang="zh-CN" sz="2800" dirty="0" err="1">
                <a:solidFill>
                  <a:srgbClr val="0000FF"/>
                </a:solidFill>
              </a:rPr>
              <a:t>二进制地址结构</a:t>
            </a:r>
            <a:r>
              <a:rPr lang="en-US" altLang="zh-CN" sz="2800" dirty="0">
                <a:solidFill>
                  <a:srgbClr val="0000FF"/>
                </a:solidFill>
              </a:rPr>
              <a:t>，</a:t>
            </a:r>
            <a:r>
              <a:rPr lang="zh-CN" altLang="en-US" sz="2800" dirty="0">
                <a:solidFill>
                  <a:srgbClr val="0000FF"/>
                </a:solidFill>
              </a:rPr>
              <a:t>这样</a:t>
            </a:r>
            <a:r>
              <a:rPr lang="en-US" altLang="zh-CN" sz="2800" dirty="0" err="1">
                <a:solidFill>
                  <a:srgbClr val="0000FF"/>
                </a:solidFill>
              </a:rPr>
              <a:t>可以很方便地将逻辑地址转换为</a:t>
            </a:r>
            <a:r>
              <a:rPr lang="zh-CN" altLang="en-US" sz="2800" dirty="0">
                <a:solidFill>
                  <a:srgbClr val="0000FF"/>
                </a:solidFill>
              </a:rPr>
              <a:t>页号与</a:t>
            </a:r>
            <a:r>
              <a:rPr lang="en-US" altLang="zh-CN" sz="2800" dirty="0" err="1">
                <a:solidFill>
                  <a:srgbClr val="0000FF"/>
                </a:solidFill>
              </a:rPr>
              <a:t>页内地址</a:t>
            </a:r>
            <a:r>
              <a:rPr lang="en-US" altLang="zh-CN" sz="2800" dirty="0">
                <a:solidFill>
                  <a:srgbClr val="0000FF"/>
                </a:solidFill>
              </a:rPr>
              <a:t>。</a:t>
            </a:r>
          </a:p>
          <a:p>
            <a:endParaRPr lang="zh-CN" altLang="en-US" sz="2800" dirty="0"/>
          </a:p>
        </p:txBody>
      </p:sp>
      <p:sp>
        <p:nvSpPr>
          <p:cNvPr id="4" name="标题 1">
            <a:extLst>
              <a:ext uri="{FF2B5EF4-FFF2-40B4-BE49-F238E27FC236}">
                <a16:creationId xmlns:a16="http://schemas.microsoft.com/office/drawing/2014/main" id="{B238AB9E-4310-40BC-8385-E32094D0AA41}"/>
              </a:ext>
            </a:extLst>
          </p:cNvPr>
          <p:cNvSpPr>
            <a:spLocks noGrp="1"/>
          </p:cNvSpPr>
          <p:nvPr>
            <p:ph type="title"/>
          </p:nvPr>
        </p:nvSpPr>
        <p:spPr>
          <a:xfrm>
            <a:off x="1076325" y="114300"/>
            <a:ext cx="10969625" cy="706438"/>
          </a:xfrm>
        </p:spPr>
        <p:txBody>
          <a:bodyPr/>
          <a:lstStyle/>
          <a:p>
            <a:r>
              <a:rPr lang="en-US" altLang="zh-CN" dirty="0"/>
              <a:t>6.4.1</a:t>
            </a:r>
            <a:r>
              <a:rPr dirty="0"/>
              <a:t>工作原理</a:t>
            </a:r>
          </a:p>
        </p:txBody>
      </p:sp>
    </p:spTree>
    <p:extLst>
      <p:ext uri="{BB962C8B-B14F-4D97-AF65-F5344CB8AC3E}">
        <p14:creationId xmlns:p14="http://schemas.microsoft.com/office/powerpoint/2010/main" val="952086508"/>
      </p:ext>
    </p:ext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6.4.1</a:t>
            </a:r>
            <a:r>
              <a:t>工作原理</a:t>
            </a:r>
          </a:p>
        </p:txBody>
      </p:sp>
      <p:sp>
        <p:nvSpPr>
          <p:cNvPr id="3" name="内容占位符 2"/>
          <p:cNvSpPr>
            <a:spLocks noGrp="1"/>
          </p:cNvSpPr>
          <p:nvPr>
            <p:ph idx="1"/>
          </p:nvPr>
        </p:nvSpPr>
        <p:spPr>
          <a:xfrm>
            <a:off x="608330" y="1269266"/>
            <a:ext cx="10968990" cy="1263474"/>
          </a:xfrm>
        </p:spPr>
        <p:txBody>
          <a:bodyPr>
            <a:noAutofit/>
          </a:bodyPr>
          <a:lstStyle/>
          <a:p>
            <a:r>
              <a:rPr lang="en-US" altLang="zh-CN" sz="2800" dirty="0"/>
              <a:t>例如，某系统逻辑地址长度为20位，分页的页面大小为4KB；</a:t>
            </a:r>
            <a:r>
              <a:rPr lang="en-US" altLang="zh-CN" sz="2600" dirty="0"/>
              <a:t>分页后二进制逻辑地址的低</a:t>
            </a:r>
            <a:r>
              <a:rPr lang="en-US" altLang="zh-CN" sz="2800" dirty="0"/>
              <a:t>12位地址、高8</a:t>
            </a:r>
            <a:r>
              <a:rPr lang="zh-CN" altLang="en-US" sz="2800" dirty="0"/>
              <a:t>位</a:t>
            </a:r>
            <a:r>
              <a:rPr lang="en-US" altLang="zh-CN" sz="2800" dirty="0" err="1"/>
              <a:t>为页号</a:t>
            </a:r>
            <a:r>
              <a:rPr lang="en-US" altLang="zh-CN" sz="2800" dirty="0"/>
              <a:t>。 </a:t>
            </a:r>
            <a:endParaRPr lang="zh-CN" altLang="en-US" sz="2800" dirty="0"/>
          </a:p>
          <a:p>
            <a:endParaRPr lang="zh-CN" altLang="en-US" sz="2800" dirty="0"/>
          </a:p>
        </p:txBody>
      </p:sp>
      <p:pic>
        <p:nvPicPr>
          <p:cNvPr id="4" name="图片 3" descr="U5Z2Z0OVUA(F7`4NLI)YTMI"/>
          <p:cNvPicPr>
            <a:picLocks noChangeAspect="1"/>
          </p:cNvPicPr>
          <p:nvPr/>
        </p:nvPicPr>
        <p:blipFill>
          <a:blip r:embed="rId3"/>
          <a:stretch>
            <a:fillRect/>
          </a:stretch>
        </p:blipFill>
        <p:spPr>
          <a:xfrm>
            <a:off x="1821982" y="2982036"/>
            <a:ext cx="6546514" cy="2147680"/>
          </a:xfrm>
          <a:prstGeom prst="rect">
            <a:avLst/>
          </a:prstGeom>
        </p:spPr>
      </p:pic>
    </p:spTree>
    <p:custDataLst>
      <p:tags r:id="rId1"/>
    </p:custData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6.4.1</a:t>
            </a:r>
            <a:r>
              <a:t>工作原理</a:t>
            </a:r>
          </a:p>
        </p:txBody>
      </p:sp>
      <p:sp>
        <p:nvSpPr>
          <p:cNvPr id="3" name="内容占位符 2"/>
          <p:cNvSpPr>
            <a:spLocks noGrp="1"/>
          </p:cNvSpPr>
          <p:nvPr>
            <p:ph idx="1"/>
          </p:nvPr>
        </p:nvSpPr>
        <p:spPr>
          <a:xfrm>
            <a:off x="608330" y="1115060"/>
            <a:ext cx="10968990" cy="4533386"/>
          </a:xfrm>
        </p:spPr>
        <p:txBody>
          <a:bodyPr>
            <a:normAutofit/>
          </a:bodyPr>
          <a:lstStyle/>
          <a:p>
            <a:pPr marL="0" indent="0">
              <a:buNone/>
            </a:pPr>
            <a:r>
              <a:rPr lang="en-US" altLang="zh-CN" sz="2600" b="1" dirty="0"/>
              <a:t>4.</a:t>
            </a:r>
            <a:r>
              <a:rPr sz="2600" b="1" dirty="0"/>
              <a:t>内存空间管理</a:t>
            </a:r>
            <a:r>
              <a:rPr lang="en-US" altLang="zh-CN" sz="2600" b="1" dirty="0"/>
              <a:t>——</a:t>
            </a:r>
            <a:r>
              <a:rPr lang="en-US" altLang="zh-CN" sz="2600" dirty="0" err="1">
                <a:solidFill>
                  <a:srgbClr val="0000FF"/>
                </a:solidFill>
              </a:rPr>
              <a:t>内存块表</a:t>
            </a:r>
            <a:endParaRPr sz="2600" b="1" dirty="0">
              <a:solidFill>
                <a:srgbClr val="0000FF"/>
              </a:solidFill>
            </a:endParaRPr>
          </a:p>
          <a:p>
            <a:r>
              <a:rPr lang="en-US" altLang="zh-CN" sz="2600" dirty="0" err="1"/>
              <a:t>设置一个数据结构记录内存的使用情况，包括物理块的总数、哪些物理块已经分配、哪些物理块还未分配等信息，这个数据结构称为内存块表</a:t>
            </a:r>
            <a:r>
              <a:rPr lang="en-US" altLang="zh-CN" sz="2600" dirty="0"/>
              <a:t>。</a:t>
            </a:r>
          </a:p>
          <a:p>
            <a:r>
              <a:rPr lang="en-US" altLang="zh-CN" sz="2600" dirty="0" err="1"/>
              <a:t>内存块表有多种实现方法</a:t>
            </a:r>
            <a:r>
              <a:rPr sz="2600" dirty="0"/>
              <a:t>。</a:t>
            </a:r>
          </a:p>
          <a:p>
            <a:pPr lvl="1"/>
            <a:r>
              <a:rPr lang="zh-CN" altLang="en-US" sz="2600" dirty="0"/>
              <a:t>如：</a:t>
            </a:r>
            <a:r>
              <a:rPr lang="en-US" altLang="zh-CN" sz="2600" dirty="0" err="1"/>
              <a:t>位图</a:t>
            </a:r>
            <a:endParaRPr lang="zh-CN" altLang="en-US" sz="2600" dirty="0"/>
          </a:p>
        </p:txBody>
      </p:sp>
    </p:spTree>
    <p:custDataLst>
      <p:tags r:id="rId1"/>
    </p:custDataLst>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0A962A-7CAF-4FF0-AED1-BDDCAC45CF84}"/>
              </a:ext>
            </a:extLst>
          </p:cNvPr>
          <p:cNvSpPr>
            <a:spLocks noGrp="1"/>
          </p:cNvSpPr>
          <p:nvPr>
            <p:ph type="title"/>
          </p:nvPr>
        </p:nvSpPr>
        <p:spPr/>
        <p:txBody>
          <a:bodyPr/>
          <a:lstStyle/>
          <a:p>
            <a:r>
              <a:rPr lang="zh-CN" altLang="en-US" dirty="0"/>
              <a:t>位示图：一个二进制位表示</a:t>
            </a:r>
            <a:r>
              <a:rPr lang="en-US" altLang="zh-CN" dirty="0"/>
              <a:t>1</a:t>
            </a:r>
            <a:r>
              <a:rPr lang="zh-CN" altLang="en-US" dirty="0"/>
              <a:t>个物理块的使用情况</a:t>
            </a:r>
          </a:p>
        </p:txBody>
      </p:sp>
      <p:graphicFrame>
        <p:nvGraphicFramePr>
          <p:cNvPr id="5" name="表格 4">
            <a:extLst>
              <a:ext uri="{FF2B5EF4-FFF2-40B4-BE49-F238E27FC236}">
                <a16:creationId xmlns:a16="http://schemas.microsoft.com/office/drawing/2014/main" id="{2C1C50E2-7E12-4D04-A20C-3272C9724A54}"/>
              </a:ext>
            </a:extLst>
          </p:cNvPr>
          <p:cNvGraphicFramePr>
            <a:graphicFrameLocks noGrp="1"/>
          </p:cNvGraphicFramePr>
          <p:nvPr>
            <p:extLst>
              <p:ext uri="{D42A27DB-BD31-4B8C-83A1-F6EECF244321}">
                <p14:modId xmlns:p14="http://schemas.microsoft.com/office/powerpoint/2010/main" val="1338779165"/>
              </p:ext>
            </p:extLst>
          </p:nvPr>
        </p:nvGraphicFramePr>
        <p:xfrm>
          <a:off x="1574154" y="2361236"/>
          <a:ext cx="9977382" cy="3512088"/>
        </p:xfrm>
        <a:graphic>
          <a:graphicData uri="http://schemas.openxmlformats.org/drawingml/2006/table">
            <a:tbl>
              <a:tblPr firstRow="1" firstCol="1" bandRow="1"/>
              <a:tblGrid>
                <a:gridCol w="554299">
                  <a:extLst>
                    <a:ext uri="{9D8B030D-6E8A-4147-A177-3AD203B41FA5}">
                      <a16:colId xmlns:a16="http://schemas.microsoft.com/office/drawing/2014/main" val="3694797772"/>
                    </a:ext>
                  </a:extLst>
                </a:gridCol>
                <a:gridCol w="554299">
                  <a:extLst>
                    <a:ext uri="{9D8B030D-6E8A-4147-A177-3AD203B41FA5}">
                      <a16:colId xmlns:a16="http://schemas.microsoft.com/office/drawing/2014/main" val="2444045925"/>
                    </a:ext>
                  </a:extLst>
                </a:gridCol>
                <a:gridCol w="554299">
                  <a:extLst>
                    <a:ext uri="{9D8B030D-6E8A-4147-A177-3AD203B41FA5}">
                      <a16:colId xmlns:a16="http://schemas.microsoft.com/office/drawing/2014/main" val="3337414"/>
                    </a:ext>
                  </a:extLst>
                </a:gridCol>
                <a:gridCol w="554299">
                  <a:extLst>
                    <a:ext uri="{9D8B030D-6E8A-4147-A177-3AD203B41FA5}">
                      <a16:colId xmlns:a16="http://schemas.microsoft.com/office/drawing/2014/main" val="2691183522"/>
                    </a:ext>
                  </a:extLst>
                </a:gridCol>
                <a:gridCol w="554299">
                  <a:extLst>
                    <a:ext uri="{9D8B030D-6E8A-4147-A177-3AD203B41FA5}">
                      <a16:colId xmlns:a16="http://schemas.microsoft.com/office/drawing/2014/main" val="2113163702"/>
                    </a:ext>
                  </a:extLst>
                </a:gridCol>
                <a:gridCol w="554299">
                  <a:extLst>
                    <a:ext uri="{9D8B030D-6E8A-4147-A177-3AD203B41FA5}">
                      <a16:colId xmlns:a16="http://schemas.microsoft.com/office/drawing/2014/main" val="2186239867"/>
                    </a:ext>
                  </a:extLst>
                </a:gridCol>
                <a:gridCol w="554299">
                  <a:extLst>
                    <a:ext uri="{9D8B030D-6E8A-4147-A177-3AD203B41FA5}">
                      <a16:colId xmlns:a16="http://schemas.microsoft.com/office/drawing/2014/main" val="3974642760"/>
                    </a:ext>
                  </a:extLst>
                </a:gridCol>
                <a:gridCol w="554299">
                  <a:extLst>
                    <a:ext uri="{9D8B030D-6E8A-4147-A177-3AD203B41FA5}">
                      <a16:colId xmlns:a16="http://schemas.microsoft.com/office/drawing/2014/main" val="1006491931"/>
                    </a:ext>
                  </a:extLst>
                </a:gridCol>
                <a:gridCol w="554299">
                  <a:extLst>
                    <a:ext uri="{9D8B030D-6E8A-4147-A177-3AD203B41FA5}">
                      <a16:colId xmlns:a16="http://schemas.microsoft.com/office/drawing/2014/main" val="3633878759"/>
                    </a:ext>
                  </a:extLst>
                </a:gridCol>
                <a:gridCol w="554299">
                  <a:extLst>
                    <a:ext uri="{9D8B030D-6E8A-4147-A177-3AD203B41FA5}">
                      <a16:colId xmlns:a16="http://schemas.microsoft.com/office/drawing/2014/main" val="1743698624"/>
                    </a:ext>
                  </a:extLst>
                </a:gridCol>
                <a:gridCol w="554299">
                  <a:extLst>
                    <a:ext uri="{9D8B030D-6E8A-4147-A177-3AD203B41FA5}">
                      <a16:colId xmlns:a16="http://schemas.microsoft.com/office/drawing/2014/main" val="1853520256"/>
                    </a:ext>
                  </a:extLst>
                </a:gridCol>
                <a:gridCol w="554299">
                  <a:extLst>
                    <a:ext uri="{9D8B030D-6E8A-4147-A177-3AD203B41FA5}">
                      <a16:colId xmlns:a16="http://schemas.microsoft.com/office/drawing/2014/main" val="2286112637"/>
                    </a:ext>
                  </a:extLst>
                </a:gridCol>
                <a:gridCol w="554299">
                  <a:extLst>
                    <a:ext uri="{9D8B030D-6E8A-4147-A177-3AD203B41FA5}">
                      <a16:colId xmlns:a16="http://schemas.microsoft.com/office/drawing/2014/main" val="2540972314"/>
                    </a:ext>
                  </a:extLst>
                </a:gridCol>
                <a:gridCol w="554299">
                  <a:extLst>
                    <a:ext uri="{9D8B030D-6E8A-4147-A177-3AD203B41FA5}">
                      <a16:colId xmlns:a16="http://schemas.microsoft.com/office/drawing/2014/main" val="1879271298"/>
                    </a:ext>
                  </a:extLst>
                </a:gridCol>
                <a:gridCol w="554299">
                  <a:extLst>
                    <a:ext uri="{9D8B030D-6E8A-4147-A177-3AD203B41FA5}">
                      <a16:colId xmlns:a16="http://schemas.microsoft.com/office/drawing/2014/main" val="476407017"/>
                    </a:ext>
                  </a:extLst>
                </a:gridCol>
                <a:gridCol w="554299">
                  <a:extLst>
                    <a:ext uri="{9D8B030D-6E8A-4147-A177-3AD203B41FA5}">
                      <a16:colId xmlns:a16="http://schemas.microsoft.com/office/drawing/2014/main" val="2133476607"/>
                    </a:ext>
                  </a:extLst>
                </a:gridCol>
                <a:gridCol w="554299">
                  <a:extLst>
                    <a:ext uri="{9D8B030D-6E8A-4147-A177-3AD203B41FA5}">
                      <a16:colId xmlns:a16="http://schemas.microsoft.com/office/drawing/2014/main" val="510722520"/>
                    </a:ext>
                  </a:extLst>
                </a:gridCol>
                <a:gridCol w="554299">
                  <a:extLst>
                    <a:ext uri="{9D8B030D-6E8A-4147-A177-3AD203B41FA5}">
                      <a16:colId xmlns:a16="http://schemas.microsoft.com/office/drawing/2014/main" val="3904142623"/>
                    </a:ext>
                  </a:extLst>
                </a:gridCol>
              </a:tblGrid>
              <a:tr h="585348">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0988235"/>
                  </a:ext>
                </a:extLst>
              </a:tr>
              <a:tr h="585348">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6416857"/>
                  </a:ext>
                </a:extLst>
              </a:tr>
              <a:tr h="585348">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4206269"/>
                  </a:ext>
                </a:extLst>
              </a:tr>
              <a:tr h="585348">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6122980"/>
                  </a:ext>
                </a:extLst>
              </a:tr>
              <a:tr h="585348">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3029433"/>
                  </a:ext>
                </a:extLst>
              </a:tr>
              <a:tr h="585348">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3200" b="1"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29167"/>
                  </a:ext>
                </a:extLst>
              </a:tr>
            </a:tbl>
          </a:graphicData>
        </a:graphic>
      </p:graphicFrame>
      <p:sp>
        <p:nvSpPr>
          <p:cNvPr id="8" name="文本框 7">
            <a:extLst>
              <a:ext uri="{FF2B5EF4-FFF2-40B4-BE49-F238E27FC236}">
                <a16:creationId xmlns:a16="http://schemas.microsoft.com/office/drawing/2014/main" id="{A69BCAE7-1074-4278-B45F-09CEFA27B8DD}"/>
              </a:ext>
            </a:extLst>
          </p:cNvPr>
          <p:cNvSpPr txBox="1"/>
          <p:nvPr/>
        </p:nvSpPr>
        <p:spPr>
          <a:xfrm>
            <a:off x="1574154" y="1763960"/>
            <a:ext cx="10232022" cy="584775"/>
          </a:xfrm>
          <a:prstGeom prst="rect">
            <a:avLst/>
          </a:prstGeom>
          <a:noFill/>
        </p:spPr>
        <p:txBody>
          <a:bodyPr wrap="square" rtlCol="0">
            <a:spAutoFit/>
          </a:bodyPr>
          <a:lstStyle/>
          <a:p>
            <a:r>
              <a:rPr lang="en-US" altLang="zh-CN" sz="3200" b="1" dirty="0">
                <a:solidFill>
                  <a:srgbClr val="0000FF"/>
                </a:solidFill>
              </a:rPr>
              <a:t>0   1   2   3   4   5   6   7   8   9  </a:t>
            </a:r>
            <a:r>
              <a:rPr lang="en-US" altLang="zh-CN" sz="2800" b="1" dirty="0">
                <a:solidFill>
                  <a:srgbClr val="0000FF"/>
                </a:solidFill>
              </a:rPr>
              <a:t>10 11  12  13  …</a:t>
            </a:r>
            <a:r>
              <a:rPr lang="zh-CN" altLang="en-US" sz="2800" b="1" dirty="0">
                <a:solidFill>
                  <a:srgbClr val="0000FF"/>
                </a:solidFill>
              </a:rPr>
              <a:t> </a:t>
            </a:r>
            <a:r>
              <a:rPr lang="en-US" altLang="zh-CN" sz="2800" b="1" dirty="0">
                <a:solidFill>
                  <a:srgbClr val="0000FF"/>
                </a:solidFill>
              </a:rPr>
              <a:t> 29  30 31     </a:t>
            </a:r>
            <a:endParaRPr lang="zh-CN" altLang="en-US" sz="3200" b="1" dirty="0">
              <a:solidFill>
                <a:srgbClr val="0000FF"/>
              </a:solidFill>
            </a:endParaRPr>
          </a:p>
        </p:txBody>
      </p:sp>
      <p:sp>
        <p:nvSpPr>
          <p:cNvPr id="9" name="文本框 8">
            <a:extLst>
              <a:ext uri="{FF2B5EF4-FFF2-40B4-BE49-F238E27FC236}">
                <a16:creationId xmlns:a16="http://schemas.microsoft.com/office/drawing/2014/main" id="{FCF0A297-D1C0-4230-AA54-5AB861EF1AFA}"/>
              </a:ext>
            </a:extLst>
          </p:cNvPr>
          <p:cNvSpPr txBox="1"/>
          <p:nvPr/>
        </p:nvSpPr>
        <p:spPr>
          <a:xfrm>
            <a:off x="1817174" y="972880"/>
            <a:ext cx="6886987" cy="584775"/>
          </a:xfrm>
          <a:prstGeom prst="rect">
            <a:avLst/>
          </a:prstGeom>
          <a:noFill/>
        </p:spPr>
        <p:txBody>
          <a:bodyPr wrap="square" rtlCol="0">
            <a:spAutoFit/>
          </a:bodyPr>
          <a:lstStyle/>
          <a:p>
            <a:r>
              <a:rPr lang="zh-CN" altLang="en-US" sz="3200" b="1" dirty="0"/>
              <a:t>物理块号 </a:t>
            </a:r>
            <a:r>
              <a:rPr lang="en-US" altLang="zh-CN" sz="3200" b="1" dirty="0"/>
              <a:t>=  </a:t>
            </a:r>
            <a:r>
              <a:rPr lang="zh-CN" altLang="en-US" sz="3200" b="1" dirty="0">
                <a:solidFill>
                  <a:srgbClr val="00B050"/>
                </a:solidFill>
              </a:rPr>
              <a:t>行号</a:t>
            </a:r>
            <a:r>
              <a:rPr lang="zh-CN" altLang="en-US" sz="3200" b="1" dirty="0"/>
              <a:t> * 位数</a:t>
            </a:r>
            <a:r>
              <a:rPr lang="en-US" altLang="zh-CN" sz="3200" b="1" dirty="0"/>
              <a:t>/</a:t>
            </a:r>
            <a:r>
              <a:rPr lang="zh-CN" altLang="en-US" sz="3200" b="1" dirty="0"/>
              <a:t>行  </a:t>
            </a:r>
            <a:r>
              <a:rPr lang="en-US" altLang="zh-CN" sz="3200" b="1" dirty="0"/>
              <a:t>+  </a:t>
            </a:r>
            <a:r>
              <a:rPr lang="zh-CN" altLang="en-US" sz="3200" b="1" dirty="0">
                <a:solidFill>
                  <a:srgbClr val="0000FF"/>
                </a:solidFill>
              </a:rPr>
              <a:t>位号</a:t>
            </a:r>
            <a:r>
              <a:rPr lang="zh-CN" altLang="en-US" sz="3200" b="1" dirty="0"/>
              <a:t> </a:t>
            </a:r>
            <a:r>
              <a:rPr lang="en-US" altLang="zh-CN" sz="3200" b="1" dirty="0"/>
              <a:t> </a:t>
            </a:r>
            <a:endParaRPr lang="zh-CN" altLang="en-US" sz="3200" b="1" dirty="0"/>
          </a:p>
        </p:txBody>
      </p:sp>
      <p:sp>
        <p:nvSpPr>
          <p:cNvPr id="10" name="文本框 9">
            <a:extLst>
              <a:ext uri="{FF2B5EF4-FFF2-40B4-BE49-F238E27FC236}">
                <a16:creationId xmlns:a16="http://schemas.microsoft.com/office/drawing/2014/main" id="{AA6AD937-BC23-4E42-ADD9-9C6BBFB3FDE4}"/>
              </a:ext>
            </a:extLst>
          </p:cNvPr>
          <p:cNvSpPr txBox="1"/>
          <p:nvPr/>
        </p:nvSpPr>
        <p:spPr>
          <a:xfrm>
            <a:off x="949124" y="2395957"/>
            <a:ext cx="381965" cy="3416320"/>
          </a:xfrm>
          <a:prstGeom prst="rect">
            <a:avLst/>
          </a:prstGeom>
          <a:noFill/>
        </p:spPr>
        <p:txBody>
          <a:bodyPr wrap="square" rtlCol="0">
            <a:spAutoFit/>
          </a:bodyPr>
          <a:lstStyle/>
          <a:p>
            <a:r>
              <a:rPr lang="en-US" altLang="zh-CN" sz="3600" b="1" dirty="0">
                <a:solidFill>
                  <a:srgbClr val="00B050"/>
                </a:solidFill>
              </a:rPr>
              <a:t>0</a:t>
            </a:r>
          </a:p>
          <a:p>
            <a:r>
              <a:rPr lang="en-US" altLang="zh-CN" sz="3600" b="1" dirty="0">
                <a:solidFill>
                  <a:srgbClr val="00B050"/>
                </a:solidFill>
              </a:rPr>
              <a:t>1</a:t>
            </a:r>
          </a:p>
          <a:p>
            <a:r>
              <a:rPr lang="en-US" altLang="zh-CN" sz="3600" b="1" dirty="0">
                <a:solidFill>
                  <a:srgbClr val="00B050"/>
                </a:solidFill>
              </a:rPr>
              <a:t>2</a:t>
            </a:r>
          </a:p>
          <a:p>
            <a:r>
              <a:rPr lang="en-US" altLang="zh-CN" sz="3600" b="1" dirty="0">
                <a:solidFill>
                  <a:srgbClr val="00B050"/>
                </a:solidFill>
              </a:rPr>
              <a:t>3</a:t>
            </a:r>
          </a:p>
          <a:p>
            <a:r>
              <a:rPr lang="en-US" altLang="zh-CN" sz="3600" b="1" dirty="0">
                <a:solidFill>
                  <a:srgbClr val="00B050"/>
                </a:solidFill>
              </a:rPr>
              <a:t>…</a:t>
            </a:r>
          </a:p>
          <a:p>
            <a:r>
              <a:rPr lang="en-US" altLang="zh-CN" sz="3600" b="1" dirty="0">
                <a:solidFill>
                  <a:srgbClr val="00B050"/>
                </a:solidFill>
              </a:rPr>
              <a:t>…</a:t>
            </a:r>
            <a:endParaRPr lang="zh-CN" altLang="en-US" sz="3600" b="1" dirty="0">
              <a:solidFill>
                <a:srgbClr val="00B050"/>
              </a:solidFill>
            </a:endParaRPr>
          </a:p>
        </p:txBody>
      </p:sp>
    </p:spTree>
    <p:extLst>
      <p:ext uri="{BB962C8B-B14F-4D97-AF65-F5344CB8AC3E}">
        <p14:creationId xmlns:p14="http://schemas.microsoft.com/office/powerpoint/2010/main" val="23944616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17B94F5-7EB5-05EC-BBBC-E098F18585DD}"/>
              </a:ext>
            </a:extLst>
          </p:cNvPr>
          <p:cNvSpPr txBox="1">
            <a:spLocks noChangeArrowheads="1"/>
          </p:cNvSpPr>
          <p:nvPr/>
        </p:nvSpPr>
        <p:spPr bwMode="auto">
          <a:xfrm>
            <a:off x="683045" y="298154"/>
            <a:ext cx="12105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Aft>
                <a:spcPct val="0"/>
              </a:spcAft>
              <a:buClrTx/>
              <a:buSzTx/>
              <a:buFontTx/>
              <a:buNone/>
            </a:pPr>
            <a:r>
              <a:rPr kumimoji="1" lang="zh-CN" altLang="en-US" sz="4000" dirty="0">
                <a:solidFill>
                  <a:srgbClr val="000000"/>
                </a:solidFill>
                <a:latin typeface="Times New Roman" panose="02020603050405020304" pitchFamily="18" charset="0"/>
                <a:ea typeface="宋体" panose="02010600030101010101" pitchFamily="2" charset="-122"/>
              </a:rPr>
              <a:t>练习</a:t>
            </a:r>
          </a:p>
        </p:txBody>
      </p:sp>
      <p:sp>
        <p:nvSpPr>
          <p:cNvPr id="5" name="Text Box 3">
            <a:extLst>
              <a:ext uri="{FF2B5EF4-FFF2-40B4-BE49-F238E27FC236}">
                <a16:creationId xmlns:a16="http://schemas.microsoft.com/office/drawing/2014/main" id="{676DF47F-B720-4E81-36C0-DC94339C4A2C}"/>
              </a:ext>
            </a:extLst>
          </p:cNvPr>
          <p:cNvSpPr txBox="1">
            <a:spLocks noChangeArrowheads="1"/>
          </p:cNvSpPr>
          <p:nvPr/>
        </p:nvSpPr>
        <p:spPr bwMode="auto">
          <a:xfrm>
            <a:off x="683045" y="1341439"/>
            <a:ext cx="10322805" cy="315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just" eaLnBrk="1" hangingPunct="1">
              <a:lnSpc>
                <a:spcPts val="3200"/>
              </a:lnSpc>
              <a:spcBef>
                <a:spcPct val="20000"/>
              </a:spcBef>
              <a:spcAft>
                <a:spcPct val="0"/>
              </a:spcAft>
              <a:buClrTx/>
              <a:buSzTx/>
              <a:buFontTx/>
              <a:buNone/>
            </a:pPr>
            <a:r>
              <a:rPr kumimoji="1" lang="zh-CN" altLang="en-US" sz="2600" dirty="0">
                <a:solidFill>
                  <a:srgbClr val="000000"/>
                </a:solidFill>
                <a:latin typeface="Times New Roman" panose="02020603050405020304" pitchFamily="18" charset="0"/>
                <a:ea typeface="宋体" panose="02010600030101010101" pitchFamily="2" charset="-122"/>
              </a:rPr>
              <a:t>假定某分页存储管理的系统中，内存容量为</a:t>
            </a:r>
            <a:r>
              <a:rPr kumimoji="1" lang="en-US" altLang="zh-CN" sz="2600" dirty="0">
                <a:solidFill>
                  <a:srgbClr val="000000"/>
                </a:solidFill>
                <a:latin typeface="Times New Roman" panose="02020603050405020304" pitchFamily="18" charset="0"/>
                <a:ea typeface="宋体" panose="02010600030101010101" pitchFamily="2" charset="-122"/>
              </a:rPr>
              <a:t>1MB</a:t>
            </a:r>
            <a:r>
              <a:rPr kumimoji="1" lang="zh-CN" altLang="en-US" sz="2600" dirty="0">
                <a:solidFill>
                  <a:srgbClr val="000000"/>
                </a:solidFill>
                <a:latin typeface="Times New Roman" panose="02020603050405020304" pitchFamily="18" charset="0"/>
                <a:ea typeface="宋体" panose="02010600030101010101" pitchFamily="2" charset="-122"/>
              </a:rPr>
              <a:t>，被分成</a:t>
            </a:r>
            <a:r>
              <a:rPr kumimoji="1" lang="en-US" altLang="zh-CN" sz="2600" dirty="0">
                <a:solidFill>
                  <a:srgbClr val="000000"/>
                </a:solidFill>
                <a:latin typeface="Times New Roman" panose="02020603050405020304" pitchFamily="18" charset="0"/>
                <a:ea typeface="宋体" panose="02010600030101010101" pitchFamily="2" charset="-122"/>
              </a:rPr>
              <a:t>256</a:t>
            </a:r>
            <a:r>
              <a:rPr kumimoji="1" lang="zh-CN" altLang="en-US" sz="2600" dirty="0">
                <a:solidFill>
                  <a:srgbClr val="000000"/>
                </a:solidFill>
                <a:latin typeface="Times New Roman" panose="02020603050405020304" pitchFamily="18" charset="0"/>
                <a:ea typeface="宋体" panose="02010600030101010101" pitchFamily="2" charset="-122"/>
              </a:rPr>
              <a:t>块，块号为</a:t>
            </a:r>
            <a:r>
              <a:rPr kumimoji="1" lang="en-US" altLang="zh-CN" sz="2600" dirty="0">
                <a:solidFill>
                  <a:srgbClr val="000000"/>
                </a:solidFill>
                <a:latin typeface="Times New Roman" panose="02020603050405020304" pitchFamily="18" charset="0"/>
                <a:ea typeface="宋体" panose="02010600030101010101" pitchFamily="2" charset="-122"/>
              </a:rPr>
              <a:t>0,1,2,…,255</a:t>
            </a:r>
            <a:r>
              <a:rPr kumimoji="1" lang="zh-CN" altLang="en-US" sz="2600" dirty="0">
                <a:solidFill>
                  <a:srgbClr val="000000"/>
                </a:solidFill>
                <a:latin typeface="Times New Roman" panose="02020603050405020304" pitchFamily="18" charset="0"/>
                <a:ea typeface="宋体" panose="02010600030101010101" pitchFamily="2" charset="-122"/>
              </a:rPr>
              <a:t>，某作业的地址空间占</a:t>
            </a:r>
            <a:r>
              <a:rPr kumimoji="1" lang="en-US" altLang="zh-CN" sz="2600" dirty="0">
                <a:solidFill>
                  <a:srgbClr val="000000"/>
                </a:solidFill>
                <a:latin typeface="Times New Roman" panose="02020603050405020304" pitchFamily="18" charset="0"/>
                <a:ea typeface="宋体" panose="02010600030101010101" pitchFamily="2" charset="-122"/>
              </a:rPr>
              <a:t>4</a:t>
            </a:r>
            <a:r>
              <a:rPr kumimoji="1" lang="zh-CN" altLang="en-US" sz="2600" dirty="0">
                <a:solidFill>
                  <a:srgbClr val="000000"/>
                </a:solidFill>
                <a:latin typeface="Times New Roman" panose="02020603050405020304" pitchFamily="18" charset="0"/>
                <a:ea typeface="宋体" panose="02010600030101010101" pitchFamily="2" charset="-122"/>
              </a:rPr>
              <a:t>页，其页号为</a:t>
            </a:r>
            <a:r>
              <a:rPr kumimoji="1" lang="en-US" altLang="zh-CN" sz="2600" dirty="0">
                <a:solidFill>
                  <a:srgbClr val="000000"/>
                </a:solidFill>
                <a:latin typeface="Times New Roman" panose="02020603050405020304" pitchFamily="18" charset="0"/>
                <a:ea typeface="宋体" panose="02010600030101010101" pitchFamily="2" charset="-122"/>
              </a:rPr>
              <a:t>0,1,2,3</a:t>
            </a:r>
            <a:r>
              <a:rPr kumimoji="1" lang="zh-CN" altLang="en-US" sz="2600" dirty="0">
                <a:solidFill>
                  <a:srgbClr val="000000"/>
                </a:solidFill>
                <a:latin typeface="Times New Roman" panose="02020603050405020304" pitchFamily="18" charset="0"/>
                <a:ea typeface="宋体" panose="02010600030101010101" pitchFamily="2" charset="-122"/>
              </a:rPr>
              <a:t>，被分配到内存的第</a:t>
            </a:r>
            <a:r>
              <a:rPr kumimoji="1" lang="en-US" altLang="zh-CN" sz="2600" dirty="0">
                <a:solidFill>
                  <a:srgbClr val="000000"/>
                </a:solidFill>
                <a:latin typeface="Times New Roman" panose="02020603050405020304" pitchFamily="18" charset="0"/>
                <a:ea typeface="宋体" panose="02010600030101010101" pitchFamily="2" charset="-122"/>
              </a:rPr>
              <a:t>2,4,1,5</a:t>
            </a:r>
            <a:r>
              <a:rPr kumimoji="1" lang="zh-CN" altLang="en-US" sz="2600" dirty="0">
                <a:solidFill>
                  <a:srgbClr val="000000"/>
                </a:solidFill>
                <a:latin typeface="Times New Roman" panose="02020603050405020304" pitchFamily="18" charset="0"/>
                <a:ea typeface="宋体" panose="02010600030101010101" pitchFamily="2" charset="-122"/>
              </a:rPr>
              <a:t>块中。</a:t>
            </a:r>
          </a:p>
          <a:p>
            <a:pPr algn="just" eaLnBrk="1" hangingPunct="1">
              <a:lnSpc>
                <a:spcPts val="3200"/>
              </a:lnSpc>
              <a:spcBef>
                <a:spcPct val="20000"/>
              </a:spcBef>
              <a:spcAft>
                <a:spcPct val="0"/>
              </a:spcAft>
              <a:buClrTx/>
              <a:buSzTx/>
              <a:buFontTx/>
              <a:buNone/>
            </a:pPr>
            <a:r>
              <a:rPr kumimoji="1" lang="zh-CN" altLang="en-US" sz="2600" dirty="0">
                <a:solidFill>
                  <a:srgbClr val="000000"/>
                </a:solidFill>
                <a:latin typeface="Times New Roman" panose="02020603050405020304" pitchFamily="18" charset="0"/>
                <a:ea typeface="宋体" panose="02010600030101010101" pitchFamily="2" charset="-122"/>
              </a:rPr>
              <a:t>则有</a:t>
            </a:r>
            <a:r>
              <a:rPr kumimoji="1" lang="en-US" altLang="en-US" sz="2600" dirty="0">
                <a:solidFill>
                  <a:srgbClr val="000000"/>
                </a:solidFill>
                <a:latin typeface="Times New Roman" panose="02020603050405020304" pitchFamily="18" charset="0"/>
                <a:ea typeface="宋体" panose="02010600030101010101" pitchFamily="2" charset="-122"/>
              </a:rPr>
              <a:t>①</a:t>
            </a:r>
            <a:r>
              <a:rPr kumimoji="1" lang="zh-CN" altLang="en-US" sz="2600" dirty="0">
                <a:solidFill>
                  <a:srgbClr val="000000"/>
                </a:solidFill>
                <a:latin typeface="Times New Roman" panose="02020603050405020304" pitchFamily="18" charset="0"/>
                <a:ea typeface="宋体" panose="02010600030101010101" pitchFamily="2" charset="-122"/>
              </a:rPr>
              <a:t>内存地址至少使用</a:t>
            </a:r>
            <a:r>
              <a:rPr kumimoji="1" lang="en-US" altLang="zh-CN" sz="2600" dirty="0">
                <a:solidFill>
                  <a:srgbClr val="000000"/>
                </a:solidFill>
                <a:latin typeface="Times New Roman" panose="02020603050405020304" pitchFamily="18" charset="0"/>
                <a:ea typeface="宋体" panose="02010600030101010101" pitchFamily="2" charset="-122"/>
              </a:rPr>
              <a:t>________</a:t>
            </a:r>
            <a:r>
              <a:rPr kumimoji="1" lang="zh-CN" altLang="en-US" sz="2600" dirty="0">
                <a:solidFill>
                  <a:srgbClr val="000000"/>
                </a:solidFill>
                <a:latin typeface="Times New Roman" panose="02020603050405020304" pitchFamily="18" charset="0"/>
                <a:ea typeface="宋体" panose="02010600030101010101" pitchFamily="2" charset="-122"/>
              </a:rPr>
              <a:t>位来表示。</a:t>
            </a:r>
          </a:p>
          <a:p>
            <a:pPr algn="just" eaLnBrk="1" hangingPunct="1">
              <a:lnSpc>
                <a:spcPts val="3200"/>
              </a:lnSpc>
              <a:spcBef>
                <a:spcPct val="20000"/>
              </a:spcBef>
              <a:spcAft>
                <a:spcPct val="0"/>
              </a:spcAft>
              <a:buClrTx/>
              <a:buSzTx/>
              <a:buFontTx/>
              <a:buNone/>
            </a:pPr>
            <a:r>
              <a:rPr kumimoji="1" lang="zh-CN" altLang="en-US" sz="2600" dirty="0">
                <a:solidFill>
                  <a:srgbClr val="000000"/>
                </a:solidFill>
                <a:latin typeface="Times New Roman" panose="02020603050405020304" pitchFamily="18" charset="0"/>
                <a:ea typeface="宋体" panose="02010600030101010101" pitchFamily="2" charset="-122"/>
              </a:rPr>
              <a:t>        ②作业每一页的长度为</a:t>
            </a:r>
            <a:r>
              <a:rPr kumimoji="1" lang="en-US" altLang="zh-CN" sz="2600" dirty="0">
                <a:solidFill>
                  <a:srgbClr val="000000"/>
                </a:solidFill>
                <a:latin typeface="Times New Roman" panose="02020603050405020304" pitchFamily="18" charset="0"/>
                <a:ea typeface="宋体" panose="02010600030101010101" pitchFamily="2" charset="-122"/>
              </a:rPr>
              <a:t>______________</a:t>
            </a:r>
            <a:r>
              <a:rPr kumimoji="1" lang="zh-CN" altLang="en-US" sz="2600" dirty="0">
                <a:solidFill>
                  <a:srgbClr val="000000"/>
                </a:solidFill>
                <a:latin typeface="Times New Roman" panose="02020603050405020304" pitchFamily="18" charset="0"/>
                <a:ea typeface="宋体" panose="02010600030101010101" pitchFamily="2" charset="-122"/>
              </a:rPr>
              <a:t>，逻辑地址中的页内地址为</a:t>
            </a:r>
            <a:r>
              <a:rPr kumimoji="1" lang="en-US" altLang="zh-CN" sz="2600" dirty="0">
                <a:solidFill>
                  <a:srgbClr val="000000"/>
                </a:solidFill>
                <a:latin typeface="Times New Roman" panose="02020603050405020304" pitchFamily="18" charset="0"/>
                <a:ea typeface="宋体" panose="02010600030101010101" pitchFamily="2" charset="-122"/>
              </a:rPr>
              <a:t>________</a:t>
            </a:r>
            <a:r>
              <a:rPr kumimoji="1" lang="zh-CN" altLang="en-US" sz="2600" dirty="0">
                <a:solidFill>
                  <a:srgbClr val="000000"/>
                </a:solidFill>
                <a:latin typeface="Times New Roman" panose="02020603050405020304" pitchFamily="18" charset="0"/>
                <a:ea typeface="宋体" panose="02010600030101010101" pitchFamily="2" charset="-122"/>
              </a:rPr>
              <a:t>位。</a:t>
            </a:r>
          </a:p>
          <a:p>
            <a:pPr algn="just" eaLnBrk="1" hangingPunct="1">
              <a:lnSpc>
                <a:spcPts val="3200"/>
              </a:lnSpc>
              <a:spcBef>
                <a:spcPct val="20000"/>
              </a:spcBef>
              <a:spcAft>
                <a:spcPct val="0"/>
              </a:spcAft>
              <a:buClrTx/>
              <a:buSzTx/>
              <a:buFontTx/>
              <a:buNone/>
            </a:pPr>
            <a:r>
              <a:rPr kumimoji="1" lang="zh-CN" altLang="en-US" sz="2600" dirty="0">
                <a:solidFill>
                  <a:srgbClr val="000000"/>
                </a:solidFill>
                <a:latin typeface="Times New Roman" panose="02020603050405020304" pitchFamily="18" charset="0"/>
                <a:ea typeface="宋体" panose="02010600030101010101" pitchFamily="2" charset="-122"/>
              </a:rPr>
              <a:t>        ③把作业的每一页在分内存的起始地址填入下表：</a:t>
            </a:r>
          </a:p>
        </p:txBody>
      </p:sp>
      <p:sp>
        <p:nvSpPr>
          <p:cNvPr id="6" name="Rectangle 18">
            <a:extLst>
              <a:ext uri="{FF2B5EF4-FFF2-40B4-BE49-F238E27FC236}">
                <a16:creationId xmlns:a16="http://schemas.microsoft.com/office/drawing/2014/main" id="{4BDDCA08-2DC5-714D-8B09-CCC6FF8CBFD4}"/>
              </a:ext>
            </a:extLst>
          </p:cNvPr>
          <p:cNvSpPr>
            <a:spLocks noChangeArrowheads="1"/>
          </p:cNvSpPr>
          <p:nvPr/>
        </p:nvSpPr>
        <p:spPr bwMode="auto">
          <a:xfrm>
            <a:off x="6096001" y="5740401"/>
            <a:ext cx="9366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en-US" altLang="zh-CN" sz="2800">
                <a:solidFill>
                  <a:srgbClr val="000000"/>
                </a:solidFill>
                <a:latin typeface="Times New Roman" panose="02020603050405020304" pitchFamily="18" charset="0"/>
                <a:ea typeface="宋体" panose="02010600030101010101" pitchFamily="2" charset="-122"/>
              </a:rPr>
              <a:t>3</a:t>
            </a:r>
          </a:p>
        </p:txBody>
      </p:sp>
      <p:sp>
        <p:nvSpPr>
          <p:cNvPr id="7" name="Rectangle 16">
            <a:extLst>
              <a:ext uri="{FF2B5EF4-FFF2-40B4-BE49-F238E27FC236}">
                <a16:creationId xmlns:a16="http://schemas.microsoft.com/office/drawing/2014/main" id="{2639C11B-8201-BB86-13D1-70E8F8AF71C9}"/>
              </a:ext>
            </a:extLst>
          </p:cNvPr>
          <p:cNvSpPr>
            <a:spLocks noChangeArrowheads="1"/>
          </p:cNvSpPr>
          <p:nvPr/>
        </p:nvSpPr>
        <p:spPr bwMode="auto">
          <a:xfrm>
            <a:off x="3048000" y="5740401"/>
            <a:ext cx="96043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en-US" altLang="zh-CN" sz="2800">
                <a:solidFill>
                  <a:srgbClr val="000000"/>
                </a:solidFill>
                <a:latin typeface="Times New Roman" panose="02020603050405020304" pitchFamily="18" charset="0"/>
                <a:ea typeface="宋体" panose="02010600030101010101" pitchFamily="2" charset="-122"/>
              </a:rPr>
              <a:t>1</a:t>
            </a:r>
          </a:p>
        </p:txBody>
      </p:sp>
      <p:sp>
        <p:nvSpPr>
          <p:cNvPr id="8" name="Rectangle 14">
            <a:extLst>
              <a:ext uri="{FF2B5EF4-FFF2-40B4-BE49-F238E27FC236}">
                <a16:creationId xmlns:a16="http://schemas.microsoft.com/office/drawing/2014/main" id="{ECE447F3-D981-EC07-673C-B163B3A36943}"/>
              </a:ext>
            </a:extLst>
          </p:cNvPr>
          <p:cNvSpPr>
            <a:spLocks noChangeArrowheads="1"/>
          </p:cNvSpPr>
          <p:nvPr/>
        </p:nvSpPr>
        <p:spPr bwMode="auto">
          <a:xfrm>
            <a:off x="6096001" y="5284788"/>
            <a:ext cx="9366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en-US" altLang="zh-CN" sz="2800">
                <a:solidFill>
                  <a:srgbClr val="000000"/>
                </a:solidFill>
                <a:latin typeface="Times New Roman" panose="02020603050405020304" pitchFamily="18" charset="0"/>
                <a:ea typeface="宋体" panose="02010600030101010101" pitchFamily="2" charset="-122"/>
              </a:rPr>
              <a:t>2</a:t>
            </a:r>
          </a:p>
        </p:txBody>
      </p:sp>
      <p:sp>
        <p:nvSpPr>
          <p:cNvPr id="9" name="Rectangle 12">
            <a:extLst>
              <a:ext uri="{FF2B5EF4-FFF2-40B4-BE49-F238E27FC236}">
                <a16:creationId xmlns:a16="http://schemas.microsoft.com/office/drawing/2014/main" id="{A9B47577-161D-6E1B-AF05-7F3B7C6AB7A2}"/>
              </a:ext>
            </a:extLst>
          </p:cNvPr>
          <p:cNvSpPr>
            <a:spLocks noChangeArrowheads="1"/>
          </p:cNvSpPr>
          <p:nvPr/>
        </p:nvSpPr>
        <p:spPr bwMode="auto">
          <a:xfrm>
            <a:off x="3048000" y="5284788"/>
            <a:ext cx="96043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en-US" altLang="zh-CN" sz="2800">
                <a:solidFill>
                  <a:srgbClr val="000000"/>
                </a:solidFill>
                <a:latin typeface="Times New Roman" panose="02020603050405020304" pitchFamily="18" charset="0"/>
                <a:ea typeface="宋体" panose="02010600030101010101" pitchFamily="2" charset="-122"/>
              </a:rPr>
              <a:t>0</a:t>
            </a:r>
          </a:p>
        </p:txBody>
      </p:sp>
      <p:sp>
        <p:nvSpPr>
          <p:cNvPr id="10" name="Rectangle 11">
            <a:extLst>
              <a:ext uri="{FF2B5EF4-FFF2-40B4-BE49-F238E27FC236}">
                <a16:creationId xmlns:a16="http://schemas.microsoft.com/office/drawing/2014/main" id="{74D41542-28C2-AB46-FA75-7F5854829ED4}"/>
              </a:ext>
            </a:extLst>
          </p:cNvPr>
          <p:cNvSpPr>
            <a:spLocks noChangeArrowheads="1"/>
          </p:cNvSpPr>
          <p:nvPr/>
        </p:nvSpPr>
        <p:spPr bwMode="auto">
          <a:xfrm>
            <a:off x="7032626" y="4829176"/>
            <a:ext cx="21113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zh-CN" altLang="en-US" sz="2800">
                <a:solidFill>
                  <a:srgbClr val="000000"/>
                </a:solidFill>
                <a:latin typeface="Times New Roman" panose="02020603050405020304" pitchFamily="18" charset="0"/>
                <a:ea typeface="宋体" panose="02010600030101010101" pitchFamily="2" charset="-122"/>
              </a:rPr>
              <a:t>起始地址</a:t>
            </a:r>
          </a:p>
        </p:txBody>
      </p:sp>
      <p:sp>
        <p:nvSpPr>
          <p:cNvPr id="11" name="Rectangle 10">
            <a:extLst>
              <a:ext uri="{FF2B5EF4-FFF2-40B4-BE49-F238E27FC236}">
                <a16:creationId xmlns:a16="http://schemas.microsoft.com/office/drawing/2014/main" id="{78FD1514-5E54-BBFD-AE48-E858B82D0339}"/>
              </a:ext>
            </a:extLst>
          </p:cNvPr>
          <p:cNvSpPr>
            <a:spLocks noChangeArrowheads="1"/>
          </p:cNvSpPr>
          <p:nvPr/>
        </p:nvSpPr>
        <p:spPr bwMode="auto">
          <a:xfrm>
            <a:off x="6096001" y="4829176"/>
            <a:ext cx="9366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zh-CN" altLang="en-US" sz="2800">
                <a:solidFill>
                  <a:srgbClr val="000000"/>
                </a:solidFill>
                <a:latin typeface="Times New Roman" panose="02020603050405020304" pitchFamily="18" charset="0"/>
                <a:ea typeface="宋体" panose="02010600030101010101" pitchFamily="2" charset="-122"/>
              </a:rPr>
              <a:t>页号</a:t>
            </a:r>
          </a:p>
        </p:txBody>
      </p:sp>
      <p:sp>
        <p:nvSpPr>
          <p:cNvPr id="12" name="Rectangle 9">
            <a:extLst>
              <a:ext uri="{FF2B5EF4-FFF2-40B4-BE49-F238E27FC236}">
                <a16:creationId xmlns:a16="http://schemas.microsoft.com/office/drawing/2014/main" id="{D757DA18-8C0F-4A9F-081F-5D8FE936A5AE}"/>
              </a:ext>
            </a:extLst>
          </p:cNvPr>
          <p:cNvSpPr>
            <a:spLocks noChangeArrowheads="1"/>
          </p:cNvSpPr>
          <p:nvPr/>
        </p:nvSpPr>
        <p:spPr bwMode="auto">
          <a:xfrm>
            <a:off x="4008438" y="4829176"/>
            <a:ext cx="208756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zh-CN" altLang="en-US" sz="2800">
                <a:solidFill>
                  <a:srgbClr val="000000"/>
                </a:solidFill>
                <a:latin typeface="Times New Roman" panose="02020603050405020304" pitchFamily="18" charset="0"/>
                <a:ea typeface="宋体" panose="02010600030101010101" pitchFamily="2" charset="-122"/>
              </a:rPr>
              <a:t>起始地址</a:t>
            </a:r>
          </a:p>
        </p:txBody>
      </p:sp>
      <p:sp>
        <p:nvSpPr>
          <p:cNvPr id="13" name="Rectangle 8">
            <a:extLst>
              <a:ext uri="{FF2B5EF4-FFF2-40B4-BE49-F238E27FC236}">
                <a16:creationId xmlns:a16="http://schemas.microsoft.com/office/drawing/2014/main" id="{1CB296D0-F587-D1C8-AB73-BB6175D69107}"/>
              </a:ext>
            </a:extLst>
          </p:cNvPr>
          <p:cNvSpPr>
            <a:spLocks noChangeArrowheads="1"/>
          </p:cNvSpPr>
          <p:nvPr/>
        </p:nvSpPr>
        <p:spPr bwMode="auto">
          <a:xfrm>
            <a:off x="3048000" y="4829176"/>
            <a:ext cx="96043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Bef>
                <a:spcPct val="20000"/>
              </a:spcBef>
              <a:spcAft>
                <a:spcPct val="0"/>
              </a:spcAft>
              <a:buClrTx/>
              <a:buSzTx/>
              <a:buFontTx/>
              <a:buNone/>
            </a:pPr>
            <a:r>
              <a:rPr kumimoji="1" lang="zh-CN" altLang="en-US" sz="2800">
                <a:solidFill>
                  <a:srgbClr val="000000"/>
                </a:solidFill>
                <a:latin typeface="Times New Roman" panose="02020603050405020304" pitchFamily="18" charset="0"/>
                <a:ea typeface="宋体" panose="02010600030101010101" pitchFamily="2" charset="-122"/>
              </a:rPr>
              <a:t>页号</a:t>
            </a:r>
          </a:p>
        </p:txBody>
      </p:sp>
      <p:sp>
        <p:nvSpPr>
          <p:cNvPr id="14" name="Line 20">
            <a:extLst>
              <a:ext uri="{FF2B5EF4-FFF2-40B4-BE49-F238E27FC236}">
                <a16:creationId xmlns:a16="http://schemas.microsoft.com/office/drawing/2014/main" id="{6DAFF580-FD56-FD17-8AB8-ADEA40DED729}"/>
              </a:ext>
            </a:extLst>
          </p:cNvPr>
          <p:cNvSpPr>
            <a:spLocks noChangeShapeType="1"/>
          </p:cNvSpPr>
          <p:nvPr/>
        </p:nvSpPr>
        <p:spPr bwMode="auto">
          <a:xfrm>
            <a:off x="3048000" y="4829175"/>
            <a:ext cx="60960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15" name="Line 21">
            <a:extLst>
              <a:ext uri="{FF2B5EF4-FFF2-40B4-BE49-F238E27FC236}">
                <a16:creationId xmlns:a16="http://schemas.microsoft.com/office/drawing/2014/main" id="{058CA202-4EF9-515B-0E72-B7111BC419B2}"/>
              </a:ext>
            </a:extLst>
          </p:cNvPr>
          <p:cNvSpPr>
            <a:spLocks noChangeShapeType="1"/>
          </p:cNvSpPr>
          <p:nvPr/>
        </p:nvSpPr>
        <p:spPr bwMode="auto">
          <a:xfrm>
            <a:off x="3048000" y="5284788"/>
            <a:ext cx="6096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6" name="Line 22">
            <a:extLst>
              <a:ext uri="{FF2B5EF4-FFF2-40B4-BE49-F238E27FC236}">
                <a16:creationId xmlns:a16="http://schemas.microsoft.com/office/drawing/2014/main" id="{A1D2B90B-3A9E-DDBB-FE53-F92121F04B52}"/>
              </a:ext>
            </a:extLst>
          </p:cNvPr>
          <p:cNvSpPr>
            <a:spLocks noChangeShapeType="1"/>
          </p:cNvSpPr>
          <p:nvPr/>
        </p:nvSpPr>
        <p:spPr bwMode="auto">
          <a:xfrm>
            <a:off x="3048000" y="5740400"/>
            <a:ext cx="6096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7" name="Line 23">
            <a:extLst>
              <a:ext uri="{FF2B5EF4-FFF2-40B4-BE49-F238E27FC236}">
                <a16:creationId xmlns:a16="http://schemas.microsoft.com/office/drawing/2014/main" id="{157BAF48-378D-6F33-6ABE-39F39B8788DF}"/>
              </a:ext>
            </a:extLst>
          </p:cNvPr>
          <p:cNvSpPr>
            <a:spLocks noChangeShapeType="1"/>
          </p:cNvSpPr>
          <p:nvPr/>
        </p:nvSpPr>
        <p:spPr bwMode="auto">
          <a:xfrm>
            <a:off x="3048000" y="6196013"/>
            <a:ext cx="60960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8" name="Line 24">
            <a:extLst>
              <a:ext uri="{FF2B5EF4-FFF2-40B4-BE49-F238E27FC236}">
                <a16:creationId xmlns:a16="http://schemas.microsoft.com/office/drawing/2014/main" id="{9C2850D5-7DD2-3D8E-4E7E-271B5ED75D8C}"/>
              </a:ext>
            </a:extLst>
          </p:cNvPr>
          <p:cNvSpPr>
            <a:spLocks noChangeShapeType="1"/>
          </p:cNvSpPr>
          <p:nvPr/>
        </p:nvSpPr>
        <p:spPr bwMode="auto">
          <a:xfrm>
            <a:off x="3048000" y="4829175"/>
            <a:ext cx="0" cy="136683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9" name="Line 25">
            <a:extLst>
              <a:ext uri="{FF2B5EF4-FFF2-40B4-BE49-F238E27FC236}">
                <a16:creationId xmlns:a16="http://schemas.microsoft.com/office/drawing/2014/main" id="{51E14C94-9539-8618-5411-CC492C595B55}"/>
              </a:ext>
            </a:extLst>
          </p:cNvPr>
          <p:cNvSpPr>
            <a:spLocks noChangeShapeType="1"/>
          </p:cNvSpPr>
          <p:nvPr/>
        </p:nvSpPr>
        <p:spPr bwMode="auto">
          <a:xfrm>
            <a:off x="4008438" y="4829175"/>
            <a:ext cx="0" cy="1366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0" name="Line 26">
            <a:extLst>
              <a:ext uri="{FF2B5EF4-FFF2-40B4-BE49-F238E27FC236}">
                <a16:creationId xmlns:a16="http://schemas.microsoft.com/office/drawing/2014/main" id="{BF551061-6483-891F-1CC7-FB9DE29D117E}"/>
              </a:ext>
            </a:extLst>
          </p:cNvPr>
          <p:cNvSpPr>
            <a:spLocks noChangeShapeType="1"/>
          </p:cNvSpPr>
          <p:nvPr/>
        </p:nvSpPr>
        <p:spPr bwMode="auto">
          <a:xfrm>
            <a:off x="6096000" y="4829175"/>
            <a:ext cx="0" cy="1366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1" name="Line 27">
            <a:extLst>
              <a:ext uri="{FF2B5EF4-FFF2-40B4-BE49-F238E27FC236}">
                <a16:creationId xmlns:a16="http://schemas.microsoft.com/office/drawing/2014/main" id="{E39D84A6-B9CB-6005-1731-D611446CE9A6}"/>
              </a:ext>
            </a:extLst>
          </p:cNvPr>
          <p:cNvSpPr>
            <a:spLocks noChangeShapeType="1"/>
          </p:cNvSpPr>
          <p:nvPr/>
        </p:nvSpPr>
        <p:spPr bwMode="auto">
          <a:xfrm>
            <a:off x="7032625" y="4829175"/>
            <a:ext cx="0" cy="1366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2" name="Line 28">
            <a:extLst>
              <a:ext uri="{FF2B5EF4-FFF2-40B4-BE49-F238E27FC236}">
                <a16:creationId xmlns:a16="http://schemas.microsoft.com/office/drawing/2014/main" id="{BF821479-514F-629B-6F2F-57CA7DBA5528}"/>
              </a:ext>
            </a:extLst>
          </p:cNvPr>
          <p:cNvSpPr>
            <a:spLocks noChangeShapeType="1"/>
          </p:cNvSpPr>
          <p:nvPr/>
        </p:nvSpPr>
        <p:spPr bwMode="auto">
          <a:xfrm>
            <a:off x="9144000" y="4829175"/>
            <a:ext cx="0" cy="136683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3" name="AutoShape 43">
            <a:extLst>
              <a:ext uri="{FF2B5EF4-FFF2-40B4-BE49-F238E27FC236}">
                <a16:creationId xmlns:a16="http://schemas.microsoft.com/office/drawing/2014/main" id="{D6875D42-20DC-3475-0067-520564BF7BC6}"/>
              </a:ext>
            </a:extLst>
          </p:cNvPr>
          <p:cNvSpPr>
            <a:spLocks noChangeArrowheads="1"/>
          </p:cNvSpPr>
          <p:nvPr/>
        </p:nvSpPr>
        <p:spPr bwMode="auto">
          <a:xfrm>
            <a:off x="6242513" y="290513"/>
            <a:ext cx="914400" cy="609600"/>
          </a:xfrm>
          <a:prstGeom prst="wedgeRectCallout">
            <a:avLst>
              <a:gd name="adj1" fmla="val 53648"/>
              <a:gd name="adj2" fmla="val 134116"/>
            </a:avLst>
          </a:prstGeom>
          <a:solidFill>
            <a:schemeClr val="accent1"/>
          </a:solidFill>
          <a:ln w="9525">
            <a:solidFill>
              <a:schemeClr val="tx1"/>
            </a:solidFill>
            <a:miter lim="800000"/>
            <a:headEnd/>
            <a:tailEnd/>
          </a:ln>
        </p:spPr>
        <p:txBody>
          <a:bodyPr anchor="ctr" anchorCtr="1"/>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Aft>
                <a:spcPct val="0"/>
              </a:spcAft>
              <a:buClrTx/>
              <a:buSzTx/>
              <a:buFontTx/>
              <a:buNone/>
            </a:pPr>
            <a:r>
              <a:rPr kumimoji="1" lang="en-US" altLang="zh-CN" sz="3200">
                <a:solidFill>
                  <a:srgbClr val="000000"/>
                </a:solidFill>
                <a:latin typeface="Times New Roman" panose="02020603050405020304" pitchFamily="18" charset="0"/>
                <a:ea typeface="宋体" panose="02010600030101010101" pitchFamily="2" charset="-122"/>
              </a:rPr>
              <a:t>2</a:t>
            </a:r>
            <a:r>
              <a:rPr kumimoji="1" lang="en-US" altLang="zh-CN" sz="3200" baseline="30000">
                <a:solidFill>
                  <a:srgbClr val="000000"/>
                </a:solidFill>
                <a:latin typeface="Times New Roman" panose="02020603050405020304" pitchFamily="18" charset="0"/>
                <a:ea typeface="宋体" panose="02010600030101010101" pitchFamily="2" charset="-122"/>
              </a:rPr>
              <a:t>20</a:t>
            </a:r>
          </a:p>
        </p:txBody>
      </p:sp>
      <p:sp>
        <p:nvSpPr>
          <p:cNvPr id="24" name="AutoShape 45">
            <a:extLst>
              <a:ext uri="{FF2B5EF4-FFF2-40B4-BE49-F238E27FC236}">
                <a16:creationId xmlns:a16="http://schemas.microsoft.com/office/drawing/2014/main" id="{842908D3-A4E1-B92D-265F-8217E027A144}"/>
              </a:ext>
            </a:extLst>
          </p:cNvPr>
          <p:cNvSpPr>
            <a:spLocks noChangeArrowheads="1"/>
          </p:cNvSpPr>
          <p:nvPr/>
        </p:nvSpPr>
        <p:spPr bwMode="auto">
          <a:xfrm>
            <a:off x="8088313" y="290513"/>
            <a:ext cx="914400" cy="609600"/>
          </a:xfrm>
          <a:prstGeom prst="wedgeRectCallout">
            <a:avLst>
              <a:gd name="adj1" fmla="val 53648"/>
              <a:gd name="adj2" fmla="val 134116"/>
            </a:avLst>
          </a:prstGeom>
          <a:solidFill>
            <a:schemeClr val="accent1"/>
          </a:solidFill>
          <a:ln w="9525">
            <a:solidFill>
              <a:schemeClr val="tx1"/>
            </a:solidFill>
            <a:miter lim="800000"/>
            <a:headEnd/>
            <a:tailEnd/>
          </a:ln>
        </p:spPr>
        <p:txBody>
          <a:bodyPr anchor="ctr" anchorCtr="1"/>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ctr" eaLnBrk="1" hangingPunct="1">
              <a:lnSpc>
                <a:spcPct val="100000"/>
              </a:lnSpc>
              <a:spcAft>
                <a:spcPct val="0"/>
              </a:spcAft>
              <a:buClrTx/>
              <a:buSzTx/>
              <a:buFontTx/>
              <a:buNone/>
            </a:pPr>
            <a:r>
              <a:rPr kumimoji="1" lang="en-US" altLang="zh-CN" sz="3600" dirty="0">
                <a:solidFill>
                  <a:srgbClr val="000000"/>
                </a:solidFill>
                <a:latin typeface="Times New Roman" panose="02020603050405020304" pitchFamily="18" charset="0"/>
                <a:ea typeface="宋体" panose="02010600030101010101" pitchFamily="2" charset="-122"/>
              </a:rPr>
              <a:t>2</a:t>
            </a:r>
            <a:r>
              <a:rPr kumimoji="1" lang="en-US" altLang="zh-CN" sz="3600" baseline="30000" dirty="0">
                <a:solidFill>
                  <a:srgbClr val="000000"/>
                </a:solidFill>
                <a:latin typeface="Times New Roman" panose="02020603050405020304" pitchFamily="18" charset="0"/>
                <a:ea typeface="宋体" panose="02010600030101010101" pitchFamily="2" charset="-122"/>
              </a:rPr>
              <a:t>8</a:t>
            </a:r>
          </a:p>
        </p:txBody>
      </p:sp>
    </p:spTree>
    <p:extLst>
      <p:ext uri="{BB962C8B-B14F-4D97-AF65-F5344CB8AC3E}">
        <p14:creationId xmlns:p14="http://schemas.microsoft.com/office/powerpoint/2010/main" val="205131256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3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3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ACC83A-FAE4-4D0E-AAD8-07CED0A20B2A}"/>
              </a:ext>
            </a:extLst>
          </p:cNvPr>
          <p:cNvSpPr>
            <a:spLocks noGrp="1"/>
          </p:cNvSpPr>
          <p:nvPr>
            <p:ph idx="1"/>
          </p:nvPr>
        </p:nvSpPr>
        <p:spPr>
          <a:xfrm>
            <a:off x="544010" y="1188005"/>
            <a:ext cx="10468953" cy="4059716"/>
          </a:xfrm>
        </p:spPr>
        <p:txBody>
          <a:bodyPr/>
          <a:lstStyle/>
          <a:p>
            <a:pPr>
              <a:defRPr/>
            </a:pPr>
            <a:r>
              <a:rPr lang="zh-CN" altLang="en-US" sz="2800" b="1" dirty="0">
                <a:solidFill>
                  <a:schemeClr val="tx1"/>
                </a:solidFill>
                <a:ea typeface="宋体" panose="02010600030101010101" pitchFamily="2" charset="-122"/>
              </a:rPr>
              <a:t>例：假定系统页面大小为</a:t>
            </a:r>
            <a:r>
              <a:rPr lang="en-US" altLang="zh-CN" sz="2800" b="1" dirty="0">
                <a:solidFill>
                  <a:schemeClr val="tx1"/>
                </a:solidFill>
                <a:ea typeface="宋体" panose="02010600030101010101" pitchFamily="2" charset="-122"/>
              </a:rPr>
              <a:t>1KB</a:t>
            </a:r>
            <a:r>
              <a:rPr lang="zh-CN" altLang="en-US" sz="2800" b="1" dirty="0">
                <a:solidFill>
                  <a:schemeClr val="tx1"/>
                </a:solidFill>
                <a:ea typeface="宋体" panose="02010600030101010101" pitchFamily="2" charset="-122"/>
              </a:rPr>
              <a:t>，要访问逻辑地址为</a:t>
            </a:r>
            <a:r>
              <a:rPr lang="en-US" altLang="zh-CN" sz="2800" b="1" dirty="0">
                <a:solidFill>
                  <a:schemeClr val="tx1"/>
                </a:solidFill>
                <a:ea typeface="宋体" panose="02010600030101010101" pitchFamily="2" charset="-122"/>
              </a:rPr>
              <a:t>2200</a:t>
            </a:r>
            <a:r>
              <a:rPr lang="zh-CN" altLang="en-US" sz="2800" b="1" dirty="0">
                <a:solidFill>
                  <a:schemeClr val="tx1"/>
                </a:solidFill>
                <a:ea typeface="宋体" panose="02010600030101010101" pitchFamily="2" charset="-122"/>
              </a:rPr>
              <a:t>的数据，请问去内存什么地方访问？</a:t>
            </a:r>
            <a:endParaRPr lang="en-US" altLang="zh-CN" sz="2800" b="1" dirty="0">
              <a:solidFill>
                <a:schemeClr val="tx1"/>
              </a:solidFill>
              <a:ea typeface="宋体" panose="02010600030101010101" pitchFamily="2" charset="-122"/>
            </a:endParaRPr>
          </a:p>
          <a:p>
            <a:pPr marL="914400" lvl="1" indent="-457200">
              <a:buFont typeface="+mj-ea"/>
              <a:buAutoNum type="circleNumDbPlain"/>
              <a:defRPr/>
            </a:pPr>
            <a:r>
              <a:rPr lang="zh-CN" altLang="en-US" dirty="0">
                <a:solidFill>
                  <a:schemeClr val="tx1"/>
                </a:solidFill>
                <a:latin typeface="+mn-ea"/>
                <a:ea typeface="+mn-ea"/>
              </a:rPr>
              <a:t>首先要知道</a:t>
            </a:r>
            <a:r>
              <a:rPr lang="en-US" altLang="zh-CN" dirty="0">
                <a:solidFill>
                  <a:schemeClr val="tx1"/>
                </a:solidFill>
                <a:latin typeface="+mn-ea"/>
                <a:ea typeface="+mn-ea"/>
              </a:rPr>
              <a:t>2200</a:t>
            </a:r>
            <a:r>
              <a:rPr lang="zh-CN" altLang="en-US" dirty="0">
                <a:solidFill>
                  <a:schemeClr val="tx1"/>
                </a:solidFill>
                <a:latin typeface="+mn-ea"/>
                <a:ea typeface="+mn-ea"/>
              </a:rPr>
              <a:t>所处何页？页内偏移地址是多少？</a:t>
            </a:r>
            <a:endParaRPr lang="en-US" altLang="zh-CN" dirty="0">
              <a:solidFill>
                <a:schemeClr val="tx1"/>
              </a:solidFill>
              <a:latin typeface="+mn-ea"/>
              <a:ea typeface="+mn-ea"/>
            </a:endParaRPr>
          </a:p>
          <a:p>
            <a:pPr marL="914400" lvl="1" indent="-457200">
              <a:buFont typeface="+mj-ea"/>
              <a:buAutoNum type="circleNumDbPlain"/>
              <a:defRPr/>
            </a:pPr>
            <a:r>
              <a:rPr lang="zh-CN" altLang="en-US" dirty="0">
                <a:latin typeface="+mn-ea"/>
                <a:ea typeface="+mn-ea"/>
              </a:rPr>
              <a:t>找到该页放到内存的哪个块？计算该块首地址。  </a:t>
            </a:r>
            <a:r>
              <a:rPr lang="en-US" altLang="zh-CN" dirty="0">
                <a:latin typeface="+mn-ea"/>
                <a:ea typeface="+mn-ea"/>
              </a:rPr>
              <a:t>——</a:t>
            </a:r>
            <a:r>
              <a:rPr lang="zh-CN" altLang="en-US" dirty="0">
                <a:solidFill>
                  <a:srgbClr val="0000FF"/>
                </a:solidFill>
                <a:latin typeface="+mn-ea"/>
                <a:ea typeface="+mn-ea"/>
              </a:rPr>
              <a:t>查页表</a:t>
            </a:r>
            <a:endParaRPr lang="en-US" altLang="zh-CN" dirty="0">
              <a:solidFill>
                <a:srgbClr val="0000FF"/>
              </a:solidFill>
              <a:latin typeface="+mn-ea"/>
              <a:ea typeface="+mn-ea"/>
            </a:endParaRPr>
          </a:p>
          <a:p>
            <a:pPr marL="914400" lvl="1" indent="-457200">
              <a:buFont typeface="+mj-ea"/>
              <a:buAutoNum type="circleNumDbPlain"/>
              <a:defRPr/>
            </a:pPr>
            <a:r>
              <a:rPr lang="en-US" altLang="zh-CN" dirty="0">
                <a:latin typeface="+mn-ea"/>
                <a:ea typeface="+mn-ea"/>
              </a:rPr>
              <a:t>2200</a:t>
            </a:r>
            <a:r>
              <a:rPr lang="zh-CN" altLang="en-US" dirty="0">
                <a:latin typeface="+mn-ea"/>
                <a:ea typeface="+mn-ea"/>
              </a:rPr>
              <a:t>的</a:t>
            </a:r>
            <a:r>
              <a:rPr lang="zh-CN" altLang="en-US" dirty="0">
                <a:solidFill>
                  <a:srgbClr val="FF0000"/>
                </a:solidFill>
                <a:latin typeface="+mn-ea"/>
                <a:ea typeface="+mn-ea"/>
              </a:rPr>
              <a:t>页内地址即块内地址</a:t>
            </a:r>
            <a:r>
              <a:rPr lang="zh-CN" altLang="en-US" dirty="0">
                <a:latin typeface="+mn-ea"/>
                <a:ea typeface="+mn-ea"/>
              </a:rPr>
              <a:t>，</a:t>
            </a:r>
            <a:r>
              <a:rPr lang="en-US" altLang="zh-CN" dirty="0">
                <a:latin typeface="+mn-ea"/>
                <a:ea typeface="+mn-ea"/>
              </a:rPr>
              <a:t>2200</a:t>
            </a:r>
            <a:r>
              <a:rPr lang="zh-CN" altLang="en-US" dirty="0">
                <a:latin typeface="+mn-ea"/>
                <a:ea typeface="+mn-ea"/>
              </a:rPr>
              <a:t>的内存地址</a:t>
            </a:r>
            <a:r>
              <a:rPr lang="en-US" altLang="zh-CN" dirty="0">
                <a:latin typeface="+mn-ea"/>
                <a:ea typeface="+mn-ea"/>
              </a:rPr>
              <a:t>=</a:t>
            </a:r>
            <a:r>
              <a:rPr lang="zh-CN" altLang="en-US" dirty="0">
                <a:latin typeface="+mn-ea"/>
                <a:ea typeface="+mn-ea"/>
              </a:rPr>
              <a:t>块号</a:t>
            </a:r>
            <a:r>
              <a:rPr lang="en-US" altLang="zh-CN" dirty="0">
                <a:latin typeface="+mn-ea"/>
                <a:ea typeface="+mn-ea"/>
              </a:rPr>
              <a:t>*</a:t>
            </a:r>
            <a:r>
              <a:rPr lang="zh-CN" altLang="en-US" dirty="0">
                <a:latin typeface="+mn-ea"/>
                <a:ea typeface="+mn-ea"/>
              </a:rPr>
              <a:t>块长</a:t>
            </a:r>
            <a:r>
              <a:rPr lang="en-US" altLang="zh-CN" dirty="0">
                <a:latin typeface="+mn-ea"/>
                <a:ea typeface="+mn-ea"/>
              </a:rPr>
              <a:t>+</a:t>
            </a:r>
            <a:r>
              <a:rPr lang="zh-CN" altLang="en-US" dirty="0">
                <a:latin typeface="+mn-ea"/>
                <a:ea typeface="+mn-ea"/>
              </a:rPr>
              <a:t>页内地址</a:t>
            </a:r>
          </a:p>
        </p:txBody>
      </p:sp>
      <p:sp>
        <p:nvSpPr>
          <p:cNvPr id="4" name="标题 1">
            <a:extLst>
              <a:ext uri="{FF2B5EF4-FFF2-40B4-BE49-F238E27FC236}">
                <a16:creationId xmlns:a16="http://schemas.microsoft.com/office/drawing/2014/main" id="{C4C015E5-E319-4BE0-8463-E04282A54A2C}"/>
              </a:ext>
            </a:extLst>
          </p:cNvPr>
          <p:cNvSpPr>
            <a:spLocks noGrp="1"/>
          </p:cNvSpPr>
          <p:nvPr>
            <p:ph type="title"/>
          </p:nvPr>
        </p:nvSpPr>
        <p:spPr/>
        <p:txBody>
          <a:bodyPr/>
          <a:lstStyle/>
          <a:p>
            <a:pPr>
              <a:defRPr/>
            </a:pPr>
            <a:r>
              <a:rPr lang="en-US" altLang="zh-CN" dirty="0"/>
              <a:t>6.4.2 </a:t>
            </a:r>
            <a:r>
              <a:rPr lang="zh-CN" altLang="en-US" dirty="0"/>
              <a:t>地址转换</a:t>
            </a:r>
            <a:r>
              <a:rPr lang="en-US" altLang="zh-CN" dirty="0"/>
              <a:t>——</a:t>
            </a:r>
            <a:r>
              <a:rPr lang="zh-CN" altLang="en-US" dirty="0"/>
              <a:t>分页存储管理</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6.4.2</a:t>
            </a:r>
            <a:r>
              <a:rPr dirty="0"/>
              <a:t>地址变换</a:t>
            </a:r>
          </a:p>
        </p:txBody>
      </p:sp>
      <p:sp>
        <p:nvSpPr>
          <p:cNvPr id="3" name="内容占位符 2"/>
          <p:cNvSpPr>
            <a:spLocks noGrp="1"/>
          </p:cNvSpPr>
          <p:nvPr>
            <p:ph idx="1"/>
          </p:nvPr>
        </p:nvSpPr>
        <p:spPr>
          <a:xfrm>
            <a:off x="611505" y="1840219"/>
            <a:ext cx="10968990" cy="4015877"/>
          </a:xfrm>
        </p:spPr>
        <p:txBody>
          <a:bodyPr>
            <a:normAutofit/>
          </a:bodyPr>
          <a:lstStyle/>
          <a:p>
            <a:pPr marL="0" indent="0">
              <a:buNone/>
            </a:pPr>
            <a:r>
              <a:rPr lang="zh-CN" altLang="en-US" sz="2800" b="1" dirty="0"/>
              <a:t>1</a:t>
            </a:r>
            <a:r>
              <a:rPr lang="en-US" altLang="zh-CN" sz="2800" b="1" dirty="0"/>
              <a:t>.</a:t>
            </a:r>
            <a:r>
              <a:rPr lang="zh-CN" altLang="en-US" sz="2800" b="1" dirty="0"/>
              <a:t>基本地址变换机构</a:t>
            </a:r>
          </a:p>
          <a:p>
            <a:r>
              <a:rPr lang="zh-CN" altLang="en-US" sz="2600" dirty="0">
                <a:solidFill>
                  <a:srgbClr val="FF0000"/>
                </a:solidFill>
              </a:rPr>
              <a:t>页表寄存器</a:t>
            </a:r>
            <a:r>
              <a:rPr lang="zh-CN" altLang="en-US" sz="2600" dirty="0"/>
              <a:t>：用于存放</a:t>
            </a:r>
            <a:r>
              <a:rPr lang="zh-CN" altLang="en-US" sz="2600" b="1" dirty="0"/>
              <a:t>页表在内存的始址</a:t>
            </a:r>
            <a:r>
              <a:rPr lang="zh-CN" altLang="en-US" sz="2600" dirty="0"/>
              <a:t>和</a:t>
            </a:r>
            <a:r>
              <a:rPr lang="zh-CN" altLang="en-US" sz="2600" b="1" dirty="0"/>
              <a:t>页表的长度</a:t>
            </a:r>
            <a:r>
              <a:rPr lang="zh-CN" altLang="en-US" sz="2600" dirty="0"/>
              <a:t>。</a:t>
            </a:r>
          </a:p>
          <a:p>
            <a:pPr lvl="1"/>
            <a:r>
              <a:rPr lang="zh-CN" altLang="en-US" sz="2600" dirty="0"/>
              <a:t>某进程没有执行时，</a:t>
            </a:r>
            <a:r>
              <a:rPr lang="zh-CN" altLang="en-US" sz="2600" dirty="0">
                <a:solidFill>
                  <a:srgbClr val="0000FF"/>
                </a:solidFill>
              </a:rPr>
              <a:t>页表的始址和页表长度存放在该进程的</a:t>
            </a:r>
            <a:r>
              <a:rPr lang="zh-CN" altLang="en-US" sz="2600" dirty="0">
                <a:solidFill>
                  <a:srgbClr val="FF0000"/>
                </a:solidFill>
              </a:rPr>
              <a:t>PCB 中</a:t>
            </a:r>
            <a:endParaRPr lang="en-US" altLang="zh-CN" sz="2600" dirty="0">
              <a:solidFill>
                <a:srgbClr val="FF0000"/>
              </a:solidFill>
            </a:endParaRPr>
          </a:p>
          <a:p>
            <a:pPr lvl="1"/>
            <a:r>
              <a:rPr lang="zh-CN" altLang="en-US" sz="2600" dirty="0"/>
              <a:t>当调度程序调度到该进程时，系统再将这两个数据装入</a:t>
            </a:r>
            <a:r>
              <a:rPr lang="zh-CN" altLang="en-US" sz="2600" dirty="0">
                <a:solidFill>
                  <a:srgbClr val="0000FF"/>
                </a:solidFill>
              </a:rPr>
              <a:t>页表寄存器</a:t>
            </a:r>
            <a:r>
              <a:rPr lang="zh-CN" altLang="en-US" sz="2600" dirty="0"/>
              <a:t>。</a:t>
            </a:r>
          </a:p>
        </p:txBody>
      </p:sp>
      <p:pic>
        <p:nvPicPr>
          <p:cNvPr id="5" name="图片 4">
            <a:extLst>
              <a:ext uri="{FF2B5EF4-FFF2-40B4-BE49-F238E27FC236}">
                <a16:creationId xmlns:a16="http://schemas.microsoft.com/office/drawing/2014/main" id="{1D7EA45F-B878-435E-A4E3-47807DD124A0}"/>
              </a:ext>
            </a:extLst>
          </p:cNvPr>
          <p:cNvPicPr>
            <a:picLocks noChangeAspect="1"/>
          </p:cNvPicPr>
          <p:nvPr/>
        </p:nvPicPr>
        <p:blipFill rotWithShape="1">
          <a:blip r:embed="rId3">
            <a:extLst>
              <a:ext uri="{28A0092B-C50C-407E-A947-70E740481C1C}">
                <a14:useLocalDpi xmlns:a14="http://schemas.microsoft.com/office/drawing/2010/main" val="0"/>
              </a:ext>
            </a:extLst>
          </a:blip>
          <a:srcRect t="19681" r="299"/>
          <a:stretch/>
        </p:blipFill>
        <p:spPr>
          <a:xfrm>
            <a:off x="5742384" y="393538"/>
            <a:ext cx="3853029" cy="1606057"/>
          </a:xfrm>
          <a:prstGeom prst="rect">
            <a:avLst/>
          </a:prstGeom>
        </p:spPr>
      </p:pic>
    </p:spTree>
    <p:custDataLst>
      <p:tags r:id="rId1"/>
    </p:custDataLst>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6.4.2</a:t>
            </a:r>
            <a:r>
              <a:rPr dirty="0"/>
              <a:t>地址变换</a:t>
            </a:r>
            <a:r>
              <a:rPr lang="en-US" altLang="zh-CN" dirty="0"/>
              <a:t>——</a:t>
            </a:r>
            <a:r>
              <a:rPr lang="zh-CN" altLang="en-US" dirty="0"/>
              <a:t>地址变换过程 </a:t>
            </a:r>
            <a:endParaRPr dirty="0"/>
          </a:p>
        </p:txBody>
      </p:sp>
      <p:sp>
        <p:nvSpPr>
          <p:cNvPr id="3" name="内容占位符 2"/>
          <p:cNvSpPr>
            <a:spLocks noGrp="1"/>
          </p:cNvSpPr>
          <p:nvPr>
            <p:ph idx="1"/>
          </p:nvPr>
        </p:nvSpPr>
        <p:spPr>
          <a:xfrm>
            <a:off x="542056" y="819971"/>
            <a:ext cx="9551067" cy="705600"/>
          </a:xfrm>
        </p:spPr>
        <p:txBody>
          <a:bodyPr>
            <a:noAutofit/>
          </a:bodyPr>
          <a:lstStyle/>
          <a:p>
            <a:r>
              <a:rPr lang="zh-CN" altLang="en-US" sz="2800" dirty="0"/>
              <a:t>整个地址变换过程</a:t>
            </a:r>
            <a:r>
              <a:rPr lang="zh-CN" altLang="en-US" sz="2800" dirty="0">
                <a:solidFill>
                  <a:srgbClr val="FF0000"/>
                </a:solidFill>
              </a:rPr>
              <a:t>由硬件自动完成</a:t>
            </a:r>
            <a:r>
              <a:rPr lang="zh-CN" altLang="en-US" sz="2800" dirty="0"/>
              <a:t>。</a:t>
            </a:r>
          </a:p>
        </p:txBody>
      </p:sp>
      <p:grpSp>
        <p:nvGrpSpPr>
          <p:cNvPr id="6" name="组合 5">
            <a:extLst>
              <a:ext uri="{FF2B5EF4-FFF2-40B4-BE49-F238E27FC236}">
                <a16:creationId xmlns:a16="http://schemas.microsoft.com/office/drawing/2014/main" id="{7EC9DC38-6A8B-4D66-A018-B63D752EB898}"/>
              </a:ext>
            </a:extLst>
          </p:cNvPr>
          <p:cNvGrpSpPr/>
          <p:nvPr/>
        </p:nvGrpSpPr>
        <p:grpSpPr>
          <a:xfrm>
            <a:off x="976154" y="1525571"/>
            <a:ext cx="8784569" cy="5048849"/>
            <a:chOff x="976154" y="1525571"/>
            <a:chExt cx="8784569" cy="5048849"/>
          </a:xfrm>
        </p:grpSpPr>
        <p:pic>
          <p:nvPicPr>
            <p:cNvPr id="4" name="图片 3"/>
            <p:cNvPicPr>
              <a:picLocks noChangeAspect="1"/>
            </p:cNvPicPr>
            <p:nvPr>
              <p:custDataLst>
                <p:tags r:id="rId2"/>
              </p:custDataLst>
            </p:nvPr>
          </p:nvPicPr>
          <p:blipFill>
            <a:blip r:embed="rId5"/>
            <a:stretch>
              <a:fillRect/>
            </a:stretch>
          </p:blipFill>
          <p:spPr>
            <a:xfrm>
              <a:off x="976154" y="1525571"/>
              <a:ext cx="8784569" cy="5048849"/>
            </a:xfrm>
            <a:prstGeom prst="rect">
              <a:avLst/>
            </a:prstGeom>
          </p:spPr>
        </p:pic>
        <p:sp>
          <p:nvSpPr>
            <p:cNvPr id="5" name="椭圆 4">
              <a:extLst>
                <a:ext uri="{FF2B5EF4-FFF2-40B4-BE49-F238E27FC236}">
                  <a16:creationId xmlns:a16="http://schemas.microsoft.com/office/drawing/2014/main" id="{2B7B3DC6-7822-4B9D-9922-D93FCF344F3C}"/>
                </a:ext>
              </a:extLst>
            </p:cNvPr>
            <p:cNvSpPr/>
            <p:nvPr/>
          </p:nvSpPr>
          <p:spPr>
            <a:xfrm>
              <a:off x="3981691" y="2534855"/>
              <a:ext cx="358815" cy="405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FFFF00"/>
                  </a:solidFill>
                </a:rPr>
                <a:t>&lt;</a:t>
              </a:r>
              <a:endParaRPr lang="zh-CN" altLang="en-US" sz="2800" b="1" dirty="0">
                <a:solidFill>
                  <a:srgbClr val="FFFF00"/>
                </a:solidFill>
              </a:endParaRPr>
            </a:p>
          </p:txBody>
        </p:sp>
      </p:grpSp>
    </p:spTree>
    <p:custDataLst>
      <p:tags r:id="rId1"/>
    </p:custDataLst>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3">
            <a:extLst>
              <a:ext uri="{FF2B5EF4-FFF2-40B4-BE49-F238E27FC236}">
                <a16:creationId xmlns:a16="http://schemas.microsoft.com/office/drawing/2014/main" id="{F3DEC4F4-8DFB-4B21-B277-9986BD279700}"/>
              </a:ext>
            </a:extLst>
          </p:cNvPr>
          <p:cNvSpPr>
            <a:spLocks noGrp="1" noChangeArrowheads="1"/>
          </p:cNvSpPr>
          <p:nvPr>
            <p:ph type="dt" sz="quarter" idx="10"/>
          </p:nvPr>
        </p:nvSpPr>
        <p:spPr bwMode="auto">
          <a:xfrm>
            <a:off x="8534400" y="6553200"/>
            <a:ext cx="1905000"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r" eaLnBrk="1" hangingPunct="1">
              <a:lnSpc>
                <a:spcPct val="100000"/>
              </a:lnSpc>
              <a:spcAft>
                <a:spcPct val="0"/>
              </a:spcAft>
              <a:buClrTx/>
              <a:buSzTx/>
              <a:buFontTx/>
              <a:buNone/>
            </a:pPr>
            <a:fld id="{89CED157-4127-4AF8-9412-C52EEE49FF7D}" type="datetime1">
              <a:rPr lang="zh-CN" altLang="en-US" sz="1400">
                <a:solidFill>
                  <a:srgbClr val="000000"/>
                </a:solidFill>
                <a:latin typeface="Arial" panose="020B0604020202020204" pitchFamily="34" charset="0"/>
                <a:ea typeface="宋体" panose="02010600030101010101" pitchFamily="2" charset="-122"/>
              </a:rPr>
              <a:pPr algn="r" eaLnBrk="1" hangingPunct="1">
                <a:lnSpc>
                  <a:spcPct val="100000"/>
                </a:lnSpc>
                <a:spcAft>
                  <a:spcPct val="0"/>
                </a:spcAft>
                <a:buClrTx/>
                <a:buSzTx/>
                <a:buFontTx/>
                <a:buNone/>
              </a:pPr>
              <a:t>2025/11/23</a:t>
            </a:fld>
            <a:endParaRPr lang="en-US" altLang="zh-CN" sz="1400">
              <a:solidFill>
                <a:srgbClr val="000000"/>
              </a:solidFill>
              <a:latin typeface="Arial" panose="020B0604020202020204" pitchFamily="34" charset="0"/>
              <a:ea typeface="宋体" panose="02010600030101010101" pitchFamily="2" charset="-122"/>
            </a:endParaRPr>
          </a:p>
        </p:txBody>
      </p:sp>
      <p:sp>
        <p:nvSpPr>
          <p:cNvPr id="74755" name="Rectangle 2">
            <a:extLst>
              <a:ext uri="{FF2B5EF4-FFF2-40B4-BE49-F238E27FC236}">
                <a16:creationId xmlns:a16="http://schemas.microsoft.com/office/drawing/2014/main" id="{C0ED0009-D160-494F-B860-D3E0BFDAA70A}"/>
              </a:ext>
            </a:extLst>
          </p:cNvPr>
          <p:cNvSpPr>
            <a:spLocks noGrp="1"/>
          </p:cNvSpPr>
          <p:nvPr>
            <p:ph type="title" idx="4294967295"/>
          </p:nvPr>
        </p:nvSpPr>
        <p:spPr>
          <a:xfrm>
            <a:off x="1098014" y="215901"/>
            <a:ext cx="8229600" cy="774700"/>
          </a:xfrm>
        </p:spPr>
        <p:txBody>
          <a:bodyPr anchor="b"/>
          <a:lstStyle/>
          <a:p>
            <a:pPr eaLnBrk="1" hangingPunct="1"/>
            <a:r>
              <a:rPr lang="zh-CN" altLang="en-US" sz="3800" dirty="0">
                <a:solidFill>
                  <a:schemeClr val="tx1"/>
                </a:solidFill>
                <a:latin typeface="Times New Roman" panose="02020603050405020304" pitchFamily="18" charset="0"/>
              </a:rPr>
              <a:t>页式地址变换举例</a:t>
            </a:r>
            <a:endParaRPr lang="zh-CN" altLang="en-US" sz="3800" dirty="0">
              <a:latin typeface="Times New Roman" panose="02020603050405020304" pitchFamily="18" charset="0"/>
            </a:endParaRPr>
          </a:p>
        </p:txBody>
      </p:sp>
      <p:sp>
        <p:nvSpPr>
          <p:cNvPr id="74756" name="Rectangle 3">
            <a:extLst>
              <a:ext uri="{FF2B5EF4-FFF2-40B4-BE49-F238E27FC236}">
                <a16:creationId xmlns:a16="http://schemas.microsoft.com/office/drawing/2014/main" id="{AE1D9993-F5D6-4C7A-9083-FF3AB6670510}"/>
              </a:ext>
            </a:extLst>
          </p:cNvPr>
          <p:cNvSpPr>
            <a:spLocks noGrp="1"/>
          </p:cNvSpPr>
          <p:nvPr>
            <p:ph type="body" idx="4294967295"/>
          </p:nvPr>
        </p:nvSpPr>
        <p:spPr>
          <a:xfrm>
            <a:off x="789122" y="1215231"/>
            <a:ext cx="10455008" cy="1622425"/>
          </a:xfrm>
        </p:spPr>
        <p:txBody>
          <a:bodyPr>
            <a:normAutofit/>
          </a:bodyPr>
          <a:lstStyle/>
          <a:p>
            <a:pPr algn="just" eaLnBrk="1" hangingPunct="1"/>
            <a:r>
              <a:rPr lang="zh-CN" altLang="en-US" sz="2400" dirty="0">
                <a:solidFill>
                  <a:srgbClr val="000000"/>
                </a:solidFill>
                <a:latin typeface="宋体" panose="02010600030101010101" pitchFamily="2" charset="-122"/>
              </a:rPr>
              <a:t>例：有一系统采用页式存储管理，有一作业大小是8</a:t>
            </a:r>
            <a:r>
              <a:rPr lang="en-US" altLang="zh-CN" sz="2400" dirty="0">
                <a:solidFill>
                  <a:srgbClr val="000000"/>
                </a:solidFill>
                <a:latin typeface="宋体" panose="02010600030101010101" pitchFamily="2" charset="-122"/>
              </a:rPr>
              <a:t>KB，</a:t>
            </a:r>
            <a:r>
              <a:rPr lang="zh-CN" altLang="en-US" sz="2400" dirty="0">
                <a:solidFill>
                  <a:srgbClr val="000000"/>
                </a:solidFill>
                <a:latin typeface="宋体" panose="02010600030101010101" pitchFamily="2" charset="-122"/>
              </a:rPr>
              <a:t>页大小为2</a:t>
            </a:r>
            <a:r>
              <a:rPr lang="en-US" altLang="zh-CN" sz="2400" dirty="0">
                <a:solidFill>
                  <a:srgbClr val="000000"/>
                </a:solidFill>
                <a:latin typeface="宋体" panose="02010600030101010101" pitchFamily="2" charset="-122"/>
              </a:rPr>
              <a:t>KB，</a:t>
            </a:r>
            <a:r>
              <a:rPr lang="zh-CN" altLang="en-US" sz="2400" dirty="0">
                <a:solidFill>
                  <a:srgbClr val="000000"/>
                </a:solidFill>
                <a:latin typeface="宋体" panose="02010600030101010101" pitchFamily="2" charset="-122"/>
              </a:rPr>
              <a:t>依次装入内存的第7、9、10、5块，试将逻辑地址3412，7145转换成内存地址。</a:t>
            </a:r>
            <a:endParaRPr lang="zh-CN" altLang="en-US" sz="2400" dirty="0">
              <a:latin typeface="宋体" panose="02010600030101010101" pitchFamily="2" charset="-122"/>
            </a:endParaRPr>
          </a:p>
        </p:txBody>
      </p:sp>
      <p:sp>
        <p:nvSpPr>
          <p:cNvPr id="113669" name="Rectangle 3">
            <a:extLst>
              <a:ext uri="{FF2B5EF4-FFF2-40B4-BE49-F238E27FC236}">
                <a16:creationId xmlns:a16="http://schemas.microsoft.com/office/drawing/2014/main" id="{237C6E4E-76E7-409E-AF4F-F8532D37DC53}"/>
              </a:ext>
            </a:extLst>
          </p:cNvPr>
          <p:cNvSpPr>
            <a:spLocks noChangeArrowheads="1"/>
          </p:cNvSpPr>
          <p:nvPr/>
        </p:nvSpPr>
        <p:spPr bwMode="auto">
          <a:xfrm>
            <a:off x="1013553" y="2895601"/>
            <a:ext cx="5003074" cy="3413125"/>
          </a:xfrm>
          <a:prstGeom prst="rect">
            <a:avLst/>
          </a:prstGeom>
          <a:noFill/>
          <a:ln>
            <a:noFill/>
          </a:ln>
        </p:spPr>
        <p:txBody>
          <a:bodyPr/>
          <a:lstStyle/>
          <a:p>
            <a:pPr algn="just" eaLnBrk="1" hangingPunct="1">
              <a:spcBef>
                <a:spcPct val="20000"/>
              </a:spcBef>
              <a:buClr>
                <a:srgbClr val="CC9900"/>
              </a:buClr>
              <a:buSzPct val="65000"/>
              <a:defRPr/>
            </a:pPr>
            <a:r>
              <a:rPr lang="zh-CN" altLang="en-US" sz="2600" dirty="0">
                <a:solidFill>
                  <a:srgbClr val="000000"/>
                </a:solidFill>
                <a:latin typeface="宋体" pitchFamily="2" charset="-122"/>
              </a:rPr>
              <a:t>逻辑地址 3412</a:t>
            </a:r>
          </a:p>
          <a:p>
            <a:pPr marL="342900" indent="-342900" algn="just">
              <a:spcBef>
                <a:spcPct val="20000"/>
              </a:spcBef>
              <a:buClr>
                <a:srgbClr val="CC9900"/>
              </a:buClr>
              <a:buSzPct val="65000"/>
              <a:buFont typeface="Wingdings" pitchFamily="2" charset="2"/>
              <a:buChar char="n"/>
              <a:defRPr/>
            </a:pPr>
            <a:r>
              <a:rPr lang="en-US" altLang="zh-CN" sz="2600" dirty="0">
                <a:solidFill>
                  <a:srgbClr val="FF0000"/>
                </a:solidFill>
                <a:latin typeface="宋体" pitchFamily="2" charset="-122"/>
              </a:rPr>
              <a:t>P＝3412 / 2048 ＝1</a:t>
            </a:r>
          </a:p>
          <a:p>
            <a:pPr marL="342900" indent="-342900" algn="just">
              <a:spcBef>
                <a:spcPct val="20000"/>
              </a:spcBef>
              <a:buClr>
                <a:srgbClr val="CC9900"/>
              </a:buClr>
              <a:buSzPct val="65000"/>
              <a:buFont typeface="Wingdings" pitchFamily="2" charset="2"/>
              <a:buChar char="n"/>
              <a:defRPr/>
            </a:pPr>
            <a:r>
              <a:rPr lang="en-US" altLang="zh-CN" sz="2600" dirty="0">
                <a:solidFill>
                  <a:srgbClr val="000000"/>
                </a:solidFill>
                <a:latin typeface="宋体" pitchFamily="2" charset="-122"/>
              </a:rPr>
              <a:t>W＝ 3412 mod 2048</a:t>
            </a:r>
          </a:p>
          <a:p>
            <a:pPr marL="342900" indent="-342900" algn="just">
              <a:spcBef>
                <a:spcPct val="20000"/>
              </a:spcBef>
              <a:buClr>
                <a:srgbClr val="CC9900"/>
              </a:buClr>
              <a:buSzPct val="65000"/>
              <a:defRPr/>
            </a:pPr>
            <a:r>
              <a:rPr lang="en-US" altLang="zh-CN" sz="2600" dirty="0">
                <a:solidFill>
                  <a:srgbClr val="000000"/>
                </a:solidFill>
                <a:latin typeface="宋体" pitchFamily="2" charset="-122"/>
              </a:rPr>
              <a:t>   ＝ 1364</a:t>
            </a:r>
          </a:p>
          <a:p>
            <a:pPr marL="342900" indent="-342900" algn="just">
              <a:spcBef>
                <a:spcPct val="20000"/>
              </a:spcBef>
              <a:buClr>
                <a:srgbClr val="CC9900"/>
              </a:buClr>
              <a:buSzPct val="65000"/>
              <a:buFont typeface="Wingdings" pitchFamily="2" charset="2"/>
              <a:buChar char="n"/>
              <a:defRPr/>
            </a:pPr>
            <a:r>
              <a:rPr lang="en-US" altLang="zh-CN" sz="2600" dirty="0">
                <a:solidFill>
                  <a:srgbClr val="FF00FF"/>
                </a:solidFill>
                <a:latin typeface="宋体" pitchFamily="2" charset="-122"/>
              </a:rPr>
              <a:t>MR=9*2048+1364=19796</a:t>
            </a:r>
            <a:endParaRPr lang="en-US" altLang="zh-CN" sz="2600" dirty="0">
              <a:solidFill>
                <a:srgbClr val="000000"/>
              </a:solidFill>
              <a:latin typeface="宋体" pitchFamily="2" charset="-122"/>
            </a:endParaRPr>
          </a:p>
          <a:p>
            <a:pPr marL="342900" indent="-342900" algn="just">
              <a:spcBef>
                <a:spcPct val="20000"/>
              </a:spcBef>
              <a:buClr>
                <a:srgbClr val="CC9900"/>
              </a:buClr>
              <a:buSzPct val="65000"/>
              <a:buFont typeface="Wingdings" pitchFamily="2" charset="2"/>
              <a:buChar char="n"/>
              <a:defRPr/>
            </a:pPr>
            <a:r>
              <a:rPr lang="zh-CN" altLang="en-US" sz="2600" dirty="0">
                <a:solidFill>
                  <a:srgbClr val="000000"/>
                </a:solidFill>
                <a:latin typeface="宋体" pitchFamily="2" charset="-122"/>
              </a:rPr>
              <a:t>逻辑地址3412的内存地址是：19796</a:t>
            </a:r>
          </a:p>
        </p:txBody>
      </p:sp>
      <p:pic>
        <p:nvPicPr>
          <p:cNvPr id="74758" name="Picture 8">
            <a:extLst>
              <a:ext uri="{FF2B5EF4-FFF2-40B4-BE49-F238E27FC236}">
                <a16:creationId xmlns:a16="http://schemas.microsoft.com/office/drawing/2014/main" id="{D14A580A-E258-4ECA-B3BC-754273399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346" t="4765" r="6699" b="18956"/>
          <a:stretch>
            <a:fillRect/>
          </a:stretch>
        </p:blipFill>
        <p:spPr bwMode="auto">
          <a:xfrm>
            <a:off x="7084933" y="2484208"/>
            <a:ext cx="2718823" cy="395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366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66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366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366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366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4">
            <a:extLst>
              <a:ext uri="{FF2B5EF4-FFF2-40B4-BE49-F238E27FC236}">
                <a16:creationId xmlns:a16="http://schemas.microsoft.com/office/drawing/2014/main" id="{9A850989-AB6B-46D3-97A6-0F72A58A7DB5}"/>
              </a:ext>
            </a:extLst>
          </p:cNvPr>
          <p:cNvSpPr>
            <a:spLocks noGrp="1" noChangeArrowheads="1"/>
          </p:cNvSpPr>
          <p:nvPr>
            <p:ph type="dt" sz="quarter" idx="10"/>
          </p:nvPr>
        </p:nvSpPr>
        <p:spPr bwMode="auto">
          <a:xfrm>
            <a:off x="8534400" y="6553200"/>
            <a:ext cx="1905000"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r" eaLnBrk="1" hangingPunct="1">
              <a:lnSpc>
                <a:spcPct val="100000"/>
              </a:lnSpc>
              <a:spcAft>
                <a:spcPct val="0"/>
              </a:spcAft>
              <a:buClrTx/>
              <a:buSzTx/>
              <a:buFontTx/>
              <a:buNone/>
            </a:pPr>
            <a:fld id="{DED6A89E-39C8-4028-ABF3-239062AED601}" type="datetime1">
              <a:rPr lang="zh-CN" altLang="en-US" sz="1400">
                <a:solidFill>
                  <a:srgbClr val="000000"/>
                </a:solidFill>
                <a:latin typeface="Arial" panose="020B0604020202020204" pitchFamily="34" charset="0"/>
                <a:ea typeface="宋体" panose="02010600030101010101" pitchFamily="2" charset="-122"/>
              </a:rPr>
              <a:pPr algn="r" eaLnBrk="1" hangingPunct="1">
                <a:lnSpc>
                  <a:spcPct val="100000"/>
                </a:lnSpc>
                <a:spcAft>
                  <a:spcPct val="0"/>
                </a:spcAft>
                <a:buClrTx/>
                <a:buSzTx/>
                <a:buFontTx/>
                <a:buNone/>
              </a:pPr>
              <a:t>2025/11/23</a:t>
            </a:fld>
            <a:endParaRPr lang="en-US" altLang="zh-CN" sz="1400">
              <a:solidFill>
                <a:srgbClr val="000000"/>
              </a:solidFill>
              <a:latin typeface="Arial" panose="020B0604020202020204" pitchFamily="34" charset="0"/>
              <a:ea typeface="宋体" panose="02010600030101010101" pitchFamily="2" charset="-122"/>
            </a:endParaRPr>
          </a:p>
        </p:txBody>
      </p:sp>
      <p:sp>
        <p:nvSpPr>
          <p:cNvPr id="75779" name="Rectangle 2">
            <a:extLst>
              <a:ext uri="{FF2B5EF4-FFF2-40B4-BE49-F238E27FC236}">
                <a16:creationId xmlns:a16="http://schemas.microsoft.com/office/drawing/2014/main" id="{780892EE-DF07-4F9E-BF1A-0983D895533D}"/>
              </a:ext>
            </a:extLst>
          </p:cNvPr>
          <p:cNvSpPr>
            <a:spLocks noGrp="1"/>
          </p:cNvSpPr>
          <p:nvPr>
            <p:ph type="title" idx="4294967295"/>
          </p:nvPr>
        </p:nvSpPr>
        <p:spPr>
          <a:xfrm>
            <a:off x="1981200" y="277813"/>
            <a:ext cx="8229600" cy="774700"/>
          </a:xfrm>
        </p:spPr>
        <p:txBody>
          <a:bodyPr anchor="b"/>
          <a:lstStyle/>
          <a:p>
            <a:pPr eaLnBrk="1" hangingPunct="1"/>
            <a:r>
              <a:rPr lang="zh-CN" altLang="en-US" sz="3800">
                <a:solidFill>
                  <a:schemeClr val="tx1"/>
                </a:solidFill>
                <a:latin typeface="Times New Roman" panose="02020603050405020304" pitchFamily="18" charset="0"/>
              </a:rPr>
              <a:t>页式地址变换举例</a:t>
            </a:r>
            <a:endParaRPr lang="zh-CN" altLang="en-US" sz="3800">
              <a:latin typeface="Times New Roman" panose="02020603050405020304" pitchFamily="18" charset="0"/>
            </a:endParaRPr>
          </a:p>
        </p:txBody>
      </p:sp>
      <p:sp>
        <p:nvSpPr>
          <p:cNvPr id="18437" name="Rectangle 3">
            <a:extLst>
              <a:ext uri="{FF2B5EF4-FFF2-40B4-BE49-F238E27FC236}">
                <a16:creationId xmlns:a16="http://schemas.microsoft.com/office/drawing/2014/main" id="{2E901776-E8AF-4A7E-AF5B-2CAB6E098CE7}"/>
              </a:ext>
            </a:extLst>
          </p:cNvPr>
          <p:cNvSpPr>
            <a:spLocks noGrp="1" noChangeArrowheads="1"/>
          </p:cNvSpPr>
          <p:nvPr>
            <p:ph type="body" sz="half" idx="4294967295"/>
          </p:nvPr>
        </p:nvSpPr>
        <p:spPr>
          <a:xfrm>
            <a:off x="815249" y="1600200"/>
            <a:ext cx="6015766" cy="4572000"/>
          </a:xfrm>
        </p:spPr>
        <p:txBody>
          <a:bodyPr/>
          <a:lstStyle/>
          <a:p>
            <a:pPr marL="0" indent="0" algn="just">
              <a:buNone/>
              <a:defRPr/>
            </a:pPr>
            <a:r>
              <a:rPr lang="zh-CN" altLang="en-US" sz="2600" dirty="0">
                <a:solidFill>
                  <a:srgbClr val="000000"/>
                </a:solidFill>
                <a:latin typeface="Times New Roman" pitchFamily="18" charset="0"/>
              </a:rPr>
              <a:t>逻辑地址 7145</a:t>
            </a:r>
          </a:p>
          <a:p>
            <a:pPr algn="just" eaLnBrk="1" hangingPunct="1">
              <a:defRPr/>
            </a:pPr>
            <a:r>
              <a:rPr lang="en-US" altLang="zh-CN" sz="2600" dirty="0">
                <a:solidFill>
                  <a:srgbClr val="CC0000"/>
                </a:solidFill>
                <a:latin typeface="Times New Roman" pitchFamily="18" charset="0"/>
                <a:ea typeface="仿宋_GB2312"/>
                <a:cs typeface="仿宋_GB2312"/>
              </a:rPr>
              <a:t>P＝7145 / 2048 ＝3</a:t>
            </a:r>
            <a:endParaRPr lang="en-US" altLang="zh-CN" sz="2600" dirty="0">
              <a:solidFill>
                <a:srgbClr val="000000"/>
              </a:solidFill>
              <a:latin typeface="Times New Roman" pitchFamily="18" charset="0"/>
              <a:ea typeface="仿宋_GB2312"/>
              <a:cs typeface="仿宋_GB2312"/>
            </a:endParaRPr>
          </a:p>
          <a:p>
            <a:pPr algn="just" eaLnBrk="1" hangingPunct="1">
              <a:defRPr/>
            </a:pPr>
            <a:r>
              <a:rPr lang="en-US" altLang="zh-CN" sz="2600" dirty="0">
                <a:solidFill>
                  <a:srgbClr val="000000"/>
                </a:solidFill>
                <a:latin typeface="Times New Roman" pitchFamily="18" charset="0"/>
                <a:ea typeface="仿宋_GB2312"/>
                <a:cs typeface="仿宋_GB2312"/>
              </a:rPr>
              <a:t>W＝7145 mod 2048</a:t>
            </a:r>
          </a:p>
          <a:p>
            <a:pPr algn="just" eaLnBrk="1" hangingPunct="1">
              <a:buFont typeface="Wingdings" panose="05000000000000000000" pitchFamily="2" charset="2"/>
              <a:buNone/>
              <a:defRPr/>
            </a:pPr>
            <a:r>
              <a:rPr lang="en-US" altLang="zh-CN" sz="2600" dirty="0">
                <a:solidFill>
                  <a:srgbClr val="000000"/>
                </a:solidFill>
                <a:latin typeface="Times New Roman" pitchFamily="18" charset="0"/>
                <a:ea typeface="仿宋_GB2312"/>
                <a:cs typeface="仿宋_GB2312"/>
              </a:rPr>
              <a:t>   ＝1001</a:t>
            </a:r>
          </a:p>
          <a:p>
            <a:pPr algn="just" eaLnBrk="1" hangingPunct="1">
              <a:defRPr/>
            </a:pPr>
            <a:r>
              <a:rPr lang="en-US" altLang="zh-CN" sz="2600" dirty="0">
                <a:solidFill>
                  <a:srgbClr val="FF00FF"/>
                </a:solidFill>
                <a:latin typeface="Times New Roman" pitchFamily="18" charset="0"/>
              </a:rPr>
              <a:t>MR=5*2048+1001=11241</a:t>
            </a:r>
            <a:endParaRPr lang="en-US" altLang="zh-CN" sz="2600" dirty="0">
              <a:solidFill>
                <a:srgbClr val="000000"/>
              </a:solidFill>
              <a:latin typeface="Times New Roman" pitchFamily="18" charset="0"/>
            </a:endParaRPr>
          </a:p>
          <a:p>
            <a:pPr eaLnBrk="1" hangingPunct="1">
              <a:defRPr/>
            </a:pPr>
            <a:r>
              <a:rPr lang="zh-CN" altLang="en-US" sz="2600" dirty="0">
                <a:solidFill>
                  <a:srgbClr val="000000"/>
                </a:solidFill>
                <a:latin typeface="Times New Roman" pitchFamily="18" charset="0"/>
              </a:rPr>
              <a:t>逻辑地址7145的内存地址是：</a:t>
            </a:r>
            <a:r>
              <a:rPr lang="zh-CN" altLang="en-US" sz="2600" dirty="0">
                <a:solidFill>
                  <a:srgbClr val="CC0000"/>
                </a:solidFill>
                <a:latin typeface="Times New Roman" pitchFamily="18" charset="0"/>
              </a:rPr>
              <a:t>11241</a:t>
            </a:r>
          </a:p>
          <a:p>
            <a:pPr algn="just" eaLnBrk="1" hangingPunct="1">
              <a:defRPr/>
            </a:pPr>
            <a:endParaRPr lang="zh-CN" altLang="en-US" sz="2600" dirty="0">
              <a:solidFill>
                <a:srgbClr val="000000"/>
              </a:solidFill>
              <a:latin typeface="Times New Roman" pitchFamily="18" charset="0"/>
            </a:endParaRPr>
          </a:p>
        </p:txBody>
      </p:sp>
      <p:graphicFrame>
        <p:nvGraphicFramePr>
          <p:cNvPr id="75781" name="Object 4">
            <a:extLst>
              <a:ext uri="{FF2B5EF4-FFF2-40B4-BE49-F238E27FC236}">
                <a16:creationId xmlns:a16="http://schemas.microsoft.com/office/drawing/2014/main" id="{217208CD-967B-4EF5-BB5E-7D9AE6AB8DA9}"/>
              </a:ext>
            </a:extLst>
          </p:cNvPr>
          <p:cNvGraphicFramePr>
            <a:graphicFrameLocks noGrp="1" noChangeAspect="1"/>
          </p:cNvGraphicFramePr>
          <p:nvPr>
            <p:ph sz="half" idx="4294967295"/>
            <p:extLst>
              <p:ext uri="{D42A27DB-BD31-4B8C-83A1-F6EECF244321}">
                <p14:modId xmlns:p14="http://schemas.microsoft.com/office/powerpoint/2010/main" val="227723743"/>
              </p:ext>
            </p:extLst>
          </p:nvPr>
        </p:nvGraphicFramePr>
        <p:xfrm>
          <a:off x="7544161" y="323491"/>
          <a:ext cx="3885477" cy="5848709"/>
        </p:xfrm>
        <a:graphic>
          <a:graphicData uri="http://schemas.openxmlformats.org/presentationml/2006/ole">
            <mc:AlternateContent xmlns:mc="http://schemas.openxmlformats.org/markup-compatibility/2006">
              <mc:Choice xmlns:v="urn:schemas-microsoft-com:vml" Requires="v">
                <p:oleObj name="BMP 图象" r:id="rId2" imgW="1276190" imgH="1848108" progId="PBrush">
                  <p:embed/>
                </p:oleObj>
              </mc:Choice>
              <mc:Fallback>
                <p:oleObj name="BMP 图象" r:id="rId2" imgW="1276190" imgH="1848108" progId="PBrush">
                  <p:embed/>
                  <p:pic>
                    <p:nvPicPr>
                      <p:cNvPr id="75781" name="Object 4">
                        <a:extLst>
                          <a:ext uri="{FF2B5EF4-FFF2-40B4-BE49-F238E27FC236}">
                            <a16:creationId xmlns:a16="http://schemas.microsoft.com/office/drawing/2014/main" id="{217208CD-967B-4EF5-BB5E-7D9AE6AB8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4161" y="323491"/>
                        <a:ext cx="3885477" cy="5848709"/>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4">
            <a:extLst>
              <a:ext uri="{FF2B5EF4-FFF2-40B4-BE49-F238E27FC236}">
                <a16:creationId xmlns:a16="http://schemas.microsoft.com/office/drawing/2014/main" id="{C14272B8-15E9-4318-88E6-971FF8DBE3F3}"/>
              </a:ext>
            </a:extLst>
          </p:cNvPr>
          <p:cNvSpPr>
            <a:spLocks noGrp="1" noChangeArrowheads="1"/>
          </p:cNvSpPr>
          <p:nvPr>
            <p:ph type="dt" sz="quarter" idx="10"/>
          </p:nvPr>
        </p:nvSpPr>
        <p:spPr bwMode="auto">
          <a:xfrm>
            <a:off x="8534400" y="6553200"/>
            <a:ext cx="1905000"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r" eaLnBrk="1" hangingPunct="1">
              <a:lnSpc>
                <a:spcPct val="100000"/>
              </a:lnSpc>
              <a:spcAft>
                <a:spcPct val="0"/>
              </a:spcAft>
              <a:buClrTx/>
              <a:buSzTx/>
              <a:buFontTx/>
              <a:buNone/>
            </a:pPr>
            <a:fld id="{B77C9A3D-EEAF-4D11-98C5-4BF2690064D9}" type="datetime1">
              <a:rPr lang="zh-CN" altLang="en-US" sz="1400">
                <a:solidFill>
                  <a:srgbClr val="000000"/>
                </a:solidFill>
                <a:latin typeface="Arial" panose="020B0604020202020204" pitchFamily="34" charset="0"/>
                <a:ea typeface="宋体" panose="02010600030101010101" pitchFamily="2" charset="-122"/>
              </a:rPr>
              <a:pPr algn="r" eaLnBrk="1" hangingPunct="1">
                <a:lnSpc>
                  <a:spcPct val="100000"/>
                </a:lnSpc>
                <a:spcAft>
                  <a:spcPct val="0"/>
                </a:spcAft>
                <a:buClrTx/>
                <a:buSzTx/>
                <a:buFontTx/>
                <a:buNone/>
              </a:pPr>
              <a:t>2025/11/23</a:t>
            </a:fld>
            <a:endParaRPr lang="en-US" altLang="zh-CN" sz="1400">
              <a:solidFill>
                <a:srgbClr val="000000"/>
              </a:solidFill>
              <a:latin typeface="Arial" panose="020B0604020202020204" pitchFamily="34" charset="0"/>
              <a:ea typeface="宋体" panose="02010600030101010101" pitchFamily="2" charset="-122"/>
            </a:endParaRPr>
          </a:p>
        </p:txBody>
      </p:sp>
      <p:sp>
        <p:nvSpPr>
          <p:cNvPr id="71683" name="Rectangle 2">
            <a:extLst>
              <a:ext uri="{FF2B5EF4-FFF2-40B4-BE49-F238E27FC236}">
                <a16:creationId xmlns:a16="http://schemas.microsoft.com/office/drawing/2014/main" id="{6A885F0F-CB70-4ADF-AE73-258DB7B4C822}"/>
              </a:ext>
            </a:extLst>
          </p:cNvPr>
          <p:cNvSpPr>
            <a:spLocks noGrp="1"/>
          </p:cNvSpPr>
          <p:nvPr>
            <p:ph type="title" idx="4294967295"/>
          </p:nvPr>
        </p:nvSpPr>
        <p:spPr>
          <a:xfrm>
            <a:off x="1981200" y="277814"/>
            <a:ext cx="8229600" cy="630237"/>
          </a:xfrm>
        </p:spPr>
        <p:txBody>
          <a:bodyPr anchor="b">
            <a:normAutofit fontScale="90000"/>
          </a:bodyPr>
          <a:lstStyle/>
          <a:p>
            <a:pPr eaLnBrk="1" hangingPunct="1"/>
            <a:r>
              <a:rPr lang="zh-CN" altLang="en-US" sz="3800">
                <a:solidFill>
                  <a:schemeClr val="tx1"/>
                </a:solidFill>
                <a:latin typeface="Times New Roman" panose="02020603050405020304" pitchFamily="18" charset="0"/>
              </a:rPr>
              <a:t>页式地址变换举例</a:t>
            </a:r>
            <a:endParaRPr lang="zh-CN" altLang="en-US" sz="3800">
              <a:latin typeface="Times New Roman" panose="02020603050405020304" pitchFamily="18" charset="0"/>
            </a:endParaRPr>
          </a:p>
        </p:txBody>
      </p:sp>
      <p:sp>
        <p:nvSpPr>
          <p:cNvPr id="40964" name="Rectangle 3">
            <a:extLst>
              <a:ext uri="{FF2B5EF4-FFF2-40B4-BE49-F238E27FC236}">
                <a16:creationId xmlns:a16="http://schemas.microsoft.com/office/drawing/2014/main" id="{371D95F3-F935-4953-AB53-6AABA4388CBF}"/>
              </a:ext>
            </a:extLst>
          </p:cNvPr>
          <p:cNvSpPr>
            <a:spLocks noGrp="1"/>
          </p:cNvSpPr>
          <p:nvPr>
            <p:ph type="body" sz="half" idx="4294967295"/>
          </p:nvPr>
        </p:nvSpPr>
        <p:spPr>
          <a:xfrm>
            <a:off x="509286" y="981075"/>
            <a:ext cx="6450315" cy="5327650"/>
          </a:xfrm>
        </p:spPr>
        <p:txBody>
          <a:bodyPr>
            <a:noAutofit/>
          </a:bodyPr>
          <a:lstStyle/>
          <a:p>
            <a:pPr marL="0" indent="0" algn="just">
              <a:buNone/>
            </a:pPr>
            <a:r>
              <a:rPr lang="zh-CN" altLang="en-US" sz="2400" dirty="0">
                <a:solidFill>
                  <a:srgbClr val="000000"/>
                </a:solidFill>
                <a:latin typeface="宋体" panose="02010600030101010101" pitchFamily="2" charset="-122"/>
              </a:rPr>
              <a:t>例：有一系统采用页式存储管理，有一作业大小是8</a:t>
            </a:r>
            <a:r>
              <a:rPr lang="en-US" altLang="zh-CN" sz="2400" dirty="0">
                <a:solidFill>
                  <a:srgbClr val="000000"/>
                </a:solidFill>
                <a:latin typeface="宋体" panose="02010600030101010101" pitchFamily="2" charset="-122"/>
              </a:rPr>
              <a:t>KB，</a:t>
            </a:r>
            <a:r>
              <a:rPr lang="zh-CN" altLang="en-US" sz="2400" dirty="0">
                <a:solidFill>
                  <a:srgbClr val="000000"/>
                </a:solidFill>
                <a:latin typeface="宋体" panose="02010600030101010101" pitchFamily="2" charset="-122"/>
              </a:rPr>
              <a:t>页大小为2</a:t>
            </a:r>
            <a:r>
              <a:rPr lang="en-US" altLang="zh-CN" sz="2400" dirty="0">
                <a:solidFill>
                  <a:srgbClr val="000000"/>
                </a:solidFill>
                <a:latin typeface="宋体" panose="02010600030101010101" pitchFamily="2" charset="-122"/>
              </a:rPr>
              <a:t>KB，</a:t>
            </a:r>
            <a:r>
              <a:rPr lang="zh-CN" altLang="en-US" sz="2400" dirty="0">
                <a:solidFill>
                  <a:srgbClr val="000000"/>
                </a:solidFill>
                <a:latin typeface="宋体" panose="02010600030101010101" pitchFamily="2" charset="-122"/>
              </a:rPr>
              <a:t>依次装入内存的第7、9、</a:t>
            </a:r>
            <a:r>
              <a:rPr lang="en-US" altLang="zh-CN" sz="2400" dirty="0">
                <a:solidFill>
                  <a:srgbClr val="000000"/>
                </a:solidFill>
                <a:latin typeface="宋体" panose="02010600030101010101" pitchFamily="2" charset="-122"/>
              </a:rPr>
              <a:t>A、5</a:t>
            </a:r>
            <a:r>
              <a:rPr lang="zh-CN" altLang="en-US" sz="2400" dirty="0">
                <a:solidFill>
                  <a:srgbClr val="000000"/>
                </a:solidFill>
                <a:latin typeface="宋体" panose="02010600030101010101" pitchFamily="2" charset="-122"/>
              </a:rPr>
              <a:t>块，试将虚地址0</a:t>
            </a:r>
            <a:r>
              <a:rPr lang="en-US" altLang="zh-CN" sz="2400" dirty="0">
                <a:solidFill>
                  <a:srgbClr val="000000"/>
                </a:solidFill>
                <a:latin typeface="宋体" panose="02010600030101010101" pitchFamily="2" charset="-122"/>
              </a:rPr>
              <a:t>AFEH，1ADDH</a:t>
            </a:r>
            <a:r>
              <a:rPr lang="zh-CN" altLang="en-US" sz="2400" dirty="0">
                <a:solidFill>
                  <a:srgbClr val="000000"/>
                </a:solidFill>
                <a:latin typeface="宋体" panose="02010600030101010101" pitchFamily="2" charset="-122"/>
              </a:rPr>
              <a:t>转换成内存地址。</a:t>
            </a:r>
          </a:p>
          <a:p>
            <a:pPr marL="0" indent="0" algn="just">
              <a:buNone/>
            </a:pPr>
            <a:r>
              <a:rPr lang="zh-CN" altLang="en-US" sz="2400" dirty="0">
                <a:solidFill>
                  <a:srgbClr val="000000"/>
                </a:solidFill>
                <a:latin typeface="宋体" panose="02010600030101010101" pitchFamily="2" charset="-122"/>
              </a:rPr>
              <a:t>虚地址0</a:t>
            </a:r>
            <a:r>
              <a:rPr lang="en-US" altLang="zh-CN" sz="2400" dirty="0">
                <a:solidFill>
                  <a:srgbClr val="000000"/>
                </a:solidFill>
                <a:latin typeface="宋体" panose="02010600030101010101" pitchFamily="2" charset="-122"/>
              </a:rPr>
              <a:t>AFEH</a:t>
            </a:r>
          </a:p>
          <a:p>
            <a:pPr marL="0" indent="0" algn="just"/>
            <a:r>
              <a:rPr lang="en-US" altLang="zh-CN" sz="2400" dirty="0">
                <a:solidFill>
                  <a:srgbClr val="000000"/>
                </a:solidFill>
                <a:latin typeface="宋体" panose="02010600030101010101" pitchFamily="2" charset="-122"/>
              </a:rPr>
              <a:t>0000 1</a:t>
            </a:r>
            <a:r>
              <a:rPr lang="en-US" altLang="zh-CN" sz="2400" dirty="0">
                <a:solidFill>
                  <a:srgbClr val="FF00FF"/>
                </a:solidFill>
                <a:latin typeface="宋体" panose="02010600030101010101" pitchFamily="2" charset="-122"/>
              </a:rPr>
              <a:t>010 1111 1110</a:t>
            </a:r>
          </a:p>
          <a:p>
            <a:pPr marL="0" indent="0" algn="just"/>
            <a:r>
              <a:rPr lang="zh-CN" altLang="en-US" sz="2400" dirty="0">
                <a:solidFill>
                  <a:srgbClr val="000000"/>
                </a:solidFill>
                <a:latin typeface="宋体" panose="02010600030101010101" pitchFamily="2" charset="-122"/>
              </a:rPr>
              <a:t>页号</a:t>
            </a:r>
            <a:r>
              <a:rPr lang="en-US" altLang="zh-CN" sz="2400" dirty="0">
                <a:solidFill>
                  <a:srgbClr val="000000"/>
                </a:solidFill>
                <a:latin typeface="宋体" panose="02010600030101010101" pitchFamily="2" charset="-122"/>
              </a:rPr>
              <a:t>P＝1     </a:t>
            </a:r>
          </a:p>
          <a:p>
            <a:pPr marL="0" indent="0" algn="just"/>
            <a:r>
              <a:rPr lang="zh-CN" altLang="en-US" sz="2400" dirty="0">
                <a:solidFill>
                  <a:srgbClr val="000000"/>
                </a:solidFill>
                <a:latin typeface="宋体" panose="02010600030101010101" pitchFamily="2" charset="-122"/>
              </a:rPr>
              <a:t>页内地址</a:t>
            </a:r>
            <a:r>
              <a:rPr lang="en-US" altLang="zh-CN" sz="2400" dirty="0">
                <a:solidFill>
                  <a:srgbClr val="000000"/>
                </a:solidFill>
                <a:latin typeface="宋体" panose="02010600030101010101" pitchFamily="2" charset="-122"/>
              </a:rPr>
              <a:t>W＝010 1111 1110</a:t>
            </a:r>
          </a:p>
          <a:p>
            <a:pPr marL="0" indent="0" algn="just"/>
            <a:r>
              <a:rPr lang="en-US" altLang="zh-CN" sz="2400" dirty="0">
                <a:solidFill>
                  <a:srgbClr val="000000"/>
                </a:solidFill>
                <a:latin typeface="宋体" panose="02010600030101010101" pitchFamily="2" charset="-122"/>
              </a:rPr>
              <a:t>MR＝0100 1</a:t>
            </a:r>
            <a:r>
              <a:rPr lang="en-US" altLang="zh-CN" sz="2400" dirty="0">
                <a:solidFill>
                  <a:srgbClr val="FF00FF"/>
                </a:solidFill>
                <a:latin typeface="宋体" panose="02010600030101010101" pitchFamily="2" charset="-122"/>
              </a:rPr>
              <a:t>010 1111 1110</a:t>
            </a:r>
          </a:p>
          <a:p>
            <a:pPr marL="0" indent="0" algn="just"/>
            <a:r>
              <a:rPr lang="en-US" altLang="zh-CN" sz="2400" dirty="0">
                <a:solidFill>
                  <a:srgbClr val="FF00FF"/>
                </a:solidFill>
                <a:latin typeface="宋体" panose="02010600030101010101" pitchFamily="2" charset="-122"/>
              </a:rPr>
              <a:t>  ＝4AFEH</a:t>
            </a:r>
            <a:endParaRPr lang="en-US" altLang="zh-CN" sz="2400" dirty="0">
              <a:latin typeface="宋体" panose="02010600030101010101" pitchFamily="2" charset="-122"/>
            </a:endParaRPr>
          </a:p>
        </p:txBody>
      </p:sp>
      <p:graphicFrame>
        <p:nvGraphicFramePr>
          <p:cNvPr id="71685" name="Object 4">
            <a:extLst>
              <a:ext uri="{FF2B5EF4-FFF2-40B4-BE49-F238E27FC236}">
                <a16:creationId xmlns:a16="http://schemas.microsoft.com/office/drawing/2014/main" id="{725D7109-0EDF-49C2-B767-4577F505A71B}"/>
              </a:ext>
            </a:extLst>
          </p:cNvPr>
          <p:cNvGraphicFramePr>
            <a:graphicFrameLocks noGrp="1" noChangeAspect="1"/>
          </p:cNvGraphicFramePr>
          <p:nvPr>
            <p:ph type="clipArt" sz="half" idx="4294967295"/>
            <p:extLst>
              <p:ext uri="{D42A27DB-BD31-4B8C-83A1-F6EECF244321}">
                <p14:modId xmlns:p14="http://schemas.microsoft.com/office/powerpoint/2010/main" val="949997107"/>
              </p:ext>
            </p:extLst>
          </p:nvPr>
        </p:nvGraphicFramePr>
        <p:xfrm>
          <a:off x="7672387" y="981074"/>
          <a:ext cx="4323181" cy="4667371"/>
        </p:xfrm>
        <a:graphic>
          <a:graphicData uri="http://schemas.openxmlformats.org/presentationml/2006/ole">
            <mc:AlternateContent xmlns:mc="http://schemas.openxmlformats.org/markup-compatibility/2006">
              <mc:Choice xmlns:v="urn:schemas-microsoft-com:vml" Requires="v">
                <p:oleObj name="BMP 图象" r:id="rId3" imgW="1580952" imgH="1476190" progId="PBrush">
                  <p:embed/>
                </p:oleObj>
              </mc:Choice>
              <mc:Fallback>
                <p:oleObj name="BMP 图象" r:id="rId3" imgW="1580952" imgH="1476190" progId="PBrush">
                  <p:embed/>
                  <p:pic>
                    <p:nvPicPr>
                      <p:cNvPr id="71685" name="Object 4">
                        <a:extLst>
                          <a:ext uri="{FF2B5EF4-FFF2-40B4-BE49-F238E27FC236}">
                            <a16:creationId xmlns:a16="http://schemas.microsoft.com/office/drawing/2014/main" id="{725D7109-0EDF-49C2-B767-4577F505A7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2387" y="981074"/>
                        <a:ext cx="4323181" cy="4667371"/>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4">
            <a:extLst>
              <a:ext uri="{FF2B5EF4-FFF2-40B4-BE49-F238E27FC236}">
                <a16:creationId xmlns:a16="http://schemas.microsoft.com/office/drawing/2014/main" id="{CC7082D8-55FF-4C80-9721-DA533B65553A}"/>
              </a:ext>
            </a:extLst>
          </p:cNvPr>
          <p:cNvSpPr>
            <a:spLocks noGrp="1" noChangeArrowheads="1"/>
          </p:cNvSpPr>
          <p:nvPr>
            <p:ph type="dt" sz="quarter" idx="10"/>
          </p:nvPr>
        </p:nvSpPr>
        <p:spPr bwMode="auto">
          <a:xfrm>
            <a:off x="8534400" y="6553200"/>
            <a:ext cx="1905000"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00FF"/>
              </a:buClr>
              <a:buSzPct val="90000"/>
              <a:buFont typeface="Wingdings" panose="05000000000000000000" pitchFamily="2" charset="2"/>
              <a:buChar char="u"/>
              <a:defRPr sz="2200">
                <a:solidFill>
                  <a:srgbClr val="0D0D0D"/>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Arial" panose="020B0604020202020204" pitchFamily="34" charset="0"/>
                <a:ea typeface="幼圆" panose="02010509060101010101" pitchFamily="49" charset="-122"/>
              </a:defRPr>
            </a:lvl3pPr>
            <a:lvl4pPr marL="1600200" indent="-228600">
              <a:lnSpc>
                <a:spcPct val="150000"/>
              </a:lnSpc>
              <a:spcAft>
                <a:spcPts val="300"/>
              </a:spcAft>
              <a:buClr>
                <a:srgbClr val="F16517"/>
              </a:buClr>
              <a:buFont typeface="Wingdings" panose="05000000000000000000" pitchFamily="2" charset="2"/>
              <a:buChar char="l"/>
              <a:defRPr>
                <a:solidFill>
                  <a:schemeClr val="tx1"/>
                </a:solidFill>
                <a:latin typeface="黑体" panose="02010609060101010101" pitchFamily="49" charset="-122"/>
                <a:ea typeface="黑体" panose="02010609060101010101"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黑体" panose="02010609060101010101" pitchFamily="49" charset="-122"/>
                <a:ea typeface="黑体" panose="02010609060101010101" pitchFamily="49" charset="-122"/>
              </a:defRPr>
            </a:lvl9pPr>
          </a:lstStyle>
          <a:p>
            <a:pPr algn="r" eaLnBrk="1" hangingPunct="1">
              <a:lnSpc>
                <a:spcPct val="100000"/>
              </a:lnSpc>
              <a:spcAft>
                <a:spcPct val="0"/>
              </a:spcAft>
              <a:buClrTx/>
              <a:buSzTx/>
              <a:buFontTx/>
              <a:buNone/>
            </a:pPr>
            <a:fld id="{9B83F9BE-0DF9-41C6-8DAE-791C4C432074}" type="datetime1">
              <a:rPr lang="zh-CN" altLang="en-US" sz="1400">
                <a:solidFill>
                  <a:srgbClr val="000000"/>
                </a:solidFill>
                <a:latin typeface="Arial" panose="020B0604020202020204" pitchFamily="34" charset="0"/>
                <a:ea typeface="宋体" panose="02010600030101010101" pitchFamily="2" charset="-122"/>
              </a:rPr>
              <a:pPr algn="r" eaLnBrk="1" hangingPunct="1">
                <a:lnSpc>
                  <a:spcPct val="100000"/>
                </a:lnSpc>
                <a:spcAft>
                  <a:spcPct val="0"/>
                </a:spcAft>
                <a:buClrTx/>
                <a:buSzTx/>
                <a:buFontTx/>
                <a:buNone/>
              </a:pPr>
              <a:t>2025/11/23</a:t>
            </a:fld>
            <a:endParaRPr lang="en-US" altLang="zh-CN" sz="1400">
              <a:solidFill>
                <a:srgbClr val="000000"/>
              </a:solidFill>
              <a:latin typeface="Arial" panose="020B0604020202020204" pitchFamily="34" charset="0"/>
              <a:ea typeface="宋体" panose="02010600030101010101" pitchFamily="2" charset="-122"/>
            </a:endParaRPr>
          </a:p>
        </p:txBody>
      </p:sp>
      <p:sp>
        <p:nvSpPr>
          <p:cNvPr id="73731" name="Rectangle 2">
            <a:extLst>
              <a:ext uri="{FF2B5EF4-FFF2-40B4-BE49-F238E27FC236}">
                <a16:creationId xmlns:a16="http://schemas.microsoft.com/office/drawing/2014/main" id="{1F230F24-9D9A-4A1F-9E96-647E62BF0FB1}"/>
              </a:ext>
            </a:extLst>
          </p:cNvPr>
          <p:cNvSpPr>
            <a:spLocks noGrp="1"/>
          </p:cNvSpPr>
          <p:nvPr>
            <p:ph type="title" idx="4294967295"/>
          </p:nvPr>
        </p:nvSpPr>
        <p:spPr/>
        <p:txBody>
          <a:bodyPr anchor="b"/>
          <a:lstStyle/>
          <a:p>
            <a:pPr eaLnBrk="1" hangingPunct="1"/>
            <a:r>
              <a:rPr lang="zh-CN" altLang="en-US" sz="3800">
                <a:solidFill>
                  <a:schemeClr val="tx1"/>
                </a:solidFill>
                <a:latin typeface="Times New Roman" panose="02020603050405020304" pitchFamily="18" charset="0"/>
              </a:rPr>
              <a:t>页式地址变换举例</a:t>
            </a:r>
            <a:endParaRPr lang="zh-CN" altLang="en-US" sz="3800">
              <a:latin typeface="Times New Roman" panose="02020603050405020304" pitchFamily="18" charset="0"/>
            </a:endParaRPr>
          </a:p>
        </p:txBody>
      </p:sp>
      <p:sp>
        <p:nvSpPr>
          <p:cNvPr id="17413" name="Rectangle 3">
            <a:extLst>
              <a:ext uri="{FF2B5EF4-FFF2-40B4-BE49-F238E27FC236}">
                <a16:creationId xmlns:a16="http://schemas.microsoft.com/office/drawing/2014/main" id="{3A18D772-71BC-4EE4-803F-C47902CAC0B2}"/>
              </a:ext>
            </a:extLst>
          </p:cNvPr>
          <p:cNvSpPr>
            <a:spLocks noGrp="1" noChangeArrowheads="1"/>
          </p:cNvSpPr>
          <p:nvPr>
            <p:ph type="body" sz="half" idx="4294967295"/>
          </p:nvPr>
        </p:nvSpPr>
        <p:spPr>
          <a:xfrm>
            <a:off x="429658" y="1608137"/>
            <a:ext cx="5586967" cy="4214813"/>
          </a:xfrm>
        </p:spPr>
        <p:txBody>
          <a:bodyPr>
            <a:noAutofit/>
          </a:bodyPr>
          <a:lstStyle/>
          <a:p>
            <a:pPr marL="0" indent="0" algn="just">
              <a:buNone/>
              <a:defRPr/>
            </a:pPr>
            <a:r>
              <a:rPr lang="zh-CN" altLang="en-US" sz="2800" dirty="0">
                <a:solidFill>
                  <a:srgbClr val="000000"/>
                </a:solidFill>
                <a:latin typeface="宋体" pitchFamily="2" charset="-122"/>
              </a:rPr>
              <a:t>虚地址1</a:t>
            </a:r>
            <a:r>
              <a:rPr lang="en-US" altLang="zh-CN" sz="2800" dirty="0">
                <a:solidFill>
                  <a:srgbClr val="000000"/>
                </a:solidFill>
                <a:latin typeface="宋体" pitchFamily="2" charset="-122"/>
              </a:rPr>
              <a:t>ADDH</a:t>
            </a:r>
          </a:p>
          <a:p>
            <a:pPr algn="just" eaLnBrk="1" hangingPunct="1">
              <a:defRPr/>
            </a:pPr>
            <a:r>
              <a:rPr lang="en-US" altLang="zh-CN" sz="2800" dirty="0">
                <a:solidFill>
                  <a:srgbClr val="FF00FF"/>
                </a:solidFill>
                <a:latin typeface="宋体" pitchFamily="2" charset="-122"/>
              </a:rPr>
              <a:t>0001 1</a:t>
            </a:r>
            <a:r>
              <a:rPr lang="en-US" altLang="zh-CN" sz="2800" dirty="0">
                <a:solidFill>
                  <a:srgbClr val="FF0000"/>
                </a:solidFill>
                <a:latin typeface="宋体" pitchFamily="2" charset="-122"/>
              </a:rPr>
              <a:t>010 1101 1101</a:t>
            </a:r>
            <a:endParaRPr lang="en-US" altLang="zh-CN" sz="2800" dirty="0">
              <a:solidFill>
                <a:srgbClr val="0000FF"/>
              </a:solidFill>
              <a:latin typeface="宋体" pitchFamily="2" charset="-122"/>
            </a:endParaRPr>
          </a:p>
          <a:p>
            <a:pPr algn="just" eaLnBrk="1" hangingPunct="1">
              <a:defRPr/>
            </a:pPr>
            <a:r>
              <a:rPr lang="en-US" altLang="zh-CN" sz="2800" dirty="0">
                <a:latin typeface="宋体" pitchFamily="2" charset="-122"/>
              </a:rPr>
              <a:t>P＝3</a:t>
            </a:r>
          </a:p>
          <a:p>
            <a:pPr algn="just" eaLnBrk="1" hangingPunct="1">
              <a:defRPr/>
            </a:pPr>
            <a:r>
              <a:rPr lang="en-US" altLang="zh-CN" sz="2800" dirty="0">
                <a:solidFill>
                  <a:srgbClr val="0000FF"/>
                </a:solidFill>
                <a:latin typeface="宋体" pitchFamily="2" charset="-122"/>
              </a:rPr>
              <a:t>W＝010 1101 1101</a:t>
            </a:r>
          </a:p>
          <a:p>
            <a:pPr algn="just" eaLnBrk="1" hangingPunct="1">
              <a:defRPr/>
            </a:pPr>
            <a:r>
              <a:rPr lang="en-US" altLang="zh-CN" sz="2800" dirty="0">
                <a:solidFill>
                  <a:srgbClr val="FF0000"/>
                </a:solidFill>
                <a:latin typeface="宋体" pitchFamily="2" charset="-122"/>
              </a:rPr>
              <a:t>MR</a:t>
            </a:r>
            <a:r>
              <a:rPr lang="en-US" altLang="zh-CN" sz="2800" dirty="0">
                <a:solidFill>
                  <a:srgbClr val="0000FF"/>
                </a:solidFill>
                <a:latin typeface="宋体" pitchFamily="2" charset="-122"/>
              </a:rPr>
              <a:t>＝0010 1</a:t>
            </a:r>
            <a:r>
              <a:rPr lang="en-US" altLang="zh-CN" sz="2800" dirty="0">
                <a:solidFill>
                  <a:srgbClr val="CC0000"/>
                </a:solidFill>
                <a:latin typeface="宋体" pitchFamily="2" charset="-122"/>
              </a:rPr>
              <a:t>010 1101 1101</a:t>
            </a:r>
            <a:r>
              <a:rPr lang="en-US" altLang="zh-CN" sz="2800" dirty="0">
                <a:solidFill>
                  <a:srgbClr val="0000FF"/>
                </a:solidFill>
                <a:latin typeface="宋体" pitchFamily="2" charset="-122"/>
              </a:rPr>
              <a:t>＝2ADDH</a:t>
            </a:r>
          </a:p>
          <a:p>
            <a:pPr eaLnBrk="1" hangingPunct="1">
              <a:defRPr/>
            </a:pPr>
            <a:endParaRPr lang="zh-CN" altLang="en-US" sz="2800" dirty="0">
              <a:latin typeface="宋体" pitchFamily="2" charset="-122"/>
            </a:endParaRPr>
          </a:p>
        </p:txBody>
      </p:sp>
      <p:graphicFrame>
        <p:nvGraphicFramePr>
          <p:cNvPr id="73733" name="Object 4">
            <a:extLst>
              <a:ext uri="{FF2B5EF4-FFF2-40B4-BE49-F238E27FC236}">
                <a16:creationId xmlns:a16="http://schemas.microsoft.com/office/drawing/2014/main" id="{EAD7EDC6-173F-426D-964C-BF204B9077D5}"/>
              </a:ext>
            </a:extLst>
          </p:cNvPr>
          <p:cNvGraphicFramePr>
            <a:graphicFrameLocks noGrp="1" noChangeAspect="1"/>
          </p:cNvGraphicFramePr>
          <p:nvPr>
            <p:ph type="clipArt" sz="half" idx="4294967295"/>
          </p:nvPr>
        </p:nvGraphicFramePr>
        <p:xfrm>
          <a:off x="6175376" y="1905000"/>
          <a:ext cx="4035425" cy="3917950"/>
        </p:xfrm>
        <a:graphic>
          <a:graphicData uri="http://schemas.openxmlformats.org/presentationml/2006/ole">
            <mc:AlternateContent xmlns:mc="http://schemas.openxmlformats.org/markup-compatibility/2006">
              <mc:Choice xmlns:v="urn:schemas-microsoft-com:vml" Requires="v">
                <p:oleObj name="BMP 图象" r:id="rId2" imgW="1580952" imgH="1476190" progId="PBrush">
                  <p:embed/>
                </p:oleObj>
              </mc:Choice>
              <mc:Fallback>
                <p:oleObj name="BMP 图象" r:id="rId2" imgW="1580952" imgH="1476190" progId="PBrush">
                  <p:embed/>
                  <p:pic>
                    <p:nvPicPr>
                      <p:cNvPr id="73733" name="Object 4">
                        <a:extLst>
                          <a:ext uri="{FF2B5EF4-FFF2-40B4-BE49-F238E27FC236}">
                            <a16:creationId xmlns:a16="http://schemas.microsoft.com/office/drawing/2014/main" id="{EAD7EDC6-173F-426D-964C-BF204B9077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376" y="1905000"/>
                        <a:ext cx="4035425" cy="391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6.4.2</a:t>
            </a:r>
            <a:r>
              <a:t>地址变换</a:t>
            </a:r>
            <a:r>
              <a:rPr lang="en-US" altLang="zh-CN"/>
              <a:t>——</a:t>
            </a:r>
            <a:r>
              <a:t>基本地址变换机构</a:t>
            </a:r>
          </a:p>
        </p:txBody>
      </p:sp>
      <p:sp>
        <p:nvSpPr>
          <p:cNvPr id="3" name="内容占位符 2"/>
          <p:cNvSpPr>
            <a:spLocks noGrp="1"/>
          </p:cNvSpPr>
          <p:nvPr>
            <p:ph idx="1"/>
          </p:nvPr>
        </p:nvSpPr>
        <p:spPr>
          <a:xfrm>
            <a:off x="611715" y="972273"/>
            <a:ext cx="10968990" cy="5278055"/>
          </a:xfrm>
        </p:spPr>
        <p:txBody>
          <a:bodyPr>
            <a:noAutofit/>
          </a:bodyPr>
          <a:lstStyle/>
          <a:p>
            <a:pPr lvl="0">
              <a:lnSpc>
                <a:spcPct val="150000"/>
              </a:lnSpc>
            </a:pPr>
            <a:r>
              <a:rPr lang="zh-CN" altLang="en-US" sz="2600" dirty="0"/>
              <a:t>由于</a:t>
            </a:r>
            <a:r>
              <a:rPr lang="zh-CN" altLang="en-US" sz="2600" dirty="0">
                <a:solidFill>
                  <a:srgbClr val="FF0000"/>
                </a:solidFill>
              </a:rPr>
              <a:t>页表存放在内存</a:t>
            </a:r>
            <a:r>
              <a:rPr lang="zh-CN" altLang="en-US" sz="2600" dirty="0"/>
              <a:t>，所以每当CPU 执行读写内存的指令时都需要访问内存两次：</a:t>
            </a:r>
          </a:p>
          <a:p>
            <a:pPr lvl="1">
              <a:lnSpc>
                <a:spcPct val="150000"/>
              </a:lnSpc>
            </a:pPr>
            <a:r>
              <a:rPr lang="zh-CN" altLang="en-US" sz="2600" dirty="0">
                <a:solidFill>
                  <a:srgbClr val="0000FF"/>
                </a:solidFill>
              </a:rPr>
              <a:t>第一次是读取页表，</a:t>
            </a:r>
            <a:r>
              <a:rPr lang="zh-CN" altLang="en-US" sz="2600" dirty="0"/>
              <a:t>进行地址变换，获得物理地址；</a:t>
            </a:r>
          </a:p>
          <a:p>
            <a:pPr lvl="1">
              <a:lnSpc>
                <a:spcPct val="150000"/>
              </a:lnSpc>
            </a:pPr>
            <a:r>
              <a:rPr lang="zh-CN" altLang="en-US" sz="2600" dirty="0">
                <a:solidFill>
                  <a:srgbClr val="0000FF"/>
                </a:solidFill>
              </a:rPr>
              <a:t>第二次</a:t>
            </a:r>
            <a:r>
              <a:rPr lang="zh-CN" altLang="en-US" sz="2600" dirty="0"/>
              <a:t>是根据物理地址</a:t>
            </a:r>
            <a:r>
              <a:rPr lang="zh-CN" altLang="en-US" sz="2600" dirty="0">
                <a:solidFill>
                  <a:srgbClr val="0000FF"/>
                </a:solidFill>
              </a:rPr>
              <a:t>去内存访问所需要的数据。</a:t>
            </a:r>
          </a:p>
          <a:p>
            <a:pPr lvl="0">
              <a:lnSpc>
                <a:spcPct val="150000"/>
              </a:lnSpc>
            </a:pPr>
            <a:r>
              <a:rPr lang="zh-CN" altLang="en-US" sz="2600" dirty="0"/>
              <a:t>这导致读写内存的指令</a:t>
            </a:r>
            <a:r>
              <a:rPr lang="zh-CN" altLang="en-US" sz="2600" dirty="0">
                <a:solidFill>
                  <a:srgbClr val="FF0000"/>
                </a:solidFill>
              </a:rPr>
              <a:t>处理速度降低了近一半</a:t>
            </a:r>
            <a:r>
              <a:rPr lang="zh-CN" altLang="en-US" sz="2600" dirty="0"/>
              <a:t>。</a:t>
            </a:r>
          </a:p>
          <a:p>
            <a:pPr lvl="0">
              <a:lnSpc>
                <a:spcPct val="150000"/>
              </a:lnSpc>
            </a:pPr>
            <a:r>
              <a:rPr lang="zh-CN" altLang="en-US" sz="2600" dirty="0"/>
              <a:t>分页存储管理采用</a:t>
            </a:r>
            <a:r>
              <a:rPr lang="zh-CN" altLang="en-US" sz="2600" dirty="0">
                <a:solidFill>
                  <a:srgbClr val="0000FF"/>
                </a:solidFill>
              </a:rPr>
              <a:t>离散分配方式提高内存空间利用率是以降低内存访问指令执行效率为代价的</a:t>
            </a:r>
            <a:r>
              <a:rPr lang="zh-CN" altLang="en-US" sz="2600" dirty="0"/>
              <a:t>，这个代价是高昂的。</a:t>
            </a:r>
          </a:p>
          <a:p>
            <a:pPr marL="0" lvl="0" indent="0">
              <a:lnSpc>
                <a:spcPct val="150000"/>
              </a:lnSpc>
              <a:buNone/>
            </a:pPr>
            <a:r>
              <a:rPr lang="zh-CN" altLang="en-US" sz="2600" dirty="0"/>
              <a:t>                                       </a:t>
            </a:r>
            <a:r>
              <a:rPr lang="en-US" altLang="zh-CN" sz="2600" dirty="0"/>
              <a:t>——</a:t>
            </a:r>
            <a:r>
              <a:rPr sz="2600" dirty="0"/>
              <a:t>具有快表的地址变换机构</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6.4.2</a:t>
            </a:r>
            <a:r>
              <a:rPr>
                <a:sym typeface="+mn-ea"/>
              </a:rPr>
              <a:t>地址变换</a:t>
            </a:r>
            <a:endParaRPr lang="zh-CN" altLang="en-US"/>
          </a:p>
        </p:txBody>
      </p:sp>
      <p:sp>
        <p:nvSpPr>
          <p:cNvPr id="3" name="内容占位符 2"/>
          <p:cNvSpPr>
            <a:spLocks noGrp="1"/>
          </p:cNvSpPr>
          <p:nvPr>
            <p:ph idx="1"/>
          </p:nvPr>
        </p:nvSpPr>
        <p:spPr>
          <a:xfrm>
            <a:off x="399776" y="819971"/>
            <a:ext cx="10968990" cy="5303038"/>
          </a:xfrm>
        </p:spPr>
        <p:txBody>
          <a:bodyPr>
            <a:noAutofit/>
          </a:bodyPr>
          <a:lstStyle/>
          <a:p>
            <a:pPr marL="0" indent="0">
              <a:buNone/>
            </a:pPr>
            <a:r>
              <a:rPr lang="en-US" altLang="zh-CN" sz="2800" b="1" dirty="0"/>
              <a:t>2.</a:t>
            </a:r>
            <a:r>
              <a:rPr sz="2800" b="1" dirty="0">
                <a:sym typeface="+mn-ea"/>
              </a:rPr>
              <a:t>具有快表的地址变换机构</a:t>
            </a:r>
            <a:endParaRPr lang="zh-CN" altLang="en-US" sz="2800" b="1" dirty="0"/>
          </a:p>
          <a:p>
            <a:r>
              <a:rPr lang="zh-CN" altLang="en-US" sz="2800" dirty="0"/>
              <a:t>为了提高地址变换速度，增设一个可并行查询的</a:t>
            </a:r>
            <a:r>
              <a:rPr lang="zh-CN" altLang="en-US" sz="2800" dirty="0">
                <a:solidFill>
                  <a:srgbClr val="0000FF"/>
                </a:solidFill>
              </a:rPr>
              <a:t>高速联想存储器</a:t>
            </a:r>
            <a:r>
              <a:rPr lang="zh-CN" altLang="en-US" sz="2800" dirty="0"/>
              <a:t>，又称为联想存储器，构成一张快表。</a:t>
            </a:r>
          </a:p>
          <a:p>
            <a:pPr lvl="1"/>
            <a:r>
              <a:rPr lang="zh-CN" altLang="en-US" sz="2800" dirty="0">
                <a:solidFill>
                  <a:srgbClr val="0000FF"/>
                </a:solidFill>
              </a:rPr>
              <a:t>快表用于存放当前访问最频繁的页表项</a:t>
            </a:r>
            <a:r>
              <a:rPr lang="zh-CN" altLang="en-US" sz="2800" dirty="0"/>
              <a:t>。</a:t>
            </a:r>
            <a:endParaRPr lang="en-US" altLang="zh-CN" sz="2800" dirty="0"/>
          </a:p>
          <a:p>
            <a:pPr lvl="1"/>
            <a:endParaRPr lang="en-US" altLang="zh-CN" sz="2800" dirty="0"/>
          </a:p>
          <a:p>
            <a:r>
              <a:rPr lang="zh-CN" altLang="en-US" sz="2800" dirty="0"/>
              <a:t>在快表中查页表，可能有</a:t>
            </a:r>
            <a:r>
              <a:rPr lang="en-US" altLang="zh-CN" sz="2800" dirty="0"/>
              <a:t>2</a:t>
            </a:r>
            <a:r>
              <a:rPr lang="zh-CN" altLang="en-US" sz="2800" dirty="0"/>
              <a:t>种情况：</a:t>
            </a:r>
            <a:endParaRPr lang="en-US" altLang="zh-CN" sz="2800" dirty="0"/>
          </a:p>
          <a:p>
            <a:pPr lvl="1"/>
            <a:r>
              <a:rPr lang="zh-CN" altLang="en-US" sz="2800" dirty="0"/>
              <a:t>若该页号在快表中</a:t>
            </a:r>
            <a:r>
              <a:rPr lang="zh-CN" altLang="en-US" sz="2800" dirty="0">
                <a:solidFill>
                  <a:srgbClr val="FF0000"/>
                </a:solidFill>
              </a:rPr>
              <a:t>能找到</a:t>
            </a:r>
            <a:r>
              <a:rPr lang="zh-CN" altLang="en-US" sz="2800" dirty="0"/>
              <a:t>，则根据对应的物理块号形成物理地址。</a:t>
            </a:r>
          </a:p>
          <a:p>
            <a:pPr lvl="1"/>
            <a:r>
              <a:rPr lang="zh-CN" altLang="en-US" sz="2800" dirty="0"/>
              <a:t>若该页号在快表中</a:t>
            </a:r>
            <a:r>
              <a:rPr lang="zh-CN" altLang="en-US" sz="2800" dirty="0">
                <a:solidFill>
                  <a:srgbClr val="FF0000"/>
                </a:solidFill>
              </a:rPr>
              <a:t>找不到</a:t>
            </a:r>
            <a:r>
              <a:rPr lang="zh-CN" altLang="en-US" sz="2800" dirty="0"/>
              <a:t>，则再到内存中访问页表。</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6.4.2</a:t>
            </a:r>
            <a:r>
              <a:rPr>
                <a:sym typeface="+mn-ea"/>
              </a:rPr>
              <a:t>地址变换</a:t>
            </a:r>
            <a:r>
              <a:rPr lang="en-US" altLang="zh-CN">
                <a:sym typeface="+mn-ea"/>
              </a:rPr>
              <a:t>——</a:t>
            </a:r>
            <a:r>
              <a:rPr>
                <a:sym typeface="+mn-ea"/>
              </a:rPr>
              <a:t>具有快表的地址变换机构</a:t>
            </a:r>
            <a:endParaRPr lang="zh-CN" altLang="en-US"/>
          </a:p>
        </p:txBody>
      </p:sp>
      <p:pic>
        <p:nvPicPr>
          <p:cNvPr id="4" name="内容占位符 3"/>
          <p:cNvPicPr>
            <a:picLocks noGrp="1" noChangeAspect="1"/>
          </p:cNvPicPr>
          <p:nvPr>
            <p:ph idx="1"/>
            <p:custDataLst>
              <p:tags r:id="rId2"/>
            </p:custDataLst>
          </p:nvPr>
        </p:nvPicPr>
        <p:blipFill>
          <a:blip r:embed="rId4"/>
          <a:stretch>
            <a:fillRect/>
          </a:stretch>
        </p:blipFill>
        <p:spPr>
          <a:xfrm>
            <a:off x="2381250" y="1209040"/>
            <a:ext cx="6651625" cy="3606800"/>
          </a:xfrm>
          <a:prstGeom prst="rect">
            <a:avLst/>
          </a:prstGeom>
        </p:spPr>
      </p:pic>
      <p:sp>
        <p:nvSpPr>
          <p:cNvPr id="6" name="内容占位符 2"/>
          <p:cNvSpPr>
            <a:spLocks noGrp="1"/>
          </p:cNvSpPr>
          <p:nvPr/>
        </p:nvSpPr>
        <p:spPr>
          <a:xfrm>
            <a:off x="611505" y="4999990"/>
            <a:ext cx="10968990" cy="124968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err="1"/>
              <a:t>有统计数据表明，从快表中找到所需页表项的概率</a:t>
            </a:r>
            <a:r>
              <a:rPr lang="zh-CN" altLang="en-US" dirty="0"/>
              <a:t>（命中率）</a:t>
            </a:r>
            <a:r>
              <a:rPr lang="en-US" altLang="zh-CN" dirty="0"/>
              <a:t>可达90%以上。这样，因增加地址变换机构而造成的速度损失可减少到10%以下。</a:t>
            </a:r>
          </a:p>
        </p:txBody>
      </p:sp>
    </p:spTree>
    <p:custDataLst>
      <p:tags r:id="rId1"/>
    </p:custDataLst>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B7815A1-45D8-AE92-0430-395156A34D0A}"/>
              </a:ext>
            </a:extLst>
          </p:cNvPr>
          <p:cNvSpPr txBox="1">
            <a:spLocks/>
          </p:cNvSpPr>
          <p:nvPr/>
        </p:nvSpPr>
        <p:spPr>
          <a:xfrm>
            <a:off x="8534400" y="6553200"/>
            <a:ext cx="1905000" cy="304800"/>
          </a:xfrm>
          <a:prstGeom prst="rect">
            <a:avLst/>
          </a:prstGeom>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FB0DB11C-615B-43CD-8EE6-3BD6D4270EB3}" type="datetime1">
              <a:rPr lang="zh-CN" altLang="en-US" sz="1400" smtClean="0"/>
              <a:pPr algn="r">
                <a:defRPr/>
              </a:pPr>
              <a:t>2025/11/23</a:t>
            </a:fld>
            <a:endParaRPr lang="en-US" altLang="zh-CN" sz="1400"/>
          </a:p>
        </p:txBody>
      </p:sp>
      <p:sp>
        <p:nvSpPr>
          <p:cNvPr id="5" name="Rectangle 2">
            <a:extLst>
              <a:ext uri="{FF2B5EF4-FFF2-40B4-BE49-F238E27FC236}">
                <a16:creationId xmlns:a16="http://schemas.microsoft.com/office/drawing/2014/main" id="{8B6AEE86-879A-CA72-E6F2-8FF1869AE2BF}"/>
              </a:ext>
            </a:extLst>
          </p:cNvPr>
          <p:cNvSpPr txBox="1">
            <a:spLocks noChangeArrowheads="1"/>
          </p:cNvSpPr>
          <p:nvPr/>
        </p:nvSpPr>
        <p:spPr>
          <a:xfrm>
            <a:off x="901547" y="237513"/>
            <a:ext cx="8229600" cy="650875"/>
          </a:xfrm>
          <a:prstGeom prst="rect">
            <a:avLst/>
          </a:prstGeom>
        </p:spPr>
        <p:txBody>
          <a:bodyPr vert="horz" lIns="90170" tIns="46990" rIns="90170" bIns="46990" rtlCol="0" anchor="b" anchorCtr="0">
            <a:normAutofit fontScale="97500" lnSpcReduction="10000"/>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3800" dirty="0">
                <a:latin typeface="Times New Roman" panose="02020603050405020304" pitchFamily="18" charset="0"/>
              </a:rPr>
              <a:t>具有快表的内存有效访问时间</a:t>
            </a:r>
          </a:p>
        </p:txBody>
      </p:sp>
      <p:sp>
        <p:nvSpPr>
          <p:cNvPr id="6" name="Rectangle 3">
            <a:extLst>
              <a:ext uri="{FF2B5EF4-FFF2-40B4-BE49-F238E27FC236}">
                <a16:creationId xmlns:a16="http://schemas.microsoft.com/office/drawing/2014/main" id="{03A0F475-60BC-6D8B-F367-693F16B0E15C}"/>
              </a:ext>
            </a:extLst>
          </p:cNvPr>
          <p:cNvSpPr txBox="1">
            <a:spLocks noChangeArrowheads="1"/>
          </p:cNvSpPr>
          <p:nvPr/>
        </p:nvSpPr>
        <p:spPr>
          <a:xfrm>
            <a:off x="749147" y="1523301"/>
            <a:ext cx="10003316" cy="4394986"/>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chemeClr val="tx1"/>
                </a:solidFill>
                <a:latin typeface="华文楷体" panose="02010600040101010101" pitchFamily="2" charset="-122"/>
                <a:ea typeface="华文楷体" panose="02010600040101010101" pitchFamily="2" charset="-122"/>
              </a:rPr>
              <a:t>由于成本的原因，快表不可能做得很大，通常只能存放16~512个页表项。由于对程序和数据的访问往往带有局部性，所以快表的命中率可以达到90%。</a:t>
            </a:r>
            <a:endParaRPr lang="en-US" altLang="zh-CN" sz="2800" b="1" dirty="0">
              <a:solidFill>
                <a:schemeClr val="tx1"/>
              </a:solidFill>
              <a:latin typeface="华文楷体" panose="02010600040101010101" pitchFamily="2" charset="-122"/>
              <a:ea typeface="华文楷体" panose="02010600040101010101" pitchFamily="2" charset="-122"/>
            </a:endParaRPr>
          </a:p>
          <a:p>
            <a:endParaRPr lang="en-US" altLang="zh-CN" sz="2800" b="1" dirty="0">
              <a:solidFill>
                <a:schemeClr val="tx1"/>
              </a:solidFill>
              <a:latin typeface="华文楷体" panose="02010600040101010101" pitchFamily="2" charset="-122"/>
              <a:ea typeface="华文楷体" panose="02010600040101010101" pitchFamily="2" charset="-122"/>
            </a:endParaRPr>
          </a:p>
          <a:p>
            <a:r>
              <a:rPr lang="zh-CN" altLang="en-US" sz="2800" b="1" dirty="0">
                <a:solidFill>
                  <a:schemeClr val="tx1"/>
                </a:solidFill>
                <a:latin typeface="华文楷体" panose="02010600040101010101" pitchFamily="2" charset="-122"/>
                <a:ea typeface="华文楷体" panose="02010600040101010101" pitchFamily="2" charset="-122"/>
              </a:rPr>
              <a:t>假设访问内存的时间为</a:t>
            </a:r>
            <a:r>
              <a:rPr lang="en-US" altLang="zh-CN" sz="2800" b="1" dirty="0">
                <a:solidFill>
                  <a:schemeClr val="tx1"/>
                </a:solidFill>
                <a:latin typeface="华文楷体" panose="02010600040101010101" pitchFamily="2" charset="-122"/>
                <a:ea typeface="华文楷体" panose="02010600040101010101" pitchFamily="2" charset="-122"/>
              </a:rPr>
              <a:t>2</a:t>
            </a:r>
            <a:r>
              <a:rPr lang="zh-CN" altLang="en-US" sz="2800" b="1" dirty="0">
                <a:solidFill>
                  <a:schemeClr val="tx1"/>
                </a:solidFill>
                <a:latin typeface="华文楷体" panose="02010600040101010101" pitchFamily="2" charset="-122"/>
                <a:ea typeface="华文楷体" panose="02010600040101010101" pitchFamily="2" charset="-122"/>
              </a:rPr>
              <a:t>00</a:t>
            </a:r>
            <a:r>
              <a:rPr lang="en-US" altLang="zh-CN" sz="2800" b="1" dirty="0">
                <a:solidFill>
                  <a:schemeClr val="tx1"/>
                </a:solidFill>
                <a:latin typeface="华文楷体" panose="02010600040101010101" pitchFamily="2" charset="-122"/>
                <a:ea typeface="华文楷体" panose="02010600040101010101" pitchFamily="2" charset="-122"/>
              </a:rPr>
              <a:t>ns，</a:t>
            </a:r>
            <a:r>
              <a:rPr lang="zh-CN" altLang="en-US" sz="2800" b="1" dirty="0">
                <a:solidFill>
                  <a:schemeClr val="tx1"/>
                </a:solidFill>
                <a:latin typeface="华文楷体" panose="02010600040101010101" pitchFamily="2" charset="-122"/>
                <a:ea typeface="华文楷体" panose="02010600040101010101" pitchFamily="2" charset="-122"/>
              </a:rPr>
              <a:t>查阅快表的时间忽略不计，访问联想存储器的的命中率为</a:t>
            </a:r>
            <a:r>
              <a:rPr lang="en-US" altLang="zh-CN" sz="2800" b="1" dirty="0">
                <a:solidFill>
                  <a:schemeClr val="tx1"/>
                </a:solidFill>
                <a:latin typeface="华文楷体" panose="02010600040101010101" pitchFamily="2" charset="-122"/>
                <a:ea typeface="华文楷体" panose="02010600040101010101" pitchFamily="2" charset="-122"/>
              </a:rPr>
              <a:t>90</a:t>
            </a:r>
            <a:r>
              <a:rPr lang="zh-CN" altLang="en-US" sz="2800" b="1" dirty="0">
                <a:solidFill>
                  <a:schemeClr val="tx1"/>
                </a:solidFill>
                <a:latin typeface="华文楷体" panose="02010600040101010101" pitchFamily="2" charset="-122"/>
                <a:ea typeface="华文楷体" panose="02010600040101010101" pitchFamily="2" charset="-122"/>
              </a:rPr>
              <a:t>%，则</a:t>
            </a:r>
            <a:r>
              <a:rPr lang="en-US" altLang="zh-CN" sz="2800" b="1" dirty="0">
                <a:solidFill>
                  <a:schemeClr val="tx1"/>
                </a:solidFill>
                <a:latin typeface="华文楷体" panose="02010600040101010101" pitchFamily="2" charset="-122"/>
                <a:ea typeface="华文楷体" panose="02010600040101010101" pitchFamily="2" charset="-122"/>
              </a:rPr>
              <a:t>CPU</a:t>
            </a:r>
            <a:r>
              <a:rPr lang="zh-CN" altLang="en-US" sz="2800" b="1" dirty="0">
                <a:solidFill>
                  <a:schemeClr val="tx1"/>
                </a:solidFill>
                <a:latin typeface="华文楷体" panose="02010600040101010101" pitchFamily="2" charset="-122"/>
                <a:ea typeface="华文楷体" panose="02010600040101010101" pitchFamily="2" charset="-122"/>
              </a:rPr>
              <a:t>存取一个数据的有效访问时间是多少？</a:t>
            </a:r>
            <a:endParaRPr lang="en-US" altLang="zh-CN" sz="2800" b="1" dirty="0">
              <a:solidFill>
                <a:schemeClr val="tx1"/>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9565834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 calcmode="lin" valueType="num">
                                      <p:cBhvr>
                                        <p:cTn id="14"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6.4.3</a:t>
            </a:r>
            <a:r>
              <a:rPr dirty="0"/>
              <a:t>两级页表、多级页表</a:t>
            </a:r>
          </a:p>
        </p:txBody>
      </p:sp>
      <p:sp>
        <p:nvSpPr>
          <p:cNvPr id="3" name="内容占位符 2"/>
          <p:cNvSpPr>
            <a:spLocks noGrp="1"/>
          </p:cNvSpPr>
          <p:nvPr>
            <p:ph idx="1"/>
          </p:nvPr>
        </p:nvSpPr>
        <p:spPr>
          <a:xfrm>
            <a:off x="611505" y="1227455"/>
            <a:ext cx="10968990" cy="5022215"/>
          </a:xfrm>
        </p:spPr>
        <p:txBody>
          <a:bodyPr>
            <a:normAutofit/>
          </a:bodyPr>
          <a:lstStyle/>
          <a:p>
            <a:r>
              <a:rPr dirty="0"/>
              <a:t>问题：</a:t>
            </a:r>
            <a:r>
              <a:rPr lang="zh-CN" altLang="en-US" dirty="0"/>
              <a:t>若</a:t>
            </a:r>
            <a:r>
              <a:rPr lang="en-US" altLang="zh-CN" dirty="0" err="1"/>
              <a:t>页表</a:t>
            </a:r>
            <a:r>
              <a:rPr dirty="0"/>
              <a:t>很大</a:t>
            </a:r>
            <a:r>
              <a:rPr lang="en-US" altLang="zh-CN" dirty="0"/>
              <a:t>，</a:t>
            </a:r>
            <a:r>
              <a:rPr lang="en-US" altLang="zh-CN" dirty="0" err="1"/>
              <a:t>有可能一个物理块装不下页表</a:t>
            </a:r>
            <a:r>
              <a:rPr lang="en-US" altLang="zh-CN" dirty="0"/>
              <a:t>。</a:t>
            </a:r>
          </a:p>
          <a:p>
            <a:pPr lvl="1"/>
            <a:r>
              <a:rPr lang="en-US" altLang="zh-CN" sz="2800" dirty="0" err="1">
                <a:latin typeface="华文新魏" panose="02010800040101010101" pitchFamily="2" charset="-122"/>
                <a:ea typeface="华文新魏" panose="02010800040101010101" pitchFamily="2" charset="-122"/>
              </a:rPr>
              <a:t>例如，某</a:t>
            </a:r>
            <a:r>
              <a:rPr lang="zh-CN" altLang="en-US" sz="2800" dirty="0">
                <a:latin typeface="华文新魏" panose="02010800040101010101" pitchFamily="2" charset="-122"/>
                <a:ea typeface="华文新魏" panose="02010800040101010101" pitchFamily="2" charset="-122"/>
              </a:rPr>
              <a:t>系统采用</a:t>
            </a:r>
            <a:r>
              <a:rPr lang="en-US" altLang="zh-CN" sz="2800" dirty="0" err="1">
                <a:latin typeface="华文新魏" panose="02010800040101010101" pitchFamily="2" charset="-122"/>
                <a:ea typeface="华文新魏" panose="02010800040101010101" pitchFamily="2" charset="-122"/>
              </a:rPr>
              <a:t>分页</a:t>
            </a:r>
            <a:r>
              <a:rPr lang="zh-CN" altLang="en-US" sz="2800" dirty="0">
                <a:latin typeface="华文新魏" panose="02010800040101010101" pitchFamily="2" charset="-122"/>
                <a:ea typeface="华文新魏" panose="02010800040101010101" pitchFamily="2" charset="-122"/>
              </a:rPr>
              <a:t>存储管理方式，</a:t>
            </a:r>
            <a:r>
              <a:rPr lang="en-US" altLang="zh-CN" sz="2800" dirty="0">
                <a:latin typeface="华文新魏" panose="02010800040101010101" pitchFamily="2" charset="-122"/>
                <a:ea typeface="华文新魏" panose="02010800040101010101" pitchFamily="2" charset="-122"/>
              </a:rPr>
              <a:t>页面大小为4KB，</a:t>
            </a:r>
            <a:r>
              <a:rPr lang="zh-CN" altLang="en-US" sz="2800" dirty="0">
                <a:latin typeface="华文新魏" panose="02010800040101010101" pitchFamily="2" charset="-122"/>
                <a:ea typeface="华文新魏" panose="02010800040101010101" pitchFamily="2" charset="-122"/>
              </a:rPr>
              <a:t>若某</a:t>
            </a:r>
            <a:r>
              <a:rPr lang="en-US" altLang="zh-CN" sz="2800" dirty="0" err="1">
                <a:latin typeface="华文新魏" panose="02010800040101010101" pitchFamily="2" charset="-122"/>
                <a:ea typeface="华文新魏" panose="02010800040101010101" pitchFamily="2" charset="-122"/>
              </a:rPr>
              <a:t>进程</a:t>
            </a:r>
            <a:r>
              <a:rPr lang="zh-CN" altLang="en-US" sz="2800" dirty="0">
                <a:latin typeface="华文新魏" panose="02010800040101010101" pitchFamily="2" charset="-122"/>
                <a:ea typeface="华文新魏" panose="02010800040101010101" pitchFamily="2" charset="-122"/>
              </a:rPr>
              <a:t>大小为</a:t>
            </a:r>
            <a:r>
              <a:rPr lang="en-US" altLang="zh-CN" sz="2800" dirty="0">
                <a:latin typeface="华文新魏" panose="02010800040101010101" pitchFamily="2" charset="-122"/>
                <a:ea typeface="华文新魏" panose="02010800040101010101" pitchFamily="2" charset="-122"/>
              </a:rPr>
              <a:t>16MB</a:t>
            </a:r>
            <a:r>
              <a:rPr lang="zh-CN" altLang="en-US" sz="2800" dirty="0">
                <a:latin typeface="华文新魏" panose="02010800040101010101" pitchFamily="2" charset="-122"/>
                <a:ea typeface="华文新魏" panose="02010800040101010101" pitchFamily="2" charset="-122"/>
              </a:rPr>
              <a:t>，其</a:t>
            </a:r>
            <a:r>
              <a:rPr lang="en-US" altLang="zh-CN" sz="2800" dirty="0">
                <a:latin typeface="华文新魏" panose="02010800040101010101" pitchFamily="2" charset="-122"/>
                <a:ea typeface="华文新魏" panose="02010800040101010101" pitchFamily="2" charset="-122"/>
              </a:rPr>
              <a:t>页表项有2</a:t>
            </a:r>
            <a:r>
              <a:rPr lang="en-US" altLang="zh-CN" sz="2800" baseline="30000" dirty="0">
                <a:latin typeface="华文新魏" panose="02010800040101010101" pitchFamily="2" charset="-122"/>
                <a:ea typeface="华文新魏" panose="02010800040101010101" pitchFamily="2" charset="-122"/>
              </a:rPr>
              <a:t>12</a:t>
            </a:r>
            <a:r>
              <a:rPr lang="en-US" altLang="zh-CN" sz="2800" dirty="0">
                <a:latin typeface="华文新魏" panose="02010800040101010101" pitchFamily="2" charset="-122"/>
                <a:ea typeface="华文新魏" panose="02010800040101010101" pitchFamily="2" charset="-122"/>
              </a:rPr>
              <a:t>个；假设每个页表项为4B，则该进程的页表大小为16KB，显然一个物理块已经装不下</a:t>
            </a:r>
            <a:r>
              <a:rPr lang="zh-CN" altLang="en-US" sz="2800" dirty="0">
                <a:latin typeface="华文新魏" panose="02010800040101010101" pitchFamily="2" charset="-122"/>
                <a:ea typeface="华文新魏" panose="02010800040101010101" pitchFamily="2" charset="-122"/>
              </a:rPr>
              <a:t>，需要</a:t>
            </a:r>
            <a:r>
              <a:rPr lang="en-US" altLang="zh-CN" sz="2800" dirty="0">
                <a:latin typeface="华文新魏" panose="02010800040101010101" pitchFamily="2" charset="-122"/>
                <a:ea typeface="华文新魏" panose="02010800040101010101" pitchFamily="2" charset="-122"/>
              </a:rPr>
              <a:t>4</a:t>
            </a:r>
            <a:r>
              <a:rPr lang="zh-CN" altLang="en-US" sz="2800" dirty="0">
                <a:latin typeface="华文新魏" panose="02010800040101010101" pitchFamily="2" charset="-122"/>
                <a:ea typeface="华文新魏" panose="02010800040101010101" pitchFamily="2" charset="-122"/>
              </a:rPr>
              <a:t>个物理块</a:t>
            </a:r>
            <a:r>
              <a:rPr lang="en-US" altLang="zh-CN" sz="2800" dirty="0">
                <a:latin typeface="华文新魏" panose="02010800040101010101" pitchFamily="2" charset="-122"/>
                <a:ea typeface="华文新魏" panose="02010800040101010101" pitchFamily="2" charset="-122"/>
              </a:rPr>
              <a:t>。</a:t>
            </a:r>
          </a:p>
          <a:p>
            <a:pPr lvl="1"/>
            <a:endParaRPr lang="en-US" altLang="zh-CN" dirty="0"/>
          </a:p>
          <a:p>
            <a:pPr lvl="0"/>
            <a:r>
              <a:rPr lang="en-US" altLang="zh-CN" dirty="0" err="1"/>
              <a:t>解决方法</a:t>
            </a:r>
            <a:r>
              <a:rPr lang="en-US" altLang="zh-CN" dirty="0"/>
              <a:t>：</a:t>
            </a:r>
          </a:p>
          <a:p>
            <a:pPr lvl="1"/>
            <a:r>
              <a:rPr lang="en-US" altLang="zh-CN" dirty="0" err="1"/>
              <a:t>采用</a:t>
            </a:r>
            <a:r>
              <a:rPr lang="en-US" altLang="zh-CN" dirty="0" err="1">
                <a:solidFill>
                  <a:srgbClr val="0000FF"/>
                </a:solidFill>
              </a:rPr>
              <a:t>离散方式存储页表</a:t>
            </a:r>
            <a:r>
              <a:rPr lang="en-US" altLang="zh-CN" dirty="0">
                <a:solidFill>
                  <a:srgbClr val="0000FF"/>
                </a:solidFill>
              </a:rPr>
              <a:t>   ——  </a:t>
            </a:r>
            <a:r>
              <a:rPr lang="zh-CN" altLang="en-US" dirty="0">
                <a:solidFill>
                  <a:srgbClr val="0000FF"/>
                </a:solidFill>
              </a:rPr>
              <a:t>需要二级页表</a:t>
            </a:r>
            <a:endParaRPr lang="en-US" altLang="zh-CN" dirty="0"/>
          </a:p>
          <a:p>
            <a:pPr lvl="1"/>
            <a:r>
              <a:rPr lang="en-US" altLang="zh-CN" dirty="0" err="1"/>
              <a:t>只将当前需要的</a:t>
            </a:r>
            <a:r>
              <a:rPr lang="en-US" altLang="zh-CN" dirty="0" err="1">
                <a:solidFill>
                  <a:srgbClr val="0000FF"/>
                </a:solidFill>
              </a:rPr>
              <a:t>部分页表项调入内存</a:t>
            </a:r>
            <a:r>
              <a:rPr lang="en-US" altLang="zh-CN" dirty="0" err="1"/>
              <a:t>，其余的页表项放在外存</a:t>
            </a:r>
            <a:r>
              <a:rPr lang="en-US" altLang="zh-CN" dirty="0"/>
              <a:t> 。</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6.4.3</a:t>
            </a:r>
            <a:r>
              <a:rPr dirty="0"/>
              <a:t>两级页表、多级页表</a:t>
            </a:r>
          </a:p>
        </p:txBody>
      </p:sp>
      <p:sp>
        <p:nvSpPr>
          <p:cNvPr id="3" name="内容占位符 2"/>
          <p:cNvSpPr>
            <a:spLocks noGrp="1"/>
          </p:cNvSpPr>
          <p:nvPr>
            <p:ph idx="1"/>
          </p:nvPr>
        </p:nvSpPr>
        <p:spPr>
          <a:xfrm>
            <a:off x="310562" y="1053835"/>
            <a:ext cx="6463617" cy="4507495"/>
          </a:xfrm>
        </p:spPr>
        <p:txBody>
          <a:bodyPr>
            <a:normAutofit fontScale="97500"/>
          </a:bodyPr>
          <a:lstStyle/>
          <a:p>
            <a:pPr marL="0" indent="0">
              <a:buNone/>
            </a:pPr>
            <a:r>
              <a:rPr lang="en-US" altLang="zh-CN" b="1" dirty="0"/>
              <a:t>1.</a:t>
            </a:r>
            <a:r>
              <a:rPr b="1" dirty="0"/>
              <a:t>两级页表</a:t>
            </a:r>
          </a:p>
          <a:p>
            <a:r>
              <a:rPr dirty="0"/>
              <a:t>页表存放在不同的物理块中。</a:t>
            </a:r>
          </a:p>
          <a:p>
            <a:r>
              <a:rPr dirty="0"/>
              <a:t>系统为离散存放的页表再建立一张页表，由此形成了两级页表。</a:t>
            </a:r>
          </a:p>
          <a:p>
            <a:pPr lvl="1"/>
            <a:r>
              <a:rPr b="1" dirty="0"/>
              <a:t>外层页表</a:t>
            </a:r>
            <a:r>
              <a:rPr dirty="0"/>
              <a:t> </a:t>
            </a:r>
            <a:r>
              <a:rPr lang="zh-CN" altLang="en-US" dirty="0"/>
              <a:t> </a:t>
            </a:r>
            <a:endParaRPr dirty="0"/>
          </a:p>
          <a:p>
            <a:pPr lvl="1"/>
            <a:r>
              <a:rPr b="1" dirty="0">
                <a:sym typeface="+mn-ea"/>
              </a:rPr>
              <a:t>内层页表</a:t>
            </a:r>
            <a:r>
              <a:rPr dirty="0">
                <a:sym typeface="+mn-ea"/>
              </a:rPr>
              <a:t> </a:t>
            </a:r>
            <a:endParaRPr dirty="0"/>
          </a:p>
        </p:txBody>
      </p:sp>
      <p:pic>
        <p:nvPicPr>
          <p:cNvPr id="4" name="图片 3" descr="LT%UZWDQ~H@T0`)IA9BDO8K"/>
          <p:cNvPicPr>
            <a:picLocks noChangeAspect="1"/>
          </p:cNvPicPr>
          <p:nvPr/>
        </p:nvPicPr>
        <p:blipFill>
          <a:blip r:embed="rId3"/>
          <a:stretch>
            <a:fillRect/>
          </a:stretch>
        </p:blipFill>
        <p:spPr>
          <a:xfrm>
            <a:off x="6650653" y="1155817"/>
            <a:ext cx="5319935" cy="4758846"/>
          </a:xfrm>
          <a:prstGeom prst="rect">
            <a:avLst/>
          </a:prstGeom>
        </p:spPr>
      </p:pic>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6.4.3</a:t>
            </a:r>
            <a:r>
              <a:rPr dirty="0">
                <a:sym typeface="+mn-ea"/>
              </a:rPr>
              <a:t>两级页表、多级页表</a:t>
            </a:r>
            <a:endParaRPr lang="zh-CN" altLang="en-US" dirty="0"/>
          </a:p>
        </p:txBody>
      </p:sp>
      <p:sp>
        <p:nvSpPr>
          <p:cNvPr id="3" name="内容占位符 2"/>
          <p:cNvSpPr>
            <a:spLocks noGrp="1"/>
          </p:cNvSpPr>
          <p:nvPr>
            <p:ph idx="1"/>
          </p:nvPr>
        </p:nvSpPr>
        <p:spPr>
          <a:xfrm>
            <a:off x="480799" y="952617"/>
            <a:ext cx="10968990" cy="1697985"/>
          </a:xfrm>
        </p:spPr>
        <p:txBody>
          <a:bodyPr>
            <a:normAutofit fontScale="92500" lnSpcReduction="20000"/>
          </a:bodyPr>
          <a:lstStyle/>
          <a:p>
            <a:r>
              <a:rPr lang="zh-CN" altLang="en-US" sz="3000" dirty="0"/>
              <a:t>两级页表的逻辑地址结构及地址变换过程 </a:t>
            </a:r>
            <a:endParaRPr lang="en-US" altLang="zh-CN" sz="3000" dirty="0"/>
          </a:p>
          <a:p>
            <a:pPr marL="0" indent="0">
              <a:buNone/>
            </a:pPr>
            <a:r>
              <a:rPr lang="en-US" altLang="zh-CN" sz="3000" dirty="0"/>
              <a:t>	</a:t>
            </a:r>
            <a:r>
              <a:rPr lang="zh-CN" altLang="en-US" sz="3000" dirty="0">
                <a:latin typeface="华文新魏" panose="02010800040101010101" pitchFamily="2" charset="-122"/>
                <a:ea typeface="华文新魏" panose="02010800040101010101" pitchFamily="2" charset="-122"/>
              </a:rPr>
              <a:t>以32位逻辑地址空间</a:t>
            </a:r>
            <a:r>
              <a:rPr sz="3000" dirty="0">
                <a:latin typeface="华文新魏" panose="02010800040101010101" pitchFamily="2" charset="-122"/>
                <a:ea typeface="华文新魏" panose="02010800040101010101" pitchFamily="2" charset="-122"/>
                <a:sym typeface="+mn-ea"/>
              </a:rPr>
              <a:t>为例</a:t>
            </a:r>
            <a:r>
              <a:rPr lang="zh-CN" altLang="en-US" sz="3000" dirty="0">
                <a:latin typeface="华文新魏" panose="02010800040101010101" pitchFamily="2" charset="-122"/>
                <a:ea typeface="华文新魏" panose="02010800040101010101" pitchFamily="2" charset="-122"/>
              </a:rPr>
              <a:t>，若</a:t>
            </a:r>
            <a:r>
              <a:rPr sz="3000" dirty="0">
                <a:latin typeface="华文新魏" panose="02010800040101010101" pitchFamily="2" charset="-122"/>
                <a:ea typeface="华文新魏" panose="02010800040101010101" pitchFamily="2" charset="-122"/>
                <a:sym typeface="+mn-ea"/>
              </a:rPr>
              <a:t>页面大小为4KB</a:t>
            </a:r>
            <a:r>
              <a:rPr lang="zh-CN" altLang="en-US" sz="30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 每个页表项为4B</a:t>
            </a:r>
            <a:r>
              <a:rPr lang="zh-CN" altLang="en-US" sz="3200" dirty="0">
                <a:latin typeface="华文新魏" panose="02010800040101010101" pitchFamily="2" charset="-122"/>
                <a:ea typeface="华文新魏" panose="02010800040101010101" pitchFamily="2" charset="-122"/>
              </a:rPr>
              <a:t>，</a:t>
            </a:r>
            <a:r>
              <a:rPr lang="zh-CN" altLang="en-US" sz="3000" dirty="0">
                <a:latin typeface="华文新魏" panose="02010800040101010101" pitchFamily="2" charset="-122"/>
                <a:ea typeface="华文新魏" panose="02010800040101010101" pitchFamily="2" charset="-122"/>
              </a:rPr>
              <a:t>则32位逻辑地址结构表达如下：</a:t>
            </a:r>
          </a:p>
        </p:txBody>
      </p:sp>
      <p:pic>
        <p:nvPicPr>
          <p:cNvPr id="4" name="图片 3" descr="%C%C]T8O(X0TXI[0S3}[6GO"/>
          <p:cNvPicPr>
            <a:picLocks noChangeAspect="1"/>
          </p:cNvPicPr>
          <p:nvPr/>
        </p:nvPicPr>
        <p:blipFill>
          <a:blip r:embed="rId3"/>
          <a:stretch>
            <a:fillRect/>
          </a:stretch>
        </p:blipFill>
        <p:spPr>
          <a:xfrm>
            <a:off x="742211" y="2723511"/>
            <a:ext cx="9945581" cy="3276494"/>
          </a:xfrm>
          <a:prstGeom prst="rect">
            <a:avLst/>
          </a:prstGeom>
        </p:spPr>
      </p:pic>
      <p:sp>
        <p:nvSpPr>
          <p:cNvPr id="5" name="文本框 4">
            <a:extLst>
              <a:ext uri="{FF2B5EF4-FFF2-40B4-BE49-F238E27FC236}">
                <a16:creationId xmlns:a16="http://schemas.microsoft.com/office/drawing/2014/main" id="{EBB99FF7-59CC-43D6-A164-F0E20137F9C9}"/>
              </a:ext>
            </a:extLst>
          </p:cNvPr>
          <p:cNvSpPr txBox="1"/>
          <p:nvPr/>
        </p:nvSpPr>
        <p:spPr>
          <a:xfrm>
            <a:off x="1686296" y="6192391"/>
            <a:ext cx="7457704" cy="457792"/>
          </a:xfrm>
          <a:prstGeom prst="rect">
            <a:avLst/>
          </a:prstGeom>
          <a:noFill/>
        </p:spPr>
        <p:txBody>
          <a:bodyPr wrap="square" rtlCol="0">
            <a:spAutoFit/>
          </a:bodyPr>
          <a:lstStyle/>
          <a:p>
            <a:r>
              <a:rPr lang="zh-CN" altLang="en-US" sz="2400" dirty="0">
                <a:solidFill>
                  <a:srgbClr val="0000FF"/>
                </a:solidFill>
              </a:rPr>
              <a:t>例：逻辑地址：</a:t>
            </a:r>
            <a:r>
              <a:rPr lang="en-US" altLang="zh-CN" sz="2400" dirty="0">
                <a:solidFill>
                  <a:srgbClr val="0000FF"/>
                </a:solidFill>
              </a:rPr>
              <a:t>0040175AH</a:t>
            </a:r>
            <a:r>
              <a:rPr lang="zh-CN" altLang="en-US" sz="2400" dirty="0">
                <a:solidFill>
                  <a:srgbClr val="0000FF"/>
                </a:solidFill>
              </a:rPr>
              <a:t>，其物理地址？ </a:t>
            </a:r>
          </a:p>
        </p:txBody>
      </p:sp>
      <p:sp>
        <p:nvSpPr>
          <p:cNvPr id="6" name="文本框 5">
            <a:extLst>
              <a:ext uri="{FF2B5EF4-FFF2-40B4-BE49-F238E27FC236}">
                <a16:creationId xmlns:a16="http://schemas.microsoft.com/office/drawing/2014/main" id="{7C3AC22F-9B7D-8A98-C258-6749167FE361}"/>
              </a:ext>
            </a:extLst>
          </p:cNvPr>
          <p:cNvSpPr txBox="1"/>
          <p:nvPr/>
        </p:nvSpPr>
        <p:spPr>
          <a:xfrm>
            <a:off x="859317" y="3682254"/>
            <a:ext cx="2214390" cy="369332"/>
          </a:xfrm>
          <a:prstGeom prst="rect">
            <a:avLst/>
          </a:prstGeom>
          <a:noFill/>
        </p:spPr>
        <p:txBody>
          <a:bodyPr wrap="square" rtlCol="0">
            <a:spAutoFit/>
          </a:bodyPr>
          <a:lstStyle/>
          <a:p>
            <a:r>
              <a:rPr lang="zh-CN" altLang="en-US" dirty="0">
                <a:solidFill>
                  <a:srgbClr val="0000FF"/>
                </a:solidFill>
              </a:rPr>
              <a:t>确定在第几张页表？</a:t>
            </a:r>
          </a:p>
        </p:txBody>
      </p:sp>
      <p:cxnSp>
        <p:nvCxnSpPr>
          <p:cNvPr id="8" name="直接箭头连接符 7">
            <a:extLst>
              <a:ext uri="{FF2B5EF4-FFF2-40B4-BE49-F238E27FC236}">
                <a16:creationId xmlns:a16="http://schemas.microsoft.com/office/drawing/2014/main" id="{48A2D8D0-9062-0109-B0B1-1D070EA09AC5}"/>
              </a:ext>
            </a:extLst>
          </p:cNvPr>
          <p:cNvCxnSpPr>
            <a:cxnSpLocks/>
          </p:cNvCxnSpPr>
          <p:nvPr/>
        </p:nvCxnSpPr>
        <p:spPr>
          <a:xfrm flipV="1">
            <a:off x="2996588" y="3646583"/>
            <a:ext cx="649995" cy="220337"/>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6.4.3</a:t>
            </a:r>
            <a:r>
              <a:rPr dirty="0">
                <a:sym typeface="+mn-ea"/>
              </a:rPr>
              <a:t>两级页表、多级页表</a:t>
            </a:r>
            <a:endParaRPr lang="zh-CN" altLang="en-US" dirty="0"/>
          </a:p>
        </p:txBody>
      </p:sp>
      <p:sp>
        <p:nvSpPr>
          <p:cNvPr id="3" name="内容占位符 2"/>
          <p:cNvSpPr>
            <a:spLocks noGrp="1"/>
          </p:cNvSpPr>
          <p:nvPr>
            <p:ph idx="1"/>
          </p:nvPr>
        </p:nvSpPr>
        <p:spPr>
          <a:xfrm>
            <a:off x="527307" y="1053296"/>
            <a:ext cx="10968990" cy="1469985"/>
          </a:xfrm>
        </p:spPr>
        <p:txBody>
          <a:bodyPr>
            <a:normAutofit/>
          </a:bodyPr>
          <a:lstStyle/>
          <a:p>
            <a:r>
              <a:rPr sz="2800" dirty="0"/>
              <a:t>显然，</a:t>
            </a:r>
            <a:r>
              <a:rPr sz="2800" dirty="0">
                <a:solidFill>
                  <a:srgbClr val="0000FF"/>
                </a:solidFill>
              </a:rPr>
              <a:t>采用两级页表后，访问内存的一条指令在执行时需要访问内存三次</a:t>
            </a:r>
            <a:r>
              <a:rPr sz="2800" dirty="0"/>
              <a:t>，更有必要采用具有快表的地址变换机构。</a:t>
            </a:r>
          </a:p>
          <a:p>
            <a:endParaRPr sz="2800" dirty="0"/>
          </a:p>
        </p:txBody>
      </p:sp>
      <p:pic>
        <p:nvPicPr>
          <p:cNvPr id="4" name="图片 3" descr="%C%C]T8O(X0TXI[0S3}[6GO"/>
          <p:cNvPicPr>
            <a:picLocks noChangeAspect="1"/>
          </p:cNvPicPr>
          <p:nvPr/>
        </p:nvPicPr>
        <p:blipFill>
          <a:blip r:embed="rId3"/>
          <a:stretch>
            <a:fillRect/>
          </a:stretch>
        </p:blipFill>
        <p:spPr>
          <a:xfrm>
            <a:off x="838889" y="2523281"/>
            <a:ext cx="9240487" cy="3044206"/>
          </a:xfrm>
          <a:prstGeom prst="rect">
            <a:avLst/>
          </a:prstGeom>
        </p:spPr>
      </p:pic>
    </p:spTree>
    <p:custDataLst>
      <p:tags r:id="rId1"/>
    </p:custDataLst>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36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6" descr="表格&#10;&#10;中度可信度描述已自动生成">
            <a:extLst>
              <a:ext uri="{FF2B5EF4-FFF2-40B4-BE49-F238E27FC236}">
                <a16:creationId xmlns:a16="http://schemas.microsoft.com/office/drawing/2014/main" id="{FE38D411-B53D-F836-D5A5-FB9C6C847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5474" y="643467"/>
            <a:ext cx="2520906" cy="5571066"/>
          </a:xfrm>
          <a:prstGeom prst="rect">
            <a:avLst/>
          </a:prstGeom>
        </p:spPr>
      </p:pic>
      <p:sp>
        <p:nvSpPr>
          <p:cNvPr id="16" name="Rectangle 15">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descr="文本&#10;&#10;低可信度描述已自动生成">
            <a:extLst>
              <a:ext uri="{FF2B5EF4-FFF2-40B4-BE49-F238E27FC236}">
                <a16:creationId xmlns:a16="http://schemas.microsoft.com/office/drawing/2014/main" id="{2AC1FED6-52B6-2015-9F58-1B2DEDF24F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836" y="643467"/>
            <a:ext cx="2604472" cy="5571066"/>
          </a:xfrm>
          <a:prstGeom prst="rect">
            <a:avLst/>
          </a:prstGeom>
        </p:spPr>
      </p:pic>
    </p:spTree>
    <p:extLst>
      <p:ext uri="{BB962C8B-B14F-4D97-AF65-F5344CB8AC3E}">
        <p14:creationId xmlns:p14="http://schemas.microsoft.com/office/powerpoint/2010/main" val="2980942916"/>
      </p:ext>
    </p:extLst>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6.4.3</a:t>
            </a:r>
            <a:r>
              <a:rPr dirty="0"/>
              <a:t>两级页表、多级页表</a:t>
            </a:r>
          </a:p>
        </p:txBody>
      </p:sp>
      <p:sp>
        <p:nvSpPr>
          <p:cNvPr id="3" name="内容占位符 2"/>
          <p:cNvSpPr>
            <a:spLocks noGrp="1"/>
          </p:cNvSpPr>
          <p:nvPr>
            <p:ph idx="1"/>
          </p:nvPr>
        </p:nvSpPr>
        <p:spPr>
          <a:xfrm>
            <a:off x="611505" y="1227455"/>
            <a:ext cx="10968990" cy="4976575"/>
          </a:xfrm>
        </p:spPr>
        <p:txBody>
          <a:bodyPr>
            <a:normAutofit/>
          </a:bodyPr>
          <a:lstStyle/>
          <a:p>
            <a:pPr marL="0" indent="0">
              <a:buNone/>
            </a:pPr>
            <a:r>
              <a:rPr lang="en-US" altLang="zh-CN" b="1" dirty="0">
                <a:sym typeface="+mn-ea"/>
              </a:rPr>
              <a:t>2.</a:t>
            </a:r>
            <a:r>
              <a:rPr b="1" dirty="0">
                <a:sym typeface="+mn-ea"/>
              </a:rPr>
              <a:t>多级页表</a:t>
            </a:r>
            <a:endParaRPr b="1" dirty="0"/>
          </a:p>
          <a:p>
            <a:r>
              <a:rPr dirty="0">
                <a:sym typeface="+mn-ea"/>
              </a:rPr>
              <a:t>对于32 位的计算机，采用两级页表结构是合适的。但对于64 位的计算机，采用两级页表仍然不能解决问题</a:t>
            </a:r>
            <a:r>
              <a:rPr lang="zh-CN" altLang="en-US" dirty="0">
                <a:sym typeface="+mn-ea"/>
              </a:rPr>
              <a:t>，</a:t>
            </a:r>
            <a:r>
              <a:rPr dirty="0">
                <a:sym typeface="+mn-ea"/>
              </a:rPr>
              <a:t>即使采用三级页表结构</a:t>
            </a:r>
            <a:r>
              <a:rPr lang="zh-CN" altLang="en-US" dirty="0">
                <a:sym typeface="+mn-ea"/>
              </a:rPr>
              <a:t>可能</a:t>
            </a:r>
            <a:r>
              <a:rPr dirty="0">
                <a:sym typeface="+mn-ea"/>
              </a:rPr>
              <a:t>也不行。</a:t>
            </a:r>
            <a:endParaRPr lang="en-US" dirty="0">
              <a:sym typeface="+mn-ea"/>
            </a:endParaRPr>
          </a:p>
          <a:p>
            <a:endParaRPr dirty="0">
              <a:sym typeface="+mn-ea"/>
            </a:endParaRPr>
          </a:p>
          <a:p>
            <a:r>
              <a:rPr dirty="0">
                <a:sym typeface="+mn-ea"/>
              </a:rPr>
              <a:t>解决的方法有下面两种：</a:t>
            </a:r>
          </a:p>
          <a:p>
            <a:pPr lvl="1"/>
            <a:r>
              <a:rPr dirty="0">
                <a:sym typeface="+mn-ea"/>
              </a:rPr>
              <a:t>近两年推出的64 位操作系统把可直接寻址的存储器空间减少为45位，由此可利用三级页表结构实现分页存储管理；</a:t>
            </a:r>
          </a:p>
          <a:p>
            <a:pPr lvl="1"/>
            <a:r>
              <a:rPr dirty="0">
                <a:sym typeface="+mn-ea"/>
              </a:rPr>
              <a:t>采用反置页表。</a:t>
            </a:r>
          </a:p>
          <a:p>
            <a:endParaRPr lang="en-US" altLang="zh-CN"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6.4.3</a:t>
            </a:r>
            <a:r>
              <a:t>两级页表、多级页表和反置页表</a:t>
            </a:r>
          </a:p>
        </p:txBody>
      </p:sp>
      <p:sp>
        <p:nvSpPr>
          <p:cNvPr id="3" name="内容占位符 2"/>
          <p:cNvSpPr>
            <a:spLocks noGrp="1"/>
          </p:cNvSpPr>
          <p:nvPr>
            <p:ph idx="1"/>
          </p:nvPr>
        </p:nvSpPr>
        <p:spPr>
          <a:xfrm>
            <a:off x="611505" y="1227455"/>
            <a:ext cx="10968990" cy="3135225"/>
          </a:xfrm>
        </p:spPr>
        <p:txBody>
          <a:bodyPr>
            <a:normAutofit/>
          </a:bodyPr>
          <a:lstStyle/>
          <a:p>
            <a:pPr marL="0" indent="0">
              <a:buNone/>
            </a:pPr>
            <a:r>
              <a:rPr lang="en-US" altLang="zh-CN" b="1" dirty="0">
                <a:sym typeface="+mn-ea"/>
              </a:rPr>
              <a:t>3.</a:t>
            </a:r>
            <a:r>
              <a:rPr b="1" dirty="0">
                <a:sym typeface="+mn-ea"/>
              </a:rPr>
              <a:t>反置页表</a:t>
            </a:r>
            <a:endParaRPr b="1" dirty="0"/>
          </a:p>
          <a:p>
            <a:r>
              <a:rPr dirty="0">
                <a:sym typeface="+mn-ea"/>
              </a:rPr>
              <a:t>常规页表：</a:t>
            </a:r>
            <a:r>
              <a:rPr dirty="0">
                <a:solidFill>
                  <a:srgbClr val="0000FF"/>
                </a:solidFill>
                <a:sym typeface="+mn-ea"/>
              </a:rPr>
              <a:t>按页号进行排序</a:t>
            </a:r>
            <a:r>
              <a:rPr dirty="0">
                <a:sym typeface="+mn-ea"/>
              </a:rPr>
              <a:t>，页表项中的内容是物理块号。</a:t>
            </a:r>
          </a:p>
          <a:p>
            <a:r>
              <a:rPr dirty="0">
                <a:sym typeface="+mn-ea"/>
              </a:rPr>
              <a:t>反置页表：</a:t>
            </a:r>
            <a:r>
              <a:rPr dirty="0">
                <a:solidFill>
                  <a:srgbClr val="0000FF"/>
                </a:solidFill>
                <a:sym typeface="+mn-ea"/>
              </a:rPr>
              <a:t>按物理块号排序</a:t>
            </a:r>
            <a:r>
              <a:rPr dirty="0">
                <a:sym typeface="+mn-ea"/>
              </a:rPr>
              <a:t>，页表项中的内容是该物理块装入的页号P及所属进程的标识符pid</a:t>
            </a:r>
            <a:r>
              <a:rPr dirty="0">
                <a:solidFill>
                  <a:srgbClr val="0000FF"/>
                </a:solidFill>
                <a:sym typeface="+mn-ea"/>
              </a:rPr>
              <a:t>。</a:t>
            </a:r>
          </a:p>
          <a:p>
            <a:pPr lvl="1"/>
            <a:r>
              <a:rPr dirty="0">
                <a:solidFill>
                  <a:srgbClr val="0000FF"/>
                </a:solidFill>
                <a:sym typeface="+mn-ea"/>
              </a:rPr>
              <a:t>整个系统只有一个页表</a:t>
            </a:r>
            <a:r>
              <a:rPr dirty="0">
                <a:sym typeface="+mn-ea"/>
              </a:rPr>
              <a:t>，每个物理块在表中有唯一对应的表项。</a:t>
            </a:r>
            <a:endParaRPr lang="en-US" altLang="zh-CN" dirty="0"/>
          </a:p>
        </p:txBody>
      </p:sp>
    </p:spTree>
    <p:custDataLst>
      <p:tags r:id="rId1"/>
    </p:custDataLst>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6.4.3</a:t>
            </a:r>
            <a:r>
              <a:t>两级页表、多级页表和反置页表</a:t>
            </a:r>
          </a:p>
        </p:txBody>
      </p:sp>
      <p:sp>
        <p:nvSpPr>
          <p:cNvPr id="3" name="内容占位符 2"/>
          <p:cNvSpPr>
            <a:spLocks noGrp="1"/>
          </p:cNvSpPr>
          <p:nvPr>
            <p:ph idx="1"/>
          </p:nvPr>
        </p:nvSpPr>
        <p:spPr>
          <a:xfrm>
            <a:off x="611505" y="1227455"/>
            <a:ext cx="10968990" cy="5022215"/>
          </a:xfrm>
        </p:spPr>
        <p:txBody>
          <a:bodyPr>
            <a:normAutofit/>
          </a:bodyPr>
          <a:lstStyle/>
          <a:p>
            <a:pPr lvl="0"/>
            <a:r>
              <a:rPr dirty="0">
                <a:sym typeface="+mn-ea"/>
              </a:rPr>
              <a:t>利用反置页表进行地址变换的过程：</a:t>
            </a:r>
          </a:p>
          <a:p>
            <a:pPr lvl="1"/>
            <a:r>
              <a:rPr dirty="0">
                <a:sym typeface="+mn-ea"/>
              </a:rPr>
              <a:t>地址变换机构分页后，每个逻辑地址由进程标识符pid、页号P和页内地址w三部分组成；</a:t>
            </a:r>
          </a:p>
          <a:p>
            <a:pPr lvl="1"/>
            <a:r>
              <a:rPr dirty="0">
                <a:sym typeface="+mn-ea"/>
              </a:rPr>
              <a:t>根据进程标识符pid和页号P在反置页表中检索。</a:t>
            </a:r>
          </a:p>
          <a:p>
            <a:pPr lvl="1"/>
            <a:r>
              <a:rPr dirty="0">
                <a:sym typeface="+mn-ea"/>
              </a:rPr>
              <a:t>若找到与之匹配的表项，则该表项的序号i就是该逻辑页对应的物理块号；将物理块号i 与页内地址w 组合形成访问内存的物理地址；</a:t>
            </a:r>
          </a:p>
          <a:p>
            <a:pPr lvl="1"/>
            <a:r>
              <a:rPr dirty="0">
                <a:sym typeface="+mn-ea"/>
              </a:rPr>
              <a:t>若搜索整个反置页表也没有找到相匹配的页表项，则表示发生非法地址访问，即该页目前尚未调入内存。</a:t>
            </a:r>
            <a:endParaRPr lang="en-US" altLang="zh-CN" dirty="0"/>
          </a:p>
        </p:txBody>
      </p:sp>
    </p:spTree>
    <p:custDataLst>
      <p:tags r:id="rId1"/>
    </p:custDataLst>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6.4.4分页存储管理的特点</a:t>
            </a:r>
          </a:p>
        </p:txBody>
      </p:sp>
      <p:sp>
        <p:nvSpPr>
          <p:cNvPr id="3" name="内容占位符 2"/>
          <p:cNvSpPr>
            <a:spLocks noGrp="1"/>
          </p:cNvSpPr>
          <p:nvPr>
            <p:ph idx="1"/>
          </p:nvPr>
        </p:nvSpPr>
        <p:spPr/>
        <p:txBody>
          <a:bodyPr>
            <a:normAutofit/>
          </a:bodyPr>
          <a:lstStyle/>
          <a:p>
            <a:r>
              <a:rPr lang="zh-CN" altLang="en-US" dirty="0"/>
              <a:t>分页存储管理在现代操作系统中被广泛应用。</a:t>
            </a:r>
          </a:p>
          <a:p>
            <a:r>
              <a:rPr lang="zh-CN" altLang="en-US" b="1" dirty="0"/>
              <a:t>优点：</a:t>
            </a:r>
          </a:p>
          <a:p>
            <a:pPr lvl="1"/>
            <a:r>
              <a:rPr lang="zh-CN" altLang="en-US" dirty="0"/>
              <a:t>实现了离散存储，减少了内碎片，提高了内存利用率。</a:t>
            </a:r>
          </a:p>
          <a:p>
            <a:pPr lvl="0" algn="l"/>
            <a:r>
              <a:rPr lang="zh-CN" altLang="en-US" b="1" dirty="0"/>
              <a:t>缺点：</a:t>
            </a:r>
          </a:p>
          <a:p>
            <a:pPr lvl="1"/>
            <a:r>
              <a:rPr lang="zh-CN" altLang="en-US" dirty="0"/>
              <a:t>仍然存在页内碎片；</a:t>
            </a:r>
          </a:p>
          <a:p>
            <a:pPr lvl="1"/>
            <a:r>
              <a:rPr lang="zh-CN" altLang="en-US" dirty="0">
                <a:solidFill>
                  <a:srgbClr val="0000FF"/>
                </a:solidFill>
              </a:rPr>
              <a:t>不方便进行信息共享与保护；</a:t>
            </a:r>
          </a:p>
          <a:p>
            <a:pPr lvl="1"/>
            <a:r>
              <a:rPr lang="zh-CN" altLang="en-US" dirty="0">
                <a:solidFill>
                  <a:srgbClr val="0000FF"/>
                </a:solidFill>
              </a:rPr>
              <a:t>不支持动态增长；</a:t>
            </a:r>
          </a:p>
          <a:p>
            <a:pPr lvl="1"/>
            <a:r>
              <a:rPr lang="zh-CN" altLang="en-US" dirty="0"/>
              <a:t>当内存中没有足够空间装下整个程序时，程序仍然无法运行。</a:t>
            </a:r>
            <a:r>
              <a:rPr lang="en-US" altLang="zh-CN" dirty="0"/>
              <a:t>——</a:t>
            </a:r>
            <a:r>
              <a:rPr lang="zh-CN" altLang="en-US" dirty="0">
                <a:latin typeface="华文楷体" panose="02010600040101010101" pitchFamily="2" charset="-122"/>
                <a:ea typeface="华文楷体" panose="02010600040101010101" pitchFamily="2" charset="-122"/>
              </a:rPr>
              <a:t>虚拟存储器</a:t>
            </a:r>
          </a:p>
        </p:txBody>
      </p:sp>
    </p:spTree>
    <p:custDataLst>
      <p:tags r:id="rId1"/>
    </p:custDataLst>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a:t>6.5  </a:t>
            </a:r>
            <a:r>
              <a:t>分段存储管理</a:t>
            </a:r>
          </a:p>
        </p:txBody>
      </p:sp>
      <p:sp>
        <p:nvSpPr>
          <p:cNvPr id="3" name="内容占位符 2"/>
          <p:cNvSpPr>
            <a:spLocks noGrp="1"/>
          </p:cNvSpPr>
          <p:nvPr>
            <p:ph idx="1"/>
          </p:nvPr>
        </p:nvSpPr>
        <p:spPr>
          <a:xfrm>
            <a:off x="2234882" y="1216438"/>
            <a:ext cx="7722235" cy="3542030"/>
          </a:xfrm>
        </p:spPr>
        <p:txBody>
          <a:bodyPr>
            <a:normAutofit/>
          </a:bodyPr>
          <a:lstStyle/>
          <a:p>
            <a:pPr>
              <a:buBlip>
                <a:blip r:embed="rId3"/>
              </a:buBlip>
            </a:pPr>
            <a:r>
              <a:rPr lang="en-US" altLang="zh-CN" sz="2800" dirty="0"/>
              <a:t> </a:t>
            </a:r>
            <a:r>
              <a:rPr lang="en-US" altLang="zh-CN" sz="2800" u="dottedHeavy" dirty="0">
                <a:solidFill>
                  <a:schemeClr val="tx1"/>
                </a:solidFill>
                <a:uFillTx/>
              </a:rPr>
              <a:t>6.5.1  </a:t>
            </a:r>
            <a:r>
              <a:rPr sz="2800" u="dottedHeavy" dirty="0">
                <a:solidFill>
                  <a:schemeClr val="tx1"/>
                </a:solidFill>
                <a:uFillTx/>
              </a:rPr>
              <a:t>段的引入</a:t>
            </a:r>
          </a:p>
          <a:p>
            <a:pPr>
              <a:buBlip>
                <a:blip r:embed="rId3"/>
              </a:buBlip>
            </a:pPr>
            <a:r>
              <a:rPr sz="2800" dirty="0"/>
              <a:t> </a:t>
            </a:r>
            <a:r>
              <a:rPr lang="en-US" altLang="zh-CN" sz="2800" u="dottedHeavy" dirty="0"/>
              <a:t>6.5.2  </a:t>
            </a:r>
            <a:r>
              <a:rPr sz="2800" u="dottedHeavy" dirty="0">
                <a:sym typeface="+mn-ea"/>
              </a:rPr>
              <a:t>工作原理</a:t>
            </a:r>
            <a:endParaRPr sz="2800" u="dottedHeavy" dirty="0"/>
          </a:p>
          <a:p>
            <a:pPr>
              <a:buBlip>
                <a:blip r:embed="rId3"/>
              </a:buBlip>
            </a:pPr>
            <a:r>
              <a:rPr lang="en-US" altLang="zh-CN" sz="2800" dirty="0"/>
              <a:t> </a:t>
            </a:r>
            <a:r>
              <a:rPr lang="en-US" altLang="zh-CN" sz="2800" u="dottedHeavy" dirty="0"/>
              <a:t>6.5.3  </a:t>
            </a:r>
            <a:r>
              <a:rPr sz="2800" u="dottedHeavy" dirty="0">
                <a:sym typeface="+mn-ea"/>
              </a:rPr>
              <a:t>地址变换</a:t>
            </a:r>
            <a:endParaRPr sz="2800" u="dottedHeavy" dirty="0"/>
          </a:p>
          <a:p>
            <a:pPr>
              <a:buBlip>
                <a:blip r:embed="rId3"/>
              </a:buBlip>
            </a:pPr>
            <a:r>
              <a:rPr sz="2800" u="dottedHeavy" dirty="0"/>
              <a:t> </a:t>
            </a:r>
            <a:r>
              <a:rPr lang="en-US" altLang="zh-CN" sz="2800" u="dottedHeavy" dirty="0"/>
              <a:t>6.5.4  </a:t>
            </a:r>
            <a:r>
              <a:rPr sz="2800" u="dottedHeavy" dirty="0"/>
              <a:t>分段存储管理和分页存储管理的区别</a:t>
            </a:r>
            <a:r>
              <a:rPr lang="en-US" altLang="zh-CN" sz="2800" u="dottedHeavy" dirty="0"/>
              <a:t>                  </a:t>
            </a:r>
          </a:p>
        </p:txBody>
      </p:sp>
    </p:spTree>
    <p:custDataLst>
      <p:tags r:id="rId1"/>
    </p:custDataLst>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6.5.1 段的引入</a:t>
            </a:r>
            <a:endParaRPr lang="zh-CN" altLang="en-US"/>
          </a:p>
        </p:txBody>
      </p:sp>
      <p:sp>
        <p:nvSpPr>
          <p:cNvPr id="3" name="内容占位符 2"/>
          <p:cNvSpPr>
            <a:spLocks noGrp="1"/>
          </p:cNvSpPr>
          <p:nvPr>
            <p:ph idx="1"/>
          </p:nvPr>
        </p:nvSpPr>
        <p:spPr>
          <a:xfrm>
            <a:off x="608330" y="1227455"/>
            <a:ext cx="10968990" cy="5092322"/>
          </a:xfrm>
        </p:spPr>
        <p:txBody>
          <a:bodyPr>
            <a:normAutofit/>
          </a:bodyPr>
          <a:lstStyle/>
          <a:p>
            <a:r>
              <a:rPr sz="3200" b="1" dirty="0">
                <a:latin typeface="华文新魏" panose="02010800040101010101" pitchFamily="2" charset="-122"/>
                <a:ea typeface="华文新魏" panose="02010800040101010101" pitchFamily="2" charset="-122"/>
                <a:sym typeface="+mn-ea"/>
              </a:rPr>
              <a:t>为了满足用户在编程和使用上的要求，迫切需要一个信息的逻辑单位</a:t>
            </a:r>
            <a:r>
              <a:rPr lang="zh-CN" altLang="en-US" sz="3200" b="1" dirty="0">
                <a:latin typeface="华文新魏" panose="02010800040101010101" pitchFamily="2" charset="-122"/>
                <a:ea typeface="华文新魏" panose="02010800040101010101" pitchFamily="2" charset="-122"/>
                <a:sym typeface="+mn-ea"/>
              </a:rPr>
              <a:t>：</a:t>
            </a:r>
            <a:endParaRPr lang="zh-CN" altLang="en-US" sz="3200" b="1" dirty="0">
              <a:latin typeface="华文新魏" panose="02010800040101010101" pitchFamily="2" charset="-122"/>
              <a:ea typeface="华文新魏" panose="02010800040101010101" pitchFamily="2" charset="-122"/>
            </a:endParaRPr>
          </a:p>
          <a:p>
            <a:pPr lvl="1"/>
            <a:r>
              <a:rPr sz="3200" b="1" dirty="0">
                <a:latin typeface="华文新魏" panose="02010800040101010101" pitchFamily="2" charset="-122"/>
                <a:ea typeface="华文新魏" panose="02010800040101010101" pitchFamily="2" charset="-122"/>
                <a:sym typeface="+mn-ea"/>
              </a:rPr>
              <a:t>该逻辑单位允许长度不相等</a:t>
            </a:r>
            <a:r>
              <a:rPr lang="zh-CN" altLang="en-US" sz="3200" b="1" dirty="0">
                <a:latin typeface="华文新魏" panose="02010800040101010101" pitchFamily="2" charset="-122"/>
                <a:ea typeface="华文新魏" panose="02010800040101010101" pitchFamily="2" charset="-122"/>
                <a:sym typeface="+mn-ea"/>
              </a:rPr>
              <a:t>；</a:t>
            </a:r>
            <a:endParaRPr lang="zh-CN" altLang="en-US" sz="3200" b="1" dirty="0">
              <a:latin typeface="华文新魏" panose="02010800040101010101" pitchFamily="2" charset="-122"/>
              <a:ea typeface="华文新魏" panose="02010800040101010101" pitchFamily="2" charset="-122"/>
            </a:endParaRPr>
          </a:p>
          <a:p>
            <a:pPr lvl="1"/>
            <a:r>
              <a:rPr sz="3200" b="1" dirty="0">
                <a:latin typeface="华文新魏" panose="02010800040101010101" pitchFamily="2" charset="-122"/>
                <a:ea typeface="华文新魏" panose="02010800040101010101" pitchFamily="2" charset="-122"/>
                <a:sym typeface="+mn-ea"/>
              </a:rPr>
              <a:t>支持动态增长和动态链接</a:t>
            </a:r>
            <a:r>
              <a:rPr lang="zh-CN" altLang="en-US" sz="3200" b="1" dirty="0">
                <a:latin typeface="华文新魏" panose="02010800040101010101" pitchFamily="2" charset="-122"/>
                <a:ea typeface="华文新魏" panose="02010800040101010101" pitchFamily="2" charset="-122"/>
                <a:sym typeface="+mn-ea"/>
              </a:rPr>
              <a:t>；</a:t>
            </a:r>
            <a:endParaRPr lang="en-US" sz="3200" b="1" dirty="0">
              <a:latin typeface="华文新魏" panose="02010800040101010101" pitchFamily="2" charset="-122"/>
              <a:ea typeface="华文新魏" panose="02010800040101010101" pitchFamily="2" charset="-122"/>
              <a:sym typeface="+mn-ea"/>
            </a:endParaRPr>
          </a:p>
          <a:p>
            <a:pPr lvl="1"/>
            <a:r>
              <a:rPr lang="zh-CN" altLang="en-US" sz="3200" b="1" dirty="0">
                <a:latin typeface="华文新魏" panose="02010800040101010101" pitchFamily="2" charset="-122"/>
                <a:ea typeface="华文新魏" panose="02010800040101010101" pitchFamily="2" charset="-122"/>
                <a:sym typeface="+mn-ea"/>
              </a:rPr>
              <a:t>方便共享与保护；</a:t>
            </a:r>
            <a:endParaRPr lang="en-US" altLang="zh-CN" sz="3200" b="1" dirty="0">
              <a:latin typeface="华文新魏" panose="02010800040101010101" pitchFamily="2" charset="-122"/>
              <a:ea typeface="华文新魏" panose="02010800040101010101" pitchFamily="2" charset="-122"/>
              <a:sym typeface="+mn-ea"/>
            </a:endParaRPr>
          </a:p>
          <a:p>
            <a:pPr marL="457200" lvl="1" indent="0">
              <a:buNone/>
            </a:pPr>
            <a:r>
              <a:rPr lang="zh-CN" altLang="en-US" sz="3200" b="1" dirty="0">
                <a:latin typeface="华文新魏" panose="02010800040101010101" pitchFamily="2" charset="-122"/>
                <a:ea typeface="华文新魏" panose="02010800040101010101" pitchFamily="2" charset="-122"/>
                <a:sym typeface="+mn-ea"/>
              </a:rPr>
              <a:t>  </a:t>
            </a:r>
            <a:r>
              <a:rPr lang="en-US" altLang="zh-CN" sz="3200" b="1" dirty="0">
                <a:latin typeface="华文新魏" panose="02010800040101010101" pitchFamily="2" charset="-122"/>
                <a:ea typeface="华文新魏" panose="02010800040101010101" pitchFamily="2" charset="-122"/>
                <a:sym typeface="+mn-ea"/>
              </a:rPr>
              <a:t>——</a:t>
            </a:r>
            <a:r>
              <a:rPr lang="zh-CN" altLang="en-US" sz="3200" b="1" dirty="0">
                <a:latin typeface="华文新魏" panose="02010800040101010101" pitchFamily="2" charset="-122"/>
                <a:ea typeface="华文新魏" panose="02010800040101010101" pitchFamily="2" charset="-122"/>
                <a:sym typeface="+mn-ea"/>
              </a:rPr>
              <a:t>这个信息的逻辑单位称为</a:t>
            </a:r>
            <a:r>
              <a:rPr lang="zh-CN" altLang="en-US" sz="3200" b="1" dirty="0">
                <a:solidFill>
                  <a:srgbClr val="FF0000"/>
                </a:solidFill>
                <a:latin typeface="华文新魏" panose="02010800040101010101" pitchFamily="2" charset="-122"/>
                <a:ea typeface="华文新魏" panose="02010800040101010101" pitchFamily="2" charset="-122"/>
                <a:sym typeface="+mn-ea"/>
              </a:rPr>
              <a:t>段</a:t>
            </a:r>
            <a:r>
              <a:rPr lang="zh-CN" altLang="en-US" sz="3200" b="1" dirty="0">
                <a:latin typeface="华文新魏" panose="02010800040101010101" pitchFamily="2" charset="-122"/>
                <a:ea typeface="华文新魏" panose="02010800040101010101" pitchFamily="2" charset="-122"/>
                <a:sym typeface="+mn-ea"/>
              </a:rPr>
              <a:t>。</a:t>
            </a:r>
            <a:endParaRPr lang="zh-CN" altLang="en-US" sz="3200" b="1" dirty="0">
              <a:latin typeface="华文新魏" panose="02010800040101010101" pitchFamily="2" charset="-122"/>
              <a:ea typeface="华文新魏" panose="02010800040101010101" pitchFamily="2" charset="-122"/>
            </a:endParaRPr>
          </a:p>
          <a:p>
            <a:endParaRPr lang="zh-CN" altLang="en-US" sz="3200" dirty="0">
              <a:latin typeface="华文新魏" panose="02010800040101010101" pitchFamily="2" charset="-122"/>
              <a:ea typeface="华文新魏" panose="02010800040101010101" pitchFamily="2" charset="-122"/>
            </a:endParaRPr>
          </a:p>
        </p:txBody>
      </p:sp>
    </p:spTree>
    <p:custDataLst>
      <p:tags r:id="rId1"/>
    </p:custDataLst>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6.5.2 工作原理</a:t>
            </a:r>
          </a:p>
        </p:txBody>
      </p:sp>
      <p:sp>
        <p:nvSpPr>
          <p:cNvPr id="3" name="内容占位符 2"/>
          <p:cNvSpPr>
            <a:spLocks noGrp="1"/>
          </p:cNvSpPr>
          <p:nvPr>
            <p:ph idx="1"/>
          </p:nvPr>
        </p:nvSpPr>
        <p:spPr>
          <a:xfrm>
            <a:off x="504158" y="1019111"/>
            <a:ext cx="11313594" cy="5265942"/>
          </a:xfrm>
        </p:spPr>
        <p:txBody>
          <a:bodyPr>
            <a:normAutofit/>
          </a:bodyPr>
          <a:lstStyle/>
          <a:p>
            <a:pPr marL="0" indent="0">
              <a:buNone/>
            </a:pPr>
            <a:r>
              <a:rPr lang="zh-CN" altLang="en-US" sz="2800" b="1" dirty="0"/>
              <a:t>1</a:t>
            </a:r>
            <a:r>
              <a:rPr lang="en-US" altLang="zh-CN" sz="2800" b="1" dirty="0"/>
              <a:t>.</a:t>
            </a:r>
            <a:r>
              <a:rPr lang="zh-CN" altLang="en-US" sz="2800" b="1" dirty="0"/>
              <a:t>分段</a:t>
            </a:r>
            <a:r>
              <a:rPr lang="zh-CN" altLang="en-US" sz="2800" b="1" dirty="0">
                <a:solidFill>
                  <a:srgbClr val="FF0000"/>
                </a:solidFill>
              </a:rPr>
              <a:t> </a:t>
            </a:r>
          </a:p>
          <a:p>
            <a:r>
              <a:rPr lang="zh-CN" altLang="en-US" sz="2600" dirty="0"/>
              <a:t>程序的地址空间被</a:t>
            </a:r>
            <a:r>
              <a:rPr lang="zh-CN" altLang="en-US" sz="2600" b="1" dirty="0">
                <a:solidFill>
                  <a:srgbClr val="0000FF"/>
                </a:solidFill>
              </a:rPr>
              <a:t>划分成若干段</a:t>
            </a:r>
            <a:r>
              <a:rPr lang="zh-CN" altLang="en-US" sz="2600" dirty="0"/>
              <a:t>，每个段都是一组有意义的逻辑信息集合。</a:t>
            </a:r>
          </a:p>
          <a:p>
            <a:pPr lvl="1"/>
            <a:r>
              <a:rPr lang="zh-CN" altLang="en-US" sz="2600" dirty="0"/>
              <a:t>例如，一个程序由主程序段main、子程序段list和数据段data 等组成。</a:t>
            </a:r>
          </a:p>
          <a:p>
            <a:pPr lvl="0"/>
            <a:r>
              <a:rPr lang="zh-CN" altLang="en-US" sz="2600" dirty="0"/>
              <a:t>每个段都是</a:t>
            </a:r>
            <a:r>
              <a:rPr lang="zh-CN" altLang="en-US" sz="2600" b="1" dirty="0"/>
              <a:t>从0 开始编址</a:t>
            </a:r>
            <a:r>
              <a:rPr lang="zh-CN" altLang="en-US" sz="2600" dirty="0"/>
              <a:t>，</a:t>
            </a:r>
            <a:r>
              <a:rPr lang="zh-CN" altLang="en-US" sz="2600" dirty="0">
                <a:solidFill>
                  <a:srgbClr val="0000FF"/>
                </a:solidFill>
              </a:rPr>
              <a:t>各段的</a:t>
            </a:r>
            <a:r>
              <a:rPr lang="zh-CN" altLang="en-US" sz="2600" b="1" dirty="0">
                <a:solidFill>
                  <a:srgbClr val="0000FF"/>
                </a:solidFill>
              </a:rPr>
              <a:t>长度并不要求相等</a:t>
            </a:r>
            <a:r>
              <a:rPr lang="zh-CN" altLang="en-US" sz="2600" dirty="0"/>
              <a:t>，也可以</a:t>
            </a:r>
            <a:r>
              <a:rPr lang="zh-CN" altLang="en-US" sz="2600" b="1" dirty="0"/>
              <a:t>动态增长</a:t>
            </a:r>
            <a:r>
              <a:rPr lang="zh-CN" altLang="en-US" sz="2600" dirty="0"/>
              <a:t>。</a:t>
            </a:r>
          </a:p>
          <a:p>
            <a:pPr lvl="0"/>
            <a:r>
              <a:rPr lang="zh-CN" altLang="en-US" sz="2600" dirty="0"/>
              <a:t>为了区分，</a:t>
            </a:r>
            <a:r>
              <a:rPr lang="zh-CN" altLang="en-US" sz="2600" b="1" dirty="0"/>
              <a:t>每个段都有自己的名字</a:t>
            </a:r>
            <a:r>
              <a:rPr lang="zh-CN" altLang="en-US" sz="2600" dirty="0"/>
              <a:t>和</a:t>
            </a:r>
            <a:r>
              <a:rPr lang="zh-CN" altLang="en-US" sz="2600" b="1" dirty="0"/>
              <a:t>段号</a:t>
            </a:r>
            <a:r>
              <a:rPr lang="zh-CN" altLang="en-US" sz="2600" dirty="0"/>
              <a:t>。</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6.5.2 工作原理</a:t>
            </a:r>
            <a:endParaRPr lang="zh-CN" altLang="en-US"/>
          </a:p>
        </p:txBody>
      </p:sp>
      <p:sp>
        <p:nvSpPr>
          <p:cNvPr id="3" name="内容占位符 2"/>
          <p:cNvSpPr>
            <a:spLocks noGrp="1"/>
          </p:cNvSpPr>
          <p:nvPr>
            <p:ph idx="1"/>
          </p:nvPr>
        </p:nvSpPr>
        <p:spPr>
          <a:xfrm>
            <a:off x="608330" y="1053296"/>
            <a:ext cx="10968990" cy="4047512"/>
          </a:xfrm>
        </p:spPr>
        <p:txBody>
          <a:bodyPr>
            <a:normAutofit fontScale="92500" lnSpcReduction="10000"/>
          </a:bodyPr>
          <a:lstStyle/>
          <a:p>
            <a:pPr>
              <a:lnSpc>
                <a:spcPct val="150000"/>
              </a:lnSpc>
            </a:pPr>
            <a:r>
              <a:rPr lang="zh-CN" altLang="en-US" dirty="0"/>
              <a:t>程序分段后，</a:t>
            </a:r>
            <a:r>
              <a:rPr lang="zh-CN" altLang="en-US" sz="2800" dirty="0">
                <a:solidFill>
                  <a:srgbClr val="0000FF"/>
                </a:solidFill>
              </a:rPr>
              <a:t>逻辑地址</a:t>
            </a:r>
            <a:r>
              <a:rPr lang="zh-CN" altLang="en-US" dirty="0"/>
              <a:t>由两部分组成：</a:t>
            </a:r>
          </a:p>
          <a:p>
            <a:pPr lvl="1">
              <a:lnSpc>
                <a:spcPct val="150000"/>
              </a:lnSpc>
            </a:pPr>
            <a:r>
              <a:rPr lang="zh-CN" altLang="en-US" b="1" dirty="0"/>
              <a:t>段号s（或段名），段内地址d</a:t>
            </a:r>
            <a:r>
              <a:rPr lang="zh-CN" altLang="en-US" dirty="0"/>
              <a:t> </a:t>
            </a:r>
          </a:p>
          <a:p>
            <a:pPr lvl="1">
              <a:lnSpc>
                <a:spcPct val="150000"/>
              </a:lnSpc>
            </a:pPr>
            <a:r>
              <a:rPr lang="zh-CN" altLang="en-US" dirty="0"/>
              <a:t>如指令“LOAD A, [1] | &lt;160&gt;;”的含义是将1 段中160 单元的值读出，给寄存器A 赋值。</a:t>
            </a:r>
          </a:p>
          <a:p>
            <a:pPr lvl="0">
              <a:lnSpc>
                <a:spcPct val="150000"/>
              </a:lnSpc>
            </a:pPr>
            <a:r>
              <a:rPr lang="zh-CN" altLang="en-US" dirty="0"/>
              <a:t>在分段存储管理中，</a:t>
            </a:r>
            <a:r>
              <a:rPr lang="zh-CN" altLang="en-US" sz="2800" b="1" dirty="0">
                <a:solidFill>
                  <a:srgbClr val="FF0000"/>
                </a:solidFill>
              </a:rPr>
              <a:t>逻辑地址空间是二维的</a:t>
            </a:r>
            <a:r>
              <a:rPr lang="zh-CN" altLang="en-US" dirty="0"/>
              <a:t>。</a:t>
            </a:r>
            <a:endParaRPr lang="en-US" altLang="zh-CN" dirty="0"/>
          </a:p>
          <a:p>
            <a:pPr lvl="0">
              <a:lnSpc>
                <a:spcPct val="150000"/>
              </a:lnSpc>
            </a:pPr>
            <a:r>
              <a:rPr lang="zh-CN" altLang="en-US" dirty="0"/>
              <a:t>地址结构：段号的地址位数决定了程序最多多少段</a:t>
            </a:r>
            <a:endParaRPr lang="en-US" altLang="zh-CN" dirty="0"/>
          </a:p>
          <a:p>
            <a:pPr marL="0" lvl="0" indent="0">
              <a:lnSpc>
                <a:spcPct val="150000"/>
              </a:lnSpc>
              <a:buNone/>
            </a:pPr>
            <a:r>
              <a:rPr lang="zh-CN" altLang="en-US" dirty="0"/>
              <a:t>                   段内地址的位数决定了每一段的最大长度</a:t>
            </a:r>
          </a:p>
        </p:txBody>
      </p:sp>
      <p:sp>
        <p:nvSpPr>
          <p:cNvPr id="4" name="文本框 3">
            <a:extLst>
              <a:ext uri="{FF2B5EF4-FFF2-40B4-BE49-F238E27FC236}">
                <a16:creationId xmlns:a16="http://schemas.microsoft.com/office/drawing/2014/main" id="{5C8220C1-F372-BBA6-957B-C19E114830DB}"/>
              </a:ext>
            </a:extLst>
          </p:cNvPr>
          <p:cNvSpPr txBox="1"/>
          <p:nvPr/>
        </p:nvSpPr>
        <p:spPr>
          <a:xfrm>
            <a:off x="1597446" y="5442333"/>
            <a:ext cx="1288973" cy="369332"/>
          </a:xfrm>
          <a:prstGeom prst="rect">
            <a:avLst/>
          </a:prstGeom>
          <a:noFill/>
          <a:ln w="19050">
            <a:solidFill>
              <a:schemeClr val="tx1"/>
            </a:solidFill>
          </a:ln>
        </p:spPr>
        <p:txBody>
          <a:bodyPr wrap="square" rtlCol="0">
            <a:spAutoFit/>
          </a:bodyPr>
          <a:lstStyle/>
          <a:p>
            <a:r>
              <a:rPr lang="zh-CN" altLang="en-US" dirty="0"/>
              <a:t>段号</a:t>
            </a:r>
          </a:p>
        </p:txBody>
      </p:sp>
      <p:sp>
        <p:nvSpPr>
          <p:cNvPr id="6" name="文本框 5">
            <a:extLst>
              <a:ext uri="{FF2B5EF4-FFF2-40B4-BE49-F238E27FC236}">
                <a16:creationId xmlns:a16="http://schemas.microsoft.com/office/drawing/2014/main" id="{588D7DE5-81FA-CF77-57F7-2C3B86FA4517}"/>
              </a:ext>
            </a:extLst>
          </p:cNvPr>
          <p:cNvSpPr txBox="1"/>
          <p:nvPr/>
        </p:nvSpPr>
        <p:spPr>
          <a:xfrm>
            <a:off x="2897435" y="5442333"/>
            <a:ext cx="1972019" cy="369332"/>
          </a:xfrm>
          <a:prstGeom prst="rect">
            <a:avLst/>
          </a:prstGeom>
          <a:noFill/>
          <a:ln w="19050">
            <a:solidFill>
              <a:schemeClr val="tx1"/>
            </a:solidFill>
          </a:ln>
        </p:spPr>
        <p:txBody>
          <a:bodyPr wrap="square" rtlCol="0">
            <a:spAutoFit/>
          </a:bodyPr>
          <a:lstStyle/>
          <a:p>
            <a:r>
              <a:rPr lang="zh-CN" altLang="en-US" dirty="0"/>
              <a:t>段内地址</a:t>
            </a:r>
          </a:p>
        </p:txBody>
      </p:sp>
    </p:spTree>
    <p:custDataLst>
      <p:tags r:id="rId1"/>
    </p:custDataLst>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6.5.2 工作原理</a:t>
            </a:r>
            <a:endParaRPr lang="zh-CN" altLang="en-US"/>
          </a:p>
        </p:txBody>
      </p:sp>
      <p:sp>
        <p:nvSpPr>
          <p:cNvPr id="3" name="内容占位符 2"/>
          <p:cNvSpPr>
            <a:spLocks noGrp="1"/>
          </p:cNvSpPr>
          <p:nvPr>
            <p:ph idx="1"/>
          </p:nvPr>
        </p:nvSpPr>
        <p:spPr>
          <a:xfrm>
            <a:off x="608330" y="1227455"/>
            <a:ext cx="10968990" cy="5034449"/>
          </a:xfrm>
        </p:spPr>
        <p:txBody>
          <a:bodyPr>
            <a:normAutofit/>
          </a:bodyPr>
          <a:lstStyle/>
          <a:p>
            <a:pPr marL="0" indent="0">
              <a:buNone/>
            </a:pPr>
            <a:r>
              <a:rPr lang="zh-CN" altLang="en-US" sz="2800" b="1" dirty="0"/>
              <a:t>2</a:t>
            </a:r>
            <a:r>
              <a:rPr lang="en-US" altLang="zh-CN" sz="2800" b="1" dirty="0"/>
              <a:t>.</a:t>
            </a:r>
            <a:r>
              <a:rPr lang="zh-CN" altLang="en-US" sz="2800" b="1" dirty="0"/>
              <a:t>内存空间管理</a:t>
            </a:r>
          </a:p>
          <a:p>
            <a:pPr marL="457200" indent="-457200">
              <a:buSzPct val="100000"/>
              <a:buFont typeface="+mj-ea"/>
              <a:buAutoNum type="circleNumDbPlain"/>
            </a:pPr>
            <a:r>
              <a:rPr lang="zh-CN" altLang="en-US" dirty="0">
                <a:solidFill>
                  <a:srgbClr val="0000FF"/>
                </a:solidFill>
              </a:rPr>
              <a:t>以段为单位申请内存空间；</a:t>
            </a:r>
            <a:endParaRPr lang="en-US" altLang="zh-CN" dirty="0">
              <a:solidFill>
                <a:srgbClr val="0000FF"/>
              </a:solidFill>
            </a:endParaRPr>
          </a:p>
          <a:p>
            <a:pPr marL="457200" indent="-457200">
              <a:buSzPct val="100000"/>
              <a:buFont typeface="+mj-ea"/>
              <a:buAutoNum type="circleNumDbPlain"/>
            </a:pPr>
            <a:r>
              <a:rPr lang="zh-CN" altLang="en-US" dirty="0">
                <a:solidFill>
                  <a:srgbClr val="0000FF"/>
                </a:solidFill>
              </a:rPr>
              <a:t>系统根据段的长度，为每个段分配一块连续的内存区域；</a:t>
            </a:r>
            <a:endParaRPr lang="en-US" altLang="zh-CN" dirty="0">
              <a:solidFill>
                <a:srgbClr val="0000FF"/>
              </a:solidFill>
            </a:endParaRPr>
          </a:p>
          <a:p>
            <a:pPr marL="457200" indent="-457200">
              <a:buSzPct val="100000"/>
              <a:buFont typeface="+mj-ea"/>
              <a:buAutoNum type="circleNumDbPlain"/>
            </a:pPr>
            <a:r>
              <a:rPr lang="zh-CN" altLang="en-US" dirty="0">
                <a:solidFill>
                  <a:srgbClr val="0000FF"/>
                </a:solidFill>
              </a:rPr>
              <a:t>在内存中，段与段之间未必连续。</a:t>
            </a:r>
            <a:endParaRPr lang="en-US" altLang="zh-CN" dirty="0">
              <a:solidFill>
                <a:srgbClr val="0000FF"/>
              </a:solidFill>
            </a:endParaRPr>
          </a:p>
          <a:p>
            <a:endParaRPr lang="zh-CN" altLang="en-US" dirty="0">
              <a:solidFill>
                <a:srgbClr val="0000FF"/>
              </a:solidFill>
            </a:endParaRPr>
          </a:p>
          <a:p>
            <a:r>
              <a:rPr lang="zh-CN" altLang="en-US" dirty="0"/>
              <a:t> 内存空间的管理和动态分区存储管理相同的管理方法。</a:t>
            </a:r>
          </a:p>
          <a:p>
            <a:pPr lvl="1"/>
            <a:r>
              <a:rPr lang="zh-CN" altLang="en-US" dirty="0"/>
              <a:t>即把内存的各个空闲分区组织成</a:t>
            </a:r>
            <a:r>
              <a:rPr lang="zh-CN" altLang="en-US" b="1" dirty="0"/>
              <a:t>空闲分区表</a:t>
            </a:r>
            <a:r>
              <a:rPr lang="zh-CN" altLang="en-US" dirty="0"/>
              <a:t>或</a:t>
            </a:r>
            <a:r>
              <a:rPr lang="zh-CN" altLang="en-US" b="1" dirty="0"/>
              <a:t>空闲分区链</a:t>
            </a:r>
            <a:r>
              <a:rPr lang="zh-CN" altLang="en-US" dirty="0"/>
              <a:t>。</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6.5.2 工作原理</a:t>
            </a:r>
            <a:endParaRPr lang="zh-CN" altLang="en-US"/>
          </a:p>
        </p:txBody>
      </p:sp>
      <p:sp>
        <p:nvSpPr>
          <p:cNvPr id="3" name="内容占位符 2"/>
          <p:cNvSpPr>
            <a:spLocks noGrp="1"/>
          </p:cNvSpPr>
          <p:nvPr>
            <p:ph idx="1"/>
          </p:nvPr>
        </p:nvSpPr>
        <p:spPr>
          <a:xfrm>
            <a:off x="611505" y="819970"/>
            <a:ext cx="10968990" cy="1807483"/>
          </a:xfrm>
        </p:spPr>
        <p:txBody>
          <a:bodyPr>
            <a:normAutofit/>
          </a:bodyPr>
          <a:lstStyle/>
          <a:p>
            <a:pPr marL="0" indent="0">
              <a:buNone/>
            </a:pPr>
            <a:r>
              <a:rPr lang="en-US" altLang="zh-CN" sz="2800" b="1" dirty="0"/>
              <a:t>3.</a:t>
            </a:r>
            <a:r>
              <a:rPr sz="2800" b="1" dirty="0"/>
              <a:t>段表</a:t>
            </a:r>
            <a:endParaRPr lang="zh-CN" altLang="en-US" sz="2800" b="1" dirty="0"/>
          </a:p>
          <a:p>
            <a:r>
              <a:rPr lang="zh-CN" altLang="en-US" dirty="0"/>
              <a:t>系统为每个进程建立一个</a:t>
            </a:r>
            <a:r>
              <a:rPr lang="zh-CN" altLang="en-US" dirty="0">
                <a:solidFill>
                  <a:srgbClr val="0000FF"/>
                </a:solidFill>
              </a:rPr>
              <a:t>段表</a:t>
            </a:r>
            <a:r>
              <a:rPr lang="zh-CN" altLang="en-US" dirty="0"/>
              <a:t>，</a:t>
            </a:r>
            <a:r>
              <a:rPr lang="zh-CN" altLang="en-US" dirty="0">
                <a:solidFill>
                  <a:srgbClr val="0000FF"/>
                </a:solidFill>
              </a:rPr>
              <a:t>用来记录每个逻辑段在内存的存放始址和相关信息</a:t>
            </a:r>
            <a:r>
              <a:rPr lang="zh-CN" altLang="en-US" dirty="0"/>
              <a:t>。每个段对应一个段表项，包含段号、段长、基址等信息。</a:t>
            </a:r>
          </a:p>
        </p:txBody>
      </p:sp>
      <p:pic>
        <p:nvPicPr>
          <p:cNvPr id="4" name="图片 3" descr="KJ9@YL6%1[JAT_OV77{@H[6"/>
          <p:cNvPicPr>
            <a:picLocks noChangeAspect="1"/>
          </p:cNvPicPr>
          <p:nvPr/>
        </p:nvPicPr>
        <p:blipFill>
          <a:blip r:embed="rId3"/>
          <a:stretch>
            <a:fillRect/>
          </a:stretch>
        </p:blipFill>
        <p:spPr>
          <a:xfrm>
            <a:off x="2417445" y="2715220"/>
            <a:ext cx="7021376" cy="3697155"/>
          </a:xfrm>
          <a:prstGeom prst="rect">
            <a:avLst/>
          </a:prstGeom>
        </p:spPr>
      </p:pic>
    </p:spTree>
    <p:custDataLst>
      <p:tags r:id="rId1"/>
    </p:custDataLst>
  </p:cSld>
  <p:clrMapOvr>
    <a:masterClrMapping/>
  </p:clrMapOvr>
  <p:transition>
    <p:random/>
  </p:transition>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6.5.3 地址变换</a:t>
            </a:r>
          </a:p>
        </p:txBody>
      </p:sp>
      <p:sp>
        <p:nvSpPr>
          <p:cNvPr id="3" name="内容占位符 2"/>
          <p:cNvSpPr>
            <a:spLocks noGrp="1"/>
          </p:cNvSpPr>
          <p:nvPr>
            <p:ph idx="1"/>
          </p:nvPr>
        </p:nvSpPr>
        <p:spPr>
          <a:xfrm>
            <a:off x="608330" y="1025525"/>
            <a:ext cx="10968990" cy="5224145"/>
          </a:xfrm>
        </p:spPr>
        <p:txBody>
          <a:bodyPr>
            <a:normAutofit/>
          </a:bodyPr>
          <a:lstStyle/>
          <a:p>
            <a:r>
              <a:rPr lang="zh-CN" altLang="en-US" dirty="0"/>
              <a:t>段表寄存器：用于存放段表在内存的始址和段表长度。</a:t>
            </a:r>
          </a:p>
          <a:p>
            <a:r>
              <a:rPr lang="zh-CN" altLang="en-US" dirty="0"/>
              <a:t>地址变换过程：</a:t>
            </a:r>
          </a:p>
          <a:p>
            <a:pPr lvl="1"/>
            <a:r>
              <a:rPr lang="zh-CN" altLang="en-US" dirty="0"/>
              <a:t>首先将逻辑地址中的段号s 与段表长度进行比较。</a:t>
            </a:r>
          </a:p>
          <a:p>
            <a:pPr lvl="1"/>
            <a:r>
              <a:rPr lang="zh-CN" altLang="en-US" dirty="0"/>
              <a:t>如果段号s 大于或等于段表长度，表示没有该段，访问越界，产生越界中断。</a:t>
            </a:r>
          </a:p>
          <a:p>
            <a:pPr lvl="1"/>
            <a:r>
              <a:rPr lang="zh-CN" altLang="en-US" dirty="0"/>
              <a:t>若段号未越界，则根据段表始址和段号，访问该段的段表项。将段表中记录的该段始址与段内地址相加，得到要访问的内存的物理地址。</a:t>
            </a:r>
          </a:p>
          <a:p>
            <a:pPr lvl="1"/>
            <a:endParaRPr lang="zh-CN" altLang="en-US" dirty="0"/>
          </a:p>
        </p:txBody>
      </p:sp>
      <p:pic>
        <p:nvPicPr>
          <p:cNvPr id="4" name="图片 3" descr=")}2@JD@@H3%DB51VG$ZV5NX">
            <a:extLst>
              <a:ext uri="{FF2B5EF4-FFF2-40B4-BE49-F238E27FC236}">
                <a16:creationId xmlns:a16="http://schemas.microsoft.com/office/drawing/2014/main" id="{4891E3EE-8982-4CD8-B022-7A9948B92CFE}"/>
              </a:ext>
            </a:extLst>
          </p:cNvPr>
          <p:cNvPicPr>
            <a:picLocks noChangeAspect="1"/>
          </p:cNvPicPr>
          <p:nvPr/>
        </p:nvPicPr>
        <p:blipFill>
          <a:blip r:embed="rId3"/>
          <a:stretch>
            <a:fillRect/>
          </a:stretch>
        </p:blipFill>
        <p:spPr>
          <a:xfrm>
            <a:off x="614680" y="1025525"/>
            <a:ext cx="10739074" cy="5429700"/>
          </a:xfrm>
          <a:prstGeom prst="rect">
            <a:avLst/>
          </a:prstGeom>
        </p:spPr>
      </p:pic>
    </p:spTree>
    <p:custDataLst>
      <p:tags r:id="rId1"/>
    </p:custDataLst>
  </p:cSld>
  <p:clrMapOvr>
    <a:masterClrMapping/>
  </p:clrMapOvr>
  <p:transition>
    <p:rand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6.5.3 地址变换</a:t>
            </a:r>
          </a:p>
        </p:txBody>
      </p:sp>
      <p:sp>
        <p:nvSpPr>
          <p:cNvPr id="3" name="内容占位符 2"/>
          <p:cNvSpPr>
            <a:spLocks noGrp="1"/>
          </p:cNvSpPr>
          <p:nvPr>
            <p:ph idx="1"/>
          </p:nvPr>
        </p:nvSpPr>
        <p:spPr>
          <a:xfrm>
            <a:off x="608330" y="1331090"/>
            <a:ext cx="10968990" cy="2789497"/>
          </a:xfrm>
        </p:spPr>
        <p:txBody>
          <a:bodyPr>
            <a:normAutofit/>
          </a:bodyPr>
          <a:lstStyle/>
          <a:p>
            <a:r>
              <a:rPr lang="zh-CN" altLang="en-US" sz="2800" dirty="0">
                <a:solidFill>
                  <a:srgbClr val="0000FF"/>
                </a:solidFill>
              </a:rPr>
              <a:t>当段表放在内存时，每访问内存一个数据，需要访问内存两次</a:t>
            </a:r>
            <a:r>
              <a:rPr lang="zh-CN" altLang="en-US" sz="2800" dirty="0"/>
              <a:t>，从而成倍地降低了计算机的工作速率。</a:t>
            </a:r>
          </a:p>
          <a:p>
            <a:r>
              <a:rPr lang="zh-CN" altLang="en-US" sz="2800" dirty="0"/>
              <a:t>解决方法：</a:t>
            </a:r>
            <a:endParaRPr lang="en-US" altLang="zh-CN" sz="2800" dirty="0"/>
          </a:p>
          <a:p>
            <a:pPr marL="0" indent="0">
              <a:buNone/>
            </a:pPr>
            <a:r>
              <a:rPr lang="en-US" altLang="zh-CN" sz="2800" dirty="0"/>
              <a:t>	</a:t>
            </a:r>
            <a:r>
              <a:rPr lang="zh-CN" altLang="en-US" sz="2800" dirty="0"/>
              <a:t>增设一个联想存储器，用于保存最近常用的段表项。</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533047DA-69B4-4979-B74B-58D4A05FC2A8}"/>
              </a:ext>
            </a:extLst>
          </p:cNvPr>
          <p:cNvGraphicFramePr>
            <a:graphicFrameLocks noGrp="1"/>
          </p:cNvGraphicFramePr>
          <p:nvPr>
            <p:ph idx="1"/>
            <p:extLst>
              <p:ext uri="{D42A27DB-BD31-4B8C-83A1-F6EECF244321}">
                <p14:modId xmlns:p14="http://schemas.microsoft.com/office/powerpoint/2010/main" val="828358113"/>
              </p:ext>
            </p:extLst>
          </p:nvPr>
        </p:nvGraphicFramePr>
        <p:xfrm>
          <a:off x="4822825" y="2473643"/>
          <a:ext cx="4679991" cy="3232674"/>
        </p:xfrm>
        <a:graphic>
          <a:graphicData uri="http://schemas.openxmlformats.org/drawingml/2006/table">
            <a:tbl>
              <a:tblPr/>
              <a:tblGrid>
                <a:gridCol w="1559997">
                  <a:extLst>
                    <a:ext uri="{9D8B030D-6E8A-4147-A177-3AD203B41FA5}">
                      <a16:colId xmlns:a16="http://schemas.microsoft.com/office/drawing/2014/main" val="202854874"/>
                    </a:ext>
                  </a:extLst>
                </a:gridCol>
                <a:gridCol w="1559997">
                  <a:extLst>
                    <a:ext uri="{9D8B030D-6E8A-4147-A177-3AD203B41FA5}">
                      <a16:colId xmlns:a16="http://schemas.microsoft.com/office/drawing/2014/main" val="3368691872"/>
                    </a:ext>
                  </a:extLst>
                </a:gridCol>
                <a:gridCol w="1559997">
                  <a:extLst>
                    <a:ext uri="{9D8B030D-6E8A-4147-A177-3AD203B41FA5}">
                      <a16:colId xmlns:a16="http://schemas.microsoft.com/office/drawing/2014/main" val="3396330568"/>
                    </a:ext>
                  </a:extLst>
                </a:gridCol>
              </a:tblGrid>
              <a:tr h="830889">
                <a:tc>
                  <a:txBody>
                    <a:bodyPr/>
                    <a:lstStyle/>
                    <a:p>
                      <a:pPr algn="l"/>
                      <a:r>
                        <a:rPr lang="zh-CN" altLang="en-US" sz="2400" b="0">
                          <a:solidFill>
                            <a:schemeClr val="tx1"/>
                          </a:solidFill>
                          <a:effectLst/>
                        </a:rPr>
                        <a:t>段号</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2400" b="0">
                          <a:solidFill>
                            <a:schemeClr val="tx1"/>
                          </a:solidFill>
                          <a:effectLst/>
                        </a:rPr>
                        <a:t>内存始址</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2400" b="0" dirty="0">
                          <a:solidFill>
                            <a:schemeClr val="tx1"/>
                          </a:solidFill>
                          <a:effectLst/>
                        </a:rPr>
                        <a:t>段长</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5527739"/>
                  </a:ext>
                </a:extLst>
              </a:tr>
              <a:tr h="480357">
                <a:tc>
                  <a:txBody>
                    <a:bodyPr/>
                    <a:lstStyle/>
                    <a:p>
                      <a:pPr algn="l"/>
                      <a:r>
                        <a:rPr lang="en-US" altLang="zh-CN" sz="2400" b="0">
                          <a:solidFill>
                            <a:schemeClr val="tx1"/>
                          </a:solidFill>
                          <a:effectLst/>
                        </a:rPr>
                        <a:t>0</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l"/>
                      <a:r>
                        <a:rPr lang="en-US" sz="2400" b="0">
                          <a:solidFill>
                            <a:schemeClr val="tx1"/>
                          </a:solidFill>
                          <a:effectLst/>
                        </a:rPr>
                        <a:t>50K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l"/>
                      <a:r>
                        <a:rPr lang="en-US" sz="2400" b="0">
                          <a:solidFill>
                            <a:schemeClr val="tx1"/>
                          </a:solidFill>
                          <a:effectLst/>
                        </a:rPr>
                        <a:t>10k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2835778169"/>
                  </a:ext>
                </a:extLst>
              </a:tr>
              <a:tr h="480357">
                <a:tc>
                  <a:txBody>
                    <a:bodyPr/>
                    <a:lstStyle/>
                    <a:p>
                      <a:pPr algn="l"/>
                      <a:r>
                        <a:rPr lang="en-US" altLang="zh-CN" sz="2400" b="0">
                          <a:solidFill>
                            <a:schemeClr val="tx1"/>
                          </a:solidFill>
                          <a:effectLst/>
                        </a:rPr>
                        <a:t>1</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0">
                          <a:solidFill>
                            <a:schemeClr val="tx1"/>
                          </a:solidFill>
                          <a:effectLst/>
                        </a:rPr>
                        <a:t>60K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0" dirty="0">
                          <a:solidFill>
                            <a:schemeClr val="tx1"/>
                          </a:solidFill>
                          <a:effectLst/>
                        </a:rPr>
                        <a:t>3K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62936466"/>
                  </a:ext>
                </a:extLst>
              </a:tr>
              <a:tr h="480357">
                <a:tc>
                  <a:txBody>
                    <a:bodyPr/>
                    <a:lstStyle/>
                    <a:p>
                      <a:pPr algn="l"/>
                      <a:r>
                        <a:rPr lang="en-US" altLang="zh-CN" sz="2400" b="0">
                          <a:solidFill>
                            <a:schemeClr val="tx1"/>
                          </a:solidFill>
                          <a:effectLst/>
                        </a:rPr>
                        <a:t>2</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l"/>
                      <a:r>
                        <a:rPr lang="en-US" sz="2400" b="0">
                          <a:solidFill>
                            <a:schemeClr val="tx1"/>
                          </a:solidFill>
                          <a:effectLst/>
                        </a:rPr>
                        <a:t>70K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l"/>
                      <a:r>
                        <a:rPr lang="en-US" sz="2400" b="0">
                          <a:solidFill>
                            <a:schemeClr val="tx1"/>
                          </a:solidFill>
                          <a:effectLst/>
                        </a:rPr>
                        <a:t>5K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1827425221"/>
                  </a:ext>
                </a:extLst>
              </a:tr>
              <a:tr h="480357">
                <a:tc>
                  <a:txBody>
                    <a:bodyPr/>
                    <a:lstStyle/>
                    <a:p>
                      <a:pPr algn="l"/>
                      <a:r>
                        <a:rPr lang="en-US" altLang="zh-CN" sz="2400" b="0">
                          <a:solidFill>
                            <a:schemeClr val="tx1"/>
                          </a:solidFill>
                          <a:effectLst/>
                        </a:rPr>
                        <a:t>3</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0">
                          <a:solidFill>
                            <a:schemeClr val="tx1"/>
                          </a:solidFill>
                          <a:effectLst/>
                        </a:rPr>
                        <a:t>120K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0">
                          <a:solidFill>
                            <a:schemeClr val="tx1"/>
                          </a:solidFill>
                          <a:effectLst/>
                        </a:rPr>
                        <a:t>8K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56125611"/>
                  </a:ext>
                </a:extLst>
              </a:tr>
              <a:tr h="480357">
                <a:tc>
                  <a:txBody>
                    <a:bodyPr/>
                    <a:lstStyle/>
                    <a:p>
                      <a:pPr algn="l"/>
                      <a:r>
                        <a:rPr lang="en-US" altLang="zh-CN" sz="2400" b="0">
                          <a:solidFill>
                            <a:schemeClr val="tx1"/>
                          </a:solidFill>
                          <a:effectLst/>
                        </a:rPr>
                        <a:t>4</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l"/>
                      <a:r>
                        <a:rPr lang="en-US" sz="2400" b="0">
                          <a:solidFill>
                            <a:schemeClr val="tx1"/>
                          </a:solidFill>
                          <a:effectLst/>
                        </a:rPr>
                        <a:t>150K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l"/>
                      <a:r>
                        <a:rPr lang="en-US" sz="2400" b="0" dirty="0">
                          <a:solidFill>
                            <a:schemeClr val="tx1"/>
                          </a:solidFill>
                          <a:effectLst/>
                        </a:rPr>
                        <a:t>4K</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4035061134"/>
                  </a:ext>
                </a:extLst>
              </a:tr>
            </a:tbl>
          </a:graphicData>
        </a:graphic>
      </p:graphicFrame>
      <p:sp>
        <p:nvSpPr>
          <p:cNvPr id="5" name="Rectangle 1">
            <a:extLst>
              <a:ext uri="{FF2B5EF4-FFF2-40B4-BE49-F238E27FC236}">
                <a16:creationId xmlns:a16="http://schemas.microsoft.com/office/drawing/2014/main" id="{854D0A1D-C7F4-41BB-AA0B-4D7AD1396DEF}"/>
              </a:ext>
            </a:extLst>
          </p:cNvPr>
          <p:cNvSpPr>
            <a:spLocks noChangeArrowheads="1"/>
          </p:cNvSpPr>
          <p:nvPr/>
        </p:nvSpPr>
        <p:spPr bwMode="auto">
          <a:xfrm>
            <a:off x="684836" y="848912"/>
            <a:ext cx="10646780" cy="130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800" b="0" i="0" u="none" strike="noStrike" cap="none" normalizeH="0" baseline="0" dirty="0">
                <a:ln>
                  <a:noFill/>
                </a:ln>
                <a:effectLst/>
                <a:latin typeface="+mj-ea"/>
                <a:ea typeface="+mj-ea"/>
              </a:rPr>
              <a:t>练习：</a:t>
            </a:r>
            <a:r>
              <a:rPr kumimoji="0" lang="zh-CN" altLang="zh-CN" sz="2800" b="0" i="0" u="none" strike="noStrike" cap="none" normalizeH="0" baseline="0" dirty="0">
                <a:ln>
                  <a:noFill/>
                </a:ln>
                <a:effectLst/>
                <a:latin typeface="+mj-ea"/>
                <a:ea typeface="+mj-ea"/>
              </a:rPr>
              <a:t>如以下段表所示，请将逻辑地址（0,137），（1,4000），（2,3600），（5,230）转换成物理地址</a:t>
            </a:r>
            <a:r>
              <a:rPr kumimoji="0" lang="zh-CN" altLang="en-US" sz="2800" b="0" i="0" u="none" strike="noStrike" cap="none" normalizeH="0" baseline="0" dirty="0">
                <a:ln>
                  <a:noFill/>
                </a:ln>
                <a:effectLst/>
                <a:latin typeface="+mj-ea"/>
                <a:ea typeface="+mj-ea"/>
              </a:rPr>
              <a:t>。</a:t>
            </a:r>
            <a:endParaRPr kumimoji="0" lang="zh-CN" altLang="zh-CN" sz="2800" b="0" i="0" u="none" strike="noStrike" cap="none" normalizeH="0" baseline="0" dirty="0">
              <a:ln>
                <a:noFill/>
              </a:ln>
              <a:effectLst/>
              <a:latin typeface="+mj-ea"/>
              <a:ea typeface="+mj-ea"/>
            </a:endParaRPr>
          </a:p>
        </p:txBody>
      </p:sp>
    </p:spTree>
    <p:extLst>
      <p:ext uri="{BB962C8B-B14F-4D97-AF65-F5344CB8AC3E}">
        <p14:creationId xmlns:p14="http://schemas.microsoft.com/office/powerpoint/2010/main" val="408672966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95" y="114370"/>
            <a:ext cx="5019605" cy="705600"/>
          </a:xfrm>
        </p:spPr>
        <p:txBody>
          <a:bodyPr/>
          <a:lstStyle/>
          <a:p>
            <a:r>
              <a:rPr lang="zh-CN" altLang="en-US" dirty="0"/>
              <a:t>6.5.4 段和页的区别</a:t>
            </a:r>
            <a:endParaRPr lang="zh-CN" altLang="en-US" dirty="0">
              <a:solidFill>
                <a:srgbClr val="FF0000"/>
              </a:solidFill>
            </a:endParaRPr>
          </a:p>
        </p:txBody>
      </p:sp>
      <p:sp>
        <p:nvSpPr>
          <p:cNvPr id="3" name="内容占位符 2"/>
          <p:cNvSpPr>
            <a:spLocks noGrp="1"/>
          </p:cNvSpPr>
          <p:nvPr>
            <p:ph idx="1"/>
          </p:nvPr>
        </p:nvSpPr>
        <p:spPr>
          <a:xfrm>
            <a:off x="515733" y="1354612"/>
            <a:ext cx="10968990" cy="4340132"/>
          </a:xfrm>
        </p:spPr>
        <p:txBody>
          <a:bodyPr>
            <a:normAutofit/>
          </a:bodyPr>
          <a:lstStyle/>
          <a:p>
            <a:pPr marL="514350" indent="-514350">
              <a:buSzPct val="100000"/>
              <a:buFont typeface="+mj-lt"/>
              <a:buAutoNum type="arabicPeriod"/>
            </a:pPr>
            <a:r>
              <a:rPr lang="zh-CN" altLang="en-US" sz="2600" dirty="0"/>
              <a:t>页是信息的</a:t>
            </a:r>
            <a:r>
              <a:rPr lang="zh-CN" altLang="en-US" sz="2600" dirty="0">
                <a:solidFill>
                  <a:srgbClr val="FF0000"/>
                </a:solidFill>
              </a:rPr>
              <a:t>物理单位</a:t>
            </a:r>
            <a:r>
              <a:rPr lang="zh-CN" altLang="en-US" sz="2600" dirty="0"/>
              <a:t>。而段是信息的</a:t>
            </a:r>
            <a:r>
              <a:rPr lang="zh-CN" altLang="en-US" sz="2600" dirty="0">
                <a:solidFill>
                  <a:srgbClr val="FF0000"/>
                </a:solidFill>
              </a:rPr>
              <a:t>逻辑单位</a:t>
            </a:r>
            <a:r>
              <a:rPr lang="zh-CN" altLang="en-US" sz="2600" dirty="0"/>
              <a:t>，它含有一组有意义的相对完整的信息。</a:t>
            </a:r>
          </a:p>
          <a:p>
            <a:pPr marL="514350" indent="-514350">
              <a:buSzPct val="100000"/>
              <a:buFont typeface="+mj-lt"/>
              <a:buAutoNum type="arabicPeriod"/>
            </a:pPr>
            <a:r>
              <a:rPr lang="zh-CN" altLang="en-US" sz="2600" dirty="0"/>
              <a:t>分页是系统管理的需要而不是用户的需要。分段是为了能更好地满足用户的需要。</a:t>
            </a:r>
          </a:p>
          <a:p>
            <a:pPr marL="514350" indent="-514350">
              <a:buSzPct val="100000"/>
              <a:buFont typeface="+mj-lt"/>
              <a:buAutoNum type="arabicPeriod"/>
            </a:pPr>
            <a:r>
              <a:rPr lang="zh-CN" altLang="en-US" sz="2600" dirty="0"/>
              <a:t>页的</a:t>
            </a:r>
            <a:r>
              <a:rPr lang="zh-CN" altLang="en-US" sz="2600" dirty="0">
                <a:solidFill>
                  <a:srgbClr val="FF0000"/>
                </a:solidFill>
              </a:rPr>
              <a:t>大小是固定</a:t>
            </a:r>
            <a:r>
              <a:rPr lang="zh-CN" altLang="en-US" sz="2600" dirty="0"/>
              <a:t>的，由系统决定，即系统中只能有一种大小的页面。而段的</a:t>
            </a:r>
            <a:r>
              <a:rPr lang="zh-CN" altLang="en-US" sz="2600" dirty="0">
                <a:solidFill>
                  <a:srgbClr val="FF0000"/>
                </a:solidFill>
              </a:rPr>
              <a:t>长度是不固定</a:t>
            </a:r>
            <a:r>
              <a:rPr lang="zh-CN" altLang="en-US" sz="2600" dirty="0"/>
              <a:t>的，取决于用户所编写的程序。</a:t>
            </a:r>
          </a:p>
          <a:p>
            <a:pPr marL="514350" indent="-514350">
              <a:buSzPct val="100000"/>
              <a:buFont typeface="+mj-lt"/>
              <a:buAutoNum type="arabicPeriod"/>
            </a:pPr>
            <a:r>
              <a:rPr lang="zh-CN" altLang="en-US" sz="2600" dirty="0"/>
              <a:t>分页的逻辑地址空间是</a:t>
            </a:r>
            <a:r>
              <a:rPr lang="zh-CN" altLang="en-US" sz="2600" dirty="0">
                <a:solidFill>
                  <a:srgbClr val="FF0000"/>
                </a:solidFill>
              </a:rPr>
              <a:t>一维</a:t>
            </a:r>
            <a:r>
              <a:rPr lang="zh-CN" altLang="en-US" sz="2600" dirty="0"/>
              <a:t>的，而分段的逻辑地址空间是</a:t>
            </a:r>
            <a:r>
              <a:rPr lang="zh-CN" altLang="en-US" sz="2600" dirty="0">
                <a:solidFill>
                  <a:srgbClr val="FF0000"/>
                </a:solidFill>
              </a:rPr>
              <a:t>二维</a:t>
            </a:r>
            <a:r>
              <a:rPr lang="zh-CN" altLang="en-US" sz="2600" dirty="0"/>
              <a:t>的。</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a:t>6.6  </a:t>
            </a:r>
            <a:r>
              <a:t>段页式存储管理</a:t>
            </a:r>
          </a:p>
        </p:txBody>
      </p:sp>
      <p:sp>
        <p:nvSpPr>
          <p:cNvPr id="3" name="内容占位符 2"/>
          <p:cNvSpPr>
            <a:spLocks noGrp="1"/>
          </p:cNvSpPr>
          <p:nvPr>
            <p:ph idx="1"/>
          </p:nvPr>
        </p:nvSpPr>
        <p:spPr>
          <a:xfrm>
            <a:off x="2886863" y="1348641"/>
            <a:ext cx="6025783" cy="1869222"/>
          </a:xfrm>
        </p:spPr>
        <p:txBody>
          <a:bodyPr>
            <a:normAutofit/>
          </a:bodyPr>
          <a:lstStyle/>
          <a:p>
            <a:pPr>
              <a:buBlip>
                <a:blip r:embed="rId3"/>
              </a:buBlip>
            </a:pPr>
            <a:r>
              <a:rPr lang="en-US" altLang="zh-CN" sz="3200" dirty="0"/>
              <a:t> </a:t>
            </a:r>
            <a:r>
              <a:rPr lang="en-US" altLang="zh-CN" sz="3200" u="dottedHeavy" dirty="0">
                <a:solidFill>
                  <a:schemeClr val="tx1"/>
                </a:solidFill>
                <a:uFillTx/>
              </a:rPr>
              <a:t>6.6.1  </a:t>
            </a:r>
            <a:r>
              <a:rPr sz="3200" u="dottedHeavy" dirty="0">
                <a:sym typeface="+mn-ea"/>
              </a:rPr>
              <a:t>工作原理</a:t>
            </a:r>
            <a:endParaRPr sz="3200" u="dottedHeavy" dirty="0">
              <a:solidFill>
                <a:schemeClr val="tx1"/>
              </a:solidFill>
              <a:uFillTx/>
            </a:endParaRPr>
          </a:p>
          <a:p>
            <a:pPr>
              <a:buBlip>
                <a:blip r:embed="rId3"/>
              </a:buBlip>
            </a:pPr>
            <a:r>
              <a:rPr sz="3200" dirty="0"/>
              <a:t> </a:t>
            </a:r>
            <a:r>
              <a:rPr lang="en-US" altLang="zh-CN" sz="3200" u="dottedHeavy" dirty="0"/>
              <a:t>6.6.2  </a:t>
            </a:r>
            <a:r>
              <a:rPr sz="3200" u="dottedHeavy" dirty="0">
                <a:sym typeface="+mn-ea"/>
              </a:rPr>
              <a:t>地址变换</a:t>
            </a:r>
            <a:r>
              <a:rPr lang="en-US" altLang="zh-CN" sz="3200" u="dottedHeavy" dirty="0"/>
              <a:t>              </a:t>
            </a:r>
          </a:p>
        </p:txBody>
      </p:sp>
    </p:spTree>
    <p:custDataLst>
      <p:tags r:id="rId1"/>
    </p:custDataLst>
  </p:cSld>
  <p:clrMapOvr>
    <a:masterClrMapping/>
  </p:clrMapOvr>
  <p:transition>
    <p:rand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95" y="114370"/>
            <a:ext cx="2493070" cy="705600"/>
          </a:xfrm>
        </p:spPr>
        <p:txBody>
          <a:bodyPr/>
          <a:lstStyle/>
          <a:p>
            <a:r>
              <a:rPr lang="zh-CN" altLang="en-US" dirty="0"/>
              <a:t>引入原因</a:t>
            </a:r>
          </a:p>
        </p:txBody>
      </p:sp>
      <p:sp>
        <p:nvSpPr>
          <p:cNvPr id="3" name="内容占位符 2"/>
          <p:cNvSpPr>
            <a:spLocks noGrp="1"/>
          </p:cNvSpPr>
          <p:nvPr>
            <p:ph idx="1"/>
          </p:nvPr>
        </p:nvSpPr>
        <p:spPr>
          <a:xfrm>
            <a:off x="608330" y="1221500"/>
            <a:ext cx="10968990" cy="3992726"/>
          </a:xfrm>
        </p:spPr>
        <p:txBody>
          <a:bodyPr>
            <a:normAutofit/>
          </a:bodyPr>
          <a:lstStyle/>
          <a:p>
            <a:pPr>
              <a:lnSpc>
                <a:spcPct val="150000"/>
              </a:lnSpc>
            </a:pPr>
            <a:r>
              <a:rPr lang="zh-CN" altLang="en-US" sz="2600" dirty="0"/>
              <a:t>分段存储管理，虽然段之间可以离散存储，但同一个段必须连续存储，若找不到连续的存储区，则分配失败。因此，</a:t>
            </a:r>
          </a:p>
          <a:p>
            <a:r>
              <a:rPr lang="zh-CN" altLang="en-US" sz="2600" dirty="0"/>
              <a:t>问题：</a:t>
            </a:r>
            <a:r>
              <a:rPr lang="zh-CN" altLang="en-US" sz="2600" dirty="0">
                <a:solidFill>
                  <a:srgbClr val="0000FF"/>
                </a:solidFill>
              </a:rPr>
              <a:t>一个段是否可以离散存储？</a:t>
            </a:r>
          </a:p>
          <a:p>
            <a:pPr lvl="1"/>
            <a:r>
              <a:rPr lang="zh-CN" altLang="en-US" sz="2600" dirty="0"/>
              <a:t>将分页存储管理和分段存储管理结合起来——段页式存储管理。</a:t>
            </a:r>
          </a:p>
        </p:txBody>
      </p:sp>
    </p:spTree>
    <p:custDataLst>
      <p:tags r:id="rId1"/>
    </p:custDataLst>
  </p:cSld>
  <p:clrMapOvr>
    <a:masterClrMapping/>
  </p:clrMapOvr>
  <p:transition>
    <p:rand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6.6.1 工作原理</a:t>
            </a:r>
          </a:p>
        </p:txBody>
      </p:sp>
      <p:sp>
        <p:nvSpPr>
          <p:cNvPr id="3" name="内容占位符 2"/>
          <p:cNvSpPr>
            <a:spLocks noGrp="1"/>
          </p:cNvSpPr>
          <p:nvPr>
            <p:ph idx="1"/>
          </p:nvPr>
        </p:nvSpPr>
        <p:spPr>
          <a:xfrm>
            <a:off x="409816" y="1091513"/>
            <a:ext cx="10968990" cy="4742128"/>
          </a:xfrm>
        </p:spPr>
        <p:txBody>
          <a:bodyPr>
            <a:noAutofit/>
          </a:bodyPr>
          <a:lstStyle/>
          <a:p>
            <a:r>
              <a:rPr lang="zh-CN" altLang="en-US" sz="2800" dirty="0">
                <a:solidFill>
                  <a:srgbClr val="0000FF"/>
                </a:solidFill>
              </a:rPr>
              <a:t>将用户程序按照逻辑关系划分成若干段，每段都是从0 开始编址，</a:t>
            </a:r>
            <a:r>
              <a:rPr lang="zh-CN" altLang="en-US" sz="2800" dirty="0">
                <a:solidFill>
                  <a:srgbClr val="FF0000"/>
                </a:solidFill>
              </a:rPr>
              <a:t>段内再分页</a:t>
            </a:r>
            <a:r>
              <a:rPr lang="zh-CN" altLang="en-US" sz="2800" dirty="0">
                <a:solidFill>
                  <a:srgbClr val="0000FF"/>
                </a:solidFill>
              </a:rPr>
              <a:t>。</a:t>
            </a:r>
          </a:p>
          <a:p>
            <a:r>
              <a:rPr lang="zh-CN" altLang="en-US" sz="2800" dirty="0">
                <a:solidFill>
                  <a:srgbClr val="0000FF"/>
                </a:solidFill>
              </a:rPr>
              <a:t>内存划分为若干大小相等的物理块。</a:t>
            </a:r>
          </a:p>
          <a:p>
            <a:r>
              <a:rPr lang="zh-CN" altLang="en-US" sz="2800" dirty="0">
                <a:solidFill>
                  <a:srgbClr val="0000FF"/>
                </a:solidFill>
              </a:rPr>
              <a:t>进程执行时，为每个页分配一个空闲的物理块。</a:t>
            </a:r>
            <a:endParaRPr lang="en-US" altLang="zh-CN" sz="2800" dirty="0">
              <a:solidFill>
                <a:srgbClr val="0000FF"/>
              </a:solidFill>
            </a:endParaRPr>
          </a:p>
          <a:p>
            <a:pPr marL="0" indent="0">
              <a:buNone/>
            </a:pPr>
            <a:endParaRPr lang="en-US" altLang="zh-CN" sz="2800" dirty="0">
              <a:solidFill>
                <a:srgbClr val="0000FF"/>
              </a:solidFill>
            </a:endParaRPr>
          </a:p>
          <a:p>
            <a:r>
              <a:rPr lang="zh-CN" altLang="en-US" sz="2800" dirty="0"/>
              <a:t>系统为每个进程设立一个</a:t>
            </a:r>
            <a:r>
              <a:rPr lang="zh-CN" altLang="en-US" sz="2800" b="1" dirty="0">
                <a:solidFill>
                  <a:srgbClr val="FF0000"/>
                </a:solidFill>
              </a:rPr>
              <a:t>段表</a:t>
            </a:r>
            <a:r>
              <a:rPr lang="zh-CN" altLang="en-US" sz="2800" dirty="0"/>
              <a:t>记录每个段的页表信息</a:t>
            </a:r>
            <a:endParaRPr lang="en-US" altLang="zh-CN" sz="2800" dirty="0"/>
          </a:p>
          <a:p>
            <a:r>
              <a:rPr lang="zh-CN" altLang="en-US" sz="2800" dirty="0"/>
              <a:t>每段建立一个</a:t>
            </a:r>
            <a:r>
              <a:rPr lang="zh-CN" altLang="en-US" sz="2800" b="1" dirty="0">
                <a:solidFill>
                  <a:srgbClr val="FF0000"/>
                </a:solidFill>
              </a:rPr>
              <a:t>页表</a:t>
            </a:r>
            <a:endParaRPr lang="zh-CN" altLang="en-US" sz="2800"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AWA_MSKUX`J2])XQ(7~3I%3"/>
          <p:cNvPicPr>
            <a:picLocks noChangeAspect="1"/>
          </p:cNvPicPr>
          <p:nvPr/>
        </p:nvPicPr>
        <p:blipFill>
          <a:blip r:embed="rId3"/>
          <a:stretch>
            <a:fillRect/>
          </a:stretch>
        </p:blipFill>
        <p:spPr>
          <a:xfrm>
            <a:off x="694431" y="1157468"/>
            <a:ext cx="10772926" cy="4988689"/>
          </a:xfrm>
          <a:prstGeom prst="rect">
            <a:avLst/>
          </a:prstGeom>
        </p:spPr>
      </p:pic>
      <p:sp>
        <p:nvSpPr>
          <p:cNvPr id="2" name="文本框 1">
            <a:extLst>
              <a:ext uri="{FF2B5EF4-FFF2-40B4-BE49-F238E27FC236}">
                <a16:creationId xmlns:a16="http://schemas.microsoft.com/office/drawing/2014/main" id="{0928B1E0-239C-4E76-86F2-01A26EBFCD1B}"/>
              </a:ext>
            </a:extLst>
          </p:cNvPr>
          <p:cNvSpPr txBox="1"/>
          <p:nvPr/>
        </p:nvSpPr>
        <p:spPr>
          <a:xfrm>
            <a:off x="11282158" y="1967697"/>
            <a:ext cx="512440" cy="3718197"/>
          </a:xfrm>
          <a:prstGeom prst="rect">
            <a:avLst/>
          </a:prstGeom>
          <a:noFill/>
        </p:spPr>
        <p:txBody>
          <a:bodyPr wrap="square" rtlCol="0">
            <a:spAutoFit/>
          </a:bodyPr>
          <a:lstStyle/>
          <a:p>
            <a:pPr>
              <a:lnSpc>
                <a:spcPct val="120000"/>
              </a:lnSpc>
            </a:pPr>
            <a:r>
              <a:rPr lang="en-US" altLang="zh-CN" dirty="0"/>
              <a:t>51</a:t>
            </a:r>
          </a:p>
          <a:p>
            <a:pPr>
              <a:lnSpc>
                <a:spcPct val="120000"/>
              </a:lnSpc>
            </a:pPr>
            <a:r>
              <a:rPr lang="en-US" altLang="zh-CN" dirty="0"/>
              <a:t>52</a:t>
            </a:r>
          </a:p>
          <a:p>
            <a:pPr>
              <a:lnSpc>
                <a:spcPct val="120000"/>
              </a:lnSpc>
            </a:pPr>
            <a:r>
              <a:rPr lang="en-US" altLang="zh-CN" dirty="0"/>
              <a:t>53</a:t>
            </a:r>
          </a:p>
          <a:p>
            <a:pPr>
              <a:lnSpc>
                <a:spcPct val="120000"/>
              </a:lnSpc>
            </a:pPr>
            <a:r>
              <a:rPr lang="en-US" altLang="zh-CN" dirty="0"/>
              <a:t>54</a:t>
            </a:r>
          </a:p>
          <a:p>
            <a:pPr>
              <a:lnSpc>
                <a:spcPct val="120000"/>
              </a:lnSpc>
            </a:pPr>
            <a:r>
              <a:rPr lang="en-US" altLang="zh-CN" dirty="0"/>
              <a:t>55</a:t>
            </a:r>
          </a:p>
          <a:p>
            <a:pPr>
              <a:lnSpc>
                <a:spcPct val="120000"/>
              </a:lnSpc>
            </a:pPr>
            <a:r>
              <a:rPr lang="en-US" altLang="zh-CN" dirty="0"/>
              <a:t>56</a:t>
            </a:r>
          </a:p>
          <a:p>
            <a:pPr>
              <a:lnSpc>
                <a:spcPct val="120000"/>
              </a:lnSpc>
            </a:pPr>
            <a:r>
              <a:rPr lang="en-US" altLang="zh-CN" dirty="0"/>
              <a:t>57</a:t>
            </a:r>
          </a:p>
          <a:p>
            <a:pPr>
              <a:lnSpc>
                <a:spcPct val="120000"/>
              </a:lnSpc>
            </a:pPr>
            <a:r>
              <a:rPr lang="en-US" altLang="zh-CN" dirty="0"/>
              <a:t>58</a:t>
            </a:r>
          </a:p>
          <a:p>
            <a:pPr>
              <a:lnSpc>
                <a:spcPct val="120000"/>
              </a:lnSpc>
            </a:pPr>
            <a:r>
              <a:rPr lang="en-US" altLang="zh-CN" dirty="0"/>
              <a:t>59</a:t>
            </a:r>
          </a:p>
          <a:p>
            <a:pPr>
              <a:lnSpc>
                <a:spcPct val="120000"/>
              </a:lnSpc>
            </a:pPr>
            <a:r>
              <a:rPr lang="en-US" altLang="zh-CN" dirty="0"/>
              <a:t>60</a:t>
            </a:r>
          </a:p>
          <a:p>
            <a:pPr>
              <a:lnSpc>
                <a:spcPct val="120000"/>
              </a:lnSpc>
            </a:pPr>
            <a:endParaRPr lang="en-US" altLang="zh-CN" dirty="0"/>
          </a:p>
        </p:txBody>
      </p:sp>
    </p:spTree>
    <p:custDataLst>
      <p:tags r:id="rId1"/>
    </p:custDataLst>
  </p:cSld>
  <p:clrMapOvr>
    <a:masterClrMapping/>
  </p:clrMapOvr>
  <p:transition>
    <p:rand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6.6.2 地址变换</a:t>
            </a:r>
            <a:endParaRPr lang="zh-CN" altLang="en-US"/>
          </a:p>
        </p:txBody>
      </p:sp>
      <p:sp>
        <p:nvSpPr>
          <p:cNvPr id="3" name="内容占位符 2"/>
          <p:cNvSpPr>
            <a:spLocks noGrp="1"/>
          </p:cNvSpPr>
          <p:nvPr>
            <p:ph idx="1"/>
          </p:nvPr>
        </p:nvSpPr>
        <p:spPr>
          <a:xfrm>
            <a:off x="492583" y="1007537"/>
            <a:ext cx="10968990" cy="705600"/>
          </a:xfrm>
        </p:spPr>
        <p:txBody>
          <a:bodyPr>
            <a:normAutofit/>
          </a:bodyPr>
          <a:lstStyle/>
          <a:p>
            <a:r>
              <a:rPr lang="zh-CN" altLang="en-US" sz="2800" dirty="0"/>
              <a:t>段页式存储管理的地址变换过程如图6-24 所示。</a:t>
            </a:r>
          </a:p>
        </p:txBody>
      </p:sp>
      <p:pic>
        <p:nvPicPr>
          <p:cNvPr id="4" name="内容占位符 3" descr="](0RS5C@MME5{3BN97}ST1K"/>
          <p:cNvPicPr>
            <a:picLocks noChangeAspect="1"/>
          </p:cNvPicPr>
          <p:nvPr/>
        </p:nvPicPr>
        <p:blipFill>
          <a:blip r:embed="rId3"/>
          <a:stretch>
            <a:fillRect/>
          </a:stretch>
        </p:blipFill>
        <p:spPr>
          <a:xfrm>
            <a:off x="1190548" y="2032582"/>
            <a:ext cx="8914463" cy="4217088"/>
          </a:xfrm>
          <a:prstGeom prst="rect">
            <a:avLst/>
          </a:prstGeom>
        </p:spPr>
      </p:pic>
    </p:spTree>
    <p:custDataLst>
      <p:tags r:id="rId1"/>
    </p:custDataLst>
  </p:cSld>
  <p:clrMapOvr>
    <a:masterClrMapping/>
  </p:clrMapOvr>
  <p:transition>
    <p:random/>
  </p:transition>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6.6.2 地址变换</a:t>
            </a:r>
          </a:p>
        </p:txBody>
      </p:sp>
      <p:sp>
        <p:nvSpPr>
          <p:cNvPr id="3" name="内容占位符 2"/>
          <p:cNvSpPr>
            <a:spLocks noGrp="1"/>
          </p:cNvSpPr>
          <p:nvPr>
            <p:ph idx="1"/>
          </p:nvPr>
        </p:nvSpPr>
        <p:spPr>
          <a:xfrm>
            <a:off x="608330" y="1115695"/>
            <a:ext cx="10968990" cy="5610860"/>
          </a:xfrm>
        </p:spPr>
        <p:txBody>
          <a:bodyPr>
            <a:normAutofit/>
          </a:bodyPr>
          <a:lstStyle/>
          <a:p>
            <a:r>
              <a:rPr lang="zh-CN" altLang="en-US"/>
              <a:t>首先，由地址变换机构根据页的大小，将段内地址w转换为页号P和页内地址d。</a:t>
            </a:r>
          </a:p>
          <a:p>
            <a:r>
              <a:rPr lang="zh-CN" altLang="en-US"/>
              <a:t>然后，将段号s与段表长度进行比较。</a:t>
            </a:r>
          </a:p>
          <a:p>
            <a:pPr lvl="1"/>
            <a:r>
              <a:rPr lang="zh-CN" altLang="en-US"/>
              <a:t>若段号s大于或等于段表长度，则产生越界中断。</a:t>
            </a:r>
          </a:p>
          <a:p>
            <a:pPr lvl="1"/>
            <a:r>
              <a:rPr lang="zh-CN" altLang="en-US"/>
              <a:t>若段号s不越界，则通过段表寄存器的段表始址找到该段在内存的段表，从段表中查得该段对应的页表存放地址和页表长度。将段内页号P 与该段对应的页表长度进行比较。</a:t>
            </a:r>
          </a:p>
          <a:p>
            <a:pPr lvl="2"/>
            <a:r>
              <a:rPr lang="zh-CN" altLang="en-US"/>
              <a:t>若段内页号P大于或等于页表长度，则产生一个越界中断。</a:t>
            </a:r>
          </a:p>
          <a:p>
            <a:pPr lvl="2"/>
            <a:r>
              <a:rPr lang="zh-CN" altLang="en-US"/>
              <a:t>若段内页号P小于页表长度，则通过页表始址找到该段的页表，查得页号P对应的块号b。再利用块号b和页内地址d组合，形成物理地址。</a:t>
            </a:r>
          </a:p>
        </p:txBody>
      </p:sp>
    </p:spTree>
    <p:custDataLst>
      <p:tags r:id="rId1"/>
    </p:custDataLst>
  </p:cSld>
  <p:clrMapOvr>
    <a:masterClrMapping/>
  </p:clrMapOvr>
  <p:transition>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3226785-46F0-424E-8292-8A7964A488E6}"/>
              </a:ext>
            </a:extLst>
          </p:cNvPr>
          <p:cNvSpPr>
            <a:spLocks noGrp="1"/>
          </p:cNvSpPr>
          <p:nvPr>
            <p:ph idx="1"/>
          </p:nvPr>
        </p:nvSpPr>
        <p:spPr>
          <a:xfrm>
            <a:off x="608330" y="1030810"/>
            <a:ext cx="5202161" cy="2916158"/>
          </a:xfrm>
        </p:spPr>
        <p:txBody>
          <a:bodyPr>
            <a:normAutofit/>
          </a:bodyPr>
          <a:lstStyle/>
          <a:p>
            <a:pPr marL="0" indent="0">
              <a:buNone/>
            </a:pPr>
            <a:r>
              <a:rPr lang="zh-CN" altLang="en-US" b="1" dirty="0">
                <a:latin typeface="宋体" panose="02010600030101010101" pitchFamily="2" charset="-122"/>
                <a:ea typeface="宋体" panose="02010600030101010101" pitchFamily="2" charset="-122"/>
              </a:rPr>
              <a:t>练习：</a:t>
            </a:r>
            <a:endParaRPr lang="en-US" altLang="zh-CN" b="1"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段页表如右图，请计算如下逻辑地址的物理地址：（</a:t>
            </a:r>
            <a:r>
              <a:rPr lang="en-US" altLang="zh-CN" dirty="0">
                <a:latin typeface="宋体" panose="02010600030101010101" pitchFamily="2" charset="-122"/>
                <a:ea typeface="宋体" panose="02010600030101010101" pitchFamily="2" charset="-122"/>
              </a:rPr>
              <a:t>0,2200</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1,3000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2,1000</a:t>
            </a:r>
            <a:r>
              <a:rPr lang="zh-CN" altLang="en-US" dirty="0">
                <a:latin typeface="宋体" panose="02010600030101010101" pitchFamily="2" charset="-122"/>
                <a:ea typeface="宋体" panose="02010600030101010101" pitchFamily="2" charset="-122"/>
              </a:rPr>
              <a:t>），其中第一个值是段号，第二个为段内地址。</a:t>
            </a:r>
          </a:p>
        </p:txBody>
      </p:sp>
      <p:pic>
        <p:nvPicPr>
          <p:cNvPr id="4" name="图片 3">
            <a:extLst>
              <a:ext uri="{FF2B5EF4-FFF2-40B4-BE49-F238E27FC236}">
                <a16:creationId xmlns:a16="http://schemas.microsoft.com/office/drawing/2014/main" id="{C30BC322-EC28-49F2-BB24-91D85CABC6DC}"/>
              </a:ext>
            </a:extLst>
          </p:cNvPr>
          <p:cNvPicPr>
            <a:picLocks noChangeAspect="1"/>
          </p:cNvPicPr>
          <p:nvPr/>
        </p:nvPicPr>
        <p:blipFill rotWithShape="1">
          <a:blip r:embed="rId2">
            <a:extLst>
              <a:ext uri="{28A0092B-C50C-407E-A947-70E740481C1C}">
                <a14:useLocalDpi xmlns:a14="http://schemas.microsoft.com/office/drawing/2010/main" val="0"/>
              </a:ext>
            </a:extLst>
          </a:blip>
          <a:srcRect l="3087" t="4704" r="1544" b="1841"/>
          <a:stretch/>
        </p:blipFill>
        <p:spPr bwMode="auto">
          <a:xfrm>
            <a:off x="6096000" y="1007551"/>
            <a:ext cx="5377654" cy="442062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1456393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05" y="984619"/>
            <a:ext cx="10968990" cy="4397609"/>
          </a:xfrm>
        </p:spPr>
        <p:txBody>
          <a:bodyPr>
            <a:normAutofit/>
          </a:bodyPr>
          <a:lstStyle/>
          <a:p>
            <a:pPr>
              <a:lnSpc>
                <a:spcPct val="150000"/>
              </a:lnSpc>
            </a:pPr>
            <a:r>
              <a:rPr lang="zh-CN" altLang="en-US" sz="2800" dirty="0"/>
              <a:t>在段页式存储管理下，访问内存的一条指令或一个数据，需要访问内存三次。</a:t>
            </a:r>
          </a:p>
          <a:p>
            <a:pPr lvl="1">
              <a:lnSpc>
                <a:spcPct val="150000"/>
              </a:lnSpc>
            </a:pPr>
            <a:r>
              <a:rPr lang="zh-CN" altLang="en-US" sz="2800" dirty="0">
                <a:solidFill>
                  <a:srgbClr val="0000FF"/>
                </a:solidFill>
              </a:rPr>
              <a:t>第一次</a:t>
            </a:r>
            <a:r>
              <a:rPr lang="zh-CN" altLang="en-US" sz="2800" dirty="0"/>
              <a:t>是访问内存中的</a:t>
            </a:r>
            <a:r>
              <a:rPr lang="zh-CN" altLang="en-US" sz="2800" dirty="0">
                <a:solidFill>
                  <a:srgbClr val="0000FF"/>
                </a:solidFill>
              </a:rPr>
              <a:t>段表</a:t>
            </a:r>
            <a:r>
              <a:rPr lang="zh-CN" altLang="en-US" sz="2800" dirty="0"/>
              <a:t>，从中取得页表始址；</a:t>
            </a:r>
          </a:p>
          <a:p>
            <a:pPr lvl="1">
              <a:lnSpc>
                <a:spcPct val="150000"/>
              </a:lnSpc>
            </a:pPr>
            <a:r>
              <a:rPr lang="zh-CN" altLang="en-US" sz="2800" dirty="0">
                <a:solidFill>
                  <a:srgbClr val="0000FF"/>
                </a:solidFill>
              </a:rPr>
              <a:t>第二次</a:t>
            </a:r>
            <a:r>
              <a:rPr lang="zh-CN" altLang="en-US" sz="2800" dirty="0"/>
              <a:t>是访问内存中的</a:t>
            </a:r>
            <a:r>
              <a:rPr lang="zh-CN" altLang="en-US" sz="2800" dirty="0">
                <a:solidFill>
                  <a:srgbClr val="0000FF"/>
                </a:solidFill>
              </a:rPr>
              <a:t>页表</a:t>
            </a:r>
            <a:r>
              <a:rPr lang="zh-CN" altLang="en-US" sz="2800" dirty="0"/>
              <a:t>，从中取得该页所在的物理块号，并将该物理块号与页内地址组合，</a:t>
            </a:r>
            <a:r>
              <a:rPr lang="zh-CN" altLang="en-US" sz="2800" dirty="0">
                <a:solidFill>
                  <a:srgbClr val="0000FF"/>
                </a:solidFill>
              </a:rPr>
              <a:t>形成物理地址</a:t>
            </a:r>
            <a:r>
              <a:rPr lang="zh-CN" altLang="en-US" sz="2800" dirty="0"/>
              <a:t>；</a:t>
            </a:r>
          </a:p>
          <a:p>
            <a:pPr lvl="1">
              <a:lnSpc>
                <a:spcPct val="150000"/>
              </a:lnSpc>
            </a:pPr>
            <a:r>
              <a:rPr lang="zh-CN" altLang="en-US" sz="2800" dirty="0">
                <a:solidFill>
                  <a:srgbClr val="0000FF"/>
                </a:solidFill>
              </a:rPr>
              <a:t>第三次</a:t>
            </a:r>
            <a:r>
              <a:rPr lang="zh-CN" altLang="en-US" sz="2800" dirty="0"/>
              <a:t>是根据物理地址，</a:t>
            </a:r>
            <a:r>
              <a:rPr lang="zh-CN" altLang="en-US" sz="2800" dirty="0">
                <a:solidFill>
                  <a:srgbClr val="0000FF"/>
                </a:solidFill>
              </a:rPr>
              <a:t>访问内存的指令或数据</a:t>
            </a:r>
            <a:r>
              <a:rPr lang="zh-CN" altLang="en-US" sz="2800" dirty="0"/>
              <a:t>。</a:t>
            </a:r>
          </a:p>
        </p:txBody>
      </p:sp>
    </p:spTree>
    <p:custDataLst>
      <p:tags r:id="rId1"/>
    </p:custDataLst>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
            <a:extLst>
              <a:ext uri="{FF2B5EF4-FFF2-40B4-BE49-F238E27FC236}">
                <a16:creationId xmlns:a16="http://schemas.microsoft.com/office/drawing/2014/main" id="{04735A21-25F4-FAE8-670D-6A85E11ADB05}"/>
              </a:ext>
            </a:extLst>
          </p:cNvPr>
          <p:cNvSpPr txBox="1">
            <a:spLocks noChangeArrowheads="1"/>
          </p:cNvSpPr>
          <p:nvPr/>
        </p:nvSpPr>
        <p:spPr bwMode="auto">
          <a:xfrm>
            <a:off x="2413936" y="614547"/>
            <a:ext cx="8153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r>
              <a:rPr lang="en-US" altLang="zh-CN" dirty="0"/>
              <a:t>1. </a:t>
            </a:r>
            <a:r>
              <a:rPr lang="zh-CN" altLang="en-US" dirty="0"/>
              <a:t>分页存储管理每取一数据，要访问</a:t>
            </a:r>
            <a:r>
              <a:rPr lang="en-US" altLang="zh-CN" dirty="0"/>
              <a:t>(     )</a:t>
            </a:r>
            <a:r>
              <a:rPr lang="zh-CN" altLang="en-US" dirty="0"/>
              <a:t>次内存。</a:t>
            </a:r>
          </a:p>
          <a:p>
            <a:r>
              <a:rPr lang="en-US" altLang="zh-CN" dirty="0"/>
              <a:t>       A</a:t>
            </a:r>
            <a:r>
              <a:rPr lang="zh-CN" altLang="en-US" dirty="0"/>
              <a:t>．</a:t>
            </a:r>
            <a:r>
              <a:rPr lang="en-US" altLang="zh-CN" dirty="0"/>
              <a:t>1                        B</a:t>
            </a:r>
            <a:r>
              <a:rPr lang="zh-CN" altLang="en-US" dirty="0"/>
              <a:t>．</a:t>
            </a:r>
            <a:r>
              <a:rPr lang="en-US" altLang="zh-CN" dirty="0"/>
              <a:t>2</a:t>
            </a:r>
          </a:p>
          <a:p>
            <a:r>
              <a:rPr lang="en-US" altLang="zh-CN" dirty="0"/>
              <a:t>       C</a:t>
            </a:r>
            <a:r>
              <a:rPr lang="zh-CN" altLang="en-US" dirty="0"/>
              <a:t>．</a:t>
            </a:r>
            <a:r>
              <a:rPr lang="en-US" altLang="zh-CN" dirty="0"/>
              <a:t>3                        D</a:t>
            </a:r>
            <a:r>
              <a:rPr lang="zh-CN" altLang="en-US" dirty="0"/>
              <a:t>．</a:t>
            </a:r>
            <a:r>
              <a:rPr lang="en-US" altLang="zh-CN" dirty="0"/>
              <a:t>4</a:t>
            </a:r>
            <a:endParaRPr lang="zh-CN" altLang="en-US" dirty="0"/>
          </a:p>
        </p:txBody>
      </p:sp>
      <p:sp>
        <p:nvSpPr>
          <p:cNvPr id="5" name="文本框 2">
            <a:extLst>
              <a:ext uri="{FF2B5EF4-FFF2-40B4-BE49-F238E27FC236}">
                <a16:creationId xmlns:a16="http://schemas.microsoft.com/office/drawing/2014/main" id="{813D2EE8-37EA-EAE5-A998-C4C56022DB8A}"/>
              </a:ext>
            </a:extLst>
          </p:cNvPr>
          <p:cNvSpPr txBox="1">
            <a:spLocks noChangeArrowheads="1"/>
          </p:cNvSpPr>
          <p:nvPr/>
        </p:nvSpPr>
        <p:spPr bwMode="auto">
          <a:xfrm>
            <a:off x="325980" y="890772"/>
            <a:ext cx="16764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r>
              <a:rPr lang="zh-CN" altLang="en-US" sz="4800" dirty="0">
                <a:latin typeface="华文隶书" panose="02010800040101010101" pitchFamily="2" charset="-122"/>
                <a:ea typeface="华文隶书" panose="02010800040101010101" pitchFamily="2" charset="-122"/>
              </a:rPr>
              <a:t>练习</a:t>
            </a:r>
          </a:p>
        </p:txBody>
      </p:sp>
      <p:sp>
        <p:nvSpPr>
          <p:cNvPr id="6" name="文本框 5">
            <a:extLst>
              <a:ext uri="{FF2B5EF4-FFF2-40B4-BE49-F238E27FC236}">
                <a16:creationId xmlns:a16="http://schemas.microsoft.com/office/drawing/2014/main" id="{35754FAD-0EE2-33AE-377C-ED7BC80BFD96}"/>
              </a:ext>
            </a:extLst>
          </p:cNvPr>
          <p:cNvSpPr txBox="1">
            <a:spLocks noChangeArrowheads="1"/>
          </p:cNvSpPr>
          <p:nvPr/>
        </p:nvSpPr>
        <p:spPr bwMode="auto">
          <a:xfrm>
            <a:off x="2413936" y="2143226"/>
            <a:ext cx="7772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r>
              <a:rPr lang="en-US" altLang="zh-CN" dirty="0"/>
              <a:t>2. (     )</a:t>
            </a:r>
            <a:r>
              <a:rPr lang="zh-CN" altLang="en-US" dirty="0"/>
              <a:t>存储管理方式是二维地址结构。</a:t>
            </a:r>
          </a:p>
          <a:p>
            <a:r>
              <a:rPr lang="en-US" altLang="zh-CN" dirty="0"/>
              <a:t>     A</a:t>
            </a:r>
            <a:r>
              <a:rPr lang="zh-CN" altLang="en-US" dirty="0"/>
              <a:t>．固定分区            </a:t>
            </a:r>
            <a:r>
              <a:rPr lang="en-US" altLang="zh-CN" dirty="0"/>
              <a:t>B</a:t>
            </a:r>
            <a:r>
              <a:rPr lang="zh-CN" altLang="en-US" dirty="0"/>
              <a:t>．分页</a:t>
            </a:r>
          </a:p>
          <a:p>
            <a:r>
              <a:rPr lang="en-US" altLang="zh-CN" dirty="0"/>
              <a:t>     C</a:t>
            </a:r>
            <a:r>
              <a:rPr lang="zh-CN" altLang="en-US" dirty="0"/>
              <a:t>．分段                   </a:t>
            </a:r>
            <a:r>
              <a:rPr lang="en-US" altLang="zh-CN" dirty="0"/>
              <a:t>D</a:t>
            </a:r>
            <a:r>
              <a:rPr lang="zh-CN" altLang="en-US" dirty="0"/>
              <a:t>．可变分区</a:t>
            </a:r>
          </a:p>
        </p:txBody>
      </p:sp>
      <p:sp>
        <p:nvSpPr>
          <p:cNvPr id="7" name="文本框 6">
            <a:extLst>
              <a:ext uri="{FF2B5EF4-FFF2-40B4-BE49-F238E27FC236}">
                <a16:creationId xmlns:a16="http://schemas.microsoft.com/office/drawing/2014/main" id="{B33E5096-D57A-726F-2BEA-DDFC639DF849}"/>
              </a:ext>
            </a:extLst>
          </p:cNvPr>
          <p:cNvSpPr txBox="1">
            <a:spLocks noChangeArrowheads="1"/>
          </p:cNvSpPr>
          <p:nvPr/>
        </p:nvSpPr>
        <p:spPr bwMode="auto">
          <a:xfrm>
            <a:off x="2475848" y="3671905"/>
            <a:ext cx="80295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ea typeface="宋体" panose="02010600030101010101" pitchFamily="2" charset="-122"/>
              </a:defRPr>
            </a:lvl1pPr>
            <a:lvl2pPr marL="742950" indent="-285750">
              <a:defRPr sz="2800">
                <a:solidFill>
                  <a:schemeClr val="tx1"/>
                </a:solidFill>
                <a:latin typeface="Arial" panose="020B0604020202020204" pitchFamily="34" charset="0"/>
                <a:ea typeface="宋体" panose="02010600030101010101" pitchFamily="2" charset="-122"/>
              </a:defRPr>
            </a:lvl2pPr>
            <a:lvl3pPr marL="1143000" indent="-228600">
              <a:defRPr sz="2800">
                <a:solidFill>
                  <a:schemeClr val="tx1"/>
                </a:solidFill>
                <a:latin typeface="Arial" panose="020B0604020202020204" pitchFamily="34" charset="0"/>
                <a:ea typeface="宋体" panose="02010600030101010101" pitchFamily="2" charset="-122"/>
              </a:defRPr>
            </a:lvl3pPr>
            <a:lvl4pPr marL="1600200" indent="-228600">
              <a:defRPr sz="2800">
                <a:solidFill>
                  <a:schemeClr val="tx1"/>
                </a:solidFill>
                <a:latin typeface="Arial" panose="020B0604020202020204" pitchFamily="34" charset="0"/>
                <a:ea typeface="宋体" panose="02010600030101010101" pitchFamily="2" charset="-122"/>
              </a:defRPr>
            </a:lvl4pPr>
            <a:lvl5pPr marL="2057400" indent="-22860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r>
              <a:rPr lang="en-US" altLang="zh-CN" dirty="0"/>
              <a:t>3. </a:t>
            </a:r>
            <a:r>
              <a:rPr lang="zh-CN" altLang="en-US" dirty="0"/>
              <a:t>某系统采用分段存储管理方式，其地址是</a:t>
            </a:r>
            <a:r>
              <a:rPr lang="en-US" altLang="zh-CN" dirty="0"/>
              <a:t>20</a:t>
            </a:r>
            <a:r>
              <a:rPr lang="zh-CN" altLang="en-US" dirty="0"/>
              <a:t>位，段内地址</a:t>
            </a:r>
            <a:r>
              <a:rPr lang="en-US" altLang="zh-CN" dirty="0"/>
              <a:t>16</a:t>
            </a:r>
            <a:r>
              <a:rPr lang="zh-CN" altLang="en-US" dirty="0"/>
              <a:t>位，则每段最大长度是（    ）。</a:t>
            </a:r>
          </a:p>
        </p:txBody>
      </p:sp>
      <p:sp>
        <p:nvSpPr>
          <p:cNvPr id="8" name="文本框 7">
            <a:extLst>
              <a:ext uri="{FF2B5EF4-FFF2-40B4-BE49-F238E27FC236}">
                <a16:creationId xmlns:a16="http://schemas.microsoft.com/office/drawing/2014/main" id="{818F4B83-3F10-1D67-30BC-D97273F4AE95}"/>
              </a:ext>
            </a:extLst>
          </p:cNvPr>
          <p:cNvSpPr txBox="1"/>
          <p:nvPr/>
        </p:nvSpPr>
        <p:spPr>
          <a:xfrm>
            <a:off x="2475848" y="4915726"/>
            <a:ext cx="9018988" cy="1384995"/>
          </a:xfrm>
          <a:prstGeom prst="rect">
            <a:avLst/>
          </a:prstGeom>
          <a:noFill/>
        </p:spPr>
        <p:txBody>
          <a:bodyPr wrap="square" rtlCol="0">
            <a:spAutoFit/>
          </a:bodyPr>
          <a:lstStyle/>
          <a:p>
            <a:pPr lvl="0"/>
            <a:r>
              <a:rPr lang="en-US" altLang="zh-CN" sz="2800" dirty="0">
                <a:latin typeface="Arial" panose="020B0604020202020204" pitchFamily="34" charset="0"/>
                <a:ea typeface="宋体" panose="02010600030101010101" pitchFamily="2" charset="-122"/>
              </a:rPr>
              <a:t>4. </a:t>
            </a:r>
            <a:r>
              <a:rPr lang="zh-CN" altLang="zh-CN" sz="2800" dirty="0">
                <a:latin typeface="Arial" panose="020B0604020202020204" pitchFamily="34" charset="0"/>
                <a:ea typeface="宋体" panose="02010600030101010101" pitchFamily="2" charset="-122"/>
              </a:rPr>
              <a:t>计算机内存管理采用（  ）方式不会产生内部碎片。</a:t>
            </a:r>
          </a:p>
          <a:p>
            <a:r>
              <a:rPr lang="en-US" altLang="zh-CN" sz="2800" dirty="0">
                <a:latin typeface="Arial" panose="020B0604020202020204" pitchFamily="34" charset="0"/>
                <a:ea typeface="宋体" panose="02010600030101010101" pitchFamily="2" charset="-122"/>
              </a:rPr>
              <a:t>    A.</a:t>
            </a:r>
            <a:r>
              <a:rPr lang="zh-CN" altLang="zh-CN" sz="2800" dirty="0">
                <a:latin typeface="Arial" panose="020B0604020202020204" pitchFamily="34" charset="0"/>
                <a:ea typeface="宋体" panose="02010600030101010101" pitchFamily="2" charset="-122"/>
              </a:rPr>
              <a:t>固定分区存储管理 </a:t>
            </a:r>
            <a:r>
              <a:rPr lang="en-US" altLang="zh-CN" sz="2800" dirty="0">
                <a:latin typeface="Arial" panose="020B0604020202020204" pitchFamily="34" charset="0"/>
                <a:ea typeface="宋体" panose="02010600030101010101" pitchFamily="2" charset="-122"/>
              </a:rPr>
              <a:t>   B. </a:t>
            </a:r>
            <a:r>
              <a:rPr lang="zh-CN" altLang="zh-CN" sz="2800" dirty="0">
                <a:latin typeface="Arial" panose="020B0604020202020204" pitchFamily="34" charset="0"/>
                <a:ea typeface="宋体" panose="02010600030101010101" pitchFamily="2" charset="-122"/>
              </a:rPr>
              <a:t>动态分区存储管理 </a:t>
            </a:r>
            <a:r>
              <a:rPr lang="en-US" altLang="zh-CN" sz="2800" dirty="0">
                <a:latin typeface="Arial" panose="020B0604020202020204" pitchFamily="34" charset="0"/>
                <a:ea typeface="宋体" panose="02010600030101010101" pitchFamily="2" charset="-122"/>
              </a:rPr>
              <a:t>   </a:t>
            </a:r>
          </a:p>
          <a:p>
            <a:r>
              <a:rPr lang="en-US" altLang="zh-CN" sz="2800" dirty="0">
                <a:latin typeface="Arial" panose="020B0604020202020204" pitchFamily="34" charset="0"/>
                <a:ea typeface="宋体" panose="02010600030101010101" pitchFamily="2" charset="-122"/>
              </a:rPr>
              <a:t>    C.</a:t>
            </a:r>
            <a:r>
              <a:rPr lang="zh-CN" altLang="zh-CN" sz="2800" dirty="0">
                <a:latin typeface="Arial" panose="020B0604020202020204" pitchFamily="34" charset="0"/>
                <a:ea typeface="宋体" panose="02010600030101010101" pitchFamily="2" charset="-122"/>
              </a:rPr>
              <a:t>分页存储管理</a:t>
            </a:r>
            <a:r>
              <a:rPr lang="en-US" altLang="zh-CN" sz="2800" dirty="0">
                <a:latin typeface="Arial" panose="020B0604020202020204" pitchFamily="34" charset="0"/>
                <a:ea typeface="宋体" panose="02010600030101010101" pitchFamily="2" charset="-122"/>
              </a:rPr>
              <a:t>            D. </a:t>
            </a:r>
            <a:r>
              <a:rPr lang="zh-CN" altLang="zh-CN" sz="2800" dirty="0">
                <a:latin typeface="Arial" panose="020B0604020202020204" pitchFamily="34" charset="0"/>
                <a:ea typeface="宋体" panose="02010600030101010101" pitchFamily="2" charset="-122"/>
              </a:rPr>
              <a:t>段页式存储管理</a:t>
            </a:r>
          </a:p>
        </p:txBody>
      </p:sp>
    </p:spTree>
    <p:extLst>
      <p:ext uri="{BB962C8B-B14F-4D97-AF65-F5344CB8AC3E}">
        <p14:creationId xmlns:p14="http://schemas.microsoft.com/office/powerpoint/2010/main" val="116526298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小结</a:t>
            </a:r>
          </a:p>
        </p:txBody>
      </p:sp>
      <p:pic>
        <p:nvPicPr>
          <p:cNvPr id="7" name="图片 6" descr="图示&#10;&#10;描述已自动生成">
            <a:extLst>
              <a:ext uri="{FF2B5EF4-FFF2-40B4-BE49-F238E27FC236}">
                <a16:creationId xmlns:a16="http://schemas.microsoft.com/office/drawing/2014/main" id="{DD9E948F-0B02-4A66-95E3-BD30BC2EF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3531" y="0"/>
            <a:ext cx="7312074" cy="6743630"/>
          </a:xfrm>
          <a:prstGeom prst="rect">
            <a:avLst/>
          </a:prstGeom>
        </p:spPr>
      </p:pic>
    </p:spTree>
    <p:custDataLst>
      <p:tags r:id="rId1"/>
    </p:custDataLst>
  </p:cSld>
  <p:clrMapOvr>
    <a:masterClrMapping/>
  </p:clrMapOvr>
  <p:transition>
    <p:rand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descr="NNXF4{2M0VUNRE25F28NNPQ"/>
          <p:cNvPicPr>
            <a:picLocks noChangeAspect="1"/>
          </p:cNvPicPr>
          <p:nvPr/>
        </p:nvPicPr>
        <p:blipFill>
          <a:blip r:embed="rId3"/>
          <a:stretch>
            <a:fillRect/>
          </a:stretch>
        </p:blipFill>
        <p:spPr>
          <a:xfrm>
            <a:off x="918845" y="980440"/>
            <a:ext cx="9952355" cy="5119370"/>
          </a:xfrm>
          <a:prstGeom prst="rect">
            <a:avLst/>
          </a:prstGeom>
        </p:spPr>
      </p:pic>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80,&quot;width&quot;:11700}"/>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70,&quot;width&quot;:11145}"/>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200,&quot;width&quot;:7308}"/>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64,&quot;width&quot;:7680}"/>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4211</TotalTime>
  <Words>8292</Words>
  <Application>Microsoft Office PowerPoint</Application>
  <PresentationFormat>宽屏</PresentationFormat>
  <Paragraphs>955</Paragraphs>
  <Slides>131</Slides>
  <Notes>15</Notes>
  <HiddenSlides>9</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131</vt:i4>
      </vt:variant>
    </vt:vector>
  </HeadingPairs>
  <TitlesOfParts>
    <vt:vector size="149" baseType="lpstr">
      <vt:lpstr>Inter</vt:lpstr>
      <vt:lpstr>等线</vt:lpstr>
      <vt:lpstr>仿宋</vt:lpstr>
      <vt:lpstr>黑体</vt:lpstr>
      <vt:lpstr>华文楷体</vt:lpstr>
      <vt:lpstr>华文隶书</vt:lpstr>
      <vt:lpstr>华文新魏</vt:lpstr>
      <vt:lpstr>楷体</vt:lpstr>
      <vt:lpstr>隶书</vt:lpstr>
      <vt:lpstr>宋体</vt:lpstr>
      <vt:lpstr>微软雅黑</vt:lpstr>
      <vt:lpstr>Arial</vt:lpstr>
      <vt:lpstr>Calibri</vt:lpstr>
      <vt:lpstr>Times New Roman</vt:lpstr>
      <vt:lpstr>Wingdings</vt:lpstr>
      <vt:lpstr>Office 主题​​</vt:lpstr>
      <vt:lpstr>Visio.Drawing.11</vt:lpstr>
      <vt:lpstr>BMP 图象</vt:lpstr>
      <vt:lpstr>第6章  基本存储管理</vt:lpstr>
      <vt:lpstr>PowerPoint 演示文稿</vt:lpstr>
      <vt:lpstr>请思考如下问题：</vt:lpstr>
      <vt:lpstr>练习</vt:lpstr>
      <vt:lpstr>练习</vt:lpstr>
      <vt:lpstr>本章目录</vt:lpstr>
      <vt:lpstr>6.1  存储管理的基本功能</vt:lpstr>
      <vt:lpstr>6.1.1  存储系统的基本概念</vt:lpstr>
      <vt:lpstr>PowerPoint 演示文稿</vt:lpstr>
      <vt:lpstr>PowerPoint 演示文稿</vt:lpstr>
      <vt:lpstr>PowerPoint 演示文稿</vt:lpstr>
      <vt:lpstr>6.1.1  存储系统的基本概念</vt:lpstr>
      <vt:lpstr>PowerPoint 演示文稿</vt:lpstr>
      <vt:lpstr>1.物理地址和逻辑地址</vt:lpstr>
      <vt:lpstr>程序执行时： CPU是不知道变量的</vt:lpstr>
      <vt:lpstr>1.物理地址和逻辑地址</vt:lpstr>
      <vt:lpstr>1.物理地址和逻辑地址</vt:lpstr>
      <vt:lpstr>2.地址重定位</vt:lpstr>
      <vt:lpstr>(1)静态地址重定位</vt:lpstr>
      <vt:lpstr>(1)静态地址重定位</vt:lpstr>
      <vt:lpstr>(2)动态地址重定位</vt:lpstr>
      <vt:lpstr>(2)动态地址重定位</vt:lpstr>
      <vt:lpstr>3.程序的装入方式</vt:lpstr>
      <vt:lpstr>(1)绝对装入方式</vt:lpstr>
      <vt:lpstr>(2)可重定位装入方式</vt:lpstr>
      <vt:lpstr>(3)动态运行时装入方式</vt:lpstr>
      <vt:lpstr>练习</vt:lpstr>
      <vt:lpstr>6.1.2存储管理的基本功能</vt:lpstr>
      <vt:lpstr>6.1.2存储管理的基本功能——内存的分配与回收</vt:lpstr>
      <vt:lpstr>6.1.2存储管理的基本功能——地址重定位</vt:lpstr>
      <vt:lpstr>6.1.2存储管理的基本功能——内存的共享与保护</vt:lpstr>
      <vt:lpstr>PowerPoint 演示文稿</vt:lpstr>
      <vt:lpstr>PowerPoint 演示文稿</vt:lpstr>
      <vt:lpstr>PowerPoint 演示文稿</vt:lpstr>
      <vt:lpstr>6.1.2存储管理的基本功能——内存的扩充</vt:lpstr>
      <vt:lpstr>课堂练习</vt:lpstr>
      <vt:lpstr>课堂练习</vt:lpstr>
      <vt:lpstr>PowerPoint 演示文稿</vt:lpstr>
      <vt:lpstr>6.2  分区存储管理</vt:lpstr>
      <vt:lpstr>连续分配存储管理</vt:lpstr>
      <vt:lpstr>6.2.1  固定分区存储管理</vt:lpstr>
      <vt:lpstr>1.固定分区的划分方式</vt:lpstr>
      <vt:lpstr>1.固定分区的划分方式</vt:lpstr>
      <vt:lpstr>2.内存分配及采用的数据结构</vt:lpstr>
      <vt:lpstr>分区存储管理的优缺点</vt:lpstr>
      <vt:lpstr>6.2.2  动态分区存储管理</vt:lpstr>
      <vt:lpstr>1.采用的数据结构</vt:lpstr>
      <vt:lpstr>2.分区的分配和回收</vt:lpstr>
      <vt:lpstr>2.分区的分配和回收</vt:lpstr>
      <vt:lpstr>3．动态分区分配算法</vt:lpstr>
      <vt:lpstr>(1)首次适应算法</vt:lpstr>
      <vt:lpstr>(2)循环首次适应算法</vt:lpstr>
      <vt:lpstr>(3)最佳适应算法</vt:lpstr>
      <vt:lpstr>(4)最坏适应算法</vt:lpstr>
      <vt:lpstr>PowerPoint 演示文稿</vt:lpstr>
      <vt:lpstr>PowerPoint 演示文稿</vt:lpstr>
      <vt:lpstr>练习</vt:lpstr>
      <vt:lpstr>练习</vt:lpstr>
      <vt:lpstr>练习</vt:lpstr>
      <vt:lpstr>PowerPoint 演示文稿</vt:lpstr>
      <vt:lpstr>(5)伙伴系统</vt:lpstr>
      <vt:lpstr>(5)伙伴系统——分区分配</vt:lpstr>
      <vt:lpstr>(5)伙伴系统——分区回收</vt:lpstr>
      <vt:lpstr>(5)伙伴系统</vt:lpstr>
      <vt:lpstr>6.2.3  动态重定位分区存储管理</vt:lpstr>
      <vt:lpstr>6.2.3  动态重定位分区存储管理</vt:lpstr>
      <vt:lpstr>动态重定位分区分配算法</vt:lpstr>
      <vt:lpstr>PowerPoint 演示文稿</vt:lpstr>
      <vt:lpstr>课堂练习</vt:lpstr>
      <vt:lpstr>PowerPoint 演示文稿</vt:lpstr>
      <vt:lpstr>6.3  内存扩充技术</vt:lpstr>
      <vt:lpstr>6.3.1覆盖技术</vt:lpstr>
      <vt:lpstr>6.3.1覆盖技术</vt:lpstr>
      <vt:lpstr>6.3.1覆盖技术</vt:lpstr>
      <vt:lpstr>6.3.2交换技术</vt:lpstr>
      <vt:lpstr>6.3.2交换技术</vt:lpstr>
      <vt:lpstr>6.3.2交换技术</vt:lpstr>
      <vt:lpstr>6.3.2交换技术</vt:lpstr>
      <vt:lpstr>动态重定位分区存储管理</vt:lpstr>
      <vt:lpstr>PowerPoint 演示文稿</vt:lpstr>
      <vt:lpstr>6.4  分页存储管理</vt:lpstr>
      <vt:lpstr>6.4.1工作原理</vt:lpstr>
      <vt:lpstr>6.4.1工作原理</vt:lpstr>
      <vt:lpstr>6.4.1工作原理</vt:lpstr>
      <vt:lpstr>6.4.1工作原理</vt:lpstr>
      <vt:lpstr>6.4.1工作原理</vt:lpstr>
      <vt:lpstr>6.4.1工作原理</vt:lpstr>
      <vt:lpstr>6.4.1工作原理</vt:lpstr>
      <vt:lpstr>位示图：一个二进制位表示1个物理块的使用情况</vt:lpstr>
      <vt:lpstr>PowerPoint 演示文稿</vt:lpstr>
      <vt:lpstr>6.4.2 地址转换——分页存储管理</vt:lpstr>
      <vt:lpstr>6.4.2地址变换</vt:lpstr>
      <vt:lpstr>6.4.2地址变换——地址变换过程 </vt:lpstr>
      <vt:lpstr>页式地址变换举例</vt:lpstr>
      <vt:lpstr>页式地址变换举例</vt:lpstr>
      <vt:lpstr>页式地址变换举例</vt:lpstr>
      <vt:lpstr>页式地址变换举例</vt:lpstr>
      <vt:lpstr>6.4.2地址变换——基本地址变换机构</vt:lpstr>
      <vt:lpstr>6.4.2地址变换</vt:lpstr>
      <vt:lpstr>6.4.2地址变换——具有快表的地址变换机构</vt:lpstr>
      <vt:lpstr>PowerPoint 演示文稿</vt:lpstr>
      <vt:lpstr>6.4.3两级页表、多级页表</vt:lpstr>
      <vt:lpstr>6.4.3两级页表、多级页表</vt:lpstr>
      <vt:lpstr>6.4.3两级页表、多级页表</vt:lpstr>
      <vt:lpstr>6.4.3两级页表、多级页表</vt:lpstr>
      <vt:lpstr>PowerPoint 演示文稿</vt:lpstr>
      <vt:lpstr>6.4.3两级页表、多级页表</vt:lpstr>
      <vt:lpstr>6.4.3两级页表、多级页表和反置页表</vt:lpstr>
      <vt:lpstr>6.4.3两级页表、多级页表和反置页表</vt:lpstr>
      <vt:lpstr>6.4.4分页存储管理的特点</vt:lpstr>
      <vt:lpstr>6.5  分段存储管理</vt:lpstr>
      <vt:lpstr>6.5.1 段的引入</vt:lpstr>
      <vt:lpstr>6.5.2 工作原理</vt:lpstr>
      <vt:lpstr>6.5.2 工作原理</vt:lpstr>
      <vt:lpstr>6.5.2 工作原理</vt:lpstr>
      <vt:lpstr>6.5.2 工作原理</vt:lpstr>
      <vt:lpstr>6.5.3 地址变换</vt:lpstr>
      <vt:lpstr>6.5.3 地址变换</vt:lpstr>
      <vt:lpstr>PowerPoint 演示文稿</vt:lpstr>
      <vt:lpstr>6.5.4 段和页的区别</vt:lpstr>
      <vt:lpstr>6.6  段页式存储管理</vt:lpstr>
      <vt:lpstr>引入原因</vt:lpstr>
      <vt:lpstr>6.6.1 工作原理</vt:lpstr>
      <vt:lpstr>PowerPoint 演示文稿</vt:lpstr>
      <vt:lpstr>6.6.2 地址变换</vt:lpstr>
      <vt:lpstr>6.6.2 地址变换</vt:lpstr>
      <vt:lpstr>PowerPoint 演示文稿</vt:lpstr>
      <vt:lpstr>PowerPoint 演示文稿</vt:lpstr>
      <vt:lpstr>PowerPoint 演示文稿</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基本存储管理</dc:title>
  <dc:creator/>
  <cp:lastModifiedBy>Z33789</cp:lastModifiedBy>
  <cp:revision>602</cp:revision>
  <dcterms:created xsi:type="dcterms:W3CDTF">2019-06-19T02:08:00Z</dcterms:created>
  <dcterms:modified xsi:type="dcterms:W3CDTF">2025-11-23T12:07:18Z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