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680" r:id="rId2"/>
    <p:sldId id="622" r:id="rId3"/>
    <p:sldId id="623" r:id="rId4"/>
    <p:sldId id="621" r:id="rId5"/>
    <p:sldId id="624" r:id="rId6"/>
    <p:sldId id="625" r:id="rId7"/>
    <p:sldId id="626" r:id="rId8"/>
    <p:sldId id="627" r:id="rId9"/>
    <p:sldId id="628" r:id="rId10"/>
    <p:sldId id="629" r:id="rId11"/>
    <p:sldId id="630" r:id="rId12"/>
    <p:sldId id="63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40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0651-CA26-4957-B95D-ECC6FFA566B5}" type="datetimeFigureOut">
              <a:rPr lang="zh-CN" altLang="en-US" smtClean="0"/>
              <a:t>2021/10/31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E3AC79-10D4-445B-9C88-E8E0EBBC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814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3BA94CDD-2B86-4ED8-BBB9-D5844D042F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4BB9E2-9108-4591-B345-F4102BCD186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8067" name="幻灯片图像占位符 1">
            <a:extLst>
              <a:ext uri="{FF2B5EF4-FFF2-40B4-BE49-F238E27FC236}">
                <a16:creationId xmlns:a16="http://schemas.microsoft.com/office/drawing/2014/main" id="{0E9C7568-8BF3-45DA-9595-14EB68B877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备注占位符 2">
            <a:extLst>
              <a:ext uri="{FF2B5EF4-FFF2-40B4-BE49-F238E27FC236}">
                <a16:creationId xmlns:a16="http://schemas.microsoft.com/office/drawing/2014/main" id="{C82A4641-5F81-43F2-97D1-1545AC918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88069" name="灯片编号占位符 3">
            <a:extLst>
              <a:ext uri="{FF2B5EF4-FFF2-40B4-BE49-F238E27FC236}">
                <a16:creationId xmlns:a16="http://schemas.microsoft.com/office/drawing/2014/main" id="{14E6B0DD-2288-42B4-82C4-005C79C79070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7F8333-F66B-4637-836D-F50A7A9DA7E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CAD2A772-80AD-4152-AC1E-3719967473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41BA406-8BFE-40A2-A321-0AEC49B09062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0115" name="幻灯片图像占位符 1">
            <a:extLst>
              <a:ext uri="{FF2B5EF4-FFF2-40B4-BE49-F238E27FC236}">
                <a16:creationId xmlns:a16="http://schemas.microsoft.com/office/drawing/2014/main" id="{26EDB1AD-B0A5-46F6-99FC-58A18B9C81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备注占位符 2">
            <a:extLst>
              <a:ext uri="{FF2B5EF4-FFF2-40B4-BE49-F238E27FC236}">
                <a16:creationId xmlns:a16="http://schemas.microsoft.com/office/drawing/2014/main" id="{9E4110A3-1701-4220-9420-4380819D8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  <p:sp>
        <p:nvSpPr>
          <p:cNvPr id="90117" name="灯片编号占位符 3">
            <a:extLst>
              <a:ext uri="{FF2B5EF4-FFF2-40B4-BE49-F238E27FC236}">
                <a16:creationId xmlns:a16="http://schemas.microsoft.com/office/drawing/2014/main" id="{2EC66065-90FD-4D1F-8AE5-902343E4CC0D}"/>
              </a:ext>
            </a:extLst>
          </p:cNvPr>
          <p:cNvSpPr txBox="1">
            <a:spLocks noGrp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D297B8A-1DCA-4D47-A6DF-99F885459A7B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EEFC78FE-2FB2-4200-87E6-1EE84EEC0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00401"/>
            <a:ext cx="1219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24738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A94D3B-5F94-4663-8866-68782709A4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01C414-F7E0-4411-89CE-5C4CB908309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E47E4E9-2300-498A-9A50-561D8799D766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B5A7E525-756D-483A-B27D-931F4698383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FE3F1-354E-488A-A3C3-7EAB27AAA657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697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E55FD48-1727-4273-B5CC-D8D05EE27C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8B5C69-9092-4231-A5D9-26FA2F44B20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35DA1F22-8D3D-423E-97CE-5E8466B02E0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2EAC067-40E2-45EF-BE59-D11D46596DD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E7ABA-543B-4D0A-9644-921311EFD849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4725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16000" y="1219201"/>
            <a:ext cx="5359400" cy="4913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8600" y="1219201"/>
            <a:ext cx="5361517" cy="49133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8D356-512D-4CCD-8FB3-2F786DEAC41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6DDEE5-C353-4B50-89B5-DA61C28E29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3187210D-E6D5-44F4-A483-4CB3FF2C2AD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2019281-7664-4F59-BA6A-A211604BEF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57B2DC-FD33-4AED-9B8B-933559F0D9F0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08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0F76582-D7FD-4D5D-8481-16C34E8916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4066318-BED3-464D-A859-046D18F6C49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804FC47C-DCD6-491E-87B2-8696D848ADA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B570733C-FFAB-4740-842B-F8058912EE6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A7EFA-0473-4059-97EE-5D17655BB367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420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150B0C1-CB19-4684-9EB2-811189C56C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5AE1154-0F99-4AD3-A7A1-23D615AF020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BA63F9B9-B06F-46FF-9E8E-140AB96A67B2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E32F477C-5D1B-48A3-8A27-C37545A2968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A4FA5-FB2A-47C5-AB64-8C00A1C63496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670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F3FF077-965E-40EB-86B6-763B0C097F6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BEE563-CFA5-44C7-BDFA-A2D550D95A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40C988C-9509-4C0C-9A55-A29BD5760DC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F859B372-FBE9-4213-960C-8D6499BCC79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92F4D2-8877-46A4-B76C-9D978AEF928C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545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2D6D6-7A55-4B35-A09F-4E5A83AB1D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5B34E0-13AB-4CFB-926B-AD7DBA06C00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EB8E3593-22F3-476B-8330-8D26161C8D8A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C52548B3-2A80-4B68-9CE8-1D893FABC4C5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684A7D-15AF-4672-99C6-BAACB2EFE568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2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56914-5E2F-41A4-B5C7-8D4E4083D34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CA30-AE3D-4E28-8B04-A0995E9DBA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B1FEFBD-6CF9-4AD6-8387-28B71446CD2C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4BECD73-48C2-4287-B932-98D711BA5A2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06C705-EA35-43A9-9893-832938E81EF6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624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2997BD-2001-4CA8-BDDE-C0048AE856B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3BA0A1A-A2F2-4036-B2B3-72BBD49A756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EB011CF5-1730-4907-89A7-1016F0380E85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3785C34A-368C-425E-AED5-868D9799307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50BDC-F9A5-488A-A6B2-FBA5A2CCDF40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86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09618" y="381001"/>
            <a:ext cx="2730500" cy="57515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16001" y="381001"/>
            <a:ext cx="7990417" cy="57515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9DFDB8-7ABF-47EB-AA59-68779E2E78D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6E4197-DE93-46C4-9F34-A0D1D11DD4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8F041638-1A42-4C7F-8C5C-2A5ABF69A343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2FD8B8D7-1CA5-45F6-8D20-1263DE19983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A58F8-7CA0-43D8-A7B9-AD98E555831C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219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6000" y="381001"/>
            <a:ext cx="10390717" cy="5254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16000" y="1219201"/>
            <a:ext cx="5359400" cy="4913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78600" y="1219201"/>
            <a:ext cx="5361517" cy="4913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F8243D-84DE-44D8-97B1-EF08D44084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5B5A3-E9E8-4AAB-B274-ABD584ABA57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C4A8700C-DD3D-4982-A475-1D6FB6459FD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E5784EC7-AB9C-4710-9B05-887981D5EC36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FF7E9D-D7D4-435E-B669-3ACDDDCF7CAB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544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6000" y="381001"/>
            <a:ext cx="10390717" cy="5254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016000" y="1219201"/>
            <a:ext cx="5359400" cy="49133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578600" y="1219201"/>
            <a:ext cx="5361517" cy="23796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578600" y="3751263"/>
            <a:ext cx="5361517" cy="23812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2BA047F-E761-4398-BBD0-EFF57D26BE8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65BBE85-F549-4281-9D19-E2DC4BC2E9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Page </a:t>
            </a:r>
            <a:fld id="{2311B37C-A8C1-41EF-BD96-127E39D563AF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1F84581B-DEE0-41A8-8D88-8A16B8F9DA3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31BEF-8F69-4CEA-A272-1A92A4FDE4BA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86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273DC664-4721-41DD-8336-510A69951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381001"/>
            <a:ext cx="10390717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4442BE-C430-4423-9C20-916D6A589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16000" y="1219201"/>
            <a:ext cx="10924117" cy="491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6500" name="Rectangle 4">
            <a:extLst>
              <a:ext uri="{FF2B5EF4-FFF2-40B4-BE49-F238E27FC236}">
                <a16:creationId xmlns:a16="http://schemas.microsoft.com/office/drawing/2014/main" id="{E6B65ADA-2B01-45B4-8490-D458BAAEF5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12192000" cy="304800"/>
          </a:xfrm>
          <a:prstGeom prst="rect">
            <a:avLst/>
          </a:prstGeom>
          <a:solidFill>
            <a:srgbClr val="A31203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501" name="Rectangle 5">
            <a:extLst>
              <a:ext uri="{FF2B5EF4-FFF2-40B4-BE49-F238E27FC236}">
                <a16:creationId xmlns:a16="http://schemas.microsoft.com/office/drawing/2014/main" id="{0AC81078-8421-4398-8716-83DABC18A81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477000"/>
            <a:ext cx="2540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solidFill>
                  <a:schemeClr val="bg1"/>
                </a:solidFill>
                <a:latin typeface="Times New Roman" panose="02020603050405020304" pitchFamily="18" charset="0"/>
              </a:defRPr>
            </a:lvl1pPr>
          </a:lstStyle>
          <a:p>
            <a:r>
              <a:rPr lang="en-US" altLang="zh-CN"/>
              <a:t>Page </a:t>
            </a:r>
            <a:fld id="{77713415-6076-43FA-B665-66165E7B777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C0FC329-475C-47AB-BD33-C9F924963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200401"/>
            <a:ext cx="1219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400"/>
          </a:p>
        </p:txBody>
      </p:sp>
      <p:sp>
        <p:nvSpPr>
          <p:cNvPr id="1031" name="Text Box 8" descr="再生纸">
            <a:extLst>
              <a:ext uri="{FF2B5EF4-FFF2-40B4-BE49-F238E27FC236}">
                <a16:creationId xmlns:a16="http://schemas.microsoft.com/office/drawing/2014/main" id="{4FEBB2DA-BA48-4DF2-B99B-96E814FA1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53200"/>
            <a:ext cx="1620957" cy="307777"/>
          </a:xfrm>
          <a:prstGeom prst="rect">
            <a:avLst/>
          </a:prstGeom>
          <a:blipFill dpi="0" rotWithShape="0">
            <a:blip r:embed="rId1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>
                <a:solidFill>
                  <a:srgbClr val="7A0D02"/>
                </a:solidFill>
                <a:latin typeface="宋体" panose="02010600030101010101" pitchFamily="2" charset="-122"/>
              </a:rPr>
              <a:t>Operating System</a:t>
            </a:r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A7E20A40-BB90-4311-8422-8525866E3B2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990600"/>
            <a:ext cx="12192000" cy="0"/>
          </a:xfrm>
          <a:prstGeom prst="line">
            <a:avLst/>
          </a:prstGeom>
          <a:noFill/>
          <a:ln w="38100">
            <a:solidFill>
              <a:srgbClr val="A3120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6506" name="Rectangle 10">
            <a:extLst>
              <a:ext uri="{FF2B5EF4-FFF2-40B4-BE49-F238E27FC236}">
                <a16:creationId xmlns:a16="http://schemas.microsoft.com/office/drawing/2014/main" id="{700D233B-2CB6-4ED4-9C71-DDFAD08DD9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283200" y="64008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solidFill>
                  <a:schemeClr val="bg1"/>
                </a:solidFill>
                <a:latin typeface="Times New Roman" pitchFamily="18" charset="0"/>
                <a:ea typeface="隶书" pitchFamily="49" charset="-122"/>
              </a:defRPr>
            </a:lvl1pPr>
          </a:lstStyle>
          <a:p>
            <a:pPr>
              <a:defRPr/>
            </a:pPr>
            <a:fld id="{F761197D-816D-442F-B78B-FF8926AD7983}" type="datetime1">
              <a:rPr lang="zh-CN" altLang="en-US"/>
              <a:pPr>
                <a:defRPr/>
              </a:pPr>
              <a:t>2021/10/31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1788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  <a:ea typeface="黑体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B4325"/>
        </a:buClr>
        <a:buSzPct val="80000"/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anose="05000000000000000000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50000"/>
        <a:buChar char="•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内容占位符 2">
            <a:extLst>
              <a:ext uri="{FF2B5EF4-FFF2-40B4-BE49-F238E27FC236}">
                <a16:creationId xmlns:a16="http://schemas.microsoft.com/office/drawing/2014/main" id="{33109264-6607-4F8B-AA87-E9ED429E7C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6000" y="1219201"/>
            <a:ext cx="10924117" cy="3794233"/>
          </a:xfrm>
        </p:spPr>
        <p:txBody>
          <a:bodyPr/>
          <a:lstStyle/>
          <a:p>
            <a:r>
              <a:rPr lang="zh-CN" altLang="en-US" sz="3200" dirty="0"/>
              <a:t>实现实时调度需要提供的信息</a:t>
            </a:r>
            <a:endParaRPr lang="en-US" altLang="zh-CN" sz="3200" dirty="0"/>
          </a:p>
          <a:p>
            <a:pPr lvl="1"/>
            <a:r>
              <a:rPr lang="zh-CN" altLang="en-US" sz="2800" dirty="0"/>
              <a:t>任务变为就绪状态的时间</a:t>
            </a:r>
            <a:endParaRPr lang="en-US" altLang="zh-CN" sz="2800" dirty="0"/>
          </a:p>
          <a:p>
            <a:pPr lvl="1"/>
            <a:r>
              <a:rPr lang="zh-CN" altLang="en-US" sz="2800" dirty="0"/>
              <a:t>开始截止时间或完成截止时间</a:t>
            </a:r>
            <a:endParaRPr lang="en-US" altLang="zh-CN" sz="2800" dirty="0"/>
          </a:p>
          <a:p>
            <a:pPr lvl="1"/>
            <a:r>
              <a:rPr lang="zh-CN" altLang="en-US" sz="2800" dirty="0"/>
              <a:t>处理所需时间</a:t>
            </a:r>
            <a:endParaRPr lang="en-US" altLang="zh-CN" sz="2800" dirty="0"/>
          </a:p>
          <a:p>
            <a:pPr lvl="1"/>
            <a:r>
              <a:rPr lang="zh-CN" altLang="en-US" sz="2800" dirty="0"/>
              <a:t>资源要求</a:t>
            </a:r>
            <a:endParaRPr lang="en-US" altLang="zh-CN" sz="2800" dirty="0"/>
          </a:p>
          <a:p>
            <a:pPr lvl="1"/>
            <a:r>
              <a:rPr lang="zh-CN" altLang="en-US" sz="2800" dirty="0"/>
              <a:t>优先级：根据错过截止时间的后果严重程度设置</a:t>
            </a:r>
          </a:p>
        </p:txBody>
      </p:sp>
      <p:sp>
        <p:nvSpPr>
          <p:cNvPr id="80899" name="页脚占位符 3">
            <a:extLst>
              <a:ext uri="{FF2B5EF4-FFF2-40B4-BE49-F238E27FC236}">
                <a16:creationId xmlns:a16="http://schemas.microsoft.com/office/drawing/2014/main" id="{CB14249D-4481-4B04-929E-851EA3CFA8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0900" name="灯片编号占位符 4">
            <a:extLst>
              <a:ext uri="{FF2B5EF4-FFF2-40B4-BE49-F238E27FC236}">
                <a16:creationId xmlns:a16="http://schemas.microsoft.com/office/drawing/2014/main" id="{1C1E5443-0AFB-4731-BC3D-FDB4B01521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29A1AE30-F231-4DB0-A54E-34B457566B23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901" name="日期占位符 5">
            <a:extLst>
              <a:ext uri="{FF2B5EF4-FFF2-40B4-BE49-F238E27FC236}">
                <a16:creationId xmlns:a16="http://schemas.microsoft.com/office/drawing/2014/main" id="{3E961B2F-4A21-4083-9019-78BF1DF71218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1DCA0056-83D9-4694-B002-345EC09F24B6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89B5BFA-EF5A-4409-BA01-5F92572BE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zh-CN" altLang="en-US" sz="4000" dirty="0"/>
              <a:t>实时调度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build="p" bldLvl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页脚占位符 1">
            <a:extLst>
              <a:ext uri="{FF2B5EF4-FFF2-40B4-BE49-F238E27FC236}">
                <a16:creationId xmlns:a16="http://schemas.microsoft.com/office/drawing/2014/main" id="{19F1708B-D100-4B11-B9A2-AAE18FB0FC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1923" name="灯片编号占位符 2">
            <a:extLst>
              <a:ext uri="{FF2B5EF4-FFF2-40B4-BE49-F238E27FC236}">
                <a16:creationId xmlns:a16="http://schemas.microsoft.com/office/drawing/2014/main" id="{B8AFD23D-98C0-4734-B36E-92BF4FE7B9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5C2FD86C-6410-48F0-8CF9-3E923C5AE7F1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4" name="日期占位符 3">
            <a:extLst>
              <a:ext uri="{FF2B5EF4-FFF2-40B4-BE49-F238E27FC236}">
                <a16:creationId xmlns:a16="http://schemas.microsoft.com/office/drawing/2014/main" id="{C280B6FF-74CE-4B24-80A7-37D8BD23544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14573AAD-A7A0-4C60-87AC-5F54A874CBB5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1925" name="灯片编号占位符 5">
            <a:extLst>
              <a:ext uri="{FF2B5EF4-FFF2-40B4-BE49-F238E27FC236}">
                <a16:creationId xmlns:a16="http://schemas.microsoft.com/office/drawing/2014/main" id="{808865F0-C340-4C28-A6D4-2DF9919A2E5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D143E6A0-7936-468D-907C-D546B9EB1142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591875" name="Rectangle 2">
            <a:extLst>
              <a:ext uri="{FF2B5EF4-FFF2-40B4-BE49-F238E27FC236}">
                <a16:creationId xmlns:a16="http://schemas.microsoft.com/office/drawing/2014/main" id="{88632D03-DE48-4077-AD63-ED9858416CB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0" y="311151"/>
            <a:ext cx="7793038" cy="525463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实时调度算法的分类 </a:t>
            </a:r>
          </a:p>
        </p:txBody>
      </p:sp>
      <p:sp>
        <p:nvSpPr>
          <p:cNvPr id="81927" name="Rectangle 3">
            <a:extLst>
              <a:ext uri="{FF2B5EF4-FFF2-40B4-BE49-F238E27FC236}">
                <a16:creationId xmlns:a16="http://schemas.microsoft.com/office/drawing/2014/main" id="{45AC894A-2C4F-4528-B0CA-811E8C6FEB0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21855" y="1584273"/>
            <a:ext cx="8122690" cy="279854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按实时任务性质分</a:t>
            </a:r>
          </a:p>
          <a:p>
            <a:pPr marL="2336800" lvl="1" indent="-1814513" eaLnBrk="1" hangingPunct="1">
              <a:lnSpc>
                <a:spcPct val="110000"/>
              </a:lnSpc>
              <a:buNone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硬实时调度算法与软实时调度算法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3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按调度方式分</a:t>
            </a:r>
          </a:p>
          <a:p>
            <a:pPr marL="2336800" lvl="1" indent="-1814513" eaLnBrk="1" hangingPunct="1">
              <a:lnSpc>
                <a:spcPct val="110000"/>
              </a:lnSpc>
              <a:buNone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非抢占式与抢占式调度算法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页脚占位符 1">
            <a:extLst>
              <a:ext uri="{FF2B5EF4-FFF2-40B4-BE49-F238E27FC236}">
                <a16:creationId xmlns:a16="http://schemas.microsoft.com/office/drawing/2014/main" id="{82A6799D-B46D-4D0A-A070-6075A40363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2947" name="灯片编号占位符 2">
            <a:extLst>
              <a:ext uri="{FF2B5EF4-FFF2-40B4-BE49-F238E27FC236}">
                <a16:creationId xmlns:a16="http://schemas.microsoft.com/office/drawing/2014/main" id="{A8E06ED3-C07A-4FF9-BA25-305E27ED5D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D0913EA8-EAB7-4DF1-9BFD-7691C185E32D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3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8" name="日期占位符 3">
            <a:extLst>
              <a:ext uri="{FF2B5EF4-FFF2-40B4-BE49-F238E27FC236}">
                <a16:creationId xmlns:a16="http://schemas.microsoft.com/office/drawing/2014/main" id="{9D70F012-B6E2-4F5B-8BC4-07CEB2A5D185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7588FA31-C9A3-4CBD-A444-8C18586860E1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2949" name="灯片编号占位符 5">
            <a:extLst>
              <a:ext uri="{FF2B5EF4-FFF2-40B4-BE49-F238E27FC236}">
                <a16:creationId xmlns:a16="http://schemas.microsoft.com/office/drawing/2014/main" id="{328D7C28-4708-4653-8CB2-E06C5AD87A2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E8C9000A-1E7D-41C1-AB69-DFF3B1C03F7E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3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592899" name="Rectangle 2">
            <a:extLst>
              <a:ext uri="{FF2B5EF4-FFF2-40B4-BE49-F238E27FC236}">
                <a16:creationId xmlns:a16="http://schemas.microsoft.com/office/drawing/2014/main" id="{AC284328-4A3F-4A47-A341-38F9726D63F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n-US" altLang="zh-CN" sz="3600" b="1" dirty="0">
                <a:latin typeface="华文楷体" pitchFamily="2" charset="-122"/>
                <a:ea typeface="华文楷体" pitchFamily="2" charset="-122"/>
              </a:rPr>
              <a:t> 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常用的</a:t>
            </a:r>
            <a:r>
              <a:rPr lang="en-US" altLang="zh-CN" sz="3600" b="1" dirty="0">
                <a:latin typeface="华文楷体" pitchFamily="2" charset="-122"/>
                <a:ea typeface="华文楷体" pitchFamily="2" charset="-122"/>
              </a:rPr>
              <a:t>2</a:t>
            </a:r>
            <a:r>
              <a:rPr lang="zh-CN" altLang="en-US" sz="3600" b="1" dirty="0">
                <a:latin typeface="华文楷体" pitchFamily="2" charset="-122"/>
                <a:ea typeface="华文楷体" pitchFamily="2" charset="-122"/>
              </a:rPr>
              <a:t>种实时调度算法</a:t>
            </a:r>
          </a:p>
        </p:txBody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3F2D2821-775F-4B65-BF46-BA0D8C7F6E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14412" y="1910557"/>
            <a:ext cx="10010776" cy="1704975"/>
          </a:xfrm>
        </p:spPr>
        <p:txBody>
          <a:bodyPr/>
          <a:lstStyle/>
          <a:p>
            <a:pPr eaLnBrk="1" hangingPunct="1"/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最早截止时间优先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EDF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Earliest Deadline First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）算法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3200" b="1" dirty="0"/>
          </a:p>
          <a:p>
            <a:pPr eaLnBrk="1" hangingPunct="1"/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最低松弛度优先即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LLF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Least Laxity First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）算法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页脚占位符 3">
            <a:extLst>
              <a:ext uri="{FF2B5EF4-FFF2-40B4-BE49-F238E27FC236}">
                <a16:creationId xmlns:a16="http://schemas.microsoft.com/office/drawing/2014/main" id="{E2373E03-408C-49E4-B483-8C750C6180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3971" name="灯片编号占位符 4">
            <a:extLst>
              <a:ext uri="{FF2B5EF4-FFF2-40B4-BE49-F238E27FC236}">
                <a16:creationId xmlns:a16="http://schemas.microsoft.com/office/drawing/2014/main" id="{C627E5E4-46E7-4001-ACF9-8CBC92C0A8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E70C73E1-0C37-4D1E-8EEF-85CF643F6582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4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2" name="日期占位符 5">
            <a:extLst>
              <a:ext uri="{FF2B5EF4-FFF2-40B4-BE49-F238E27FC236}">
                <a16:creationId xmlns:a16="http://schemas.microsoft.com/office/drawing/2014/main" id="{036CC0E4-DE64-4717-89CB-40851B115D2B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80D2683B-802E-4581-9150-A85901FFDFAB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590850" name="Rectangle 2">
            <a:extLst>
              <a:ext uri="{FF2B5EF4-FFF2-40B4-BE49-F238E27FC236}">
                <a16:creationId xmlns:a16="http://schemas.microsoft.com/office/drawing/2014/main" id="{D003E543-5CB7-4CBB-9F4A-56B84CA29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常用的几种实时调度算法</a:t>
            </a:r>
          </a:p>
        </p:txBody>
      </p:sp>
      <p:sp>
        <p:nvSpPr>
          <p:cNvPr id="83974" name="Rectangle 3">
            <a:extLst>
              <a:ext uri="{FF2B5EF4-FFF2-40B4-BE49-F238E27FC236}">
                <a16:creationId xmlns:a16="http://schemas.microsoft.com/office/drawing/2014/main" id="{993A4D18-C0CE-4953-96F8-C0E02D6950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29557" y="1397876"/>
            <a:ext cx="9254359" cy="397291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3200" b="1" dirty="0"/>
              <a:t>最早截止时间优先算法（</a:t>
            </a:r>
            <a:r>
              <a:rPr lang="en-US" altLang="zh-CN" sz="3200" b="1" dirty="0"/>
              <a:t>EDF</a:t>
            </a:r>
            <a:r>
              <a:rPr lang="zh-CN" altLang="en-US" sz="3200" b="1" dirty="0"/>
              <a:t>）</a:t>
            </a:r>
          </a:p>
          <a:p>
            <a:pPr lvl="1" eaLnBrk="1" hangingPunct="1">
              <a:lnSpc>
                <a:spcPct val="150000"/>
              </a:lnSpc>
            </a:pPr>
            <a:r>
              <a:rPr kumimoji="0" lang="zh-CN" altLang="en-US" sz="2800" b="1" dirty="0"/>
              <a:t>截止时间越早优先级越高</a:t>
            </a:r>
          </a:p>
          <a:p>
            <a:pPr lvl="1" eaLnBrk="1" hangingPunct="1">
              <a:lnSpc>
                <a:spcPct val="150000"/>
              </a:lnSpc>
            </a:pPr>
            <a:r>
              <a:rPr kumimoji="0" lang="en-US" altLang="zh-CN" sz="2800" b="1" dirty="0">
                <a:solidFill>
                  <a:srgbClr val="FF0000"/>
                </a:solidFill>
              </a:rPr>
              <a:t>EDF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算法可用于抢占式调度，也可用于非抢占式调度。</a:t>
            </a:r>
            <a:endParaRPr kumimoji="0" lang="zh-CN" altLang="en-US" sz="2800" b="1" dirty="0"/>
          </a:p>
          <a:p>
            <a:pPr lvl="1" eaLnBrk="1" hangingPunct="1">
              <a:lnSpc>
                <a:spcPct val="150000"/>
              </a:lnSpc>
            </a:pPr>
            <a:r>
              <a:rPr kumimoji="0" lang="zh-CN" altLang="en-US" sz="2800" b="1" dirty="0"/>
              <a:t>非抢占式调度方式用于非周期实时任务</a:t>
            </a:r>
          </a:p>
          <a:p>
            <a:pPr lvl="1" eaLnBrk="1" hangingPunct="1">
              <a:lnSpc>
                <a:spcPct val="150000"/>
              </a:lnSpc>
            </a:pPr>
            <a:r>
              <a:rPr kumimoji="0" lang="zh-CN" altLang="en-US" sz="2800" b="1" dirty="0"/>
              <a:t>抢占式调度方式用于周期实时任务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页脚占位符 1">
            <a:extLst>
              <a:ext uri="{FF2B5EF4-FFF2-40B4-BE49-F238E27FC236}">
                <a16:creationId xmlns:a16="http://schemas.microsoft.com/office/drawing/2014/main" id="{D89ED532-1083-44AA-82A5-E7E47FC114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4995" name="灯片编号占位符 2">
            <a:extLst>
              <a:ext uri="{FF2B5EF4-FFF2-40B4-BE49-F238E27FC236}">
                <a16:creationId xmlns:a16="http://schemas.microsoft.com/office/drawing/2014/main" id="{BB2048DC-6B3A-4E7E-8767-99A9980EF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0C287F77-06BC-4704-9809-B60AEB4F2C41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5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6" name="日期占位符 3">
            <a:extLst>
              <a:ext uri="{FF2B5EF4-FFF2-40B4-BE49-F238E27FC236}">
                <a16:creationId xmlns:a16="http://schemas.microsoft.com/office/drawing/2014/main" id="{595DD496-01BD-4DD9-A7EC-871712F2687A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189DAA22-F068-4607-88D0-B385C56F2A59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4997" name="灯片编号占位符 3">
            <a:extLst>
              <a:ext uri="{FF2B5EF4-FFF2-40B4-BE49-F238E27FC236}">
                <a16:creationId xmlns:a16="http://schemas.microsoft.com/office/drawing/2014/main" id="{6149B0A3-1FE3-4116-AE39-9FBA704164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3ED1D67D-CD96-44ED-8560-D3BF16AB40C7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5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84998" name="Text Box 17">
            <a:extLst>
              <a:ext uri="{FF2B5EF4-FFF2-40B4-BE49-F238E27FC236}">
                <a16:creationId xmlns:a16="http://schemas.microsoft.com/office/drawing/2014/main" id="{DD18C6EA-70AE-417B-8069-C86FF449E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4763" y="3705226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84999" name="Line 4">
            <a:extLst>
              <a:ext uri="{FF2B5EF4-FFF2-40B4-BE49-F238E27FC236}">
                <a16:creationId xmlns:a16="http://schemas.microsoft.com/office/drawing/2014/main" id="{15A5DB91-D237-4373-903D-E94774881B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6" y="3887788"/>
            <a:ext cx="71993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0" name="Rectangle 5">
            <a:extLst>
              <a:ext uri="{FF2B5EF4-FFF2-40B4-BE49-F238E27FC236}">
                <a16:creationId xmlns:a16="http://schemas.microsoft.com/office/drawing/2014/main" id="{5414E45A-CDDB-4076-8F70-FD736B39E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3240088"/>
            <a:ext cx="1944688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5001" name="Rectangle 6">
            <a:extLst>
              <a:ext uri="{FF2B5EF4-FFF2-40B4-BE49-F238E27FC236}">
                <a16:creationId xmlns:a16="http://schemas.microsoft.com/office/drawing/2014/main" id="{2C7AC4B3-B428-4FEB-B66B-0EFD5A1DB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9" y="3240088"/>
            <a:ext cx="180022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5002" name="Rectangle 7">
            <a:extLst>
              <a:ext uri="{FF2B5EF4-FFF2-40B4-BE49-F238E27FC236}">
                <a16:creationId xmlns:a16="http://schemas.microsoft.com/office/drawing/2014/main" id="{F3307FD0-454E-4EAD-A96D-0D3190647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4" y="3240088"/>
            <a:ext cx="1366837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5003" name="Rectangle 8">
            <a:extLst>
              <a:ext uri="{FF2B5EF4-FFF2-40B4-BE49-F238E27FC236}">
                <a16:creationId xmlns:a16="http://schemas.microsoft.com/office/drawing/2014/main" id="{63EA3A14-9BEE-401F-BC20-42EDC07BC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9" y="3240088"/>
            <a:ext cx="935037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5004" name="Line 9">
            <a:extLst>
              <a:ext uri="{FF2B5EF4-FFF2-40B4-BE49-F238E27FC236}">
                <a16:creationId xmlns:a16="http://schemas.microsoft.com/office/drawing/2014/main" id="{991197BE-5557-4620-8FCE-3B2F0CF045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9150" y="3889376"/>
            <a:ext cx="0" cy="1008063"/>
          </a:xfrm>
          <a:prstGeom prst="line">
            <a:avLst/>
          </a:prstGeom>
          <a:noFill/>
          <a:ln w="28575">
            <a:solidFill>
              <a:srgbClr val="002F8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5" name="Line 10">
            <a:extLst>
              <a:ext uri="{FF2B5EF4-FFF2-40B4-BE49-F238E27FC236}">
                <a16:creationId xmlns:a16="http://schemas.microsoft.com/office/drawing/2014/main" id="{0FF51968-AB50-4838-801F-B25E74C662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3113" y="3887788"/>
            <a:ext cx="0" cy="1008062"/>
          </a:xfrm>
          <a:prstGeom prst="line">
            <a:avLst/>
          </a:prstGeom>
          <a:noFill/>
          <a:ln w="28575">
            <a:solidFill>
              <a:srgbClr val="002F8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6" name="Line 11">
            <a:extLst>
              <a:ext uri="{FF2B5EF4-FFF2-40B4-BE49-F238E27FC236}">
                <a16:creationId xmlns:a16="http://schemas.microsoft.com/office/drawing/2014/main" id="{3A7763A2-BCD6-4630-8768-611DD1DD9F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2038" y="3887788"/>
            <a:ext cx="0" cy="1008062"/>
          </a:xfrm>
          <a:prstGeom prst="line">
            <a:avLst/>
          </a:prstGeom>
          <a:noFill/>
          <a:ln w="28575">
            <a:solidFill>
              <a:srgbClr val="002F8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7" name="Line 12">
            <a:extLst>
              <a:ext uri="{FF2B5EF4-FFF2-40B4-BE49-F238E27FC236}">
                <a16:creationId xmlns:a16="http://schemas.microsoft.com/office/drawing/2014/main" id="{14C75EA5-234A-4638-AACE-EC53675E9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43700" y="3887788"/>
            <a:ext cx="0" cy="1008062"/>
          </a:xfrm>
          <a:prstGeom prst="line">
            <a:avLst/>
          </a:prstGeom>
          <a:noFill/>
          <a:ln w="28575">
            <a:solidFill>
              <a:srgbClr val="002F8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8" name="Line 13">
            <a:extLst>
              <a:ext uri="{FF2B5EF4-FFF2-40B4-BE49-F238E27FC236}">
                <a16:creationId xmlns:a16="http://schemas.microsoft.com/office/drawing/2014/main" id="{ED40D69C-F5CD-416E-8E65-434F805EAE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5775" y="2376488"/>
            <a:ext cx="0" cy="8636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09" name="Line 14">
            <a:extLst>
              <a:ext uri="{FF2B5EF4-FFF2-40B4-BE49-F238E27FC236}">
                <a16:creationId xmlns:a16="http://schemas.microsoft.com/office/drawing/2014/main" id="{4E4D0CCE-23FC-42F0-B635-D0321DD4BA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7438" y="2376488"/>
            <a:ext cx="0" cy="8636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10" name="Line 15">
            <a:extLst>
              <a:ext uri="{FF2B5EF4-FFF2-40B4-BE49-F238E27FC236}">
                <a16:creationId xmlns:a16="http://schemas.microsoft.com/office/drawing/2014/main" id="{E418D176-E438-4152-A33E-DFBCD874A6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1763" y="2376488"/>
            <a:ext cx="0" cy="8636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11" name="Line 16">
            <a:extLst>
              <a:ext uri="{FF2B5EF4-FFF2-40B4-BE49-F238E27FC236}">
                <a16:creationId xmlns:a16="http://schemas.microsoft.com/office/drawing/2014/main" id="{B479B684-7D44-4FC0-9327-298A236F6C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04288" y="2376488"/>
            <a:ext cx="0" cy="8636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5012" name="Text Box 18">
            <a:extLst>
              <a:ext uri="{FF2B5EF4-FFF2-40B4-BE49-F238E27FC236}">
                <a16:creationId xmlns:a16="http://schemas.microsoft.com/office/drawing/2014/main" id="{A6D4AA01-3178-49E6-902E-3844575B9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2081213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5013" name="Text Box 19">
            <a:extLst>
              <a:ext uri="{FF2B5EF4-FFF2-40B4-BE49-F238E27FC236}">
                <a16:creationId xmlns:a16="http://schemas.microsoft.com/office/drawing/2014/main" id="{8FCD0488-CF35-40B4-9E3A-0A3815EC2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9" y="2089151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5014" name="Text Box 20">
            <a:extLst>
              <a:ext uri="{FF2B5EF4-FFF2-40B4-BE49-F238E27FC236}">
                <a16:creationId xmlns:a16="http://schemas.microsoft.com/office/drawing/2014/main" id="{983F0D96-E517-4D41-8A48-571DEE063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081213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85015" name="Text Box 21">
            <a:extLst>
              <a:ext uri="{FF2B5EF4-FFF2-40B4-BE49-F238E27FC236}">
                <a16:creationId xmlns:a16="http://schemas.microsoft.com/office/drawing/2014/main" id="{CFC6BC86-5512-42EB-AB43-6987E7F93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1414" y="2089151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5016" name="Text Box 22">
            <a:extLst>
              <a:ext uri="{FF2B5EF4-FFF2-40B4-BE49-F238E27FC236}">
                <a16:creationId xmlns:a16="http://schemas.microsoft.com/office/drawing/2014/main" id="{15A0C112-E13A-464E-A574-F491F68AF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48974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5017" name="Text Box 23">
            <a:extLst>
              <a:ext uri="{FF2B5EF4-FFF2-40B4-BE49-F238E27FC236}">
                <a16:creationId xmlns:a16="http://schemas.microsoft.com/office/drawing/2014/main" id="{BC2E4651-ADC7-4278-8B46-FF1972CE6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9" y="4897438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5018" name="Text Box 24">
            <a:extLst>
              <a:ext uri="{FF2B5EF4-FFF2-40B4-BE49-F238E27FC236}">
                <a16:creationId xmlns:a16="http://schemas.microsoft.com/office/drawing/2014/main" id="{555F90DC-AF7B-4076-8904-38C88A337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5" y="48974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85019" name="Text Box 25">
            <a:extLst>
              <a:ext uri="{FF2B5EF4-FFF2-40B4-BE49-F238E27FC236}">
                <a16:creationId xmlns:a16="http://schemas.microsoft.com/office/drawing/2014/main" id="{53EAED6E-6C94-41CE-8166-3859E64E2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4897438"/>
            <a:ext cx="503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634906" name="Text Box 26">
            <a:extLst>
              <a:ext uri="{FF2B5EF4-FFF2-40B4-BE49-F238E27FC236}">
                <a16:creationId xmlns:a16="http://schemas.microsoft.com/office/drawing/2014/main" id="{455083ED-AB7F-4684-BB76-638B4BF0D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5472113"/>
            <a:ext cx="756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EDF</a:t>
            </a: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算法用于非抢占调度方式</a:t>
            </a:r>
            <a:r>
              <a:rPr kumimoji="0"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_</a:t>
            </a: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适用于非周期实时任务</a:t>
            </a:r>
          </a:p>
        </p:txBody>
      </p:sp>
      <p:sp>
        <p:nvSpPr>
          <p:cNvPr id="85021" name="Text Box 28">
            <a:extLst>
              <a:ext uri="{FF2B5EF4-FFF2-40B4-BE49-F238E27FC236}">
                <a16:creationId xmlns:a16="http://schemas.microsoft.com/office/drawing/2014/main" id="{33068589-8093-4425-913A-6100148AC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2376489"/>
            <a:ext cx="2160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开始截止时间</a:t>
            </a:r>
          </a:p>
        </p:txBody>
      </p:sp>
      <p:sp>
        <p:nvSpPr>
          <p:cNvPr id="85022" name="Text Box 29">
            <a:extLst>
              <a:ext uri="{FF2B5EF4-FFF2-40B4-BE49-F238E27FC236}">
                <a16:creationId xmlns:a16="http://schemas.microsoft.com/office/drawing/2014/main" id="{FB8A1F27-C172-4905-B092-03E7AC180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3384551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任务执行</a:t>
            </a:r>
          </a:p>
        </p:txBody>
      </p:sp>
      <p:sp>
        <p:nvSpPr>
          <p:cNvPr id="85023" name="Text Box 30">
            <a:extLst>
              <a:ext uri="{FF2B5EF4-FFF2-40B4-BE49-F238E27FC236}">
                <a16:creationId xmlns:a16="http://schemas.microsoft.com/office/drawing/2014/main" id="{21FDAA1E-BA3A-4971-AE92-81DC9BF3A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4392614"/>
            <a:ext cx="1368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000" b="1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任务到达</a:t>
            </a:r>
          </a:p>
        </p:txBody>
      </p:sp>
      <p:sp>
        <p:nvSpPr>
          <p:cNvPr id="85024" name="TextBox 31">
            <a:extLst>
              <a:ext uri="{FF2B5EF4-FFF2-40B4-BE49-F238E27FC236}">
                <a16:creationId xmlns:a16="http://schemas.microsoft.com/office/drawing/2014/main" id="{633624C6-CC2B-43D2-9787-935A6CF9A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1" y="1000126"/>
            <a:ext cx="55721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360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四个非周期性任务：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页脚占位符 1">
            <a:extLst>
              <a:ext uri="{FF2B5EF4-FFF2-40B4-BE49-F238E27FC236}">
                <a16:creationId xmlns:a16="http://schemas.microsoft.com/office/drawing/2014/main" id="{B9CC0E4B-14DB-44B8-B157-30434E5F99C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6019" name="灯片编号占位符 2">
            <a:extLst>
              <a:ext uri="{FF2B5EF4-FFF2-40B4-BE49-F238E27FC236}">
                <a16:creationId xmlns:a16="http://schemas.microsoft.com/office/drawing/2014/main" id="{4D55A5E2-C9CD-4080-92A2-7F84154957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3BE8FDC2-656F-4590-AC63-BF7CEC0A9322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6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020" name="日期占位符 3">
            <a:extLst>
              <a:ext uri="{FF2B5EF4-FFF2-40B4-BE49-F238E27FC236}">
                <a16:creationId xmlns:a16="http://schemas.microsoft.com/office/drawing/2014/main" id="{407ACDE1-F556-48FE-8588-101E0310A7F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EA57C1B6-F8CD-4F61-8AC8-5D33C588D301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86021" name="灯片编号占位符 1">
            <a:extLst>
              <a:ext uri="{FF2B5EF4-FFF2-40B4-BE49-F238E27FC236}">
                <a16:creationId xmlns:a16="http://schemas.microsoft.com/office/drawing/2014/main" id="{8FED8E48-6EA8-4FD4-A1B3-76BFBDC6367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3C357E1A-2A51-40A1-A36F-D7289F44D353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6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86022" name="TextBox 2">
            <a:extLst>
              <a:ext uri="{FF2B5EF4-FFF2-40B4-BE49-F238E27FC236}">
                <a16:creationId xmlns:a16="http://schemas.microsoft.com/office/drawing/2014/main" id="{3F06E55C-0BDC-4359-BF56-B3357058D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94" y="1457325"/>
            <a:ext cx="10035272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例：该例中两个周期性任务，任务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的周期时间是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20ms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，每个周期的处理时间为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10ms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；任务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的周期时间为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50ms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，每个周期的处理时间为</a:t>
            </a:r>
            <a:r>
              <a:rPr kumimoji="0" lang="en-US" altLang="zh-CN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25ms</a:t>
            </a: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b="1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使用抢占式最早截止时间算法调度。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页脚占位符 1">
            <a:extLst>
              <a:ext uri="{FF2B5EF4-FFF2-40B4-BE49-F238E27FC236}">
                <a16:creationId xmlns:a16="http://schemas.microsoft.com/office/drawing/2014/main" id="{CA5FEAA5-41E2-4A3F-8FA6-0354A1AD09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7043" name="灯片编号占位符 2">
            <a:extLst>
              <a:ext uri="{FF2B5EF4-FFF2-40B4-BE49-F238E27FC236}">
                <a16:creationId xmlns:a16="http://schemas.microsoft.com/office/drawing/2014/main" id="{1C0AB0A0-E96B-4DE8-A3CD-38BB4C8E9C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097C29C9-DC75-460F-9BDA-2CD153B8CF48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7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44" name="日期占位符 3">
            <a:extLst>
              <a:ext uri="{FF2B5EF4-FFF2-40B4-BE49-F238E27FC236}">
                <a16:creationId xmlns:a16="http://schemas.microsoft.com/office/drawing/2014/main" id="{5A0C685B-4014-448A-9AB8-C36CFDCF8E38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840236C8-E2BE-460E-803B-ADC2F48A4C4B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87045" name="Group 99">
            <a:extLst>
              <a:ext uri="{FF2B5EF4-FFF2-40B4-BE49-F238E27FC236}">
                <a16:creationId xmlns:a16="http://schemas.microsoft.com/office/drawing/2014/main" id="{3D834AFD-4219-47DE-87D5-62FE8DE705A6}"/>
              </a:ext>
            </a:extLst>
          </p:cNvPr>
          <p:cNvGrpSpPr>
            <a:grpSpLocks/>
          </p:cNvGrpSpPr>
          <p:nvPr/>
        </p:nvGrpSpPr>
        <p:grpSpPr bwMode="auto">
          <a:xfrm>
            <a:off x="8255001" y="-26988"/>
            <a:ext cx="1152525" cy="869951"/>
            <a:chOff x="4422" y="841"/>
            <a:chExt cx="726" cy="548"/>
          </a:xfrm>
        </p:grpSpPr>
        <p:sp>
          <p:nvSpPr>
            <p:cNvPr id="87163" name="Text Box 95">
              <a:extLst>
                <a:ext uri="{FF2B5EF4-FFF2-40B4-BE49-F238E27FC236}">
                  <a16:creationId xmlns:a16="http://schemas.microsoft.com/office/drawing/2014/main" id="{28191FCA-1910-493C-9246-9BE4A48CA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841"/>
              <a:ext cx="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B2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最后期限</a:t>
              </a:r>
            </a:p>
          </p:txBody>
        </p:sp>
        <p:sp>
          <p:nvSpPr>
            <p:cNvPr id="87164" name="Line 97">
              <a:extLst>
                <a:ext uri="{FF2B5EF4-FFF2-40B4-BE49-F238E27FC236}">
                  <a16:creationId xmlns:a16="http://schemas.microsoft.com/office/drawing/2014/main" id="{57236258-4D32-4292-85B5-294343B8BA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162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7046" name="Text Box 100">
            <a:extLst>
              <a:ext uri="{FF2B5EF4-FFF2-40B4-BE49-F238E27FC236}">
                <a16:creationId xmlns:a16="http://schemas.microsoft.com/office/drawing/2014/main" id="{4F3B647B-B4DC-4667-BFDF-6D1C14B35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2571750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sp>
        <p:nvSpPr>
          <p:cNvPr id="87047" name="Text Box 145">
            <a:extLst>
              <a:ext uri="{FF2B5EF4-FFF2-40B4-BE49-F238E27FC236}">
                <a16:creationId xmlns:a16="http://schemas.microsoft.com/office/drawing/2014/main" id="{54944B11-22B4-44A8-86F9-9F45B5010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997200"/>
            <a:ext cx="2484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固定优先级调度（</a:t>
            </a:r>
            <a:r>
              <a:rPr kumimoji="0" lang="en-US" altLang="zh-CN" sz="1400" b="1">
                <a:solidFill>
                  <a:srgbClr val="000099"/>
                </a:solidFill>
                <a:latin typeface="Arial" panose="020B0604020202020204" pitchFamily="34" charset="0"/>
              </a:rPr>
              <a:t>A</a:t>
            </a:r>
            <a:r>
              <a:rPr kumimoji="0" lang="zh-CN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优先级高）</a:t>
            </a:r>
          </a:p>
        </p:txBody>
      </p:sp>
      <p:grpSp>
        <p:nvGrpSpPr>
          <p:cNvPr id="87048" name="Group 191">
            <a:extLst>
              <a:ext uri="{FF2B5EF4-FFF2-40B4-BE49-F238E27FC236}">
                <a16:creationId xmlns:a16="http://schemas.microsoft.com/office/drawing/2014/main" id="{4E82B402-3F8C-4D3C-8036-4C16638BF969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50801"/>
            <a:ext cx="7991475" cy="2879725"/>
            <a:chOff x="113" y="32"/>
            <a:chExt cx="5034" cy="1814"/>
          </a:xfrm>
        </p:grpSpPr>
        <p:sp>
          <p:nvSpPr>
            <p:cNvPr id="87114" name="Line 33">
              <a:extLst>
                <a:ext uri="{FF2B5EF4-FFF2-40B4-BE49-F238E27FC236}">
                  <a16:creationId xmlns:a16="http://schemas.microsoft.com/office/drawing/2014/main" id="{AF228D76-F575-4497-A1F8-A87A17D08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" y="1625"/>
              <a:ext cx="47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5" name="Line 34">
              <a:extLst>
                <a:ext uri="{FF2B5EF4-FFF2-40B4-BE49-F238E27FC236}">
                  <a16:creationId xmlns:a16="http://schemas.microsoft.com/office/drawing/2014/main" id="{783DEA8F-5F05-4592-BF9D-59139C565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6" name="Line 35">
              <a:extLst>
                <a:ext uri="{FF2B5EF4-FFF2-40B4-BE49-F238E27FC236}">
                  <a16:creationId xmlns:a16="http://schemas.microsoft.com/office/drawing/2014/main" id="{4206326E-A925-4A43-A610-7A9A6387E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7" name="Line 36">
              <a:extLst>
                <a:ext uri="{FF2B5EF4-FFF2-40B4-BE49-F238E27FC236}">
                  <a16:creationId xmlns:a16="http://schemas.microsoft.com/office/drawing/2014/main" id="{E67E03C4-D716-45DA-B61D-A5BDD9820C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8" name="Line 37">
              <a:extLst>
                <a:ext uri="{FF2B5EF4-FFF2-40B4-BE49-F238E27FC236}">
                  <a16:creationId xmlns:a16="http://schemas.microsoft.com/office/drawing/2014/main" id="{E9187854-2D86-43BE-BBE3-8B080F9D5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9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9" name="Line 38">
              <a:extLst>
                <a:ext uri="{FF2B5EF4-FFF2-40B4-BE49-F238E27FC236}">
                  <a16:creationId xmlns:a16="http://schemas.microsoft.com/office/drawing/2014/main" id="{E6CDF847-5DFE-4C8B-856B-BC8D9D589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0" name="Line 39">
              <a:extLst>
                <a:ext uri="{FF2B5EF4-FFF2-40B4-BE49-F238E27FC236}">
                  <a16:creationId xmlns:a16="http://schemas.microsoft.com/office/drawing/2014/main" id="{39F4EE82-E957-4056-A025-A797E14A89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1" name="Line 40">
              <a:extLst>
                <a:ext uri="{FF2B5EF4-FFF2-40B4-BE49-F238E27FC236}">
                  <a16:creationId xmlns:a16="http://schemas.microsoft.com/office/drawing/2014/main" id="{1E9B33F2-D398-4C66-8D48-DA108ED0C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2" name="Line 41">
              <a:extLst>
                <a:ext uri="{FF2B5EF4-FFF2-40B4-BE49-F238E27FC236}">
                  <a16:creationId xmlns:a16="http://schemas.microsoft.com/office/drawing/2014/main" id="{54082A6B-723C-49CE-8549-6B7196A241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3" name="Line 42">
              <a:extLst>
                <a:ext uri="{FF2B5EF4-FFF2-40B4-BE49-F238E27FC236}">
                  <a16:creationId xmlns:a16="http://schemas.microsoft.com/office/drawing/2014/main" id="{D2046BD5-3E59-4B76-810B-7D629984AC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1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4" name="Line 43">
              <a:extLst>
                <a:ext uri="{FF2B5EF4-FFF2-40B4-BE49-F238E27FC236}">
                  <a16:creationId xmlns:a16="http://schemas.microsoft.com/office/drawing/2014/main" id="{52088FDF-0C34-4E3B-B66E-0A550D944E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5" name="Line 44">
              <a:extLst>
                <a:ext uri="{FF2B5EF4-FFF2-40B4-BE49-F238E27FC236}">
                  <a16:creationId xmlns:a16="http://schemas.microsoft.com/office/drawing/2014/main" id="{7EF61E8A-1899-40AD-A70A-7939470393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4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26" name="Text Box 45">
              <a:extLst>
                <a:ext uri="{FF2B5EF4-FFF2-40B4-BE49-F238E27FC236}">
                  <a16:creationId xmlns:a16="http://schemas.microsoft.com/office/drawing/2014/main" id="{65E5FDEC-FF00-4547-8575-8015DD3031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7127" name="Text Box 46">
              <a:extLst>
                <a:ext uri="{FF2B5EF4-FFF2-40B4-BE49-F238E27FC236}">
                  <a16:creationId xmlns:a16="http://schemas.microsoft.com/office/drawing/2014/main" id="{FD463D79-3A75-48AF-A9DF-A0D4351D2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61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87128" name="Text Box 47">
              <a:extLst>
                <a:ext uri="{FF2B5EF4-FFF2-40B4-BE49-F238E27FC236}">
                  <a16:creationId xmlns:a16="http://schemas.microsoft.com/office/drawing/2014/main" id="{E7BA9085-15D7-4E33-925A-044AC9D0C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40</a:t>
              </a:r>
            </a:p>
          </p:txBody>
        </p:sp>
        <p:sp>
          <p:nvSpPr>
            <p:cNvPr id="87129" name="Text Box 48">
              <a:extLst>
                <a:ext uri="{FF2B5EF4-FFF2-40B4-BE49-F238E27FC236}">
                  <a16:creationId xmlns:a16="http://schemas.microsoft.com/office/drawing/2014/main" id="{8560664D-87D1-423E-B232-C19CE8B114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615"/>
              <a:ext cx="3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20</a:t>
              </a:r>
            </a:p>
          </p:txBody>
        </p:sp>
        <p:sp>
          <p:nvSpPr>
            <p:cNvPr id="87130" name="Text Box 49">
              <a:extLst>
                <a:ext uri="{FF2B5EF4-FFF2-40B4-BE49-F238E27FC236}">
                  <a16:creationId xmlns:a16="http://schemas.microsoft.com/office/drawing/2014/main" id="{CB7943EC-929F-40F5-AB9D-1A5190388A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1615"/>
              <a:ext cx="2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87131" name="Text Box 50">
              <a:extLst>
                <a:ext uri="{FF2B5EF4-FFF2-40B4-BE49-F238E27FC236}">
                  <a16:creationId xmlns:a16="http://schemas.microsoft.com/office/drawing/2014/main" id="{76E29A1F-1161-4651-AD0B-6937F9916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50</a:t>
              </a:r>
            </a:p>
          </p:txBody>
        </p:sp>
        <p:sp>
          <p:nvSpPr>
            <p:cNvPr id="87132" name="Text Box 51">
              <a:extLst>
                <a:ext uri="{FF2B5EF4-FFF2-40B4-BE49-F238E27FC236}">
                  <a16:creationId xmlns:a16="http://schemas.microsoft.com/office/drawing/2014/main" id="{50A08A3D-6425-4E56-8B39-1DBBDB7749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60</a:t>
              </a:r>
            </a:p>
          </p:txBody>
        </p:sp>
        <p:sp>
          <p:nvSpPr>
            <p:cNvPr id="87133" name="Text Box 52">
              <a:extLst>
                <a:ext uri="{FF2B5EF4-FFF2-40B4-BE49-F238E27FC236}">
                  <a16:creationId xmlns:a16="http://schemas.microsoft.com/office/drawing/2014/main" id="{936DAEF2-EA96-468C-8F5C-2CD514F992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87134" name="Text Box 53">
              <a:extLst>
                <a:ext uri="{FF2B5EF4-FFF2-40B4-BE49-F238E27FC236}">
                  <a16:creationId xmlns:a16="http://schemas.microsoft.com/office/drawing/2014/main" id="{6F3ADB29-8B47-4F2F-B9F9-C3E787ADD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87135" name="Text Box 54">
              <a:extLst>
                <a:ext uri="{FF2B5EF4-FFF2-40B4-BE49-F238E27FC236}">
                  <a16:creationId xmlns:a16="http://schemas.microsoft.com/office/drawing/2014/main" id="{33FFD9C6-7238-422C-85A5-4B55DB4B88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90</a:t>
              </a:r>
            </a:p>
          </p:txBody>
        </p:sp>
        <p:sp>
          <p:nvSpPr>
            <p:cNvPr id="87136" name="Text Box 55">
              <a:extLst>
                <a:ext uri="{FF2B5EF4-FFF2-40B4-BE49-F238E27FC236}">
                  <a16:creationId xmlns:a16="http://schemas.microsoft.com/office/drawing/2014/main" id="{48C38964-CBC7-4664-B9A2-8160E6F51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5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87137" name="Rectangle 57">
              <a:extLst>
                <a:ext uri="{FF2B5EF4-FFF2-40B4-BE49-F238E27FC236}">
                  <a16:creationId xmlns:a16="http://schemas.microsoft.com/office/drawing/2014/main" id="{407CF6EA-5B3E-42FF-AB17-99FECB045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B1</a:t>
              </a:r>
            </a:p>
          </p:txBody>
        </p:sp>
        <p:sp>
          <p:nvSpPr>
            <p:cNvPr id="87138" name="Rectangle 59">
              <a:extLst>
                <a:ext uri="{FF2B5EF4-FFF2-40B4-BE49-F238E27FC236}">
                  <a16:creationId xmlns:a16="http://schemas.microsoft.com/office/drawing/2014/main" id="{D9E2F206-AD40-404E-BB69-1C7E27298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87139" name="Rectangle 60">
              <a:extLst>
                <a:ext uri="{FF2B5EF4-FFF2-40B4-BE49-F238E27FC236}">
                  <a16:creationId xmlns:a16="http://schemas.microsoft.com/office/drawing/2014/main" id="{442372F8-1F6A-47A3-A952-EA47078FE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87140" name="Rectangle 61">
              <a:extLst>
                <a:ext uri="{FF2B5EF4-FFF2-40B4-BE49-F238E27FC236}">
                  <a16:creationId xmlns:a16="http://schemas.microsoft.com/office/drawing/2014/main" id="{E2BBA987-3BAD-4740-BE6B-77133FD0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87141" name="Rectangle 62">
              <a:extLst>
                <a:ext uri="{FF2B5EF4-FFF2-40B4-BE49-F238E27FC236}">
                  <a16:creationId xmlns:a16="http://schemas.microsoft.com/office/drawing/2014/main" id="{8C79AC5A-9B0B-4960-9715-D7A1EF1E5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</a:p>
          </p:txBody>
        </p:sp>
        <p:sp>
          <p:nvSpPr>
            <p:cNvPr id="87142" name="Rectangle 64">
              <a:extLst>
                <a:ext uri="{FF2B5EF4-FFF2-40B4-BE49-F238E27FC236}">
                  <a16:creationId xmlns:a16="http://schemas.microsoft.com/office/drawing/2014/main" id="{F8E438B5-28C1-4AD2-BAB8-DCD2E592C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</a:p>
          </p:txBody>
        </p:sp>
        <p:sp>
          <p:nvSpPr>
            <p:cNvPr id="87143" name="Rectangle 65">
              <a:extLst>
                <a:ext uri="{FF2B5EF4-FFF2-40B4-BE49-F238E27FC236}">
                  <a16:creationId xmlns:a16="http://schemas.microsoft.com/office/drawing/2014/main" id="{BC4BC634-1D1F-44A7-B73F-C4699D18A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B2</a:t>
              </a:r>
            </a:p>
          </p:txBody>
        </p:sp>
        <p:grpSp>
          <p:nvGrpSpPr>
            <p:cNvPr id="87144" name="Group 88">
              <a:extLst>
                <a:ext uri="{FF2B5EF4-FFF2-40B4-BE49-F238E27FC236}">
                  <a16:creationId xmlns:a16="http://schemas.microsoft.com/office/drawing/2014/main" id="{53F0A69D-17E0-41F3-8C6E-9DFD022137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0" y="528"/>
              <a:ext cx="726" cy="643"/>
              <a:chOff x="1882" y="1386"/>
              <a:chExt cx="726" cy="643"/>
            </a:xfrm>
          </p:grpSpPr>
          <p:sp>
            <p:nvSpPr>
              <p:cNvPr id="87161" name="Line 70">
                <a:extLst>
                  <a:ext uri="{FF2B5EF4-FFF2-40B4-BE49-F238E27FC236}">
                    <a16:creationId xmlns:a16="http://schemas.microsoft.com/office/drawing/2014/main" id="{3514D276-B8C7-4E89-8BC7-BC8D0176C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162" name="Text Box 71">
                <a:extLst>
                  <a:ext uri="{FF2B5EF4-FFF2-40B4-BE49-F238E27FC236}">
                    <a16:creationId xmlns:a16="http://schemas.microsoft.com/office/drawing/2014/main" id="{DDFB87F3-1ADC-4DC7-A581-0D800885F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2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A2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</p:grpSp>
        <p:grpSp>
          <p:nvGrpSpPr>
            <p:cNvPr id="87145" name="Group 89">
              <a:extLst>
                <a:ext uri="{FF2B5EF4-FFF2-40B4-BE49-F238E27FC236}">
                  <a16:creationId xmlns:a16="http://schemas.microsoft.com/office/drawing/2014/main" id="{4B7AE63B-2A51-4624-9962-A52378AE8B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" y="528"/>
              <a:ext cx="726" cy="638"/>
              <a:chOff x="1020" y="1386"/>
              <a:chExt cx="726" cy="638"/>
            </a:xfrm>
          </p:grpSpPr>
          <p:sp>
            <p:nvSpPr>
              <p:cNvPr id="87159" name="Text Box 67">
                <a:extLst>
                  <a:ext uri="{FF2B5EF4-FFF2-40B4-BE49-F238E27FC236}">
                    <a16:creationId xmlns:a16="http://schemas.microsoft.com/office/drawing/2014/main" id="{45E5F6F7-DECA-419D-A48D-D93673B0D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7160" name="Line 81">
                <a:extLst>
                  <a:ext uri="{FF2B5EF4-FFF2-40B4-BE49-F238E27FC236}">
                    <a16:creationId xmlns:a16="http://schemas.microsoft.com/office/drawing/2014/main" id="{D7925757-5A5D-45CA-BB32-97709AE6DD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9" y="1701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46" name="Group 87">
              <a:extLst>
                <a:ext uri="{FF2B5EF4-FFF2-40B4-BE49-F238E27FC236}">
                  <a16:creationId xmlns:a16="http://schemas.microsoft.com/office/drawing/2014/main" id="{FD7FE95F-95C9-4197-98A4-EF7AC0EF7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528"/>
              <a:ext cx="726" cy="643"/>
              <a:chOff x="2699" y="1386"/>
              <a:chExt cx="726" cy="643"/>
            </a:xfrm>
          </p:grpSpPr>
          <p:sp>
            <p:nvSpPr>
              <p:cNvPr id="87157" name="Text Box 74">
                <a:extLst>
                  <a:ext uri="{FF2B5EF4-FFF2-40B4-BE49-F238E27FC236}">
                    <a16:creationId xmlns:a16="http://schemas.microsoft.com/office/drawing/2014/main" id="{5E5692D5-9817-4BE8-919E-7D6D5264C4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9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A3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7158" name="Line 82">
                <a:extLst>
                  <a:ext uri="{FF2B5EF4-FFF2-40B4-BE49-F238E27FC236}">
                    <a16:creationId xmlns:a16="http://schemas.microsoft.com/office/drawing/2014/main" id="{815FBA29-8A22-47A9-BAEA-F85C22E55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47" name="Group 86">
              <a:extLst>
                <a:ext uri="{FF2B5EF4-FFF2-40B4-BE49-F238E27FC236}">
                  <a16:creationId xmlns:a16="http://schemas.microsoft.com/office/drawing/2014/main" id="{51EF1EAE-F9B9-4504-99B8-1B387D8804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6" y="528"/>
              <a:ext cx="726" cy="643"/>
              <a:chOff x="3538" y="1386"/>
              <a:chExt cx="726" cy="643"/>
            </a:xfrm>
          </p:grpSpPr>
          <p:sp>
            <p:nvSpPr>
              <p:cNvPr id="87155" name="Text Box 77">
                <a:extLst>
                  <a:ext uri="{FF2B5EF4-FFF2-40B4-BE49-F238E27FC236}">
                    <a16:creationId xmlns:a16="http://schemas.microsoft.com/office/drawing/2014/main" id="{B31A537A-8521-4543-B750-B4B969FC4F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8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A4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7156" name="Line 83">
                <a:extLst>
                  <a:ext uri="{FF2B5EF4-FFF2-40B4-BE49-F238E27FC236}">
                    <a16:creationId xmlns:a16="http://schemas.microsoft.com/office/drawing/2014/main" id="{83DD54A5-18CC-4516-B745-E2F41B075F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48" name="Group 85">
              <a:extLst>
                <a:ext uri="{FF2B5EF4-FFF2-40B4-BE49-F238E27FC236}">
                  <a16:creationId xmlns:a16="http://schemas.microsoft.com/office/drawing/2014/main" id="{C7389C06-B114-4DA3-AF1B-D44335F902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528"/>
              <a:ext cx="726" cy="643"/>
              <a:chOff x="4377" y="1386"/>
              <a:chExt cx="726" cy="643"/>
            </a:xfrm>
          </p:grpSpPr>
          <p:sp>
            <p:nvSpPr>
              <p:cNvPr id="87153" name="Text Box 80">
                <a:extLst>
                  <a:ext uri="{FF2B5EF4-FFF2-40B4-BE49-F238E27FC236}">
                    <a16:creationId xmlns:a16="http://schemas.microsoft.com/office/drawing/2014/main" id="{C7CC7420-9B07-4CE5-A1CA-07D5B1CE60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7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A5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7154" name="Line 84">
                <a:extLst>
                  <a:ext uri="{FF2B5EF4-FFF2-40B4-BE49-F238E27FC236}">
                    <a16:creationId xmlns:a16="http://schemas.microsoft.com/office/drawing/2014/main" id="{646E995B-77D0-43FF-9144-B6526D3BF1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149" name="Group 93">
              <a:extLst>
                <a:ext uri="{FF2B5EF4-FFF2-40B4-BE49-F238E27FC236}">
                  <a16:creationId xmlns:a16="http://schemas.microsoft.com/office/drawing/2014/main" id="{71C786BF-EB83-4DBB-88B8-2D0DEAD214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32"/>
              <a:ext cx="726" cy="1134"/>
              <a:chOff x="2290" y="890"/>
              <a:chExt cx="726" cy="1134"/>
            </a:xfrm>
          </p:grpSpPr>
          <p:sp>
            <p:nvSpPr>
              <p:cNvPr id="87151" name="Text Box 91">
                <a:extLst>
                  <a:ext uri="{FF2B5EF4-FFF2-40B4-BE49-F238E27FC236}">
                    <a16:creationId xmlns:a16="http://schemas.microsoft.com/office/drawing/2014/main" id="{F20ACF37-604D-471B-98C2-CF45A93CA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890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7152" name="Line 92">
                <a:extLst>
                  <a:ext uri="{FF2B5EF4-FFF2-40B4-BE49-F238E27FC236}">
                    <a16:creationId xmlns:a16="http://schemas.microsoft.com/office/drawing/2014/main" id="{B0B55C4A-D020-49BF-86C3-478A02665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8" y="1210"/>
                <a:ext cx="1" cy="8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7150" name="Text Box 146">
              <a:extLst>
                <a:ext uri="{FF2B5EF4-FFF2-40B4-BE49-F238E27FC236}">
                  <a16:creationId xmlns:a16="http://schemas.microsoft.com/office/drawing/2014/main" id="{65782FAB-F279-4BF1-B448-11D3365F1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91"/>
              <a:ext cx="77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400" b="1">
                  <a:solidFill>
                    <a:srgbClr val="000099"/>
                  </a:solidFill>
                  <a:latin typeface="Arial" panose="020B0604020202020204" pitchFamily="34" charset="0"/>
                </a:rPr>
                <a:t>到达时间、执行时间和最后期限</a:t>
              </a:r>
            </a:p>
          </p:txBody>
        </p:sp>
      </p:grpSp>
      <p:sp>
        <p:nvSpPr>
          <p:cNvPr id="87049" name="Line 102">
            <a:extLst>
              <a:ext uri="{FF2B5EF4-FFF2-40B4-BE49-F238E27FC236}">
                <a16:creationId xmlns:a16="http://schemas.microsoft.com/office/drawing/2014/main" id="{3C072F51-5C3A-4F0D-A19A-1F186A61C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4" y="4525963"/>
            <a:ext cx="7488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0" name="Line 103">
            <a:extLst>
              <a:ext uri="{FF2B5EF4-FFF2-40B4-BE49-F238E27FC236}">
                <a16:creationId xmlns:a16="http://schemas.microsoft.com/office/drawing/2014/main" id="{EADAD51E-B470-42C6-815E-69DDB0D7C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8613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1" name="Line 104">
            <a:extLst>
              <a:ext uri="{FF2B5EF4-FFF2-40B4-BE49-F238E27FC236}">
                <a16:creationId xmlns:a16="http://schemas.microsoft.com/office/drawing/2014/main" id="{74638F7F-3DAC-4EFF-964A-30DAFF7837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8213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2" name="Line 105">
            <a:extLst>
              <a:ext uri="{FF2B5EF4-FFF2-40B4-BE49-F238E27FC236}">
                <a16:creationId xmlns:a16="http://schemas.microsoft.com/office/drawing/2014/main" id="{325C1DD1-477E-4A7D-9665-CD64629D94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9013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3" name="Line 106">
            <a:extLst>
              <a:ext uri="{FF2B5EF4-FFF2-40B4-BE49-F238E27FC236}">
                <a16:creationId xmlns:a16="http://schemas.microsoft.com/office/drawing/2014/main" id="{4BB976E2-467D-47AB-B574-3D7BECD6C6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4" name="Line 107">
            <a:extLst>
              <a:ext uri="{FF2B5EF4-FFF2-40B4-BE49-F238E27FC236}">
                <a16:creationId xmlns:a16="http://schemas.microsoft.com/office/drawing/2014/main" id="{C2E0E89D-16DE-4629-BEF5-DE1B569771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5" name="Line 108">
            <a:extLst>
              <a:ext uri="{FF2B5EF4-FFF2-40B4-BE49-F238E27FC236}">
                <a16:creationId xmlns:a16="http://schemas.microsoft.com/office/drawing/2014/main" id="{AE6D7069-1406-4348-9659-2F4D7E333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3388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6" name="Line 109">
            <a:extLst>
              <a:ext uri="{FF2B5EF4-FFF2-40B4-BE49-F238E27FC236}">
                <a16:creationId xmlns:a16="http://schemas.microsoft.com/office/drawing/2014/main" id="{1DC1390A-79A4-4E8B-891D-FE095FF100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3788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7" name="Line 110">
            <a:extLst>
              <a:ext uri="{FF2B5EF4-FFF2-40B4-BE49-F238E27FC236}">
                <a16:creationId xmlns:a16="http://schemas.microsoft.com/office/drawing/2014/main" id="{4A3A150B-E363-4DEB-A2AE-A1A13B19E7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5775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8" name="Line 111">
            <a:extLst>
              <a:ext uri="{FF2B5EF4-FFF2-40B4-BE49-F238E27FC236}">
                <a16:creationId xmlns:a16="http://schemas.microsoft.com/office/drawing/2014/main" id="{54692171-DCC6-405C-B204-35B115C1D5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6175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59" name="Line 112">
            <a:extLst>
              <a:ext uri="{FF2B5EF4-FFF2-40B4-BE49-F238E27FC236}">
                <a16:creationId xmlns:a16="http://schemas.microsoft.com/office/drawing/2014/main" id="{9401A4C3-EC38-406E-862E-90B0D97372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8163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60" name="Line 113">
            <a:extLst>
              <a:ext uri="{FF2B5EF4-FFF2-40B4-BE49-F238E27FC236}">
                <a16:creationId xmlns:a16="http://schemas.microsoft.com/office/drawing/2014/main" id="{4747D7F7-8A47-4861-8208-3757D093C7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18563" y="4452939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61" name="Text Box 114">
            <a:extLst>
              <a:ext uri="{FF2B5EF4-FFF2-40B4-BE49-F238E27FC236}">
                <a16:creationId xmlns:a16="http://schemas.microsoft.com/office/drawing/2014/main" id="{604EDB3A-5024-41E2-83E2-903BC827D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339" y="4510088"/>
            <a:ext cx="2873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7062" name="Text Box 115">
            <a:extLst>
              <a:ext uri="{FF2B5EF4-FFF2-40B4-BE49-F238E27FC236}">
                <a16:creationId xmlns:a16="http://schemas.microsoft.com/office/drawing/2014/main" id="{F6D15B13-45A1-4734-BAE0-D5EF033BB8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4510088"/>
            <a:ext cx="5032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87063" name="Text Box 116">
            <a:extLst>
              <a:ext uri="{FF2B5EF4-FFF2-40B4-BE49-F238E27FC236}">
                <a16:creationId xmlns:a16="http://schemas.microsoft.com/office/drawing/2014/main" id="{0BB7F998-2AA5-46D5-88E0-A56C8D61D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9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87064" name="Text Box 117">
            <a:extLst>
              <a:ext uri="{FF2B5EF4-FFF2-40B4-BE49-F238E27FC236}">
                <a16:creationId xmlns:a16="http://schemas.microsoft.com/office/drawing/2014/main" id="{367ED275-9DB1-4DB0-9801-C9BFECF9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1" y="4510088"/>
            <a:ext cx="479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7065" name="Text Box 118">
            <a:extLst>
              <a:ext uri="{FF2B5EF4-FFF2-40B4-BE49-F238E27FC236}">
                <a16:creationId xmlns:a16="http://schemas.microsoft.com/office/drawing/2014/main" id="{A519CDF5-30A6-4B78-A53E-4CC0B4ED0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6" y="4510088"/>
            <a:ext cx="466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87066" name="Text Box 119">
            <a:extLst>
              <a:ext uri="{FF2B5EF4-FFF2-40B4-BE49-F238E27FC236}">
                <a16:creationId xmlns:a16="http://schemas.microsoft.com/office/drawing/2014/main" id="{04C4FEF1-7468-4E5F-9282-F489EA984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9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7067" name="Text Box 120">
            <a:extLst>
              <a:ext uri="{FF2B5EF4-FFF2-40B4-BE49-F238E27FC236}">
                <a16:creationId xmlns:a16="http://schemas.microsoft.com/office/drawing/2014/main" id="{73FD76C7-CFF7-4193-90F6-6CC2FBC574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9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7068" name="Text Box 121">
            <a:extLst>
              <a:ext uri="{FF2B5EF4-FFF2-40B4-BE49-F238E27FC236}">
                <a16:creationId xmlns:a16="http://schemas.microsoft.com/office/drawing/2014/main" id="{66A613C5-6892-44CF-8904-0C4761C79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70</a:t>
            </a:r>
          </a:p>
        </p:txBody>
      </p:sp>
      <p:sp>
        <p:nvSpPr>
          <p:cNvPr id="87069" name="Text Box 122">
            <a:extLst>
              <a:ext uri="{FF2B5EF4-FFF2-40B4-BE49-F238E27FC236}">
                <a16:creationId xmlns:a16="http://schemas.microsoft.com/office/drawing/2014/main" id="{B818E4C3-84E6-47B3-86BA-0475315F3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6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87070" name="Text Box 123">
            <a:extLst>
              <a:ext uri="{FF2B5EF4-FFF2-40B4-BE49-F238E27FC236}">
                <a16:creationId xmlns:a16="http://schemas.microsoft.com/office/drawing/2014/main" id="{F014074D-5FDE-444D-AAA3-730855316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4510088"/>
            <a:ext cx="460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87071" name="Text Box 124">
            <a:extLst>
              <a:ext uri="{FF2B5EF4-FFF2-40B4-BE49-F238E27FC236}">
                <a16:creationId xmlns:a16="http://schemas.microsoft.com/office/drawing/2014/main" id="{F5FF10FA-39FA-45A8-82CC-056D23E19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5513" y="4510088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87072" name="Text Box 125">
            <a:extLst>
              <a:ext uri="{FF2B5EF4-FFF2-40B4-BE49-F238E27FC236}">
                <a16:creationId xmlns:a16="http://schemas.microsoft.com/office/drawing/2014/main" id="{B93A0D61-C3EB-42CB-BB89-3EB91ED9D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4510088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sp>
        <p:nvSpPr>
          <p:cNvPr id="87073" name="Rectangle 126">
            <a:extLst>
              <a:ext uri="{FF2B5EF4-FFF2-40B4-BE49-F238E27FC236}">
                <a16:creationId xmlns:a16="http://schemas.microsoft.com/office/drawing/2014/main" id="{7022305F-FC0A-4959-A593-225311428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A1</a:t>
            </a:r>
          </a:p>
        </p:txBody>
      </p:sp>
      <p:sp>
        <p:nvSpPr>
          <p:cNvPr id="87074" name="Rectangle 127">
            <a:extLst>
              <a:ext uri="{FF2B5EF4-FFF2-40B4-BE49-F238E27FC236}">
                <a16:creationId xmlns:a16="http://schemas.microsoft.com/office/drawing/2014/main" id="{A30C7F91-5B96-4E1F-9541-3EC23735C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4149726"/>
            <a:ext cx="666750" cy="360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</a:p>
        </p:txBody>
      </p:sp>
      <p:sp>
        <p:nvSpPr>
          <p:cNvPr id="87075" name="Rectangle 128">
            <a:extLst>
              <a:ext uri="{FF2B5EF4-FFF2-40B4-BE49-F238E27FC236}">
                <a16:creationId xmlns:a16="http://schemas.microsoft.com/office/drawing/2014/main" id="{9C3206DA-01AA-495F-948C-45BA4364C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</a:p>
        </p:txBody>
      </p:sp>
      <p:sp>
        <p:nvSpPr>
          <p:cNvPr id="87076" name="Rectangle 129">
            <a:extLst>
              <a:ext uri="{FF2B5EF4-FFF2-40B4-BE49-F238E27FC236}">
                <a16:creationId xmlns:a16="http://schemas.microsoft.com/office/drawing/2014/main" id="{B625E2CA-14FE-4022-94BD-529062E72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4149726"/>
            <a:ext cx="666750" cy="360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</a:p>
        </p:txBody>
      </p:sp>
      <p:sp>
        <p:nvSpPr>
          <p:cNvPr id="87077" name="Rectangle 131">
            <a:extLst>
              <a:ext uri="{FF2B5EF4-FFF2-40B4-BE49-F238E27FC236}">
                <a16:creationId xmlns:a16="http://schemas.microsoft.com/office/drawing/2014/main" id="{CC526DF7-7C76-4226-A47E-9A872000F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9813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</a:p>
        </p:txBody>
      </p:sp>
      <p:sp>
        <p:nvSpPr>
          <p:cNvPr id="87078" name="Rectangle 132">
            <a:extLst>
              <a:ext uri="{FF2B5EF4-FFF2-40B4-BE49-F238E27FC236}">
                <a16:creationId xmlns:a16="http://schemas.microsoft.com/office/drawing/2014/main" id="{D49BD2E9-93F2-44C3-ABA3-8D86A0753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4149726"/>
            <a:ext cx="666750" cy="360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87079" name="Rectangle 133">
            <a:extLst>
              <a:ext uri="{FF2B5EF4-FFF2-40B4-BE49-F238E27FC236}">
                <a16:creationId xmlns:a16="http://schemas.microsoft.com/office/drawing/2014/main" id="{E7628242-71CB-482D-9635-492837E01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</a:p>
        </p:txBody>
      </p:sp>
      <p:sp>
        <p:nvSpPr>
          <p:cNvPr id="87080" name="Rectangle 134">
            <a:extLst>
              <a:ext uri="{FF2B5EF4-FFF2-40B4-BE49-F238E27FC236}">
                <a16:creationId xmlns:a16="http://schemas.microsoft.com/office/drawing/2014/main" id="{C5DC3F3C-3A46-4DE5-B28C-FAF4EF8D8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5300" y="4149726"/>
            <a:ext cx="666750" cy="360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87081" name="Rectangle 135">
            <a:extLst>
              <a:ext uri="{FF2B5EF4-FFF2-40B4-BE49-F238E27FC236}">
                <a16:creationId xmlns:a16="http://schemas.microsoft.com/office/drawing/2014/main" id="{6D17D93E-869A-4C9C-A902-B143CD8E4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4425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</a:p>
        </p:txBody>
      </p:sp>
      <p:sp>
        <p:nvSpPr>
          <p:cNvPr id="87082" name="Rectangle 136">
            <a:extLst>
              <a:ext uri="{FF2B5EF4-FFF2-40B4-BE49-F238E27FC236}">
                <a16:creationId xmlns:a16="http://schemas.microsoft.com/office/drawing/2014/main" id="{53F42868-5D24-4334-9ECD-91D80395D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4149726"/>
            <a:ext cx="666750" cy="360363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A5</a:t>
            </a:r>
          </a:p>
        </p:txBody>
      </p:sp>
      <p:sp>
        <p:nvSpPr>
          <p:cNvPr id="87083" name="Rectangle 137">
            <a:extLst>
              <a:ext uri="{FF2B5EF4-FFF2-40B4-BE49-F238E27FC236}">
                <a16:creationId xmlns:a16="http://schemas.microsoft.com/office/drawing/2014/main" id="{381CC791-4A36-458D-99B3-1480BC7D1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1814" y="4149726"/>
            <a:ext cx="320675" cy="3603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87084" name="Line 138">
            <a:extLst>
              <a:ext uri="{FF2B5EF4-FFF2-40B4-BE49-F238E27FC236}">
                <a16:creationId xmlns:a16="http://schemas.microsoft.com/office/drawing/2014/main" id="{86B8A695-26F1-4211-9295-95973928E0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9813" y="45227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85" name="Line 139">
            <a:extLst>
              <a:ext uri="{FF2B5EF4-FFF2-40B4-BE49-F238E27FC236}">
                <a16:creationId xmlns:a16="http://schemas.microsoft.com/office/drawing/2014/main" id="{5E57CC8F-BB84-4CE5-A1E5-15EE372F87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3613" y="4510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86" name="Line 140">
            <a:extLst>
              <a:ext uri="{FF2B5EF4-FFF2-40B4-BE49-F238E27FC236}">
                <a16:creationId xmlns:a16="http://schemas.microsoft.com/office/drawing/2014/main" id="{7D3C3A97-5D4E-4FF2-B315-77F88C4A74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9738" y="4510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87" name="Line 141">
            <a:extLst>
              <a:ext uri="{FF2B5EF4-FFF2-40B4-BE49-F238E27FC236}">
                <a16:creationId xmlns:a16="http://schemas.microsoft.com/office/drawing/2014/main" id="{9832CE47-E2FB-46B2-AD91-2291CC3378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7438" y="4510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88" name="Line 142">
            <a:extLst>
              <a:ext uri="{FF2B5EF4-FFF2-40B4-BE49-F238E27FC236}">
                <a16:creationId xmlns:a16="http://schemas.microsoft.com/office/drawing/2014/main" id="{4024509C-C9AF-4339-8EE6-4BDC79BEF9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64425" y="4510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89" name="Line 143">
            <a:extLst>
              <a:ext uri="{FF2B5EF4-FFF2-40B4-BE49-F238E27FC236}">
                <a16:creationId xmlns:a16="http://schemas.microsoft.com/office/drawing/2014/main" id="{326FF18A-FD9B-40B7-99A8-42451CC4AE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2850" y="4510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7090" name="Text Box 144">
            <a:extLst>
              <a:ext uri="{FF2B5EF4-FFF2-40B4-BE49-F238E27FC236}">
                <a16:creationId xmlns:a16="http://schemas.microsoft.com/office/drawing/2014/main" id="{395F42FB-9E70-45E1-A8F4-E0D942F71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0964" y="4924425"/>
            <a:ext cx="9350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FF0000"/>
                </a:solidFill>
                <a:latin typeface="Arial" panose="020B0604020202020204" pitchFamily="34" charset="0"/>
              </a:rPr>
              <a:t>B1 </a:t>
            </a:r>
            <a:r>
              <a:rPr kumimoji="0" lang="zh-CN" altLang="en-US" sz="1400" b="1">
                <a:solidFill>
                  <a:srgbClr val="FF0000"/>
                </a:solidFill>
                <a:latin typeface="Arial" panose="020B0604020202020204" pitchFamily="34" charset="0"/>
              </a:rPr>
              <a:t>错过</a:t>
            </a:r>
          </a:p>
        </p:txBody>
      </p:sp>
      <p:sp>
        <p:nvSpPr>
          <p:cNvPr id="87091" name="Text Box 192">
            <a:extLst>
              <a:ext uri="{FF2B5EF4-FFF2-40B4-BE49-F238E27FC236}">
                <a16:creationId xmlns:a16="http://schemas.microsoft.com/office/drawing/2014/main" id="{6265A566-C918-488A-B969-52657FDA7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4868863"/>
            <a:ext cx="57626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A1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87092" name="Text Box 196">
            <a:extLst>
              <a:ext uri="{FF2B5EF4-FFF2-40B4-BE49-F238E27FC236}">
                <a16:creationId xmlns:a16="http://schemas.microsoft.com/office/drawing/2014/main" id="{F65B19BC-FF4E-4744-8D94-9229AC8CA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6951" y="4868863"/>
            <a:ext cx="12239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A5,B2</a:t>
            </a:r>
          </a:p>
        </p:txBody>
      </p:sp>
      <p:grpSp>
        <p:nvGrpSpPr>
          <p:cNvPr id="87093" name="Group 200">
            <a:extLst>
              <a:ext uri="{FF2B5EF4-FFF2-40B4-BE49-F238E27FC236}">
                <a16:creationId xmlns:a16="http://schemas.microsoft.com/office/drawing/2014/main" id="{550FCFAD-F636-460A-BC10-D5DFADF1FAE2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213100"/>
            <a:ext cx="1079500" cy="863600"/>
            <a:chOff x="204" y="2024"/>
            <a:chExt cx="680" cy="544"/>
          </a:xfrm>
        </p:grpSpPr>
        <p:sp>
          <p:nvSpPr>
            <p:cNvPr id="87112" name="Line 198">
              <a:extLst>
                <a:ext uri="{FF2B5EF4-FFF2-40B4-BE49-F238E27FC236}">
                  <a16:creationId xmlns:a16="http://schemas.microsoft.com/office/drawing/2014/main" id="{03ED7F0C-BAFB-4646-A5A3-E4635D87E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3" name="Text Box 199">
              <a:extLst>
                <a:ext uri="{FF2B5EF4-FFF2-40B4-BE49-F238E27FC236}">
                  <a16:creationId xmlns:a16="http://schemas.microsoft.com/office/drawing/2014/main" id="{E0365127-CA7F-405A-B692-05F4F90EA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A1,B1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7094" name="Group 201">
            <a:extLst>
              <a:ext uri="{FF2B5EF4-FFF2-40B4-BE49-F238E27FC236}">
                <a16:creationId xmlns:a16="http://schemas.microsoft.com/office/drawing/2014/main" id="{B1AC2EEB-69BD-4228-A1B9-62C3FB87D735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3213100"/>
            <a:ext cx="1079500" cy="863600"/>
            <a:chOff x="204" y="2024"/>
            <a:chExt cx="680" cy="544"/>
          </a:xfrm>
        </p:grpSpPr>
        <p:sp>
          <p:nvSpPr>
            <p:cNvPr id="87110" name="Line 202">
              <a:extLst>
                <a:ext uri="{FF2B5EF4-FFF2-40B4-BE49-F238E27FC236}">
                  <a16:creationId xmlns:a16="http://schemas.microsoft.com/office/drawing/2014/main" id="{5E57E457-419B-495D-93DC-80BEC1222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11" name="Text Box 203">
              <a:extLst>
                <a:ext uri="{FF2B5EF4-FFF2-40B4-BE49-F238E27FC236}">
                  <a16:creationId xmlns:a16="http://schemas.microsoft.com/office/drawing/2014/main" id="{2FA1D0F6-3690-4861-9B46-52B2779D9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7095" name="Group 204">
            <a:extLst>
              <a:ext uri="{FF2B5EF4-FFF2-40B4-BE49-F238E27FC236}">
                <a16:creationId xmlns:a16="http://schemas.microsoft.com/office/drawing/2014/main" id="{7782C345-4886-417D-A3D1-01FED7911C03}"/>
              </a:ext>
            </a:extLst>
          </p:cNvPr>
          <p:cNvGrpSpPr>
            <a:grpSpLocks/>
          </p:cNvGrpSpPr>
          <p:nvPr/>
        </p:nvGrpSpPr>
        <p:grpSpPr bwMode="auto">
          <a:xfrm>
            <a:off x="4475163" y="3213100"/>
            <a:ext cx="1079500" cy="863600"/>
            <a:chOff x="204" y="2024"/>
            <a:chExt cx="680" cy="544"/>
          </a:xfrm>
        </p:grpSpPr>
        <p:sp>
          <p:nvSpPr>
            <p:cNvPr id="87108" name="Line 205">
              <a:extLst>
                <a:ext uri="{FF2B5EF4-FFF2-40B4-BE49-F238E27FC236}">
                  <a16:creationId xmlns:a16="http://schemas.microsoft.com/office/drawing/2014/main" id="{B53C4E2B-13DC-4BA5-9788-4EDDCBA32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09" name="Text Box 206">
              <a:extLst>
                <a:ext uri="{FF2B5EF4-FFF2-40B4-BE49-F238E27FC236}">
                  <a16:creationId xmlns:a16="http://schemas.microsoft.com/office/drawing/2014/main" id="{CF02E4A2-38AD-4917-A639-0B76295D7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7096" name="Group 207">
            <a:extLst>
              <a:ext uri="{FF2B5EF4-FFF2-40B4-BE49-F238E27FC236}">
                <a16:creationId xmlns:a16="http://schemas.microsoft.com/office/drawing/2014/main" id="{369EAF5B-8488-443D-A13D-D81AF3E8BC26}"/>
              </a:ext>
            </a:extLst>
          </p:cNvPr>
          <p:cNvGrpSpPr>
            <a:grpSpLocks/>
          </p:cNvGrpSpPr>
          <p:nvPr/>
        </p:nvGrpSpPr>
        <p:grpSpPr bwMode="auto">
          <a:xfrm>
            <a:off x="5808663" y="3213100"/>
            <a:ext cx="1079500" cy="863600"/>
            <a:chOff x="204" y="2024"/>
            <a:chExt cx="680" cy="544"/>
          </a:xfrm>
        </p:grpSpPr>
        <p:sp>
          <p:nvSpPr>
            <p:cNvPr id="87106" name="Line 208">
              <a:extLst>
                <a:ext uri="{FF2B5EF4-FFF2-40B4-BE49-F238E27FC236}">
                  <a16:creationId xmlns:a16="http://schemas.microsoft.com/office/drawing/2014/main" id="{999AC5D5-231B-4468-A09B-754BC7AB21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07" name="Text Box 209">
              <a:extLst>
                <a:ext uri="{FF2B5EF4-FFF2-40B4-BE49-F238E27FC236}">
                  <a16:creationId xmlns:a16="http://schemas.microsoft.com/office/drawing/2014/main" id="{39F4B343-1012-4A22-88FF-330E912F9E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7097" name="Group 210">
            <a:extLst>
              <a:ext uri="{FF2B5EF4-FFF2-40B4-BE49-F238E27FC236}">
                <a16:creationId xmlns:a16="http://schemas.microsoft.com/office/drawing/2014/main" id="{995BCB97-171F-4E29-8712-D581175DF0F6}"/>
              </a:ext>
            </a:extLst>
          </p:cNvPr>
          <p:cNvGrpSpPr>
            <a:grpSpLocks/>
          </p:cNvGrpSpPr>
          <p:nvPr/>
        </p:nvGrpSpPr>
        <p:grpSpPr bwMode="auto">
          <a:xfrm>
            <a:off x="7104063" y="3213100"/>
            <a:ext cx="1079500" cy="863600"/>
            <a:chOff x="204" y="2024"/>
            <a:chExt cx="680" cy="544"/>
          </a:xfrm>
        </p:grpSpPr>
        <p:sp>
          <p:nvSpPr>
            <p:cNvPr id="87104" name="Line 211">
              <a:extLst>
                <a:ext uri="{FF2B5EF4-FFF2-40B4-BE49-F238E27FC236}">
                  <a16:creationId xmlns:a16="http://schemas.microsoft.com/office/drawing/2014/main" id="{D16BD6B1-D855-455F-A33A-9D80BDEADE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05" name="Text Box 212">
              <a:extLst>
                <a:ext uri="{FF2B5EF4-FFF2-40B4-BE49-F238E27FC236}">
                  <a16:creationId xmlns:a16="http://schemas.microsoft.com/office/drawing/2014/main" id="{93F8CD5D-5401-457B-81D8-661493380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7098" name="Group 213">
            <a:extLst>
              <a:ext uri="{FF2B5EF4-FFF2-40B4-BE49-F238E27FC236}">
                <a16:creationId xmlns:a16="http://schemas.microsoft.com/office/drawing/2014/main" id="{DD466B34-9261-43E0-BEED-E8B4CCB99B30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3213100"/>
            <a:ext cx="1079500" cy="863600"/>
            <a:chOff x="204" y="2024"/>
            <a:chExt cx="680" cy="544"/>
          </a:xfrm>
        </p:grpSpPr>
        <p:sp>
          <p:nvSpPr>
            <p:cNvPr id="87102" name="Line 214">
              <a:extLst>
                <a:ext uri="{FF2B5EF4-FFF2-40B4-BE49-F238E27FC236}">
                  <a16:creationId xmlns:a16="http://schemas.microsoft.com/office/drawing/2014/main" id="{9802CFB8-4AAD-4FEC-8AD1-6DA5DBC9E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103" name="Text Box 215">
              <a:extLst>
                <a:ext uri="{FF2B5EF4-FFF2-40B4-BE49-F238E27FC236}">
                  <a16:creationId xmlns:a16="http://schemas.microsoft.com/office/drawing/2014/main" id="{0E5B844D-8125-4DA9-A94C-52EFE00FC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B2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sp>
        <p:nvSpPr>
          <p:cNvPr id="87099" name="Text Box 216">
            <a:extLst>
              <a:ext uri="{FF2B5EF4-FFF2-40B4-BE49-F238E27FC236}">
                <a16:creationId xmlns:a16="http://schemas.microsoft.com/office/drawing/2014/main" id="{47FA591E-1853-452D-A992-79026669F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113" y="4941888"/>
            <a:ext cx="57626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87100" name="Text Box 217">
            <a:extLst>
              <a:ext uri="{FF2B5EF4-FFF2-40B4-BE49-F238E27FC236}">
                <a16:creationId xmlns:a16="http://schemas.microsoft.com/office/drawing/2014/main" id="{CC2D2044-0036-4F5E-8E8E-50C731A57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4941888"/>
            <a:ext cx="57626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87101" name="Text Box 218">
            <a:extLst>
              <a:ext uri="{FF2B5EF4-FFF2-40B4-BE49-F238E27FC236}">
                <a16:creationId xmlns:a16="http://schemas.microsoft.com/office/drawing/2014/main" id="{F41A3A58-8442-47B4-8D12-A1DED0D350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1" y="4941888"/>
            <a:ext cx="5762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页脚占位符 1">
            <a:extLst>
              <a:ext uri="{FF2B5EF4-FFF2-40B4-BE49-F238E27FC236}">
                <a16:creationId xmlns:a16="http://schemas.microsoft.com/office/drawing/2014/main" id="{DDCB0A7E-DAB3-4728-997D-7F5057BDB9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89091" name="灯片编号占位符 2">
            <a:extLst>
              <a:ext uri="{FF2B5EF4-FFF2-40B4-BE49-F238E27FC236}">
                <a16:creationId xmlns:a16="http://schemas.microsoft.com/office/drawing/2014/main" id="{E238295C-5183-4705-B062-52FA4654BE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E69597A5-857A-4317-B241-92F86D54E747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8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2" name="日期占位符 3">
            <a:extLst>
              <a:ext uri="{FF2B5EF4-FFF2-40B4-BE49-F238E27FC236}">
                <a16:creationId xmlns:a16="http://schemas.microsoft.com/office/drawing/2014/main" id="{C9EE8DD5-0A90-4AEA-82FC-351E56B2780F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EF2872C5-FC51-4BE9-AFB9-C72EF57B5976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89093" name="Group 2">
            <a:extLst>
              <a:ext uri="{FF2B5EF4-FFF2-40B4-BE49-F238E27FC236}">
                <a16:creationId xmlns:a16="http://schemas.microsoft.com/office/drawing/2014/main" id="{B33F92D6-AC39-4F50-8FA4-1924BCD1661A}"/>
              </a:ext>
            </a:extLst>
          </p:cNvPr>
          <p:cNvGrpSpPr>
            <a:grpSpLocks/>
          </p:cNvGrpSpPr>
          <p:nvPr/>
        </p:nvGrpSpPr>
        <p:grpSpPr bwMode="auto">
          <a:xfrm>
            <a:off x="8255001" y="-26988"/>
            <a:ext cx="1152525" cy="869951"/>
            <a:chOff x="4422" y="841"/>
            <a:chExt cx="726" cy="548"/>
          </a:xfrm>
        </p:grpSpPr>
        <p:sp>
          <p:nvSpPr>
            <p:cNvPr id="89207" name="Text Box 3">
              <a:extLst>
                <a:ext uri="{FF2B5EF4-FFF2-40B4-BE49-F238E27FC236}">
                  <a16:creationId xmlns:a16="http://schemas.microsoft.com/office/drawing/2014/main" id="{07A3B549-CFCF-4FCF-B7F8-F37BAF82DC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841"/>
              <a:ext cx="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B1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最后期限</a:t>
              </a:r>
            </a:p>
          </p:txBody>
        </p:sp>
        <p:sp>
          <p:nvSpPr>
            <p:cNvPr id="89208" name="Line 4">
              <a:extLst>
                <a:ext uri="{FF2B5EF4-FFF2-40B4-BE49-F238E27FC236}">
                  <a16:creationId xmlns:a16="http://schemas.microsoft.com/office/drawing/2014/main" id="{5BB90598-703A-464F-96A5-7469395AA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162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9094" name="Text Box 5">
            <a:extLst>
              <a:ext uri="{FF2B5EF4-FFF2-40B4-BE49-F238E27FC236}">
                <a16:creationId xmlns:a16="http://schemas.microsoft.com/office/drawing/2014/main" id="{CC4ACCCB-FA5E-43A9-ABB8-129F8A6EC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2571750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grpSp>
        <p:nvGrpSpPr>
          <p:cNvPr id="89095" name="Group 50">
            <a:extLst>
              <a:ext uri="{FF2B5EF4-FFF2-40B4-BE49-F238E27FC236}">
                <a16:creationId xmlns:a16="http://schemas.microsoft.com/office/drawing/2014/main" id="{15C2C14C-C87B-41B2-9188-0118434F63C0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50801"/>
            <a:ext cx="7991475" cy="2879725"/>
            <a:chOff x="113" y="32"/>
            <a:chExt cx="5034" cy="1814"/>
          </a:xfrm>
        </p:grpSpPr>
        <p:sp>
          <p:nvSpPr>
            <p:cNvPr id="89158" name="Line 51">
              <a:extLst>
                <a:ext uri="{FF2B5EF4-FFF2-40B4-BE49-F238E27FC236}">
                  <a16:creationId xmlns:a16="http://schemas.microsoft.com/office/drawing/2014/main" id="{DEF29EE4-1574-414C-B083-99986741B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" y="1625"/>
              <a:ext cx="47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9" name="Line 52">
              <a:extLst>
                <a:ext uri="{FF2B5EF4-FFF2-40B4-BE49-F238E27FC236}">
                  <a16:creationId xmlns:a16="http://schemas.microsoft.com/office/drawing/2014/main" id="{E2661262-4626-4975-B6D9-AEC45FC2CC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0" name="Line 53">
              <a:extLst>
                <a:ext uri="{FF2B5EF4-FFF2-40B4-BE49-F238E27FC236}">
                  <a16:creationId xmlns:a16="http://schemas.microsoft.com/office/drawing/2014/main" id="{C01330FD-ED13-4C63-B7FC-B8768642F4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1" name="Line 54">
              <a:extLst>
                <a:ext uri="{FF2B5EF4-FFF2-40B4-BE49-F238E27FC236}">
                  <a16:creationId xmlns:a16="http://schemas.microsoft.com/office/drawing/2014/main" id="{216E5E8F-A8D5-4459-BA3A-B82C2B39F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2" name="Line 55">
              <a:extLst>
                <a:ext uri="{FF2B5EF4-FFF2-40B4-BE49-F238E27FC236}">
                  <a16:creationId xmlns:a16="http://schemas.microsoft.com/office/drawing/2014/main" id="{B0838B94-0789-403A-9D77-4C68EDB9F6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9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3" name="Line 56">
              <a:extLst>
                <a:ext uri="{FF2B5EF4-FFF2-40B4-BE49-F238E27FC236}">
                  <a16:creationId xmlns:a16="http://schemas.microsoft.com/office/drawing/2014/main" id="{A6D8D31D-7BB5-478B-A9A4-1BB2E4522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4" name="Line 57">
              <a:extLst>
                <a:ext uri="{FF2B5EF4-FFF2-40B4-BE49-F238E27FC236}">
                  <a16:creationId xmlns:a16="http://schemas.microsoft.com/office/drawing/2014/main" id="{9EF3071B-5EE9-46BD-8D8E-516580076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5" name="Line 58">
              <a:extLst>
                <a:ext uri="{FF2B5EF4-FFF2-40B4-BE49-F238E27FC236}">
                  <a16:creationId xmlns:a16="http://schemas.microsoft.com/office/drawing/2014/main" id="{1AF41B53-CF76-4229-8110-DEF8E2DC7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6" name="Line 59">
              <a:extLst>
                <a:ext uri="{FF2B5EF4-FFF2-40B4-BE49-F238E27FC236}">
                  <a16:creationId xmlns:a16="http://schemas.microsoft.com/office/drawing/2014/main" id="{60211959-671C-43EE-A2A0-11ACBFC960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7" name="Line 60">
              <a:extLst>
                <a:ext uri="{FF2B5EF4-FFF2-40B4-BE49-F238E27FC236}">
                  <a16:creationId xmlns:a16="http://schemas.microsoft.com/office/drawing/2014/main" id="{5D9EA299-2344-4E9E-9E25-298A22C13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1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8" name="Line 61">
              <a:extLst>
                <a:ext uri="{FF2B5EF4-FFF2-40B4-BE49-F238E27FC236}">
                  <a16:creationId xmlns:a16="http://schemas.microsoft.com/office/drawing/2014/main" id="{6594431D-53E5-495E-A105-DE9A8A7CD3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69" name="Line 62">
              <a:extLst>
                <a:ext uri="{FF2B5EF4-FFF2-40B4-BE49-F238E27FC236}">
                  <a16:creationId xmlns:a16="http://schemas.microsoft.com/office/drawing/2014/main" id="{EFBF9CA9-4374-49E2-A768-94A25C8FB0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4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70" name="Text Box 63">
              <a:extLst>
                <a:ext uri="{FF2B5EF4-FFF2-40B4-BE49-F238E27FC236}">
                  <a16:creationId xmlns:a16="http://schemas.microsoft.com/office/drawing/2014/main" id="{2B0798E8-DB50-4B63-A435-EB9BFFEF3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89171" name="Text Box 64">
              <a:extLst>
                <a:ext uri="{FF2B5EF4-FFF2-40B4-BE49-F238E27FC236}">
                  <a16:creationId xmlns:a16="http://schemas.microsoft.com/office/drawing/2014/main" id="{0201216D-4796-4A6C-8F78-47EB59967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61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89172" name="Text Box 65">
              <a:extLst>
                <a:ext uri="{FF2B5EF4-FFF2-40B4-BE49-F238E27FC236}">
                  <a16:creationId xmlns:a16="http://schemas.microsoft.com/office/drawing/2014/main" id="{AFE7ED0A-0149-47A8-A55F-BD37E0CC5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40</a:t>
              </a:r>
            </a:p>
          </p:txBody>
        </p:sp>
        <p:sp>
          <p:nvSpPr>
            <p:cNvPr id="89173" name="Text Box 66">
              <a:extLst>
                <a:ext uri="{FF2B5EF4-FFF2-40B4-BE49-F238E27FC236}">
                  <a16:creationId xmlns:a16="http://schemas.microsoft.com/office/drawing/2014/main" id="{8A7BEBA8-DC81-4E2E-8252-4EFB9FEBA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615"/>
              <a:ext cx="3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20</a:t>
              </a:r>
            </a:p>
          </p:txBody>
        </p:sp>
        <p:sp>
          <p:nvSpPr>
            <p:cNvPr id="89174" name="Text Box 67">
              <a:extLst>
                <a:ext uri="{FF2B5EF4-FFF2-40B4-BE49-F238E27FC236}">
                  <a16:creationId xmlns:a16="http://schemas.microsoft.com/office/drawing/2014/main" id="{3E19EC63-76F2-4E83-8868-CA26003F64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1615"/>
              <a:ext cx="2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89175" name="Text Box 68">
              <a:extLst>
                <a:ext uri="{FF2B5EF4-FFF2-40B4-BE49-F238E27FC236}">
                  <a16:creationId xmlns:a16="http://schemas.microsoft.com/office/drawing/2014/main" id="{6A96140D-1C4F-4F6F-A552-E4A7CF3691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50</a:t>
              </a:r>
            </a:p>
          </p:txBody>
        </p:sp>
        <p:sp>
          <p:nvSpPr>
            <p:cNvPr id="89176" name="Text Box 69">
              <a:extLst>
                <a:ext uri="{FF2B5EF4-FFF2-40B4-BE49-F238E27FC236}">
                  <a16:creationId xmlns:a16="http://schemas.microsoft.com/office/drawing/2014/main" id="{7F31EA9B-0F02-4850-8728-FF5904EC8C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60</a:t>
              </a:r>
            </a:p>
          </p:txBody>
        </p:sp>
        <p:sp>
          <p:nvSpPr>
            <p:cNvPr id="89177" name="Text Box 70">
              <a:extLst>
                <a:ext uri="{FF2B5EF4-FFF2-40B4-BE49-F238E27FC236}">
                  <a16:creationId xmlns:a16="http://schemas.microsoft.com/office/drawing/2014/main" id="{E63F042A-A2F2-44D2-8827-704419156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89178" name="Text Box 71">
              <a:extLst>
                <a:ext uri="{FF2B5EF4-FFF2-40B4-BE49-F238E27FC236}">
                  <a16:creationId xmlns:a16="http://schemas.microsoft.com/office/drawing/2014/main" id="{BFE8B967-629D-4975-838A-B9D07AF65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89179" name="Text Box 72">
              <a:extLst>
                <a:ext uri="{FF2B5EF4-FFF2-40B4-BE49-F238E27FC236}">
                  <a16:creationId xmlns:a16="http://schemas.microsoft.com/office/drawing/2014/main" id="{CDBEC459-CCD3-4CB5-A153-0A506D873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90</a:t>
              </a:r>
            </a:p>
          </p:txBody>
        </p:sp>
        <p:sp>
          <p:nvSpPr>
            <p:cNvPr id="89180" name="Text Box 73">
              <a:extLst>
                <a:ext uri="{FF2B5EF4-FFF2-40B4-BE49-F238E27FC236}">
                  <a16:creationId xmlns:a16="http://schemas.microsoft.com/office/drawing/2014/main" id="{FC408B5D-1F77-42CB-8A96-4CF880971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5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89181" name="Rectangle 74">
              <a:extLst>
                <a:ext uri="{FF2B5EF4-FFF2-40B4-BE49-F238E27FC236}">
                  <a16:creationId xmlns:a16="http://schemas.microsoft.com/office/drawing/2014/main" id="{31153AB0-39A9-4F3A-8104-DC7EEBF8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B1</a:t>
              </a:r>
            </a:p>
          </p:txBody>
        </p:sp>
        <p:sp>
          <p:nvSpPr>
            <p:cNvPr id="89182" name="Rectangle 75">
              <a:extLst>
                <a:ext uri="{FF2B5EF4-FFF2-40B4-BE49-F238E27FC236}">
                  <a16:creationId xmlns:a16="http://schemas.microsoft.com/office/drawing/2014/main" id="{7D8CCBB7-4E46-48D2-B2D1-D3DBB09B1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89183" name="Rectangle 76">
              <a:extLst>
                <a:ext uri="{FF2B5EF4-FFF2-40B4-BE49-F238E27FC236}">
                  <a16:creationId xmlns:a16="http://schemas.microsoft.com/office/drawing/2014/main" id="{12C69D33-C4E5-4860-9737-A7DF1CAB8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89184" name="Rectangle 77">
              <a:extLst>
                <a:ext uri="{FF2B5EF4-FFF2-40B4-BE49-F238E27FC236}">
                  <a16:creationId xmlns:a16="http://schemas.microsoft.com/office/drawing/2014/main" id="{7D06E44F-D99E-4E43-8BAF-65E34DBBC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89185" name="Rectangle 78">
              <a:extLst>
                <a:ext uri="{FF2B5EF4-FFF2-40B4-BE49-F238E27FC236}">
                  <a16:creationId xmlns:a16="http://schemas.microsoft.com/office/drawing/2014/main" id="{CE9B7EF9-D1E8-4CF0-AEF5-3EE834B25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</a:p>
          </p:txBody>
        </p:sp>
        <p:sp>
          <p:nvSpPr>
            <p:cNvPr id="89186" name="Rectangle 79">
              <a:extLst>
                <a:ext uri="{FF2B5EF4-FFF2-40B4-BE49-F238E27FC236}">
                  <a16:creationId xmlns:a16="http://schemas.microsoft.com/office/drawing/2014/main" id="{D9E94553-9267-4455-8128-CF69A1587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</a:p>
          </p:txBody>
        </p:sp>
        <p:sp>
          <p:nvSpPr>
            <p:cNvPr id="89187" name="Rectangle 80">
              <a:extLst>
                <a:ext uri="{FF2B5EF4-FFF2-40B4-BE49-F238E27FC236}">
                  <a16:creationId xmlns:a16="http://schemas.microsoft.com/office/drawing/2014/main" id="{55DCA603-FF8A-48D6-BFAC-995A9A306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B1</a:t>
              </a:r>
            </a:p>
          </p:txBody>
        </p:sp>
        <p:grpSp>
          <p:nvGrpSpPr>
            <p:cNvPr id="89188" name="Group 81">
              <a:extLst>
                <a:ext uri="{FF2B5EF4-FFF2-40B4-BE49-F238E27FC236}">
                  <a16:creationId xmlns:a16="http://schemas.microsoft.com/office/drawing/2014/main" id="{941E1C67-C1C4-4937-B27A-D71825EA1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0" y="528"/>
              <a:ext cx="726" cy="643"/>
              <a:chOff x="1882" y="1386"/>
              <a:chExt cx="726" cy="643"/>
            </a:xfrm>
          </p:grpSpPr>
          <p:sp>
            <p:nvSpPr>
              <p:cNvPr id="89205" name="Line 82">
                <a:extLst>
                  <a:ext uri="{FF2B5EF4-FFF2-40B4-BE49-F238E27FC236}">
                    <a16:creationId xmlns:a16="http://schemas.microsoft.com/office/drawing/2014/main" id="{6A5D8CF1-2C62-46D4-B22C-3449B0657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9206" name="Text Box 83">
                <a:extLst>
                  <a:ext uri="{FF2B5EF4-FFF2-40B4-BE49-F238E27FC236}">
                    <a16:creationId xmlns:a16="http://schemas.microsoft.com/office/drawing/2014/main" id="{A502BA23-EDAB-4CC0-96DC-19196803F9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2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A2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</p:grpSp>
        <p:grpSp>
          <p:nvGrpSpPr>
            <p:cNvPr id="89189" name="Group 84">
              <a:extLst>
                <a:ext uri="{FF2B5EF4-FFF2-40B4-BE49-F238E27FC236}">
                  <a16:creationId xmlns:a16="http://schemas.microsoft.com/office/drawing/2014/main" id="{D087E6ED-37A6-4BC9-A724-39766B2D2B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" y="528"/>
              <a:ext cx="726" cy="638"/>
              <a:chOff x="1020" y="1386"/>
              <a:chExt cx="726" cy="638"/>
            </a:xfrm>
          </p:grpSpPr>
          <p:sp>
            <p:nvSpPr>
              <p:cNvPr id="89203" name="Text Box 85">
                <a:extLst>
                  <a:ext uri="{FF2B5EF4-FFF2-40B4-BE49-F238E27FC236}">
                    <a16:creationId xmlns:a16="http://schemas.microsoft.com/office/drawing/2014/main" id="{152343D9-FDCD-4592-98A7-7588E448BE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9204" name="Line 86">
                <a:extLst>
                  <a:ext uri="{FF2B5EF4-FFF2-40B4-BE49-F238E27FC236}">
                    <a16:creationId xmlns:a16="http://schemas.microsoft.com/office/drawing/2014/main" id="{68EC64E3-77A4-45A3-80C7-868CF4DD5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9" y="1701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190" name="Group 87">
              <a:extLst>
                <a:ext uri="{FF2B5EF4-FFF2-40B4-BE49-F238E27FC236}">
                  <a16:creationId xmlns:a16="http://schemas.microsoft.com/office/drawing/2014/main" id="{5E8E2065-24D5-4272-90EC-B35D782938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528"/>
              <a:ext cx="726" cy="643"/>
              <a:chOff x="2699" y="1386"/>
              <a:chExt cx="726" cy="643"/>
            </a:xfrm>
          </p:grpSpPr>
          <p:sp>
            <p:nvSpPr>
              <p:cNvPr id="89201" name="Text Box 88">
                <a:extLst>
                  <a:ext uri="{FF2B5EF4-FFF2-40B4-BE49-F238E27FC236}">
                    <a16:creationId xmlns:a16="http://schemas.microsoft.com/office/drawing/2014/main" id="{04FFC761-61C7-4EF2-A902-7FCCA5527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9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A3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9202" name="Line 89">
                <a:extLst>
                  <a:ext uri="{FF2B5EF4-FFF2-40B4-BE49-F238E27FC236}">
                    <a16:creationId xmlns:a16="http://schemas.microsoft.com/office/drawing/2014/main" id="{A965EFDA-DED9-4A7F-8204-AA92C88F0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191" name="Group 90">
              <a:extLst>
                <a:ext uri="{FF2B5EF4-FFF2-40B4-BE49-F238E27FC236}">
                  <a16:creationId xmlns:a16="http://schemas.microsoft.com/office/drawing/2014/main" id="{F35D4477-6628-48BE-B04F-D61CF71C9B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6" y="528"/>
              <a:ext cx="726" cy="643"/>
              <a:chOff x="3538" y="1386"/>
              <a:chExt cx="726" cy="643"/>
            </a:xfrm>
          </p:grpSpPr>
          <p:sp>
            <p:nvSpPr>
              <p:cNvPr id="89199" name="Text Box 91">
                <a:extLst>
                  <a:ext uri="{FF2B5EF4-FFF2-40B4-BE49-F238E27FC236}">
                    <a16:creationId xmlns:a16="http://schemas.microsoft.com/office/drawing/2014/main" id="{33E4BDA7-862A-47E6-B59B-13A71D41B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8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A4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9200" name="Line 92">
                <a:extLst>
                  <a:ext uri="{FF2B5EF4-FFF2-40B4-BE49-F238E27FC236}">
                    <a16:creationId xmlns:a16="http://schemas.microsoft.com/office/drawing/2014/main" id="{3E5C55D1-EAFF-4447-ADCF-1B69F9DDAC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192" name="Group 93">
              <a:extLst>
                <a:ext uri="{FF2B5EF4-FFF2-40B4-BE49-F238E27FC236}">
                  <a16:creationId xmlns:a16="http://schemas.microsoft.com/office/drawing/2014/main" id="{C18E151D-0493-4D2C-BDE3-B648FCD67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528"/>
              <a:ext cx="726" cy="643"/>
              <a:chOff x="4377" y="1386"/>
              <a:chExt cx="726" cy="643"/>
            </a:xfrm>
          </p:grpSpPr>
          <p:sp>
            <p:nvSpPr>
              <p:cNvPr id="89197" name="Text Box 94">
                <a:extLst>
                  <a:ext uri="{FF2B5EF4-FFF2-40B4-BE49-F238E27FC236}">
                    <a16:creationId xmlns:a16="http://schemas.microsoft.com/office/drawing/2014/main" id="{432AE03E-20DD-4DD8-91D3-E0574ACB97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7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A5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9198" name="Line 95">
                <a:extLst>
                  <a:ext uri="{FF2B5EF4-FFF2-40B4-BE49-F238E27FC236}">
                    <a16:creationId xmlns:a16="http://schemas.microsoft.com/office/drawing/2014/main" id="{55ED3CF2-E024-435D-9EB6-3F9F64D26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9193" name="Group 96">
              <a:extLst>
                <a:ext uri="{FF2B5EF4-FFF2-40B4-BE49-F238E27FC236}">
                  <a16:creationId xmlns:a16="http://schemas.microsoft.com/office/drawing/2014/main" id="{D98600EE-C814-4A02-8102-433359A7D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32"/>
              <a:ext cx="726" cy="1134"/>
              <a:chOff x="2290" y="890"/>
              <a:chExt cx="726" cy="1134"/>
            </a:xfrm>
          </p:grpSpPr>
          <p:sp>
            <p:nvSpPr>
              <p:cNvPr id="89195" name="Text Box 97">
                <a:extLst>
                  <a:ext uri="{FF2B5EF4-FFF2-40B4-BE49-F238E27FC236}">
                    <a16:creationId xmlns:a16="http://schemas.microsoft.com/office/drawing/2014/main" id="{0A0218F7-86FE-4008-B1DE-9AEC4801F0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890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89196" name="Line 98">
                <a:extLst>
                  <a:ext uri="{FF2B5EF4-FFF2-40B4-BE49-F238E27FC236}">
                    <a16:creationId xmlns:a16="http://schemas.microsoft.com/office/drawing/2014/main" id="{4DAA0F27-A06B-4ADD-9663-A45519318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8" y="1210"/>
                <a:ext cx="1" cy="8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9194" name="Text Box 99">
              <a:extLst>
                <a:ext uri="{FF2B5EF4-FFF2-40B4-BE49-F238E27FC236}">
                  <a16:creationId xmlns:a16="http://schemas.microsoft.com/office/drawing/2014/main" id="{207F3119-099B-420B-82FE-1E2627CA7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91"/>
              <a:ext cx="77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400" b="1">
                  <a:solidFill>
                    <a:srgbClr val="000099"/>
                  </a:solidFill>
                  <a:latin typeface="Arial" panose="020B0604020202020204" pitchFamily="34" charset="0"/>
                </a:rPr>
                <a:t>到达时间、执行时间和最后期限</a:t>
              </a:r>
            </a:p>
          </p:txBody>
        </p:sp>
      </p:grpSp>
      <p:sp>
        <p:nvSpPr>
          <p:cNvPr id="89096" name="Line 100">
            <a:extLst>
              <a:ext uri="{FF2B5EF4-FFF2-40B4-BE49-F238E27FC236}">
                <a16:creationId xmlns:a16="http://schemas.microsoft.com/office/drawing/2014/main" id="{DAC66D20-6281-48E8-A289-D4D18BF3C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16164" y="4813300"/>
            <a:ext cx="7488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097" name="Line 101">
            <a:extLst>
              <a:ext uri="{FF2B5EF4-FFF2-40B4-BE49-F238E27FC236}">
                <a16:creationId xmlns:a16="http://schemas.microsoft.com/office/drawing/2014/main" id="{2129DA30-9F92-4CD5-8A4A-034B870085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76563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098" name="Line 102">
            <a:extLst>
              <a:ext uri="{FF2B5EF4-FFF2-40B4-BE49-F238E27FC236}">
                <a16:creationId xmlns:a16="http://schemas.microsoft.com/office/drawing/2014/main" id="{7EF979E3-F463-4E9E-8EAF-9E4C4319C4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16163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099" name="Line 103">
            <a:extLst>
              <a:ext uri="{FF2B5EF4-FFF2-40B4-BE49-F238E27FC236}">
                <a16:creationId xmlns:a16="http://schemas.microsoft.com/office/drawing/2014/main" id="{0DC4F1BC-C8B1-4E93-A105-9E0278C9CC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36963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0" name="Line 104">
            <a:extLst>
              <a:ext uri="{FF2B5EF4-FFF2-40B4-BE49-F238E27FC236}">
                <a16:creationId xmlns:a16="http://schemas.microsoft.com/office/drawing/2014/main" id="{4CB5920F-D71D-4B52-927A-CCD29AB93F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98950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1" name="Line 105">
            <a:extLst>
              <a:ext uri="{FF2B5EF4-FFF2-40B4-BE49-F238E27FC236}">
                <a16:creationId xmlns:a16="http://schemas.microsoft.com/office/drawing/2014/main" id="{433C68BC-CB42-4CAF-BE98-99F6FA81F3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9350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2" name="Line 106">
            <a:extLst>
              <a:ext uri="{FF2B5EF4-FFF2-40B4-BE49-F238E27FC236}">
                <a16:creationId xmlns:a16="http://schemas.microsoft.com/office/drawing/2014/main" id="{73200712-C638-429A-BB19-6B588416DFD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1338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3" name="Line 107">
            <a:extLst>
              <a:ext uri="{FF2B5EF4-FFF2-40B4-BE49-F238E27FC236}">
                <a16:creationId xmlns:a16="http://schemas.microsoft.com/office/drawing/2014/main" id="{F72BFA1B-FD3E-4AD4-9AD6-3565D73B1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81738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4" name="Line 108">
            <a:extLst>
              <a:ext uri="{FF2B5EF4-FFF2-40B4-BE49-F238E27FC236}">
                <a16:creationId xmlns:a16="http://schemas.microsoft.com/office/drawing/2014/main" id="{7E1F8DE5-CAB5-4921-9B34-40649FEAF5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3725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5" name="Line 109">
            <a:extLst>
              <a:ext uri="{FF2B5EF4-FFF2-40B4-BE49-F238E27FC236}">
                <a16:creationId xmlns:a16="http://schemas.microsoft.com/office/drawing/2014/main" id="{982A9D03-E8CF-4FC8-9CB2-11914E186A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04125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6" name="Line 110">
            <a:extLst>
              <a:ext uri="{FF2B5EF4-FFF2-40B4-BE49-F238E27FC236}">
                <a16:creationId xmlns:a16="http://schemas.microsoft.com/office/drawing/2014/main" id="{7B3B8EC4-24ED-433F-A085-C29FE1268C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6113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7" name="Line 111">
            <a:extLst>
              <a:ext uri="{FF2B5EF4-FFF2-40B4-BE49-F238E27FC236}">
                <a16:creationId xmlns:a16="http://schemas.microsoft.com/office/drawing/2014/main" id="{15E98DDB-861A-4A8C-99E7-D33159C5A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26513" y="4740276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08" name="Text Box 112">
            <a:extLst>
              <a:ext uri="{FF2B5EF4-FFF2-40B4-BE49-F238E27FC236}">
                <a16:creationId xmlns:a16="http://schemas.microsoft.com/office/drawing/2014/main" id="{C83A05F6-7E4F-40FA-B78A-A074E36C3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9" y="4797426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89109" name="Text Box 113">
            <a:extLst>
              <a:ext uri="{FF2B5EF4-FFF2-40B4-BE49-F238E27FC236}">
                <a16:creationId xmlns:a16="http://schemas.microsoft.com/office/drawing/2014/main" id="{E093F54C-393C-4CA0-991A-3538AA916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7964" y="4797426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89110" name="Text Box 114">
            <a:extLst>
              <a:ext uri="{FF2B5EF4-FFF2-40B4-BE49-F238E27FC236}">
                <a16:creationId xmlns:a16="http://schemas.microsoft.com/office/drawing/2014/main" id="{5999B055-FCE4-4D71-AEE8-B89651F20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4089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89111" name="Text Box 115">
            <a:extLst>
              <a:ext uri="{FF2B5EF4-FFF2-40B4-BE49-F238E27FC236}">
                <a16:creationId xmlns:a16="http://schemas.microsoft.com/office/drawing/2014/main" id="{DE8A19FD-07AF-4096-BF45-E806B78B7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1" y="4797426"/>
            <a:ext cx="479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89112" name="Text Box 116">
            <a:extLst>
              <a:ext uri="{FF2B5EF4-FFF2-40B4-BE49-F238E27FC236}">
                <a16:creationId xmlns:a16="http://schemas.microsoft.com/office/drawing/2014/main" id="{0FFA286A-8D44-4057-B38E-5DDDD37C9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6" y="4797426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89113" name="Text Box 117">
            <a:extLst>
              <a:ext uri="{FF2B5EF4-FFF2-40B4-BE49-F238E27FC236}">
                <a16:creationId xmlns:a16="http://schemas.microsoft.com/office/drawing/2014/main" id="{04B86C4C-391B-4E92-ADF6-81E33D03A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9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89114" name="Text Box 118">
            <a:extLst>
              <a:ext uri="{FF2B5EF4-FFF2-40B4-BE49-F238E27FC236}">
                <a16:creationId xmlns:a16="http://schemas.microsoft.com/office/drawing/2014/main" id="{F9EE2865-383E-4556-B77F-C9378C2CE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9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89115" name="Text Box 119">
            <a:extLst>
              <a:ext uri="{FF2B5EF4-FFF2-40B4-BE49-F238E27FC236}">
                <a16:creationId xmlns:a16="http://schemas.microsoft.com/office/drawing/2014/main" id="{51619E53-CBD8-4D1C-BC5C-6CB95620A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8776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70</a:t>
            </a:r>
          </a:p>
        </p:txBody>
      </p:sp>
      <p:sp>
        <p:nvSpPr>
          <p:cNvPr id="89116" name="Text Box 120">
            <a:extLst>
              <a:ext uri="{FF2B5EF4-FFF2-40B4-BE49-F238E27FC236}">
                <a16:creationId xmlns:a16="http://schemas.microsoft.com/office/drawing/2014/main" id="{29788637-F9D9-4378-88F0-D10665FFD8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476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89117" name="Text Box 121">
            <a:extLst>
              <a:ext uri="{FF2B5EF4-FFF2-40B4-BE49-F238E27FC236}">
                <a16:creationId xmlns:a16="http://schemas.microsoft.com/office/drawing/2014/main" id="{8908B87F-20EC-4209-8075-A3EF6BFDD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176" y="4797426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89118" name="Text Box 122">
            <a:extLst>
              <a:ext uri="{FF2B5EF4-FFF2-40B4-BE49-F238E27FC236}">
                <a16:creationId xmlns:a16="http://schemas.microsoft.com/office/drawing/2014/main" id="{DB55EC0A-623E-4EB5-A563-CB6327499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3463" y="4797426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89119" name="Text Box 123">
            <a:extLst>
              <a:ext uri="{FF2B5EF4-FFF2-40B4-BE49-F238E27FC236}">
                <a16:creationId xmlns:a16="http://schemas.microsoft.com/office/drawing/2014/main" id="{49E52FF4-4F53-4CC2-95D7-15508884B7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9575" y="4797425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sp>
        <p:nvSpPr>
          <p:cNvPr id="89120" name="Rectangle 125">
            <a:extLst>
              <a:ext uri="{FF2B5EF4-FFF2-40B4-BE49-F238E27FC236}">
                <a16:creationId xmlns:a16="http://schemas.microsoft.com/office/drawing/2014/main" id="{829423B6-2A96-4CD4-B584-7BD2B105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75" y="4437063"/>
            <a:ext cx="1778000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</a:p>
        </p:txBody>
      </p:sp>
      <p:sp>
        <p:nvSpPr>
          <p:cNvPr id="89121" name="Rectangle 126">
            <a:extLst>
              <a:ext uri="{FF2B5EF4-FFF2-40B4-BE49-F238E27FC236}">
                <a16:creationId xmlns:a16="http://schemas.microsoft.com/office/drawing/2014/main" id="{817B29C4-0B73-44FB-9A5F-65A16DD6A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0825" y="4437063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</a:p>
        </p:txBody>
      </p:sp>
      <p:sp>
        <p:nvSpPr>
          <p:cNvPr id="89122" name="Rectangle 128">
            <a:extLst>
              <a:ext uri="{FF2B5EF4-FFF2-40B4-BE49-F238E27FC236}">
                <a16:creationId xmlns:a16="http://schemas.microsoft.com/office/drawing/2014/main" id="{9319B504-87AF-445F-BD67-562D38735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7763" y="4437063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</a:p>
        </p:txBody>
      </p:sp>
      <p:sp>
        <p:nvSpPr>
          <p:cNvPr id="89123" name="Rectangle 129">
            <a:extLst>
              <a:ext uri="{FF2B5EF4-FFF2-40B4-BE49-F238E27FC236}">
                <a16:creationId xmlns:a16="http://schemas.microsoft.com/office/drawing/2014/main" id="{2D7BABEF-CC99-4DE5-9576-DB8AF82C7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7689" y="4437063"/>
            <a:ext cx="1620837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89124" name="Rectangle 132">
            <a:extLst>
              <a:ext uri="{FF2B5EF4-FFF2-40B4-BE49-F238E27FC236}">
                <a16:creationId xmlns:a16="http://schemas.microsoft.com/office/drawing/2014/main" id="{4180C55A-C6EA-47D7-B44D-8B419113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72375" y="4437063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</a:p>
        </p:txBody>
      </p:sp>
      <p:sp>
        <p:nvSpPr>
          <p:cNvPr id="89125" name="Rectangle 133">
            <a:extLst>
              <a:ext uri="{FF2B5EF4-FFF2-40B4-BE49-F238E27FC236}">
                <a16:creationId xmlns:a16="http://schemas.microsoft.com/office/drawing/2014/main" id="{9F0210DB-0628-45E3-809B-7D7461C0F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075" y="4437063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A5</a:t>
            </a:r>
          </a:p>
        </p:txBody>
      </p:sp>
      <p:sp>
        <p:nvSpPr>
          <p:cNvPr id="89126" name="Rectangle 134">
            <a:extLst>
              <a:ext uri="{FF2B5EF4-FFF2-40B4-BE49-F238E27FC236}">
                <a16:creationId xmlns:a16="http://schemas.microsoft.com/office/drawing/2014/main" id="{7BA05645-4783-4C9E-9219-12E18B336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9764" y="4437063"/>
            <a:ext cx="320675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89127" name="Line 135">
            <a:extLst>
              <a:ext uri="{FF2B5EF4-FFF2-40B4-BE49-F238E27FC236}">
                <a16:creationId xmlns:a16="http://schemas.microsoft.com/office/drawing/2014/main" id="{3E91CDA5-791B-47BB-9811-416DA067CD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7763" y="48101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28" name="Line 136">
            <a:extLst>
              <a:ext uri="{FF2B5EF4-FFF2-40B4-BE49-F238E27FC236}">
                <a16:creationId xmlns:a16="http://schemas.microsoft.com/office/drawing/2014/main" id="{DA8EF972-FE0A-47B8-AB68-7893FC44A3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48075" y="47974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29" name="Line 137">
            <a:extLst>
              <a:ext uri="{FF2B5EF4-FFF2-40B4-BE49-F238E27FC236}">
                <a16:creationId xmlns:a16="http://schemas.microsoft.com/office/drawing/2014/main" id="{C21B33CC-AFE4-4F3C-B490-3FB8B2BF25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27688" y="47974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30" name="Line 138">
            <a:extLst>
              <a:ext uri="{FF2B5EF4-FFF2-40B4-BE49-F238E27FC236}">
                <a16:creationId xmlns:a16="http://schemas.microsoft.com/office/drawing/2014/main" id="{1254C845-3C2C-406E-A9D1-A1D8FD02C2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5388" y="47974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31" name="Line 139">
            <a:extLst>
              <a:ext uri="{FF2B5EF4-FFF2-40B4-BE49-F238E27FC236}">
                <a16:creationId xmlns:a16="http://schemas.microsoft.com/office/drawing/2014/main" id="{22CD92EF-CE2B-4DBE-AE84-F9E6B554B4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72375" y="47974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32" name="Line 140">
            <a:extLst>
              <a:ext uri="{FF2B5EF4-FFF2-40B4-BE49-F238E27FC236}">
                <a16:creationId xmlns:a16="http://schemas.microsoft.com/office/drawing/2014/main" id="{E8E96512-15AA-4F0E-B6F1-C61AEEF3BC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940800" y="4797425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9133" name="Text Box 142">
            <a:extLst>
              <a:ext uri="{FF2B5EF4-FFF2-40B4-BE49-F238E27FC236}">
                <a16:creationId xmlns:a16="http://schemas.microsoft.com/office/drawing/2014/main" id="{1E8C9DFF-0FA8-40D9-A9F7-0AFA72C86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141663"/>
            <a:ext cx="2484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固定优先级调度（</a:t>
            </a:r>
            <a:r>
              <a:rPr kumimoji="0" lang="en-US" altLang="zh-CN" sz="1400" b="1">
                <a:solidFill>
                  <a:srgbClr val="000099"/>
                </a:solidFill>
                <a:latin typeface="Arial" panose="020B0604020202020204" pitchFamily="34" charset="0"/>
              </a:rPr>
              <a:t>B</a:t>
            </a:r>
            <a:r>
              <a:rPr kumimoji="0" lang="zh-CN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优先级高）</a:t>
            </a:r>
          </a:p>
        </p:txBody>
      </p:sp>
      <p:sp>
        <p:nvSpPr>
          <p:cNvPr id="89134" name="Text Box 144">
            <a:extLst>
              <a:ext uri="{FF2B5EF4-FFF2-40B4-BE49-F238E27FC236}">
                <a16:creationId xmlns:a16="http://schemas.microsoft.com/office/drawing/2014/main" id="{29BFE537-0374-4BF5-AC74-61345AA88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5157788"/>
            <a:ext cx="8651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A1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错过</a:t>
            </a:r>
          </a:p>
        </p:txBody>
      </p:sp>
      <p:sp>
        <p:nvSpPr>
          <p:cNvPr id="89135" name="Text Box 147">
            <a:extLst>
              <a:ext uri="{FF2B5EF4-FFF2-40B4-BE49-F238E27FC236}">
                <a16:creationId xmlns:a16="http://schemas.microsoft.com/office/drawing/2014/main" id="{E037D53F-FF86-41CF-BD81-695A4D11F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3" y="5157788"/>
            <a:ext cx="5762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</a:p>
        </p:txBody>
      </p:sp>
      <p:sp>
        <p:nvSpPr>
          <p:cNvPr id="89136" name="Text Box 149">
            <a:extLst>
              <a:ext uri="{FF2B5EF4-FFF2-40B4-BE49-F238E27FC236}">
                <a16:creationId xmlns:a16="http://schemas.microsoft.com/office/drawing/2014/main" id="{576BE94C-F562-4190-B132-4A1740B58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9964" y="5157788"/>
            <a:ext cx="10810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A4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错过</a:t>
            </a:r>
          </a:p>
        </p:txBody>
      </p:sp>
      <p:sp>
        <p:nvSpPr>
          <p:cNvPr id="89137" name="Text Box 150">
            <a:extLst>
              <a:ext uri="{FF2B5EF4-FFF2-40B4-BE49-F238E27FC236}">
                <a16:creationId xmlns:a16="http://schemas.microsoft.com/office/drawing/2014/main" id="{A0BF0360-9E86-4A6C-8B6F-BDDE6DE37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925" y="5157788"/>
            <a:ext cx="1081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A5,B2</a:t>
            </a:r>
          </a:p>
        </p:txBody>
      </p:sp>
      <p:grpSp>
        <p:nvGrpSpPr>
          <p:cNvPr id="89138" name="Group 152">
            <a:extLst>
              <a:ext uri="{FF2B5EF4-FFF2-40B4-BE49-F238E27FC236}">
                <a16:creationId xmlns:a16="http://schemas.microsoft.com/office/drawing/2014/main" id="{5EEE6069-5C02-4395-A875-D4A0BCC4ED6B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573463"/>
            <a:ext cx="1079500" cy="863600"/>
            <a:chOff x="204" y="2024"/>
            <a:chExt cx="680" cy="544"/>
          </a:xfrm>
        </p:grpSpPr>
        <p:sp>
          <p:nvSpPr>
            <p:cNvPr id="89156" name="Line 153">
              <a:extLst>
                <a:ext uri="{FF2B5EF4-FFF2-40B4-BE49-F238E27FC236}">
                  <a16:creationId xmlns:a16="http://schemas.microsoft.com/office/drawing/2014/main" id="{80009ABD-CD52-409A-AA83-E6ECC1BB7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7" name="Text Box 154">
              <a:extLst>
                <a:ext uri="{FF2B5EF4-FFF2-40B4-BE49-F238E27FC236}">
                  <a16:creationId xmlns:a16="http://schemas.microsoft.com/office/drawing/2014/main" id="{CE7D5CD6-9458-4335-AAC9-38C0297EF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A1,B1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9139" name="Group 155">
            <a:extLst>
              <a:ext uri="{FF2B5EF4-FFF2-40B4-BE49-F238E27FC236}">
                <a16:creationId xmlns:a16="http://schemas.microsoft.com/office/drawing/2014/main" id="{F0A4D5C0-8984-426C-8818-5004AD544252}"/>
              </a:ext>
            </a:extLst>
          </p:cNvPr>
          <p:cNvGrpSpPr>
            <a:grpSpLocks/>
          </p:cNvGrpSpPr>
          <p:nvPr/>
        </p:nvGrpSpPr>
        <p:grpSpPr bwMode="auto">
          <a:xfrm>
            <a:off x="3287713" y="3573463"/>
            <a:ext cx="1079500" cy="863600"/>
            <a:chOff x="204" y="2024"/>
            <a:chExt cx="680" cy="544"/>
          </a:xfrm>
        </p:grpSpPr>
        <p:sp>
          <p:nvSpPr>
            <p:cNvPr id="89154" name="Line 156">
              <a:extLst>
                <a:ext uri="{FF2B5EF4-FFF2-40B4-BE49-F238E27FC236}">
                  <a16:creationId xmlns:a16="http://schemas.microsoft.com/office/drawing/2014/main" id="{78056299-097D-4356-B80A-83563CF90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5" name="Text Box 157">
              <a:extLst>
                <a:ext uri="{FF2B5EF4-FFF2-40B4-BE49-F238E27FC236}">
                  <a16:creationId xmlns:a16="http://schemas.microsoft.com/office/drawing/2014/main" id="{66528F18-DF90-4CB9-8A06-067A63599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9140" name="Group 158">
            <a:extLst>
              <a:ext uri="{FF2B5EF4-FFF2-40B4-BE49-F238E27FC236}">
                <a16:creationId xmlns:a16="http://schemas.microsoft.com/office/drawing/2014/main" id="{9BB3507D-9AB0-4465-9401-998A36AB96C1}"/>
              </a:ext>
            </a:extLst>
          </p:cNvPr>
          <p:cNvGrpSpPr>
            <a:grpSpLocks/>
          </p:cNvGrpSpPr>
          <p:nvPr/>
        </p:nvGrpSpPr>
        <p:grpSpPr bwMode="auto">
          <a:xfrm>
            <a:off x="4583113" y="3573463"/>
            <a:ext cx="1079500" cy="863600"/>
            <a:chOff x="204" y="2024"/>
            <a:chExt cx="680" cy="544"/>
          </a:xfrm>
        </p:grpSpPr>
        <p:sp>
          <p:nvSpPr>
            <p:cNvPr id="89152" name="Line 159">
              <a:extLst>
                <a:ext uri="{FF2B5EF4-FFF2-40B4-BE49-F238E27FC236}">
                  <a16:creationId xmlns:a16="http://schemas.microsoft.com/office/drawing/2014/main" id="{75FAE8F5-06DB-4102-814D-0C3F7BFAE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3" name="Text Box 160">
              <a:extLst>
                <a:ext uri="{FF2B5EF4-FFF2-40B4-BE49-F238E27FC236}">
                  <a16:creationId xmlns:a16="http://schemas.microsoft.com/office/drawing/2014/main" id="{2D0E92E5-6F2A-4377-8C48-E51C25266D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9141" name="Group 161">
            <a:extLst>
              <a:ext uri="{FF2B5EF4-FFF2-40B4-BE49-F238E27FC236}">
                <a16:creationId xmlns:a16="http://schemas.microsoft.com/office/drawing/2014/main" id="{436101AE-0B9F-4409-9BE9-BF1278F16780}"/>
              </a:ext>
            </a:extLst>
          </p:cNvPr>
          <p:cNvGrpSpPr>
            <a:grpSpLocks/>
          </p:cNvGrpSpPr>
          <p:nvPr/>
        </p:nvGrpSpPr>
        <p:grpSpPr bwMode="auto">
          <a:xfrm>
            <a:off x="5951538" y="3573463"/>
            <a:ext cx="1079500" cy="863600"/>
            <a:chOff x="204" y="2024"/>
            <a:chExt cx="680" cy="544"/>
          </a:xfrm>
        </p:grpSpPr>
        <p:sp>
          <p:nvSpPr>
            <p:cNvPr id="89150" name="Line 162">
              <a:extLst>
                <a:ext uri="{FF2B5EF4-FFF2-40B4-BE49-F238E27FC236}">
                  <a16:creationId xmlns:a16="http://schemas.microsoft.com/office/drawing/2014/main" id="{87AFFCA9-49A1-4D4C-B03C-82F6DD864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51" name="Text Box 163">
              <a:extLst>
                <a:ext uri="{FF2B5EF4-FFF2-40B4-BE49-F238E27FC236}">
                  <a16:creationId xmlns:a16="http://schemas.microsoft.com/office/drawing/2014/main" id="{8F92718A-1270-4F9C-A96A-F56127AA0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9142" name="Group 164">
            <a:extLst>
              <a:ext uri="{FF2B5EF4-FFF2-40B4-BE49-F238E27FC236}">
                <a16:creationId xmlns:a16="http://schemas.microsoft.com/office/drawing/2014/main" id="{F762A3D3-9EE9-42F9-99FB-E95BEB3779B6}"/>
              </a:ext>
            </a:extLst>
          </p:cNvPr>
          <p:cNvGrpSpPr>
            <a:grpSpLocks/>
          </p:cNvGrpSpPr>
          <p:nvPr/>
        </p:nvGrpSpPr>
        <p:grpSpPr bwMode="auto">
          <a:xfrm>
            <a:off x="7221538" y="3573463"/>
            <a:ext cx="1079500" cy="863600"/>
            <a:chOff x="204" y="2024"/>
            <a:chExt cx="680" cy="544"/>
          </a:xfrm>
        </p:grpSpPr>
        <p:sp>
          <p:nvSpPr>
            <p:cNvPr id="89148" name="Line 165">
              <a:extLst>
                <a:ext uri="{FF2B5EF4-FFF2-40B4-BE49-F238E27FC236}">
                  <a16:creationId xmlns:a16="http://schemas.microsoft.com/office/drawing/2014/main" id="{A50BB58A-5567-4751-9A6B-FDE4723D8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49" name="Text Box 166">
              <a:extLst>
                <a:ext uri="{FF2B5EF4-FFF2-40B4-BE49-F238E27FC236}">
                  <a16:creationId xmlns:a16="http://schemas.microsoft.com/office/drawing/2014/main" id="{D7BB61DA-593E-4E34-9B3B-064482DE7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89143" name="Group 167">
            <a:extLst>
              <a:ext uri="{FF2B5EF4-FFF2-40B4-BE49-F238E27FC236}">
                <a16:creationId xmlns:a16="http://schemas.microsoft.com/office/drawing/2014/main" id="{0E2BBF84-8D27-43CD-AF0E-C0EF812720B7}"/>
              </a:ext>
            </a:extLst>
          </p:cNvPr>
          <p:cNvGrpSpPr>
            <a:grpSpLocks/>
          </p:cNvGrpSpPr>
          <p:nvPr/>
        </p:nvGrpSpPr>
        <p:grpSpPr bwMode="auto">
          <a:xfrm>
            <a:off x="5254625" y="3573463"/>
            <a:ext cx="1079500" cy="863600"/>
            <a:chOff x="204" y="2024"/>
            <a:chExt cx="680" cy="544"/>
          </a:xfrm>
        </p:grpSpPr>
        <p:sp>
          <p:nvSpPr>
            <p:cNvPr id="89146" name="Line 168">
              <a:extLst>
                <a:ext uri="{FF2B5EF4-FFF2-40B4-BE49-F238E27FC236}">
                  <a16:creationId xmlns:a16="http://schemas.microsoft.com/office/drawing/2014/main" id="{97959955-197A-48C5-8245-5A8D7BFB06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" y="2160"/>
              <a:ext cx="0" cy="408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147" name="Text Box 169">
              <a:extLst>
                <a:ext uri="{FF2B5EF4-FFF2-40B4-BE49-F238E27FC236}">
                  <a16:creationId xmlns:a16="http://schemas.microsoft.com/office/drawing/2014/main" id="{B035D39F-879D-43E9-B3B4-044491C9B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2024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B2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sp>
        <p:nvSpPr>
          <p:cNvPr id="89144" name="Text Box 170">
            <a:extLst>
              <a:ext uri="{FF2B5EF4-FFF2-40B4-BE49-F238E27FC236}">
                <a16:creationId xmlns:a16="http://schemas.microsoft.com/office/drawing/2014/main" id="{11D81A9E-6D42-4A04-B552-11913A952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7576" y="5229225"/>
            <a:ext cx="5762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89145" name="Text Box 171">
            <a:extLst>
              <a:ext uri="{FF2B5EF4-FFF2-40B4-BE49-F238E27FC236}">
                <a16:creationId xmlns:a16="http://schemas.microsoft.com/office/drawing/2014/main" id="{D70C4050-BAF5-4402-94F5-3ACEC1678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5276" y="5219700"/>
            <a:ext cx="57626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页脚占位符 1">
            <a:extLst>
              <a:ext uri="{FF2B5EF4-FFF2-40B4-BE49-F238E27FC236}">
                <a16:creationId xmlns:a16="http://schemas.microsoft.com/office/drawing/2014/main" id="{92EC97A9-55A0-4BE8-96B1-1899C844D5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91139" name="灯片编号占位符 2">
            <a:extLst>
              <a:ext uri="{FF2B5EF4-FFF2-40B4-BE49-F238E27FC236}">
                <a16:creationId xmlns:a16="http://schemas.microsoft.com/office/drawing/2014/main" id="{16F045F1-37D2-4584-A67F-93957E754C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4379E5C8-3D8C-4A01-B741-FD07678B8CBB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9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40" name="日期占位符 3">
            <a:extLst>
              <a:ext uri="{FF2B5EF4-FFF2-40B4-BE49-F238E27FC236}">
                <a16:creationId xmlns:a16="http://schemas.microsoft.com/office/drawing/2014/main" id="{CCD66CA8-E955-40BB-B1CD-9F09E7B96970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A79AC9A1-01DB-4020-A199-9E6005266ECB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grpSp>
        <p:nvGrpSpPr>
          <p:cNvPr id="91141" name="Group 2">
            <a:extLst>
              <a:ext uri="{FF2B5EF4-FFF2-40B4-BE49-F238E27FC236}">
                <a16:creationId xmlns:a16="http://schemas.microsoft.com/office/drawing/2014/main" id="{D9F30F50-11FD-462C-BC1D-4BF735FEBAAE}"/>
              </a:ext>
            </a:extLst>
          </p:cNvPr>
          <p:cNvGrpSpPr>
            <a:grpSpLocks/>
          </p:cNvGrpSpPr>
          <p:nvPr/>
        </p:nvGrpSpPr>
        <p:grpSpPr bwMode="auto">
          <a:xfrm>
            <a:off x="8255001" y="-26988"/>
            <a:ext cx="1152525" cy="869951"/>
            <a:chOff x="4422" y="841"/>
            <a:chExt cx="726" cy="548"/>
          </a:xfrm>
        </p:grpSpPr>
        <p:sp>
          <p:nvSpPr>
            <p:cNvPr id="91255" name="Text Box 3">
              <a:extLst>
                <a:ext uri="{FF2B5EF4-FFF2-40B4-BE49-F238E27FC236}">
                  <a16:creationId xmlns:a16="http://schemas.microsoft.com/office/drawing/2014/main" id="{605C4687-72C4-4B5E-96FF-1C0A266B3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841"/>
              <a:ext cx="726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B2</a:t>
              </a: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600" b="1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最后期限</a:t>
              </a:r>
            </a:p>
          </p:txBody>
        </p:sp>
        <p:sp>
          <p:nvSpPr>
            <p:cNvPr id="91256" name="Line 4">
              <a:extLst>
                <a:ext uri="{FF2B5EF4-FFF2-40B4-BE49-F238E27FC236}">
                  <a16:creationId xmlns:a16="http://schemas.microsoft.com/office/drawing/2014/main" id="{9948B70C-B596-4BED-826E-8D20E257D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5" y="1162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1142" name="Text Box 5">
            <a:extLst>
              <a:ext uri="{FF2B5EF4-FFF2-40B4-BE49-F238E27FC236}">
                <a16:creationId xmlns:a16="http://schemas.microsoft.com/office/drawing/2014/main" id="{1C65B46B-7BC0-4977-A86F-B9018950D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2571750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grpSp>
        <p:nvGrpSpPr>
          <p:cNvPr id="91143" name="Group 6">
            <a:extLst>
              <a:ext uri="{FF2B5EF4-FFF2-40B4-BE49-F238E27FC236}">
                <a16:creationId xmlns:a16="http://schemas.microsoft.com/office/drawing/2014/main" id="{5E226758-FB56-42CB-8BA1-0499F1513D19}"/>
              </a:ext>
            </a:extLst>
          </p:cNvPr>
          <p:cNvGrpSpPr>
            <a:grpSpLocks/>
          </p:cNvGrpSpPr>
          <p:nvPr/>
        </p:nvGrpSpPr>
        <p:grpSpPr bwMode="auto">
          <a:xfrm>
            <a:off x="1703389" y="-100013"/>
            <a:ext cx="7991475" cy="2879726"/>
            <a:chOff x="113" y="32"/>
            <a:chExt cx="5034" cy="1814"/>
          </a:xfrm>
        </p:grpSpPr>
        <p:sp>
          <p:nvSpPr>
            <p:cNvPr id="91206" name="Line 7">
              <a:extLst>
                <a:ext uri="{FF2B5EF4-FFF2-40B4-BE49-F238E27FC236}">
                  <a16:creationId xmlns:a16="http://schemas.microsoft.com/office/drawing/2014/main" id="{D0B81F3A-446C-41F8-A80F-CFD87E53C9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" y="1625"/>
              <a:ext cx="471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7" name="Line 8">
              <a:extLst>
                <a:ext uri="{FF2B5EF4-FFF2-40B4-BE49-F238E27FC236}">
                  <a16:creationId xmlns:a16="http://schemas.microsoft.com/office/drawing/2014/main" id="{89CD5E62-77DB-4F67-BD3F-F254FB1C6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8" name="Line 9">
              <a:extLst>
                <a:ext uri="{FF2B5EF4-FFF2-40B4-BE49-F238E27FC236}">
                  <a16:creationId xmlns:a16="http://schemas.microsoft.com/office/drawing/2014/main" id="{5CE9C0D3-7C1C-4C0E-AE7E-8318A37AB3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9" name="Line 10">
              <a:extLst>
                <a:ext uri="{FF2B5EF4-FFF2-40B4-BE49-F238E27FC236}">
                  <a16:creationId xmlns:a16="http://schemas.microsoft.com/office/drawing/2014/main" id="{47BF00A1-B5BB-483E-920B-3A5B6DBB41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0" name="Line 11">
              <a:extLst>
                <a:ext uri="{FF2B5EF4-FFF2-40B4-BE49-F238E27FC236}">
                  <a16:creationId xmlns:a16="http://schemas.microsoft.com/office/drawing/2014/main" id="{AACEFC63-0294-4B1A-AE3B-61C075DA7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9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1" name="Line 12">
              <a:extLst>
                <a:ext uri="{FF2B5EF4-FFF2-40B4-BE49-F238E27FC236}">
                  <a16:creationId xmlns:a16="http://schemas.microsoft.com/office/drawing/2014/main" id="{D40E7DF9-29AD-4518-85E2-977BA9614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9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2" name="Line 13">
              <a:extLst>
                <a:ext uri="{FF2B5EF4-FFF2-40B4-BE49-F238E27FC236}">
                  <a16:creationId xmlns:a16="http://schemas.microsoft.com/office/drawing/2014/main" id="{BC79F8B5-244F-4365-BACA-B50B3DF5B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12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3" name="Line 14">
              <a:extLst>
                <a:ext uri="{FF2B5EF4-FFF2-40B4-BE49-F238E27FC236}">
                  <a16:creationId xmlns:a16="http://schemas.microsoft.com/office/drawing/2014/main" id="{F0452862-F9EE-4F90-A8CE-5BE37DB8C6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4" name="Line 15">
              <a:extLst>
                <a:ext uri="{FF2B5EF4-FFF2-40B4-BE49-F238E27FC236}">
                  <a16:creationId xmlns:a16="http://schemas.microsoft.com/office/drawing/2014/main" id="{5E2241EF-3934-4D88-B266-D290835F33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5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5" name="Line 16">
              <a:extLst>
                <a:ext uri="{FF2B5EF4-FFF2-40B4-BE49-F238E27FC236}">
                  <a16:creationId xmlns:a16="http://schemas.microsoft.com/office/drawing/2014/main" id="{56B6F11E-AD16-49F3-A15D-517B69BA3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61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6" name="Line 17">
              <a:extLst>
                <a:ext uri="{FF2B5EF4-FFF2-40B4-BE49-F238E27FC236}">
                  <a16:creationId xmlns:a16="http://schemas.microsoft.com/office/drawing/2014/main" id="{851AEB6F-7DD8-49FE-B5B3-9F0DCE3E61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78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7" name="Line 18">
              <a:extLst>
                <a:ext uri="{FF2B5EF4-FFF2-40B4-BE49-F238E27FC236}">
                  <a16:creationId xmlns:a16="http://schemas.microsoft.com/office/drawing/2014/main" id="{3DBA732D-82E2-4DBE-B9B6-BBEB482469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94" y="1579"/>
              <a:ext cx="0" cy="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18" name="Text Box 19">
              <a:extLst>
                <a:ext uri="{FF2B5EF4-FFF2-40B4-BE49-F238E27FC236}">
                  <a16:creationId xmlns:a16="http://schemas.microsoft.com/office/drawing/2014/main" id="{533DEC3A-B842-4D59-9F27-A8D036B52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1615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91219" name="Text Box 20">
              <a:extLst>
                <a:ext uri="{FF2B5EF4-FFF2-40B4-BE49-F238E27FC236}">
                  <a16:creationId xmlns:a16="http://schemas.microsoft.com/office/drawing/2014/main" id="{867FF966-129F-4151-AA2C-94B690388D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" y="161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</a:p>
          </p:txBody>
        </p:sp>
        <p:sp>
          <p:nvSpPr>
            <p:cNvPr id="91220" name="Text Box 21">
              <a:extLst>
                <a:ext uri="{FF2B5EF4-FFF2-40B4-BE49-F238E27FC236}">
                  <a16:creationId xmlns:a16="http://schemas.microsoft.com/office/drawing/2014/main" id="{A061ABB9-CE50-4DD9-B230-7DA79472F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40</a:t>
              </a:r>
            </a:p>
          </p:txBody>
        </p:sp>
        <p:sp>
          <p:nvSpPr>
            <p:cNvPr id="91221" name="Text Box 22">
              <a:extLst>
                <a:ext uri="{FF2B5EF4-FFF2-40B4-BE49-F238E27FC236}">
                  <a16:creationId xmlns:a16="http://schemas.microsoft.com/office/drawing/2014/main" id="{4AFD34D6-DF51-4B28-84FD-1294FAE51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1615"/>
              <a:ext cx="30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20</a:t>
              </a:r>
            </a:p>
          </p:txBody>
        </p:sp>
        <p:sp>
          <p:nvSpPr>
            <p:cNvPr id="91222" name="Text Box 23">
              <a:extLst>
                <a:ext uri="{FF2B5EF4-FFF2-40B4-BE49-F238E27FC236}">
                  <a16:creationId xmlns:a16="http://schemas.microsoft.com/office/drawing/2014/main" id="{015439C5-203E-4D19-9717-C2C639BBBF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1" y="1615"/>
              <a:ext cx="2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30</a:t>
              </a:r>
            </a:p>
          </p:txBody>
        </p:sp>
        <p:sp>
          <p:nvSpPr>
            <p:cNvPr id="91223" name="Text Box 24">
              <a:extLst>
                <a:ext uri="{FF2B5EF4-FFF2-40B4-BE49-F238E27FC236}">
                  <a16:creationId xmlns:a16="http://schemas.microsoft.com/office/drawing/2014/main" id="{4AF40A8B-E8B1-48EB-97FD-9339A10C4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0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50</a:t>
              </a:r>
            </a:p>
          </p:txBody>
        </p:sp>
        <p:sp>
          <p:nvSpPr>
            <p:cNvPr id="91224" name="Text Box 25">
              <a:extLst>
                <a:ext uri="{FF2B5EF4-FFF2-40B4-BE49-F238E27FC236}">
                  <a16:creationId xmlns:a16="http://schemas.microsoft.com/office/drawing/2014/main" id="{1362C26D-EB43-4A20-885F-7E39E61E8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6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60</a:t>
              </a:r>
            </a:p>
          </p:txBody>
        </p:sp>
        <p:sp>
          <p:nvSpPr>
            <p:cNvPr id="91225" name="Text Box 26">
              <a:extLst>
                <a:ext uri="{FF2B5EF4-FFF2-40B4-BE49-F238E27FC236}">
                  <a16:creationId xmlns:a16="http://schemas.microsoft.com/office/drawing/2014/main" id="{BD10C95C-B3CE-4BA2-8134-32EBCC815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7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70</a:t>
              </a:r>
            </a:p>
          </p:txBody>
        </p:sp>
        <p:sp>
          <p:nvSpPr>
            <p:cNvPr id="91226" name="Text Box 27">
              <a:extLst>
                <a:ext uri="{FF2B5EF4-FFF2-40B4-BE49-F238E27FC236}">
                  <a16:creationId xmlns:a16="http://schemas.microsoft.com/office/drawing/2014/main" id="{656C2989-C690-4371-BCE0-78C404F0E9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80</a:t>
              </a:r>
            </a:p>
          </p:txBody>
        </p:sp>
        <p:sp>
          <p:nvSpPr>
            <p:cNvPr id="91227" name="Text Box 28">
              <a:extLst>
                <a:ext uri="{FF2B5EF4-FFF2-40B4-BE49-F238E27FC236}">
                  <a16:creationId xmlns:a16="http://schemas.microsoft.com/office/drawing/2014/main" id="{690395CA-D72A-4EEF-B9D0-225B47666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1615"/>
              <a:ext cx="2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90</a:t>
              </a:r>
            </a:p>
          </p:txBody>
        </p:sp>
        <p:sp>
          <p:nvSpPr>
            <p:cNvPr id="91228" name="Text Box 29">
              <a:extLst>
                <a:ext uri="{FF2B5EF4-FFF2-40B4-BE49-F238E27FC236}">
                  <a16:creationId xmlns:a16="http://schemas.microsoft.com/office/drawing/2014/main" id="{A7A48945-F9A9-45C2-8A5B-3364EB805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5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100</a:t>
              </a:r>
            </a:p>
          </p:txBody>
        </p:sp>
        <p:sp>
          <p:nvSpPr>
            <p:cNvPr id="91229" name="Rectangle 30">
              <a:extLst>
                <a:ext uri="{FF2B5EF4-FFF2-40B4-BE49-F238E27FC236}">
                  <a16:creationId xmlns:a16="http://schemas.microsoft.com/office/drawing/2014/main" id="{E799374F-FC38-4088-863E-C554071D8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B1</a:t>
              </a:r>
            </a:p>
          </p:txBody>
        </p:sp>
        <p:sp>
          <p:nvSpPr>
            <p:cNvPr id="91230" name="Rectangle 31">
              <a:extLst>
                <a:ext uri="{FF2B5EF4-FFF2-40B4-BE49-F238E27FC236}">
                  <a16:creationId xmlns:a16="http://schemas.microsoft.com/office/drawing/2014/main" id="{0BD17EEA-FFCF-4EE3-9370-1E05F0660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A1</a:t>
              </a:r>
            </a:p>
          </p:txBody>
        </p:sp>
        <p:sp>
          <p:nvSpPr>
            <p:cNvPr id="91231" name="Rectangle 32">
              <a:extLst>
                <a:ext uri="{FF2B5EF4-FFF2-40B4-BE49-F238E27FC236}">
                  <a16:creationId xmlns:a16="http://schemas.microsoft.com/office/drawing/2014/main" id="{97311F71-0D61-4BAA-B873-B4BF68F82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7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</a:p>
          </p:txBody>
        </p:sp>
        <p:sp>
          <p:nvSpPr>
            <p:cNvPr id="91232" name="Rectangle 33">
              <a:extLst>
                <a:ext uri="{FF2B5EF4-FFF2-40B4-BE49-F238E27FC236}">
                  <a16:creationId xmlns:a16="http://schemas.microsoft.com/office/drawing/2014/main" id="{56A758DC-6C77-4D5F-8FBA-F3F417A24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</a:p>
          </p:txBody>
        </p:sp>
        <p:sp>
          <p:nvSpPr>
            <p:cNvPr id="91233" name="Rectangle 34">
              <a:extLst>
                <a:ext uri="{FF2B5EF4-FFF2-40B4-BE49-F238E27FC236}">
                  <a16:creationId xmlns:a16="http://schemas.microsoft.com/office/drawing/2014/main" id="{8D71B4E7-1B87-40C4-BB4C-C9B4742A1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</a:p>
          </p:txBody>
        </p:sp>
        <p:sp>
          <p:nvSpPr>
            <p:cNvPr id="91234" name="Rectangle 35">
              <a:extLst>
                <a:ext uri="{FF2B5EF4-FFF2-40B4-BE49-F238E27FC236}">
                  <a16:creationId xmlns:a16="http://schemas.microsoft.com/office/drawing/2014/main" id="{643EC68F-3FE4-4E62-A992-AE77AE30C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1171"/>
              <a:ext cx="408" cy="227"/>
            </a:xfrm>
            <a:prstGeom prst="rect">
              <a:avLst/>
            </a:prstGeom>
            <a:solidFill>
              <a:schemeClr val="hlink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</a:p>
          </p:txBody>
        </p:sp>
        <p:sp>
          <p:nvSpPr>
            <p:cNvPr id="91235" name="Rectangle 36">
              <a:extLst>
                <a:ext uri="{FF2B5EF4-FFF2-40B4-BE49-F238E27FC236}">
                  <a16:creationId xmlns:a16="http://schemas.microsoft.com/office/drawing/2014/main" id="{25488CDB-CC3F-4624-B1D0-CC5A781F5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7" y="1398"/>
              <a:ext cx="1043" cy="2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B2</a:t>
              </a:r>
            </a:p>
          </p:txBody>
        </p:sp>
        <p:grpSp>
          <p:nvGrpSpPr>
            <p:cNvPr id="91236" name="Group 37">
              <a:extLst>
                <a:ext uri="{FF2B5EF4-FFF2-40B4-BE49-F238E27FC236}">
                  <a16:creationId xmlns:a16="http://schemas.microsoft.com/office/drawing/2014/main" id="{C072ACF7-53D4-4C78-AAE4-B9CFC93D9B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0" y="528"/>
              <a:ext cx="726" cy="643"/>
              <a:chOff x="1882" y="1386"/>
              <a:chExt cx="726" cy="643"/>
            </a:xfrm>
          </p:grpSpPr>
          <p:sp>
            <p:nvSpPr>
              <p:cNvPr id="91253" name="Line 38">
                <a:extLst>
                  <a:ext uri="{FF2B5EF4-FFF2-40B4-BE49-F238E27FC236}">
                    <a16:creationId xmlns:a16="http://schemas.microsoft.com/office/drawing/2014/main" id="{365DA063-785F-470C-ADE2-B5A9FA743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0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1254" name="Text Box 39">
                <a:extLst>
                  <a:ext uri="{FF2B5EF4-FFF2-40B4-BE49-F238E27FC236}">
                    <a16:creationId xmlns:a16="http://schemas.microsoft.com/office/drawing/2014/main" id="{D09E5FCC-A8B7-4B10-A84F-888D4A6033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82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A2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</p:grpSp>
        <p:grpSp>
          <p:nvGrpSpPr>
            <p:cNvPr id="91237" name="Group 40">
              <a:extLst>
                <a:ext uri="{FF2B5EF4-FFF2-40B4-BE49-F238E27FC236}">
                  <a16:creationId xmlns:a16="http://schemas.microsoft.com/office/drawing/2014/main" id="{22739B9B-352C-4E7B-B4B6-E533D2358C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" y="528"/>
              <a:ext cx="726" cy="638"/>
              <a:chOff x="1020" y="1386"/>
              <a:chExt cx="726" cy="638"/>
            </a:xfrm>
          </p:grpSpPr>
          <p:sp>
            <p:nvSpPr>
              <p:cNvPr id="91251" name="Text Box 41">
                <a:extLst>
                  <a:ext uri="{FF2B5EF4-FFF2-40B4-BE49-F238E27FC236}">
                    <a16:creationId xmlns:a16="http://schemas.microsoft.com/office/drawing/2014/main" id="{B1734CE8-F4F1-49F6-BED9-139E2A2CD2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91252" name="Line 42">
                <a:extLst>
                  <a:ext uri="{FF2B5EF4-FFF2-40B4-BE49-F238E27FC236}">
                    <a16:creationId xmlns:a16="http://schemas.microsoft.com/office/drawing/2014/main" id="{2284BDC8-942A-4D80-B29B-611278A86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29" y="1701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38" name="Group 43">
              <a:extLst>
                <a:ext uri="{FF2B5EF4-FFF2-40B4-BE49-F238E27FC236}">
                  <a16:creationId xmlns:a16="http://schemas.microsoft.com/office/drawing/2014/main" id="{6371C5A6-7DDF-4017-A511-C7237CED4D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528"/>
              <a:ext cx="726" cy="643"/>
              <a:chOff x="2699" y="1386"/>
              <a:chExt cx="726" cy="643"/>
            </a:xfrm>
          </p:grpSpPr>
          <p:sp>
            <p:nvSpPr>
              <p:cNvPr id="91249" name="Text Box 44">
                <a:extLst>
                  <a:ext uri="{FF2B5EF4-FFF2-40B4-BE49-F238E27FC236}">
                    <a16:creationId xmlns:a16="http://schemas.microsoft.com/office/drawing/2014/main" id="{E51D4307-E61B-41AD-BFF4-AE70A640E9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9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A3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91250" name="Line 45">
                <a:extLst>
                  <a:ext uri="{FF2B5EF4-FFF2-40B4-BE49-F238E27FC236}">
                    <a16:creationId xmlns:a16="http://schemas.microsoft.com/office/drawing/2014/main" id="{E7559478-E205-4800-A789-E0CF7681B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7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39" name="Group 46">
              <a:extLst>
                <a:ext uri="{FF2B5EF4-FFF2-40B4-BE49-F238E27FC236}">
                  <a16:creationId xmlns:a16="http://schemas.microsoft.com/office/drawing/2014/main" id="{80ECC43C-CEE0-4CD9-89C6-41D2C468C3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6" y="528"/>
              <a:ext cx="726" cy="643"/>
              <a:chOff x="3538" y="1386"/>
              <a:chExt cx="726" cy="643"/>
            </a:xfrm>
          </p:grpSpPr>
          <p:sp>
            <p:nvSpPr>
              <p:cNvPr id="91247" name="Text Box 47">
                <a:extLst>
                  <a:ext uri="{FF2B5EF4-FFF2-40B4-BE49-F238E27FC236}">
                    <a16:creationId xmlns:a16="http://schemas.microsoft.com/office/drawing/2014/main" id="{E70AAE11-BCBD-479A-9B7C-8BCCD3035C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38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A4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91248" name="Line 48">
                <a:extLst>
                  <a:ext uri="{FF2B5EF4-FFF2-40B4-BE49-F238E27FC236}">
                    <a16:creationId xmlns:a16="http://schemas.microsoft.com/office/drawing/2014/main" id="{B8C7484C-FC8D-4FC5-8F6A-B4C340305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9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40" name="Group 49">
              <a:extLst>
                <a:ext uri="{FF2B5EF4-FFF2-40B4-BE49-F238E27FC236}">
                  <a16:creationId xmlns:a16="http://schemas.microsoft.com/office/drawing/2014/main" id="{EA664952-AFE8-413B-915A-DAD1C3EFC6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528"/>
              <a:ext cx="726" cy="643"/>
              <a:chOff x="4377" y="1386"/>
              <a:chExt cx="726" cy="643"/>
            </a:xfrm>
          </p:grpSpPr>
          <p:sp>
            <p:nvSpPr>
              <p:cNvPr id="91245" name="Text Box 50">
                <a:extLst>
                  <a:ext uri="{FF2B5EF4-FFF2-40B4-BE49-F238E27FC236}">
                    <a16:creationId xmlns:a16="http://schemas.microsoft.com/office/drawing/2014/main" id="{9C2F4906-CD77-4F90-A290-73BAC7DEF8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7" y="1386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A5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91246" name="Line 51">
                <a:extLst>
                  <a:ext uri="{FF2B5EF4-FFF2-40B4-BE49-F238E27FC236}">
                    <a16:creationId xmlns:a16="http://schemas.microsoft.com/office/drawing/2014/main" id="{07407BAD-E868-4F5B-9102-9035967B8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85" y="1706"/>
                <a:ext cx="1" cy="32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241" name="Group 52">
              <a:extLst>
                <a:ext uri="{FF2B5EF4-FFF2-40B4-BE49-F238E27FC236}">
                  <a16:creationId xmlns:a16="http://schemas.microsoft.com/office/drawing/2014/main" id="{56EE254C-E3C2-4D41-AF0F-DFD431CECA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8" y="32"/>
              <a:ext cx="726" cy="1134"/>
              <a:chOff x="2290" y="890"/>
              <a:chExt cx="726" cy="1134"/>
            </a:xfrm>
          </p:grpSpPr>
          <p:sp>
            <p:nvSpPr>
              <p:cNvPr id="91243" name="Text Box 53">
                <a:extLst>
                  <a:ext uri="{FF2B5EF4-FFF2-40B4-BE49-F238E27FC236}">
                    <a16:creationId xmlns:a16="http://schemas.microsoft.com/office/drawing/2014/main" id="{DC27FA07-7302-4D07-B246-A4A7F83C9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0" y="890"/>
                <a:ext cx="726" cy="3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990000"/>
                  </a:buClr>
                  <a:buFont typeface="Wingdings" panose="05000000000000000000" pitchFamily="2" charset="2"/>
                  <a:buChar char="q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DB4325"/>
                  </a:buClr>
                  <a:buSzPct val="80000"/>
                  <a:buFont typeface="Wingdings" panose="05000000000000000000" pitchFamily="2" charset="2"/>
                  <a:buChar char="v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Font typeface="Wingdings" panose="05000000000000000000" pitchFamily="2" charset="2"/>
                  <a:buChar char="Ø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SzPct val="55000"/>
                  <a:buFont typeface="Wingdings" panose="05000000000000000000" pitchFamily="2" charset="2"/>
                  <a:buChar char="ü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50000"/>
                  <a:buChar char="•"/>
                  <a:defRPr kumimoji="1" sz="16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en-US" altLang="zh-CN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B1</a:t>
                </a:r>
              </a:p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kumimoji="0" lang="zh-CN" altLang="en-US" sz="1600" b="1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最后期限</a:t>
                </a:r>
              </a:p>
            </p:txBody>
          </p:sp>
          <p:sp>
            <p:nvSpPr>
              <p:cNvPr id="91244" name="Line 54">
                <a:extLst>
                  <a:ext uri="{FF2B5EF4-FFF2-40B4-BE49-F238E27FC236}">
                    <a16:creationId xmlns:a16="http://schemas.microsoft.com/office/drawing/2014/main" id="{76178163-BC4B-4635-AF89-5291845651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8" y="1210"/>
                <a:ext cx="1" cy="81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91242" name="Text Box 55">
              <a:extLst>
                <a:ext uri="{FF2B5EF4-FFF2-40B4-BE49-F238E27FC236}">
                  <a16:creationId xmlns:a16="http://schemas.microsoft.com/office/drawing/2014/main" id="{FF327E69-3ACD-4B16-BF2A-C95CBAD30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391"/>
              <a:ext cx="771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zh-CN" altLang="en-US" sz="1400" b="1">
                  <a:solidFill>
                    <a:srgbClr val="000099"/>
                  </a:solidFill>
                  <a:latin typeface="Arial" panose="020B0604020202020204" pitchFamily="34" charset="0"/>
                </a:rPr>
                <a:t>到达时间、执行时间和最后期限</a:t>
              </a:r>
            </a:p>
          </p:txBody>
        </p:sp>
      </p:grpSp>
      <p:sp>
        <p:nvSpPr>
          <p:cNvPr id="91144" name="Text Box 93">
            <a:extLst>
              <a:ext uri="{FF2B5EF4-FFF2-40B4-BE49-F238E27FC236}">
                <a16:creationId xmlns:a16="http://schemas.microsoft.com/office/drawing/2014/main" id="{DF3E34C6-1667-4B27-B967-B1ECB83C4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068638"/>
            <a:ext cx="24844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000099"/>
                </a:solidFill>
                <a:latin typeface="Arial" panose="020B0604020202020204" pitchFamily="34" charset="0"/>
              </a:rPr>
              <a:t>抢占式</a:t>
            </a:r>
            <a:r>
              <a:rPr kumimoji="0" lang="en-US" altLang="zh-CN" sz="1400" b="1">
                <a:solidFill>
                  <a:srgbClr val="000099"/>
                </a:solidFill>
                <a:latin typeface="Arial" panose="020B0604020202020204" pitchFamily="34" charset="0"/>
              </a:rPr>
              <a:t>EDF</a:t>
            </a:r>
          </a:p>
        </p:txBody>
      </p:sp>
      <p:sp>
        <p:nvSpPr>
          <p:cNvPr id="91145" name="Line 101">
            <a:extLst>
              <a:ext uri="{FF2B5EF4-FFF2-40B4-BE49-F238E27FC236}">
                <a16:creationId xmlns:a16="http://schemas.microsoft.com/office/drawing/2014/main" id="{734855C5-AD88-4DB0-AA9C-58F834D13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4" y="3876675"/>
            <a:ext cx="74882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46" name="Line 102">
            <a:extLst>
              <a:ext uri="{FF2B5EF4-FFF2-40B4-BE49-F238E27FC236}">
                <a16:creationId xmlns:a16="http://schemas.microsoft.com/office/drawing/2014/main" id="{1B10A1D5-0949-4561-9D8A-C51E7B4BEA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8613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47" name="Line 103">
            <a:extLst>
              <a:ext uri="{FF2B5EF4-FFF2-40B4-BE49-F238E27FC236}">
                <a16:creationId xmlns:a16="http://schemas.microsoft.com/office/drawing/2014/main" id="{CCEA10C8-0DA8-4720-930B-854A0A9DC7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8213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48" name="Line 104">
            <a:extLst>
              <a:ext uri="{FF2B5EF4-FFF2-40B4-BE49-F238E27FC236}">
                <a16:creationId xmlns:a16="http://schemas.microsoft.com/office/drawing/2014/main" id="{396A2B82-E300-4837-935D-907D906E20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29013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49" name="Line 105">
            <a:extLst>
              <a:ext uri="{FF2B5EF4-FFF2-40B4-BE49-F238E27FC236}">
                <a16:creationId xmlns:a16="http://schemas.microsoft.com/office/drawing/2014/main" id="{6D486F63-4433-4A5A-8802-F2C1F1D39B9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91000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0" name="Line 106">
            <a:extLst>
              <a:ext uri="{FF2B5EF4-FFF2-40B4-BE49-F238E27FC236}">
                <a16:creationId xmlns:a16="http://schemas.microsoft.com/office/drawing/2014/main" id="{E93F14BE-B816-4D64-9E3A-016FACE47A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1400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1" name="Line 107">
            <a:extLst>
              <a:ext uri="{FF2B5EF4-FFF2-40B4-BE49-F238E27FC236}">
                <a16:creationId xmlns:a16="http://schemas.microsoft.com/office/drawing/2014/main" id="{B47E59ED-E2A1-40C6-BA48-D0BB89C2CD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3388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2" name="Line 108">
            <a:extLst>
              <a:ext uri="{FF2B5EF4-FFF2-40B4-BE49-F238E27FC236}">
                <a16:creationId xmlns:a16="http://schemas.microsoft.com/office/drawing/2014/main" id="{9FAEE448-F4F1-451F-ABC4-B45E4ADDA3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3788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3" name="Line 109">
            <a:extLst>
              <a:ext uri="{FF2B5EF4-FFF2-40B4-BE49-F238E27FC236}">
                <a16:creationId xmlns:a16="http://schemas.microsoft.com/office/drawing/2014/main" id="{73212143-D740-4B4C-B8C2-E6697EF8B0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5775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4" name="Line 110">
            <a:extLst>
              <a:ext uri="{FF2B5EF4-FFF2-40B4-BE49-F238E27FC236}">
                <a16:creationId xmlns:a16="http://schemas.microsoft.com/office/drawing/2014/main" id="{7C27E63D-37BD-45DA-86B0-A9798BC344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6175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5" name="Line 111">
            <a:extLst>
              <a:ext uri="{FF2B5EF4-FFF2-40B4-BE49-F238E27FC236}">
                <a16:creationId xmlns:a16="http://schemas.microsoft.com/office/drawing/2014/main" id="{9C92573B-688B-41B7-A861-6D7FFF75E4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58163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6" name="Line 112">
            <a:extLst>
              <a:ext uri="{FF2B5EF4-FFF2-40B4-BE49-F238E27FC236}">
                <a16:creationId xmlns:a16="http://schemas.microsoft.com/office/drawing/2014/main" id="{7EFBD523-0692-4DAF-97FD-22A32A7DAF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18563" y="3803651"/>
            <a:ext cx="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57" name="Text Box 113">
            <a:extLst>
              <a:ext uri="{FF2B5EF4-FFF2-40B4-BE49-F238E27FC236}">
                <a16:creationId xmlns:a16="http://schemas.microsoft.com/office/drawing/2014/main" id="{523E0B1A-B0D4-42C0-B301-D9F839F59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5339" y="3860801"/>
            <a:ext cx="2873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91158" name="Text Box 114">
            <a:extLst>
              <a:ext uri="{FF2B5EF4-FFF2-40B4-BE49-F238E27FC236}">
                <a16:creationId xmlns:a16="http://schemas.microsoft.com/office/drawing/2014/main" id="{C35E569A-439A-4D04-82DF-3B07A567A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014" y="3860801"/>
            <a:ext cx="5032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91159" name="Text Box 115">
            <a:extLst>
              <a:ext uri="{FF2B5EF4-FFF2-40B4-BE49-F238E27FC236}">
                <a16:creationId xmlns:a16="http://schemas.microsoft.com/office/drawing/2014/main" id="{952922C8-7794-4435-AA6F-E6360B729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139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</a:p>
        </p:txBody>
      </p:sp>
      <p:sp>
        <p:nvSpPr>
          <p:cNvPr id="91160" name="Text Box 116">
            <a:extLst>
              <a:ext uri="{FF2B5EF4-FFF2-40B4-BE49-F238E27FC236}">
                <a16:creationId xmlns:a16="http://schemas.microsoft.com/office/drawing/2014/main" id="{59042818-FBA6-475B-A1EF-9AEFA04FD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4551" y="3860801"/>
            <a:ext cx="479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91161" name="Text Box 117">
            <a:extLst>
              <a:ext uri="{FF2B5EF4-FFF2-40B4-BE49-F238E27FC236}">
                <a16:creationId xmlns:a16="http://schemas.microsoft.com/office/drawing/2014/main" id="{CD593B8B-3698-43C0-A0BC-947751A74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3676" y="3860801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91162" name="Text Box 118">
            <a:extLst>
              <a:ext uri="{FF2B5EF4-FFF2-40B4-BE49-F238E27FC236}">
                <a16:creationId xmlns:a16="http://schemas.microsoft.com/office/drawing/2014/main" id="{EE6A8710-5586-45EC-B3DC-977C6A5A2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839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50</a:t>
            </a:r>
          </a:p>
        </p:txBody>
      </p:sp>
      <p:sp>
        <p:nvSpPr>
          <p:cNvPr id="91163" name="Text Box 119">
            <a:extLst>
              <a:ext uri="{FF2B5EF4-FFF2-40B4-BE49-F238E27FC236}">
                <a16:creationId xmlns:a16="http://schemas.microsoft.com/office/drawing/2014/main" id="{1D6277F5-1A2E-4B94-952D-1C430F8D62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5989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</a:p>
        </p:txBody>
      </p:sp>
      <p:sp>
        <p:nvSpPr>
          <p:cNvPr id="91164" name="Text Box 120">
            <a:extLst>
              <a:ext uri="{FF2B5EF4-FFF2-40B4-BE49-F238E27FC236}">
                <a16:creationId xmlns:a16="http://schemas.microsoft.com/office/drawing/2014/main" id="{4A3A6D6F-84C4-4D09-9C0E-F10D64FBF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6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70</a:t>
            </a:r>
          </a:p>
        </p:txBody>
      </p:sp>
      <p:sp>
        <p:nvSpPr>
          <p:cNvPr id="91165" name="Text Box 121">
            <a:extLst>
              <a:ext uri="{FF2B5EF4-FFF2-40B4-BE49-F238E27FC236}">
                <a16:creationId xmlns:a16="http://schemas.microsoft.com/office/drawing/2014/main" id="{F796997A-4253-430D-A2FC-CB9BBA8E5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8526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</a:p>
        </p:txBody>
      </p:sp>
      <p:sp>
        <p:nvSpPr>
          <p:cNvPr id="91166" name="Text Box 122">
            <a:extLst>
              <a:ext uri="{FF2B5EF4-FFF2-40B4-BE49-F238E27FC236}">
                <a16:creationId xmlns:a16="http://schemas.microsoft.com/office/drawing/2014/main" id="{502325AA-EF52-4C5A-BFF8-0BEA8FAB7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3860801"/>
            <a:ext cx="460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90</a:t>
            </a:r>
          </a:p>
        </p:txBody>
      </p:sp>
      <p:sp>
        <p:nvSpPr>
          <p:cNvPr id="91167" name="Text Box 123">
            <a:extLst>
              <a:ext uri="{FF2B5EF4-FFF2-40B4-BE49-F238E27FC236}">
                <a16:creationId xmlns:a16="http://schemas.microsoft.com/office/drawing/2014/main" id="{6F472566-0DDF-4030-988C-30610C4B9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5513" y="386080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</a:p>
        </p:txBody>
      </p:sp>
      <p:sp>
        <p:nvSpPr>
          <p:cNvPr id="91168" name="Text Box 124">
            <a:extLst>
              <a:ext uri="{FF2B5EF4-FFF2-40B4-BE49-F238E27FC236}">
                <a16:creationId xmlns:a16="http://schemas.microsoft.com/office/drawing/2014/main" id="{83387D22-0371-4644-8DD2-EB7DCF49C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1625" y="3860800"/>
            <a:ext cx="1187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时间 </a:t>
            </a:r>
            <a:r>
              <a:rPr kumimoji="0" lang="en-US" altLang="zh-CN" sz="16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t/ms</a:t>
            </a:r>
          </a:p>
        </p:txBody>
      </p:sp>
      <p:sp>
        <p:nvSpPr>
          <p:cNvPr id="600145" name="Rectangle 125">
            <a:extLst>
              <a:ext uri="{FF2B5EF4-FFF2-40B4-BE49-F238E27FC236}">
                <a16:creationId xmlns:a16="http://schemas.microsoft.com/office/drawing/2014/main" id="{C4636306-130C-4BAC-8E42-5833D4856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3500438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A1</a:t>
            </a:r>
          </a:p>
        </p:txBody>
      </p:sp>
      <p:sp>
        <p:nvSpPr>
          <p:cNvPr id="600146" name="Rectangle 126">
            <a:extLst>
              <a:ext uri="{FF2B5EF4-FFF2-40B4-BE49-F238E27FC236}">
                <a16:creationId xmlns:a16="http://schemas.microsoft.com/office/drawing/2014/main" id="{88A9B3D6-843B-4796-9D45-4A1083791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5913" y="3500438"/>
            <a:ext cx="666750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</a:p>
        </p:txBody>
      </p:sp>
      <p:sp>
        <p:nvSpPr>
          <p:cNvPr id="600147" name="Rectangle 127">
            <a:extLst>
              <a:ext uri="{FF2B5EF4-FFF2-40B4-BE49-F238E27FC236}">
                <a16:creationId xmlns:a16="http://schemas.microsoft.com/office/drawing/2014/main" id="{6A03C371-8AAC-49A0-871C-D41A2B62B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9013" y="3500438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</a:p>
        </p:txBody>
      </p:sp>
      <p:sp>
        <p:nvSpPr>
          <p:cNvPr id="600148" name="Rectangle 128">
            <a:extLst>
              <a:ext uri="{FF2B5EF4-FFF2-40B4-BE49-F238E27FC236}">
                <a16:creationId xmlns:a16="http://schemas.microsoft.com/office/drawing/2014/main" id="{D11FF845-DB5E-4509-9495-9A1D2660E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0525" y="3500438"/>
            <a:ext cx="958850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</a:p>
        </p:txBody>
      </p:sp>
      <p:sp>
        <p:nvSpPr>
          <p:cNvPr id="600149" name="Rectangle 130">
            <a:extLst>
              <a:ext uri="{FF2B5EF4-FFF2-40B4-BE49-F238E27FC236}">
                <a16:creationId xmlns:a16="http://schemas.microsoft.com/office/drawing/2014/main" id="{42B29983-6C99-416C-BA0D-16AB41DE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9375" y="3500438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</a:p>
        </p:txBody>
      </p:sp>
      <p:sp>
        <p:nvSpPr>
          <p:cNvPr id="600150" name="Rectangle 131">
            <a:extLst>
              <a:ext uri="{FF2B5EF4-FFF2-40B4-BE49-F238E27FC236}">
                <a16:creationId xmlns:a16="http://schemas.microsoft.com/office/drawing/2014/main" id="{51D16909-A5D9-443F-9A0C-56A6913B8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438" y="3500438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</a:p>
        </p:txBody>
      </p:sp>
      <p:sp>
        <p:nvSpPr>
          <p:cNvPr id="600151" name="Rectangle 132">
            <a:extLst>
              <a:ext uri="{FF2B5EF4-FFF2-40B4-BE49-F238E27FC236}">
                <a16:creationId xmlns:a16="http://schemas.microsoft.com/office/drawing/2014/main" id="{03CE253F-4BCE-4496-A65A-9164989C1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2476" y="3500438"/>
            <a:ext cx="334963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600152" name="Rectangle 133">
            <a:extLst>
              <a:ext uri="{FF2B5EF4-FFF2-40B4-BE49-F238E27FC236}">
                <a16:creationId xmlns:a16="http://schemas.microsoft.com/office/drawing/2014/main" id="{190978FB-E8EB-495C-BF13-ED21F26C4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6575" y="3500438"/>
            <a:ext cx="666750" cy="360362"/>
          </a:xfrm>
          <a:prstGeom prst="rect">
            <a:avLst/>
          </a:prstGeom>
          <a:solidFill>
            <a:schemeClr val="hlink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A5</a:t>
            </a:r>
          </a:p>
        </p:txBody>
      </p:sp>
      <p:sp>
        <p:nvSpPr>
          <p:cNvPr id="600153" name="Rectangle 134">
            <a:extLst>
              <a:ext uri="{FF2B5EF4-FFF2-40B4-BE49-F238E27FC236}">
                <a16:creationId xmlns:a16="http://schemas.microsoft.com/office/drawing/2014/main" id="{191639D3-8767-4EAD-A5CB-44A4DD7F4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3500438"/>
            <a:ext cx="1327150" cy="36036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B2</a:t>
            </a:r>
          </a:p>
        </p:txBody>
      </p:sp>
      <p:sp>
        <p:nvSpPr>
          <p:cNvPr id="91178" name="Line 136">
            <a:extLst>
              <a:ext uri="{FF2B5EF4-FFF2-40B4-BE49-F238E27FC236}">
                <a16:creationId xmlns:a16="http://schemas.microsoft.com/office/drawing/2014/main" id="{CA22BFC0-FDA3-4DF9-A1D1-36B0F84A99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4413" y="38750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79" name="Line 137">
            <a:extLst>
              <a:ext uri="{FF2B5EF4-FFF2-40B4-BE49-F238E27FC236}">
                <a16:creationId xmlns:a16="http://schemas.microsoft.com/office/drawing/2014/main" id="{4D945AB2-F06D-4B69-B215-BAE83CA95D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8213" y="38623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80" name="Line 138">
            <a:extLst>
              <a:ext uri="{FF2B5EF4-FFF2-40B4-BE49-F238E27FC236}">
                <a16:creationId xmlns:a16="http://schemas.microsoft.com/office/drawing/2014/main" id="{6F6B08F7-AC60-4D29-80AC-49764D4673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19738" y="3860800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81" name="Line 139">
            <a:extLst>
              <a:ext uri="{FF2B5EF4-FFF2-40B4-BE49-F238E27FC236}">
                <a16:creationId xmlns:a16="http://schemas.microsoft.com/office/drawing/2014/main" id="{9B2313D4-D96C-44D8-8A68-01307A9026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2038" y="38623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82" name="Line 140">
            <a:extLst>
              <a:ext uri="{FF2B5EF4-FFF2-40B4-BE49-F238E27FC236}">
                <a16:creationId xmlns:a16="http://schemas.microsoft.com/office/drawing/2014/main" id="{7AED8481-15DE-449C-BEE1-61C64FB0D4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7438" y="3860800"/>
            <a:ext cx="0" cy="4333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83" name="Line 141">
            <a:extLst>
              <a:ext uri="{FF2B5EF4-FFF2-40B4-BE49-F238E27FC236}">
                <a16:creationId xmlns:a16="http://schemas.microsoft.com/office/drawing/2014/main" id="{0EFBD91C-FFFC-4F23-B228-273EFFCD9E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1575" y="3900489"/>
            <a:ext cx="0" cy="4333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1184" name="Text Box 143">
            <a:extLst>
              <a:ext uri="{FF2B5EF4-FFF2-40B4-BE49-F238E27FC236}">
                <a16:creationId xmlns:a16="http://schemas.microsoft.com/office/drawing/2014/main" id="{76CA9A26-50A3-40EA-A223-BD6472EFB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4221163"/>
            <a:ext cx="11525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A1,B1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到达</a:t>
            </a:r>
          </a:p>
        </p:txBody>
      </p:sp>
      <p:sp>
        <p:nvSpPr>
          <p:cNvPr id="600161" name="Text Box 149">
            <a:extLst>
              <a:ext uri="{FF2B5EF4-FFF2-40B4-BE49-F238E27FC236}">
                <a16:creationId xmlns:a16="http://schemas.microsoft.com/office/drawing/2014/main" id="{28604245-9485-469D-9C5D-629F5CD2F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087938"/>
            <a:ext cx="9144000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t=0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同时到达，由于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的截止时间比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早，故调度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t=10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完成，又调度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t=20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A2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到达，由于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A2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的截止时间比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早，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被中断而调度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A2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t=30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A2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完成，又重新调度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t=40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A3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又到达，但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的截止时间要比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A3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早，仍应该让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B1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继续执行直到完成（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t=45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），然后再调度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A3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执行；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在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t=55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时，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A3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完成，又调度</a:t>
            </a:r>
            <a:r>
              <a:rPr kumimoji="0" lang="en-US" altLang="zh-CN" sz="1400" b="1">
                <a:solidFill>
                  <a:srgbClr val="3333CC"/>
                </a:solidFill>
                <a:latin typeface="宋体" panose="02010600030101010101" pitchFamily="2" charset="-122"/>
              </a:rPr>
              <a:t>B2</a:t>
            </a:r>
            <a:r>
              <a:rPr kumimoji="0" lang="zh-CN" altLang="en-US" sz="1400" b="1">
                <a:solidFill>
                  <a:srgbClr val="3333CC"/>
                </a:solidFill>
                <a:latin typeface="宋体" panose="02010600030101010101" pitchFamily="2" charset="-122"/>
              </a:rPr>
              <a:t>执行。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 b="1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  <p:sp>
        <p:nvSpPr>
          <p:cNvPr id="91186" name="Text Box 150">
            <a:extLst>
              <a:ext uri="{FF2B5EF4-FFF2-40B4-BE49-F238E27FC236}">
                <a16:creationId xmlns:a16="http://schemas.microsoft.com/office/drawing/2014/main" id="{FD09A6A8-304D-4984-B005-E51EEEA25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275" y="4221163"/>
            <a:ext cx="86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A1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91187" name="Text Box 151">
            <a:extLst>
              <a:ext uri="{FF2B5EF4-FFF2-40B4-BE49-F238E27FC236}">
                <a16:creationId xmlns:a16="http://schemas.microsoft.com/office/drawing/2014/main" id="{F5B6EC67-8634-413F-8DD8-711A57507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238" y="4292600"/>
            <a:ext cx="86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91188" name="Text Box 152">
            <a:extLst>
              <a:ext uri="{FF2B5EF4-FFF2-40B4-BE49-F238E27FC236}">
                <a16:creationId xmlns:a16="http://schemas.microsoft.com/office/drawing/2014/main" id="{0491066B-AD30-4A4F-8179-7C21697A0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7938" y="4292600"/>
            <a:ext cx="86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91189" name="Text Box 153">
            <a:extLst>
              <a:ext uri="{FF2B5EF4-FFF2-40B4-BE49-F238E27FC236}">
                <a16:creationId xmlns:a16="http://schemas.microsoft.com/office/drawing/2014/main" id="{5EC971DA-C56B-4595-B9E5-9BA72B526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4292600"/>
            <a:ext cx="86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sp>
        <p:nvSpPr>
          <p:cNvPr id="91190" name="Text Box 154">
            <a:extLst>
              <a:ext uri="{FF2B5EF4-FFF2-40B4-BE49-F238E27FC236}">
                <a16:creationId xmlns:a16="http://schemas.microsoft.com/office/drawing/2014/main" id="{1CBC9195-C0AC-4674-A06D-7E1766D8C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0" y="4292600"/>
            <a:ext cx="86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 b="1">
                <a:solidFill>
                  <a:srgbClr val="000000"/>
                </a:solidFill>
                <a:latin typeface="Arial" panose="020B0604020202020204" pitchFamily="34" charset="0"/>
              </a:rPr>
              <a:t>A4</a:t>
            </a:r>
            <a:r>
              <a:rPr kumimoji="0" lang="zh-CN" altLang="en-US" sz="1400" b="1">
                <a:solidFill>
                  <a:srgbClr val="000000"/>
                </a:solidFill>
                <a:latin typeface="Arial" panose="020B0604020202020204" pitchFamily="34" charset="0"/>
              </a:rPr>
              <a:t>最后期限</a:t>
            </a:r>
          </a:p>
        </p:txBody>
      </p:sp>
      <p:grpSp>
        <p:nvGrpSpPr>
          <p:cNvPr id="91191" name="Group 173">
            <a:extLst>
              <a:ext uri="{FF2B5EF4-FFF2-40B4-BE49-F238E27FC236}">
                <a16:creationId xmlns:a16="http://schemas.microsoft.com/office/drawing/2014/main" id="{EBB33486-A756-4170-9967-994F172276C3}"/>
              </a:ext>
            </a:extLst>
          </p:cNvPr>
          <p:cNvGrpSpPr>
            <a:grpSpLocks/>
          </p:cNvGrpSpPr>
          <p:nvPr/>
        </p:nvGrpSpPr>
        <p:grpSpPr bwMode="auto">
          <a:xfrm>
            <a:off x="3143250" y="2852738"/>
            <a:ext cx="1079500" cy="647700"/>
            <a:chOff x="1020" y="1797"/>
            <a:chExt cx="680" cy="408"/>
          </a:xfrm>
        </p:grpSpPr>
        <p:sp>
          <p:nvSpPr>
            <p:cNvPr id="91204" name="Line 159">
              <a:extLst>
                <a:ext uri="{FF2B5EF4-FFF2-40B4-BE49-F238E27FC236}">
                  <a16:creationId xmlns:a16="http://schemas.microsoft.com/office/drawing/2014/main" id="{CD04AF58-BC43-41E5-BB86-54F49B024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7" y="1933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5" name="Text Box 160">
              <a:extLst>
                <a:ext uri="{FF2B5EF4-FFF2-40B4-BE49-F238E27FC236}">
                  <a16:creationId xmlns:a16="http://schemas.microsoft.com/office/drawing/2014/main" id="{94B7500B-0865-44D3-9235-D09E40CF7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797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91192" name="Group 178">
            <a:extLst>
              <a:ext uri="{FF2B5EF4-FFF2-40B4-BE49-F238E27FC236}">
                <a16:creationId xmlns:a16="http://schemas.microsoft.com/office/drawing/2014/main" id="{29BE31DF-2A20-4A65-8B61-983E7ACC7DA3}"/>
              </a:ext>
            </a:extLst>
          </p:cNvPr>
          <p:cNvGrpSpPr>
            <a:grpSpLocks/>
          </p:cNvGrpSpPr>
          <p:nvPr/>
        </p:nvGrpSpPr>
        <p:grpSpPr bwMode="auto">
          <a:xfrm>
            <a:off x="4438650" y="2852738"/>
            <a:ext cx="1079500" cy="647700"/>
            <a:chOff x="1836" y="1797"/>
            <a:chExt cx="680" cy="408"/>
          </a:xfrm>
        </p:grpSpPr>
        <p:sp>
          <p:nvSpPr>
            <p:cNvPr id="91202" name="Line 162">
              <a:extLst>
                <a:ext uri="{FF2B5EF4-FFF2-40B4-BE49-F238E27FC236}">
                  <a16:creationId xmlns:a16="http://schemas.microsoft.com/office/drawing/2014/main" id="{01E56270-228A-494F-982E-A97FB0194E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1933"/>
              <a:ext cx="1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3" name="Text Box 163">
              <a:extLst>
                <a:ext uri="{FF2B5EF4-FFF2-40B4-BE49-F238E27FC236}">
                  <a16:creationId xmlns:a16="http://schemas.microsoft.com/office/drawing/2014/main" id="{47FC5F50-0463-4F0F-B3DA-C91B81E89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6" y="1797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A3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91193" name="Group 176">
            <a:extLst>
              <a:ext uri="{FF2B5EF4-FFF2-40B4-BE49-F238E27FC236}">
                <a16:creationId xmlns:a16="http://schemas.microsoft.com/office/drawing/2014/main" id="{757F5076-1766-4471-AC0C-9A1BD8EE8C96}"/>
              </a:ext>
            </a:extLst>
          </p:cNvPr>
          <p:cNvGrpSpPr>
            <a:grpSpLocks/>
          </p:cNvGrpSpPr>
          <p:nvPr/>
        </p:nvGrpSpPr>
        <p:grpSpPr bwMode="auto">
          <a:xfrm>
            <a:off x="5807075" y="2852738"/>
            <a:ext cx="1079500" cy="647700"/>
            <a:chOff x="2698" y="1797"/>
            <a:chExt cx="680" cy="408"/>
          </a:xfrm>
        </p:grpSpPr>
        <p:sp>
          <p:nvSpPr>
            <p:cNvPr id="91200" name="Line 165">
              <a:extLst>
                <a:ext uri="{FF2B5EF4-FFF2-40B4-BE49-F238E27FC236}">
                  <a16:creationId xmlns:a16="http://schemas.microsoft.com/office/drawing/2014/main" id="{C41CA17C-E3E1-41C5-AB1C-45FBBB3691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1933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201" name="Text Box 166">
              <a:extLst>
                <a:ext uri="{FF2B5EF4-FFF2-40B4-BE49-F238E27FC236}">
                  <a16:creationId xmlns:a16="http://schemas.microsoft.com/office/drawing/2014/main" id="{BC762034-B296-4634-8FF5-7CCB213B24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8" y="1797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A4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91194" name="Group 175">
            <a:extLst>
              <a:ext uri="{FF2B5EF4-FFF2-40B4-BE49-F238E27FC236}">
                <a16:creationId xmlns:a16="http://schemas.microsoft.com/office/drawing/2014/main" id="{94FCEDE2-1F1B-465E-BF57-58C2E36CCFE0}"/>
              </a:ext>
            </a:extLst>
          </p:cNvPr>
          <p:cNvGrpSpPr>
            <a:grpSpLocks/>
          </p:cNvGrpSpPr>
          <p:nvPr/>
        </p:nvGrpSpPr>
        <p:grpSpPr bwMode="auto">
          <a:xfrm>
            <a:off x="7077075" y="2852738"/>
            <a:ext cx="1079500" cy="647700"/>
            <a:chOff x="3498" y="1797"/>
            <a:chExt cx="680" cy="408"/>
          </a:xfrm>
        </p:grpSpPr>
        <p:sp>
          <p:nvSpPr>
            <p:cNvPr id="91198" name="Line 168">
              <a:extLst>
                <a:ext uri="{FF2B5EF4-FFF2-40B4-BE49-F238E27FC236}">
                  <a16:creationId xmlns:a16="http://schemas.microsoft.com/office/drawing/2014/main" id="{55230C65-E934-4187-BF95-471263C54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1933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99" name="Text Box 169">
              <a:extLst>
                <a:ext uri="{FF2B5EF4-FFF2-40B4-BE49-F238E27FC236}">
                  <a16:creationId xmlns:a16="http://schemas.microsoft.com/office/drawing/2014/main" id="{0FF9E0A7-DE98-479B-A1FB-614ED6E11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" y="1797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A5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  <p:grpSp>
        <p:nvGrpSpPr>
          <p:cNvPr id="91195" name="Group 177">
            <a:extLst>
              <a:ext uri="{FF2B5EF4-FFF2-40B4-BE49-F238E27FC236}">
                <a16:creationId xmlns:a16="http://schemas.microsoft.com/office/drawing/2014/main" id="{DE2106D9-DD2D-4083-9994-2A4B3B643F38}"/>
              </a:ext>
            </a:extLst>
          </p:cNvPr>
          <p:cNvGrpSpPr>
            <a:grpSpLocks/>
          </p:cNvGrpSpPr>
          <p:nvPr/>
        </p:nvGrpSpPr>
        <p:grpSpPr bwMode="auto">
          <a:xfrm>
            <a:off x="5160963" y="2852738"/>
            <a:ext cx="1079500" cy="647700"/>
            <a:chOff x="2291" y="1797"/>
            <a:chExt cx="680" cy="408"/>
          </a:xfrm>
        </p:grpSpPr>
        <p:sp>
          <p:nvSpPr>
            <p:cNvPr id="91196" name="Line 171">
              <a:extLst>
                <a:ext uri="{FF2B5EF4-FFF2-40B4-BE49-F238E27FC236}">
                  <a16:creationId xmlns:a16="http://schemas.microsoft.com/office/drawing/2014/main" id="{1A6CB563-5229-455A-B1DE-32335B053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" y="1933"/>
              <a:ext cx="0" cy="27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97" name="Text Box 172">
              <a:extLst>
                <a:ext uri="{FF2B5EF4-FFF2-40B4-BE49-F238E27FC236}">
                  <a16:creationId xmlns:a16="http://schemas.microsoft.com/office/drawing/2014/main" id="{16935967-7350-4710-A260-4D8130EBD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1797"/>
              <a:ext cx="6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B2</a:t>
              </a:r>
              <a:r>
                <a:rPr kumimoji="0" lang="zh-CN" altLang="en-US" sz="1400" b="1">
                  <a:solidFill>
                    <a:srgbClr val="000000"/>
                  </a:solidFill>
                  <a:latin typeface="Arial" panose="020B0604020202020204" pitchFamily="34" charset="0"/>
                </a:rPr>
                <a:t>到达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0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0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00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00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0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00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00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0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0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0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00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0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80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0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0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0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0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0145" grpId="0" animBg="1"/>
      <p:bldP spid="600146" grpId="0" animBg="1"/>
      <p:bldP spid="600147" grpId="0" animBg="1"/>
      <p:bldP spid="600148" grpId="0" animBg="1"/>
      <p:bldP spid="600149" grpId="0" animBg="1"/>
      <p:bldP spid="600150" grpId="0" animBg="1"/>
      <p:bldP spid="600151" grpId="0" animBg="1"/>
      <p:bldP spid="600152" grpId="0" animBg="1"/>
      <p:bldP spid="6001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页脚占位符 1">
            <a:extLst>
              <a:ext uri="{FF2B5EF4-FFF2-40B4-BE49-F238E27FC236}">
                <a16:creationId xmlns:a16="http://schemas.microsoft.com/office/drawing/2014/main" id="{B0AC3D96-D070-44F7-8672-2925ED68B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92163" name="灯片编号占位符 2">
            <a:extLst>
              <a:ext uri="{FF2B5EF4-FFF2-40B4-BE49-F238E27FC236}">
                <a16:creationId xmlns:a16="http://schemas.microsoft.com/office/drawing/2014/main" id="{0E300FF6-E4E1-4654-8EDC-812D3CA43D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17EF304A-3BEF-4115-8037-0522ADCD9203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10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4" name="日期占位符 3">
            <a:extLst>
              <a:ext uri="{FF2B5EF4-FFF2-40B4-BE49-F238E27FC236}">
                <a16:creationId xmlns:a16="http://schemas.microsoft.com/office/drawing/2014/main" id="{D70953CE-2584-45CD-BE4D-ECBF79DA507E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3D189AB0-0956-4644-ABF3-B72CA739535F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2165" name="灯片编号占位符 5">
            <a:extLst>
              <a:ext uri="{FF2B5EF4-FFF2-40B4-BE49-F238E27FC236}">
                <a16:creationId xmlns:a16="http://schemas.microsoft.com/office/drawing/2014/main" id="{333673B9-86D9-4BD1-82C1-B2A1E48D5C2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11D59174-E1C5-48A3-840D-4FD4B5358FD1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10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601091" name="Rectangle 2">
            <a:extLst>
              <a:ext uri="{FF2B5EF4-FFF2-40B4-BE49-F238E27FC236}">
                <a16:creationId xmlns:a16="http://schemas.microsoft.com/office/drawing/2014/main" id="{4243E664-D57A-4D5E-8C44-8AE8709A0D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16000" y="381001"/>
            <a:ext cx="8401269" cy="525463"/>
          </a:xfrm>
        </p:spPr>
        <p:txBody>
          <a:bodyPr anchor="ctr"/>
          <a:lstStyle/>
          <a:p>
            <a:pPr eaLnBrk="1" hangingPunct="1">
              <a:defRPr/>
            </a:pPr>
            <a:r>
              <a:rPr lang="en-US" altLang="zh-CN" sz="2800" dirty="0">
                <a:effectLst/>
              </a:rPr>
              <a:t>LLF</a:t>
            </a:r>
            <a:r>
              <a:rPr lang="zh-CN" altLang="en-US" sz="2800" dirty="0">
                <a:effectLst/>
              </a:rPr>
              <a:t>算法（最低松弛度优先调度算法）</a:t>
            </a:r>
          </a:p>
        </p:txBody>
      </p:sp>
      <p:sp>
        <p:nvSpPr>
          <p:cNvPr id="635907" name="Rectangle 3">
            <a:extLst>
              <a:ext uri="{FF2B5EF4-FFF2-40B4-BE49-F238E27FC236}">
                <a16:creationId xmlns:a16="http://schemas.microsoft.com/office/drawing/2014/main" id="{E65D2F77-1AD5-43BE-BC35-5579017C10E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16000" y="1195387"/>
            <a:ext cx="9841186" cy="156965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b="1" dirty="0">
                <a:solidFill>
                  <a:schemeClr val="accent2"/>
                </a:solidFill>
                <a:ea typeface="华文楷体" panose="02010600040101010101" pitchFamily="2" charset="-122"/>
              </a:rPr>
              <a:t>基本思想：任务的紧急程度越高</a:t>
            </a:r>
            <a:r>
              <a:rPr kumimoji="0" lang="zh-CN" altLang="en-US" b="1" dirty="0">
                <a:solidFill>
                  <a:schemeClr val="accent2"/>
                </a:solidFill>
              </a:rPr>
              <a:t>（松弛程度越低）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zh-CN" altLang="en-US" b="1" dirty="0">
                <a:solidFill>
                  <a:schemeClr val="accent2"/>
                </a:solidFill>
                <a:ea typeface="华文楷体" panose="02010600040101010101" pitchFamily="2" charset="-122"/>
              </a:rPr>
              <a:t>，为该任务赋予的优先级越高，以使之优先执行。</a:t>
            </a:r>
            <a:endParaRPr lang="en-US" altLang="zh-CN" b="1" dirty="0">
              <a:solidFill>
                <a:schemeClr val="accent2"/>
              </a:solidFill>
              <a:ea typeface="华文楷体" panose="02010600040101010101" pitchFamily="2" charset="-122"/>
            </a:endParaRPr>
          </a:p>
          <a:p>
            <a:pPr marL="0" indent="0"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 任务的松弛度=完成截止时间−还需运行的时间−当前时间</a:t>
            </a:r>
            <a:endParaRPr lang="zh-CN" altLang="en-US" b="1" dirty="0">
              <a:solidFill>
                <a:schemeClr val="accent2"/>
              </a:solidFill>
              <a:ea typeface="华文楷体" panose="02010600040101010101" pitchFamily="2" charset="-122"/>
            </a:endParaRPr>
          </a:p>
        </p:txBody>
      </p:sp>
      <p:sp>
        <p:nvSpPr>
          <p:cNvPr id="635908" name="Text Box 4">
            <a:extLst>
              <a:ext uri="{FF2B5EF4-FFF2-40B4-BE49-F238E27FC236}">
                <a16:creationId xmlns:a16="http://schemas.microsoft.com/office/drawing/2014/main" id="{BB2B4674-9D7B-47C7-9278-0889B8AA3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86" y="3008808"/>
            <a:ext cx="1075321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例如：一个任务在</a:t>
            </a:r>
            <a:r>
              <a:rPr kumimoji="0" lang="en-US" altLang="zh-CN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200ms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时必须完成，而它本身所需的运行时间就有</a:t>
            </a:r>
            <a:r>
              <a:rPr kumimoji="0" lang="en-US" altLang="zh-CN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，因此，调度程序必须在</a:t>
            </a:r>
            <a:r>
              <a:rPr kumimoji="0" lang="en-US" altLang="zh-CN" sz="2400" b="1" dirty="0">
                <a:solidFill>
                  <a:srgbClr val="D2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100ms</a:t>
            </a:r>
            <a:r>
              <a:rPr kumimoji="0" lang="zh-CN" altLang="en-US" sz="2400" b="1" dirty="0">
                <a:solidFill>
                  <a:srgbClr val="D2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之前调度执行，该任务的紧急程度（松弛程度）为</a:t>
            </a:r>
            <a:r>
              <a:rPr kumimoji="0" lang="en-US" altLang="zh-CN" sz="2400" b="1" dirty="0">
                <a:solidFill>
                  <a:srgbClr val="D2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100ms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。又如，另一任务</a:t>
            </a:r>
            <a:r>
              <a:rPr kumimoji="0" lang="en-US" altLang="zh-CN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400ms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时必须完成，它本身运行需要</a:t>
            </a:r>
            <a:r>
              <a:rPr kumimoji="0" lang="en-US" altLang="zh-CN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150ms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，则其松弛程度为</a:t>
            </a:r>
            <a:r>
              <a:rPr kumimoji="0" lang="en-US" altLang="zh-CN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250ms</a:t>
            </a:r>
            <a:r>
              <a:rPr kumimoji="0" lang="zh-CN" altLang="en-US" sz="2400" b="1" dirty="0">
                <a:solidFill>
                  <a:srgbClr val="0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。</a:t>
            </a:r>
          </a:p>
        </p:txBody>
      </p:sp>
      <p:sp>
        <p:nvSpPr>
          <p:cNvPr id="635909" name="Text Box 5">
            <a:extLst>
              <a:ext uri="{FF2B5EF4-FFF2-40B4-BE49-F238E27FC236}">
                <a16:creationId xmlns:a16="http://schemas.microsoft.com/office/drawing/2014/main" id="{90926BC3-D35C-4BFE-8C5C-E844647A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0" y="4786747"/>
            <a:ext cx="952648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400" b="1" dirty="0">
                <a:solidFill>
                  <a:srgbClr val="003399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实现该算法时，系统中有一个按松弛度排序的实时任务队列，松弛度最低的任务排在队列最前面，调度程序总是选择队列中的队首任务执行。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5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5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7" grpId="0" build="p"/>
      <p:bldP spid="635908" grpId="0"/>
      <p:bldP spid="63590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页脚占位符 1">
            <a:extLst>
              <a:ext uri="{FF2B5EF4-FFF2-40B4-BE49-F238E27FC236}">
                <a16:creationId xmlns:a16="http://schemas.microsoft.com/office/drawing/2014/main" id="{8E68FD9D-7FD9-44A8-BB42-F88D1EDD93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93187" name="灯片编号占位符 2">
            <a:extLst>
              <a:ext uri="{FF2B5EF4-FFF2-40B4-BE49-F238E27FC236}">
                <a16:creationId xmlns:a16="http://schemas.microsoft.com/office/drawing/2014/main" id="{373A8E03-B150-464E-92DC-45A4FB6AC3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22945F4E-0DF2-459A-B34C-2CA7BA0E5CF0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88" name="日期占位符 3">
            <a:extLst>
              <a:ext uri="{FF2B5EF4-FFF2-40B4-BE49-F238E27FC236}">
                <a16:creationId xmlns:a16="http://schemas.microsoft.com/office/drawing/2014/main" id="{65A95984-EF61-41E7-8662-914180726F21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EC7F34D3-C542-4726-81C5-54CD2E6111CD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3189" name="灯片编号占位符 5">
            <a:extLst>
              <a:ext uri="{FF2B5EF4-FFF2-40B4-BE49-F238E27FC236}">
                <a16:creationId xmlns:a16="http://schemas.microsoft.com/office/drawing/2014/main" id="{27EBC771-1EFD-4A9D-874C-58992CCB871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953000" y="6446838"/>
            <a:ext cx="21336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A7F6FEA2-8D2C-4500-A3E9-AB2BEB182B5E}" type="slidenum">
              <a:rPr kumimoji="0" lang="en-US" altLang="zh-CN" sz="1000" b="1">
                <a:solidFill>
                  <a:srgbClr val="333399"/>
                </a:solidFill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11</a:t>
            </a:fld>
            <a:endParaRPr kumimoji="0" lang="en-US" altLang="zh-CN" sz="1000" b="1">
              <a:solidFill>
                <a:srgbClr val="333399"/>
              </a:solidFill>
            </a:endParaRPr>
          </a:p>
        </p:txBody>
      </p:sp>
      <p:sp>
        <p:nvSpPr>
          <p:cNvPr id="602115" name="Rectangle 2">
            <a:extLst>
              <a:ext uri="{FF2B5EF4-FFF2-40B4-BE49-F238E27FC236}">
                <a16:creationId xmlns:a16="http://schemas.microsoft.com/office/drawing/2014/main" id="{EF789B42-F6E0-472D-AB33-D522062452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>
              <a:defRPr/>
            </a:pPr>
            <a:r>
              <a:rPr lang="en-US" altLang="zh-CN"/>
              <a:t>LLF</a:t>
            </a:r>
            <a:r>
              <a:rPr lang="zh-CN" altLang="en-US"/>
              <a:t>算法举例</a:t>
            </a:r>
          </a:p>
        </p:txBody>
      </p:sp>
      <p:sp>
        <p:nvSpPr>
          <p:cNvPr id="636931" name="Rectangle 3">
            <a:extLst>
              <a:ext uri="{FF2B5EF4-FFF2-40B4-BE49-F238E27FC236}">
                <a16:creationId xmlns:a16="http://schemas.microsoft.com/office/drawing/2014/main" id="{236AA43A-86EC-441D-9F09-2A08FDA82A0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69239" y="1237763"/>
            <a:ext cx="10310647" cy="1589085"/>
          </a:xfrm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在实时系统中，有两个周期性实时任务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，任务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要求每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20ms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执行一次，执行时间为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10ms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；任务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则要求每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50ms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执行一次，执行时间为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25ms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。任务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每次必须完成的时间（最后期限）为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,A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,A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,B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,B</a:t>
            </a:r>
            <a:r>
              <a:rPr lang="en-US" altLang="zh-CN" sz="2400" b="1" baseline="-2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如下图所示。</a:t>
            </a:r>
          </a:p>
        </p:txBody>
      </p:sp>
      <p:sp>
        <p:nvSpPr>
          <p:cNvPr id="636933" name="Text Box 5">
            <a:extLst>
              <a:ext uri="{FF2B5EF4-FFF2-40B4-BE49-F238E27FC236}">
                <a16:creationId xmlns:a16="http://schemas.microsoft.com/office/drawing/2014/main" id="{4545BF93-08B1-49CA-8FE1-D8BC7DE3C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0914" y="4076701"/>
            <a:ext cx="8270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93193" name="Line 4">
            <a:extLst>
              <a:ext uri="{FF2B5EF4-FFF2-40B4-BE49-F238E27FC236}">
                <a16:creationId xmlns:a16="http://schemas.microsoft.com/office/drawing/2014/main" id="{48382006-D1FE-44AB-9928-36848192F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8213" y="4292600"/>
            <a:ext cx="7632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4" name="Line 6">
            <a:extLst>
              <a:ext uri="{FF2B5EF4-FFF2-40B4-BE49-F238E27FC236}">
                <a16:creationId xmlns:a16="http://schemas.microsoft.com/office/drawing/2014/main" id="{ACCC8B5C-09C4-4A84-8257-791AB9B43E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1450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5" name="Line 7">
            <a:extLst>
              <a:ext uri="{FF2B5EF4-FFF2-40B4-BE49-F238E27FC236}">
                <a16:creationId xmlns:a16="http://schemas.microsoft.com/office/drawing/2014/main" id="{050C9C49-8697-4B75-8F25-30E4FC59C0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6325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6" name="Line 8">
            <a:extLst>
              <a:ext uri="{FF2B5EF4-FFF2-40B4-BE49-F238E27FC236}">
                <a16:creationId xmlns:a16="http://schemas.microsoft.com/office/drawing/2014/main" id="{142E5EFB-619D-401F-AB6A-DC94C41AFA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1200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7" name="Line 9">
            <a:extLst>
              <a:ext uri="{FF2B5EF4-FFF2-40B4-BE49-F238E27FC236}">
                <a16:creationId xmlns:a16="http://schemas.microsoft.com/office/drawing/2014/main" id="{310C8B8A-0047-450A-96EE-E32FB979E8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26075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8" name="Line 10">
            <a:extLst>
              <a:ext uri="{FF2B5EF4-FFF2-40B4-BE49-F238E27FC236}">
                <a16:creationId xmlns:a16="http://schemas.microsoft.com/office/drawing/2014/main" id="{8294738F-9654-482B-AFF8-FA2059C1C1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2538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199" name="Line 11">
            <a:extLst>
              <a:ext uri="{FF2B5EF4-FFF2-40B4-BE49-F238E27FC236}">
                <a16:creationId xmlns:a16="http://schemas.microsoft.com/office/drawing/2014/main" id="{6385BA0C-456E-4703-BD8E-5597393B93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37413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0" name="Line 12">
            <a:extLst>
              <a:ext uri="{FF2B5EF4-FFF2-40B4-BE49-F238E27FC236}">
                <a16:creationId xmlns:a16="http://schemas.microsoft.com/office/drawing/2014/main" id="{3F6B65FC-4838-4E86-9BB2-9F1DB73A3A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42288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1" name="Line 13">
            <a:extLst>
              <a:ext uri="{FF2B5EF4-FFF2-40B4-BE49-F238E27FC236}">
                <a16:creationId xmlns:a16="http://schemas.microsoft.com/office/drawing/2014/main" id="{F9C5CBC3-D6DC-45DC-9E2E-F4985B1724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48750" y="3860800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2" name="Line 14">
            <a:extLst>
              <a:ext uri="{FF2B5EF4-FFF2-40B4-BE49-F238E27FC236}">
                <a16:creationId xmlns:a16="http://schemas.microsoft.com/office/drawing/2014/main" id="{51E236CA-751C-4682-8CAB-3AC9CCFDA8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79875" y="4292600"/>
            <a:ext cx="0" cy="6492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3" name="Line 15">
            <a:extLst>
              <a:ext uri="{FF2B5EF4-FFF2-40B4-BE49-F238E27FC236}">
                <a16:creationId xmlns:a16="http://schemas.microsoft.com/office/drawing/2014/main" id="{F84B1726-A6CE-4108-BDD8-D0D8372D5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11900" y="45815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4" name="Line 16">
            <a:extLst>
              <a:ext uri="{FF2B5EF4-FFF2-40B4-BE49-F238E27FC236}">
                <a16:creationId xmlns:a16="http://schemas.microsoft.com/office/drawing/2014/main" id="{EC7A2C32-DC25-409C-A918-82A92A4709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6950" y="4292601"/>
            <a:ext cx="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3205" name="Text Box 17">
            <a:extLst>
              <a:ext uri="{FF2B5EF4-FFF2-40B4-BE49-F238E27FC236}">
                <a16:creationId xmlns:a16="http://schemas.microsoft.com/office/drawing/2014/main" id="{798FE34B-7D92-40DD-B226-D3300C46A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3206" name="Text Box 18">
            <a:extLst>
              <a:ext uri="{FF2B5EF4-FFF2-40B4-BE49-F238E27FC236}">
                <a16:creationId xmlns:a16="http://schemas.microsoft.com/office/drawing/2014/main" id="{E7D88D64-13C8-4D5E-8D83-AEC10FDE0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3207" name="Text Box 19">
            <a:extLst>
              <a:ext uri="{FF2B5EF4-FFF2-40B4-BE49-F238E27FC236}">
                <a16:creationId xmlns:a16="http://schemas.microsoft.com/office/drawing/2014/main" id="{CA29EE93-287B-4682-8062-3A7013EE2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342900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3208" name="Text Box 20">
            <a:extLst>
              <a:ext uri="{FF2B5EF4-FFF2-40B4-BE49-F238E27FC236}">
                <a16:creationId xmlns:a16="http://schemas.microsoft.com/office/drawing/2014/main" id="{508EEBF7-F69C-4802-9356-1A35B9FA2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93209" name="Text Box 21">
            <a:extLst>
              <a:ext uri="{FF2B5EF4-FFF2-40B4-BE49-F238E27FC236}">
                <a16:creationId xmlns:a16="http://schemas.microsoft.com/office/drawing/2014/main" id="{74CC9BB5-6647-4884-A138-5F27DEA6FB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8" y="342900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93210" name="Text Box 22">
            <a:extLst>
              <a:ext uri="{FF2B5EF4-FFF2-40B4-BE49-F238E27FC236}">
                <a16:creationId xmlns:a16="http://schemas.microsoft.com/office/drawing/2014/main" id="{7A388449-E1C8-4822-A24E-6B48686AE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6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93211" name="Text Box 23">
            <a:extLst>
              <a:ext uri="{FF2B5EF4-FFF2-40B4-BE49-F238E27FC236}">
                <a16:creationId xmlns:a16="http://schemas.microsoft.com/office/drawing/2014/main" id="{84B3A8EE-3C67-4DD8-822E-F263804C0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6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93212" name="Text Box 24">
            <a:extLst>
              <a:ext uri="{FF2B5EF4-FFF2-40B4-BE49-F238E27FC236}">
                <a16:creationId xmlns:a16="http://schemas.microsoft.com/office/drawing/2014/main" id="{0141658F-B6D8-4990-B88C-F3A31B650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2851" y="34290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93213" name="Text Box 25">
            <a:extLst>
              <a:ext uri="{FF2B5EF4-FFF2-40B4-BE49-F238E27FC236}">
                <a16:creationId xmlns:a16="http://schemas.microsoft.com/office/drawing/2014/main" id="{F2F3CEB8-461A-40C5-8790-AD652218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29260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4" name="Text Box 26">
            <a:extLst>
              <a:ext uri="{FF2B5EF4-FFF2-40B4-BE49-F238E27FC236}">
                <a16:creationId xmlns:a16="http://schemas.microsoft.com/office/drawing/2014/main" id="{391D4AF7-2477-4B8C-B973-FBD4EAA0A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1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20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5" name="Text Box 27">
            <a:extLst>
              <a:ext uri="{FF2B5EF4-FFF2-40B4-BE49-F238E27FC236}">
                <a16:creationId xmlns:a16="http://schemas.microsoft.com/office/drawing/2014/main" id="{42D31275-E076-4032-A9B7-C26EE6101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1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40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6" name="Text Box 28">
            <a:extLst>
              <a:ext uri="{FF2B5EF4-FFF2-40B4-BE49-F238E27FC236}">
                <a16:creationId xmlns:a16="http://schemas.microsoft.com/office/drawing/2014/main" id="{47E8C177-2C1C-4A37-A679-C08A94A94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776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60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7" name="Text Box 29">
            <a:extLst>
              <a:ext uri="{FF2B5EF4-FFF2-40B4-BE49-F238E27FC236}">
                <a16:creationId xmlns:a16="http://schemas.microsoft.com/office/drawing/2014/main" id="{6E10AF08-6C1C-4E23-A97F-5C801A762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1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80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8" name="Text Box 30">
            <a:extLst>
              <a:ext uri="{FF2B5EF4-FFF2-40B4-BE49-F238E27FC236}">
                <a16:creationId xmlns:a16="http://schemas.microsoft.com/office/drawing/2014/main" id="{1A678573-F483-4A89-B065-460F8DC85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3" y="428625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100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19" name="Text Box 31">
            <a:extLst>
              <a:ext uri="{FF2B5EF4-FFF2-40B4-BE49-F238E27FC236}">
                <a16:creationId xmlns:a16="http://schemas.microsoft.com/office/drawing/2014/main" id="{C74114C5-54F5-401D-9F44-A65314606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6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120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20" name="Text Box 32">
            <a:extLst>
              <a:ext uri="{FF2B5EF4-FFF2-40B4-BE49-F238E27FC236}">
                <a16:creationId xmlns:a16="http://schemas.microsoft.com/office/drawing/2014/main" id="{8D9C1BD3-2F0E-4DF0-A300-A42E1A611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429260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140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21" name="Text Box 33">
            <a:extLst>
              <a:ext uri="{FF2B5EF4-FFF2-40B4-BE49-F238E27FC236}">
                <a16:creationId xmlns:a16="http://schemas.microsoft.com/office/drawing/2014/main" id="{3D85183E-1701-4013-9F47-586C3DB10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826" y="4292601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160</a:t>
            </a:r>
            <a:endParaRPr kumimoji="0" lang="en-US" altLang="zh-CN" sz="1800" b="1" baseline="-25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3222" name="Text Box 35">
            <a:extLst>
              <a:ext uri="{FF2B5EF4-FFF2-40B4-BE49-F238E27FC236}">
                <a16:creationId xmlns:a16="http://schemas.microsoft.com/office/drawing/2014/main" id="{B726C569-24B9-4E81-826D-E36E9E883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3976" y="5013326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3223" name="Text Box 36">
            <a:extLst>
              <a:ext uri="{FF2B5EF4-FFF2-40B4-BE49-F238E27FC236}">
                <a16:creationId xmlns:a16="http://schemas.microsoft.com/office/drawing/2014/main" id="{E3A17951-6DA3-47FE-9128-20A0A40FC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3" y="5013326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3224" name="Text Box 37">
            <a:extLst>
              <a:ext uri="{FF2B5EF4-FFF2-40B4-BE49-F238E27FC236}">
                <a16:creationId xmlns:a16="http://schemas.microsoft.com/office/drawing/2014/main" id="{BC6E545F-8632-4DAE-BB5D-A38DF5246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8026" y="5013326"/>
            <a:ext cx="57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800" b="1">
                <a:solidFill>
                  <a:srgbClr val="000000"/>
                </a:solidFill>
                <a:latin typeface="Arial" panose="020B0604020202020204" pitchFamily="34" charset="0"/>
              </a:rPr>
              <a:t>B</a:t>
            </a:r>
            <a:r>
              <a: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6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1" grpId="0" build="p"/>
      <p:bldP spid="6369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页脚占位符 1">
            <a:extLst>
              <a:ext uri="{FF2B5EF4-FFF2-40B4-BE49-F238E27FC236}">
                <a16:creationId xmlns:a16="http://schemas.microsoft.com/office/drawing/2014/main" id="{B7D417D9-0C4B-4DDC-8B1C-2B6BCB85D7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endParaRPr kumimoji="0" lang="en-US" altLang="zh-CN" sz="1400">
              <a:solidFill>
                <a:srgbClr val="000000"/>
              </a:solidFill>
            </a:endParaRPr>
          </a:p>
        </p:txBody>
      </p:sp>
      <p:sp>
        <p:nvSpPr>
          <p:cNvPr id="96259" name="灯片编号占位符 2">
            <a:extLst>
              <a:ext uri="{FF2B5EF4-FFF2-40B4-BE49-F238E27FC236}">
                <a16:creationId xmlns:a16="http://schemas.microsoft.com/office/drawing/2014/main" id="{F606797E-F77C-4948-B095-20AD92ACEB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t>Page </a:t>
            </a:r>
            <a:fld id="{3AA86841-D763-4974-976A-C54F32AABE1B}" type="slidenum">
              <a:rPr kumimoji="0" lang="en-US" altLang="zh-CN" sz="1400">
                <a:solidFill>
                  <a:srgbClr val="FFFFFF"/>
                </a:solidFill>
                <a:latin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12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6260" name="日期占位符 3">
            <a:extLst>
              <a:ext uri="{FF2B5EF4-FFF2-40B4-BE49-F238E27FC236}">
                <a16:creationId xmlns:a16="http://schemas.microsoft.com/office/drawing/2014/main" id="{944D8EE2-2375-4C2D-832E-EBA429456F23}"/>
              </a:ext>
            </a:extLst>
          </p:cNvPr>
          <p:cNvSpPr>
            <a:spLocks noGrp="1"/>
          </p:cNvSpPr>
          <p:nvPr>
            <p:ph type="dt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None/>
            </a:pPr>
            <a:fld id="{C8DBCFBC-814B-4BC6-90DB-23E12500E798}" type="datetime1">
              <a:rPr kumimoji="0" lang="zh-CN" altLang="en-US" sz="1400">
                <a:solidFill>
                  <a:srgbClr val="FFFFFF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t>2021/10/31</a:t>
            </a:fld>
            <a:endParaRPr kumimoji="0" lang="en-US" altLang="zh-CN" sz="1400">
              <a:solidFill>
                <a:srgbClr val="FFFFFF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79266" name="Text Box 2">
            <a:extLst>
              <a:ext uri="{FF2B5EF4-FFF2-40B4-BE49-F238E27FC236}">
                <a16:creationId xmlns:a16="http://schemas.microsoft.com/office/drawing/2014/main" id="{264D9042-C82E-43B1-8934-231ED9D41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9" y="115888"/>
            <a:ext cx="727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Tx/>
              <a:buNone/>
            </a:pP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松弛度</a:t>
            </a:r>
            <a:r>
              <a:rPr kumimoji="0"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必须完成时间</a:t>
            </a:r>
            <a:r>
              <a:rPr kumimoji="0"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其本身的运行时间</a:t>
            </a:r>
            <a:r>
              <a:rPr kumimoji="0" lang="en-US" altLang="zh-CN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kumimoji="0" lang="zh-CN" altLang="en-US" sz="2400" b="1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当前时间</a:t>
            </a:r>
          </a:p>
        </p:txBody>
      </p:sp>
      <p:sp>
        <p:nvSpPr>
          <p:cNvPr id="605187" name="Text Box 56">
            <a:extLst>
              <a:ext uri="{FF2B5EF4-FFF2-40B4-BE49-F238E27FC236}">
                <a16:creationId xmlns:a16="http://schemas.microsoft.com/office/drawing/2014/main" id="{DD8F8B86-C602-4620-A880-182E2913D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716339"/>
            <a:ext cx="10261600" cy="28253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20-10-0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25ms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50-25-0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t=10ms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尚未到达，调度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t=20ms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到达，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40-10-20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</a:t>
            </a:r>
            <a:r>
              <a:rPr kumimoji="0" lang="en-US" altLang="zh-CN" sz="1600" b="1" dirty="0" err="1">
                <a:solidFill>
                  <a:srgbClr val="6600FF"/>
                </a:solidFill>
                <a:latin typeface="Arial" panose="020B0604020202020204" pitchFamily="34" charset="0"/>
              </a:rPr>
              <a:t>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50-15-20=15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</a:t>
            </a:r>
            <a:r>
              <a:rPr kumimoji="0" lang="en-US" altLang="zh-CN" sz="1600" b="1" dirty="0" err="1">
                <a:solidFill>
                  <a:srgbClr val="6600FF"/>
                </a:solidFill>
                <a:latin typeface="Arial" panose="020B0604020202020204" pitchFamily="34" charset="0"/>
              </a:rPr>
              <a:t>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，调度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t=30ms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尚未到达，调度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t=40ms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60-40-10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</a:t>
            </a:r>
            <a:r>
              <a:rPr kumimoji="0" lang="en-US" altLang="zh-CN" sz="1600" b="1" dirty="0" err="1">
                <a:solidFill>
                  <a:srgbClr val="6600FF"/>
                </a:solidFill>
                <a:latin typeface="Arial" panose="020B0604020202020204" pitchFamily="34" charset="0"/>
              </a:rPr>
              <a:t>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的松弛度是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5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50-5-40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</a:t>
            </a:r>
            <a:r>
              <a:rPr kumimoji="0" lang="en-US" altLang="zh-CN" sz="1600" b="1" dirty="0" err="1">
                <a:solidFill>
                  <a:srgbClr val="6600FF"/>
                </a:solidFill>
                <a:latin typeface="Arial" panose="020B0604020202020204" pitchFamily="34" charset="0"/>
              </a:rPr>
              <a:t>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继续执行；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t=45ms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B1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执行完成，调度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T=50ms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到达，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5ms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60-5-50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25ms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100-25-50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A3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继续执行；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t=55ms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尚未进入第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4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周期，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已进入第二周期，故再调度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  <a:p>
            <a:pPr fontAlgn="base">
              <a:spcBef>
                <a:spcPct val="30000"/>
              </a:spcBef>
              <a:spcAft>
                <a:spcPct val="0"/>
              </a:spcAft>
              <a:buClrTx/>
              <a:buNone/>
            </a:pP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t=60ms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时，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A4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到达，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A4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松弛度为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80-10-60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 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B2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松弛度是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20ms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100-20-60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），</a:t>
            </a:r>
            <a:r>
              <a:rPr kumimoji="0" lang="en-US" altLang="zh-CN" sz="1600" b="1" dirty="0">
                <a:solidFill>
                  <a:srgbClr val="6600FF"/>
                </a:solidFill>
                <a:latin typeface="Arial" panose="020B0604020202020204" pitchFamily="34" charset="0"/>
              </a:rPr>
              <a:t>A4</a:t>
            </a:r>
            <a:r>
              <a:rPr kumimoji="0" lang="zh-CN" altLang="en-US" sz="1600" b="1" dirty="0">
                <a:solidFill>
                  <a:srgbClr val="6600FF"/>
                </a:solidFill>
                <a:latin typeface="Arial" panose="020B0604020202020204" pitchFamily="34" charset="0"/>
              </a:rPr>
              <a:t>执行；</a:t>
            </a:r>
          </a:p>
        </p:txBody>
      </p:sp>
      <p:grpSp>
        <p:nvGrpSpPr>
          <p:cNvPr id="96263" name="Group 69">
            <a:extLst>
              <a:ext uri="{FF2B5EF4-FFF2-40B4-BE49-F238E27FC236}">
                <a16:creationId xmlns:a16="http://schemas.microsoft.com/office/drawing/2014/main" id="{605BA238-FD16-4FBD-80D5-E5690BE576DD}"/>
              </a:ext>
            </a:extLst>
          </p:cNvPr>
          <p:cNvGrpSpPr>
            <a:grpSpLocks/>
          </p:cNvGrpSpPr>
          <p:nvPr/>
        </p:nvGrpSpPr>
        <p:grpSpPr bwMode="auto">
          <a:xfrm>
            <a:off x="2351088" y="981075"/>
            <a:ext cx="7848600" cy="1951038"/>
            <a:chOff x="521" y="618"/>
            <a:chExt cx="4944" cy="1229"/>
          </a:xfrm>
        </p:grpSpPr>
        <p:sp>
          <p:nvSpPr>
            <p:cNvPr id="96266" name="Line 4">
              <a:extLst>
                <a:ext uri="{FF2B5EF4-FFF2-40B4-BE49-F238E27FC236}">
                  <a16:creationId xmlns:a16="http://schemas.microsoft.com/office/drawing/2014/main" id="{C3096248-DA02-40A3-B267-52D8899428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" y="1112"/>
              <a:ext cx="4898" cy="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7" name="Line 5">
              <a:extLst>
                <a:ext uri="{FF2B5EF4-FFF2-40B4-BE49-F238E27FC236}">
                  <a16:creationId xmlns:a16="http://schemas.microsoft.com/office/drawing/2014/main" id="{CDE4ABCA-58B2-406F-AA79-E5ED1B1DE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4" y="84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8" name="Line 7">
              <a:extLst>
                <a:ext uri="{FF2B5EF4-FFF2-40B4-BE49-F238E27FC236}">
                  <a16:creationId xmlns:a16="http://schemas.microsoft.com/office/drawing/2014/main" id="{10F71CB1-F2AE-4096-A695-E07CD0F88C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4" y="84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69" name="Line 9">
              <a:extLst>
                <a:ext uri="{FF2B5EF4-FFF2-40B4-BE49-F238E27FC236}">
                  <a16:creationId xmlns:a16="http://schemas.microsoft.com/office/drawing/2014/main" id="{B888EDFB-B8CA-4768-853F-EC8CD1CE6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55" y="981"/>
              <a:ext cx="0" cy="1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70" name="Line 11">
              <a:extLst>
                <a:ext uri="{FF2B5EF4-FFF2-40B4-BE49-F238E27FC236}">
                  <a16:creationId xmlns:a16="http://schemas.microsoft.com/office/drawing/2014/main" id="{58269D28-DB2D-45C4-B2D5-B6D4D11A3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7" y="84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71" name="Line 12">
              <a:extLst>
                <a:ext uri="{FF2B5EF4-FFF2-40B4-BE49-F238E27FC236}">
                  <a16:creationId xmlns:a16="http://schemas.microsoft.com/office/drawing/2014/main" id="{126DAFAC-7528-4A6B-8976-D4A63D4C0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6" y="840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72" name="Text Box 13">
              <a:extLst>
                <a:ext uri="{FF2B5EF4-FFF2-40B4-BE49-F238E27FC236}">
                  <a16:creationId xmlns:a16="http://schemas.microsoft.com/office/drawing/2014/main" id="{9427240A-91A3-498F-A3E6-7AB05E7BF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618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(10)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3" name="Text Box 14">
              <a:extLst>
                <a:ext uri="{FF2B5EF4-FFF2-40B4-BE49-F238E27FC236}">
                  <a16:creationId xmlns:a16="http://schemas.microsoft.com/office/drawing/2014/main" id="{1235ABD6-0484-4936-B117-39CD51F02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" y="1117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4" name="Text Box 15">
              <a:extLst>
                <a:ext uri="{FF2B5EF4-FFF2-40B4-BE49-F238E27FC236}">
                  <a16:creationId xmlns:a16="http://schemas.microsoft.com/office/drawing/2014/main" id="{46E6ED70-782F-4B56-891A-2618C35DA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10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5" name="Text Box 16">
              <a:extLst>
                <a:ext uri="{FF2B5EF4-FFF2-40B4-BE49-F238E27FC236}">
                  <a16:creationId xmlns:a16="http://schemas.microsoft.com/office/drawing/2014/main" id="{4D065EAD-34F3-4914-84A2-CBF303D52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2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20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6" name="Text Box 17">
              <a:extLst>
                <a:ext uri="{FF2B5EF4-FFF2-40B4-BE49-F238E27FC236}">
                  <a16:creationId xmlns:a16="http://schemas.microsoft.com/office/drawing/2014/main" id="{FA88AE09-7496-487F-89DB-4A87CB0FB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2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30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7" name="Text Box 18">
              <a:extLst>
                <a:ext uri="{FF2B5EF4-FFF2-40B4-BE49-F238E27FC236}">
                  <a16:creationId xmlns:a16="http://schemas.microsoft.com/office/drawing/2014/main" id="{68630E96-573C-4B87-832C-FDE4E5262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2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40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8" name="Text Box 19">
              <a:extLst>
                <a:ext uri="{FF2B5EF4-FFF2-40B4-BE49-F238E27FC236}">
                  <a16:creationId xmlns:a16="http://schemas.microsoft.com/office/drawing/2014/main" id="{44DB86B5-3A8F-4679-A8B0-A61BFA86B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1" y="1108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50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79" name="Text Box 20">
              <a:extLst>
                <a:ext uri="{FF2B5EF4-FFF2-40B4-BE49-F238E27FC236}">
                  <a16:creationId xmlns:a16="http://schemas.microsoft.com/office/drawing/2014/main" id="{8DC66084-4E37-4328-8C2E-494E9F3EC6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60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80" name="Text Box 21">
              <a:extLst>
                <a:ext uri="{FF2B5EF4-FFF2-40B4-BE49-F238E27FC236}">
                  <a16:creationId xmlns:a16="http://schemas.microsoft.com/office/drawing/2014/main" id="{CE5F7EF9-1BEF-4FF1-BF78-E64D3F8AA1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5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70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81" name="Text Box 22">
              <a:extLst>
                <a:ext uri="{FF2B5EF4-FFF2-40B4-BE49-F238E27FC236}">
                  <a16:creationId xmlns:a16="http://schemas.microsoft.com/office/drawing/2014/main" id="{740DE625-24F7-4FCF-83EE-53DD65635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4" y="1112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80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82" name="Line 23">
              <a:extLst>
                <a:ext uri="{FF2B5EF4-FFF2-40B4-BE49-F238E27FC236}">
                  <a16:creationId xmlns:a16="http://schemas.microsoft.com/office/drawing/2014/main" id="{79789DD8-DB1F-49B8-84A9-0751211F4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7" y="84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3" name="Line 24">
              <a:extLst>
                <a:ext uri="{FF2B5EF4-FFF2-40B4-BE49-F238E27FC236}">
                  <a16:creationId xmlns:a16="http://schemas.microsoft.com/office/drawing/2014/main" id="{70348DCF-974E-40DD-B07D-A549F8D52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7" y="845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4" name="Line 25">
              <a:extLst>
                <a:ext uri="{FF2B5EF4-FFF2-40B4-BE49-F238E27FC236}">
                  <a16:creationId xmlns:a16="http://schemas.microsoft.com/office/drawing/2014/main" id="{AD7924F3-D86D-47B9-8844-3056FBB0E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5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5" name="Line 26">
              <a:extLst>
                <a:ext uri="{FF2B5EF4-FFF2-40B4-BE49-F238E27FC236}">
                  <a16:creationId xmlns:a16="http://schemas.microsoft.com/office/drawing/2014/main" id="{6184BAD0-5FAF-4697-98E7-A7056C622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0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6" name="Line 28">
              <a:extLst>
                <a:ext uri="{FF2B5EF4-FFF2-40B4-BE49-F238E27FC236}">
                  <a16:creationId xmlns:a16="http://schemas.microsoft.com/office/drawing/2014/main" id="{551AD84B-036A-4FFD-AF9B-FE02D8EF8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287" name="AutoShape 30">
              <a:extLst>
                <a:ext uri="{FF2B5EF4-FFF2-40B4-BE49-F238E27FC236}">
                  <a16:creationId xmlns:a16="http://schemas.microsoft.com/office/drawing/2014/main" id="{2F06699C-2315-4912-B908-022F1113436C}"/>
                </a:ext>
              </a:extLst>
            </p:cNvPr>
            <p:cNvCxnSpPr>
              <a:cxnSpLocks noChangeShapeType="1"/>
              <a:stCxn id="96284" idx="0"/>
              <a:endCxn id="96285" idx="1"/>
            </p:cNvCxnSpPr>
            <p:nvPr/>
          </p:nvCxnSpPr>
          <p:spPr bwMode="auto">
            <a:xfrm flipV="1">
              <a:off x="975" y="1616"/>
              <a:ext cx="565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88" name="AutoShape 31">
              <a:extLst>
                <a:ext uri="{FF2B5EF4-FFF2-40B4-BE49-F238E27FC236}">
                  <a16:creationId xmlns:a16="http://schemas.microsoft.com/office/drawing/2014/main" id="{DCB0836D-6F8A-42DD-8F82-82D4E4517F18}"/>
                </a:ext>
              </a:extLst>
            </p:cNvPr>
            <p:cNvCxnSpPr>
              <a:cxnSpLocks noChangeShapeType="1"/>
              <a:endCxn id="96286" idx="0"/>
            </p:cNvCxnSpPr>
            <p:nvPr/>
          </p:nvCxnSpPr>
          <p:spPr bwMode="auto">
            <a:xfrm>
              <a:off x="2687" y="1616"/>
              <a:ext cx="284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89" name="Line 32">
              <a:extLst>
                <a:ext uri="{FF2B5EF4-FFF2-40B4-BE49-F238E27FC236}">
                  <a16:creationId xmlns:a16="http://schemas.microsoft.com/office/drawing/2014/main" id="{FE515E48-D175-454B-B8AC-FA53557BAC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1" y="84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90" name="Line 33">
              <a:extLst>
                <a:ext uri="{FF2B5EF4-FFF2-40B4-BE49-F238E27FC236}">
                  <a16:creationId xmlns:a16="http://schemas.microsoft.com/office/drawing/2014/main" id="{51C710E8-8D5F-46C6-95B2-9DC16E02DE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9" y="839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291" name="AutoShape 34">
              <a:extLst>
                <a:ext uri="{FF2B5EF4-FFF2-40B4-BE49-F238E27FC236}">
                  <a16:creationId xmlns:a16="http://schemas.microsoft.com/office/drawing/2014/main" id="{F7A07688-4169-4A63-B0DB-D1644752545B}"/>
                </a:ext>
              </a:extLst>
            </p:cNvPr>
            <p:cNvCxnSpPr>
              <a:cxnSpLocks noChangeShapeType="1"/>
              <a:stCxn id="96289" idx="1"/>
              <a:endCxn id="96290" idx="1"/>
            </p:cNvCxnSpPr>
            <p:nvPr/>
          </p:nvCxnSpPr>
          <p:spPr bwMode="auto">
            <a:xfrm flipV="1">
              <a:off x="2971" y="839"/>
              <a:ext cx="568" cy="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92" name="Line 35">
              <a:extLst>
                <a:ext uri="{FF2B5EF4-FFF2-40B4-BE49-F238E27FC236}">
                  <a16:creationId xmlns:a16="http://schemas.microsoft.com/office/drawing/2014/main" id="{1198A7A6-5EB9-4B13-A086-B2FF895393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3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93" name="Line 36">
              <a:extLst>
                <a:ext uri="{FF2B5EF4-FFF2-40B4-BE49-F238E27FC236}">
                  <a16:creationId xmlns:a16="http://schemas.microsoft.com/office/drawing/2014/main" id="{CD7F75C3-6928-40DD-A379-C21EF1B96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8" y="1111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294" name="AutoShape 37">
              <a:extLst>
                <a:ext uri="{FF2B5EF4-FFF2-40B4-BE49-F238E27FC236}">
                  <a16:creationId xmlns:a16="http://schemas.microsoft.com/office/drawing/2014/main" id="{B5263B40-3DAC-47B4-A00C-C5AEDD837B2A}"/>
                </a:ext>
              </a:extLst>
            </p:cNvPr>
            <p:cNvCxnSpPr>
              <a:cxnSpLocks noChangeShapeType="1"/>
              <a:stCxn id="96292" idx="0"/>
              <a:endCxn id="96293" idx="0"/>
            </p:cNvCxnSpPr>
            <p:nvPr/>
          </p:nvCxnSpPr>
          <p:spPr bwMode="auto">
            <a:xfrm flipV="1">
              <a:off x="3533" y="1611"/>
              <a:ext cx="285" cy="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6295" name="AutoShape 40">
              <a:extLst>
                <a:ext uri="{FF2B5EF4-FFF2-40B4-BE49-F238E27FC236}">
                  <a16:creationId xmlns:a16="http://schemas.microsoft.com/office/drawing/2014/main" id="{7C29BEFF-53C1-4512-88F2-8079718576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77" y="1616"/>
              <a:ext cx="36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296" name="Text Box 41">
              <a:extLst>
                <a:ext uri="{FF2B5EF4-FFF2-40B4-BE49-F238E27FC236}">
                  <a16:creationId xmlns:a16="http://schemas.microsoft.com/office/drawing/2014/main" id="{F0933DB4-782E-4E04-918A-1AD629F1DC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6297" name="Text Box 42">
              <a:extLst>
                <a:ext uri="{FF2B5EF4-FFF2-40B4-BE49-F238E27FC236}">
                  <a16:creationId xmlns:a16="http://schemas.microsoft.com/office/drawing/2014/main" id="{07F84FE4-1D75-4FD0-9C36-563DD058E9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616"/>
              <a:ext cx="5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(10)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98" name="Text Box 43">
              <a:extLst>
                <a:ext uri="{FF2B5EF4-FFF2-40B4-BE49-F238E27FC236}">
                  <a16:creationId xmlns:a16="http://schemas.microsoft.com/office/drawing/2014/main" id="{BCD90B8E-DFA9-438A-82AA-D3FDC6C7E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618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(10)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299" name="Text Box 44">
              <a:extLst>
                <a:ext uri="{FF2B5EF4-FFF2-40B4-BE49-F238E27FC236}">
                  <a16:creationId xmlns:a16="http://schemas.microsoft.com/office/drawing/2014/main" id="{416CABA2-7944-4B53-B878-4B2FAB51C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5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96300" name="Text Box 45">
              <a:extLst>
                <a:ext uri="{FF2B5EF4-FFF2-40B4-BE49-F238E27FC236}">
                  <a16:creationId xmlns:a16="http://schemas.microsoft.com/office/drawing/2014/main" id="{AAAFAD85-BCED-4403-A306-5D453C9A6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19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96301" name="Text Box 46">
              <a:extLst>
                <a:ext uri="{FF2B5EF4-FFF2-40B4-BE49-F238E27FC236}">
                  <a16:creationId xmlns:a16="http://schemas.microsoft.com/office/drawing/2014/main" id="{099B591B-8C89-406D-9DB9-F2241B5E1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</a:p>
          </p:txBody>
        </p:sp>
        <p:sp>
          <p:nvSpPr>
            <p:cNvPr id="96302" name="Text Box 48">
              <a:extLst>
                <a:ext uri="{FF2B5EF4-FFF2-40B4-BE49-F238E27FC236}">
                  <a16:creationId xmlns:a16="http://schemas.microsoft.com/office/drawing/2014/main" id="{A78653CC-32C6-4D15-BF04-38046DD8A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618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3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(10)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303" name="Text Box 49">
              <a:extLst>
                <a:ext uri="{FF2B5EF4-FFF2-40B4-BE49-F238E27FC236}">
                  <a16:creationId xmlns:a16="http://schemas.microsoft.com/office/drawing/2014/main" id="{86E8C2A6-16D0-4F0A-BD87-DEA2811C82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6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96304" name="Text Box 50">
              <a:extLst>
                <a:ext uri="{FF2B5EF4-FFF2-40B4-BE49-F238E27FC236}">
                  <a16:creationId xmlns:a16="http://schemas.microsoft.com/office/drawing/2014/main" id="{0DA9BCE2-2F70-4E32-9FCA-1E95A85D9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96305" name="Text Box 51">
              <a:extLst>
                <a:ext uri="{FF2B5EF4-FFF2-40B4-BE49-F238E27FC236}">
                  <a16:creationId xmlns:a16="http://schemas.microsoft.com/office/drawing/2014/main" id="{5F26730E-6A52-41BE-A0AB-99309A6201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6</a:t>
              </a:r>
            </a:p>
          </p:txBody>
        </p:sp>
        <p:sp>
          <p:nvSpPr>
            <p:cNvPr id="96306" name="Text Box 52">
              <a:extLst>
                <a:ext uri="{FF2B5EF4-FFF2-40B4-BE49-F238E27FC236}">
                  <a16:creationId xmlns:a16="http://schemas.microsoft.com/office/drawing/2014/main" id="{494E26EE-E85E-4FCA-91DA-6B7983450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7</a:t>
              </a:r>
            </a:p>
          </p:txBody>
        </p:sp>
        <p:sp>
          <p:nvSpPr>
            <p:cNvPr id="96307" name="Text Box 53">
              <a:extLst>
                <a:ext uri="{FF2B5EF4-FFF2-40B4-BE49-F238E27FC236}">
                  <a16:creationId xmlns:a16="http://schemas.microsoft.com/office/drawing/2014/main" id="{D0DBDB9E-D145-4801-8583-AD0FBF0C5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890"/>
              <a:ext cx="36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t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8</a:t>
              </a:r>
            </a:p>
          </p:txBody>
        </p:sp>
        <p:sp>
          <p:nvSpPr>
            <p:cNvPr id="96308" name="Text Box 54">
              <a:extLst>
                <a:ext uri="{FF2B5EF4-FFF2-40B4-BE49-F238E27FC236}">
                  <a16:creationId xmlns:a16="http://schemas.microsoft.com/office/drawing/2014/main" id="{0910B3E4-A79E-4631-9EE8-E4DF69EF6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618"/>
              <a:ext cx="59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A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4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(10)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309" name="Line 58">
              <a:extLst>
                <a:ext uri="{FF2B5EF4-FFF2-40B4-BE49-F238E27FC236}">
                  <a16:creationId xmlns:a16="http://schemas.microsoft.com/office/drawing/2014/main" id="{32854E5D-B3B5-4845-88C0-F008414255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3" y="845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310" name="AutoShape 59">
              <a:extLst>
                <a:ext uri="{FF2B5EF4-FFF2-40B4-BE49-F238E27FC236}">
                  <a16:creationId xmlns:a16="http://schemas.microsoft.com/office/drawing/2014/main" id="{B438552A-EC28-4ACB-B906-481492765B8A}"/>
                </a:ext>
              </a:extLst>
            </p:cNvPr>
            <p:cNvCxnSpPr>
              <a:cxnSpLocks noChangeShapeType="1"/>
              <a:stCxn id="96309" idx="1"/>
            </p:cNvCxnSpPr>
            <p:nvPr/>
          </p:nvCxnSpPr>
          <p:spPr bwMode="auto">
            <a:xfrm>
              <a:off x="1533" y="845"/>
              <a:ext cx="576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311" name="Line 60">
              <a:extLst>
                <a:ext uri="{FF2B5EF4-FFF2-40B4-BE49-F238E27FC236}">
                  <a16:creationId xmlns:a16="http://schemas.microsoft.com/office/drawing/2014/main" id="{D2A112D1-7EE6-452F-8134-863991676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9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312" name="AutoShape 61">
              <a:extLst>
                <a:ext uri="{FF2B5EF4-FFF2-40B4-BE49-F238E27FC236}">
                  <a16:creationId xmlns:a16="http://schemas.microsoft.com/office/drawing/2014/main" id="{4F352024-3308-4E17-972A-834B176760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09" y="1616"/>
              <a:ext cx="57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313" name="Text Box 62">
              <a:extLst>
                <a:ext uri="{FF2B5EF4-FFF2-40B4-BE49-F238E27FC236}">
                  <a16:creationId xmlns:a16="http://schemas.microsoft.com/office/drawing/2014/main" id="{9D60A66F-ACF3-4DC1-ABC8-E7D57FAEEF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1616"/>
              <a:ext cx="5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1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(15)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314" name="Line 63">
              <a:extLst>
                <a:ext uri="{FF2B5EF4-FFF2-40B4-BE49-F238E27FC236}">
                  <a16:creationId xmlns:a16="http://schemas.microsoft.com/office/drawing/2014/main" id="{E82597C0-3FC6-4EA9-A746-E308E16AD0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53" y="981"/>
              <a:ext cx="0" cy="1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315" name="Line 64">
              <a:extLst>
                <a:ext uri="{FF2B5EF4-FFF2-40B4-BE49-F238E27FC236}">
                  <a16:creationId xmlns:a16="http://schemas.microsoft.com/office/drawing/2014/main" id="{C3B9932A-9961-4103-9D73-F35296661A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9" y="837"/>
              <a:ext cx="0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96316" name="AutoShape 65">
              <a:extLst>
                <a:ext uri="{FF2B5EF4-FFF2-40B4-BE49-F238E27FC236}">
                  <a16:creationId xmlns:a16="http://schemas.microsoft.com/office/drawing/2014/main" id="{72F6D51B-71E7-4643-B871-D9CB4BA6F07A}"/>
                </a:ext>
              </a:extLst>
            </p:cNvPr>
            <p:cNvCxnSpPr>
              <a:cxnSpLocks noChangeShapeType="1"/>
              <a:stCxn id="96315" idx="1"/>
              <a:endCxn id="96270" idx="1"/>
            </p:cNvCxnSpPr>
            <p:nvPr/>
          </p:nvCxnSpPr>
          <p:spPr bwMode="auto">
            <a:xfrm>
              <a:off x="3819" y="837"/>
              <a:ext cx="558" cy="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317" name="Line 66">
              <a:extLst>
                <a:ext uri="{FF2B5EF4-FFF2-40B4-BE49-F238E27FC236}">
                  <a16:creationId xmlns:a16="http://schemas.microsoft.com/office/drawing/2014/main" id="{81F8AE29-8077-49B6-8C97-EF3BB0D49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7" y="1117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318" name="Text Box 67">
              <a:extLst>
                <a:ext uri="{FF2B5EF4-FFF2-40B4-BE49-F238E27FC236}">
                  <a16:creationId xmlns:a16="http://schemas.microsoft.com/office/drawing/2014/main" id="{D27E592F-2683-412F-BE93-03DA218CFF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0" y="1616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990000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DB4325"/>
                </a:buClr>
                <a:buSzPct val="80000"/>
                <a:buFont typeface="Wingdings" panose="05000000000000000000" pitchFamily="2" charset="2"/>
                <a:buChar char="v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SzPct val="50000"/>
                <a:buFont typeface="Wingdings" panose="05000000000000000000" pitchFamily="2" charset="2"/>
                <a:buChar char="Ø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SzPct val="5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50000"/>
                <a:buChar char="•"/>
                <a:defRPr kumimoji="1" sz="16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fontAlgn="base">
                <a:spcBef>
                  <a:spcPct val="50000"/>
                </a:spcBef>
                <a:spcAft>
                  <a:spcPct val="0"/>
                </a:spcAft>
                <a:buClrTx/>
                <a:buNone/>
              </a:pP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B</a:t>
              </a:r>
              <a:r>
                <a:rPr kumimoji="0" lang="en-US" altLang="zh-CN" sz="1800" b="1" baseline="-25000">
                  <a:solidFill>
                    <a:srgbClr val="000000"/>
                  </a:solidFill>
                  <a:latin typeface="Arial" panose="020B0604020202020204" pitchFamily="34" charset="0"/>
                </a:rPr>
                <a:t>2</a:t>
              </a:r>
              <a:r>
                <a:rPr kumimoji="0" lang="en-US" altLang="zh-CN" sz="1800" b="1">
                  <a:solidFill>
                    <a:srgbClr val="000000"/>
                  </a:solidFill>
                  <a:latin typeface="Arial" panose="020B0604020202020204" pitchFamily="34" charset="0"/>
                </a:rPr>
                <a:t>(5)</a:t>
              </a:r>
              <a:endParaRPr kumimoji="0" lang="en-US" altLang="zh-CN" sz="1800" b="1" baseline="-250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605243" name="Text Box 70">
            <a:extLst>
              <a:ext uri="{FF2B5EF4-FFF2-40B4-BE49-F238E27FC236}">
                <a16:creationId xmlns:a16="http://schemas.microsoft.com/office/drawing/2014/main" id="{39406D37-19CD-4ABD-A974-FBE4F9F7E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2185" y="2997172"/>
            <a:ext cx="9416556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990000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DB4325"/>
              </a:buClr>
              <a:buSzPct val="80000"/>
              <a:buFont typeface="Wingdings" panose="05000000000000000000" pitchFamily="2" charset="2"/>
              <a:buChar char="v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50000"/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50000"/>
              <a:buChar char="•"/>
              <a:defRPr kumimoji="1" sz="16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Aft>
                <a:spcPct val="0"/>
              </a:spcAft>
              <a:buClrTx/>
              <a:buNone/>
            </a:pPr>
            <a:r>
              <a: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调度发生在两种场合：①有新进程到达时，计算松弛度决定是否抢占；</a:t>
            </a:r>
          </a:p>
          <a:p>
            <a:pPr fontAlgn="base">
              <a:spcAft>
                <a:spcPct val="0"/>
              </a:spcAft>
              <a:buClrTx/>
              <a:buNone/>
            </a:pPr>
            <a:r>
              <a: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          ②有进程释放</a:t>
            </a:r>
            <a:r>
              <a:rPr kumimoji="0"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（</a:t>
            </a:r>
            <a:r>
              <a:rPr kumimoji="0" lang="en-US" altLang="zh-CN" sz="1800" b="1" dirty="0">
                <a:solidFill>
                  <a:srgbClr val="FF0000"/>
                </a:solidFill>
                <a:latin typeface="Arial" panose="020B0604020202020204" pitchFamily="34" charset="0"/>
              </a:rPr>
              <a:t>CPU</a:t>
            </a:r>
            <a:r>
              <a:rPr kumimoji="0" lang="zh-CN" altLang="en-US" sz="1800" b="1" dirty="0">
                <a:solidFill>
                  <a:srgbClr val="FF0000"/>
                </a:solidFill>
                <a:latin typeface="Arial" panose="020B0604020202020204" pitchFamily="34" charset="0"/>
              </a:rPr>
              <a:t>空闲时）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9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5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05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05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05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5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05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05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05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9266" grpId="0"/>
      <p:bldP spid="605187" grpId="0" build="p"/>
      <p:bldP spid="605243" grpId="0"/>
    </p:bldLst>
  </p:timing>
</p:sld>
</file>

<file path=ppt/theme/theme1.xml><?xml version="1.0" encoding="utf-8"?>
<a:theme xmlns:a="http://schemas.openxmlformats.org/drawingml/2006/main" name="操作系统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0000FF"/>
      </a:accent2>
      <a:accent3>
        <a:srgbClr val="FFFFFF"/>
      </a:accent3>
      <a:accent4>
        <a:srgbClr val="000000"/>
      </a:accent4>
      <a:accent5>
        <a:srgbClr val="AAEFD1"/>
      </a:accent5>
      <a:accent6>
        <a:srgbClr val="0000E7"/>
      </a:accent6>
      <a:hlink>
        <a:srgbClr val="FF0000"/>
      </a:hlink>
      <a:folHlink>
        <a:srgbClr val="3333CC"/>
      </a:folHlink>
    </a:clrScheme>
    <a:fontScheme name="操作系统">
      <a:majorFont>
        <a:latin typeface="Tahoma"/>
        <a:ea typeface="黑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操作系统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操作系统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操作系统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操作系统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操作系统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操作系统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操作系统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1303</Words>
  <Application>Microsoft Office PowerPoint</Application>
  <PresentationFormat>宽屏</PresentationFormat>
  <Paragraphs>351</Paragraphs>
  <Slides>12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等线</vt:lpstr>
      <vt:lpstr>方正姚体</vt:lpstr>
      <vt:lpstr>黑体</vt:lpstr>
      <vt:lpstr>华文楷体</vt:lpstr>
      <vt:lpstr>宋体</vt:lpstr>
      <vt:lpstr>Arial</vt:lpstr>
      <vt:lpstr>Tahoma</vt:lpstr>
      <vt:lpstr>Times New Roman</vt:lpstr>
      <vt:lpstr>Wingdings</vt:lpstr>
      <vt:lpstr>操作系统</vt:lpstr>
      <vt:lpstr>实时调度 </vt:lpstr>
      <vt:lpstr> 实时调度算法的分类 </vt:lpstr>
      <vt:lpstr> 常用的2种实时调度算法</vt:lpstr>
      <vt:lpstr>常用的几种实时调度算法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LLF算法（最低松弛度优先调度算法）</vt:lpstr>
      <vt:lpstr>LLF算法举例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3.4 实时调度</dc:title>
  <dc:creator>zhang</dc:creator>
  <cp:lastModifiedBy>zhang</cp:lastModifiedBy>
  <cp:revision>7</cp:revision>
  <dcterms:created xsi:type="dcterms:W3CDTF">2021-10-04T08:29:13Z</dcterms:created>
  <dcterms:modified xsi:type="dcterms:W3CDTF">2021-10-31T06:40:15Z</dcterms:modified>
</cp:coreProperties>
</file>