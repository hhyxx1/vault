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427" r:id="rId2"/>
    <p:sldId id="667" r:id="rId3"/>
    <p:sldId id="669" r:id="rId4"/>
    <p:sldId id="670" r:id="rId5"/>
    <p:sldId id="671" r:id="rId6"/>
    <p:sldId id="672" r:id="rId7"/>
    <p:sldId id="673" r:id="rId8"/>
    <p:sldId id="674" r:id="rId9"/>
    <p:sldId id="675" r:id="rId10"/>
    <p:sldId id="676" r:id="rId11"/>
    <p:sldId id="677" r:id="rId12"/>
    <p:sldId id="678" r:id="rId13"/>
    <p:sldId id="679" r:id="rId14"/>
    <p:sldId id="680" r:id="rId15"/>
    <p:sldId id="681" r:id="rId16"/>
    <p:sldId id="682" r:id="rId17"/>
    <p:sldId id="683" r:id="rId18"/>
    <p:sldId id="684" r:id="rId19"/>
    <p:sldId id="686" r:id="rId20"/>
    <p:sldId id="687" r:id="rId21"/>
    <p:sldId id="688" r:id="rId22"/>
    <p:sldId id="689" r:id="rId23"/>
    <p:sldId id="691" r:id="rId24"/>
    <p:sldId id="692" r:id="rId25"/>
    <p:sldId id="693" r:id="rId26"/>
    <p:sldId id="694" r:id="rId27"/>
    <p:sldId id="695" r:id="rId28"/>
    <p:sldId id="696" r:id="rId29"/>
    <p:sldId id="697" r:id="rId30"/>
    <p:sldId id="698" r:id="rId31"/>
    <p:sldId id="685" r:id="rId32"/>
    <p:sldId id="699" r:id="rId33"/>
    <p:sldId id="700" r:id="rId34"/>
    <p:sldId id="701" r:id="rId35"/>
    <p:sldId id="702" r:id="rId36"/>
    <p:sldId id="703" r:id="rId37"/>
    <p:sldId id="704" r:id="rId38"/>
    <p:sldId id="705" r:id="rId39"/>
    <p:sldId id="706" r:id="rId40"/>
    <p:sldId id="707" r:id="rId41"/>
    <p:sldId id="708" r:id="rId42"/>
    <p:sldId id="709" r:id="rId43"/>
    <p:sldId id="710" r:id="rId44"/>
    <p:sldId id="711" r:id="rId45"/>
    <p:sldId id="712" r:id="rId46"/>
    <p:sldId id="713" r:id="rId47"/>
    <p:sldId id="714" r:id="rId48"/>
    <p:sldId id="715" r:id="rId49"/>
    <p:sldId id="716" r:id="rId50"/>
    <p:sldId id="717" r:id="rId51"/>
    <p:sldId id="719" r:id="rId52"/>
    <p:sldId id="720" r:id="rId53"/>
    <p:sldId id="721" r:id="rId54"/>
    <p:sldId id="722" r:id="rId55"/>
    <p:sldId id="723" r:id="rId56"/>
    <p:sldId id="724" r:id="rId57"/>
    <p:sldId id="725" r:id="rId58"/>
    <p:sldId id="726" r:id="rId59"/>
    <p:sldId id="727" r:id="rId60"/>
    <p:sldId id="728" r:id="rId61"/>
    <p:sldId id="729" r:id="rId62"/>
    <p:sldId id="730" r:id="rId63"/>
    <p:sldId id="731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A1E5"/>
    <a:srgbClr val="692B99"/>
    <a:srgbClr val="0000FF"/>
    <a:srgbClr val="8F46C8"/>
    <a:srgbClr val="FFFFFF"/>
    <a:srgbClr val="DE8300"/>
    <a:srgbClr val="9956CC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6" autoAdjust="0"/>
    <p:restoredTop sz="94660"/>
  </p:normalViewPr>
  <p:slideViewPr>
    <p:cSldViewPr snapToGrid="0">
      <p:cViewPr varScale="1">
        <p:scale>
          <a:sx n="49" d="100"/>
          <a:sy n="49" d="100"/>
        </p:scale>
        <p:origin x="-86" y="-893"/>
      </p:cViewPr>
      <p:guideLst>
        <p:guide orient="horz" pos="202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7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/>
        </p:nvSpPr>
        <p:spPr>
          <a:xfrm>
            <a:off x="0" y="1264921"/>
            <a:ext cx="12206817" cy="5281083"/>
          </a:xfrm>
          <a:custGeom>
            <a:avLst/>
            <a:gdLst/>
            <a:ahLst/>
            <a:cxnLst/>
            <a:rect l="0" t="0" r="0" b="0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100000"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3775075" y="1981835"/>
            <a:ext cx="5626100" cy="12363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txBody>
          <a:bodyPr lIns="90000" tIns="46800" rIns="90000" bIns="46800" anchor="b" anchorCtr="0">
            <a:normAutofit/>
          </a:bodyPr>
          <a:lstStyle>
            <a:lvl1pPr algn="ctr">
              <a:defRPr sz="4800" b="1" i="0" spc="300" baseline="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8" name="任意多边形 7"/>
          <p:cNvSpPr/>
          <p:nvPr userDrawn="1"/>
        </p:nvSpPr>
        <p:spPr>
          <a:xfrm>
            <a:off x="156633" y="582930"/>
            <a:ext cx="12035367" cy="575733"/>
          </a:xfrm>
          <a:custGeom>
            <a:avLst/>
            <a:gdLst/>
            <a:ahLst/>
            <a:cxnLst/>
            <a:rect l="0" t="0" r="0" b="0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8974455" y="389890"/>
            <a:ext cx="271716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zh-CN" sz="2400" b="1" spc="300" dirty="0"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blurRad="6350" stA="60000" endA="900" endPos="58000" dir="5400000" sy="-100000" algn="bl" rotWithShape="0"/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计算机操作系统</a:t>
            </a:r>
            <a:endParaRPr lang="zh-CN" altLang="zh-CN" sz="2400" b="1" spc="300" dirty="0">
              <a:solidFill>
                <a:srgbClr val="FFFF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blurRad="6350" stA="60000" endA="900" endPos="58000" dir="5400000" sy="-100000" algn="bl" rotWithShape="0"/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11" name="任意多边形 10"/>
          <p:cNvSpPr/>
          <p:nvPr userDrawn="1"/>
        </p:nvSpPr>
        <p:spPr>
          <a:xfrm>
            <a:off x="-3387" y="8431530"/>
            <a:ext cx="12175067" cy="681567"/>
          </a:xfrm>
          <a:custGeom>
            <a:avLst/>
            <a:gdLst/>
            <a:ahLst/>
            <a:cxnLst/>
            <a:rect l="0" t="0" r="0" b="0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13" name="日期占位符 3088"/>
          <p:cNvSpPr>
            <a:spLocks noGrp="1"/>
          </p:cNvSpPr>
          <p:nvPr userDrawn="1"/>
        </p:nvSpPr>
        <p:spPr>
          <a:xfrm>
            <a:off x="1008380" y="8605097"/>
            <a:ext cx="2844800" cy="33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962C8B-B14F-4D97-AF65-F5344CB8AC3E}" type="datetime1">
              <a:rPr lang="zh-CN" altLang="en-US" sz="1335" dirty="0"/>
              <a:t>2020/10/17 Saturday</a:t>
            </a:fld>
            <a:endParaRPr lang="zh-CN" altLang="en-US" sz="1335" dirty="0"/>
          </a:p>
        </p:txBody>
      </p:sp>
      <p:sp>
        <p:nvSpPr>
          <p:cNvPr id="14" name="页脚占位符 3089"/>
          <p:cNvSpPr>
            <a:spLocks noGrp="1"/>
          </p:cNvSpPr>
          <p:nvPr userDrawn="1"/>
        </p:nvSpPr>
        <p:spPr>
          <a:xfrm>
            <a:off x="4056380" y="8605097"/>
            <a:ext cx="4368800" cy="33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35" dirty="0"/>
          </a:p>
        </p:txBody>
      </p:sp>
      <p:sp>
        <p:nvSpPr>
          <p:cNvPr id="15" name="灯片编号占位符 3090"/>
          <p:cNvSpPr>
            <a:spLocks noGrp="1"/>
          </p:cNvSpPr>
          <p:nvPr userDrawn="1"/>
        </p:nvSpPr>
        <p:spPr>
          <a:xfrm>
            <a:off x="398780" y="8605097"/>
            <a:ext cx="508000" cy="33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0DB2DC-4C9A-4742-B13C-FB6460FD3503}" type="slidenum">
              <a:rPr lang="zh-CN" altLang="en-US" sz="1335" dirty="0"/>
              <a:t>‹#›</a:t>
            </a:fld>
            <a:endParaRPr lang="zh-CN" altLang="en-US" sz="1335" dirty="0"/>
          </a:p>
        </p:txBody>
      </p:sp>
      <p:sp>
        <p:nvSpPr>
          <p:cNvPr id="19" name="任意多边形 18"/>
          <p:cNvSpPr/>
          <p:nvPr userDrawn="1"/>
        </p:nvSpPr>
        <p:spPr>
          <a:xfrm flipH="1" flipV="1">
            <a:off x="-7620" y="5883488"/>
            <a:ext cx="12192000" cy="768349"/>
          </a:xfrm>
          <a:custGeom>
            <a:avLst/>
            <a:gdLst/>
            <a:ahLst/>
            <a:cxnLst/>
            <a:rect l="0" t="0" r="0" b="0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grpSp>
        <p:nvGrpSpPr>
          <p:cNvPr id="20" name="Group 10"/>
          <p:cNvGrpSpPr/>
          <p:nvPr userDrawn="1"/>
        </p:nvGrpSpPr>
        <p:grpSpPr bwMode="auto">
          <a:xfrm>
            <a:off x="9160384" y="6070822"/>
            <a:ext cx="380048" cy="380121"/>
            <a:chOff x="0" y="0"/>
            <a:chExt cx="965499" cy="965499"/>
          </a:xfrm>
        </p:grpSpPr>
        <p:sp>
          <p:nvSpPr>
            <p:cNvPr id="21" name="AutoShape 11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AutoShape 12"/>
            <p:cNvSpPr/>
            <p:nvPr/>
          </p:nvSpPr>
          <p:spPr bwMode="auto">
            <a:xfrm>
              <a:off x="285759" y="283328"/>
              <a:ext cx="393981" cy="393980"/>
            </a:xfrm>
            <a:custGeom>
              <a:avLst/>
              <a:gdLst>
                <a:gd name="T0" fmla="*/ 196991 w 21376"/>
                <a:gd name="T1" fmla="*/ 196990 h 21600"/>
                <a:gd name="T2" fmla="*/ 196991 w 21376"/>
                <a:gd name="T3" fmla="*/ 196990 h 21600"/>
                <a:gd name="T4" fmla="*/ 196991 w 21376"/>
                <a:gd name="T5" fmla="*/ 196990 h 21600"/>
                <a:gd name="T6" fmla="*/ 196991 w 21376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376" h="21600">
                  <a:moveTo>
                    <a:pt x="21036" y="18604"/>
                  </a:moveTo>
                  <a:cubicBezTo>
                    <a:pt x="21454" y="19261"/>
                    <a:pt x="21486" y="19922"/>
                    <a:pt x="21134" y="20586"/>
                  </a:cubicBezTo>
                  <a:cubicBezTo>
                    <a:pt x="20969" y="20915"/>
                    <a:pt x="20731" y="21168"/>
                    <a:pt x="20427" y="21338"/>
                  </a:cubicBezTo>
                  <a:cubicBezTo>
                    <a:pt x="20122" y="21514"/>
                    <a:pt x="19797" y="21600"/>
                    <a:pt x="19455" y="21600"/>
                  </a:cubicBezTo>
                  <a:lnTo>
                    <a:pt x="1928" y="21600"/>
                  </a:lnTo>
                  <a:cubicBezTo>
                    <a:pt x="1585" y="21600"/>
                    <a:pt x="1263" y="21514"/>
                    <a:pt x="965" y="21338"/>
                  </a:cubicBezTo>
                  <a:cubicBezTo>
                    <a:pt x="663" y="21168"/>
                    <a:pt x="425" y="20915"/>
                    <a:pt x="248" y="20586"/>
                  </a:cubicBezTo>
                  <a:cubicBezTo>
                    <a:pt x="-114" y="19914"/>
                    <a:pt x="-80" y="19250"/>
                    <a:pt x="344" y="18604"/>
                  </a:cubicBezTo>
                  <a:lnTo>
                    <a:pt x="7509" y="7313"/>
                  </a:lnTo>
                  <a:lnTo>
                    <a:pt x="7509" y="2167"/>
                  </a:lnTo>
                  <a:lnTo>
                    <a:pt x="6427" y="2167"/>
                  </a:lnTo>
                  <a:cubicBezTo>
                    <a:pt x="6122" y="2167"/>
                    <a:pt x="5870" y="2061"/>
                    <a:pt x="5670" y="1850"/>
                  </a:cubicBezTo>
                  <a:cubicBezTo>
                    <a:pt x="5473" y="1638"/>
                    <a:pt x="5371" y="1380"/>
                    <a:pt x="5371" y="1072"/>
                  </a:cubicBezTo>
                  <a:cubicBezTo>
                    <a:pt x="5371" y="778"/>
                    <a:pt x="5473" y="528"/>
                    <a:pt x="5670" y="320"/>
                  </a:cubicBezTo>
                  <a:cubicBezTo>
                    <a:pt x="5870" y="108"/>
                    <a:pt x="6122" y="0"/>
                    <a:pt x="6427" y="0"/>
                  </a:cubicBezTo>
                  <a:lnTo>
                    <a:pt x="14953" y="0"/>
                  </a:lnTo>
                  <a:cubicBezTo>
                    <a:pt x="15260" y="0"/>
                    <a:pt x="15515" y="108"/>
                    <a:pt x="15724" y="320"/>
                  </a:cubicBezTo>
                  <a:cubicBezTo>
                    <a:pt x="15933" y="528"/>
                    <a:pt x="16038" y="778"/>
                    <a:pt x="16038" y="1072"/>
                  </a:cubicBezTo>
                  <a:cubicBezTo>
                    <a:pt x="16038" y="1380"/>
                    <a:pt x="15933" y="1638"/>
                    <a:pt x="15724" y="1850"/>
                  </a:cubicBezTo>
                  <a:cubicBezTo>
                    <a:pt x="15515" y="2061"/>
                    <a:pt x="15260" y="2167"/>
                    <a:pt x="14953" y="2167"/>
                  </a:cubicBezTo>
                  <a:lnTo>
                    <a:pt x="13900" y="2167"/>
                  </a:lnTo>
                  <a:lnTo>
                    <a:pt x="13900" y="7339"/>
                  </a:lnTo>
                  <a:lnTo>
                    <a:pt x="21036" y="18604"/>
                  </a:lnTo>
                  <a:close/>
                  <a:moveTo>
                    <a:pt x="5261" y="14865"/>
                  </a:moveTo>
                  <a:lnTo>
                    <a:pt x="16122" y="14865"/>
                  </a:lnTo>
                  <a:lnTo>
                    <a:pt x="11773" y="7974"/>
                  </a:lnTo>
                  <a:lnTo>
                    <a:pt x="11773" y="2167"/>
                  </a:lnTo>
                  <a:lnTo>
                    <a:pt x="9635" y="2167"/>
                  </a:lnTo>
                  <a:lnTo>
                    <a:pt x="9635" y="7947"/>
                  </a:lnTo>
                  <a:lnTo>
                    <a:pt x="5261" y="1486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3" name="Group 13"/>
          <p:cNvGrpSpPr/>
          <p:nvPr userDrawn="1"/>
        </p:nvGrpSpPr>
        <p:grpSpPr bwMode="auto">
          <a:xfrm>
            <a:off x="9697919" y="6070822"/>
            <a:ext cx="380673" cy="380121"/>
            <a:chOff x="0" y="0"/>
            <a:chExt cx="965499" cy="965499"/>
          </a:xfrm>
        </p:grpSpPr>
        <p:sp>
          <p:nvSpPr>
            <p:cNvPr id="24" name="AutoShape 14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AutoShape 15"/>
            <p:cNvSpPr/>
            <p:nvPr/>
          </p:nvSpPr>
          <p:spPr bwMode="auto">
            <a:xfrm>
              <a:off x="285759" y="283328"/>
              <a:ext cx="393981" cy="393980"/>
            </a:xfrm>
            <a:custGeom>
              <a:avLst/>
              <a:gdLst>
                <a:gd name="T0" fmla="*/ 196991 w 21600"/>
                <a:gd name="T1" fmla="*/ 196990 h 21600"/>
                <a:gd name="T2" fmla="*/ 196991 w 21600"/>
                <a:gd name="T3" fmla="*/ 196990 h 21600"/>
                <a:gd name="T4" fmla="*/ 196991 w 21600"/>
                <a:gd name="T5" fmla="*/ 196990 h 21600"/>
                <a:gd name="T6" fmla="*/ 196991 w 21600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328" y="11543"/>
                  </a:moveTo>
                  <a:cubicBezTo>
                    <a:pt x="21492" y="11930"/>
                    <a:pt x="21571" y="12337"/>
                    <a:pt x="21571" y="12758"/>
                  </a:cubicBezTo>
                  <a:cubicBezTo>
                    <a:pt x="21571" y="13464"/>
                    <a:pt x="21388" y="14105"/>
                    <a:pt x="21017" y="14678"/>
                  </a:cubicBezTo>
                  <a:cubicBezTo>
                    <a:pt x="21111" y="15215"/>
                    <a:pt x="21077" y="15745"/>
                    <a:pt x="20924" y="16285"/>
                  </a:cubicBezTo>
                  <a:cubicBezTo>
                    <a:pt x="20769" y="16819"/>
                    <a:pt x="20512" y="17287"/>
                    <a:pt x="20141" y="17697"/>
                  </a:cubicBezTo>
                  <a:cubicBezTo>
                    <a:pt x="20105" y="18451"/>
                    <a:pt x="19901" y="19081"/>
                    <a:pt x="19531" y="19580"/>
                  </a:cubicBezTo>
                  <a:cubicBezTo>
                    <a:pt x="19161" y="20080"/>
                    <a:pt x="18700" y="20481"/>
                    <a:pt x="18146" y="20783"/>
                  </a:cubicBezTo>
                  <a:cubicBezTo>
                    <a:pt x="17593" y="21088"/>
                    <a:pt x="16982" y="21297"/>
                    <a:pt x="16321" y="21419"/>
                  </a:cubicBezTo>
                  <a:cubicBezTo>
                    <a:pt x="15660" y="21540"/>
                    <a:pt x="15010" y="21599"/>
                    <a:pt x="14380" y="21599"/>
                  </a:cubicBezTo>
                  <a:cubicBezTo>
                    <a:pt x="13730" y="21599"/>
                    <a:pt x="13077" y="21554"/>
                    <a:pt x="12424" y="21461"/>
                  </a:cubicBezTo>
                  <a:cubicBezTo>
                    <a:pt x="11772" y="21362"/>
                    <a:pt x="11127" y="21235"/>
                    <a:pt x="10497" y="21074"/>
                  </a:cubicBezTo>
                  <a:cubicBezTo>
                    <a:pt x="9864" y="20894"/>
                    <a:pt x="9237" y="20702"/>
                    <a:pt x="8610" y="20493"/>
                  </a:cubicBezTo>
                  <a:cubicBezTo>
                    <a:pt x="7982" y="20286"/>
                    <a:pt x="7341" y="20182"/>
                    <a:pt x="6680" y="20182"/>
                  </a:cubicBezTo>
                  <a:lnTo>
                    <a:pt x="1607" y="20182"/>
                  </a:lnTo>
                  <a:cubicBezTo>
                    <a:pt x="1167" y="20182"/>
                    <a:pt x="785" y="20029"/>
                    <a:pt x="471" y="19713"/>
                  </a:cubicBezTo>
                  <a:cubicBezTo>
                    <a:pt x="158" y="19405"/>
                    <a:pt x="0" y="19024"/>
                    <a:pt x="0" y="18572"/>
                  </a:cubicBezTo>
                  <a:lnTo>
                    <a:pt x="0" y="9880"/>
                  </a:lnTo>
                  <a:cubicBezTo>
                    <a:pt x="0" y="9440"/>
                    <a:pt x="158" y="9064"/>
                    <a:pt x="471" y="8754"/>
                  </a:cubicBezTo>
                  <a:cubicBezTo>
                    <a:pt x="785" y="8440"/>
                    <a:pt x="1167" y="8285"/>
                    <a:pt x="1607" y="8285"/>
                  </a:cubicBezTo>
                  <a:lnTo>
                    <a:pt x="6315" y="8285"/>
                  </a:lnTo>
                  <a:cubicBezTo>
                    <a:pt x="6558" y="8160"/>
                    <a:pt x="6750" y="8022"/>
                    <a:pt x="6897" y="7872"/>
                  </a:cubicBezTo>
                  <a:cubicBezTo>
                    <a:pt x="7041" y="7723"/>
                    <a:pt x="7197" y="7548"/>
                    <a:pt x="7369" y="7342"/>
                  </a:cubicBezTo>
                  <a:cubicBezTo>
                    <a:pt x="7513" y="7161"/>
                    <a:pt x="7663" y="6986"/>
                    <a:pt x="7810" y="6819"/>
                  </a:cubicBezTo>
                  <a:cubicBezTo>
                    <a:pt x="7957" y="6653"/>
                    <a:pt x="8112" y="6483"/>
                    <a:pt x="8276" y="6311"/>
                  </a:cubicBezTo>
                  <a:cubicBezTo>
                    <a:pt x="8570" y="5997"/>
                    <a:pt x="8918" y="5690"/>
                    <a:pt x="9302" y="5385"/>
                  </a:cubicBezTo>
                  <a:cubicBezTo>
                    <a:pt x="9692" y="5085"/>
                    <a:pt x="9989" y="4749"/>
                    <a:pt x="10195" y="4379"/>
                  </a:cubicBezTo>
                  <a:cubicBezTo>
                    <a:pt x="10339" y="4117"/>
                    <a:pt x="10443" y="3826"/>
                    <a:pt x="10506" y="3507"/>
                  </a:cubicBezTo>
                  <a:cubicBezTo>
                    <a:pt x="10565" y="3188"/>
                    <a:pt x="10627" y="2866"/>
                    <a:pt x="10675" y="2538"/>
                  </a:cubicBezTo>
                  <a:cubicBezTo>
                    <a:pt x="10726" y="2216"/>
                    <a:pt x="10780" y="1900"/>
                    <a:pt x="10845" y="1592"/>
                  </a:cubicBezTo>
                  <a:cubicBezTo>
                    <a:pt x="10907" y="1287"/>
                    <a:pt x="11014" y="1016"/>
                    <a:pt x="11161" y="776"/>
                  </a:cubicBezTo>
                  <a:cubicBezTo>
                    <a:pt x="11311" y="536"/>
                    <a:pt x="11523" y="350"/>
                    <a:pt x="11800" y="208"/>
                  </a:cubicBezTo>
                  <a:cubicBezTo>
                    <a:pt x="12074" y="67"/>
                    <a:pt x="12441" y="0"/>
                    <a:pt x="12902" y="0"/>
                  </a:cubicBezTo>
                  <a:cubicBezTo>
                    <a:pt x="13450" y="0"/>
                    <a:pt x="13956" y="112"/>
                    <a:pt x="14411" y="344"/>
                  </a:cubicBezTo>
                  <a:cubicBezTo>
                    <a:pt x="14869" y="573"/>
                    <a:pt x="15250" y="881"/>
                    <a:pt x="15567" y="1270"/>
                  </a:cubicBezTo>
                  <a:cubicBezTo>
                    <a:pt x="15880" y="1657"/>
                    <a:pt x="16126" y="2101"/>
                    <a:pt x="16304" y="2600"/>
                  </a:cubicBezTo>
                  <a:cubicBezTo>
                    <a:pt x="16479" y="3103"/>
                    <a:pt x="16570" y="3609"/>
                    <a:pt x="16570" y="4123"/>
                  </a:cubicBezTo>
                  <a:cubicBezTo>
                    <a:pt x="16570" y="4653"/>
                    <a:pt x="16491" y="5162"/>
                    <a:pt x="16332" y="5645"/>
                  </a:cubicBezTo>
                  <a:cubicBezTo>
                    <a:pt x="16174" y="6125"/>
                    <a:pt x="15982" y="6610"/>
                    <a:pt x="15759" y="7096"/>
                  </a:cubicBezTo>
                  <a:cubicBezTo>
                    <a:pt x="16072" y="7079"/>
                    <a:pt x="16389" y="7057"/>
                    <a:pt x="16705" y="7034"/>
                  </a:cubicBezTo>
                  <a:cubicBezTo>
                    <a:pt x="17019" y="7011"/>
                    <a:pt x="17335" y="7000"/>
                    <a:pt x="17652" y="7000"/>
                  </a:cubicBezTo>
                  <a:cubicBezTo>
                    <a:pt x="18149" y="7000"/>
                    <a:pt x="18630" y="7048"/>
                    <a:pt x="19099" y="7144"/>
                  </a:cubicBezTo>
                  <a:cubicBezTo>
                    <a:pt x="19568" y="7237"/>
                    <a:pt x="19986" y="7395"/>
                    <a:pt x="20356" y="7616"/>
                  </a:cubicBezTo>
                  <a:cubicBezTo>
                    <a:pt x="20726" y="7839"/>
                    <a:pt x="21026" y="8144"/>
                    <a:pt x="21255" y="8528"/>
                  </a:cubicBezTo>
                  <a:cubicBezTo>
                    <a:pt x="21486" y="8918"/>
                    <a:pt x="21600" y="9409"/>
                    <a:pt x="21600" y="10002"/>
                  </a:cubicBezTo>
                  <a:cubicBezTo>
                    <a:pt x="21600" y="10265"/>
                    <a:pt x="21580" y="10519"/>
                    <a:pt x="21535" y="10773"/>
                  </a:cubicBezTo>
                  <a:cubicBezTo>
                    <a:pt x="21484" y="11030"/>
                    <a:pt x="21419" y="11284"/>
                    <a:pt x="21328" y="11543"/>
                  </a:cubicBezTo>
                  <a:moveTo>
                    <a:pt x="4258" y="18519"/>
                  </a:moveTo>
                  <a:cubicBezTo>
                    <a:pt x="4555" y="18519"/>
                    <a:pt x="4809" y="18417"/>
                    <a:pt x="5024" y="18214"/>
                  </a:cubicBezTo>
                  <a:cubicBezTo>
                    <a:pt x="5233" y="18013"/>
                    <a:pt x="5340" y="17759"/>
                    <a:pt x="5340" y="17454"/>
                  </a:cubicBezTo>
                  <a:cubicBezTo>
                    <a:pt x="5340" y="17155"/>
                    <a:pt x="5233" y="16900"/>
                    <a:pt x="5024" y="16686"/>
                  </a:cubicBezTo>
                  <a:cubicBezTo>
                    <a:pt x="4812" y="16477"/>
                    <a:pt x="4557" y="16372"/>
                    <a:pt x="4258" y="16372"/>
                  </a:cubicBezTo>
                  <a:cubicBezTo>
                    <a:pt x="3941" y="16372"/>
                    <a:pt x="3684" y="16477"/>
                    <a:pt x="3486" y="16686"/>
                  </a:cubicBezTo>
                  <a:cubicBezTo>
                    <a:pt x="3289" y="16900"/>
                    <a:pt x="3190" y="17155"/>
                    <a:pt x="3190" y="17454"/>
                  </a:cubicBezTo>
                  <a:cubicBezTo>
                    <a:pt x="3190" y="17767"/>
                    <a:pt x="3289" y="18024"/>
                    <a:pt x="3486" y="18222"/>
                  </a:cubicBezTo>
                  <a:cubicBezTo>
                    <a:pt x="3681" y="18420"/>
                    <a:pt x="3939" y="18519"/>
                    <a:pt x="4258" y="18519"/>
                  </a:cubicBezTo>
                  <a:moveTo>
                    <a:pt x="19164" y="14342"/>
                  </a:moveTo>
                  <a:cubicBezTo>
                    <a:pt x="19703" y="13901"/>
                    <a:pt x="19975" y="13345"/>
                    <a:pt x="19975" y="12679"/>
                  </a:cubicBezTo>
                  <a:cubicBezTo>
                    <a:pt x="19975" y="12473"/>
                    <a:pt x="19918" y="12281"/>
                    <a:pt x="19805" y="12097"/>
                  </a:cubicBezTo>
                  <a:cubicBezTo>
                    <a:pt x="19695" y="11919"/>
                    <a:pt x="19576" y="11761"/>
                    <a:pt x="19446" y="11623"/>
                  </a:cubicBezTo>
                  <a:cubicBezTo>
                    <a:pt x="19590" y="11363"/>
                    <a:pt x="19720" y="11106"/>
                    <a:pt x="19833" y="10849"/>
                  </a:cubicBezTo>
                  <a:cubicBezTo>
                    <a:pt x="19944" y="10592"/>
                    <a:pt x="20003" y="10312"/>
                    <a:pt x="20003" y="10002"/>
                  </a:cubicBezTo>
                  <a:cubicBezTo>
                    <a:pt x="20003" y="9688"/>
                    <a:pt x="19924" y="9440"/>
                    <a:pt x="19766" y="9251"/>
                  </a:cubicBezTo>
                  <a:cubicBezTo>
                    <a:pt x="19607" y="9070"/>
                    <a:pt x="19415" y="8929"/>
                    <a:pt x="19184" y="8833"/>
                  </a:cubicBezTo>
                  <a:cubicBezTo>
                    <a:pt x="18955" y="8739"/>
                    <a:pt x="18698" y="8683"/>
                    <a:pt x="18418" y="8663"/>
                  </a:cubicBezTo>
                  <a:cubicBezTo>
                    <a:pt x="18138" y="8643"/>
                    <a:pt x="17884" y="8635"/>
                    <a:pt x="17649" y="8635"/>
                  </a:cubicBezTo>
                  <a:cubicBezTo>
                    <a:pt x="17242" y="8635"/>
                    <a:pt x="16835" y="8649"/>
                    <a:pt x="16423" y="8677"/>
                  </a:cubicBezTo>
                  <a:cubicBezTo>
                    <a:pt x="16010" y="8706"/>
                    <a:pt x="15606" y="8720"/>
                    <a:pt x="15199" y="8720"/>
                  </a:cubicBezTo>
                  <a:cubicBezTo>
                    <a:pt x="14917" y="8720"/>
                    <a:pt x="14643" y="8706"/>
                    <a:pt x="14366" y="8677"/>
                  </a:cubicBezTo>
                  <a:cubicBezTo>
                    <a:pt x="14089" y="8649"/>
                    <a:pt x="13829" y="8584"/>
                    <a:pt x="13574" y="8474"/>
                  </a:cubicBezTo>
                  <a:cubicBezTo>
                    <a:pt x="13574" y="8104"/>
                    <a:pt x="13645" y="7754"/>
                    <a:pt x="13792" y="7421"/>
                  </a:cubicBezTo>
                  <a:cubicBezTo>
                    <a:pt x="13936" y="7087"/>
                    <a:pt x="14094" y="6751"/>
                    <a:pt x="14275" y="6413"/>
                  </a:cubicBezTo>
                  <a:cubicBezTo>
                    <a:pt x="14448" y="6074"/>
                    <a:pt x="14606" y="5721"/>
                    <a:pt x="14747" y="5351"/>
                  </a:cubicBezTo>
                  <a:cubicBezTo>
                    <a:pt x="14886" y="4984"/>
                    <a:pt x="14953" y="4574"/>
                    <a:pt x="14953" y="4122"/>
                  </a:cubicBezTo>
                  <a:cubicBezTo>
                    <a:pt x="14953" y="3823"/>
                    <a:pt x="14905" y="3529"/>
                    <a:pt x="14812" y="3236"/>
                  </a:cubicBezTo>
                  <a:cubicBezTo>
                    <a:pt x="14716" y="2945"/>
                    <a:pt x="14583" y="2677"/>
                    <a:pt x="14411" y="2439"/>
                  </a:cubicBezTo>
                  <a:cubicBezTo>
                    <a:pt x="14238" y="2199"/>
                    <a:pt x="14027" y="2002"/>
                    <a:pt x="13775" y="1843"/>
                  </a:cubicBezTo>
                  <a:cubicBezTo>
                    <a:pt x="13521" y="1688"/>
                    <a:pt x="13230" y="1606"/>
                    <a:pt x="12893" y="1606"/>
                  </a:cubicBezTo>
                  <a:lnTo>
                    <a:pt x="12744" y="1606"/>
                  </a:lnTo>
                  <a:cubicBezTo>
                    <a:pt x="12681" y="1606"/>
                    <a:pt x="12631" y="1617"/>
                    <a:pt x="12594" y="1634"/>
                  </a:cubicBezTo>
                  <a:cubicBezTo>
                    <a:pt x="12523" y="1671"/>
                    <a:pt x="12481" y="1705"/>
                    <a:pt x="12472" y="1742"/>
                  </a:cubicBezTo>
                  <a:cubicBezTo>
                    <a:pt x="12464" y="1778"/>
                    <a:pt x="12450" y="1838"/>
                    <a:pt x="12430" y="1920"/>
                  </a:cubicBezTo>
                  <a:cubicBezTo>
                    <a:pt x="12323" y="2450"/>
                    <a:pt x="12221" y="3007"/>
                    <a:pt x="12128" y="3586"/>
                  </a:cubicBezTo>
                  <a:cubicBezTo>
                    <a:pt x="12034" y="4167"/>
                    <a:pt x="11854" y="4698"/>
                    <a:pt x="11596" y="5176"/>
                  </a:cubicBezTo>
                  <a:cubicBezTo>
                    <a:pt x="11334" y="5636"/>
                    <a:pt x="11000" y="6034"/>
                    <a:pt x="10596" y="6367"/>
                  </a:cubicBezTo>
                  <a:cubicBezTo>
                    <a:pt x="10189" y="6701"/>
                    <a:pt x="9802" y="7051"/>
                    <a:pt x="9432" y="7421"/>
                  </a:cubicBezTo>
                  <a:cubicBezTo>
                    <a:pt x="9169" y="7700"/>
                    <a:pt x="8949" y="7954"/>
                    <a:pt x="8771" y="8183"/>
                  </a:cubicBezTo>
                  <a:cubicBezTo>
                    <a:pt x="8593" y="8412"/>
                    <a:pt x="8403" y="8632"/>
                    <a:pt x="8211" y="8833"/>
                  </a:cubicBezTo>
                  <a:cubicBezTo>
                    <a:pt x="8016" y="9036"/>
                    <a:pt x="7799" y="9222"/>
                    <a:pt x="7556" y="9400"/>
                  </a:cubicBezTo>
                  <a:cubicBezTo>
                    <a:pt x="7313" y="9575"/>
                    <a:pt x="7019" y="9736"/>
                    <a:pt x="6674" y="9880"/>
                  </a:cubicBezTo>
                  <a:lnTo>
                    <a:pt x="6646" y="9880"/>
                  </a:lnTo>
                  <a:lnTo>
                    <a:pt x="6646" y="18572"/>
                  </a:lnTo>
                  <a:cubicBezTo>
                    <a:pt x="7279" y="18572"/>
                    <a:pt x="7889" y="18649"/>
                    <a:pt x="8485" y="18795"/>
                  </a:cubicBezTo>
                  <a:cubicBezTo>
                    <a:pt x="9081" y="18945"/>
                    <a:pt x="9683" y="19103"/>
                    <a:pt x="10294" y="19270"/>
                  </a:cubicBezTo>
                  <a:cubicBezTo>
                    <a:pt x="10901" y="19439"/>
                    <a:pt x="11537" y="19592"/>
                    <a:pt x="12207" y="19741"/>
                  </a:cubicBezTo>
                  <a:cubicBezTo>
                    <a:pt x="12874" y="19891"/>
                    <a:pt x="13594" y="19965"/>
                    <a:pt x="14374" y="19965"/>
                  </a:cubicBezTo>
                  <a:cubicBezTo>
                    <a:pt x="14781" y="19965"/>
                    <a:pt x="15222" y="19939"/>
                    <a:pt x="15699" y="19885"/>
                  </a:cubicBezTo>
                  <a:cubicBezTo>
                    <a:pt x="16177" y="19829"/>
                    <a:pt x="16626" y="19710"/>
                    <a:pt x="17047" y="19527"/>
                  </a:cubicBezTo>
                  <a:cubicBezTo>
                    <a:pt x="17468" y="19343"/>
                    <a:pt x="17816" y="19086"/>
                    <a:pt x="18101" y="18762"/>
                  </a:cubicBezTo>
                  <a:cubicBezTo>
                    <a:pt x="18387" y="18440"/>
                    <a:pt x="18525" y="18010"/>
                    <a:pt x="18525" y="17477"/>
                  </a:cubicBezTo>
                  <a:cubicBezTo>
                    <a:pt x="18525" y="17386"/>
                    <a:pt x="18522" y="17304"/>
                    <a:pt x="18517" y="17225"/>
                  </a:cubicBezTo>
                  <a:cubicBezTo>
                    <a:pt x="18503" y="17152"/>
                    <a:pt x="18488" y="17070"/>
                    <a:pt x="18471" y="16980"/>
                  </a:cubicBezTo>
                  <a:cubicBezTo>
                    <a:pt x="18785" y="16836"/>
                    <a:pt x="19028" y="16596"/>
                    <a:pt x="19195" y="16262"/>
                  </a:cubicBezTo>
                  <a:cubicBezTo>
                    <a:pt x="19364" y="15929"/>
                    <a:pt x="19446" y="15593"/>
                    <a:pt x="19446" y="15263"/>
                  </a:cubicBezTo>
                  <a:cubicBezTo>
                    <a:pt x="19449" y="14912"/>
                    <a:pt x="19350" y="14605"/>
                    <a:pt x="19164" y="1434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6" name="Group 16"/>
          <p:cNvGrpSpPr/>
          <p:nvPr userDrawn="1"/>
        </p:nvGrpSpPr>
        <p:grpSpPr bwMode="auto">
          <a:xfrm>
            <a:off x="10236079" y="6070822"/>
            <a:ext cx="380048" cy="380121"/>
            <a:chOff x="0" y="0"/>
            <a:chExt cx="965499" cy="965499"/>
          </a:xfrm>
        </p:grpSpPr>
        <p:sp>
          <p:nvSpPr>
            <p:cNvPr id="27" name="AutoShape 17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AutoShape 18"/>
            <p:cNvSpPr/>
            <p:nvPr/>
          </p:nvSpPr>
          <p:spPr bwMode="auto">
            <a:xfrm>
              <a:off x="293617" y="264823"/>
              <a:ext cx="393980" cy="393980"/>
            </a:xfrm>
            <a:custGeom>
              <a:avLst/>
              <a:gdLst>
                <a:gd name="T0" fmla="*/ 196990 w 21600"/>
                <a:gd name="T1" fmla="*/ 196990 h 21600"/>
                <a:gd name="T2" fmla="*/ 196990 w 21600"/>
                <a:gd name="T3" fmla="*/ 196990 h 21600"/>
                <a:gd name="T4" fmla="*/ 196990 w 21600"/>
                <a:gd name="T5" fmla="*/ 196990 h 21600"/>
                <a:gd name="T6" fmla="*/ 196990 w 21600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6949"/>
                  </a:moveTo>
                  <a:cubicBezTo>
                    <a:pt x="21600" y="7542"/>
                    <a:pt x="21407" y="8153"/>
                    <a:pt x="21017" y="8781"/>
                  </a:cubicBezTo>
                  <a:cubicBezTo>
                    <a:pt x="20628" y="9416"/>
                    <a:pt x="20109" y="10015"/>
                    <a:pt x="19458" y="10585"/>
                  </a:cubicBezTo>
                  <a:cubicBezTo>
                    <a:pt x="18806" y="11152"/>
                    <a:pt x="18040" y="11651"/>
                    <a:pt x="17159" y="12083"/>
                  </a:cubicBezTo>
                  <a:cubicBezTo>
                    <a:pt x="16275" y="12512"/>
                    <a:pt x="15327" y="12820"/>
                    <a:pt x="14315" y="12996"/>
                  </a:cubicBezTo>
                  <a:cubicBezTo>
                    <a:pt x="13880" y="13090"/>
                    <a:pt x="13492" y="13284"/>
                    <a:pt x="13151" y="13578"/>
                  </a:cubicBezTo>
                  <a:cubicBezTo>
                    <a:pt x="12809" y="13872"/>
                    <a:pt x="12641" y="14204"/>
                    <a:pt x="12641" y="14571"/>
                  </a:cubicBezTo>
                  <a:cubicBezTo>
                    <a:pt x="12641" y="14900"/>
                    <a:pt x="12713" y="15140"/>
                    <a:pt x="12865" y="15293"/>
                  </a:cubicBezTo>
                  <a:cubicBezTo>
                    <a:pt x="13015" y="15449"/>
                    <a:pt x="13177" y="15596"/>
                    <a:pt x="13364" y="15728"/>
                  </a:cubicBezTo>
                  <a:cubicBezTo>
                    <a:pt x="13546" y="15866"/>
                    <a:pt x="13717" y="16010"/>
                    <a:pt x="13874" y="16169"/>
                  </a:cubicBezTo>
                  <a:cubicBezTo>
                    <a:pt x="14032" y="16330"/>
                    <a:pt x="14125" y="16574"/>
                    <a:pt x="14160" y="16903"/>
                  </a:cubicBezTo>
                  <a:cubicBezTo>
                    <a:pt x="14195" y="17117"/>
                    <a:pt x="14187" y="17340"/>
                    <a:pt x="14133" y="17564"/>
                  </a:cubicBezTo>
                  <a:cubicBezTo>
                    <a:pt x="14099" y="17696"/>
                    <a:pt x="14200" y="17805"/>
                    <a:pt x="14432" y="17893"/>
                  </a:cubicBezTo>
                  <a:cubicBezTo>
                    <a:pt x="14667" y="17981"/>
                    <a:pt x="14956" y="18069"/>
                    <a:pt x="15295" y="18154"/>
                  </a:cubicBezTo>
                  <a:cubicBezTo>
                    <a:pt x="15637" y="18236"/>
                    <a:pt x="15987" y="18342"/>
                    <a:pt x="16344" y="18468"/>
                  </a:cubicBezTo>
                  <a:cubicBezTo>
                    <a:pt x="16705" y="18595"/>
                    <a:pt x="16975" y="18756"/>
                    <a:pt x="17164" y="18953"/>
                  </a:cubicBezTo>
                  <a:cubicBezTo>
                    <a:pt x="17266" y="19050"/>
                    <a:pt x="17351" y="19232"/>
                    <a:pt x="17415" y="19511"/>
                  </a:cubicBezTo>
                  <a:cubicBezTo>
                    <a:pt x="17477" y="19790"/>
                    <a:pt x="17519" y="20090"/>
                    <a:pt x="17535" y="20416"/>
                  </a:cubicBezTo>
                  <a:cubicBezTo>
                    <a:pt x="17554" y="20727"/>
                    <a:pt x="17527" y="21000"/>
                    <a:pt x="17463" y="21241"/>
                  </a:cubicBezTo>
                  <a:cubicBezTo>
                    <a:pt x="17394" y="21479"/>
                    <a:pt x="17268" y="21599"/>
                    <a:pt x="17089" y="21599"/>
                  </a:cubicBezTo>
                  <a:lnTo>
                    <a:pt x="4496" y="21599"/>
                  </a:lnTo>
                  <a:cubicBezTo>
                    <a:pt x="4328" y="21599"/>
                    <a:pt x="4205" y="21479"/>
                    <a:pt x="4130" y="21241"/>
                  </a:cubicBezTo>
                  <a:cubicBezTo>
                    <a:pt x="4061" y="21000"/>
                    <a:pt x="4032" y="20727"/>
                    <a:pt x="4048" y="20416"/>
                  </a:cubicBezTo>
                  <a:cubicBezTo>
                    <a:pt x="4066" y="20090"/>
                    <a:pt x="4109" y="19790"/>
                    <a:pt x="4170" y="19511"/>
                  </a:cubicBezTo>
                  <a:cubicBezTo>
                    <a:pt x="4235" y="19232"/>
                    <a:pt x="4317" y="19050"/>
                    <a:pt x="4421" y="18953"/>
                  </a:cubicBezTo>
                  <a:cubicBezTo>
                    <a:pt x="4616" y="18768"/>
                    <a:pt x="4889" y="18606"/>
                    <a:pt x="5239" y="18474"/>
                  </a:cubicBezTo>
                  <a:cubicBezTo>
                    <a:pt x="5588" y="18345"/>
                    <a:pt x="5933" y="18236"/>
                    <a:pt x="6269" y="18154"/>
                  </a:cubicBezTo>
                  <a:cubicBezTo>
                    <a:pt x="6606" y="18069"/>
                    <a:pt x="6897" y="17984"/>
                    <a:pt x="7145" y="17901"/>
                  </a:cubicBezTo>
                  <a:cubicBezTo>
                    <a:pt x="7394" y="17816"/>
                    <a:pt x="7498" y="17705"/>
                    <a:pt x="7463" y="17564"/>
                  </a:cubicBezTo>
                  <a:cubicBezTo>
                    <a:pt x="7428" y="17432"/>
                    <a:pt x="7412" y="17311"/>
                    <a:pt x="7412" y="17205"/>
                  </a:cubicBezTo>
                  <a:lnTo>
                    <a:pt x="7412" y="16903"/>
                  </a:lnTo>
                  <a:cubicBezTo>
                    <a:pt x="7428" y="16574"/>
                    <a:pt x="7519" y="16330"/>
                    <a:pt x="7687" y="16169"/>
                  </a:cubicBezTo>
                  <a:cubicBezTo>
                    <a:pt x="7853" y="16010"/>
                    <a:pt x="8034" y="15866"/>
                    <a:pt x="8224" y="15728"/>
                  </a:cubicBezTo>
                  <a:cubicBezTo>
                    <a:pt x="8416" y="15593"/>
                    <a:pt x="8584" y="15446"/>
                    <a:pt x="8729" y="15293"/>
                  </a:cubicBezTo>
                  <a:cubicBezTo>
                    <a:pt x="8873" y="15140"/>
                    <a:pt x="8945" y="14900"/>
                    <a:pt x="8945" y="14571"/>
                  </a:cubicBezTo>
                  <a:cubicBezTo>
                    <a:pt x="8945" y="14204"/>
                    <a:pt x="8777" y="13875"/>
                    <a:pt x="8440" y="13578"/>
                  </a:cubicBezTo>
                  <a:cubicBezTo>
                    <a:pt x="8104" y="13281"/>
                    <a:pt x="7706" y="13090"/>
                    <a:pt x="7247" y="12996"/>
                  </a:cubicBezTo>
                  <a:cubicBezTo>
                    <a:pt x="6251" y="12811"/>
                    <a:pt x="5311" y="12497"/>
                    <a:pt x="4435" y="12062"/>
                  </a:cubicBezTo>
                  <a:cubicBezTo>
                    <a:pt x="3554" y="11628"/>
                    <a:pt x="2790" y="11128"/>
                    <a:pt x="2133" y="10570"/>
                  </a:cubicBezTo>
                  <a:cubicBezTo>
                    <a:pt x="1479" y="10012"/>
                    <a:pt x="958" y="9416"/>
                    <a:pt x="574" y="8781"/>
                  </a:cubicBezTo>
                  <a:cubicBezTo>
                    <a:pt x="189" y="8153"/>
                    <a:pt x="0" y="7542"/>
                    <a:pt x="0" y="6949"/>
                  </a:cubicBezTo>
                  <a:lnTo>
                    <a:pt x="0" y="4320"/>
                  </a:lnTo>
                  <a:cubicBezTo>
                    <a:pt x="0" y="4009"/>
                    <a:pt x="93" y="3756"/>
                    <a:pt x="285" y="3553"/>
                  </a:cubicBezTo>
                  <a:cubicBezTo>
                    <a:pt x="475" y="3354"/>
                    <a:pt x="712" y="3254"/>
                    <a:pt x="998" y="3254"/>
                  </a:cubicBezTo>
                  <a:lnTo>
                    <a:pt x="5124" y="3254"/>
                  </a:lnTo>
                  <a:cubicBezTo>
                    <a:pt x="5108" y="3139"/>
                    <a:pt x="5097" y="3025"/>
                    <a:pt x="5097" y="2901"/>
                  </a:cubicBezTo>
                  <a:lnTo>
                    <a:pt x="5097" y="2564"/>
                  </a:lnTo>
                  <a:lnTo>
                    <a:pt x="5097" y="2505"/>
                  </a:lnTo>
                  <a:cubicBezTo>
                    <a:pt x="5097" y="2005"/>
                    <a:pt x="5118" y="1594"/>
                    <a:pt x="5156" y="1265"/>
                  </a:cubicBezTo>
                  <a:cubicBezTo>
                    <a:pt x="5193" y="939"/>
                    <a:pt x="5260" y="684"/>
                    <a:pt x="5353" y="499"/>
                  </a:cubicBezTo>
                  <a:cubicBezTo>
                    <a:pt x="5444" y="320"/>
                    <a:pt x="5580" y="187"/>
                    <a:pt x="5754" y="111"/>
                  </a:cubicBezTo>
                  <a:cubicBezTo>
                    <a:pt x="5928" y="38"/>
                    <a:pt x="6165" y="0"/>
                    <a:pt x="6464" y="0"/>
                  </a:cubicBezTo>
                  <a:lnTo>
                    <a:pt x="15132" y="0"/>
                  </a:lnTo>
                  <a:cubicBezTo>
                    <a:pt x="15410" y="0"/>
                    <a:pt x="15645" y="38"/>
                    <a:pt x="15829" y="111"/>
                  </a:cubicBezTo>
                  <a:cubicBezTo>
                    <a:pt x="16011" y="187"/>
                    <a:pt x="16149" y="320"/>
                    <a:pt x="16243" y="499"/>
                  </a:cubicBezTo>
                  <a:cubicBezTo>
                    <a:pt x="16336" y="684"/>
                    <a:pt x="16403" y="939"/>
                    <a:pt x="16435" y="1265"/>
                  </a:cubicBezTo>
                  <a:cubicBezTo>
                    <a:pt x="16470" y="1594"/>
                    <a:pt x="16486" y="2006"/>
                    <a:pt x="16486" y="2505"/>
                  </a:cubicBezTo>
                  <a:lnTo>
                    <a:pt x="16486" y="2863"/>
                  </a:lnTo>
                  <a:cubicBezTo>
                    <a:pt x="16486" y="2989"/>
                    <a:pt x="16478" y="3119"/>
                    <a:pt x="16459" y="3251"/>
                  </a:cubicBezTo>
                  <a:lnTo>
                    <a:pt x="20603" y="3251"/>
                  </a:lnTo>
                  <a:cubicBezTo>
                    <a:pt x="20884" y="3251"/>
                    <a:pt x="21119" y="3351"/>
                    <a:pt x="21314" y="3550"/>
                  </a:cubicBezTo>
                  <a:cubicBezTo>
                    <a:pt x="21503" y="3753"/>
                    <a:pt x="21599" y="4006"/>
                    <a:pt x="21599" y="4317"/>
                  </a:cubicBezTo>
                  <a:lnTo>
                    <a:pt x="21599" y="6949"/>
                  </a:lnTo>
                  <a:lnTo>
                    <a:pt x="21600" y="6949"/>
                  </a:lnTo>
                  <a:close/>
                  <a:moveTo>
                    <a:pt x="6283" y="10550"/>
                  </a:moveTo>
                  <a:cubicBezTo>
                    <a:pt x="6072" y="9798"/>
                    <a:pt x="5882" y="8978"/>
                    <a:pt x="5714" y="8082"/>
                  </a:cubicBezTo>
                  <a:cubicBezTo>
                    <a:pt x="5548" y="7189"/>
                    <a:pt x="5407" y="6299"/>
                    <a:pt x="5287" y="5415"/>
                  </a:cubicBezTo>
                  <a:lnTo>
                    <a:pt x="1962" y="5415"/>
                  </a:lnTo>
                  <a:lnTo>
                    <a:pt x="1962" y="6949"/>
                  </a:lnTo>
                  <a:cubicBezTo>
                    <a:pt x="1962" y="7137"/>
                    <a:pt x="2064" y="7389"/>
                    <a:pt x="2264" y="7709"/>
                  </a:cubicBezTo>
                  <a:cubicBezTo>
                    <a:pt x="2462" y="8029"/>
                    <a:pt x="2753" y="8358"/>
                    <a:pt x="3126" y="8699"/>
                  </a:cubicBezTo>
                  <a:cubicBezTo>
                    <a:pt x="3500" y="9040"/>
                    <a:pt x="3954" y="9381"/>
                    <a:pt x="4488" y="9707"/>
                  </a:cubicBezTo>
                  <a:cubicBezTo>
                    <a:pt x="5022" y="10033"/>
                    <a:pt x="5618" y="10315"/>
                    <a:pt x="6283" y="10550"/>
                  </a:cubicBezTo>
                  <a:moveTo>
                    <a:pt x="19629" y="5415"/>
                  </a:moveTo>
                  <a:lnTo>
                    <a:pt x="16280" y="5415"/>
                  </a:lnTo>
                  <a:cubicBezTo>
                    <a:pt x="16179" y="6299"/>
                    <a:pt x="16043" y="7189"/>
                    <a:pt x="15877" y="8082"/>
                  </a:cubicBezTo>
                  <a:cubicBezTo>
                    <a:pt x="15712" y="8978"/>
                    <a:pt x="15522" y="9798"/>
                    <a:pt x="15308" y="10550"/>
                  </a:cubicBezTo>
                  <a:cubicBezTo>
                    <a:pt x="15973" y="10315"/>
                    <a:pt x="16574" y="10033"/>
                    <a:pt x="17105" y="9707"/>
                  </a:cubicBezTo>
                  <a:cubicBezTo>
                    <a:pt x="17637" y="9381"/>
                    <a:pt x="18091" y="9040"/>
                    <a:pt x="18467" y="8699"/>
                  </a:cubicBezTo>
                  <a:cubicBezTo>
                    <a:pt x="18844" y="8358"/>
                    <a:pt x="19130" y="8029"/>
                    <a:pt x="19330" y="7709"/>
                  </a:cubicBezTo>
                  <a:cubicBezTo>
                    <a:pt x="19530" y="7389"/>
                    <a:pt x="19629" y="7137"/>
                    <a:pt x="19629" y="6949"/>
                  </a:cubicBezTo>
                  <a:lnTo>
                    <a:pt x="19629" y="54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1" name="Group 19"/>
          <p:cNvGrpSpPr/>
          <p:nvPr userDrawn="1"/>
        </p:nvGrpSpPr>
        <p:grpSpPr bwMode="auto">
          <a:xfrm>
            <a:off x="10773613" y="6070822"/>
            <a:ext cx="380048" cy="380121"/>
            <a:chOff x="0" y="0"/>
            <a:chExt cx="965499" cy="965499"/>
          </a:xfrm>
        </p:grpSpPr>
        <p:sp>
          <p:nvSpPr>
            <p:cNvPr id="32" name="AutoShape 20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AutoShape 21"/>
            <p:cNvSpPr/>
            <p:nvPr/>
          </p:nvSpPr>
          <p:spPr bwMode="auto">
            <a:xfrm>
              <a:off x="292545" y="314566"/>
              <a:ext cx="380408" cy="307104"/>
            </a:xfrm>
            <a:custGeom>
              <a:avLst/>
              <a:gdLst>
                <a:gd name="T0" fmla="*/ 190204 w 21600"/>
                <a:gd name="T1" fmla="*/ 153552 h 21600"/>
                <a:gd name="T2" fmla="*/ 190204 w 21600"/>
                <a:gd name="T3" fmla="*/ 153552 h 21600"/>
                <a:gd name="T4" fmla="*/ 190204 w 21600"/>
                <a:gd name="T5" fmla="*/ 153552 h 21600"/>
                <a:gd name="T6" fmla="*/ 190204 w 21600"/>
                <a:gd name="T7" fmla="*/ 153552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3222"/>
                  </a:moveTo>
                  <a:cubicBezTo>
                    <a:pt x="20632" y="3222"/>
                    <a:pt x="20946" y="3384"/>
                    <a:pt x="21208" y="3713"/>
                  </a:cubicBezTo>
                  <a:cubicBezTo>
                    <a:pt x="21470" y="4042"/>
                    <a:pt x="21600" y="4427"/>
                    <a:pt x="21600" y="4865"/>
                  </a:cubicBezTo>
                  <a:lnTo>
                    <a:pt x="21600" y="19984"/>
                  </a:lnTo>
                  <a:cubicBezTo>
                    <a:pt x="21600" y="20421"/>
                    <a:pt x="21470" y="20803"/>
                    <a:pt x="21208" y="21121"/>
                  </a:cubicBezTo>
                  <a:cubicBezTo>
                    <a:pt x="20946" y="21441"/>
                    <a:pt x="20632" y="21600"/>
                    <a:pt x="20263" y="21600"/>
                  </a:cubicBezTo>
                  <a:lnTo>
                    <a:pt x="1348" y="21600"/>
                  </a:lnTo>
                  <a:cubicBezTo>
                    <a:pt x="981" y="21600"/>
                    <a:pt x="663" y="21441"/>
                    <a:pt x="399" y="21121"/>
                  </a:cubicBezTo>
                  <a:cubicBezTo>
                    <a:pt x="134" y="20803"/>
                    <a:pt x="0" y="20421"/>
                    <a:pt x="0" y="19984"/>
                  </a:cubicBezTo>
                  <a:lnTo>
                    <a:pt x="0" y="4865"/>
                  </a:lnTo>
                  <a:cubicBezTo>
                    <a:pt x="0" y="4427"/>
                    <a:pt x="134" y="4042"/>
                    <a:pt x="399" y="3713"/>
                  </a:cubicBezTo>
                  <a:cubicBezTo>
                    <a:pt x="663" y="3384"/>
                    <a:pt x="981" y="3222"/>
                    <a:pt x="1348" y="3222"/>
                  </a:cubicBezTo>
                  <a:lnTo>
                    <a:pt x="5638" y="3222"/>
                  </a:lnTo>
                  <a:lnTo>
                    <a:pt x="6318" y="1460"/>
                  </a:lnTo>
                  <a:cubicBezTo>
                    <a:pt x="6458" y="1057"/>
                    <a:pt x="6717" y="713"/>
                    <a:pt x="7089" y="425"/>
                  </a:cubicBezTo>
                  <a:cubicBezTo>
                    <a:pt x="7466" y="143"/>
                    <a:pt x="7838" y="0"/>
                    <a:pt x="8203" y="0"/>
                  </a:cubicBezTo>
                  <a:lnTo>
                    <a:pt x="13396" y="0"/>
                  </a:lnTo>
                  <a:cubicBezTo>
                    <a:pt x="13763" y="0"/>
                    <a:pt x="14135" y="143"/>
                    <a:pt x="14510" y="425"/>
                  </a:cubicBezTo>
                  <a:cubicBezTo>
                    <a:pt x="14884" y="713"/>
                    <a:pt x="15146" y="1057"/>
                    <a:pt x="15293" y="1460"/>
                  </a:cubicBezTo>
                  <a:lnTo>
                    <a:pt x="15961" y="3222"/>
                  </a:lnTo>
                  <a:lnTo>
                    <a:pt x="20263" y="3222"/>
                  </a:lnTo>
                  <a:close/>
                  <a:moveTo>
                    <a:pt x="10806" y="19185"/>
                  </a:moveTo>
                  <a:cubicBezTo>
                    <a:pt x="11572" y="19185"/>
                    <a:pt x="12299" y="19002"/>
                    <a:pt x="12987" y="18650"/>
                  </a:cubicBezTo>
                  <a:cubicBezTo>
                    <a:pt x="13672" y="18294"/>
                    <a:pt x="14270" y="17810"/>
                    <a:pt x="14774" y="17196"/>
                  </a:cubicBezTo>
                  <a:cubicBezTo>
                    <a:pt x="15278" y="16582"/>
                    <a:pt x="15677" y="15862"/>
                    <a:pt x="15974" y="15048"/>
                  </a:cubicBezTo>
                  <a:cubicBezTo>
                    <a:pt x="16270" y="14234"/>
                    <a:pt x="16419" y="13356"/>
                    <a:pt x="16419" y="12421"/>
                  </a:cubicBezTo>
                  <a:cubicBezTo>
                    <a:pt x="16419" y="11499"/>
                    <a:pt x="16270" y="10623"/>
                    <a:pt x="15974" y="9795"/>
                  </a:cubicBezTo>
                  <a:cubicBezTo>
                    <a:pt x="15677" y="8966"/>
                    <a:pt x="15278" y="8249"/>
                    <a:pt x="14774" y="7644"/>
                  </a:cubicBezTo>
                  <a:cubicBezTo>
                    <a:pt x="14270" y="7036"/>
                    <a:pt x="13672" y="6557"/>
                    <a:pt x="12987" y="6199"/>
                  </a:cubicBezTo>
                  <a:cubicBezTo>
                    <a:pt x="12299" y="5843"/>
                    <a:pt x="11572" y="5667"/>
                    <a:pt x="10806" y="5667"/>
                  </a:cubicBezTo>
                  <a:cubicBezTo>
                    <a:pt x="10039" y="5667"/>
                    <a:pt x="9312" y="5846"/>
                    <a:pt x="8619" y="6199"/>
                  </a:cubicBezTo>
                  <a:cubicBezTo>
                    <a:pt x="7929" y="6557"/>
                    <a:pt x="7332" y="7036"/>
                    <a:pt x="6827" y="7644"/>
                  </a:cubicBezTo>
                  <a:cubicBezTo>
                    <a:pt x="6323" y="8249"/>
                    <a:pt x="5922" y="8963"/>
                    <a:pt x="5625" y="9789"/>
                  </a:cubicBezTo>
                  <a:cubicBezTo>
                    <a:pt x="5329" y="10612"/>
                    <a:pt x="5180" y="11490"/>
                    <a:pt x="5180" y="12421"/>
                  </a:cubicBezTo>
                  <a:cubicBezTo>
                    <a:pt x="5180" y="13356"/>
                    <a:pt x="5329" y="14234"/>
                    <a:pt x="5625" y="15048"/>
                  </a:cubicBezTo>
                  <a:cubicBezTo>
                    <a:pt x="5922" y="15862"/>
                    <a:pt x="6323" y="16582"/>
                    <a:pt x="6827" y="17196"/>
                  </a:cubicBezTo>
                  <a:cubicBezTo>
                    <a:pt x="7332" y="17810"/>
                    <a:pt x="7929" y="18294"/>
                    <a:pt x="8619" y="18650"/>
                  </a:cubicBezTo>
                  <a:cubicBezTo>
                    <a:pt x="9312" y="19005"/>
                    <a:pt x="10039" y="19185"/>
                    <a:pt x="10806" y="19185"/>
                  </a:cubicBezTo>
                  <a:moveTo>
                    <a:pt x="10806" y="7832"/>
                  </a:moveTo>
                  <a:cubicBezTo>
                    <a:pt x="11337" y="7832"/>
                    <a:pt x="11834" y="7953"/>
                    <a:pt x="12294" y="8191"/>
                  </a:cubicBezTo>
                  <a:cubicBezTo>
                    <a:pt x="12754" y="8432"/>
                    <a:pt x="13158" y="8755"/>
                    <a:pt x="13501" y="9169"/>
                  </a:cubicBezTo>
                  <a:cubicBezTo>
                    <a:pt x="13846" y="9583"/>
                    <a:pt x="14118" y="10068"/>
                    <a:pt x="14316" y="10623"/>
                  </a:cubicBezTo>
                  <a:cubicBezTo>
                    <a:pt x="14515" y="11184"/>
                    <a:pt x="14615" y="11781"/>
                    <a:pt x="14615" y="12421"/>
                  </a:cubicBezTo>
                  <a:cubicBezTo>
                    <a:pt x="14615" y="13056"/>
                    <a:pt x="14515" y="13649"/>
                    <a:pt x="14316" y="14205"/>
                  </a:cubicBezTo>
                  <a:cubicBezTo>
                    <a:pt x="14118" y="14757"/>
                    <a:pt x="13846" y="15245"/>
                    <a:pt x="13501" y="15668"/>
                  </a:cubicBezTo>
                  <a:cubicBezTo>
                    <a:pt x="13158" y="16091"/>
                    <a:pt x="12752" y="16420"/>
                    <a:pt x="12289" y="16661"/>
                  </a:cubicBezTo>
                  <a:cubicBezTo>
                    <a:pt x="11824" y="16899"/>
                    <a:pt x="11330" y="17016"/>
                    <a:pt x="10806" y="17016"/>
                  </a:cubicBezTo>
                  <a:cubicBezTo>
                    <a:pt x="10274" y="17016"/>
                    <a:pt x="9777" y="16899"/>
                    <a:pt x="9312" y="16661"/>
                  </a:cubicBezTo>
                  <a:cubicBezTo>
                    <a:pt x="8847" y="16420"/>
                    <a:pt x="8443" y="16091"/>
                    <a:pt x="8100" y="15668"/>
                  </a:cubicBezTo>
                  <a:cubicBezTo>
                    <a:pt x="7755" y="15245"/>
                    <a:pt x="7483" y="14754"/>
                    <a:pt x="7285" y="14199"/>
                  </a:cubicBezTo>
                  <a:cubicBezTo>
                    <a:pt x="7084" y="13641"/>
                    <a:pt x="6984" y="13044"/>
                    <a:pt x="6984" y="12421"/>
                  </a:cubicBezTo>
                  <a:cubicBezTo>
                    <a:pt x="6984" y="11781"/>
                    <a:pt x="7084" y="11184"/>
                    <a:pt x="7285" y="10623"/>
                  </a:cubicBezTo>
                  <a:cubicBezTo>
                    <a:pt x="7483" y="10068"/>
                    <a:pt x="7755" y="9583"/>
                    <a:pt x="8100" y="9169"/>
                  </a:cubicBezTo>
                  <a:cubicBezTo>
                    <a:pt x="8443" y="8755"/>
                    <a:pt x="8847" y="8431"/>
                    <a:pt x="9312" y="8191"/>
                  </a:cubicBezTo>
                  <a:cubicBezTo>
                    <a:pt x="9777" y="7953"/>
                    <a:pt x="10274" y="7832"/>
                    <a:pt x="10806" y="783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4" name="Group 22"/>
          <p:cNvGrpSpPr/>
          <p:nvPr userDrawn="1"/>
        </p:nvGrpSpPr>
        <p:grpSpPr bwMode="auto">
          <a:xfrm>
            <a:off x="11311148" y="6070822"/>
            <a:ext cx="380048" cy="380121"/>
            <a:chOff x="0" y="0"/>
            <a:chExt cx="965499" cy="965499"/>
          </a:xfrm>
        </p:grpSpPr>
        <p:sp>
          <p:nvSpPr>
            <p:cNvPr id="35" name="AutoShape 23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AutoShape 24"/>
            <p:cNvSpPr/>
            <p:nvPr/>
          </p:nvSpPr>
          <p:spPr bwMode="auto">
            <a:xfrm>
              <a:off x="293617" y="331589"/>
              <a:ext cx="380408" cy="296161"/>
            </a:xfrm>
            <a:custGeom>
              <a:avLst/>
              <a:gdLst>
                <a:gd name="T0" fmla="*/ 190204 w 21600"/>
                <a:gd name="T1" fmla="*/ 148081 h 21600"/>
                <a:gd name="T2" fmla="*/ 190204 w 21600"/>
                <a:gd name="T3" fmla="*/ 148081 h 21600"/>
                <a:gd name="T4" fmla="*/ 190204 w 21600"/>
                <a:gd name="T5" fmla="*/ 148081 h 21600"/>
                <a:gd name="T6" fmla="*/ 190204 w 21600"/>
                <a:gd name="T7" fmla="*/ 148081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0782" y="15633"/>
                  </a:moveTo>
                  <a:cubicBezTo>
                    <a:pt x="11211" y="15633"/>
                    <a:pt x="11622" y="15565"/>
                    <a:pt x="12011" y="15416"/>
                  </a:cubicBezTo>
                  <a:cubicBezTo>
                    <a:pt x="12403" y="15272"/>
                    <a:pt x="12778" y="15084"/>
                    <a:pt x="13138" y="14855"/>
                  </a:cubicBezTo>
                  <a:cubicBezTo>
                    <a:pt x="13498" y="14626"/>
                    <a:pt x="13845" y="14361"/>
                    <a:pt x="14181" y="14073"/>
                  </a:cubicBezTo>
                  <a:cubicBezTo>
                    <a:pt x="14516" y="13774"/>
                    <a:pt x="14844" y="13471"/>
                    <a:pt x="15168" y="13160"/>
                  </a:cubicBezTo>
                  <a:cubicBezTo>
                    <a:pt x="16142" y="12226"/>
                    <a:pt x="17126" y="11306"/>
                    <a:pt x="18120" y="10410"/>
                  </a:cubicBezTo>
                  <a:cubicBezTo>
                    <a:pt x="19112" y="9515"/>
                    <a:pt x="20113" y="8616"/>
                    <a:pt x="21120" y="7714"/>
                  </a:cubicBezTo>
                  <a:cubicBezTo>
                    <a:pt x="21198" y="7640"/>
                    <a:pt x="21279" y="7570"/>
                    <a:pt x="21360" y="7496"/>
                  </a:cubicBezTo>
                  <a:cubicBezTo>
                    <a:pt x="21443" y="7429"/>
                    <a:pt x="21524" y="7347"/>
                    <a:pt x="21600" y="7250"/>
                  </a:cubicBezTo>
                  <a:lnTo>
                    <a:pt x="21600" y="19981"/>
                  </a:lnTo>
                  <a:cubicBezTo>
                    <a:pt x="21600" y="20416"/>
                    <a:pt x="21470" y="20800"/>
                    <a:pt x="21208" y="21118"/>
                  </a:cubicBezTo>
                  <a:cubicBezTo>
                    <a:pt x="20946" y="21438"/>
                    <a:pt x="20632" y="21600"/>
                    <a:pt x="20265" y="21600"/>
                  </a:cubicBezTo>
                  <a:lnTo>
                    <a:pt x="1346" y="21600"/>
                  </a:lnTo>
                  <a:cubicBezTo>
                    <a:pt x="979" y="21600"/>
                    <a:pt x="663" y="21438"/>
                    <a:pt x="396" y="21118"/>
                  </a:cubicBezTo>
                  <a:cubicBezTo>
                    <a:pt x="132" y="20803"/>
                    <a:pt x="0" y="20419"/>
                    <a:pt x="0" y="19981"/>
                  </a:cubicBezTo>
                  <a:lnTo>
                    <a:pt x="0" y="7250"/>
                  </a:lnTo>
                  <a:cubicBezTo>
                    <a:pt x="75" y="7347"/>
                    <a:pt x="156" y="7429"/>
                    <a:pt x="239" y="7496"/>
                  </a:cubicBezTo>
                  <a:cubicBezTo>
                    <a:pt x="320" y="7570"/>
                    <a:pt x="401" y="7640"/>
                    <a:pt x="479" y="7714"/>
                  </a:cubicBezTo>
                  <a:cubicBezTo>
                    <a:pt x="1488" y="8616"/>
                    <a:pt x="2487" y="9514"/>
                    <a:pt x="3481" y="10410"/>
                  </a:cubicBezTo>
                  <a:cubicBezTo>
                    <a:pt x="4473" y="11306"/>
                    <a:pt x="5457" y="12223"/>
                    <a:pt x="6434" y="13160"/>
                  </a:cubicBezTo>
                  <a:cubicBezTo>
                    <a:pt x="6738" y="13454"/>
                    <a:pt x="7058" y="13744"/>
                    <a:pt x="7394" y="14038"/>
                  </a:cubicBezTo>
                  <a:cubicBezTo>
                    <a:pt x="7729" y="14338"/>
                    <a:pt x="8079" y="14599"/>
                    <a:pt x="8437" y="14840"/>
                  </a:cubicBezTo>
                  <a:cubicBezTo>
                    <a:pt x="8797" y="15075"/>
                    <a:pt x="9174" y="15269"/>
                    <a:pt x="9568" y="15413"/>
                  </a:cubicBezTo>
                  <a:cubicBezTo>
                    <a:pt x="9965" y="15563"/>
                    <a:pt x="10371" y="15633"/>
                    <a:pt x="10782" y="15633"/>
                  </a:cubicBezTo>
                  <a:moveTo>
                    <a:pt x="10782" y="12413"/>
                  </a:moveTo>
                  <a:cubicBezTo>
                    <a:pt x="10540" y="12413"/>
                    <a:pt x="10278" y="12334"/>
                    <a:pt x="9996" y="12167"/>
                  </a:cubicBezTo>
                  <a:cubicBezTo>
                    <a:pt x="9715" y="12005"/>
                    <a:pt x="9441" y="11806"/>
                    <a:pt x="9171" y="11576"/>
                  </a:cubicBezTo>
                  <a:cubicBezTo>
                    <a:pt x="8900" y="11347"/>
                    <a:pt x="8638" y="11106"/>
                    <a:pt x="8380" y="10854"/>
                  </a:cubicBezTo>
                  <a:cubicBezTo>
                    <a:pt x="8121" y="10601"/>
                    <a:pt x="7896" y="10390"/>
                    <a:pt x="7700" y="10222"/>
                  </a:cubicBezTo>
                  <a:cubicBezTo>
                    <a:pt x="6752" y="9356"/>
                    <a:pt x="5819" y="8507"/>
                    <a:pt x="4891" y="7664"/>
                  </a:cubicBezTo>
                  <a:cubicBezTo>
                    <a:pt x="3966" y="6815"/>
                    <a:pt x="3023" y="5960"/>
                    <a:pt x="2061" y="5087"/>
                  </a:cubicBezTo>
                  <a:cubicBezTo>
                    <a:pt x="1882" y="4920"/>
                    <a:pt x="1672" y="4691"/>
                    <a:pt x="1434" y="4406"/>
                  </a:cubicBezTo>
                  <a:cubicBezTo>
                    <a:pt x="1194" y="4118"/>
                    <a:pt x="974" y="3804"/>
                    <a:pt x="766" y="3460"/>
                  </a:cubicBezTo>
                  <a:cubicBezTo>
                    <a:pt x="560" y="3110"/>
                    <a:pt x="384" y="2761"/>
                    <a:pt x="239" y="2405"/>
                  </a:cubicBezTo>
                  <a:cubicBezTo>
                    <a:pt x="95" y="2050"/>
                    <a:pt x="22" y="1724"/>
                    <a:pt x="22" y="1436"/>
                  </a:cubicBezTo>
                  <a:cubicBezTo>
                    <a:pt x="22" y="1051"/>
                    <a:pt x="164" y="713"/>
                    <a:pt x="443" y="425"/>
                  </a:cubicBezTo>
                  <a:cubicBezTo>
                    <a:pt x="727" y="143"/>
                    <a:pt x="1025" y="0"/>
                    <a:pt x="1346" y="0"/>
                  </a:cubicBezTo>
                  <a:lnTo>
                    <a:pt x="20265" y="0"/>
                  </a:lnTo>
                  <a:cubicBezTo>
                    <a:pt x="20583" y="0"/>
                    <a:pt x="20882" y="143"/>
                    <a:pt x="21161" y="425"/>
                  </a:cubicBezTo>
                  <a:cubicBezTo>
                    <a:pt x="21438" y="713"/>
                    <a:pt x="21577" y="1051"/>
                    <a:pt x="21577" y="1436"/>
                  </a:cubicBezTo>
                  <a:cubicBezTo>
                    <a:pt x="21577" y="1724"/>
                    <a:pt x="21504" y="2050"/>
                    <a:pt x="21360" y="2405"/>
                  </a:cubicBezTo>
                  <a:cubicBezTo>
                    <a:pt x="21215" y="2761"/>
                    <a:pt x="21039" y="3110"/>
                    <a:pt x="20833" y="3460"/>
                  </a:cubicBezTo>
                  <a:cubicBezTo>
                    <a:pt x="20627" y="3804"/>
                    <a:pt x="20402" y="4121"/>
                    <a:pt x="20165" y="4406"/>
                  </a:cubicBezTo>
                  <a:cubicBezTo>
                    <a:pt x="19927" y="4691"/>
                    <a:pt x="19717" y="4923"/>
                    <a:pt x="19538" y="5087"/>
                  </a:cubicBezTo>
                  <a:cubicBezTo>
                    <a:pt x="18578" y="5948"/>
                    <a:pt x="17633" y="6803"/>
                    <a:pt x="16708" y="7652"/>
                  </a:cubicBezTo>
                  <a:cubicBezTo>
                    <a:pt x="15782" y="8501"/>
                    <a:pt x="14844" y="9356"/>
                    <a:pt x="13899" y="10222"/>
                  </a:cubicBezTo>
                  <a:cubicBezTo>
                    <a:pt x="13703" y="10390"/>
                    <a:pt x="13481" y="10601"/>
                    <a:pt x="13226" y="10854"/>
                  </a:cubicBezTo>
                  <a:cubicBezTo>
                    <a:pt x="12971" y="11106"/>
                    <a:pt x="12709" y="11347"/>
                    <a:pt x="12435" y="11576"/>
                  </a:cubicBezTo>
                  <a:cubicBezTo>
                    <a:pt x="12161" y="11806"/>
                    <a:pt x="11884" y="12005"/>
                    <a:pt x="11603" y="12167"/>
                  </a:cubicBezTo>
                  <a:cubicBezTo>
                    <a:pt x="11321" y="12334"/>
                    <a:pt x="11064" y="12413"/>
                    <a:pt x="10829" y="12413"/>
                  </a:cubicBezTo>
                  <a:lnTo>
                    <a:pt x="10804" y="12413"/>
                  </a:lnTo>
                  <a:lnTo>
                    <a:pt x="10782" y="1241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" name="任意多边形: 形状 28"/>
          <p:cNvSpPr/>
          <p:nvPr userDrawn="1"/>
        </p:nvSpPr>
        <p:spPr>
          <a:xfrm>
            <a:off x="-7619" y="6662481"/>
            <a:ext cx="11207209" cy="192000"/>
          </a:xfrm>
          <a:custGeom>
            <a:avLst/>
            <a:gdLst>
              <a:gd name="connsiteX0" fmla="*/ 0 w 8405407"/>
              <a:gd name="connsiteY0" fmla="*/ 0 h 152400"/>
              <a:gd name="connsiteX1" fmla="*/ 8405407 w 8405407"/>
              <a:gd name="connsiteY1" fmla="*/ 0 h 152400"/>
              <a:gd name="connsiteX2" fmla="*/ 8294166 w 8405407"/>
              <a:gd name="connsiteY2" fmla="*/ 152400 h 152400"/>
              <a:gd name="connsiteX3" fmla="*/ 0 w 8405407"/>
              <a:gd name="connsiteY3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05407" h="152400">
                <a:moveTo>
                  <a:pt x="0" y="0"/>
                </a:moveTo>
                <a:lnTo>
                  <a:pt x="8405407" y="0"/>
                </a:lnTo>
                <a:lnTo>
                  <a:pt x="829416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38" name="任意多边形: 形状 27"/>
          <p:cNvSpPr/>
          <p:nvPr userDrawn="1"/>
        </p:nvSpPr>
        <p:spPr>
          <a:xfrm flipH="1" flipV="1">
            <a:off x="11219155" y="6662481"/>
            <a:ext cx="972527" cy="192000"/>
          </a:xfrm>
          <a:custGeom>
            <a:avLst/>
            <a:gdLst>
              <a:gd name="connsiteX0" fmla="*/ 618154 w 729395"/>
              <a:gd name="connsiteY0" fmla="*/ 152400 h 152400"/>
              <a:gd name="connsiteX1" fmla="*/ 0 w 729395"/>
              <a:gd name="connsiteY1" fmla="*/ 152400 h 152400"/>
              <a:gd name="connsiteX2" fmla="*/ 0 w 729395"/>
              <a:gd name="connsiteY2" fmla="*/ 0 h 152400"/>
              <a:gd name="connsiteX3" fmla="*/ 729395 w 729395"/>
              <a:gd name="connsiteY3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395" h="152400">
                <a:moveTo>
                  <a:pt x="618154" y="152400"/>
                </a:moveTo>
                <a:lnTo>
                  <a:pt x="0" y="152400"/>
                </a:lnTo>
                <a:lnTo>
                  <a:pt x="0" y="0"/>
                </a:lnTo>
                <a:lnTo>
                  <a:pt x="72939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80" y="3878580"/>
            <a:ext cx="9799320" cy="115443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8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pic>
        <p:nvPicPr>
          <p:cNvPr id="4" name="图片 3" descr="Z)S]1)}~F[WJ94`LKC@7K}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472555" y="390525"/>
            <a:ext cx="1972945" cy="459740"/>
          </a:xfrm>
          <a:prstGeom prst="rect">
            <a:avLst/>
          </a:prstGeom>
        </p:spPr>
      </p:pic>
      <p:pic>
        <p:nvPicPr>
          <p:cNvPr id="29" name="图片 28" descr="UH~[4JD0[2E@A9EB4738FA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4525" y="389890"/>
            <a:ext cx="3990975" cy="37147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6395" y="11437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3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330" y="1227455"/>
            <a:ext cx="10968990" cy="502221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 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任意多边形: 形状 28"/>
          <p:cNvSpPr/>
          <p:nvPr userDrawn="1"/>
        </p:nvSpPr>
        <p:spPr>
          <a:xfrm>
            <a:off x="-3650" y="6666997"/>
            <a:ext cx="11207209" cy="192000"/>
          </a:xfrm>
          <a:custGeom>
            <a:avLst/>
            <a:gdLst>
              <a:gd name="connsiteX0" fmla="*/ 0 w 8405407"/>
              <a:gd name="connsiteY0" fmla="*/ 0 h 152400"/>
              <a:gd name="connsiteX1" fmla="*/ 8405407 w 8405407"/>
              <a:gd name="connsiteY1" fmla="*/ 0 h 152400"/>
              <a:gd name="connsiteX2" fmla="*/ 8294166 w 8405407"/>
              <a:gd name="connsiteY2" fmla="*/ 152400 h 152400"/>
              <a:gd name="connsiteX3" fmla="*/ 0 w 8405407"/>
              <a:gd name="connsiteY3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05407" h="152400">
                <a:moveTo>
                  <a:pt x="0" y="0"/>
                </a:moveTo>
                <a:lnTo>
                  <a:pt x="8405407" y="0"/>
                </a:lnTo>
                <a:lnTo>
                  <a:pt x="829416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8" name="任意多边形: 形状 27"/>
          <p:cNvSpPr/>
          <p:nvPr userDrawn="1"/>
        </p:nvSpPr>
        <p:spPr>
          <a:xfrm flipH="1" flipV="1">
            <a:off x="11223124" y="6666997"/>
            <a:ext cx="972527" cy="192000"/>
          </a:xfrm>
          <a:custGeom>
            <a:avLst/>
            <a:gdLst>
              <a:gd name="connsiteX0" fmla="*/ 618154 w 729395"/>
              <a:gd name="connsiteY0" fmla="*/ 152400 h 152400"/>
              <a:gd name="connsiteX1" fmla="*/ 0 w 729395"/>
              <a:gd name="connsiteY1" fmla="*/ 152400 h 152400"/>
              <a:gd name="connsiteX2" fmla="*/ 0 w 729395"/>
              <a:gd name="connsiteY2" fmla="*/ 0 h 152400"/>
              <a:gd name="connsiteX3" fmla="*/ 729395 w 729395"/>
              <a:gd name="connsiteY3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395" h="152400">
                <a:moveTo>
                  <a:pt x="618154" y="152400"/>
                </a:moveTo>
                <a:lnTo>
                  <a:pt x="0" y="152400"/>
                </a:lnTo>
                <a:lnTo>
                  <a:pt x="0" y="0"/>
                </a:lnTo>
                <a:lnTo>
                  <a:pt x="72939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1003784" y="807477"/>
            <a:ext cx="1019977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331470" y="250825"/>
            <a:ext cx="431800" cy="43180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5" name="矩形 24"/>
          <p:cNvSpPr/>
          <p:nvPr userDrawn="1"/>
        </p:nvSpPr>
        <p:spPr>
          <a:xfrm>
            <a:off x="548005" y="450215"/>
            <a:ext cx="360045" cy="36004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pic>
        <p:nvPicPr>
          <p:cNvPr id="5" name="图片 4" descr="TK5CG72_)U3`D_PXLQ1U9P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51895" y="73660"/>
            <a:ext cx="715645" cy="78549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2020/10/17 Saturday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2020/10/17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448685" y="2077085"/>
            <a:ext cx="7120890" cy="1236345"/>
          </a:xfrm>
        </p:spPr>
        <p:txBody>
          <a:bodyPr>
            <a:normAutofit/>
          </a:bodyPr>
          <a:lstStyle/>
          <a:p>
            <a:r>
              <a:rPr lang="en-US" altLang="zh-CN" sz="4400" dirty="0" smtClean="0"/>
              <a:t>第</a:t>
            </a:r>
            <a:r>
              <a:rPr lang="en-US" altLang="zh-CN" sz="4400" dirty="0"/>
              <a:t>10章 </a:t>
            </a:r>
            <a:r>
              <a:rPr lang="en-US" altLang="zh-CN" sz="4400" dirty="0" err="1" smtClean="0"/>
              <a:t>用户接口</a:t>
            </a:r>
            <a:endParaRPr lang="zh-CN" altLang="zh-CN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3229610" y="3371850"/>
            <a:ext cx="6516000" cy="1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8000">
                <a:srgbClr val="90B4E9">
                  <a:alpha val="100000"/>
                </a:srgbClr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4056380" y="3878580"/>
            <a:ext cx="6350635" cy="1793240"/>
          </a:xfrm>
        </p:spPr>
        <p:txBody>
          <a:bodyPr/>
          <a:lstStyle/>
          <a:p>
            <a:pPr algn="l">
              <a:spcAft>
                <a:spcPts val="1200"/>
              </a:spcAft>
            </a:pPr>
            <a:r>
              <a:rPr lang="zh-CN" altLang="en-US" sz="2400" b="0">
                <a:latin typeface="+mn-ea"/>
                <a:ea typeface="+mn-ea"/>
                <a:cs typeface="+mn-ea"/>
              </a:rPr>
              <a:t>教材：《计算机操作系统》</a:t>
            </a:r>
          </a:p>
          <a:p>
            <a:pPr algn="l">
              <a:spcAft>
                <a:spcPts val="1200"/>
              </a:spcAft>
            </a:pPr>
            <a:r>
              <a:rPr lang="zh-CN" altLang="en-US" sz="2400" b="0">
                <a:latin typeface="+mn-ea"/>
                <a:ea typeface="+mn-ea"/>
                <a:cs typeface="+mn-ea"/>
              </a:rPr>
              <a:t>编著： 沈晓红、刘颖、杨明</a:t>
            </a:r>
          </a:p>
          <a:p>
            <a:pPr algn="l">
              <a:spcAft>
                <a:spcPts val="1200"/>
              </a:spcAft>
            </a:pPr>
            <a:r>
              <a:rPr lang="zh-CN" altLang="en-US" sz="2400" b="0">
                <a:latin typeface="+mn-ea"/>
                <a:ea typeface="+mn-ea"/>
                <a:cs typeface="+mn-ea"/>
              </a:rPr>
              <a:t>出版： 电子工业出版社</a:t>
            </a:r>
          </a:p>
        </p:txBody>
      </p:sp>
      <p:sp>
        <p:nvSpPr>
          <p:cNvPr id="33809" name="任意多边形 33808"/>
          <p:cNvSpPr/>
          <p:nvPr/>
        </p:nvSpPr>
        <p:spPr>
          <a:xfrm>
            <a:off x="3696970" y="4021773"/>
            <a:ext cx="247650" cy="24765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10800" y="0"/>
              </a:cxn>
              <a:cxn ang="270">
                <a:pos x="3163" y="3163"/>
              </a:cxn>
              <a:cxn ang="180">
                <a:pos x="0" y="10800"/>
              </a:cxn>
              <a:cxn ang="90">
                <a:pos x="3163" y="18437"/>
              </a:cxn>
              <a:cxn ang="90">
                <a:pos x="10800" y="21600"/>
              </a:cxn>
              <a:cxn ang="90">
                <a:pos x="18437" y="18437"/>
              </a:cxn>
              <a:cxn ang="0">
                <a:pos x="21600" y="10800"/>
              </a:cxn>
              <a:cxn ang="270">
                <a:pos x="18437" y="3163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arcTo wR="10800" hR="10800" stAng="10800000" swAng="5400000"/>
                <a:arcTo wR="10800" hR="10800" stAng="-5400000" swAng="5400000"/>
                <a:arcTo wR="10800" hR="10800" stAng="0" swAng="5400000"/>
                <a:arcTo wR="10800" hR="10800" stAng="5400000" swAng="5400000"/>
                <a:close/>
                <a:moveTo>
                  <a:pt x="5400" y="10800"/>
                </a:moveTo>
                <a:arcTo wR="5400" hR="5400" stAng="10800000" swAng="-5400000"/>
                <a:arcTo wR="5400" hR="5400" stAng="5400000" swAng="-5400000"/>
                <a:arcTo wR="5400" hR="5400" stAng="0" swAng="-5400000"/>
                <a:arcTo wR="5400" hR="5400" stAng="-5400000" swAng="-5400000"/>
                <a:close/>
              </a:path>
            </a:pathLst>
          </a:cu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9525"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810" name="任意多边形 33809"/>
          <p:cNvSpPr/>
          <p:nvPr/>
        </p:nvSpPr>
        <p:spPr>
          <a:xfrm>
            <a:off x="3696970" y="4584383"/>
            <a:ext cx="247650" cy="24765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10800" y="0"/>
              </a:cxn>
              <a:cxn ang="270">
                <a:pos x="3163" y="3163"/>
              </a:cxn>
              <a:cxn ang="180">
                <a:pos x="0" y="10800"/>
              </a:cxn>
              <a:cxn ang="90">
                <a:pos x="3163" y="18437"/>
              </a:cxn>
              <a:cxn ang="90">
                <a:pos x="10800" y="21600"/>
              </a:cxn>
              <a:cxn ang="90">
                <a:pos x="18437" y="18437"/>
              </a:cxn>
              <a:cxn ang="0">
                <a:pos x="21600" y="10800"/>
              </a:cxn>
              <a:cxn ang="270">
                <a:pos x="18437" y="3163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arcTo wR="10800" hR="10800" stAng="10800000" swAng="5400000"/>
                <a:arcTo wR="10800" hR="10800" stAng="-5400000" swAng="5400000"/>
                <a:arcTo wR="10800" hR="10800" stAng="0" swAng="5400000"/>
                <a:arcTo wR="10800" hR="10800" stAng="5400000" swAng="5400000"/>
                <a:close/>
                <a:moveTo>
                  <a:pt x="5400" y="10800"/>
                </a:moveTo>
                <a:arcTo wR="5400" hR="5400" stAng="10800000" swAng="-5400000"/>
                <a:arcTo wR="5400" hR="5400" stAng="5400000" swAng="-5400000"/>
                <a:arcTo wR="5400" hR="5400" stAng="0" swAng="-5400000"/>
                <a:arcTo wR="5400" hR="5400" stAng="-5400000" swAng="-5400000"/>
                <a:close/>
              </a:path>
            </a:pathLst>
          </a:cu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  <a:ln w="9525"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811" name="任意多边形 33810"/>
          <p:cNvSpPr/>
          <p:nvPr/>
        </p:nvSpPr>
        <p:spPr>
          <a:xfrm>
            <a:off x="3696970" y="5127308"/>
            <a:ext cx="247650" cy="24765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270">
                <a:pos x="10800" y="0"/>
              </a:cxn>
              <a:cxn ang="270">
                <a:pos x="3163" y="3163"/>
              </a:cxn>
              <a:cxn ang="180">
                <a:pos x="0" y="10800"/>
              </a:cxn>
              <a:cxn ang="90">
                <a:pos x="3163" y="18437"/>
              </a:cxn>
              <a:cxn ang="90">
                <a:pos x="10800" y="21600"/>
              </a:cxn>
              <a:cxn ang="90">
                <a:pos x="18437" y="18437"/>
              </a:cxn>
              <a:cxn ang="0">
                <a:pos x="21600" y="10800"/>
              </a:cxn>
              <a:cxn ang="270">
                <a:pos x="18437" y="3163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arcTo wR="10800" hR="10800" stAng="10800000" swAng="5400000"/>
                <a:arcTo wR="10800" hR="10800" stAng="-5400000" swAng="5400000"/>
                <a:arcTo wR="10800" hR="10800" stAng="0" swAng="5400000"/>
                <a:arcTo wR="10800" hR="10800" stAng="5400000" swAng="5400000"/>
                <a:close/>
                <a:moveTo>
                  <a:pt x="5400" y="10800"/>
                </a:moveTo>
                <a:arcTo wR="5400" hR="5400" stAng="10800000" swAng="-5400000"/>
                <a:arcTo wR="5400" hR="5400" stAng="5400000" swAng="-5400000"/>
                <a:arcTo wR="5400" hR="5400" stAng="0" swAng="-5400000"/>
                <a:arcTo wR="5400" hR="5400" stAng="-5400000" swAng="-5400000"/>
                <a:close/>
              </a:path>
            </a:pathLst>
          </a:custGeom>
          <a:gradFill>
            <a:gsLst>
              <a:gs pos="0">
                <a:srgbClr val="C8A1E5"/>
              </a:gs>
              <a:gs pos="100000">
                <a:srgbClr val="692B99"/>
              </a:gs>
            </a:gsLst>
            <a:lin ang="5400000" scaled="0"/>
          </a:gradFill>
          <a:ln w="9525"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 descr="TK5CG72_)U3`D_PXLQ1U9PP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540" y="1724660"/>
            <a:ext cx="1560195" cy="17119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/>
          <a:lstStyle/>
          <a:p>
            <a:pPr algn="ctr"/>
            <a:r>
              <a:rPr lang="zh-CN" altLang="en-US"/>
              <a:t>本章目录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36010" y="1227455"/>
            <a:ext cx="7722235" cy="4727575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u="dottedHeavy" dirty="0" smtClean="0"/>
              <a:t>10.1 </a:t>
            </a:r>
            <a:r>
              <a:rPr lang="zh-CN" altLang="en-US" u="dottedHeavy" dirty="0"/>
              <a:t>用户</a:t>
            </a:r>
            <a:r>
              <a:rPr lang="zh-CN" altLang="en-US" u="dottedHeavy" dirty="0" smtClean="0"/>
              <a:t>接口</a:t>
            </a:r>
            <a:endParaRPr lang="en-US" altLang="zh-CN" u="dottedHeavy" dirty="0" smtClean="0"/>
          </a:p>
          <a:p>
            <a:pPr>
              <a:buBlip>
                <a:blip r:embed="rId3"/>
              </a:buBlip>
            </a:pPr>
            <a:r>
              <a:rPr lang="en-US" altLang="zh-CN" u="dottedHeavy" dirty="0" smtClean="0"/>
              <a:t>10.2 </a:t>
            </a:r>
            <a:r>
              <a:rPr lang="en-US" altLang="zh-CN" u="dottedHeavy" dirty="0"/>
              <a:t>Shell</a:t>
            </a:r>
            <a:r>
              <a:rPr lang="zh-CN" altLang="en-US" u="dottedHeavy" dirty="0" smtClean="0"/>
              <a:t>命令语言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 smtClean="0"/>
              <a:t>10.3 </a:t>
            </a:r>
            <a:r>
              <a:rPr lang="zh-CN" altLang="en-US" u="dottedHeavy" dirty="0"/>
              <a:t>系统</a:t>
            </a:r>
            <a:r>
              <a:rPr lang="zh-CN" altLang="en-US" u="dottedHeavy" dirty="0" smtClean="0"/>
              <a:t>调用</a:t>
            </a:r>
            <a:endParaRPr lang="en-US" altLang="zh-CN" u="dottedHeavy" dirty="0" smtClean="0"/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 smtClean="0"/>
              <a:t>10.1 </a:t>
            </a:r>
            <a:r>
              <a:rPr lang="zh-CN" altLang="en-US" dirty="0"/>
              <a:t>用户</a:t>
            </a:r>
            <a:r>
              <a:rPr lang="zh-CN" altLang="en-US" dirty="0"/>
              <a:t>接口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36010" y="1227455"/>
            <a:ext cx="7722235" cy="3542030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u="dottedHeavy" dirty="0" smtClean="0"/>
              <a:t>10.1.1 </a:t>
            </a:r>
            <a:r>
              <a:rPr lang="zh-CN" altLang="en-US" u="dottedHeavy" dirty="0"/>
              <a:t>命令接口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10.1.2 </a:t>
            </a:r>
            <a:r>
              <a:rPr lang="zh-CN" altLang="en-US" u="dottedHeavy" dirty="0"/>
              <a:t>程序接口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10.1.3 </a:t>
            </a:r>
            <a:r>
              <a:rPr lang="zh-CN" altLang="en-US" u="dottedHeavy" dirty="0"/>
              <a:t>图形接口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10.1.4 </a:t>
            </a:r>
            <a:r>
              <a:rPr lang="zh-CN" altLang="en-US" u="dottedHeavy" dirty="0"/>
              <a:t>联机命令类型</a:t>
            </a:r>
            <a:endParaRPr lang="en-US" altLang="zh-CN" u="dottedHeavy" dirty="0"/>
          </a:p>
          <a:p>
            <a:pPr marL="0" indent="0">
              <a:buNone/>
            </a:pPr>
            <a:r>
              <a:rPr lang="en-US" altLang="zh-CN" u="dottedHeavy" dirty="0" smtClean="0"/>
              <a:t>              </a:t>
            </a:r>
            <a:endParaRPr lang="en-US" altLang="zh-CN" u="dottedHeavy" dirty="0"/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第10章 用户接口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操作系统</a:t>
            </a:r>
            <a:r>
              <a:rPr lang="zh-CN" altLang="zh-CN" dirty="0"/>
              <a:t>不仅是系统资源的管理者，而且要为用户提供服务。通常，用户使用计算机时，必须通过一定的方式和途径，将自己的使用要求告诉计算机。用户使用计算机的方式和途径构成了操作系统的</a:t>
            </a:r>
            <a:r>
              <a:rPr lang="zh-CN" altLang="zh-CN" dirty="0">
                <a:solidFill>
                  <a:srgbClr val="FF0000"/>
                </a:solidFill>
              </a:rPr>
              <a:t>用户接口</a:t>
            </a:r>
            <a:r>
              <a:rPr lang="zh-CN" altLang="zh-CN" dirty="0"/>
              <a:t>，或称</a:t>
            </a:r>
            <a:r>
              <a:rPr lang="zh-CN" altLang="zh-CN" dirty="0">
                <a:solidFill>
                  <a:srgbClr val="FF0000"/>
                </a:solidFill>
              </a:rPr>
              <a:t>用户界面（</a:t>
            </a:r>
            <a:r>
              <a:rPr lang="en-US" altLang="zh-CN" dirty="0">
                <a:solidFill>
                  <a:srgbClr val="FF0000"/>
                </a:solidFill>
              </a:rPr>
              <a:t>User Interface</a:t>
            </a:r>
            <a:r>
              <a:rPr lang="zh-CN" altLang="zh-CN" dirty="0">
                <a:solidFill>
                  <a:srgbClr val="FF0000"/>
                </a:solidFill>
              </a:rPr>
              <a:t>）</a:t>
            </a:r>
            <a:r>
              <a:rPr lang="zh-CN" altLang="zh-CN" dirty="0"/>
              <a:t>。根据不同的服务对象，操作系统会提供不同的用户接口。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4534030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 用户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itchFamily="2" charset="2"/>
              <a:buChar char="u"/>
            </a:pPr>
            <a:r>
              <a:rPr lang="zh-CN" altLang="zh-CN" dirty="0" smtClean="0"/>
              <a:t>从</a:t>
            </a:r>
            <a:r>
              <a:rPr lang="zh-CN" altLang="zh-CN" dirty="0"/>
              <a:t>计算机产生以来，最基本的操作方式就是</a:t>
            </a:r>
            <a:r>
              <a:rPr lang="zh-CN" altLang="zh-CN" dirty="0">
                <a:solidFill>
                  <a:srgbClr val="FF0000"/>
                </a:solidFill>
              </a:rPr>
              <a:t>键盘命令方式</a:t>
            </a:r>
            <a:r>
              <a:rPr lang="zh-CN" altLang="zh-CN" dirty="0"/>
              <a:t>。用户通过键盘输入命令，对计算机提出要求，完成自己的工作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571500" indent="-571500">
              <a:buFont typeface="Wingdings" pitchFamily="2" charset="2"/>
              <a:buChar char="u"/>
            </a:pPr>
            <a:r>
              <a:rPr lang="zh-CN" altLang="zh-CN" dirty="0" smtClean="0"/>
              <a:t>对于</a:t>
            </a:r>
            <a:r>
              <a:rPr lang="zh-CN" altLang="zh-CN" dirty="0"/>
              <a:t>程序开发人员，需要编制程序来实现自己想要完成的功能，在程序中经常要使用到操作系统的功能，这</a:t>
            </a:r>
            <a:r>
              <a:rPr lang="zh-CN" altLang="zh-CN" dirty="0" smtClean="0"/>
              <a:t>就要</a:t>
            </a:r>
            <a:r>
              <a:rPr lang="zh-CN" altLang="zh-CN" dirty="0"/>
              <a:t>使用</a:t>
            </a:r>
            <a:r>
              <a:rPr lang="zh-CN" altLang="zh-CN" dirty="0" smtClean="0"/>
              <a:t>操作系统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程序接口</a:t>
            </a:r>
            <a:r>
              <a:rPr lang="zh-CN" altLang="zh-CN" dirty="0"/>
              <a:t>，也就是</a:t>
            </a:r>
            <a:r>
              <a:rPr lang="zh-CN" altLang="zh-CN" dirty="0">
                <a:solidFill>
                  <a:srgbClr val="FF0000"/>
                </a:solidFill>
              </a:rPr>
              <a:t>系统调用</a:t>
            </a:r>
            <a:r>
              <a:rPr lang="zh-CN" altLang="zh-CN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15407428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 用户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itchFamily="2" charset="2"/>
              <a:buChar char="u"/>
            </a:pPr>
            <a:r>
              <a:rPr lang="zh-CN" altLang="zh-CN" dirty="0" smtClean="0"/>
              <a:t>而</a:t>
            </a:r>
            <a:r>
              <a:rPr lang="zh-CN" altLang="zh-CN" dirty="0"/>
              <a:t>在现代，一般用户最经常使用的方式就是图形用户界面了，也就是</a:t>
            </a:r>
            <a:r>
              <a:rPr lang="zh-CN" altLang="zh-CN" dirty="0">
                <a:solidFill>
                  <a:srgbClr val="FF0000"/>
                </a:solidFill>
              </a:rPr>
              <a:t>图形用户接口</a:t>
            </a:r>
            <a:r>
              <a:rPr lang="zh-CN" altLang="zh-CN" dirty="0"/>
              <a:t>（</a:t>
            </a:r>
            <a:r>
              <a:rPr lang="en-US" altLang="zh-CN" dirty="0"/>
              <a:t>GUI</a:t>
            </a:r>
            <a:r>
              <a:rPr lang="zh-CN" altLang="zh-CN" dirty="0"/>
              <a:t>），不论对计算机熟悉与否，都很容易地通过点击图标的方式来进行自己的操作。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366409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10.1.1 命令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>
                <a:solidFill>
                  <a:srgbClr val="FF0000"/>
                </a:solidFill>
              </a:rPr>
              <a:t>命令</a:t>
            </a:r>
            <a:r>
              <a:rPr lang="zh-CN" altLang="zh-CN" dirty="0">
                <a:solidFill>
                  <a:srgbClr val="FF0000"/>
                </a:solidFill>
              </a:rPr>
              <a:t>接口</a:t>
            </a:r>
            <a:r>
              <a:rPr lang="zh-CN" altLang="zh-CN" dirty="0"/>
              <a:t>是用户利用操作系统命令组织和控制作业的执行或管理计算机</a:t>
            </a:r>
            <a:r>
              <a:rPr lang="zh-CN" altLang="zh-CN" dirty="0" smtClean="0"/>
              <a:t>系统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2932946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812" y="240396"/>
            <a:ext cx="8388499" cy="629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898160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10.1.1 命令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命令</a:t>
            </a:r>
            <a:r>
              <a:rPr lang="zh-CN" altLang="zh-CN" dirty="0"/>
              <a:t>接口可以进一步分为</a:t>
            </a:r>
            <a:r>
              <a:rPr lang="zh-CN" altLang="zh-CN" dirty="0">
                <a:solidFill>
                  <a:srgbClr val="FF0000"/>
                </a:solidFill>
              </a:rPr>
              <a:t>联机用户接口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脱机用户接口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8729468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命令接口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①</a:t>
            </a:r>
            <a:r>
              <a:rPr lang="zh-CN" altLang="zh-CN" dirty="0">
                <a:solidFill>
                  <a:srgbClr val="FF0000"/>
                </a:solidFill>
              </a:rPr>
              <a:t>联机用户接口（交互式接口）</a:t>
            </a:r>
            <a:r>
              <a:rPr lang="zh-CN" altLang="zh-CN" dirty="0"/>
              <a:t>：</a:t>
            </a:r>
            <a:r>
              <a:rPr lang="zh-CN" altLang="zh-CN" dirty="0" smtClean="0"/>
              <a:t>它</a:t>
            </a:r>
            <a:r>
              <a:rPr lang="zh-CN" altLang="en-US" dirty="0" smtClean="0"/>
              <a:t>由</a:t>
            </a:r>
            <a:r>
              <a:rPr lang="zh-CN" altLang="zh-CN" dirty="0" smtClean="0"/>
              <a:t>一</a:t>
            </a:r>
            <a:r>
              <a:rPr lang="zh-CN" altLang="zh-CN" dirty="0"/>
              <a:t>组键盘操作命令组成。用户通过控制台或终端打入操作命令，向系统提出种种要求。用户每当打完一条命令，控制就转入解释系统，该系统立即对该命令解释执行，完成指定功能；然后，又转回控制台或终端，此时，用户又可打入下一条命令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1072091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命令接口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②</a:t>
            </a:r>
            <a:r>
              <a:rPr lang="zh-CN" altLang="zh-CN" dirty="0">
                <a:solidFill>
                  <a:srgbClr val="FF0000"/>
                </a:solidFill>
              </a:rPr>
              <a:t>脱机用户接口（批处理用户接口）</a:t>
            </a:r>
            <a:r>
              <a:rPr lang="zh-CN" altLang="zh-CN" dirty="0"/>
              <a:t>：它是由一组作业控制命令（或作业控制语言</a:t>
            </a:r>
            <a:r>
              <a:rPr lang="en-US" altLang="zh-CN" dirty="0"/>
              <a:t>JCL</a:t>
            </a:r>
            <a:r>
              <a:rPr lang="zh-CN" altLang="zh-CN" dirty="0"/>
              <a:t>）组成。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059952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10.1.2 程序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>
                <a:solidFill>
                  <a:srgbClr val="FF0000"/>
                </a:solidFill>
              </a:rPr>
              <a:t>程序</a:t>
            </a:r>
            <a:r>
              <a:rPr lang="zh-CN" altLang="zh-CN" dirty="0">
                <a:solidFill>
                  <a:srgbClr val="FF0000"/>
                </a:solidFill>
              </a:rPr>
              <a:t>接口</a:t>
            </a:r>
            <a:r>
              <a:rPr lang="zh-CN" altLang="zh-CN" dirty="0"/>
              <a:t>由一组系统调用命令组成，这是操作系统提供给编程人员的接口。用户通过在程序中使用系统调用命令来请求操作系统提供服务。每一个系统调用都是一个能完成特定功能的子程序。这是为程序员通过汇编程序与操作系统打交道而提供的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940789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10.1.2 程序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zh-CN" dirty="0"/>
              <a:t>用汇编语言编写程序的用户，可以直接向系统提出调用外设的请求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用</a:t>
            </a:r>
            <a:r>
              <a:rPr lang="zh-CN" altLang="zh-CN" dirty="0"/>
              <a:t>高级语言编写程序的用户，也可以在编程时使用</a:t>
            </a:r>
            <a:r>
              <a:rPr lang="zh-CN" altLang="zh-CN" dirty="0">
                <a:solidFill>
                  <a:srgbClr val="FF0000"/>
                </a:solidFill>
              </a:rPr>
              <a:t>过程调用语句</a:t>
            </a:r>
            <a:r>
              <a:rPr lang="zh-CN" altLang="zh-CN" dirty="0"/>
              <a:t>，通过相应的编译程序将其翻译成</a:t>
            </a:r>
            <a:r>
              <a:rPr lang="zh-CN" altLang="zh-CN" dirty="0">
                <a:solidFill>
                  <a:srgbClr val="FF0000"/>
                </a:solidFill>
              </a:rPr>
              <a:t>系统调用命令</a:t>
            </a:r>
            <a:r>
              <a:rPr lang="zh-CN" altLang="zh-CN" dirty="0"/>
              <a:t>，去调用系统提供的各种功能和服务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程序</a:t>
            </a:r>
            <a:r>
              <a:rPr lang="zh-CN" altLang="zh-CN" dirty="0"/>
              <a:t>接口将在后面的</a:t>
            </a:r>
            <a:r>
              <a:rPr lang="en-US" altLang="zh-CN" dirty="0"/>
              <a:t>10.3</a:t>
            </a:r>
            <a:r>
              <a:rPr lang="zh-CN" altLang="zh-CN" dirty="0"/>
              <a:t>和</a:t>
            </a:r>
            <a:r>
              <a:rPr lang="en-US" altLang="zh-CN" dirty="0"/>
              <a:t>10.4</a:t>
            </a:r>
            <a:r>
              <a:rPr lang="zh-CN" altLang="zh-CN" dirty="0"/>
              <a:t>两节介绍。</a:t>
            </a:r>
          </a:p>
          <a:p>
            <a:pPr marL="457200" indent="-457200">
              <a:buFont typeface="Wingdings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6073044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10.1.3 图形</a:t>
            </a:r>
            <a:r>
              <a:rPr lang="zh-CN" altLang="zh-CN" dirty="0" smtClean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>
                <a:solidFill>
                  <a:srgbClr val="FF0000"/>
                </a:solidFill>
              </a:rPr>
              <a:t>图形</a:t>
            </a:r>
            <a:r>
              <a:rPr lang="zh-CN" altLang="zh-CN" dirty="0">
                <a:solidFill>
                  <a:srgbClr val="FF0000"/>
                </a:solidFill>
              </a:rPr>
              <a:t>用户接口</a:t>
            </a:r>
            <a:r>
              <a:rPr lang="zh-CN" altLang="zh-CN" dirty="0"/>
              <a:t>（</a:t>
            </a:r>
            <a:r>
              <a:rPr lang="en-US" altLang="zh-CN" dirty="0"/>
              <a:t>Graphical User Interface</a:t>
            </a:r>
            <a:r>
              <a:rPr lang="zh-CN" altLang="zh-CN" dirty="0"/>
              <a:t>，简称</a:t>
            </a:r>
            <a:r>
              <a:rPr lang="en-US" altLang="zh-CN" dirty="0"/>
              <a:t> GUI</a:t>
            </a:r>
            <a:r>
              <a:rPr lang="zh-CN" altLang="zh-CN" dirty="0"/>
              <a:t>，又称图形用户界面）采用了图形化的操作界面，使用</a:t>
            </a:r>
            <a:r>
              <a:rPr lang="en-US" altLang="zh-CN" dirty="0"/>
              <a:t>WIMP </a:t>
            </a:r>
            <a:r>
              <a:rPr lang="zh-CN" altLang="zh-CN" dirty="0"/>
              <a:t>技术，将窗口</a:t>
            </a:r>
            <a:r>
              <a:rPr lang="en-US" altLang="zh-CN" dirty="0"/>
              <a:t>(Window)</a:t>
            </a:r>
            <a:r>
              <a:rPr lang="zh-CN" altLang="zh-CN" dirty="0"/>
              <a:t>、图标</a:t>
            </a:r>
            <a:r>
              <a:rPr lang="en-US" altLang="zh-CN" dirty="0"/>
              <a:t>(Icon)</a:t>
            </a:r>
            <a:r>
              <a:rPr lang="zh-CN" altLang="zh-CN" dirty="0"/>
              <a:t>、菜单</a:t>
            </a:r>
            <a:r>
              <a:rPr lang="en-US" altLang="zh-CN" dirty="0"/>
              <a:t>(Menu)</a:t>
            </a:r>
            <a:r>
              <a:rPr lang="zh-CN" altLang="zh-CN" dirty="0"/>
              <a:t>、鼠标</a:t>
            </a:r>
            <a:r>
              <a:rPr lang="en-US" altLang="zh-CN" dirty="0"/>
              <a:t>(Pointing device)</a:t>
            </a:r>
            <a:r>
              <a:rPr lang="zh-CN" altLang="zh-CN" dirty="0"/>
              <a:t>等元素集成在一起，用非常容易识别的各种图标来将系统各项功能、各种应用程序和文件，直观、逼真地表示出来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203581019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613" y="143036"/>
            <a:ext cx="8435896" cy="6637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177725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10.1.4 联机命令</a:t>
            </a:r>
            <a:r>
              <a:rPr lang="zh-CN" altLang="zh-CN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为了</a:t>
            </a:r>
            <a:r>
              <a:rPr lang="zh-CN" altLang="zh-CN" dirty="0"/>
              <a:t>能向用户提供多方面的服务，通常，操作系统都向用户提供了几十条甚至上百条的联机命令。根据这些命令所完成功能的不同，可把它们分成以下几类：</a:t>
            </a:r>
            <a:r>
              <a:rPr lang="en-US" altLang="zh-CN" dirty="0"/>
              <a:t>① </a:t>
            </a:r>
            <a:r>
              <a:rPr lang="zh-CN" altLang="zh-CN" dirty="0"/>
              <a:t>系统访问类；</a:t>
            </a:r>
            <a:r>
              <a:rPr lang="en-US" altLang="zh-CN" dirty="0"/>
              <a:t>② </a:t>
            </a:r>
            <a:r>
              <a:rPr lang="zh-CN" altLang="zh-CN" dirty="0"/>
              <a:t>磁盘操作类；</a:t>
            </a:r>
            <a:r>
              <a:rPr lang="en-US" altLang="zh-CN" dirty="0"/>
              <a:t> ③ </a:t>
            </a:r>
            <a:r>
              <a:rPr lang="zh-CN" altLang="zh-CN" dirty="0"/>
              <a:t>文件操作类；</a:t>
            </a:r>
            <a:r>
              <a:rPr lang="en-US" altLang="zh-CN" dirty="0"/>
              <a:t>④ </a:t>
            </a:r>
            <a:r>
              <a:rPr lang="zh-CN" altLang="zh-CN" dirty="0"/>
              <a:t>目录操作类；</a:t>
            </a:r>
            <a:r>
              <a:rPr lang="en-US" altLang="zh-CN" dirty="0"/>
              <a:t>⑤ </a:t>
            </a:r>
            <a:r>
              <a:rPr lang="zh-CN" altLang="zh-CN" dirty="0"/>
              <a:t>通信类；</a:t>
            </a:r>
            <a:r>
              <a:rPr lang="en-US" altLang="zh-CN" dirty="0"/>
              <a:t> ⑥ </a:t>
            </a:r>
            <a:r>
              <a:rPr lang="zh-CN" altLang="zh-CN" dirty="0"/>
              <a:t>其他命令。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956401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10.1.4 联机命令</a:t>
            </a:r>
            <a:r>
              <a:rPr lang="zh-CN" altLang="zh-CN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为了</a:t>
            </a:r>
            <a:r>
              <a:rPr lang="zh-CN" altLang="zh-CN" dirty="0"/>
              <a:t>能向用户提供多方面的服务，通常，操作系统都向用户提供了几十条甚至上百条的联机命令。根据这些命令所完成功能的不同，可把它们分成以下几类：</a:t>
            </a:r>
            <a:r>
              <a:rPr lang="en-US" altLang="zh-CN" dirty="0"/>
              <a:t>① </a:t>
            </a:r>
            <a:r>
              <a:rPr lang="zh-CN" altLang="zh-CN" dirty="0"/>
              <a:t>系统访问类；</a:t>
            </a:r>
            <a:r>
              <a:rPr lang="en-US" altLang="zh-CN" dirty="0"/>
              <a:t>② </a:t>
            </a:r>
            <a:r>
              <a:rPr lang="zh-CN" altLang="zh-CN" dirty="0"/>
              <a:t>磁盘操作类；</a:t>
            </a:r>
            <a:r>
              <a:rPr lang="en-US" altLang="zh-CN" dirty="0"/>
              <a:t> ③ </a:t>
            </a:r>
            <a:r>
              <a:rPr lang="zh-CN" altLang="zh-CN" dirty="0"/>
              <a:t>文件操作类；</a:t>
            </a:r>
            <a:r>
              <a:rPr lang="en-US" altLang="zh-CN" dirty="0"/>
              <a:t>④ </a:t>
            </a:r>
            <a:r>
              <a:rPr lang="zh-CN" altLang="zh-CN" dirty="0"/>
              <a:t>目录操作类；</a:t>
            </a:r>
            <a:r>
              <a:rPr lang="en-US" altLang="zh-CN" dirty="0"/>
              <a:t>⑤ </a:t>
            </a:r>
            <a:r>
              <a:rPr lang="zh-CN" altLang="zh-CN" dirty="0"/>
              <a:t>通信类；</a:t>
            </a:r>
            <a:r>
              <a:rPr lang="en-US" altLang="zh-CN" dirty="0"/>
              <a:t> ⑥ </a:t>
            </a:r>
            <a:r>
              <a:rPr lang="zh-CN" altLang="zh-CN" dirty="0"/>
              <a:t>其他命令。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2295498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 smtClean="0"/>
              <a:t>10.2 </a:t>
            </a:r>
            <a:r>
              <a:rPr lang="en-US" altLang="zh-CN" dirty="0"/>
              <a:t>Shell</a:t>
            </a:r>
            <a:r>
              <a:rPr lang="zh-CN" altLang="en-US" dirty="0"/>
              <a:t>命令语言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36010" y="1227455"/>
            <a:ext cx="7722235" cy="3542030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u="dottedHeavy" dirty="0" smtClean="0"/>
              <a:t>10.2.1 </a:t>
            </a:r>
            <a:r>
              <a:rPr lang="en-US" altLang="zh-CN" u="dottedHeavy" dirty="0"/>
              <a:t>Shell</a:t>
            </a:r>
            <a:r>
              <a:rPr lang="zh-CN" altLang="en-US" u="dottedHeavy" dirty="0"/>
              <a:t>命令语言简介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10.2.2 Shell</a:t>
            </a:r>
            <a:r>
              <a:rPr lang="zh-CN" altLang="en-US" u="dottedHeavy" dirty="0"/>
              <a:t>命令分类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endParaRPr lang="en-US" altLang="zh-CN" u="dottedHeavy" dirty="0"/>
          </a:p>
          <a:p>
            <a:pPr marL="0" indent="0">
              <a:buNone/>
            </a:pPr>
            <a:r>
              <a:rPr lang="en-US" altLang="zh-CN" u="dottedHeavy" dirty="0" smtClean="0"/>
              <a:t>              </a:t>
            </a:r>
            <a:endParaRPr lang="en-US" altLang="zh-CN" u="dottedHeavy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0463124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10.2 Shell命令语言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Linux</a:t>
            </a:r>
            <a:r>
              <a:rPr lang="zh-CN" altLang="zh-CN" dirty="0"/>
              <a:t>操作系统中，用户能够通过不同的接口完成各种计算和管理任务。根据界面的外观和操作特点不同，分为图形用户接口、命令接口以及提供给编程人员使用的程序接口。</a:t>
            </a:r>
          </a:p>
          <a:p>
            <a:r>
              <a:rPr lang="zh-CN" altLang="en-US" dirty="0" smtClean="0"/>
              <a:t>本节</a:t>
            </a:r>
            <a:r>
              <a:rPr lang="zh-CN" altLang="zh-CN" dirty="0" smtClean="0"/>
              <a:t>简单</a:t>
            </a:r>
            <a:r>
              <a:rPr lang="zh-CN" altLang="zh-CN" dirty="0"/>
              <a:t>介绍</a:t>
            </a:r>
            <a:r>
              <a:rPr lang="en-US" altLang="zh-CN" dirty="0"/>
              <a:t>Linux </a:t>
            </a:r>
            <a:r>
              <a:rPr lang="zh-CN" altLang="zh-CN" dirty="0"/>
              <a:t>系统</a:t>
            </a:r>
            <a:r>
              <a:rPr lang="zh-CN" altLang="zh-CN" dirty="0">
                <a:solidFill>
                  <a:srgbClr val="FF0000"/>
                </a:solidFill>
              </a:rPr>
              <a:t>命令接口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409706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10.2.1 Shell命令语言简介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在</a:t>
            </a:r>
            <a:r>
              <a:rPr lang="en-US" altLang="zh-CN" dirty="0"/>
              <a:t>Linux</a:t>
            </a:r>
            <a:r>
              <a:rPr lang="zh-CN" altLang="zh-CN" dirty="0"/>
              <a:t>系统中，</a:t>
            </a:r>
            <a:r>
              <a:rPr lang="en-US" altLang="zh-CN" dirty="0"/>
              <a:t>Shell</a:t>
            </a:r>
            <a:r>
              <a:rPr lang="zh-CN" altLang="zh-CN" dirty="0"/>
              <a:t>是</a:t>
            </a:r>
            <a:r>
              <a:rPr lang="zh-CN" altLang="zh-CN" dirty="0">
                <a:solidFill>
                  <a:srgbClr val="FF0000"/>
                </a:solidFill>
              </a:rPr>
              <a:t>命令语言</a:t>
            </a:r>
            <a:r>
              <a:rPr lang="zh-CN" altLang="zh-CN" dirty="0"/>
              <a:t>、</a:t>
            </a:r>
            <a:r>
              <a:rPr lang="zh-CN" altLang="zh-CN" dirty="0">
                <a:solidFill>
                  <a:srgbClr val="FF0000"/>
                </a:solidFill>
              </a:rPr>
              <a:t>命令解释程序</a:t>
            </a:r>
            <a:r>
              <a:rPr lang="zh-CN" altLang="zh-CN" dirty="0"/>
              <a:t>及</a:t>
            </a:r>
            <a:r>
              <a:rPr lang="zh-CN" altLang="zh-CN" dirty="0">
                <a:solidFill>
                  <a:srgbClr val="FF0000"/>
                </a:solidFill>
              </a:rPr>
              <a:t>程序设计语言</a:t>
            </a:r>
            <a:r>
              <a:rPr lang="zh-CN" altLang="zh-CN" dirty="0"/>
              <a:t>的统称，它是一种具有特殊功能的程序，是用户使用</a:t>
            </a:r>
            <a:r>
              <a:rPr lang="en-US" altLang="zh-CN" dirty="0"/>
              <a:t>Linux</a:t>
            </a:r>
            <a:r>
              <a:rPr lang="zh-CN" altLang="zh-CN" dirty="0"/>
              <a:t>操作系统</a:t>
            </a:r>
            <a:r>
              <a:rPr lang="zh-CN" altLang="zh-CN" dirty="0" smtClean="0"/>
              <a:t>的</a:t>
            </a:r>
            <a:r>
              <a:rPr lang="zh-CN" altLang="en-US" dirty="0" smtClean="0"/>
              <a:t>命令</a:t>
            </a:r>
            <a:r>
              <a:rPr lang="zh-CN" altLang="zh-CN" dirty="0" smtClean="0"/>
              <a:t>接口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993461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10.2.1 Shell命令语言简介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53885"/>
            <a:ext cx="10968990" cy="5195785"/>
          </a:xfrm>
        </p:spPr>
        <p:txBody>
          <a:bodyPr>
            <a:normAutofit/>
          </a:bodyPr>
          <a:lstStyle/>
          <a:p>
            <a:r>
              <a:rPr lang="zh-CN" altLang="zh-CN" dirty="0"/>
              <a:t>首先，</a:t>
            </a:r>
            <a:r>
              <a:rPr lang="en-US" altLang="zh-CN" dirty="0"/>
              <a:t>Shell</a:t>
            </a:r>
            <a:r>
              <a:rPr lang="zh-CN" altLang="zh-CN" dirty="0"/>
              <a:t>是一个</a:t>
            </a:r>
            <a:r>
              <a:rPr lang="zh-CN" altLang="zh-CN" dirty="0">
                <a:solidFill>
                  <a:srgbClr val="FF0000"/>
                </a:solidFill>
              </a:rPr>
              <a:t>命令语言解释器</a:t>
            </a:r>
            <a:r>
              <a:rPr lang="zh-CN" altLang="zh-CN" dirty="0"/>
              <a:t>。当用户输入命令时，只要是在提示符下输入的，总是由</a:t>
            </a:r>
            <a:r>
              <a:rPr lang="en-US" altLang="zh-CN" dirty="0"/>
              <a:t> Shell</a:t>
            </a:r>
            <a:r>
              <a:rPr lang="zh-CN" altLang="zh-CN" dirty="0"/>
              <a:t>负责对命令进行解释并将其转换成计算机可以执行的机器码，交给</a:t>
            </a:r>
            <a:r>
              <a:rPr lang="en-US" altLang="zh-CN" dirty="0"/>
              <a:t>Linux</a:t>
            </a:r>
            <a:r>
              <a:rPr lang="zh-CN" altLang="zh-CN" dirty="0"/>
              <a:t>核心去处理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8553122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10.2.1 Shell命令语言简介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其次，</a:t>
            </a:r>
            <a:r>
              <a:rPr lang="en-US" altLang="zh-CN" dirty="0"/>
              <a:t>Shell</a:t>
            </a:r>
            <a:r>
              <a:rPr lang="zh-CN" altLang="zh-CN" dirty="0"/>
              <a:t>自身也是一种</a:t>
            </a:r>
            <a:r>
              <a:rPr lang="zh-CN" altLang="zh-CN" dirty="0">
                <a:solidFill>
                  <a:srgbClr val="FF0000"/>
                </a:solidFill>
              </a:rPr>
              <a:t>解释型的程序设计语言</a:t>
            </a:r>
            <a:r>
              <a:rPr lang="zh-CN" altLang="zh-CN" dirty="0"/>
              <a:t>，它允许用户用</a:t>
            </a:r>
            <a:r>
              <a:rPr lang="en-US" altLang="zh-CN" dirty="0"/>
              <a:t> Shell</a:t>
            </a:r>
            <a:r>
              <a:rPr lang="zh-CN" altLang="zh-CN" dirty="0"/>
              <a:t>语言编写</a:t>
            </a:r>
            <a:r>
              <a:rPr lang="en-US" altLang="zh-CN" dirty="0"/>
              <a:t>Shell</a:t>
            </a:r>
            <a:r>
              <a:rPr lang="zh-CN" altLang="zh-CN" dirty="0"/>
              <a:t>程序。</a:t>
            </a:r>
            <a:r>
              <a:rPr lang="en-US" altLang="zh-CN" dirty="0"/>
              <a:t>Shell</a:t>
            </a:r>
            <a:r>
              <a:rPr lang="zh-CN" altLang="zh-CN" dirty="0"/>
              <a:t>程序中可以包含绝大多数在高级语言中见到的程序元素，如函数、变量、数组和程序控制结构。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983049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10.2.1 Shell命令语言简介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如果在一个命令行中只有一个命令，称之为</a:t>
            </a:r>
            <a:r>
              <a:rPr lang="zh-CN" altLang="zh-CN" dirty="0">
                <a:solidFill>
                  <a:srgbClr val="FF0000"/>
                </a:solidFill>
              </a:rPr>
              <a:t>简单命令</a:t>
            </a:r>
            <a:r>
              <a:rPr lang="zh-CN" altLang="zh-CN" dirty="0" smtClean="0"/>
              <a:t>。命令</a:t>
            </a:r>
            <a:r>
              <a:rPr lang="zh-CN" altLang="zh-CN" dirty="0"/>
              <a:t>由小写字母构成，命令可带有参数表，用于给出执行命令时的附加信息。命令名与参数表之间还可使用一种称为选项的自变量， 用破折号开始，后跟一个或多个字母、数字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$ </a:t>
            </a:r>
            <a:r>
              <a:rPr lang="en-US" altLang="zh-CN" dirty="0"/>
              <a:t>Command  -option  argument list</a:t>
            </a:r>
            <a:endParaRPr lang="zh-CN" altLang="zh-CN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88359282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	</a:t>
            </a:r>
            <a:r>
              <a:rPr lang="zh-CN" altLang="zh-CN" dirty="0" smtClean="0"/>
              <a:t>例如</a:t>
            </a:r>
            <a:r>
              <a:rPr lang="zh-CN" altLang="zh-CN" dirty="0"/>
              <a:t>： </a:t>
            </a:r>
            <a:r>
              <a:rPr lang="en-US" altLang="zh-CN" dirty="0" err="1" smtClean="0"/>
              <a:t>ls</a:t>
            </a:r>
            <a:endParaRPr lang="zh-CN" altLang="zh-CN" dirty="0"/>
          </a:p>
          <a:p>
            <a:r>
              <a:rPr lang="zh-CN" altLang="zh-CN" dirty="0"/>
              <a:t>是一条不带选项的显示目录命令，以当前工作目录为缺省参数，打印出当前工作目录所包含的目录项。</a:t>
            </a:r>
          </a:p>
          <a:p>
            <a:r>
              <a:rPr lang="en-US" altLang="zh-CN" dirty="0" smtClean="0"/>
              <a:t>	</a:t>
            </a:r>
            <a:r>
              <a:rPr lang="en-US" altLang="zh-CN" dirty="0" err="1" smtClean="0"/>
              <a:t>rm</a:t>
            </a:r>
            <a:r>
              <a:rPr lang="en-US" altLang="zh-CN" dirty="0" smtClean="0"/>
              <a:t> </a:t>
            </a:r>
            <a:r>
              <a:rPr lang="en-US" altLang="zh-CN" dirty="0"/>
              <a:t>–f  test</a:t>
            </a:r>
            <a:endParaRPr lang="zh-CN" altLang="zh-CN" dirty="0"/>
          </a:p>
          <a:p>
            <a:r>
              <a:rPr lang="zh-CN" altLang="zh-CN" dirty="0"/>
              <a:t>这是一条带选项命令，操作是强制删除</a:t>
            </a:r>
            <a:r>
              <a:rPr lang="en-US" altLang="zh-CN" dirty="0"/>
              <a:t>test</a:t>
            </a:r>
            <a:r>
              <a:rPr lang="zh-CN" altLang="zh-CN" dirty="0"/>
              <a:t>文件。</a:t>
            </a:r>
          </a:p>
        </p:txBody>
      </p:sp>
    </p:spTree>
    <p:extLst>
      <p:ext uri="{BB962C8B-B14F-4D97-AF65-F5344CB8AC3E}">
        <p14:creationId xmlns:p14="http://schemas.microsoft.com/office/powerpoint/2010/main" val="1059189543"/>
      </p:ext>
    </p:extLst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10.2.2 Shell</a:t>
            </a:r>
            <a:r>
              <a:rPr lang="zh-CN" altLang="zh-CN" dirty="0"/>
              <a:t>命令分类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Shell</a:t>
            </a:r>
            <a:r>
              <a:rPr lang="zh-CN" altLang="zh-CN" dirty="0"/>
              <a:t>命令一般分为以下几类：</a:t>
            </a:r>
          </a:p>
          <a:p>
            <a:r>
              <a:rPr lang="en-US" altLang="zh-CN" b="1" dirty="0"/>
              <a:t>1. </a:t>
            </a:r>
            <a:r>
              <a:rPr lang="zh-CN" altLang="zh-CN" b="1" dirty="0"/>
              <a:t>文件操作与管理类</a:t>
            </a:r>
            <a:endParaRPr lang="zh-CN" altLang="zh-CN" dirty="0"/>
          </a:p>
          <a:p>
            <a:r>
              <a:rPr lang="zh-CN" altLang="zh-CN" dirty="0"/>
              <a:t>例如：</a:t>
            </a:r>
            <a:r>
              <a:rPr lang="en-US" altLang="zh-CN" dirty="0" err="1"/>
              <a:t>ls</a:t>
            </a:r>
            <a:r>
              <a:rPr lang="zh-CN" altLang="zh-CN" dirty="0"/>
              <a:t>命令：</a:t>
            </a:r>
            <a:r>
              <a:rPr lang="en-US" altLang="zh-CN" dirty="0"/>
              <a:t> </a:t>
            </a:r>
            <a:r>
              <a:rPr lang="zh-CN" altLang="zh-CN" dirty="0"/>
              <a:t>显示文件或目录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cd</a:t>
            </a:r>
            <a:r>
              <a:rPr lang="zh-CN" altLang="zh-CN" dirty="0"/>
              <a:t>命令：切换目录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mv</a:t>
            </a:r>
            <a:r>
              <a:rPr lang="zh-CN" altLang="zh-CN" dirty="0"/>
              <a:t>命令：移动或重命名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err="1" smtClean="0"/>
              <a:t>rm</a:t>
            </a:r>
            <a:r>
              <a:rPr lang="zh-CN" altLang="zh-CN" dirty="0"/>
              <a:t>命令：删除</a:t>
            </a:r>
            <a:r>
              <a:rPr lang="zh-CN" altLang="zh-CN" dirty="0" smtClean="0"/>
              <a:t>文件。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1273727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10.2.2 Shell</a:t>
            </a:r>
            <a:r>
              <a:rPr lang="zh-CN" altLang="zh-CN" dirty="0"/>
              <a:t>命令分类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2. </a:t>
            </a:r>
            <a:r>
              <a:rPr lang="zh-CN" altLang="zh-CN" b="1" dirty="0"/>
              <a:t>磁盘及设备管理命令</a:t>
            </a:r>
            <a:endParaRPr lang="zh-CN" altLang="zh-CN" dirty="0"/>
          </a:p>
          <a:p>
            <a:r>
              <a:rPr lang="zh-CN" altLang="zh-CN" dirty="0"/>
              <a:t>例如：</a:t>
            </a:r>
            <a:r>
              <a:rPr lang="en-US" altLang="zh-CN" dirty="0" err="1"/>
              <a:t>df</a:t>
            </a:r>
            <a:r>
              <a:rPr lang="zh-CN" altLang="zh-CN" dirty="0"/>
              <a:t>命令</a:t>
            </a:r>
            <a:r>
              <a:rPr lang="zh-CN" altLang="zh-CN" dirty="0" smtClean="0"/>
              <a:t>：</a:t>
            </a:r>
            <a:r>
              <a:rPr lang="zh-CN" altLang="en-US" dirty="0" smtClean="0"/>
              <a:t>显示磁盘文件</a:t>
            </a:r>
            <a:r>
              <a:rPr lang="zh-CN" altLang="en-US" dirty="0"/>
              <a:t>的可用空间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du</a:t>
            </a:r>
            <a:r>
              <a:rPr lang="zh-CN" altLang="zh-CN" dirty="0"/>
              <a:t>命令</a:t>
            </a:r>
            <a:r>
              <a:rPr lang="zh-CN" altLang="zh-CN" dirty="0" smtClean="0"/>
              <a:t>：</a:t>
            </a:r>
            <a:r>
              <a:rPr lang="zh-CN" altLang="en-US" dirty="0"/>
              <a:t>显示每个文件和目录的磁盘使用空间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mount</a:t>
            </a:r>
            <a:r>
              <a:rPr lang="zh-CN" altLang="zh-CN" dirty="0"/>
              <a:t>命令：挂载</a:t>
            </a:r>
            <a:r>
              <a:rPr lang="en-US" altLang="zh-CN" dirty="0"/>
              <a:t>Linux</a:t>
            </a:r>
            <a:r>
              <a:rPr lang="zh-CN" altLang="zh-CN" dirty="0"/>
              <a:t>系统外的</a:t>
            </a:r>
            <a:r>
              <a:rPr lang="zh-CN" altLang="zh-CN" dirty="0" smtClean="0"/>
              <a:t>文件。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85223146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10.2.2 Shell</a:t>
            </a:r>
            <a:r>
              <a:rPr lang="zh-CN" altLang="zh-CN" dirty="0"/>
              <a:t>命令分类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3. </a:t>
            </a:r>
            <a:r>
              <a:rPr lang="zh-CN" altLang="zh-CN" b="1" dirty="0"/>
              <a:t>系统管理命令</a:t>
            </a:r>
            <a:endParaRPr lang="zh-CN" altLang="zh-CN" dirty="0"/>
          </a:p>
          <a:p>
            <a:r>
              <a:rPr lang="zh-CN" altLang="zh-CN" dirty="0"/>
              <a:t>例如：</a:t>
            </a:r>
            <a:r>
              <a:rPr lang="en-US" altLang="zh-CN" dirty="0"/>
              <a:t>who</a:t>
            </a:r>
            <a:r>
              <a:rPr lang="zh-CN" altLang="zh-CN" dirty="0"/>
              <a:t>命令：显示在线登陆用户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en-US" altLang="zh-CN" dirty="0" err="1" smtClean="0"/>
              <a:t>ps</a:t>
            </a:r>
            <a:r>
              <a:rPr lang="zh-CN" altLang="zh-CN" dirty="0"/>
              <a:t>命令：显示瞬间进程状态；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r>
              <a:rPr lang="en-US" altLang="zh-CN" dirty="0" smtClean="0"/>
              <a:t>kill</a:t>
            </a:r>
            <a:r>
              <a:rPr lang="zh-CN" altLang="zh-CN" dirty="0"/>
              <a:t>命令：杀死</a:t>
            </a:r>
            <a:r>
              <a:rPr lang="zh-CN" altLang="zh-CN" dirty="0" smtClean="0"/>
              <a:t>进程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451603964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10.2.2 Shell</a:t>
            </a:r>
            <a:r>
              <a:rPr lang="zh-CN" altLang="zh-CN" dirty="0"/>
              <a:t>命令分类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4. </a:t>
            </a:r>
            <a:r>
              <a:rPr lang="zh-CN" altLang="zh-CN" b="1" dirty="0"/>
              <a:t>打包压缩相关命令</a:t>
            </a:r>
            <a:endParaRPr lang="zh-CN" altLang="zh-CN" dirty="0"/>
          </a:p>
          <a:p>
            <a:r>
              <a:rPr lang="en-US" altLang="zh-CN" b="1" dirty="0" smtClean="0"/>
              <a:t>5</a:t>
            </a:r>
            <a:r>
              <a:rPr lang="en-US" altLang="zh-CN" b="1" dirty="0"/>
              <a:t>. </a:t>
            </a:r>
            <a:r>
              <a:rPr lang="zh-CN" altLang="zh-CN" b="1" dirty="0"/>
              <a:t>关机</a:t>
            </a:r>
            <a:r>
              <a:rPr lang="en-US" altLang="zh-CN" b="1" dirty="0"/>
              <a:t>/</a:t>
            </a:r>
            <a:r>
              <a:rPr lang="zh-CN" altLang="zh-CN" b="1" dirty="0"/>
              <a:t>重启机器</a:t>
            </a:r>
            <a:endParaRPr lang="zh-CN" altLang="zh-CN" dirty="0"/>
          </a:p>
          <a:p>
            <a:r>
              <a:rPr lang="en-US" altLang="zh-CN" b="1" dirty="0" smtClean="0"/>
              <a:t>6</a:t>
            </a:r>
            <a:r>
              <a:rPr lang="en-US" altLang="zh-CN" b="1" dirty="0"/>
              <a:t>. Linux</a:t>
            </a:r>
            <a:r>
              <a:rPr lang="zh-CN" altLang="zh-CN" b="1" dirty="0" smtClean="0"/>
              <a:t>管道</a:t>
            </a:r>
            <a:r>
              <a:rPr lang="zh-CN" altLang="en-US" b="1" dirty="0" smtClean="0"/>
              <a:t>命令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200728489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10.2.2 Shell</a:t>
            </a:r>
            <a:r>
              <a:rPr lang="zh-CN" altLang="zh-CN" dirty="0"/>
              <a:t>命令分类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453" y="991892"/>
            <a:ext cx="11406753" cy="5517395"/>
          </a:xfrm>
        </p:spPr>
        <p:txBody>
          <a:bodyPr>
            <a:normAutofit/>
          </a:bodyPr>
          <a:lstStyle/>
          <a:p>
            <a:r>
              <a:rPr lang="en-US" altLang="zh-CN" b="1" dirty="0"/>
              <a:t>7. Linux</a:t>
            </a:r>
            <a:r>
              <a:rPr lang="zh-CN" altLang="zh-CN" b="1" dirty="0"/>
              <a:t>软件包管理</a:t>
            </a:r>
            <a:endParaRPr lang="zh-CN" altLang="zh-CN" dirty="0"/>
          </a:p>
          <a:p>
            <a:r>
              <a:rPr lang="en-US" altLang="zh-CN" b="1" dirty="0" smtClean="0"/>
              <a:t>8</a:t>
            </a:r>
            <a:r>
              <a:rPr lang="en-US" altLang="zh-CN" b="1" dirty="0"/>
              <a:t>. vim</a:t>
            </a:r>
            <a:r>
              <a:rPr lang="zh-CN" altLang="zh-CN" b="1" dirty="0"/>
              <a:t>使用</a:t>
            </a:r>
            <a:endParaRPr lang="zh-CN" altLang="zh-CN" dirty="0"/>
          </a:p>
          <a:p>
            <a:r>
              <a:rPr lang="en-US" altLang="zh-CN" dirty="0"/>
              <a:t>vim</a:t>
            </a:r>
            <a:r>
              <a:rPr lang="zh-CN" altLang="zh-CN" dirty="0"/>
              <a:t>是一个文本编辑器，功能特别丰富，在程序员中被广泛使用。</a:t>
            </a:r>
          </a:p>
          <a:p>
            <a:r>
              <a:rPr lang="en-US" altLang="zh-CN" b="1" dirty="0"/>
              <a:t>9. </a:t>
            </a:r>
            <a:r>
              <a:rPr lang="zh-CN" altLang="zh-CN" b="1" dirty="0"/>
              <a:t>用户及用户组</a:t>
            </a:r>
            <a:r>
              <a:rPr lang="zh-CN" altLang="zh-CN" b="1" dirty="0" smtClean="0"/>
              <a:t>管理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084495920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10.2.2 Shell</a:t>
            </a:r>
            <a:r>
              <a:rPr lang="zh-CN" altLang="zh-CN" dirty="0"/>
              <a:t>命令分类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10. </a:t>
            </a:r>
            <a:r>
              <a:rPr lang="zh-CN" altLang="zh-CN" b="1" dirty="0"/>
              <a:t>文件权限管理命令</a:t>
            </a:r>
            <a:endParaRPr lang="zh-CN" altLang="zh-CN" dirty="0"/>
          </a:p>
          <a:p>
            <a:r>
              <a:rPr lang="zh-CN" altLang="zh-CN" dirty="0"/>
              <a:t>例如：</a:t>
            </a:r>
            <a:r>
              <a:rPr lang="en-US" altLang="zh-CN" dirty="0" err="1"/>
              <a:t>chmod</a:t>
            </a:r>
            <a:r>
              <a:rPr lang="zh-CN" altLang="zh-CN" dirty="0" smtClean="0"/>
              <a:t>命令</a:t>
            </a:r>
            <a:r>
              <a:rPr lang="zh-CN" altLang="en-US" dirty="0" smtClean="0"/>
              <a:t>：</a:t>
            </a:r>
            <a:r>
              <a:rPr lang="zh-CN" altLang="en-US" dirty="0"/>
              <a:t>修改</a:t>
            </a:r>
            <a:r>
              <a:rPr lang="zh-CN" altLang="en-US" dirty="0" smtClean="0"/>
              <a:t>文件的使用权限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r>
              <a:rPr lang="en-US" altLang="zh-CN" b="1" dirty="0" smtClean="0"/>
              <a:t>11</a:t>
            </a:r>
            <a:r>
              <a:rPr lang="en-US" altLang="zh-CN" b="1" dirty="0"/>
              <a:t>. </a:t>
            </a:r>
            <a:r>
              <a:rPr lang="zh-CN" altLang="zh-CN" b="1" dirty="0"/>
              <a:t>网络通信命令</a:t>
            </a:r>
            <a:endParaRPr lang="zh-CN" altLang="zh-CN" dirty="0"/>
          </a:p>
          <a:p>
            <a:r>
              <a:rPr lang="en-US" altLang="zh-CN" b="1" dirty="0" smtClean="0"/>
              <a:t>12</a:t>
            </a:r>
            <a:r>
              <a:rPr lang="en-US" altLang="zh-CN" b="1" dirty="0"/>
              <a:t>. </a:t>
            </a:r>
            <a:r>
              <a:rPr lang="zh-CN" altLang="zh-CN" b="1" dirty="0"/>
              <a:t>后台</a:t>
            </a:r>
            <a:r>
              <a:rPr lang="zh-CN" altLang="zh-CN" b="1" dirty="0" smtClean="0"/>
              <a:t>命令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92846551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 smtClean="0"/>
              <a:t>10.3 </a:t>
            </a:r>
            <a:r>
              <a:rPr lang="zh-CN" altLang="en-US" dirty="0"/>
              <a:t>系统调用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36010" y="1227455"/>
            <a:ext cx="7722235" cy="3542030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u="dottedHeavy" dirty="0" smtClean="0"/>
              <a:t>10.3.1 </a:t>
            </a:r>
            <a:r>
              <a:rPr lang="zh-CN" altLang="en-US" u="dottedHeavy" dirty="0"/>
              <a:t>系统调用的基本概念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10.3.2 </a:t>
            </a:r>
            <a:r>
              <a:rPr lang="zh-CN" altLang="en-US" u="dottedHeavy" dirty="0"/>
              <a:t>系统调用的类型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10.3.3 </a:t>
            </a:r>
            <a:r>
              <a:rPr lang="zh-CN" altLang="en-US" u="dottedHeavy" dirty="0"/>
              <a:t>系统调用的实现</a:t>
            </a:r>
            <a:endParaRPr lang="en-US" altLang="zh-CN" u="dottedHeavy" dirty="0"/>
          </a:p>
          <a:p>
            <a:pPr>
              <a:buBlip>
                <a:blip r:embed="rId3"/>
              </a:buBlip>
            </a:pPr>
            <a:r>
              <a:rPr lang="en-US" altLang="zh-CN" u="dottedHeavy" dirty="0"/>
              <a:t>10.3.4 Linux</a:t>
            </a:r>
            <a:r>
              <a:rPr lang="zh-CN" altLang="en-US" u="dottedHeavy" dirty="0"/>
              <a:t>系统</a:t>
            </a:r>
            <a:r>
              <a:rPr lang="zh-CN" altLang="en-US" u="dottedHeavy" dirty="0" smtClean="0"/>
              <a:t>调用</a:t>
            </a:r>
            <a:endParaRPr lang="en-US" altLang="zh-CN" u="dottedHeavy" dirty="0"/>
          </a:p>
          <a:p>
            <a:pPr marL="0" indent="0">
              <a:buNone/>
            </a:pPr>
            <a:r>
              <a:rPr lang="en-US" altLang="zh-CN" u="dottedHeavy" dirty="0" smtClean="0"/>
              <a:t>              </a:t>
            </a:r>
            <a:endParaRPr lang="en-US" altLang="zh-CN" u="dottedHeavy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0463124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10.3 </a:t>
            </a:r>
            <a:r>
              <a:rPr lang="zh-CN" altLang="zh-CN" dirty="0"/>
              <a:t>系统</a:t>
            </a:r>
            <a:r>
              <a:rPr lang="zh-CN" altLang="zh-CN" dirty="0" smtClean="0"/>
              <a:t>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由</a:t>
            </a:r>
            <a:r>
              <a:rPr lang="zh-CN" altLang="zh-CN" dirty="0"/>
              <a:t>操作系统实现提供的所有系统调用所构成的集合即</a:t>
            </a:r>
            <a:r>
              <a:rPr lang="zh-CN" altLang="zh-CN" dirty="0">
                <a:solidFill>
                  <a:srgbClr val="FF0000"/>
                </a:solidFill>
              </a:rPr>
              <a:t>程序接口</a:t>
            </a:r>
            <a:r>
              <a:rPr lang="zh-CN" altLang="zh-CN" dirty="0"/>
              <a:t>或</a:t>
            </a:r>
            <a:r>
              <a:rPr lang="zh-CN" altLang="zh-CN" dirty="0">
                <a:solidFill>
                  <a:srgbClr val="FF0000"/>
                </a:solidFill>
              </a:rPr>
              <a:t>应用编程接口（</a:t>
            </a:r>
            <a:r>
              <a:rPr lang="en-US" altLang="zh-CN" dirty="0">
                <a:solidFill>
                  <a:srgbClr val="FF0000"/>
                </a:solidFill>
              </a:rPr>
              <a:t>Application Programming Interface</a:t>
            </a:r>
            <a:r>
              <a:rPr lang="zh-CN" altLang="zh-CN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API</a:t>
            </a:r>
            <a:r>
              <a:rPr lang="zh-CN" altLang="zh-CN" dirty="0" smtClean="0">
                <a:solidFill>
                  <a:srgbClr val="FF0000"/>
                </a:solidFill>
              </a:rPr>
              <a:t>）</a:t>
            </a:r>
            <a:r>
              <a:rPr lang="zh-CN" altLang="zh-CN" dirty="0" smtClean="0"/>
              <a:t>是</a:t>
            </a:r>
            <a:r>
              <a:rPr lang="zh-CN" altLang="zh-CN" dirty="0"/>
              <a:t>应用程序与操作系统之间的接口。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2023027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10.3.1 系统调用的基本概念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1. </a:t>
            </a:r>
            <a:r>
              <a:rPr lang="zh-CN" altLang="zh-CN" b="1" dirty="0" smtClean="0"/>
              <a:t>系统</a:t>
            </a:r>
            <a:r>
              <a:rPr lang="zh-CN" altLang="zh-CN" b="1" dirty="0"/>
              <a:t>态和用户</a:t>
            </a:r>
            <a:r>
              <a:rPr lang="zh-CN" altLang="zh-CN" b="1" dirty="0" smtClean="0"/>
              <a:t>态</a:t>
            </a:r>
            <a:endParaRPr lang="en-US" altLang="zh-CN" b="1" dirty="0" smtClean="0"/>
          </a:p>
          <a:p>
            <a:r>
              <a:rPr lang="zh-CN" altLang="zh-CN" dirty="0"/>
              <a:t>在计算机系统中运行的程序分为</a:t>
            </a:r>
            <a:r>
              <a:rPr lang="zh-CN" altLang="zh-CN" dirty="0">
                <a:solidFill>
                  <a:srgbClr val="FF0000"/>
                </a:solidFill>
              </a:rPr>
              <a:t>系统程序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应用程序</a:t>
            </a:r>
            <a:r>
              <a:rPr lang="zh-CN" altLang="zh-CN" dirty="0"/>
              <a:t>。为了保证系统程序不被应用程序有意或无意地破坏，在操作系统中设置了两种状态：</a:t>
            </a:r>
            <a:r>
              <a:rPr lang="zh-CN" altLang="zh-CN" dirty="0">
                <a:solidFill>
                  <a:srgbClr val="FF0000"/>
                </a:solidFill>
              </a:rPr>
              <a:t>系统态（核心态、管态）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用户态（目态）</a:t>
            </a:r>
            <a:r>
              <a:rPr lang="zh-CN" altLang="zh-CN" dirty="0"/>
              <a:t>。应用程序和操作系统的内核是运行在不同的状态，操作系统的内核是运行在系统态，而应用程序是运行在用户态。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5229919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zh-CN" dirty="0"/>
              <a:t>系统态和用户态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当前多数</a:t>
            </a:r>
            <a:r>
              <a:rPr lang="en-US" altLang="zh-CN" dirty="0" smtClean="0"/>
              <a:t>CPU</a:t>
            </a:r>
            <a:r>
              <a:rPr lang="zh-CN" altLang="zh-CN" dirty="0" smtClean="0"/>
              <a:t>的指令集分为</a:t>
            </a:r>
            <a:r>
              <a:rPr lang="zh-CN" altLang="zh-CN" dirty="0" smtClean="0">
                <a:solidFill>
                  <a:srgbClr val="FF0000"/>
                </a:solidFill>
              </a:rPr>
              <a:t>特权指令</a:t>
            </a:r>
            <a:r>
              <a:rPr lang="zh-CN" altLang="zh-CN" dirty="0" smtClean="0"/>
              <a:t>和</a:t>
            </a:r>
            <a:r>
              <a:rPr lang="zh-CN" altLang="zh-CN" dirty="0" smtClean="0">
                <a:solidFill>
                  <a:srgbClr val="FF0000"/>
                </a:solidFill>
              </a:rPr>
              <a:t>非特权指令</a:t>
            </a:r>
            <a:r>
              <a:rPr lang="zh-CN" altLang="zh-CN" dirty="0" smtClean="0"/>
              <a:t>两类。</a:t>
            </a:r>
          </a:p>
          <a:p>
            <a:r>
              <a:rPr lang="zh-CN" altLang="zh-CN" dirty="0" smtClean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）特权指令</a:t>
            </a:r>
          </a:p>
          <a:p>
            <a:r>
              <a:rPr lang="zh-CN" altLang="zh-CN" dirty="0">
                <a:solidFill>
                  <a:srgbClr val="FF0000"/>
                </a:solidFill>
              </a:rPr>
              <a:t>特权指令</a:t>
            </a:r>
            <a:r>
              <a:rPr lang="zh-CN" altLang="zh-CN" dirty="0"/>
              <a:t>是指只能在系统态运行的指令。特权指令对内存的访问基本不受限制，用户空间和系统空间都可以访问。 </a:t>
            </a:r>
          </a:p>
        </p:txBody>
      </p:sp>
    </p:spTree>
    <p:extLst>
      <p:ext uri="{BB962C8B-B14F-4D97-AF65-F5344CB8AC3E}">
        <p14:creationId xmlns:p14="http://schemas.microsoft.com/office/powerpoint/2010/main" val="1373849463"/>
      </p:ext>
    </p:extLst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zh-CN" dirty="0"/>
              <a:t>系统态和用户</a:t>
            </a:r>
            <a:r>
              <a:rPr lang="zh-CN" altLang="zh-CN" dirty="0" smtClean="0"/>
              <a:t>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）非特权指令</a:t>
            </a:r>
          </a:p>
          <a:p>
            <a:r>
              <a:rPr lang="zh-CN" altLang="zh-CN" dirty="0">
                <a:solidFill>
                  <a:srgbClr val="FF0000"/>
                </a:solidFill>
              </a:rPr>
              <a:t>非特权指令</a:t>
            </a:r>
            <a:r>
              <a:rPr lang="zh-CN" altLang="zh-CN" dirty="0"/>
              <a:t>是只能运行在用户态的指令。应用程序只能使用非特权指令，完成一般性的任务，不能访问系统中的硬件和软件，对内存的访问也仅局限于用户空间。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4405700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系统</a:t>
            </a:r>
            <a:r>
              <a:rPr lang="zh-CN" altLang="zh-CN" dirty="0" smtClean="0"/>
              <a:t>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在</a:t>
            </a:r>
            <a:r>
              <a:rPr lang="zh-CN" altLang="zh-CN" dirty="0"/>
              <a:t>计算机的系统中，用户不能直接管理系统资源，所有的资源管理都是由操作系统内核统一负责的。操作系统在其内核中设置了一组用于实现各种系统功能的子程序（即过程）供应用程序调用，称为</a:t>
            </a:r>
            <a:r>
              <a:rPr lang="zh-CN" altLang="zh-CN" dirty="0">
                <a:solidFill>
                  <a:srgbClr val="FF0000"/>
                </a:solidFill>
              </a:rPr>
              <a:t>系统调用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17701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系统</a:t>
            </a:r>
            <a:r>
              <a:rPr lang="zh-CN" altLang="zh-CN" dirty="0" smtClean="0"/>
              <a:t>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系统</a:t>
            </a:r>
            <a:r>
              <a:rPr lang="zh-CN" altLang="zh-CN" dirty="0"/>
              <a:t>调用是用户程序获得操作系统服务的唯一途径。也就是说，如果一个进程在用户态需要使用内核态的功能，就需要进行系统调用从而陷入内核，由操作系统代为完成。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310228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zh-CN" dirty="0" smtClean="0"/>
              <a:t>中断机制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　　系统调用是通过</a:t>
            </a:r>
            <a:r>
              <a:rPr lang="zh-CN" altLang="zh-CN" dirty="0">
                <a:solidFill>
                  <a:srgbClr val="FF0000"/>
                </a:solidFill>
              </a:rPr>
              <a:t>中断机制</a:t>
            </a:r>
            <a:r>
              <a:rPr lang="zh-CN" altLang="zh-CN" dirty="0"/>
              <a:t>实现的，并且一个操作系统的所有系统调用，都通过同一个中断入口来实现。如</a:t>
            </a:r>
            <a:r>
              <a:rPr lang="en-US" altLang="zh-CN" dirty="0"/>
              <a:t>MS-DOS</a:t>
            </a:r>
            <a:r>
              <a:rPr lang="zh-CN" altLang="zh-CN" dirty="0"/>
              <a:t>提供了</a:t>
            </a:r>
            <a:r>
              <a:rPr lang="en-US" altLang="zh-CN" dirty="0">
                <a:solidFill>
                  <a:srgbClr val="FF0000"/>
                </a:solidFill>
              </a:rPr>
              <a:t>INT 21H</a:t>
            </a:r>
            <a:r>
              <a:rPr lang="zh-CN" altLang="zh-CN" dirty="0"/>
              <a:t>，应用程序通过该中断获取操作系统的服务。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5030013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10.3.2 系统调用的类型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）进程控制。包括进程创建、进程执行、进程中止、进程等待、获得和设置进程属性等系统调用。</a:t>
            </a:r>
            <a:endParaRPr lang="en-US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）进程通信。包括消息队列、共享存储区等通信渠道的建立、使用和删除等系统调用。 </a:t>
            </a:r>
            <a:endParaRPr lang="en-US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）设备管理。包括设备的申请和释放，设备打开、关闭、读、写，获得和设置设备属性等系统调用。</a:t>
            </a: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26608596"/>
      </p:ext>
    </p:extLst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10.3.2 系统调用的类型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）文件管理。包括创建文件、删除文件、打开文件、关闭文件、读文件、写文件、建立目录、移动文件的读</a:t>
            </a:r>
            <a:r>
              <a:rPr lang="en-US" altLang="zh-CN" dirty="0"/>
              <a:t>/</a:t>
            </a:r>
            <a:r>
              <a:rPr lang="zh-CN" altLang="zh-CN" dirty="0"/>
              <a:t>写指针、改变文件属性等系统调用。</a:t>
            </a:r>
          </a:p>
          <a:p>
            <a:r>
              <a:rPr lang="zh-CN" altLang="zh-CN" dirty="0" smtClean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）系统管理。包括获取和设置日期、时间，获得和设置系统数据（如用户和主机标识等）等系统调用。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4835844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10.3.3 系统调用的</a:t>
            </a:r>
            <a:r>
              <a:rPr lang="zh-CN" altLang="zh-CN" dirty="0" smtClean="0"/>
              <a:t>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系统</a:t>
            </a:r>
            <a:r>
              <a:rPr lang="zh-CN" altLang="zh-CN" dirty="0"/>
              <a:t>调用的实现与一般过程调用的实现相比有很大差异。对于系统调用，由原来的用户态转换为系统态，是借助于</a:t>
            </a:r>
            <a:r>
              <a:rPr lang="zh-CN" altLang="zh-CN" dirty="0">
                <a:solidFill>
                  <a:srgbClr val="FF0000"/>
                </a:solidFill>
              </a:rPr>
              <a:t>中断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陷入机制</a:t>
            </a:r>
            <a:r>
              <a:rPr lang="zh-CN" altLang="zh-CN" dirty="0"/>
              <a:t>来完成的，在该机制中包括</a:t>
            </a:r>
            <a:r>
              <a:rPr lang="zh-CN" altLang="zh-CN" dirty="0">
                <a:solidFill>
                  <a:srgbClr val="FF0000"/>
                </a:solidFill>
              </a:rPr>
              <a:t>中断和陷入硬件机构</a:t>
            </a:r>
            <a:r>
              <a:rPr lang="zh-CN" altLang="zh-CN" dirty="0"/>
              <a:t>及</a:t>
            </a:r>
            <a:r>
              <a:rPr lang="zh-CN" altLang="zh-CN" dirty="0">
                <a:solidFill>
                  <a:srgbClr val="FF0000"/>
                </a:solidFill>
              </a:rPr>
              <a:t>中断与陷入处理程序</a:t>
            </a:r>
            <a:r>
              <a:rPr lang="zh-CN" altLang="zh-CN" dirty="0"/>
              <a:t>两部分。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522324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zh-CN" dirty="0"/>
              <a:t>系统调用号和参数的</a:t>
            </a:r>
            <a:r>
              <a:rPr lang="zh-CN" altLang="zh-CN" dirty="0" smtClean="0"/>
              <a:t>设置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通常</a:t>
            </a:r>
            <a:r>
              <a:rPr lang="zh-CN" altLang="zh-CN" dirty="0"/>
              <a:t>，一个系统中设置了几十条甚至上百条系统调用，系统赋予每条系统调用一个唯一的</a:t>
            </a:r>
            <a:r>
              <a:rPr lang="zh-CN" altLang="zh-CN" dirty="0">
                <a:solidFill>
                  <a:srgbClr val="FF0000"/>
                </a:solidFill>
              </a:rPr>
              <a:t>系统调用号</a:t>
            </a:r>
            <a:r>
              <a:rPr lang="zh-CN" altLang="zh-CN" dirty="0"/>
              <a:t>。有的系统直接把系统调用号放在系统调用命令中，如</a:t>
            </a:r>
            <a:r>
              <a:rPr lang="en-US" altLang="zh-CN" dirty="0"/>
              <a:t>IBM370</a:t>
            </a:r>
            <a:r>
              <a:rPr lang="zh-CN" altLang="zh-CN" dirty="0"/>
              <a:t>和早期的</a:t>
            </a:r>
            <a:r>
              <a:rPr lang="en-US" altLang="zh-CN" dirty="0"/>
              <a:t>UNIX</a:t>
            </a:r>
            <a:r>
              <a:rPr lang="zh-CN" altLang="zh-CN" dirty="0"/>
              <a:t>系统，是用系统调用命令的低</a:t>
            </a:r>
            <a:r>
              <a:rPr lang="en-US" altLang="zh-CN" dirty="0"/>
              <a:t>8</a:t>
            </a:r>
            <a:r>
              <a:rPr lang="zh-CN" altLang="zh-CN" dirty="0"/>
              <a:t>位存放系统调用号；而一些系统是将系统调用号装入指定的寄存器或内存单元中，比如</a:t>
            </a:r>
            <a:r>
              <a:rPr lang="en-US" altLang="zh-CN" dirty="0"/>
              <a:t>MS-DOS</a:t>
            </a:r>
            <a:r>
              <a:rPr lang="zh-CN" altLang="zh-CN" dirty="0"/>
              <a:t>是将系统调用号放于</a:t>
            </a:r>
            <a:r>
              <a:rPr lang="en-US" altLang="zh-CN" dirty="0"/>
              <a:t>AH</a:t>
            </a:r>
            <a:r>
              <a:rPr lang="zh-CN" altLang="zh-CN" dirty="0"/>
              <a:t>寄存器中。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139237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zh-CN" dirty="0"/>
              <a:t>系统调用号和参数的设置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在执行系统调用时，设置系统调用所需的参数通常有三种方式。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 陷入指令自带方式。在陷入指令中，除了系统调用号外，还自带几个参数，但由于指令的长度的限制，不能携带很多参数</a:t>
            </a:r>
            <a:r>
              <a:rPr lang="zh-CN" altLang="zh-CN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4081565"/>
      </p:ext>
    </p:extLst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zh-CN" dirty="0"/>
              <a:t>系统调用号和参数的设置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）直接将参数送入相应的寄存器中。这是一种最简单的方式，</a:t>
            </a:r>
            <a:r>
              <a:rPr lang="en-US" altLang="zh-CN" dirty="0"/>
              <a:t>MS-DOS</a:t>
            </a:r>
            <a:r>
              <a:rPr lang="zh-CN" altLang="zh-CN" dirty="0"/>
              <a:t>就是采用这种方式，使用</a:t>
            </a:r>
            <a:r>
              <a:rPr lang="en-US" altLang="zh-CN" dirty="0"/>
              <a:t>MOV</a:t>
            </a:r>
            <a:r>
              <a:rPr lang="zh-CN" altLang="zh-CN" dirty="0"/>
              <a:t>指令将参数送入相应的寄存器中。这种方式的主要问题是由于寄存器数量有限，也不能携带很多参数。</a:t>
            </a:r>
            <a:endParaRPr lang="en-US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）参数表方式。将参数放入一张参数表中，然后把指向该表的指针存放于指定的寄存器中。在当前大多数的</a:t>
            </a:r>
            <a:r>
              <a:rPr lang="en-US" altLang="zh-CN" dirty="0"/>
              <a:t>OS</a:t>
            </a:r>
            <a:r>
              <a:rPr lang="zh-CN" altLang="zh-CN" dirty="0"/>
              <a:t>中，如</a:t>
            </a:r>
            <a:r>
              <a:rPr lang="en-US" altLang="zh-CN" dirty="0"/>
              <a:t>UNIX</a:t>
            </a:r>
            <a:r>
              <a:rPr lang="zh-CN" altLang="zh-CN" dirty="0"/>
              <a:t>系统，就</a:t>
            </a:r>
            <a:r>
              <a:rPr lang="zh-CN" altLang="en-US" dirty="0"/>
              <a:t>是</a:t>
            </a:r>
            <a:r>
              <a:rPr lang="zh-CN" altLang="zh-CN" dirty="0"/>
              <a:t>采用了这种方式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9903490"/>
      </p:ext>
    </p:extLst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系统调用的处理</a:t>
            </a:r>
            <a:r>
              <a:rPr lang="zh-CN" altLang="zh-CN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系统</a:t>
            </a:r>
            <a:r>
              <a:rPr lang="zh-CN" altLang="zh-CN" dirty="0"/>
              <a:t>调用命令的具体格式因系统而异，但其处理步骤大致如下： 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）设置系统调用号和参数。可以采用上述三种方式之一。当前大多数的</a:t>
            </a:r>
            <a:r>
              <a:rPr lang="en-US" altLang="zh-CN" dirty="0"/>
              <a:t>OS</a:t>
            </a:r>
            <a:r>
              <a:rPr lang="zh-CN" altLang="zh-CN" dirty="0"/>
              <a:t>中，如</a:t>
            </a:r>
            <a:r>
              <a:rPr lang="en-US" altLang="zh-CN" dirty="0"/>
              <a:t>UNIX</a:t>
            </a:r>
            <a:r>
              <a:rPr lang="zh-CN" altLang="zh-CN" dirty="0"/>
              <a:t>系统和</a:t>
            </a:r>
            <a:r>
              <a:rPr lang="en-US" altLang="zh-CN" dirty="0"/>
              <a:t>Linux</a:t>
            </a:r>
            <a:r>
              <a:rPr lang="zh-CN" altLang="zh-CN" dirty="0"/>
              <a:t>系统，都是采用了参数表方式</a:t>
            </a:r>
            <a:r>
              <a:rPr lang="zh-CN" altLang="zh-CN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3605026"/>
      </p:ext>
    </p:extLst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系统调用的处理</a:t>
            </a:r>
            <a:r>
              <a:rPr lang="zh-CN" altLang="zh-CN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（</a:t>
            </a:r>
            <a:r>
              <a:rPr lang="en-US" altLang="zh-CN" dirty="0" smtClean="0"/>
              <a:t>2</a:t>
            </a:r>
            <a:r>
              <a:rPr lang="zh-CN" altLang="zh-CN" dirty="0" smtClean="0"/>
              <a:t>）</a:t>
            </a:r>
            <a:r>
              <a:rPr lang="zh-CN" altLang="zh-CN" dirty="0"/>
              <a:t>执行陷入指令，将处理机状态由用户态转为系统态。先由硬件和内核程序进行系统调用的一般性处理，即保护被中断进程的</a:t>
            </a:r>
            <a:r>
              <a:rPr lang="en-US" altLang="zh-CN" dirty="0"/>
              <a:t>CPU</a:t>
            </a:r>
            <a:r>
              <a:rPr lang="zh-CN" altLang="zh-CN" dirty="0"/>
              <a:t>环境，将处理机状态字</a:t>
            </a:r>
            <a:r>
              <a:rPr lang="en-US" altLang="zh-CN" dirty="0"/>
              <a:t>PSW</a:t>
            </a:r>
            <a:r>
              <a:rPr lang="zh-CN" altLang="zh-CN" dirty="0"/>
              <a:t>、程序计数器</a:t>
            </a:r>
            <a:r>
              <a:rPr lang="en-US" altLang="zh-CN" dirty="0"/>
              <a:t>PC</a:t>
            </a:r>
            <a:r>
              <a:rPr lang="zh-CN" altLang="zh-CN" dirty="0"/>
              <a:t>、系统调用号、用户栈指针以及通用寄存器内容等压入堆栈；然后，将用户定义的参数传送到指定的地方保存起来。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819441"/>
      </p:ext>
    </p:extLst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zh-CN" dirty="0"/>
              <a:t>系统调用的处理步骤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）取系统调用功能号，查找系统调用子程序的入口地址。根据系统调用功能号查找系统调用入口地址表，找到相应系统调用子程序的入口地址，然后转到该子程序执行。</a:t>
            </a:r>
          </a:p>
          <a:p>
            <a:r>
              <a:rPr lang="zh-CN" altLang="zh-CN" dirty="0" smtClean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）在系统调用处理子程序执行完后，恢复被中断的用户进程的</a:t>
            </a:r>
            <a:r>
              <a:rPr lang="en-US" altLang="zh-CN" dirty="0"/>
              <a:t>CPU</a:t>
            </a:r>
            <a:r>
              <a:rPr lang="zh-CN" altLang="zh-CN" dirty="0"/>
              <a:t>现场或设置新进程的</a:t>
            </a:r>
            <a:r>
              <a:rPr lang="en-US" altLang="zh-CN" dirty="0"/>
              <a:t>CPU</a:t>
            </a:r>
            <a:r>
              <a:rPr lang="zh-CN" altLang="zh-CN" dirty="0"/>
              <a:t>现场，返回被中断进程或新进程，继续执行。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3620331"/>
      </p:ext>
    </p:extLst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zh-CN" dirty="0"/>
              <a:t>系统调用处理子程序的处理</a:t>
            </a:r>
            <a:r>
              <a:rPr lang="zh-CN" altLang="zh-CN" dirty="0" smtClean="0"/>
              <a:t>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系统</a:t>
            </a:r>
            <a:r>
              <a:rPr lang="zh-CN" altLang="zh-CN" dirty="0"/>
              <a:t>调用的主要工作是由系统调用子程序来实现的。不同的系统调用，其系统调用子程序执行的功能不同。下面以一条在文件操作中常用的</a:t>
            </a:r>
            <a:r>
              <a:rPr lang="en-US" altLang="zh-CN" dirty="0" err="1">
                <a:solidFill>
                  <a:srgbClr val="FF0000"/>
                </a:solidFill>
              </a:rPr>
              <a:t>creat</a:t>
            </a:r>
            <a:r>
              <a:rPr lang="zh-CN" altLang="zh-CN" dirty="0"/>
              <a:t>命令为例来说明处理子程序的处理过程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666608496"/>
      </p:ext>
    </p:extLst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zh-CN" dirty="0"/>
              <a:t>系统调用处理子程序的处理</a:t>
            </a:r>
            <a:r>
              <a:rPr lang="zh-CN" altLang="zh-CN" dirty="0" smtClean="0"/>
              <a:t>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进入</a:t>
            </a:r>
            <a:r>
              <a:rPr lang="en-US" altLang="zh-CN" dirty="0" err="1"/>
              <a:t>creat</a:t>
            </a:r>
            <a:r>
              <a:rPr lang="zh-CN" altLang="zh-CN" dirty="0"/>
              <a:t>的系统调用处理子程序后，内核将根据用户给定的文件路径名</a:t>
            </a:r>
            <a:r>
              <a:rPr lang="en-US" altLang="zh-CN" dirty="0"/>
              <a:t>Path</a:t>
            </a:r>
            <a:r>
              <a:rPr lang="zh-CN" altLang="zh-CN" dirty="0"/>
              <a:t>，查找指定文件的目录项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如</a:t>
            </a:r>
            <a:r>
              <a:rPr lang="zh-CN" altLang="zh-CN" dirty="0"/>
              <a:t>找到了该目录项，表示用户要利用一个已有文件来创建新文件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如果</a:t>
            </a:r>
            <a:r>
              <a:rPr lang="zh-CN" altLang="zh-CN" dirty="0"/>
              <a:t>在该目录的属性中有不允许写的属性，或者用户没有修改权限，便认为是出错，进行出错处理</a:t>
            </a:r>
            <a:r>
              <a:rPr lang="zh-CN" altLang="zh-CN" dirty="0" smtClean="0"/>
              <a:t>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0515880"/>
      </p:ext>
    </p:extLst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zh-CN" dirty="0"/>
              <a:t>系统调用处理子程序的处理</a:t>
            </a:r>
            <a:r>
              <a:rPr lang="zh-CN" altLang="zh-CN" dirty="0" smtClean="0"/>
              <a:t>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如果</a:t>
            </a:r>
            <a:r>
              <a:rPr lang="zh-CN" altLang="zh-CN" dirty="0"/>
              <a:t>没有访问权限问题，便释放已有文件的数据盘块，写入新的数据文件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dirty="0" smtClean="0"/>
              <a:t>如</a:t>
            </a:r>
            <a:r>
              <a:rPr lang="zh-CN" altLang="zh-CN" dirty="0"/>
              <a:t>没有找到指定文件，则表示应创建新文件，内核找出一个空目录项，并初始化该目录项，然后将该文件打开。</a:t>
            </a:r>
          </a:p>
          <a:p>
            <a:pPr marL="457200" indent="-457200">
              <a:buFont typeface="Wingdings" pitchFamily="2" charset="2"/>
              <a:buChar char="Ø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8070236"/>
      </p:ext>
    </p:extLst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10.</a:t>
            </a:r>
            <a:r>
              <a:rPr lang="en-US" altLang="zh-CN" dirty="0"/>
              <a:t>3.4</a:t>
            </a:r>
            <a:r>
              <a:rPr lang="zh-CN" altLang="zh-CN" dirty="0"/>
              <a:t> Linux系统</a:t>
            </a:r>
            <a:r>
              <a:rPr lang="zh-CN" altLang="zh-CN" dirty="0" smtClean="0"/>
              <a:t>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3200" b="1" dirty="0" smtClean="0"/>
              <a:t>1</a:t>
            </a:r>
            <a:r>
              <a:rPr lang="zh-CN" altLang="zh-CN" sz="3200" b="1" dirty="0"/>
              <a:t>. 系统调用、用户编程接口、系统命令和内核函数的关系</a:t>
            </a:r>
            <a:endParaRPr lang="zh-CN" altLang="zh-CN" sz="3200" dirty="0"/>
          </a:p>
          <a:p>
            <a:r>
              <a:rPr lang="zh-CN" altLang="zh-CN" sz="3200" dirty="0"/>
              <a:t>系统调用并非直接和程序员或系统管理员打交道，它仅仅是一个通过软中断机制向内核提交请求，获取内核服务的接口。而在实际使用中程序员调用的多是</a:t>
            </a:r>
            <a:r>
              <a:rPr lang="zh-CN" altLang="zh-CN" sz="3200" dirty="0">
                <a:solidFill>
                  <a:srgbClr val="FF0000"/>
                </a:solidFill>
              </a:rPr>
              <a:t>用户编程接口（</a:t>
            </a:r>
            <a:r>
              <a:rPr lang="en-US" altLang="zh-CN" sz="3200" dirty="0">
                <a:solidFill>
                  <a:srgbClr val="FF0000"/>
                </a:solidFill>
              </a:rPr>
              <a:t>API</a:t>
            </a:r>
            <a:r>
              <a:rPr lang="zh-CN" altLang="zh-CN" sz="3200" dirty="0">
                <a:solidFill>
                  <a:srgbClr val="FF0000"/>
                </a:solidFill>
              </a:rPr>
              <a:t>）</a:t>
            </a:r>
            <a:r>
              <a:rPr lang="zh-CN" altLang="zh-CN" sz="3200" dirty="0"/>
              <a:t>，而管理员使用的则多是</a:t>
            </a:r>
            <a:r>
              <a:rPr lang="zh-CN" altLang="zh-CN" sz="3200" dirty="0">
                <a:solidFill>
                  <a:srgbClr val="FF0000"/>
                </a:solidFill>
              </a:rPr>
              <a:t>系统命令</a:t>
            </a:r>
            <a:r>
              <a:rPr lang="zh-CN" altLang="zh-CN" sz="3200" dirty="0"/>
              <a:t>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91498475"/>
      </p:ext>
    </p:extLst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0000"/>
                </a:solidFill>
              </a:rPr>
              <a:t>用户编程接口</a:t>
            </a:r>
            <a:r>
              <a:rPr lang="zh-CN" altLang="zh-CN" dirty="0"/>
              <a:t>其实是一个函数定义，说明了如何获得一个给定的服务，比如</a:t>
            </a:r>
            <a:r>
              <a:rPr lang="en-US" altLang="zh-CN" dirty="0"/>
              <a:t>read( )</a:t>
            </a:r>
            <a:r>
              <a:rPr lang="zh-CN" altLang="zh-CN" dirty="0"/>
              <a:t>、</a:t>
            </a:r>
            <a:r>
              <a:rPr lang="en-US" altLang="zh-CN" dirty="0" err="1"/>
              <a:t>malloc</a:t>
            </a:r>
            <a:r>
              <a:rPr lang="en-US" altLang="zh-CN" dirty="0"/>
              <a:t>( )</a:t>
            </a:r>
            <a:r>
              <a:rPr lang="zh-CN" altLang="zh-CN" dirty="0"/>
              <a:t>、</a:t>
            </a:r>
            <a:r>
              <a:rPr lang="en-US" altLang="zh-CN" dirty="0"/>
              <a:t>free( )</a:t>
            </a:r>
            <a:r>
              <a:rPr lang="zh-CN" altLang="zh-CN" dirty="0"/>
              <a:t>、</a:t>
            </a:r>
            <a:r>
              <a:rPr lang="en-US" altLang="zh-CN" dirty="0"/>
              <a:t>abs( )</a:t>
            </a:r>
            <a:r>
              <a:rPr lang="zh-CN" altLang="zh-CN" dirty="0"/>
              <a:t>等。它有可能和系统调用形式上一致，比如</a:t>
            </a:r>
            <a:r>
              <a:rPr lang="en-US" altLang="zh-CN" dirty="0"/>
              <a:t>read()</a:t>
            </a:r>
            <a:r>
              <a:rPr lang="zh-CN" altLang="zh-CN" dirty="0"/>
              <a:t>接口就和</a:t>
            </a:r>
            <a:r>
              <a:rPr lang="en-US" altLang="zh-CN" dirty="0"/>
              <a:t>read</a:t>
            </a:r>
            <a:r>
              <a:rPr lang="zh-CN" altLang="zh-CN" dirty="0"/>
              <a:t>系统调用对应，但这种对应并非</a:t>
            </a:r>
            <a:r>
              <a:rPr lang="zh-CN" altLang="zh-CN" dirty="0" smtClean="0"/>
              <a:t>一一对应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9512588"/>
      </p:ext>
    </p:extLst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2. Linux系统调用的</a:t>
            </a:r>
            <a:r>
              <a:rPr lang="zh-CN" altLang="zh-CN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zh-CN" dirty="0"/>
              <a:t>提供多达二、三百种系统调用，从功能上分主要有以下</a:t>
            </a:r>
            <a:r>
              <a:rPr lang="en-US" altLang="zh-CN" dirty="0"/>
              <a:t>6</a:t>
            </a:r>
            <a:r>
              <a:rPr lang="zh-CN" altLang="zh-CN" dirty="0"/>
              <a:t>类。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）设备管理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 smtClean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）文件系统操作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）进程控制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）存储管理。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）系统管理。</a:t>
            </a:r>
            <a:endParaRPr lang="en-US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）通信管理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6768586"/>
      </p:ext>
    </p:extLst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zh-CN" dirty="0"/>
              <a:t> Linux系统调用的实现</a:t>
            </a:r>
            <a:r>
              <a:rPr lang="zh-CN" altLang="zh-CN" dirty="0" smtClean="0"/>
              <a:t>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Linux</a:t>
            </a:r>
            <a:r>
              <a:rPr lang="zh-CN" altLang="zh-CN" dirty="0"/>
              <a:t>系统调用的过程</a:t>
            </a:r>
          </a:p>
          <a:p>
            <a:r>
              <a:rPr lang="zh-CN" altLang="zh-CN" dirty="0"/>
              <a:t>在</a:t>
            </a:r>
            <a:r>
              <a:rPr lang="en-US" altLang="zh-CN" dirty="0" err="1"/>
              <a:t>linux</a:t>
            </a:r>
            <a:r>
              <a:rPr lang="zh-CN" altLang="zh-CN" dirty="0"/>
              <a:t>系统中，实现系统调用利用了</a:t>
            </a:r>
            <a:r>
              <a:rPr lang="en-US" altLang="zh-CN" dirty="0"/>
              <a:t>x86</a:t>
            </a:r>
            <a:r>
              <a:rPr lang="zh-CN" altLang="zh-CN" dirty="0"/>
              <a:t>体系结构中的软件中断。即调用了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$0x80</a:t>
            </a:r>
            <a:r>
              <a:rPr lang="zh-CN" altLang="zh-CN" dirty="0"/>
              <a:t>汇编指令。这条汇编指令将产生向量为</a:t>
            </a:r>
            <a:r>
              <a:rPr lang="en-US" altLang="zh-CN" dirty="0"/>
              <a:t>128</a:t>
            </a:r>
            <a:r>
              <a:rPr lang="zh-CN" altLang="zh-CN" dirty="0"/>
              <a:t>的编程异常中断，</a:t>
            </a:r>
            <a:r>
              <a:rPr lang="en-US" altLang="zh-CN" dirty="0"/>
              <a:t>CPU</a:t>
            </a:r>
            <a:r>
              <a:rPr lang="zh-CN" altLang="zh-CN" dirty="0"/>
              <a:t>便被切换到内核态执行内核函数，转到了系统调用处理程序的入口：</a:t>
            </a:r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system_call</a:t>
            </a:r>
            <a:r>
              <a:rPr lang="en-US" altLang="zh-CN" dirty="0" smtClean="0"/>
              <a:t>()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44588893"/>
      </p:ext>
    </p:extLst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图</a:t>
            </a:r>
            <a:r>
              <a:rPr lang="en-US" altLang="zh-CN" dirty="0"/>
              <a:t>10-4  Linux</a:t>
            </a:r>
            <a:r>
              <a:rPr lang="zh-CN" altLang="zh-CN" dirty="0"/>
              <a:t>系统调用</a:t>
            </a:r>
            <a:r>
              <a:rPr lang="zh-CN" altLang="zh-CN" dirty="0" smtClean="0"/>
              <a:t>过程</a:t>
            </a:r>
            <a:endParaRPr lang="zh-CN" altLang="en-US" dirty="0"/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480" y="812800"/>
            <a:ext cx="7538720" cy="442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525064" y="5398254"/>
            <a:ext cx="3863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图</a:t>
            </a:r>
            <a:r>
              <a:rPr lang="en-US" altLang="zh-CN" sz="2400" dirty="0"/>
              <a:t>10-4 </a:t>
            </a:r>
            <a:r>
              <a:rPr lang="en-US" altLang="zh-CN" sz="2400" dirty="0" smtClean="0"/>
              <a:t> Linux</a:t>
            </a:r>
            <a:r>
              <a:rPr lang="zh-CN" altLang="zh-CN" sz="2400" dirty="0"/>
              <a:t>系统调用过程</a:t>
            </a:r>
          </a:p>
        </p:txBody>
      </p:sp>
    </p:spTree>
    <p:extLst>
      <p:ext uri="{BB962C8B-B14F-4D97-AF65-F5344CB8AC3E}">
        <p14:creationId xmlns:p14="http://schemas.microsoft.com/office/powerpoint/2010/main" val="4045986099"/>
      </p:ext>
    </p:extLst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）系统调用</a:t>
            </a:r>
            <a:r>
              <a:rPr lang="zh-CN" altLang="zh-CN" dirty="0" smtClean="0"/>
              <a:t>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在</a:t>
            </a:r>
            <a:r>
              <a:rPr lang="en-US" altLang="zh-CN" dirty="0"/>
              <a:t>Linux</a:t>
            </a:r>
            <a:r>
              <a:rPr lang="zh-CN" altLang="zh-CN" dirty="0"/>
              <a:t>中，每个系统调用被赋予一个唯一的</a:t>
            </a:r>
            <a:r>
              <a:rPr lang="zh-CN" altLang="zh-CN" dirty="0">
                <a:solidFill>
                  <a:srgbClr val="FF0000"/>
                </a:solidFill>
              </a:rPr>
              <a:t>系统调用号</a:t>
            </a:r>
            <a:r>
              <a:rPr lang="zh-CN" altLang="zh-CN" dirty="0"/>
              <a:t>。当用户空间的进程执行一个系统调用时，通过系统调用号来指明到底要执行哪个系统调用。系统调用号一旦分配，就不能再更改。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911888"/>
      </p:ext>
    </p:extLst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 dirty="0"/>
              <a:t>系统调用号在</a:t>
            </a:r>
            <a:r>
              <a:rPr lang="en-US" altLang="zh-CN" dirty="0"/>
              <a:t>/include/asm-i386/</a:t>
            </a:r>
            <a:r>
              <a:rPr lang="en-US" altLang="zh-CN" dirty="0" err="1"/>
              <a:t>unistd.h</a:t>
            </a:r>
            <a:r>
              <a:rPr lang="zh-CN" altLang="zh-CN" dirty="0"/>
              <a:t>中定义。格式如下所示： </a:t>
            </a:r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NR_restart_syscall</a:t>
            </a:r>
            <a:r>
              <a:rPr lang="en-US" altLang="zh-CN" dirty="0"/>
              <a:t>              0</a:t>
            </a:r>
            <a:endParaRPr lang="zh-CN" altLang="zh-CN" dirty="0"/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NR_exit</a:t>
            </a:r>
            <a:r>
              <a:rPr lang="en-US" altLang="zh-CN" dirty="0"/>
              <a:t>		       		1</a:t>
            </a:r>
            <a:endParaRPr lang="zh-CN" altLang="zh-CN" dirty="0"/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NR_fork</a:t>
            </a:r>
            <a:r>
              <a:rPr lang="en-US" altLang="zh-CN" dirty="0"/>
              <a:t>		       	2</a:t>
            </a:r>
            <a:endParaRPr lang="zh-CN" altLang="zh-CN" dirty="0"/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NR_read</a:t>
            </a:r>
            <a:r>
              <a:rPr lang="en-US" altLang="zh-CN" dirty="0"/>
              <a:t>		       	3</a:t>
            </a:r>
            <a:endParaRPr lang="zh-CN" altLang="zh-CN" dirty="0"/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NR_write</a:t>
            </a:r>
            <a:r>
              <a:rPr lang="en-US" altLang="zh-CN" dirty="0"/>
              <a:t>		       	4</a:t>
            </a:r>
            <a:endParaRPr lang="zh-CN" altLang="zh-CN" dirty="0"/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NR_open</a:t>
            </a:r>
            <a:r>
              <a:rPr lang="en-US" altLang="zh-CN" dirty="0"/>
              <a:t>		       	5</a:t>
            </a:r>
            <a:endParaRPr lang="zh-CN" altLang="zh-CN" dirty="0"/>
          </a:p>
          <a:p>
            <a:r>
              <a:rPr lang="en-US" altLang="zh-CN" dirty="0"/>
              <a:t>       …………</a:t>
            </a:r>
            <a:endParaRPr lang="zh-CN" altLang="zh-CN" dirty="0"/>
          </a:p>
          <a:p>
            <a:r>
              <a:rPr lang="en-US" altLang="zh-CN" dirty="0"/>
              <a:t>       …………</a:t>
            </a:r>
            <a:endParaRPr lang="zh-CN" altLang="zh-CN" dirty="0"/>
          </a:p>
          <a:p>
            <a:r>
              <a:rPr lang="en-US" altLang="zh-CN" dirty="0"/>
              <a:t>       #define  __</a:t>
            </a:r>
            <a:r>
              <a:rPr lang="en-US" altLang="zh-CN" dirty="0" err="1"/>
              <a:t>NR_mq_getsetattr</a:t>
            </a:r>
            <a:r>
              <a:rPr lang="en-US" altLang="zh-CN" dirty="0"/>
              <a:t>              282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2924406"/>
      </p:ext>
    </p:extLst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）系统调用表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</a:t>
            </a:r>
            <a:r>
              <a:rPr lang="en-US" altLang="zh-CN" dirty="0"/>
              <a:t>	</a:t>
            </a:r>
            <a:r>
              <a:rPr lang="zh-CN" altLang="zh-CN" dirty="0">
                <a:solidFill>
                  <a:srgbClr val="FF0000"/>
                </a:solidFill>
              </a:rPr>
              <a:t>系统调用表</a:t>
            </a:r>
            <a:r>
              <a:rPr lang="zh-CN" altLang="zh-CN" dirty="0"/>
              <a:t>记录了内核中所有已注册过的系统调用，它是系统调用的跳转表。系统调用表是一个函数指针数组，表中依次保存所有系统调用的函数指针。</a:t>
            </a:r>
          </a:p>
          <a:p>
            <a:r>
              <a:rPr lang="en-US" altLang="zh-CN" dirty="0"/>
              <a:t>	Linux</a:t>
            </a:r>
            <a:r>
              <a:rPr lang="zh-CN" altLang="zh-CN" dirty="0"/>
              <a:t>系统调用表保存在</a:t>
            </a:r>
            <a:r>
              <a:rPr lang="en-US" altLang="zh-CN" dirty="0"/>
              <a:t>arch/i386/kernel/</a:t>
            </a:r>
            <a:r>
              <a:rPr lang="zh-CN" altLang="zh-CN" dirty="0"/>
              <a:t>下的</a:t>
            </a:r>
            <a:r>
              <a:rPr lang="en-US" altLang="zh-CN" dirty="0" err="1"/>
              <a:t>entry.S</a:t>
            </a:r>
            <a:r>
              <a:rPr lang="zh-CN" altLang="zh-CN" dirty="0"/>
              <a:t>中。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1961879"/>
      </p:ext>
    </p:extLst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系统调用表格式如下</a:t>
            </a:r>
            <a:r>
              <a:rPr lang="zh-CN" altLang="zh-CN" dirty="0" smtClean="0"/>
              <a:t>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ENTRY(</a:t>
            </a:r>
            <a:r>
              <a:rPr lang="en-US" altLang="zh-CN" dirty="0" err="1" smtClean="0"/>
              <a:t>sys_call_table</a:t>
            </a:r>
            <a:r>
              <a:rPr lang="en-US" altLang="zh-CN" dirty="0" smtClean="0"/>
              <a:t>)</a:t>
            </a:r>
            <a:endParaRPr lang="zh-CN" altLang="zh-CN" dirty="0" smtClean="0"/>
          </a:p>
          <a:p>
            <a:r>
              <a:rPr lang="en-US" altLang="zh-CN" dirty="0" smtClean="0"/>
              <a:t>        </a:t>
            </a:r>
            <a:r>
              <a:rPr lang="en-US" altLang="zh-CN" dirty="0"/>
              <a:t>	.long </a:t>
            </a:r>
            <a:r>
              <a:rPr lang="en-US" altLang="zh-CN" dirty="0" err="1"/>
              <a:t>sys_restart_syscall</a:t>
            </a:r>
            <a:r>
              <a:rPr lang="en-US" altLang="zh-CN" dirty="0"/>
              <a:t>           /* 0 */</a:t>
            </a:r>
            <a:endParaRPr lang="zh-CN" altLang="zh-CN" dirty="0"/>
          </a:p>
          <a:p>
            <a:r>
              <a:rPr lang="en-US" altLang="zh-CN" dirty="0"/>
              <a:t>        	.long </a:t>
            </a:r>
            <a:r>
              <a:rPr lang="en-US" altLang="zh-CN" dirty="0" err="1"/>
              <a:t>sys_exit</a:t>
            </a:r>
            <a:r>
              <a:rPr lang="en-US" altLang="zh-CN" dirty="0"/>
              <a:t>             /* 1 */</a:t>
            </a:r>
            <a:endParaRPr lang="zh-CN" altLang="zh-CN" dirty="0"/>
          </a:p>
          <a:p>
            <a:r>
              <a:rPr lang="en-US" altLang="zh-CN" dirty="0"/>
              <a:t>        	.long </a:t>
            </a:r>
            <a:r>
              <a:rPr lang="en-US" altLang="zh-CN" dirty="0" err="1"/>
              <a:t>sys_fork</a:t>
            </a:r>
            <a:r>
              <a:rPr lang="en-US" altLang="zh-CN" dirty="0"/>
              <a:t>		       /* 2 */</a:t>
            </a:r>
            <a:endParaRPr lang="zh-CN" altLang="zh-CN" dirty="0"/>
          </a:p>
          <a:p>
            <a:r>
              <a:rPr lang="en-US" altLang="zh-CN" dirty="0"/>
              <a:t>        	.long </a:t>
            </a:r>
            <a:r>
              <a:rPr lang="en-US" altLang="zh-CN" dirty="0" err="1"/>
              <a:t>sys_read</a:t>
            </a:r>
            <a:r>
              <a:rPr lang="en-US" altLang="zh-CN" dirty="0"/>
              <a:t>		       /* 3 */</a:t>
            </a:r>
            <a:endParaRPr lang="zh-CN" altLang="zh-CN" dirty="0"/>
          </a:p>
          <a:p>
            <a:r>
              <a:rPr lang="en-US" altLang="zh-CN" dirty="0"/>
              <a:t>        	.long </a:t>
            </a:r>
            <a:r>
              <a:rPr lang="en-US" altLang="zh-CN" dirty="0" err="1"/>
              <a:t>sys_write</a:t>
            </a:r>
            <a:r>
              <a:rPr lang="en-US" altLang="zh-CN" dirty="0"/>
              <a:t>		       /* 4 */</a:t>
            </a:r>
            <a:endParaRPr lang="zh-CN" altLang="zh-CN" dirty="0"/>
          </a:p>
          <a:p>
            <a:r>
              <a:rPr lang="en-US" altLang="zh-CN" dirty="0"/>
              <a:t>        	.long </a:t>
            </a:r>
            <a:r>
              <a:rPr lang="en-US" altLang="zh-CN" dirty="0" err="1"/>
              <a:t>sys_open</a:t>
            </a:r>
            <a:r>
              <a:rPr lang="en-US" altLang="zh-CN" dirty="0"/>
              <a:t>		       /* 5 */</a:t>
            </a:r>
            <a:endParaRPr lang="zh-CN" altLang="zh-CN" dirty="0"/>
          </a:p>
          <a:p>
            <a:r>
              <a:rPr lang="en-US" altLang="zh-CN" dirty="0"/>
              <a:t>                   …………</a:t>
            </a:r>
            <a:endParaRPr lang="zh-CN" altLang="zh-CN" dirty="0"/>
          </a:p>
          <a:p>
            <a:r>
              <a:rPr lang="en-US" altLang="zh-CN" dirty="0"/>
              <a:t>                   …………</a:t>
            </a:r>
            <a:endParaRPr lang="zh-CN" altLang="zh-CN" dirty="0"/>
          </a:p>
          <a:p>
            <a:r>
              <a:rPr lang="en-US" altLang="zh-CN" dirty="0"/>
              <a:t>        	.long </a:t>
            </a:r>
            <a:r>
              <a:rPr lang="en-US" altLang="zh-CN" dirty="0" err="1"/>
              <a:t>sys_mq_getsetattr</a:t>
            </a:r>
            <a:r>
              <a:rPr lang="en-US" altLang="zh-CN" dirty="0"/>
              <a:t>            /* 282 */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490739"/>
      </p:ext>
    </p:extLst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）系统调用</a:t>
            </a:r>
            <a:r>
              <a:rPr lang="zh-CN" altLang="zh-CN" dirty="0" smtClean="0"/>
              <a:t>处理程序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系统</a:t>
            </a:r>
            <a:r>
              <a:rPr lang="zh-CN" altLang="zh-CN" dirty="0"/>
              <a:t>调用处理程序是</a:t>
            </a:r>
            <a:r>
              <a:rPr lang="en-US" altLang="zh-CN" dirty="0" err="1"/>
              <a:t>system_call</a:t>
            </a:r>
            <a:r>
              <a:rPr lang="en-US" altLang="zh-CN" dirty="0"/>
              <a:t>()</a:t>
            </a:r>
            <a:r>
              <a:rPr lang="zh-CN" altLang="zh-CN" dirty="0"/>
              <a:t>，该函数的主要工作如下：</a:t>
            </a:r>
          </a:p>
          <a:p>
            <a:r>
              <a:rPr lang="en-US" altLang="zh-CN" dirty="0"/>
              <a:t>①</a:t>
            </a:r>
            <a:r>
              <a:rPr lang="zh-CN" altLang="zh-CN" dirty="0"/>
              <a:t>通过宏</a:t>
            </a:r>
            <a:r>
              <a:rPr lang="en-US" altLang="zh-CN" dirty="0"/>
              <a:t>SAVE ALL</a:t>
            </a:r>
            <a:r>
              <a:rPr lang="zh-CN" altLang="zh-CN" dirty="0"/>
              <a:t>保护异常处理程序中要用到的所有寄存器到内核堆栈</a:t>
            </a:r>
            <a:r>
              <a:rPr lang="zh-CN" altLang="zh-CN" dirty="0" smtClean="0"/>
              <a:t>中。</a:t>
            </a:r>
            <a:endParaRPr lang="zh-CN" altLang="zh-CN" dirty="0"/>
          </a:p>
          <a:p>
            <a:r>
              <a:rPr lang="en-US" altLang="zh-CN" dirty="0"/>
              <a:t>②</a:t>
            </a:r>
            <a:r>
              <a:rPr lang="zh-CN" altLang="zh-CN" dirty="0"/>
              <a:t>进行系统调用正确性检</a:t>
            </a:r>
            <a:r>
              <a:rPr lang="zh-CN" altLang="zh-CN" dirty="0" smtClean="0"/>
              <a:t>査。</a:t>
            </a:r>
            <a:endParaRPr lang="zh-CN" altLang="zh-CN" dirty="0"/>
          </a:p>
          <a:p>
            <a:r>
              <a:rPr lang="en-US" altLang="zh-CN" dirty="0"/>
              <a:t>③</a:t>
            </a:r>
            <a:r>
              <a:rPr lang="zh-CN" altLang="zh-CN" dirty="0"/>
              <a:t>根据</a:t>
            </a:r>
            <a:r>
              <a:rPr lang="en-US" altLang="zh-CN" dirty="0" err="1"/>
              <a:t>eax</a:t>
            </a:r>
            <a:r>
              <a:rPr lang="zh-CN" altLang="zh-CN" dirty="0"/>
              <a:t>中所包含的系统调用号，调用其对应的服务例程。</a:t>
            </a:r>
          </a:p>
          <a:p>
            <a:r>
              <a:rPr lang="en-US" altLang="zh-CN" dirty="0"/>
              <a:t>④</a:t>
            </a:r>
            <a:r>
              <a:rPr lang="zh-CN" altLang="zh-CN" dirty="0"/>
              <a:t>系统服务例程结束时，通过宏</a:t>
            </a:r>
            <a:r>
              <a:rPr lang="en-US" altLang="zh-CN" dirty="0"/>
              <a:t> RESTORE ALL</a:t>
            </a:r>
            <a:r>
              <a:rPr lang="zh-CN" altLang="zh-CN" dirty="0"/>
              <a:t>恢复寄存器，最后通过</a:t>
            </a:r>
            <a:r>
              <a:rPr lang="en-US" altLang="zh-CN" dirty="0" err="1"/>
              <a:t>iret</a:t>
            </a:r>
            <a:r>
              <a:rPr lang="zh-CN" altLang="zh-CN" dirty="0"/>
              <a:t>指令返回。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6829247"/>
      </p:ext>
    </p:extLst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）系统调用</a:t>
            </a:r>
            <a:r>
              <a:rPr lang="zh-CN" altLang="zh-CN" dirty="0" smtClean="0"/>
              <a:t>处理程序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系统</a:t>
            </a:r>
            <a:r>
              <a:rPr lang="zh-CN" altLang="zh-CN" dirty="0"/>
              <a:t>调用处理程序是</a:t>
            </a:r>
            <a:r>
              <a:rPr lang="en-US" altLang="zh-CN" dirty="0" err="1"/>
              <a:t>system_call</a:t>
            </a:r>
            <a:r>
              <a:rPr lang="en-US" altLang="zh-CN" dirty="0"/>
              <a:t>()</a:t>
            </a:r>
            <a:r>
              <a:rPr lang="zh-CN" altLang="zh-CN" dirty="0"/>
              <a:t>，该函数的主要工作如下：</a:t>
            </a:r>
          </a:p>
          <a:p>
            <a:r>
              <a:rPr lang="en-US" altLang="zh-CN" dirty="0"/>
              <a:t>①</a:t>
            </a:r>
            <a:r>
              <a:rPr lang="zh-CN" altLang="zh-CN" dirty="0"/>
              <a:t>通过宏</a:t>
            </a:r>
            <a:r>
              <a:rPr lang="en-US" altLang="zh-CN" dirty="0"/>
              <a:t>SAVE ALL</a:t>
            </a:r>
            <a:r>
              <a:rPr lang="zh-CN" altLang="zh-CN" dirty="0"/>
              <a:t>保护异常处理程序中要用到的所有寄存器到内核堆栈</a:t>
            </a:r>
            <a:r>
              <a:rPr lang="zh-CN" altLang="zh-CN" dirty="0" smtClean="0"/>
              <a:t>中。</a:t>
            </a:r>
            <a:endParaRPr lang="zh-CN" altLang="zh-CN" dirty="0"/>
          </a:p>
          <a:p>
            <a:r>
              <a:rPr lang="en-US" altLang="zh-CN" dirty="0"/>
              <a:t>②</a:t>
            </a:r>
            <a:r>
              <a:rPr lang="zh-CN" altLang="zh-CN" dirty="0"/>
              <a:t>进行系统调用正确性检</a:t>
            </a:r>
            <a:r>
              <a:rPr lang="zh-CN" altLang="zh-CN" dirty="0" smtClean="0"/>
              <a:t>査。</a:t>
            </a:r>
            <a:endParaRPr lang="zh-CN" altLang="zh-CN" dirty="0"/>
          </a:p>
          <a:p>
            <a:r>
              <a:rPr lang="en-US" altLang="zh-CN" dirty="0"/>
              <a:t>③</a:t>
            </a:r>
            <a:r>
              <a:rPr lang="zh-CN" altLang="zh-CN" dirty="0"/>
              <a:t>根据</a:t>
            </a:r>
            <a:r>
              <a:rPr lang="en-US" altLang="zh-CN" dirty="0" err="1"/>
              <a:t>eax</a:t>
            </a:r>
            <a:r>
              <a:rPr lang="zh-CN" altLang="zh-CN" dirty="0"/>
              <a:t>中所包含的系统调用号，调用其对应的服务例程。</a:t>
            </a:r>
          </a:p>
          <a:p>
            <a:r>
              <a:rPr lang="en-US" altLang="zh-CN" dirty="0"/>
              <a:t>④</a:t>
            </a:r>
            <a:r>
              <a:rPr lang="zh-CN" altLang="zh-CN" dirty="0"/>
              <a:t>系统服务例程结束时，通过宏</a:t>
            </a:r>
            <a:r>
              <a:rPr lang="en-US" altLang="zh-CN" dirty="0"/>
              <a:t> RESTORE ALL</a:t>
            </a:r>
            <a:r>
              <a:rPr lang="zh-CN" altLang="zh-CN" dirty="0"/>
              <a:t>恢复寄存器，最后通过</a:t>
            </a:r>
            <a:r>
              <a:rPr lang="en-US" altLang="zh-CN" dirty="0" err="1"/>
              <a:t>iret</a:t>
            </a:r>
            <a:r>
              <a:rPr lang="zh-CN" altLang="zh-CN" dirty="0"/>
              <a:t>指令返回。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059931"/>
      </p:ext>
    </p:extLst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本章</a:t>
            </a:r>
            <a:r>
              <a:rPr lang="zh-CN" altLang="zh-CN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操作系统</a:t>
            </a:r>
            <a:r>
              <a:rPr lang="zh-CN" altLang="zh-CN" dirty="0"/>
              <a:t>的用户接口是操作系统向用户提供服务的主要途径，是评价操作系统性能优劣的一项重要指标。用户接口通常指软件接口，一般有命令接口、程序接口、图形接口三种。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277186"/>
      </p:ext>
    </p:extLst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本章</a:t>
            </a:r>
            <a:r>
              <a:rPr lang="zh-CN" altLang="zh-CN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用户</a:t>
            </a:r>
            <a:r>
              <a:rPr lang="zh-CN" altLang="zh-CN" dirty="0"/>
              <a:t>通过在程序中使用系统调用命令来请求操作系统提供服务。每一个系统调用都是一个能完成特定功能的子程序。系统调用的执行不同于一般用户程序的执行。系统调用执行是在核心态下执行系统子程序，而用户程序则是在用户态下执行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46099693"/>
      </p:ext>
    </p:extLst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3271</Words>
  <Application>Microsoft Office PowerPoint</Application>
  <PresentationFormat>自定义</PresentationFormat>
  <Paragraphs>211</Paragraphs>
  <Slides>63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4" baseType="lpstr">
      <vt:lpstr>Office 主题​​</vt:lpstr>
      <vt:lpstr>第10章 用户接口</vt:lpstr>
      <vt:lpstr>本章目录</vt:lpstr>
      <vt:lpstr>10.1 用户接口</vt:lpstr>
      <vt:lpstr>第10章 用户接口</vt:lpstr>
      <vt:lpstr>10.1 用户接口</vt:lpstr>
      <vt:lpstr>10.1 用户接口</vt:lpstr>
      <vt:lpstr>10.1.1 命令接口</vt:lpstr>
      <vt:lpstr>PowerPoint 演示文稿</vt:lpstr>
      <vt:lpstr>10.1.1 命令接口</vt:lpstr>
      <vt:lpstr>命令接口</vt:lpstr>
      <vt:lpstr>命令接口</vt:lpstr>
      <vt:lpstr>10.1.2 程序接口</vt:lpstr>
      <vt:lpstr>10.1.2 程序接口</vt:lpstr>
      <vt:lpstr>10.1.3 图形接口</vt:lpstr>
      <vt:lpstr>PowerPoint 演示文稿</vt:lpstr>
      <vt:lpstr>10.1.4 联机命令类型</vt:lpstr>
      <vt:lpstr>10.1.4 联机命令类型</vt:lpstr>
      <vt:lpstr>10.2 Shell命令语言</vt:lpstr>
      <vt:lpstr>10.2 Shell命令语言</vt:lpstr>
      <vt:lpstr>10.2.1 Shell命令语言简介</vt:lpstr>
      <vt:lpstr>10.2.1 Shell命令语言简介</vt:lpstr>
      <vt:lpstr>10.2.1 Shell命令语言简介</vt:lpstr>
      <vt:lpstr>10.2.1 Shell命令语言简介</vt:lpstr>
      <vt:lpstr>PowerPoint 演示文稿</vt:lpstr>
      <vt:lpstr>10.2.2 Shell命令分类</vt:lpstr>
      <vt:lpstr>10.2.2 Shell命令分类</vt:lpstr>
      <vt:lpstr>10.2.2 Shell命令分类</vt:lpstr>
      <vt:lpstr>10.2.2 Shell命令分类</vt:lpstr>
      <vt:lpstr>10.2.2 Shell命令分类</vt:lpstr>
      <vt:lpstr>10.2.2 Shell命令分类</vt:lpstr>
      <vt:lpstr>10.3 系统调用</vt:lpstr>
      <vt:lpstr>10.3 系统调用</vt:lpstr>
      <vt:lpstr>10.3.1 系统调用的基本概念 </vt:lpstr>
      <vt:lpstr>1. 系统态和用户态</vt:lpstr>
      <vt:lpstr>1. 系统态和用户态</vt:lpstr>
      <vt:lpstr>2. 系统调用</vt:lpstr>
      <vt:lpstr>2. 系统调用</vt:lpstr>
      <vt:lpstr>3. 中断机制</vt:lpstr>
      <vt:lpstr>10.3.2 系统调用的类型 </vt:lpstr>
      <vt:lpstr>10.3.2 系统调用的类型 </vt:lpstr>
      <vt:lpstr>10.3.3 系统调用的实现</vt:lpstr>
      <vt:lpstr>1. 系统调用号和参数的设置</vt:lpstr>
      <vt:lpstr>1. 系统调用号和参数的设置</vt:lpstr>
      <vt:lpstr>1. 系统调用号和参数的设置</vt:lpstr>
      <vt:lpstr>2. 系统调用的处理步骤</vt:lpstr>
      <vt:lpstr>2. 系统调用的处理步骤</vt:lpstr>
      <vt:lpstr>2. 系统调用的处理步骤</vt:lpstr>
      <vt:lpstr>3.系统调用处理子程序的处理过程</vt:lpstr>
      <vt:lpstr>3.系统调用处理子程序的处理过程</vt:lpstr>
      <vt:lpstr>3.系统调用处理子程序的处理过程</vt:lpstr>
      <vt:lpstr>10.3.4 Linux系统调用</vt:lpstr>
      <vt:lpstr>PowerPoint 演示文稿</vt:lpstr>
      <vt:lpstr>2. Linux系统调用的类型</vt:lpstr>
      <vt:lpstr>3. Linux系统调用的实现机制</vt:lpstr>
      <vt:lpstr>图10-4  Linux系统调用过程</vt:lpstr>
      <vt:lpstr>（2）系统调用号</vt:lpstr>
      <vt:lpstr>PowerPoint 演示文稿</vt:lpstr>
      <vt:lpstr>（3）系统调用表</vt:lpstr>
      <vt:lpstr>系统调用表格式如下：</vt:lpstr>
      <vt:lpstr>（4）系统调用处理程序</vt:lpstr>
      <vt:lpstr>（4）系统调用处理程序</vt:lpstr>
      <vt:lpstr>本章小结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 基本存储管理</dc:title>
  <dc:creator>Administrator</dc:creator>
  <cp:lastModifiedBy>ym</cp:lastModifiedBy>
  <cp:revision>529</cp:revision>
  <dcterms:created xsi:type="dcterms:W3CDTF">2019-06-19T02:08:00Z</dcterms:created>
  <dcterms:modified xsi:type="dcterms:W3CDTF">2020-10-17T04:00:39Z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