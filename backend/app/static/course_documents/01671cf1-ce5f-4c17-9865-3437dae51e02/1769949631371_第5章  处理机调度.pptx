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heme/theme2.xml" ContentType="application/vnd.openxmlformats-officedocument.them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3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4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5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8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9.xml" ContentType="application/vnd.openxmlformats-officedocument.presentationml.notesSlide+xml"/>
  <Override PartName="/ppt/tags/tag10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sldIdLst>
    <p:sldId id="427" r:id="rId2"/>
    <p:sldId id="667" r:id="rId3"/>
    <p:sldId id="669" r:id="rId4"/>
    <p:sldId id="815" r:id="rId5"/>
    <p:sldId id="989" r:id="rId6"/>
    <p:sldId id="874" r:id="rId7"/>
    <p:sldId id="980" r:id="rId8"/>
    <p:sldId id="876" r:id="rId9"/>
    <p:sldId id="971" r:id="rId10"/>
    <p:sldId id="877" r:id="rId11"/>
    <p:sldId id="878" r:id="rId12"/>
    <p:sldId id="879" r:id="rId13"/>
    <p:sldId id="880" r:id="rId14"/>
    <p:sldId id="991" r:id="rId15"/>
    <p:sldId id="883" r:id="rId16"/>
    <p:sldId id="884" r:id="rId17"/>
    <p:sldId id="986" r:id="rId18"/>
    <p:sldId id="885" r:id="rId19"/>
    <p:sldId id="886" r:id="rId20"/>
    <p:sldId id="893" r:id="rId21"/>
    <p:sldId id="894" r:id="rId22"/>
    <p:sldId id="889" r:id="rId23"/>
    <p:sldId id="896" r:id="rId24"/>
    <p:sldId id="974" r:id="rId25"/>
    <p:sldId id="897" r:id="rId26"/>
    <p:sldId id="906" r:id="rId27"/>
    <p:sldId id="907" r:id="rId28"/>
    <p:sldId id="921" r:id="rId29"/>
    <p:sldId id="919" r:id="rId30"/>
    <p:sldId id="920" r:id="rId31"/>
    <p:sldId id="923" r:id="rId32"/>
    <p:sldId id="924" r:id="rId33"/>
    <p:sldId id="981" r:id="rId34"/>
    <p:sldId id="930" r:id="rId35"/>
    <p:sldId id="926" r:id="rId36"/>
    <p:sldId id="931" r:id="rId37"/>
    <p:sldId id="994" r:id="rId38"/>
    <p:sldId id="997" r:id="rId39"/>
    <p:sldId id="995" r:id="rId40"/>
    <p:sldId id="973" r:id="rId41"/>
    <p:sldId id="928" r:id="rId42"/>
    <p:sldId id="932" r:id="rId43"/>
    <p:sldId id="944" r:id="rId44"/>
    <p:sldId id="942" r:id="rId45"/>
    <p:sldId id="985" r:id="rId46"/>
    <p:sldId id="990" r:id="rId47"/>
    <p:sldId id="900" r:id="rId48"/>
    <p:sldId id="901" r:id="rId49"/>
    <p:sldId id="996" r:id="rId50"/>
    <p:sldId id="902" r:id="rId51"/>
    <p:sldId id="925" r:id="rId52"/>
    <p:sldId id="972" r:id="rId53"/>
    <p:sldId id="903" r:id="rId54"/>
    <p:sldId id="904" r:id="rId55"/>
    <p:sldId id="945" r:id="rId56"/>
    <p:sldId id="948" r:id="rId57"/>
    <p:sldId id="949" r:id="rId58"/>
    <p:sldId id="951" r:id="rId59"/>
    <p:sldId id="952" r:id="rId60"/>
    <p:sldId id="984" r:id="rId61"/>
    <p:sldId id="976" r:id="rId62"/>
    <p:sldId id="975" r:id="rId63"/>
    <p:sldId id="977" r:id="rId64"/>
    <p:sldId id="978" r:id="rId65"/>
    <p:sldId id="992" r:id="rId66"/>
    <p:sldId id="993" r:id="rId67"/>
    <p:sldId id="869" r:id="rId6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7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C8A1E5"/>
    <a:srgbClr val="692B99"/>
    <a:srgbClr val="8F46C8"/>
    <a:srgbClr val="DE8300"/>
    <a:srgbClr val="9956CC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3548" autoAdjust="0"/>
  </p:normalViewPr>
  <p:slideViewPr>
    <p:cSldViewPr snapToGrid="0">
      <p:cViewPr varScale="1">
        <p:scale>
          <a:sx n="57" d="100"/>
          <a:sy n="57" d="100"/>
        </p:scale>
        <p:origin x="992" y="36"/>
      </p:cViewPr>
      <p:guideLst>
        <p:guide orient="horz" pos="2027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作业基本描述包括作业表示、用户名、使用的编程语言等；</a:t>
            </a:r>
            <a:endParaRPr lang="en-US" altLang="zh-CN" dirty="0"/>
          </a:p>
          <a:p>
            <a:r>
              <a:rPr lang="zh-CN" altLang="en-US" dirty="0"/>
              <a:t>作业控制描述包括各个作业步先后顺序及出现异常时的处理办法等；</a:t>
            </a:r>
            <a:endParaRPr lang="en-US" altLang="zh-CN" dirty="0"/>
          </a:p>
          <a:p>
            <a:r>
              <a:rPr lang="zh-CN" altLang="en-US" dirty="0"/>
              <a:t>资源要求包括要求内存大小，外设情况，处理机优先级、所需处理时间等。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923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solidFill>
                  <a:srgbClr val="05073B"/>
                </a:solidFill>
                <a:effectLst/>
                <a:latin typeface="-apple-system"/>
              </a:rPr>
              <a:t>答案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A, B, C, E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660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评价调度算法的性能是十分复杂的事情。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面向用户的性能评价</a:t>
            </a:r>
            <a:r>
              <a:rPr lang="zh-CN" altLang="en-US" sz="2800" dirty="0"/>
              <a:t>准则与单个用户感知的系统行为有关，如响应时间、周转时间、优先权和截止时间保证等。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面向系统的性能评价</a:t>
            </a:r>
            <a:r>
              <a:rPr lang="zh-CN" altLang="en-US" sz="2800" dirty="0"/>
              <a:t>准则主要考虑系统的效率和性能，如系统吞吐率、处理机利用率和各类资源的平衡利用等。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923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224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842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前台进程优待：当前用户操作的前台窗口进程，基准优先级会直接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（如基准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级→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级），提升交互响应速度。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完成提升：进程完成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操作（如读取文件、网络接收、鼠标键盘输入）后，优先级临时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，避免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密集型进程被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密集型进程抢占。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等待事件结束：进程等待的事件（如信号量、线程同步对象）触发后，优先级提升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级，确保等待后的进程快速获得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低优先级补偿：长期未获得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的低优先级进程（饥饿状态），系统会自动提升其优先级至中等水平，避免饿死。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337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在各种作业调度算法中，若所有作业同时到达，则平均等待时间最短的算法是</a:t>
            </a:r>
            <a:r>
              <a:rPr lang="en-US" altLang="zh-CN" dirty="0"/>
              <a:t>( </a:t>
            </a:r>
            <a:r>
              <a:rPr lang="zh-CN" altLang="en-US" dirty="0"/>
              <a:t>）。 </a:t>
            </a:r>
          </a:p>
          <a:p>
            <a:r>
              <a:rPr lang="en-US" altLang="zh-CN" dirty="0"/>
              <a:t>A.</a:t>
            </a:r>
            <a:r>
              <a:rPr lang="zh-CN" altLang="en-US" dirty="0"/>
              <a:t>先来先服务</a:t>
            </a:r>
          </a:p>
          <a:p>
            <a:r>
              <a:rPr lang="en-US" altLang="zh-CN" dirty="0"/>
              <a:t>B.</a:t>
            </a:r>
            <a:r>
              <a:rPr lang="zh-CN" altLang="en-US" dirty="0"/>
              <a:t>优先数 </a:t>
            </a:r>
          </a:p>
          <a:p>
            <a:r>
              <a:rPr lang="en-US" altLang="zh-CN" dirty="0"/>
              <a:t>C.</a:t>
            </a:r>
            <a:r>
              <a:rPr lang="zh-CN" altLang="en-US" dirty="0"/>
              <a:t>最高响应比优先</a:t>
            </a:r>
          </a:p>
          <a:p>
            <a:r>
              <a:rPr lang="en-US" altLang="zh-CN" dirty="0"/>
              <a:t>D.</a:t>
            </a:r>
            <a:r>
              <a:rPr lang="zh-CN" altLang="en-US" dirty="0"/>
              <a:t>短作业优先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747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 userDrawn="1"/>
        </p:nvSpPr>
        <p:spPr>
          <a:xfrm>
            <a:off x="0" y="1264921"/>
            <a:ext cx="12206817" cy="5281083"/>
          </a:xfrm>
          <a:custGeom>
            <a:avLst/>
            <a:gdLst/>
            <a:ahLst/>
            <a:cxnLst/>
            <a:rect l="0" t="0" r="0" b="0"/>
            <a:pathLst>
              <a:path w="5767" h="2730">
                <a:moveTo>
                  <a:pt x="8" y="2730"/>
                </a:moveTo>
                <a:lnTo>
                  <a:pt x="3040" y="2726"/>
                </a:lnTo>
                <a:cubicBezTo>
                  <a:pt x="3181" y="2726"/>
                  <a:pt x="3224" y="2728"/>
                  <a:pt x="3347" y="2630"/>
                </a:cubicBezTo>
                <a:lnTo>
                  <a:pt x="3795" y="2170"/>
                </a:lnTo>
                <a:cubicBezTo>
                  <a:pt x="3923" y="2078"/>
                  <a:pt x="3942" y="2074"/>
                  <a:pt x="4115" y="2080"/>
                </a:cubicBezTo>
                <a:lnTo>
                  <a:pt x="5760" y="2093"/>
                </a:lnTo>
                <a:lnTo>
                  <a:pt x="5767" y="0"/>
                </a:lnTo>
                <a:lnTo>
                  <a:pt x="0" y="1"/>
                </a:lnTo>
                <a:lnTo>
                  <a:pt x="8" y="273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100000"/>
                </a:schemeClr>
              </a:gs>
              <a:gs pos="100000">
                <a:schemeClr val="bg1">
                  <a:alpha val="89999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3775075" y="1981835"/>
            <a:ext cx="5626100" cy="123634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txBody>
          <a:bodyPr lIns="90000" tIns="46800" rIns="90000" bIns="46800" anchor="b" anchorCtr="0">
            <a:normAutofit/>
          </a:bodyPr>
          <a:lstStyle>
            <a:lvl1pPr algn="ctr">
              <a:defRPr sz="4800" b="1" i="0" spc="300" baseline="0">
                <a:solidFill>
                  <a:schemeClr val="accent1">
                    <a:lumMod val="7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9" name="任意多边形 18"/>
          <p:cNvSpPr/>
          <p:nvPr userDrawn="1"/>
        </p:nvSpPr>
        <p:spPr>
          <a:xfrm flipH="1" flipV="1">
            <a:off x="-7620" y="5883488"/>
            <a:ext cx="12192000" cy="768349"/>
          </a:xfrm>
          <a:custGeom>
            <a:avLst/>
            <a:gdLst/>
            <a:ahLst/>
            <a:cxnLst/>
            <a:rect l="0" t="0" r="0" b="0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alpha val="10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grpSp>
        <p:nvGrpSpPr>
          <p:cNvPr id="20" name="Group 10"/>
          <p:cNvGrpSpPr/>
          <p:nvPr userDrawn="1"/>
        </p:nvGrpSpPr>
        <p:grpSpPr bwMode="auto">
          <a:xfrm>
            <a:off x="9160384" y="6070822"/>
            <a:ext cx="380048" cy="380121"/>
            <a:chOff x="0" y="0"/>
            <a:chExt cx="965499" cy="965499"/>
          </a:xfrm>
        </p:grpSpPr>
        <p:sp>
          <p:nvSpPr>
            <p:cNvPr id="21" name="AutoShape 11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AutoShape 12"/>
            <p:cNvSpPr/>
            <p:nvPr/>
          </p:nvSpPr>
          <p:spPr bwMode="auto">
            <a:xfrm>
              <a:off x="285759" y="283328"/>
              <a:ext cx="393981" cy="393980"/>
            </a:xfrm>
            <a:custGeom>
              <a:avLst/>
              <a:gdLst>
                <a:gd name="T0" fmla="*/ 196991 w 21376"/>
                <a:gd name="T1" fmla="*/ 196990 h 21600"/>
                <a:gd name="T2" fmla="*/ 196991 w 21376"/>
                <a:gd name="T3" fmla="*/ 196990 h 21600"/>
                <a:gd name="T4" fmla="*/ 196991 w 21376"/>
                <a:gd name="T5" fmla="*/ 196990 h 21600"/>
                <a:gd name="T6" fmla="*/ 196991 w 21376"/>
                <a:gd name="T7" fmla="*/ 19699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376" h="21600">
                  <a:moveTo>
                    <a:pt x="21036" y="18604"/>
                  </a:moveTo>
                  <a:cubicBezTo>
                    <a:pt x="21454" y="19261"/>
                    <a:pt x="21486" y="19922"/>
                    <a:pt x="21134" y="20586"/>
                  </a:cubicBezTo>
                  <a:cubicBezTo>
                    <a:pt x="20969" y="20915"/>
                    <a:pt x="20731" y="21168"/>
                    <a:pt x="20427" y="21338"/>
                  </a:cubicBezTo>
                  <a:cubicBezTo>
                    <a:pt x="20122" y="21514"/>
                    <a:pt x="19797" y="21600"/>
                    <a:pt x="19455" y="21600"/>
                  </a:cubicBezTo>
                  <a:lnTo>
                    <a:pt x="1928" y="21600"/>
                  </a:lnTo>
                  <a:cubicBezTo>
                    <a:pt x="1585" y="21600"/>
                    <a:pt x="1263" y="21514"/>
                    <a:pt x="965" y="21338"/>
                  </a:cubicBezTo>
                  <a:cubicBezTo>
                    <a:pt x="663" y="21168"/>
                    <a:pt x="425" y="20915"/>
                    <a:pt x="248" y="20586"/>
                  </a:cubicBezTo>
                  <a:cubicBezTo>
                    <a:pt x="-114" y="19914"/>
                    <a:pt x="-80" y="19250"/>
                    <a:pt x="344" y="18604"/>
                  </a:cubicBezTo>
                  <a:lnTo>
                    <a:pt x="7509" y="7313"/>
                  </a:lnTo>
                  <a:lnTo>
                    <a:pt x="7509" y="2167"/>
                  </a:lnTo>
                  <a:lnTo>
                    <a:pt x="6427" y="2167"/>
                  </a:lnTo>
                  <a:cubicBezTo>
                    <a:pt x="6122" y="2167"/>
                    <a:pt x="5870" y="2061"/>
                    <a:pt x="5670" y="1850"/>
                  </a:cubicBezTo>
                  <a:cubicBezTo>
                    <a:pt x="5473" y="1638"/>
                    <a:pt x="5371" y="1380"/>
                    <a:pt x="5371" y="1072"/>
                  </a:cubicBezTo>
                  <a:cubicBezTo>
                    <a:pt x="5371" y="778"/>
                    <a:pt x="5473" y="528"/>
                    <a:pt x="5670" y="320"/>
                  </a:cubicBezTo>
                  <a:cubicBezTo>
                    <a:pt x="5870" y="108"/>
                    <a:pt x="6122" y="0"/>
                    <a:pt x="6427" y="0"/>
                  </a:cubicBezTo>
                  <a:lnTo>
                    <a:pt x="14953" y="0"/>
                  </a:lnTo>
                  <a:cubicBezTo>
                    <a:pt x="15260" y="0"/>
                    <a:pt x="15515" y="108"/>
                    <a:pt x="15724" y="320"/>
                  </a:cubicBezTo>
                  <a:cubicBezTo>
                    <a:pt x="15933" y="528"/>
                    <a:pt x="16038" y="778"/>
                    <a:pt x="16038" y="1072"/>
                  </a:cubicBezTo>
                  <a:cubicBezTo>
                    <a:pt x="16038" y="1380"/>
                    <a:pt x="15933" y="1638"/>
                    <a:pt x="15724" y="1850"/>
                  </a:cubicBezTo>
                  <a:cubicBezTo>
                    <a:pt x="15515" y="2061"/>
                    <a:pt x="15260" y="2167"/>
                    <a:pt x="14953" y="2167"/>
                  </a:cubicBezTo>
                  <a:lnTo>
                    <a:pt x="13900" y="2167"/>
                  </a:lnTo>
                  <a:lnTo>
                    <a:pt x="13900" y="7339"/>
                  </a:lnTo>
                  <a:lnTo>
                    <a:pt x="21036" y="18604"/>
                  </a:lnTo>
                  <a:close/>
                  <a:moveTo>
                    <a:pt x="5261" y="14865"/>
                  </a:moveTo>
                  <a:lnTo>
                    <a:pt x="16122" y="14865"/>
                  </a:lnTo>
                  <a:lnTo>
                    <a:pt x="11773" y="7974"/>
                  </a:lnTo>
                  <a:lnTo>
                    <a:pt x="11773" y="2167"/>
                  </a:lnTo>
                  <a:lnTo>
                    <a:pt x="9635" y="2167"/>
                  </a:lnTo>
                  <a:lnTo>
                    <a:pt x="9635" y="7947"/>
                  </a:lnTo>
                  <a:lnTo>
                    <a:pt x="5261" y="1486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3" name="Group 13"/>
          <p:cNvGrpSpPr/>
          <p:nvPr userDrawn="1"/>
        </p:nvGrpSpPr>
        <p:grpSpPr bwMode="auto">
          <a:xfrm>
            <a:off x="9697919" y="6070822"/>
            <a:ext cx="380673" cy="380121"/>
            <a:chOff x="0" y="0"/>
            <a:chExt cx="965499" cy="965499"/>
          </a:xfrm>
        </p:grpSpPr>
        <p:sp>
          <p:nvSpPr>
            <p:cNvPr id="24" name="AutoShape 14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AutoShape 15"/>
            <p:cNvSpPr/>
            <p:nvPr/>
          </p:nvSpPr>
          <p:spPr bwMode="auto">
            <a:xfrm>
              <a:off x="285759" y="283328"/>
              <a:ext cx="393981" cy="393980"/>
            </a:xfrm>
            <a:custGeom>
              <a:avLst/>
              <a:gdLst>
                <a:gd name="T0" fmla="*/ 196991 w 21600"/>
                <a:gd name="T1" fmla="*/ 196990 h 21600"/>
                <a:gd name="T2" fmla="*/ 196991 w 21600"/>
                <a:gd name="T3" fmla="*/ 196990 h 21600"/>
                <a:gd name="T4" fmla="*/ 196991 w 21600"/>
                <a:gd name="T5" fmla="*/ 196990 h 21600"/>
                <a:gd name="T6" fmla="*/ 196991 w 21600"/>
                <a:gd name="T7" fmla="*/ 19699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1328" y="11543"/>
                  </a:moveTo>
                  <a:cubicBezTo>
                    <a:pt x="21492" y="11930"/>
                    <a:pt x="21571" y="12337"/>
                    <a:pt x="21571" y="12758"/>
                  </a:cubicBezTo>
                  <a:cubicBezTo>
                    <a:pt x="21571" y="13464"/>
                    <a:pt x="21388" y="14105"/>
                    <a:pt x="21017" y="14678"/>
                  </a:cubicBezTo>
                  <a:cubicBezTo>
                    <a:pt x="21111" y="15215"/>
                    <a:pt x="21077" y="15745"/>
                    <a:pt x="20924" y="16285"/>
                  </a:cubicBezTo>
                  <a:cubicBezTo>
                    <a:pt x="20769" y="16819"/>
                    <a:pt x="20512" y="17287"/>
                    <a:pt x="20141" y="17697"/>
                  </a:cubicBezTo>
                  <a:cubicBezTo>
                    <a:pt x="20105" y="18451"/>
                    <a:pt x="19901" y="19081"/>
                    <a:pt x="19531" y="19580"/>
                  </a:cubicBezTo>
                  <a:cubicBezTo>
                    <a:pt x="19161" y="20080"/>
                    <a:pt x="18700" y="20481"/>
                    <a:pt x="18146" y="20783"/>
                  </a:cubicBezTo>
                  <a:cubicBezTo>
                    <a:pt x="17593" y="21088"/>
                    <a:pt x="16982" y="21297"/>
                    <a:pt x="16321" y="21419"/>
                  </a:cubicBezTo>
                  <a:cubicBezTo>
                    <a:pt x="15660" y="21540"/>
                    <a:pt x="15010" y="21599"/>
                    <a:pt x="14380" y="21599"/>
                  </a:cubicBezTo>
                  <a:cubicBezTo>
                    <a:pt x="13730" y="21599"/>
                    <a:pt x="13077" y="21554"/>
                    <a:pt x="12424" y="21461"/>
                  </a:cubicBezTo>
                  <a:cubicBezTo>
                    <a:pt x="11772" y="21362"/>
                    <a:pt x="11127" y="21235"/>
                    <a:pt x="10497" y="21074"/>
                  </a:cubicBezTo>
                  <a:cubicBezTo>
                    <a:pt x="9864" y="20894"/>
                    <a:pt x="9237" y="20702"/>
                    <a:pt x="8610" y="20493"/>
                  </a:cubicBezTo>
                  <a:cubicBezTo>
                    <a:pt x="7982" y="20286"/>
                    <a:pt x="7341" y="20182"/>
                    <a:pt x="6680" y="20182"/>
                  </a:cubicBezTo>
                  <a:lnTo>
                    <a:pt x="1607" y="20182"/>
                  </a:lnTo>
                  <a:cubicBezTo>
                    <a:pt x="1167" y="20182"/>
                    <a:pt x="785" y="20029"/>
                    <a:pt x="471" y="19713"/>
                  </a:cubicBezTo>
                  <a:cubicBezTo>
                    <a:pt x="158" y="19405"/>
                    <a:pt x="0" y="19024"/>
                    <a:pt x="0" y="18572"/>
                  </a:cubicBezTo>
                  <a:lnTo>
                    <a:pt x="0" y="9880"/>
                  </a:lnTo>
                  <a:cubicBezTo>
                    <a:pt x="0" y="9440"/>
                    <a:pt x="158" y="9064"/>
                    <a:pt x="471" y="8754"/>
                  </a:cubicBezTo>
                  <a:cubicBezTo>
                    <a:pt x="785" y="8440"/>
                    <a:pt x="1167" y="8285"/>
                    <a:pt x="1607" y="8285"/>
                  </a:cubicBezTo>
                  <a:lnTo>
                    <a:pt x="6315" y="8285"/>
                  </a:lnTo>
                  <a:cubicBezTo>
                    <a:pt x="6558" y="8160"/>
                    <a:pt x="6750" y="8022"/>
                    <a:pt x="6897" y="7872"/>
                  </a:cubicBezTo>
                  <a:cubicBezTo>
                    <a:pt x="7041" y="7723"/>
                    <a:pt x="7197" y="7548"/>
                    <a:pt x="7369" y="7342"/>
                  </a:cubicBezTo>
                  <a:cubicBezTo>
                    <a:pt x="7513" y="7161"/>
                    <a:pt x="7663" y="6986"/>
                    <a:pt x="7810" y="6819"/>
                  </a:cubicBezTo>
                  <a:cubicBezTo>
                    <a:pt x="7957" y="6653"/>
                    <a:pt x="8112" y="6483"/>
                    <a:pt x="8276" y="6311"/>
                  </a:cubicBezTo>
                  <a:cubicBezTo>
                    <a:pt x="8570" y="5997"/>
                    <a:pt x="8918" y="5690"/>
                    <a:pt x="9302" y="5385"/>
                  </a:cubicBezTo>
                  <a:cubicBezTo>
                    <a:pt x="9692" y="5085"/>
                    <a:pt x="9989" y="4749"/>
                    <a:pt x="10195" y="4379"/>
                  </a:cubicBezTo>
                  <a:cubicBezTo>
                    <a:pt x="10339" y="4117"/>
                    <a:pt x="10443" y="3826"/>
                    <a:pt x="10506" y="3507"/>
                  </a:cubicBezTo>
                  <a:cubicBezTo>
                    <a:pt x="10565" y="3188"/>
                    <a:pt x="10627" y="2866"/>
                    <a:pt x="10675" y="2538"/>
                  </a:cubicBezTo>
                  <a:cubicBezTo>
                    <a:pt x="10726" y="2216"/>
                    <a:pt x="10780" y="1900"/>
                    <a:pt x="10845" y="1592"/>
                  </a:cubicBezTo>
                  <a:cubicBezTo>
                    <a:pt x="10907" y="1287"/>
                    <a:pt x="11014" y="1016"/>
                    <a:pt x="11161" y="776"/>
                  </a:cubicBezTo>
                  <a:cubicBezTo>
                    <a:pt x="11311" y="536"/>
                    <a:pt x="11523" y="350"/>
                    <a:pt x="11800" y="208"/>
                  </a:cubicBezTo>
                  <a:cubicBezTo>
                    <a:pt x="12074" y="67"/>
                    <a:pt x="12441" y="0"/>
                    <a:pt x="12902" y="0"/>
                  </a:cubicBezTo>
                  <a:cubicBezTo>
                    <a:pt x="13450" y="0"/>
                    <a:pt x="13956" y="112"/>
                    <a:pt x="14411" y="344"/>
                  </a:cubicBezTo>
                  <a:cubicBezTo>
                    <a:pt x="14869" y="573"/>
                    <a:pt x="15250" y="881"/>
                    <a:pt x="15567" y="1270"/>
                  </a:cubicBezTo>
                  <a:cubicBezTo>
                    <a:pt x="15880" y="1657"/>
                    <a:pt x="16126" y="2101"/>
                    <a:pt x="16304" y="2600"/>
                  </a:cubicBezTo>
                  <a:cubicBezTo>
                    <a:pt x="16479" y="3103"/>
                    <a:pt x="16570" y="3609"/>
                    <a:pt x="16570" y="4123"/>
                  </a:cubicBezTo>
                  <a:cubicBezTo>
                    <a:pt x="16570" y="4653"/>
                    <a:pt x="16491" y="5162"/>
                    <a:pt x="16332" y="5645"/>
                  </a:cubicBezTo>
                  <a:cubicBezTo>
                    <a:pt x="16174" y="6125"/>
                    <a:pt x="15982" y="6610"/>
                    <a:pt x="15759" y="7096"/>
                  </a:cubicBezTo>
                  <a:cubicBezTo>
                    <a:pt x="16072" y="7079"/>
                    <a:pt x="16389" y="7057"/>
                    <a:pt x="16705" y="7034"/>
                  </a:cubicBezTo>
                  <a:cubicBezTo>
                    <a:pt x="17019" y="7011"/>
                    <a:pt x="17335" y="7000"/>
                    <a:pt x="17652" y="7000"/>
                  </a:cubicBezTo>
                  <a:cubicBezTo>
                    <a:pt x="18149" y="7000"/>
                    <a:pt x="18630" y="7048"/>
                    <a:pt x="19099" y="7144"/>
                  </a:cubicBezTo>
                  <a:cubicBezTo>
                    <a:pt x="19568" y="7237"/>
                    <a:pt x="19986" y="7395"/>
                    <a:pt x="20356" y="7616"/>
                  </a:cubicBezTo>
                  <a:cubicBezTo>
                    <a:pt x="20726" y="7839"/>
                    <a:pt x="21026" y="8144"/>
                    <a:pt x="21255" y="8528"/>
                  </a:cubicBezTo>
                  <a:cubicBezTo>
                    <a:pt x="21486" y="8918"/>
                    <a:pt x="21600" y="9409"/>
                    <a:pt x="21600" y="10002"/>
                  </a:cubicBezTo>
                  <a:cubicBezTo>
                    <a:pt x="21600" y="10265"/>
                    <a:pt x="21580" y="10519"/>
                    <a:pt x="21535" y="10773"/>
                  </a:cubicBezTo>
                  <a:cubicBezTo>
                    <a:pt x="21484" y="11030"/>
                    <a:pt x="21419" y="11284"/>
                    <a:pt x="21328" y="11543"/>
                  </a:cubicBezTo>
                  <a:moveTo>
                    <a:pt x="4258" y="18519"/>
                  </a:moveTo>
                  <a:cubicBezTo>
                    <a:pt x="4555" y="18519"/>
                    <a:pt x="4809" y="18417"/>
                    <a:pt x="5024" y="18214"/>
                  </a:cubicBezTo>
                  <a:cubicBezTo>
                    <a:pt x="5233" y="18013"/>
                    <a:pt x="5340" y="17759"/>
                    <a:pt x="5340" y="17454"/>
                  </a:cubicBezTo>
                  <a:cubicBezTo>
                    <a:pt x="5340" y="17155"/>
                    <a:pt x="5233" y="16900"/>
                    <a:pt x="5024" y="16686"/>
                  </a:cubicBezTo>
                  <a:cubicBezTo>
                    <a:pt x="4812" y="16477"/>
                    <a:pt x="4557" y="16372"/>
                    <a:pt x="4258" y="16372"/>
                  </a:cubicBezTo>
                  <a:cubicBezTo>
                    <a:pt x="3941" y="16372"/>
                    <a:pt x="3684" y="16477"/>
                    <a:pt x="3486" y="16686"/>
                  </a:cubicBezTo>
                  <a:cubicBezTo>
                    <a:pt x="3289" y="16900"/>
                    <a:pt x="3190" y="17155"/>
                    <a:pt x="3190" y="17454"/>
                  </a:cubicBezTo>
                  <a:cubicBezTo>
                    <a:pt x="3190" y="17767"/>
                    <a:pt x="3289" y="18024"/>
                    <a:pt x="3486" y="18222"/>
                  </a:cubicBezTo>
                  <a:cubicBezTo>
                    <a:pt x="3681" y="18420"/>
                    <a:pt x="3939" y="18519"/>
                    <a:pt x="4258" y="18519"/>
                  </a:cubicBezTo>
                  <a:moveTo>
                    <a:pt x="19164" y="14342"/>
                  </a:moveTo>
                  <a:cubicBezTo>
                    <a:pt x="19703" y="13901"/>
                    <a:pt x="19975" y="13345"/>
                    <a:pt x="19975" y="12679"/>
                  </a:cubicBezTo>
                  <a:cubicBezTo>
                    <a:pt x="19975" y="12473"/>
                    <a:pt x="19918" y="12281"/>
                    <a:pt x="19805" y="12097"/>
                  </a:cubicBezTo>
                  <a:cubicBezTo>
                    <a:pt x="19695" y="11919"/>
                    <a:pt x="19576" y="11761"/>
                    <a:pt x="19446" y="11623"/>
                  </a:cubicBezTo>
                  <a:cubicBezTo>
                    <a:pt x="19590" y="11363"/>
                    <a:pt x="19720" y="11106"/>
                    <a:pt x="19833" y="10849"/>
                  </a:cubicBezTo>
                  <a:cubicBezTo>
                    <a:pt x="19944" y="10592"/>
                    <a:pt x="20003" y="10312"/>
                    <a:pt x="20003" y="10002"/>
                  </a:cubicBezTo>
                  <a:cubicBezTo>
                    <a:pt x="20003" y="9688"/>
                    <a:pt x="19924" y="9440"/>
                    <a:pt x="19766" y="9251"/>
                  </a:cubicBezTo>
                  <a:cubicBezTo>
                    <a:pt x="19607" y="9070"/>
                    <a:pt x="19415" y="8929"/>
                    <a:pt x="19184" y="8833"/>
                  </a:cubicBezTo>
                  <a:cubicBezTo>
                    <a:pt x="18955" y="8739"/>
                    <a:pt x="18698" y="8683"/>
                    <a:pt x="18418" y="8663"/>
                  </a:cubicBezTo>
                  <a:cubicBezTo>
                    <a:pt x="18138" y="8643"/>
                    <a:pt x="17884" y="8635"/>
                    <a:pt x="17649" y="8635"/>
                  </a:cubicBezTo>
                  <a:cubicBezTo>
                    <a:pt x="17242" y="8635"/>
                    <a:pt x="16835" y="8649"/>
                    <a:pt x="16423" y="8677"/>
                  </a:cubicBezTo>
                  <a:cubicBezTo>
                    <a:pt x="16010" y="8706"/>
                    <a:pt x="15606" y="8720"/>
                    <a:pt x="15199" y="8720"/>
                  </a:cubicBezTo>
                  <a:cubicBezTo>
                    <a:pt x="14917" y="8720"/>
                    <a:pt x="14643" y="8706"/>
                    <a:pt x="14366" y="8677"/>
                  </a:cubicBezTo>
                  <a:cubicBezTo>
                    <a:pt x="14089" y="8649"/>
                    <a:pt x="13829" y="8584"/>
                    <a:pt x="13574" y="8474"/>
                  </a:cubicBezTo>
                  <a:cubicBezTo>
                    <a:pt x="13574" y="8104"/>
                    <a:pt x="13645" y="7754"/>
                    <a:pt x="13792" y="7421"/>
                  </a:cubicBezTo>
                  <a:cubicBezTo>
                    <a:pt x="13936" y="7087"/>
                    <a:pt x="14094" y="6751"/>
                    <a:pt x="14275" y="6413"/>
                  </a:cubicBezTo>
                  <a:cubicBezTo>
                    <a:pt x="14448" y="6074"/>
                    <a:pt x="14606" y="5721"/>
                    <a:pt x="14747" y="5351"/>
                  </a:cubicBezTo>
                  <a:cubicBezTo>
                    <a:pt x="14886" y="4984"/>
                    <a:pt x="14953" y="4574"/>
                    <a:pt x="14953" y="4122"/>
                  </a:cubicBezTo>
                  <a:cubicBezTo>
                    <a:pt x="14953" y="3823"/>
                    <a:pt x="14905" y="3529"/>
                    <a:pt x="14812" y="3236"/>
                  </a:cubicBezTo>
                  <a:cubicBezTo>
                    <a:pt x="14716" y="2945"/>
                    <a:pt x="14583" y="2677"/>
                    <a:pt x="14411" y="2439"/>
                  </a:cubicBezTo>
                  <a:cubicBezTo>
                    <a:pt x="14238" y="2199"/>
                    <a:pt x="14027" y="2002"/>
                    <a:pt x="13775" y="1843"/>
                  </a:cubicBezTo>
                  <a:cubicBezTo>
                    <a:pt x="13521" y="1688"/>
                    <a:pt x="13230" y="1606"/>
                    <a:pt x="12893" y="1606"/>
                  </a:cubicBezTo>
                  <a:lnTo>
                    <a:pt x="12744" y="1606"/>
                  </a:lnTo>
                  <a:cubicBezTo>
                    <a:pt x="12681" y="1606"/>
                    <a:pt x="12631" y="1617"/>
                    <a:pt x="12594" y="1634"/>
                  </a:cubicBezTo>
                  <a:cubicBezTo>
                    <a:pt x="12523" y="1671"/>
                    <a:pt x="12481" y="1705"/>
                    <a:pt x="12472" y="1742"/>
                  </a:cubicBezTo>
                  <a:cubicBezTo>
                    <a:pt x="12464" y="1778"/>
                    <a:pt x="12450" y="1838"/>
                    <a:pt x="12430" y="1920"/>
                  </a:cubicBezTo>
                  <a:cubicBezTo>
                    <a:pt x="12323" y="2450"/>
                    <a:pt x="12221" y="3007"/>
                    <a:pt x="12128" y="3586"/>
                  </a:cubicBezTo>
                  <a:cubicBezTo>
                    <a:pt x="12034" y="4167"/>
                    <a:pt x="11854" y="4698"/>
                    <a:pt x="11596" y="5176"/>
                  </a:cubicBezTo>
                  <a:cubicBezTo>
                    <a:pt x="11334" y="5636"/>
                    <a:pt x="11000" y="6034"/>
                    <a:pt x="10596" y="6367"/>
                  </a:cubicBezTo>
                  <a:cubicBezTo>
                    <a:pt x="10189" y="6701"/>
                    <a:pt x="9802" y="7051"/>
                    <a:pt x="9432" y="7421"/>
                  </a:cubicBezTo>
                  <a:cubicBezTo>
                    <a:pt x="9169" y="7700"/>
                    <a:pt x="8949" y="7954"/>
                    <a:pt x="8771" y="8183"/>
                  </a:cubicBezTo>
                  <a:cubicBezTo>
                    <a:pt x="8593" y="8412"/>
                    <a:pt x="8403" y="8632"/>
                    <a:pt x="8211" y="8833"/>
                  </a:cubicBezTo>
                  <a:cubicBezTo>
                    <a:pt x="8016" y="9036"/>
                    <a:pt x="7799" y="9222"/>
                    <a:pt x="7556" y="9400"/>
                  </a:cubicBezTo>
                  <a:cubicBezTo>
                    <a:pt x="7313" y="9575"/>
                    <a:pt x="7019" y="9736"/>
                    <a:pt x="6674" y="9880"/>
                  </a:cubicBezTo>
                  <a:lnTo>
                    <a:pt x="6646" y="9880"/>
                  </a:lnTo>
                  <a:lnTo>
                    <a:pt x="6646" y="18572"/>
                  </a:lnTo>
                  <a:cubicBezTo>
                    <a:pt x="7279" y="18572"/>
                    <a:pt x="7889" y="18649"/>
                    <a:pt x="8485" y="18795"/>
                  </a:cubicBezTo>
                  <a:cubicBezTo>
                    <a:pt x="9081" y="18945"/>
                    <a:pt x="9683" y="19103"/>
                    <a:pt x="10294" y="19270"/>
                  </a:cubicBezTo>
                  <a:cubicBezTo>
                    <a:pt x="10901" y="19439"/>
                    <a:pt x="11537" y="19592"/>
                    <a:pt x="12207" y="19741"/>
                  </a:cubicBezTo>
                  <a:cubicBezTo>
                    <a:pt x="12874" y="19891"/>
                    <a:pt x="13594" y="19965"/>
                    <a:pt x="14374" y="19965"/>
                  </a:cubicBezTo>
                  <a:cubicBezTo>
                    <a:pt x="14781" y="19965"/>
                    <a:pt x="15222" y="19939"/>
                    <a:pt x="15699" y="19885"/>
                  </a:cubicBezTo>
                  <a:cubicBezTo>
                    <a:pt x="16177" y="19829"/>
                    <a:pt x="16626" y="19710"/>
                    <a:pt x="17047" y="19527"/>
                  </a:cubicBezTo>
                  <a:cubicBezTo>
                    <a:pt x="17468" y="19343"/>
                    <a:pt x="17816" y="19086"/>
                    <a:pt x="18101" y="18762"/>
                  </a:cubicBezTo>
                  <a:cubicBezTo>
                    <a:pt x="18387" y="18440"/>
                    <a:pt x="18525" y="18010"/>
                    <a:pt x="18525" y="17477"/>
                  </a:cubicBezTo>
                  <a:cubicBezTo>
                    <a:pt x="18525" y="17386"/>
                    <a:pt x="18522" y="17304"/>
                    <a:pt x="18517" y="17225"/>
                  </a:cubicBezTo>
                  <a:cubicBezTo>
                    <a:pt x="18503" y="17152"/>
                    <a:pt x="18488" y="17070"/>
                    <a:pt x="18471" y="16980"/>
                  </a:cubicBezTo>
                  <a:cubicBezTo>
                    <a:pt x="18785" y="16836"/>
                    <a:pt x="19028" y="16596"/>
                    <a:pt x="19195" y="16262"/>
                  </a:cubicBezTo>
                  <a:cubicBezTo>
                    <a:pt x="19364" y="15929"/>
                    <a:pt x="19446" y="15593"/>
                    <a:pt x="19446" y="15263"/>
                  </a:cubicBezTo>
                  <a:cubicBezTo>
                    <a:pt x="19449" y="14912"/>
                    <a:pt x="19350" y="14605"/>
                    <a:pt x="19164" y="14342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6" name="Group 16"/>
          <p:cNvGrpSpPr/>
          <p:nvPr userDrawn="1"/>
        </p:nvGrpSpPr>
        <p:grpSpPr bwMode="auto">
          <a:xfrm>
            <a:off x="10236079" y="6070822"/>
            <a:ext cx="380048" cy="380121"/>
            <a:chOff x="0" y="0"/>
            <a:chExt cx="965499" cy="965499"/>
          </a:xfrm>
        </p:grpSpPr>
        <p:sp>
          <p:nvSpPr>
            <p:cNvPr id="27" name="AutoShape 17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0" name="AutoShape 18"/>
            <p:cNvSpPr/>
            <p:nvPr/>
          </p:nvSpPr>
          <p:spPr bwMode="auto">
            <a:xfrm>
              <a:off x="293617" y="264823"/>
              <a:ext cx="393980" cy="393980"/>
            </a:xfrm>
            <a:custGeom>
              <a:avLst/>
              <a:gdLst>
                <a:gd name="T0" fmla="*/ 196990 w 21600"/>
                <a:gd name="T1" fmla="*/ 196990 h 21600"/>
                <a:gd name="T2" fmla="*/ 196990 w 21600"/>
                <a:gd name="T3" fmla="*/ 196990 h 21600"/>
                <a:gd name="T4" fmla="*/ 196990 w 21600"/>
                <a:gd name="T5" fmla="*/ 196990 h 21600"/>
                <a:gd name="T6" fmla="*/ 196990 w 21600"/>
                <a:gd name="T7" fmla="*/ 19699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6949"/>
                  </a:moveTo>
                  <a:cubicBezTo>
                    <a:pt x="21600" y="7542"/>
                    <a:pt x="21407" y="8153"/>
                    <a:pt x="21017" y="8781"/>
                  </a:cubicBezTo>
                  <a:cubicBezTo>
                    <a:pt x="20628" y="9416"/>
                    <a:pt x="20109" y="10015"/>
                    <a:pt x="19458" y="10585"/>
                  </a:cubicBezTo>
                  <a:cubicBezTo>
                    <a:pt x="18806" y="11152"/>
                    <a:pt x="18040" y="11651"/>
                    <a:pt x="17159" y="12083"/>
                  </a:cubicBezTo>
                  <a:cubicBezTo>
                    <a:pt x="16275" y="12512"/>
                    <a:pt x="15327" y="12820"/>
                    <a:pt x="14315" y="12996"/>
                  </a:cubicBezTo>
                  <a:cubicBezTo>
                    <a:pt x="13880" y="13090"/>
                    <a:pt x="13492" y="13284"/>
                    <a:pt x="13151" y="13578"/>
                  </a:cubicBezTo>
                  <a:cubicBezTo>
                    <a:pt x="12809" y="13872"/>
                    <a:pt x="12641" y="14204"/>
                    <a:pt x="12641" y="14571"/>
                  </a:cubicBezTo>
                  <a:cubicBezTo>
                    <a:pt x="12641" y="14900"/>
                    <a:pt x="12713" y="15140"/>
                    <a:pt x="12865" y="15293"/>
                  </a:cubicBezTo>
                  <a:cubicBezTo>
                    <a:pt x="13015" y="15449"/>
                    <a:pt x="13177" y="15596"/>
                    <a:pt x="13364" y="15728"/>
                  </a:cubicBezTo>
                  <a:cubicBezTo>
                    <a:pt x="13546" y="15866"/>
                    <a:pt x="13717" y="16010"/>
                    <a:pt x="13874" y="16169"/>
                  </a:cubicBezTo>
                  <a:cubicBezTo>
                    <a:pt x="14032" y="16330"/>
                    <a:pt x="14125" y="16574"/>
                    <a:pt x="14160" y="16903"/>
                  </a:cubicBezTo>
                  <a:cubicBezTo>
                    <a:pt x="14195" y="17117"/>
                    <a:pt x="14187" y="17340"/>
                    <a:pt x="14133" y="17564"/>
                  </a:cubicBezTo>
                  <a:cubicBezTo>
                    <a:pt x="14099" y="17696"/>
                    <a:pt x="14200" y="17805"/>
                    <a:pt x="14432" y="17893"/>
                  </a:cubicBezTo>
                  <a:cubicBezTo>
                    <a:pt x="14667" y="17981"/>
                    <a:pt x="14956" y="18069"/>
                    <a:pt x="15295" y="18154"/>
                  </a:cubicBezTo>
                  <a:cubicBezTo>
                    <a:pt x="15637" y="18236"/>
                    <a:pt x="15987" y="18342"/>
                    <a:pt x="16344" y="18468"/>
                  </a:cubicBezTo>
                  <a:cubicBezTo>
                    <a:pt x="16705" y="18595"/>
                    <a:pt x="16975" y="18756"/>
                    <a:pt x="17164" y="18953"/>
                  </a:cubicBezTo>
                  <a:cubicBezTo>
                    <a:pt x="17266" y="19050"/>
                    <a:pt x="17351" y="19232"/>
                    <a:pt x="17415" y="19511"/>
                  </a:cubicBezTo>
                  <a:cubicBezTo>
                    <a:pt x="17477" y="19790"/>
                    <a:pt x="17519" y="20090"/>
                    <a:pt x="17535" y="20416"/>
                  </a:cubicBezTo>
                  <a:cubicBezTo>
                    <a:pt x="17554" y="20727"/>
                    <a:pt x="17527" y="21000"/>
                    <a:pt x="17463" y="21241"/>
                  </a:cubicBezTo>
                  <a:cubicBezTo>
                    <a:pt x="17394" y="21479"/>
                    <a:pt x="17268" y="21599"/>
                    <a:pt x="17089" y="21599"/>
                  </a:cubicBezTo>
                  <a:lnTo>
                    <a:pt x="4496" y="21599"/>
                  </a:lnTo>
                  <a:cubicBezTo>
                    <a:pt x="4328" y="21599"/>
                    <a:pt x="4205" y="21479"/>
                    <a:pt x="4130" y="21241"/>
                  </a:cubicBezTo>
                  <a:cubicBezTo>
                    <a:pt x="4061" y="21000"/>
                    <a:pt x="4032" y="20727"/>
                    <a:pt x="4048" y="20416"/>
                  </a:cubicBezTo>
                  <a:cubicBezTo>
                    <a:pt x="4066" y="20090"/>
                    <a:pt x="4109" y="19790"/>
                    <a:pt x="4170" y="19511"/>
                  </a:cubicBezTo>
                  <a:cubicBezTo>
                    <a:pt x="4235" y="19232"/>
                    <a:pt x="4317" y="19050"/>
                    <a:pt x="4421" y="18953"/>
                  </a:cubicBezTo>
                  <a:cubicBezTo>
                    <a:pt x="4616" y="18768"/>
                    <a:pt x="4889" y="18606"/>
                    <a:pt x="5239" y="18474"/>
                  </a:cubicBezTo>
                  <a:cubicBezTo>
                    <a:pt x="5588" y="18345"/>
                    <a:pt x="5933" y="18236"/>
                    <a:pt x="6269" y="18154"/>
                  </a:cubicBezTo>
                  <a:cubicBezTo>
                    <a:pt x="6606" y="18069"/>
                    <a:pt x="6897" y="17984"/>
                    <a:pt x="7145" y="17901"/>
                  </a:cubicBezTo>
                  <a:cubicBezTo>
                    <a:pt x="7394" y="17816"/>
                    <a:pt x="7498" y="17705"/>
                    <a:pt x="7463" y="17564"/>
                  </a:cubicBezTo>
                  <a:cubicBezTo>
                    <a:pt x="7428" y="17432"/>
                    <a:pt x="7412" y="17311"/>
                    <a:pt x="7412" y="17205"/>
                  </a:cubicBezTo>
                  <a:lnTo>
                    <a:pt x="7412" y="16903"/>
                  </a:lnTo>
                  <a:cubicBezTo>
                    <a:pt x="7428" y="16574"/>
                    <a:pt x="7519" y="16330"/>
                    <a:pt x="7687" y="16169"/>
                  </a:cubicBezTo>
                  <a:cubicBezTo>
                    <a:pt x="7853" y="16010"/>
                    <a:pt x="8034" y="15866"/>
                    <a:pt x="8224" y="15728"/>
                  </a:cubicBezTo>
                  <a:cubicBezTo>
                    <a:pt x="8416" y="15593"/>
                    <a:pt x="8584" y="15446"/>
                    <a:pt x="8729" y="15293"/>
                  </a:cubicBezTo>
                  <a:cubicBezTo>
                    <a:pt x="8873" y="15140"/>
                    <a:pt x="8945" y="14900"/>
                    <a:pt x="8945" y="14571"/>
                  </a:cubicBezTo>
                  <a:cubicBezTo>
                    <a:pt x="8945" y="14204"/>
                    <a:pt x="8777" y="13875"/>
                    <a:pt x="8440" y="13578"/>
                  </a:cubicBezTo>
                  <a:cubicBezTo>
                    <a:pt x="8104" y="13281"/>
                    <a:pt x="7706" y="13090"/>
                    <a:pt x="7247" y="12996"/>
                  </a:cubicBezTo>
                  <a:cubicBezTo>
                    <a:pt x="6251" y="12811"/>
                    <a:pt x="5311" y="12497"/>
                    <a:pt x="4435" y="12062"/>
                  </a:cubicBezTo>
                  <a:cubicBezTo>
                    <a:pt x="3554" y="11628"/>
                    <a:pt x="2790" y="11128"/>
                    <a:pt x="2133" y="10570"/>
                  </a:cubicBezTo>
                  <a:cubicBezTo>
                    <a:pt x="1479" y="10012"/>
                    <a:pt x="958" y="9416"/>
                    <a:pt x="574" y="8781"/>
                  </a:cubicBezTo>
                  <a:cubicBezTo>
                    <a:pt x="189" y="8153"/>
                    <a:pt x="0" y="7542"/>
                    <a:pt x="0" y="6949"/>
                  </a:cubicBezTo>
                  <a:lnTo>
                    <a:pt x="0" y="4320"/>
                  </a:lnTo>
                  <a:cubicBezTo>
                    <a:pt x="0" y="4009"/>
                    <a:pt x="93" y="3756"/>
                    <a:pt x="285" y="3553"/>
                  </a:cubicBezTo>
                  <a:cubicBezTo>
                    <a:pt x="475" y="3354"/>
                    <a:pt x="712" y="3254"/>
                    <a:pt x="998" y="3254"/>
                  </a:cubicBezTo>
                  <a:lnTo>
                    <a:pt x="5124" y="3254"/>
                  </a:lnTo>
                  <a:cubicBezTo>
                    <a:pt x="5108" y="3139"/>
                    <a:pt x="5097" y="3025"/>
                    <a:pt x="5097" y="2901"/>
                  </a:cubicBezTo>
                  <a:lnTo>
                    <a:pt x="5097" y="2564"/>
                  </a:lnTo>
                  <a:lnTo>
                    <a:pt x="5097" y="2505"/>
                  </a:lnTo>
                  <a:cubicBezTo>
                    <a:pt x="5097" y="2005"/>
                    <a:pt x="5118" y="1594"/>
                    <a:pt x="5156" y="1265"/>
                  </a:cubicBezTo>
                  <a:cubicBezTo>
                    <a:pt x="5193" y="939"/>
                    <a:pt x="5260" y="684"/>
                    <a:pt x="5353" y="499"/>
                  </a:cubicBezTo>
                  <a:cubicBezTo>
                    <a:pt x="5444" y="320"/>
                    <a:pt x="5580" y="187"/>
                    <a:pt x="5754" y="111"/>
                  </a:cubicBezTo>
                  <a:cubicBezTo>
                    <a:pt x="5928" y="38"/>
                    <a:pt x="6165" y="0"/>
                    <a:pt x="6464" y="0"/>
                  </a:cubicBezTo>
                  <a:lnTo>
                    <a:pt x="15132" y="0"/>
                  </a:lnTo>
                  <a:cubicBezTo>
                    <a:pt x="15410" y="0"/>
                    <a:pt x="15645" y="38"/>
                    <a:pt x="15829" y="111"/>
                  </a:cubicBezTo>
                  <a:cubicBezTo>
                    <a:pt x="16011" y="187"/>
                    <a:pt x="16149" y="320"/>
                    <a:pt x="16243" y="499"/>
                  </a:cubicBezTo>
                  <a:cubicBezTo>
                    <a:pt x="16336" y="684"/>
                    <a:pt x="16403" y="939"/>
                    <a:pt x="16435" y="1265"/>
                  </a:cubicBezTo>
                  <a:cubicBezTo>
                    <a:pt x="16470" y="1594"/>
                    <a:pt x="16486" y="2006"/>
                    <a:pt x="16486" y="2505"/>
                  </a:cubicBezTo>
                  <a:lnTo>
                    <a:pt x="16486" y="2863"/>
                  </a:lnTo>
                  <a:cubicBezTo>
                    <a:pt x="16486" y="2989"/>
                    <a:pt x="16478" y="3119"/>
                    <a:pt x="16459" y="3251"/>
                  </a:cubicBezTo>
                  <a:lnTo>
                    <a:pt x="20603" y="3251"/>
                  </a:lnTo>
                  <a:cubicBezTo>
                    <a:pt x="20884" y="3251"/>
                    <a:pt x="21119" y="3351"/>
                    <a:pt x="21314" y="3550"/>
                  </a:cubicBezTo>
                  <a:cubicBezTo>
                    <a:pt x="21503" y="3753"/>
                    <a:pt x="21599" y="4006"/>
                    <a:pt x="21599" y="4317"/>
                  </a:cubicBezTo>
                  <a:lnTo>
                    <a:pt x="21599" y="6949"/>
                  </a:lnTo>
                  <a:lnTo>
                    <a:pt x="21600" y="6949"/>
                  </a:lnTo>
                  <a:close/>
                  <a:moveTo>
                    <a:pt x="6283" y="10550"/>
                  </a:moveTo>
                  <a:cubicBezTo>
                    <a:pt x="6072" y="9798"/>
                    <a:pt x="5882" y="8978"/>
                    <a:pt x="5714" y="8082"/>
                  </a:cubicBezTo>
                  <a:cubicBezTo>
                    <a:pt x="5548" y="7189"/>
                    <a:pt x="5407" y="6299"/>
                    <a:pt x="5287" y="5415"/>
                  </a:cubicBezTo>
                  <a:lnTo>
                    <a:pt x="1962" y="5415"/>
                  </a:lnTo>
                  <a:lnTo>
                    <a:pt x="1962" y="6949"/>
                  </a:lnTo>
                  <a:cubicBezTo>
                    <a:pt x="1962" y="7137"/>
                    <a:pt x="2064" y="7389"/>
                    <a:pt x="2264" y="7709"/>
                  </a:cubicBezTo>
                  <a:cubicBezTo>
                    <a:pt x="2462" y="8029"/>
                    <a:pt x="2753" y="8358"/>
                    <a:pt x="3126" y="8699"/>
                  </a:cubicBezTo>
                  <a:cubicBezTo>
                    <a:pt x="3500" y="9040"/>
                    <a:pt x="3954" y="9381"/>
                    <a:pt x="4488" y="9707"/>
                  </a:cubicBezTo>
                  <a:cubicBezTo>
                    <a:pt x="5022" y="10033"/>
                    <a:pt x="5618" y="10315"/>
                    <a:pt x="6283" y="10550"/>
                  </a:cubicBezTo>
                  <a:moveTo>
                    <a:pt x="19629" y="5415"/>
                  </a:moveTo>
                  <a:lnTo>
                    <a:pt x="16280" y="5415"/>
                  </a:lnTo>
                  <a:cubicBezTo>
                    <a:pt x="16179" y="6299"/>
                    <a:pt x="16043" y="7189"/>
                    <a:pt x="15877" y="8082"/>
                  </a:cubicBezTo>
                  <a:cubicBezTo>
                    <a:pt x="15712" y="8978"/>
                    <a:pt x="15522" y="9798"/>
                    <a:pt x="15308" y="10550"/>
                  </a:cubicBezTo>
                  <a:cubicBezTo>
                    <a:pt x="15973" y="10315"/>
                    <a:pt x="16574" y="10033"/>
                    <a:pt x="17105" y="9707"/>
                  </a:cubicBezTo>
                  <a:cubicBezTo>
                    <a:pt x="17637" y="9381"/>
                    <a:pt x="18091" y="9040"/>
                    <a:pt x="18467" y="8699"/>
                  </a:cubicBezTo>
                  <a:cubicBezTo>
                    <a:pt x="18844" y="8358"/>
                    <a:pt x="19130" y="8029"/>
                    <a:pt x="19330" y="7709"/>
                  </a:cubicBezTo>
                  <a:cubicBezTo>
                    <a:pt x="19530" y="7389"/>
                    <a:pt x="19629" y="7137"/>
                    <a:pt x="19629" y="6949"/>
                  </a:cubicBezTo>
                  <a:lnTo>
                    <a:pt x="19629" y="54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1" name="Group 19"/>
          <p:cNvGrpSpPr/>
          <p:nvPr userDrawn="1"/>
        </p:nvGrpSpPr>
        <p:grpSpPr bwMode="auto">
          <a:xfrm>
            <a:off x="10773613" y="6070822"/>
            <a:ext cx="380048" cy="380121"/>
            <a:chOff x="0" y="0"/>
            <a:chExt cx="965499" cy="965499"/>
          </a:xfrm>
        </p:grpSpPr>
        <p:sp>
          <p:nvSpPr>
            <p:cNvPr id="32" name="AutoShape 20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AutoShape 21"/>
            <p:cNvSpPr/>
            <p:nvPr/>
          </p:nvSpPr>
          <p:spPr bwMode="auto">
            <a:xfrm>
              <a:off x="292545" y="314566"/>
              <a:ext cx="380408" cy="307104"/>
            </a:xfrm>
            <a:custGeom>
              <a:avLst/>
              <a:gdLst>
                <a:gd name="T0" fmla="*/ 190204 w 21600"/>
                <a:gd name="T1" fmla="*/ 153552 h 21600"/>
                <a:gd name="T2" fmla="*/ 190204 w 21600"/>
                <a:gd name="T3" fmla="*/ 153552 h 21600"/>
                <a:gd name="T4" fmla="*/ 190204 w 21600"/>
                <a:gd name="T5" fmla="*/ 153552 h 21600"/>
                <a:gd name="T6" fmla="*/ 190204 w 21600"/>
                <a:gd name="T7" fmla="*/ 153552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3222"/>
                  </a:moveTo>
                  <a:cubicBezTo>
                    <a:pt x="20632" y="3222"/>
                    <a:pt x="20946" y="3384"/>
                    <a:pt x="21208" y="3713"/>
                  </a:cubicBezTo>
                  <a:cubicBezTo>
                    <a:pt x="21470" y="4042"/>
                    <a:pt x="21600" y="4427"/>
                    <a:pt x="21600" y="4865"/>
                  </a:cubicBezTo>
                  <a:lnTo>
                    <a:pt x="21600" y="19984"/>
                  </a:lnTo>
                  <a:cubicBezTo>
                    <a:pt x="21600" y="20421"/>
                    <a:pt x="21470" y="20803"/>
                    <a:pt x="21208" y="21121"/>
                  </a:cubicBezTo>
                  <a:cubicBezTo>
                    <a:pt x="20946" y="21441"/>
                    <a:pt x="20632" y="21600"/>
                    <a:pt x="20263" y="21600"/>
                  </a:cubicBezTo>
                  <a:lnTo>
                    <a:pt x="1348" y="21600"/>
                  </a:lnTo>
                  <a:cubicBezTo>
                    <a:pt x="981" y="21600"/>
                    <a:pt x="663" y="21441"/>
                    <a:pt x="399" y="21121"/>
                  </a:cubicBezTo>
                  <a:cubicBezTo>
                    <a:pt x="134" y="20803"/>
                    <a:pt x="0" y="20421"/>
                    <a:pt x="0" y="19984"/>
                  </a:cubicBezTo>
                  <a:lnTo>
                    <a:pt x="0" y="4865"/>
                  </a:lnTo>
                  <a:cubicBezTo>
                    <a:pt x="0" y="4427"/>
                    <a:pt x="134" y="4042"/>
                    <a:pt x="399" y="3713"/>
                  </a:cubicBezTo>
                  <a:cubicBezTo>
                    <a:pt x="663" y="3384"/>
                    <a:pt x="981" y="3222"/>
                    <a:pt x="1348" y="3222"/>
                  </a:cubicBezTo>
                  <a:lnTo>
                    <a:pt x="5638" y="3222"/>
                  </a:lnTo>
                  <a:lnTo>
                    <a:pt x="6318" y="1460"/>
                  </a:lnTo>
                  <a:cubicBezTo>
                    <a:pt x="6458" y="1057"/>
                    <a:pt x="6717" y="713"/>
                    <a:pt x="7089" y="425"/>
                  </a:cubicBezTo>
                  <a:cubicBezTo>
                    <a:pt x="7466" y="143"/>
                    <a:pt x="7838" y="0"/>
                    <a:pt x="8203" y="0"/>
                  </a:cubicBezTo>
                  <a:lnTo>
                    <a:pt x="13396" y="0"/>
                  </a:lnTo>
                  <a:cubicBezTo>
                    <a:pt x="13763" y="0"/>
                    <a:pt x="14135" y="143"/>
                    <a:pt x="14510" y="425"/>
                  </a:cubicBezTo>
                  <a:cubicBezTo>
                    <a:pt x="14884" y="713"/>
                    <a:pt x="15146" y="1057"/>
                    <a:pt x="15293" y="1460"/>
                  </a:cubicBezTo>
                  <a:lnTo>
                    <a:pt x="15961" y="3222"/>
                  </a:lnTo>
                  <a:lnTo>
                    <a:pt x="20263" y="3222"/>
                  </a:lnTo>
                  <a:close/>
                  <a:moveTo>
                    <a:pt x="10806" y="19185"/>
                  </a:moveTo>
                  <a:cubicBezTo>
                    <a:pt x="11572" y="19185"/>
                    <a:pt x="12299" y="19002"/>
                    <a:pt x="12987" y="18650"/>
                  </a:cubicBezTo>
                  <a:cubicBezTo>
                    <a:pt x="13672" y="18294"/>
                    <a:pt x="14270" y="17810"/>
                    <a:pt x="14774" y="17196"/>
                  </a:cubicBezTo>
                  <a:cubicBezTo>
                    <a:pt x="15278" y="16582"/>
                    <a:pt x="15677" y="15862"/>
                    <a:pt x="15974" y="15048"/>
                  </a:cubicBezTo>
                  <a:cubicBezTo>
                    <a:pt x="16270" y="14234"/>
                    <a:pt x="16419" y="13356"/>
                    <a:pt x="16419" y="12421"/>
                  </a:cubicBezTo>
                  <a:cubicBezTo>
                    <a:pt x="16419" y="11499"/>
                    <a:pt x="16270" y="10623"/>
                    <a:pt x="15974" y="9795"/>
                  </a:cubicBezTo>
                  <a:cubicBezTo>
                    <a:pt x="15677" y="8966"/>
                    <a:pt x="15278" y="8249"/>
                    <a:pt x="14774" y="7644"/>
                  </a:cubicBezTo>
                  <a:cubicBezTo>
                    <a:pt x="14270" y="7036"/>
                    <a:pt x="13672" y="6557"/>
                    <a:pt x="12987" y="6199"/>
                  </a:cubicBezTo>
                  <a:cubicBezTo>
                    <a:pt x="12299" y="5843"/>
                    <a:pt x="11572" y="5667"/>
                    <a:pt x="10806" y="5667"/>
                  </a:cubicBezTo>
                  <a:cubicBezTo>
                    <a:pt x="10039" y="5667"/>
                    <a:pt x="9312" y="5846"/>
                    <a:pt x="8619" y="6199"/>
                  </a:cubicBezTo>
                  <a:cubicBezTo>
                    <a:pt x="7929" y="6557"/>
                    <a:pt x="7332" y="7036"/>
                    <a:pt x="6827" y="7644"/>
                  </a:cubicBezTo>
                  <a:cubicBezTo>
                    <a:pt x="6323" y="8249"/>
                    <a:pt x="5922" y="8963"/>
                    <a:pt x="5625" y="9789"/>
                  </a:cubicBezTo>
                  <a:cubicBezTo>
                    <a:pt x="5329" y="10612"/>
                    <a:pt x="5180" y="11490"/>
                    <a:pt x="5180" y="12421"/>
                  </a:cubicBezTo>
                  <a:cubicBezTo>
                    <a:pt x="5180" y="13356"/>
                    <a:pt x="5329" y="14234"/>
                    <a:pt x="5625" y="15048"/>
                  </a:cubicBezTo>
                  <a:cubicBezTo>
                    <a:pt x="5922" y="15862"/>
                    <a:pt x="6323" y="16582"/>
                    <a:pt x="6827" y="17196"/>
                  </a:cubicBezTo>
                  <a:cubicBezTo>
                    <a:pt x="7332" y="17810"/>
                    <a:pt x="7929" y="18294"/>
                    <a:pt x="8619" y="18650"/>
                  </a:cubicBezTo>
                  <a:cubicBezTo>
                    <a:pt x="9312" y="19005"/>
                    <a:pt x="10039" y="19185"/>
                    <a:pt x="10806" y="19185"/>
                  </a:cubicBezTo>
                  <a:moveTo>
                    <a:pt x="10806" y="7832"/>
                  </a:moveTo>
                  <a:cubicBezTo>
                    <a:pt x="11337" y="7832"/>
                    <a:pt x="11834" y="7953"/>
                    <a:pt x="12294" y="8191"/>
                  </a:cubicBezTo>
                  <a:cubicBezTo>
                    <a:pt x="12754" y="8432"/>
                    <a:pt x="13158" y="8755"/>
                    <a:pt x="13501" y="9169"/>
                  </a:cubicBezTo>
                  <a:cubicBezTo>
                    <a:pt x="13846" y="9583"/>
                    <a:pt x="14118" y="10068"/>
                    <a:pt x="14316" y="10623"/>
                  </a:cubicBezTo>
                  <a:cubicBezTo>
                    <a:pt x="14515" y="11184"/>
                    <a:pt x="14615" y="11781"/>
                    <a:pt x="14615" y="12421"/>
                  </a:cubicBezTo>
                  <a:cubicBezTo>
                    <a:pt x="14615" y="13056"/>
                    <a:pt x="14515" y="13649"/>
                    <a:pt x="14316" y="14205"/>
                  </a:cubicBezTo>
                  <a:cubicBezTo>
                    <a:pt x="14118" y="14757"/>
                    <a:pt x="13846" y="15245"/>
                    <a:pt x="13501" y="15668"/>
                  </a:cubicBezTo>
                  <a:cubicBezTo>
                    <a:pt x="13158" y="16091"/>
                    <a:pt x="12752" y="16420"/>
                    <a:pt x="12289" y="16661"/>
                  </a:cubicBezTo>
                  <a:cubicBezTo>
                    <a:pt x="11824" y="16899"/>
                    <a:pt x="11330" y="17016"/>
                    <a:pt x="10806" y="17016"/>
                  </a:cubicBezTo>
                  <a:cubicBezTo>
                    <a:pt x="10274" y="17016"/>
                    <a:pt x="9777" y="16899"/>
                    <a:pt x="9312" y="16661"/>
                  </a:cubicBezTo>
                  <a:cubicBezTo>
                    <a:pt x="8847" y="16420"/>
                    <a:pt x="8443" y="16091"/>
                    <a:pt x="8100" y="15668"/>
                  </a:cubicBezTo>
                  <a:cubicBezTo>
                    <a:pt x="7755" y="15245"/>
                    <a:pt x="7483" y="14754"/>
                    <a:pt x="7285" y="14199"/>
                  </a:cubicBezTo>
                  <a:cubicBezTo>
                    <a:pt x="7084" y="13641"/>
                    <a:pt x="6984" y="13044"/>
                    <a:pt x="6984" y="12421"/>
                  </a:cubicBezTo>
                  <a:cubicBezTo>
                    <a:pt x="6984" y="11781"/>
                    <a:pt x="7084" y="11184"/>
                    <a:pt x="7285" y="10623"/>
                  </a:cubicBezTo>
                  <a:cubicBezTo>
                    <a:pt x="7483" y="10068"/>
                    <a:pt x="7755" y="9583"/>
                    <a:pt x="8100" y="9169"/>
                  </a:cubicBezTo>
                  <a:cubicBezTo>
                    <a:pt x="8443" y="8755"/>
                    <a:pt x="8847" y="8431"/>
                    <a:pt x="9312" y="8191"/>
                  </a:cubicBezTo>
                  <a:cubicBezTo>
                    <a:pt x="9777" y="7953"/>
                    <a:pt x="10274" y="7832"/>
                    <a:pt x="10806" y="7832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4" name="Group 22"/>
          <p:cNvGrpSpPr/>
          <p:nvPr userDrawn="1"/>
        </p:nvGrpSpPr>
        <p:grpSpPr bwMode="auto">
          <a:xfrm>
            <a:off x="11311148" y="6070822"/>
            <a:ext cx="380048" cy="380121"/>
            <a:chOff x="0" y="0"/>
            <a:chExt cx="965499" cy="965499"/>
          </a:xfrm>
        </p:grpSpPr>
        <p:sp>
          <p:nvSpPr>
            <p:cNvPr id="35" name="AutoShape 23"/>
            <p:cNvSpPr/>
            <p:nvPr/>
          </p:nvSpPr>
          <p:spPr bwMode="auto">
            <a:xfrm>
              <a:off x="0" y="0"/>
              <a:ext cx="965499" cy="965499"/>
            </a:xfrm>
            <a:custGeom>
              <a:avLst/>
              <a:gdLst>
                <a:gd name="T0" fmla="*/ 482725 w 19679"/>
                <a:gd name="T1" fmla="*/ 529874 h 19679"/>
                <a:gd name="T2" fmla="*/ 482725 w 19679"/>
                <a:gd name="T3" fmla="*/ 529874 h 19679"/>
                <a:gd name="T4" fmla="*/ 482725 w 19679"/>
                <a:gd name="T5" fmla="*/ 529874 h 19679"/>
                <a:gd name="T6" fmla="*/ 482725 w 19679"/>
                <a:gd name="T7" fmla="*/ 529874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9"/>
                    <a:pt x="6724" y="20639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  <a:effectLst>
              <a:outerShdw blurRad="88900" dist="38100" dir="7680000" algn="tl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6" name="AutoShape 24"/>
            <p:cNvSpPr/>
            <p:nvPr/>
          </p:nvSpPr>
          <p:spPr bwMode="auto">
            <a:xfrm>
              <a:off x="293617" y="331589"/>
              <a:ext cx="380408" cy="296161"/>
            </a:xfrm>
            <a:custGeom>
              <a:avLst/>
              <a:gdLst>
                <a:gd name="T0" fmla="*/ 190204 w 21600"/>
                <a:gd name="T1" fmla="*/ 148081 h 21600"/>
                <a:gd name="T2" fmla="*/ 190204 w 21600"/>
                <a:gd name="T3" fmla="*/ 148081 h 21600"/>
                <a:gd name="T4" fmla="*/ 190204 w 21600"/>
                <a:gd name="T5" fmla="*/ 148081 h 21600"/>
                <a:gd name="T6" fmla="*/ 190204 w 21600"/>
                <a:gd name="T7" fmla="*/ 148081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10782" y="15633"/>
                  </a:moveTo>
                  <a:cubicBezTo>
                    <a:pt x="11211" y="15633"/>
                    <a:pt x="11622" y="15565"/>
                    <a:pt x="12011" y="15416"/>
                  </a:cubicBezTo>
                  <a:cubicBezTo>
                    <a:pt x="12403" y="15272"/>
                    <a:pt x="12778" y="15084"/>
                    <a:pt x="13138" y="14855"/>
                  </a:cubicBezTo>
                  <a:cubicBezTo>
                    <a:pt x="13498" y="14626"/>
                    <a:pt x="13845" y="14361"/>
                    <a:pt x="14181" y="14073"/>
                  </a:cubicBezTo>
                  <a:cubicBezTo>
                    <a:pt x="14516" y="13774"/>
                    <a:pt x="14844" y="13471"/>
                    <a:pt x="15168" y="13160"/>
                  </a:cubicBezTo>
                  <a:cubicBezTo>
                    <a:pt x="16142" y="12226"/>
                    <a:pt x="17126" y="11306"/>
                    <a:pt x="18120" y="10410"/>
                  </a:cubicBezTo>
                  <a:cubicBezTo>
                    <a:pt x="19112" y="9515"/>
                    <a:pt x="20113" y="8616"/>
                    <a:pt x="21120" y="7714"/>
                  </a:cubicBezTo>
                  <a:cubicBezTo>
                    <a:pt x="21198" y="7640"/>
                    <a:pt x="21279" y="7570"/>
                    <a:pt x="21360" y="7496"/>
                  </a:cubicBezTo>
                  <a:cubicBezTo>
                    <a:pt x="21443" y="7429"/>
                    <a:pt x="21524" y="7347"/>
                    <a:pt x="21600" y="7250"/>
                  </a:cubicBezTo>
                  <a:lnTo>
                    <a:pt x="21600" y="19981"/>
                  </a:lnTo>
                  <a:cubicBezTo>
                    <a:pt x="21600" y="20416"/>
                    <a:pt x="21470" y="20800"/>
                    <a:pt x="21208" y="21118"/>
                  </a:cubicBezTo>
                  <a:cubicBezTo>
                    <a:pt x="20946" y="21438"/>
                    <a:pt x="20632" y="21600"/>
                    <a:pt x="20265" y="21600"/>
                  </a:cubicBezTo>
                  <a:lnTo>
                    <a:pt x="1346" y="21600"/>
                  </a:lnTo>
                  <a:cubicBezTo>
                    <a:pt x="979" y="21600"/>
                    <a:pt x="663" y="21438"/>
                    <a:pt x="396" y="21118"/>
                  </a:cubicBezTo>
                  <a:cubicBezTo>
                    <a:pt x="132" y="20803"/>
                    <a:pt x="0" y="20419"/>
                    <a:pt x="0" y="19981"/>
                  </a:cubicBezTo>
                  <a:lnTo>
                    <a:pt x="0" y="7250"/>
                  </a:lnTo>
                  <a:cubicBezTo>
                    <a:pt x="75" y="7347"/>
                    <a:pt x="156" y="7429"/>
                    <a:pt x="239" y="7496"/>
                  </a:cubicBezTo>
                  <a:cubicBezTo>
                    <a:pt x="320" y="7570"/>
                    <a:pt x="401" y="7640"/>
                    <a:pt x="479" y="7714"/>
                  </a:cubicBezTo>
                  <a:cubicBezTo>
                    <a:pt x="1488" y="8616"/>
                    <a:pt x="2487" y="9514"/>
                    <a:pt x="3481" y="10410"/>
                  </a:cubicBezTo>
                  <a:cubicBezTo>
                    <a:pt x="4473" y="11306"/>
                    <a:pt x="5457" y="12223"/>
                    <a:pt x="6434" y="13160"/>
                  </a:cubicBezTo>
                  <a:cubicBezTo>
                    <a:pt x="6738" y="13454"/>
                    <a:pt x="7058" y="13744"/>
                    <a:pt x="7394" y="14038"/>
                  </a:cubicBezTo>
                  <a:cubicBezTo>
                    <a:pt x="7729" y="14338"/>
                    <a:pt x="8079" y="14599"/>
                    <a:pt x="8437" y="14840"/>
                  </a:cubicBezTo>
                  <a:cubicBezTo>
                    <a:pt x="8797" y="15075"/>
                    <a:pt x="9174" y="15269"/>
                    <a:pt x="9568" y="15413"/>
                  </a:cubicBezTo>
                  <a:cubicBezTo>
                    <a:pt x="9965" y="15563"/>
                    <a:pt x="10371" y="15633"/>
                    <a:pt x="10782" y="15633"/>
                  </a:cubicBezTo>
                  <a:moveTo>
                    <a:pt x="10782" y="12413"/>
                  </a:moveTo>
                  <a:cubicBezTo>
                    <a:pt x="10540" y="12413"/>
                    <a:pt x="10278" y="12334"/>
                    <a:pt x="9996" y="12167"/>
                  </a:cubicBezTo>
                  <a:cubicBezTo>
                    <a:pt x="9715" y="12005"/>
                    <a:pt x="9441" y="11806"/>
                    <a:pt x="9171" y="11576"/>
                  </a:cubicBezTo>
                  <a:cubicBezTo>
                    <a:pt x="8900" y="11347"/>
                    <a:pt x="8638" y="11106"/>
                    <a:pt x="8380" y="10854"/>
                  </a:cubicBezTo>
                  <a:cubicBezTo>
                    <a:pt x="8121" y="10601"/>
                    <a:pt x="7896" y="10390"/>
                    <a:pt x="7700" y="10222"/>
                  </a:cubicBezTo>
                  <a:cubicBezTo>
                    <a:pt x="6752" y="9356"/>
                    <a:pt x="5819" y="8507"/>
                    <a:pt x="4891" y="7664"/>
                  </a:cubicBezTo>
                  <a:cubicBezTo>
                    <a:pt x="3966" y="6815"/>
                    <a:pt x="3023" y="5960"/>
                    <a:pt x="2061" y="5087"/>
                  </a:cubicBezTo>
                  <a:cubicBezTo>
                    <a:pt x="1882" y="4920"/>
                    <a:pt x="1672" y="4691"/>
                    <a:pt x="1434" y="4406"/>
                  </a:cubicBezTo>
                  <a:cubicBezTo>
                    <a:pt x="1194" y="4118"/>
                    <a:pt x="974" y="3804"/>
                    <a:pt x="766" y="3460"/>
                  </a:cubicBezTo>
                  <a:cubicBezTo>
                    <a:pt x="560" y="3110"/>
                    <a:pt x="384" y="2761"/>
                    <a:pt x="239" y="2405"/>
                  </a:cubicBezTo>
                  <a:cubicBezTo>
                    <a:pt x="95" y="2050"/>
                    <a:pt x="22" y="1724"/>
                    <a:pt x="22" y="1436"/>
                  </a:cubicBezTo>
                  <a:cubicBezTo>
                    <a:pt x="22" y="1051"/>
                    <a:pt x="164" y="713"/>
                    <a:pt x="443" y="425"/>
                  </a:cubicBezTo>
                  <a:cubicBezTo>
                    <a:pt x="727" y="143"/>
                    <a:pt x="1025" y="0"/>
                    <a:pt x="1346" y="0"/>
                  </a:cubicBezTo>
                  <a:lnTo>
                    <a:pt x="20265" y="0"/>
                  </a:lnTo>
                  <a:cubicBezTo>
                    <a:pt x="20583" y="0"/>
                    <a:pt x="20882" y="143"/>
                    <a:pt x="21161" y="425"/>
                  </a:cubicBezTo>
                  <a:cubicBezTo>
                    <a:pt x="21438" y="713"/>
                    <a:pt x="21577" y="1051"/>
                    <a:pt x="21577" y="1436"/>
                  </a:cubicBezTo>
                  <a:cubicBezTo>
                    <a:pt x="21577" y="1724"/>
                    <a:pt x="21504" y="2050"/>
                    <a:pt x="21360" y="2405"/>
                  </a:cubicBezTo>
                  <a:cubicBezTo>
                    <a:pt x="21215" y="2761"/>
                    <a:pt x="21039" y="3110"/>
                    <a:pt x="20833" y="3460"/>
                  </a:cubicBezTo>
                  <a:cubicBezTo>
                    <a:pt x="20627" y="3804"/>
                    <a:pt x="20402" y="4121"/>
                    <a:pt x="20165" y="4406"/>
                  </a:cubicBezTo>
                  <a:cubicBezTo>
                    <a:pt x="19927" y="4691"/>
                    <a:pt x="19717" y="4923"/>
                    <a:pt x="19538" y="5087"/>
                  </a:cubicBezTo>
                  <a:cubicBezTo>
                    <a:pt x="18578" y="5948"/>
                    <a:pt x="17633" y="6803"/>
                    <a:pt x="16708" y="7652"/>
                  </a:cubicBezTo>
                  <a:cubicBezTo>
                    <a:pt x="15782" y="8501"/>
                    <a:pt x="14844" y="9356"/>
                    <a:pt x="13899" y="10222"/>
                  </a:cubicBezTo>
                  <a:cubicBezTo>
                    <a:pt x="13703" y="10390"/>
                    <a:pt x="13481" y="10601"/>
                    <a:pt x="13226" y="10854"/>
                  </a:cubicBezTo>
                  <a:cubicBezTo>
                    <a:pt x="12971" y="11106"/>
                    <a:pt x="12709" y="11347"/>
                    <a:pt x="12435" y="11576"/>
                  </a:cubicBezTo>
                  <a:cubicBezTo>
                    <a:pt x="12161" y="11806"/>
                    <a:pt x="11884" y="12005"/>
                    <a:pt x="11603" y="12167"/>
                  </a:cubicBezTo>
                  <a:cubicBezTo>
                    <a:pt x="11321" y="12334"/>
                    <a:pt x="11064" y="12413"/>
                    <a:pt x="10829" y="12413"/>
                  </a:cubicBezTo>
                  <a:lnTo>
                    <a:pt x="10804" y="12413"/>
                  </a:lnTo>
                  <a:lnTo>
                    <a:pt x="10782" y="1241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7" name="任意多边形: 形状 28"/>
          <p:cNvSpPr/>
          <p:nvPr userDrawn="1"/>
        </p:nvSpPr>
        <p:spPr>
          <a:xfrm>
            <a:off x="-7619" y="6662481"/>
            <a:ext cx="11207209" cy="192000"/>
          </a:xfrm>
          <a:custGeom>
            <a:avLst/>
            <a:gdLst>
              <a:gd name="connsiteX0" fmla="*/ 0 w 8405407"/>
              <a:gd name="connsiteY0" fmla="*/ 0 h 152400"/>
              <a:gd name="connsiteX1" fmla="*/ 8405407 w 8405407"/>
              <a:gd name="connsiteY1" fmla="*/ 0 h 152400"/>
              <a:gd name="connsiteX2" fmla="*/ 8294166 w 8405407"/>
              <a:gd name="connsiteY2" fmla="*/ 152400 h 152400"/>
              <a:gd name="connsiteX3" fmla="*/ 0 w 8405407"/>
              <a:gd name="connsiteY3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05407" h="152400">
                <a:moveTo>
                  <a:pt x="0" y="0"/>
                </a:moveTo>
                <a:lnTo>
                  <a:pt x="8405407" y="0"/>
                </a:lnTo>
                <a:lnTo>
                  <a:pt x="829416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38" name="任意多边形: 形状 27"/>
          <p:cNvSpPr/>
          <p:nvPr userDrawn="1"/>
        </p:nvSpPr>
        <p:spPr>
          <a:xfrm flipH="1" flipV="1">
            <a:off x="11219155" y="6662481"/>
            <a:ext cx="972527" cy="192000"/>
          </a:xfrm>
          <a:custGeom>
            <a:avLst/>
            <a:gdLst>
              <a:gd name="connsiteX0" fmla="*/ 618154 w 729395"/>
              <a:gd name="connsiteY0" fmla="*/ 152400 h 152400"/>
              <a:gd name="connsiteX1" fmla="*/ 0 w 729395"/>
              <a:gd name="connsiteY1" fmla="*/ 152400 h 152400"/>
              <a:gd name="connsiteX2" fmla="*/ 0 w 729395"/>
              <a:gd name="connsiteY2" fmla="*/ 0 h 152400"/>
              <a:gd name="connsiteX3" fmla="*/ 729395 w 729395"/>
              <a:gd name="connsiteY3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395" h="152400">
                <a:moveTo>
                  <a:pt x="618154" y="152400"/>
                </a:moveTo>
                <a:lnTo>
                  <a:pt x="0" y="152400"/>
                </a:lnTo>
                <a:lnTo>
                  <a:pt x="0" y="0"/>
                </a:lnTo>
                <a:lnTo>
                  <a:pt x="729395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80" y="3878580"/>
            <a:ext cx="9799320" cy="115443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8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仿宋" panose="02010609060101010101" charset="-122"/>
                <a:ea typeface="仿宋" panose="02010609060101010101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6395" y="11437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300" normalizeH="0" baseline="0" noProof="1" dirty="0">
                <a:solidFill>
                  <a:schemeClr val="accent1">
                    <a:lumMod val="7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08330" y="1227455"/>
            <a:ext cx="10968990" cy="502221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 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9" name="任意多边形: 形状 28"/>
          <p:cNvSpPr/>
          <p:nvPr userDrawn="1"/>
        </p:nvSpPr>
        <p:spPr>
          <a:xfrm>
            <a:off x="-3650" y="6666997"/>
            <a:ext cx="11207209" cy="192000"/>
          </a:xfrm>
          <a:custGeom>
            <a:avLst/>
            <a:gdLst>
              <a:gd name="connsiteX0" fmla="*/ 0 w 8405407"/>
              <a:gd name="connsiteY0" fmla="*/ 0 h 152400"/>
              <a:gd name="connsiteX1" fmla="*/ 8405407 w 8405407"/>
              <a:gd name="connsiteY1" fmla="*/ 0 h 152400"/>
              <a:gd name="connsiteX2" fmla="*/ 8294166 w 8405407"/>
              <a:gd name="connsiteY2" fmla="*/ 152400 h 152400"/>
              <a:gd name="connsiteX3" fmla="*/ 0 w 8405407"/>
              <a:gd name="connsiteY3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05407" h="152400">
                <a:moveTo>
                  <a:pt x="0" y="0"/>
                </a:moveTo>
                <a:lnTo>
                  <a:pt x="8405407" y="0"/>
                </a:lnTo>
                <a:lnTo>
                  <a:pt x="8294166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28" name="任意多边形: 形状 27"/>
          <p:cNvSpPr/>
          <p:nvPr userDrawn="1"/>
        </p:nvSpPr>
        <p:spPr>
          <a:xfrm flipH="1" flipV="1">
            <a:off x="11223124" y="6666997"/>
            <a:ext cx="972527" cy="192000"/>
          </a:xfrm>
          <a:custGeom>
            <a:avLst/>
            <a:gdLst>
              <a:gd name="connsiteX0" fmla="*/ 618154 w 729395"/>
              <a:gd name="connsiteY0" fmla="*/ 152400 h 152400"/>
              <a:gd name="connsiteX1" fmla="*/ 0 w 729395"/>
              <a:gd name="connsiteY1" fmla="*/ 152400 h 152400"/>
              <a:gd name="connsiteX2" fmla="*/ 0 w 729395"/>
              <a:gd name="connsiteY2" fmla="*/ 0 h 152400"/>
              <a:gd name="connsiteX3" fmla="*/ 729395 w 729395"/>
              <a:gd name="connsiteY3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395" h="152400">
                <a:moveTo>
                  <a:pt x="618154" y="152400"/>
                </a:moveTo>
                <a:lnTo>
                  <a:pt x="0" y="152400"/>
                </a:lnTo>
                <a:lnTo>
                  <a:pt x="0" y="0"/>
                </a:lnTo>
                <a:lnTo>
                  <a:pt x="729395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1003784" y="807477"/>
            <a:ext cx="1019977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331470" y="250825"/>
            <a:ext cx="431800" cy="43180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25" name="矩形 24"/>
          <p:cNvSpPr/>
          <p:nvPr userDrawn="1"/>
        </p:nvSpPr>
        <p:spPr>
          <a:xfrm>
            <a:off x="548005" y="450215"/>
            <a:ext cx="360045" cy="36004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pic>
        <p:nvPicPr>
          <p:cNvPr id="5" name="图片 4" descr="TK5CG72_)U3`D_PXLQ1U9PP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351895" y="73660"/>
            <a:ext cx="715645" cy="785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2025/11/13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baike.baidu.com/item/shell/99702?fromModule=lemma_inlink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Relationship Id="rId4" Type="http://schemas.openxmlformats.org/officeDocument/2006/relationships/image" Target="../media/image3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Relationship Id="rId4" Type="http://schemas.openxmlformats.org/officeDocument/2006/relationships/image" Target="../media/image1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Relationship Id="rId4" Type="http://schemas.openxmlformats.org/officeDocument/2006/relationships/image" Target="../media/image19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Relationship Id="rId4" Type="http://schemas.openxmlformats.org/officeDocument/2006/relationships/image" Target="../media/image22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447081" y="1286352"/>
            <a:ext cx="7120890" cy="1236345"/>
          </a:xfrm>
        </p:spPr>
        <p:txBody>
          <a:bodyPr>
            <a:normAutofit/>
          </a:bodyPr>
          <a:lstStyle/>
          <a:p>
            <a:pPr algn="l"/>
            <a:r>
              <a:rPr lang="zh-CN" altLang="zh-CN" sz="4400" dirty="0">
                <a:solidFill>
                  <a:schemeClr val="accent1">
                    <a:lumMod val="75000"/>
                  </a:schemeClr>
                </a:solidFill>
              </a:rPr>
              <a:t>第</a:t>
            </a:r>
            <a:r>
              <a:rPr lang="en-US" altLang="zh-CN" sz="4400" dirty="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zh-CN" altLang="zh-CN" sz="4400" dirty="0">
                <a:solidFill>
                  <a:schemeClr val="accent1">
                    <a:lumMod val="75000"/>
                  </a:schemeClr>
                </a:solidFill>
              </a:rPr>
              <a:t>章  处理机调度</a:t>
            </a:r>
          </a:p>
        </p:txBody>
      </p:sp>
      <p:sp>
        <p:nvSpPr>
          <p:cNvPr id="7" name="矩形 6"/>
          <p:cNvSpPr/>
          <p:nvPr/>
        </p:nvSpPr>
        <p:spPr>
          <a:xfrm flipV="1">
            <a:off x="3229610" y="3371850"/>
            <a:ext cx="6516000" cy="1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68000">
                <a:srgbClr val="90B4E9">
                  <a:alpha val="100000"/>
                </a:srgbClr>
              </a:gs>
              <a:gs pos="100000">
                <a:schemeClr val="bg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TK5CG72_)U3`D_PXLQ1U9PP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2540" y="1054100"/>
            <a:ext cx="1560195" cy="171196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67A5FB25-38F2-6160-16FD-235DE2F14E94}"/>
              </a:ext>
            </a:extLst>
          </p:cNvPr>
          <p:cNvGrpSpPr/>
          <p:nvPr/>
        </p:nvGrpSpPr>
        <p:grpSpPr>
          <a:xfrm>
            <a:off x="3069834" y="2522697"/>
            <a:ext cx="7588006" cy="3746229"/>
            <a:chOff x="3069834" y="3217863"/>
            <a:chExt cx="6110240" cy="3051063"/>
          </a:xfrm>
        </p:grpSpPr>
        <p:pic>
          <p:nvPicPr>
            <p:cNvPr id="4" name="图片 3" descr="图示&#10;&#10;描述已自动生成">
              <a:extLst>
                <a:ext uri="{FF2B5EF4-FFF2-40B4-BE49-F238E27FC236}">
                  <a16:creationId xmlns:a16="http://schemas.microsoft.com/office/drawing/2014/main" id="{8CB846E1-DDED-0ABF-87A0-2E737FDC4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9834" y="3217863"/>
              <a:ext cx="6110240" cy="3051063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04DE36D-CD8E-773B-0103-D49850283EC2}"/>
                </a:ext>
              </a:extLst>
            </p:cNvPr>
            <p:cNvSpPr/>
            <p:nvPr/>
          </p:nvSpPr>
          <p:spPr>
            <a:xfrm>
              <a:off x="6096000" y="3657600"/>
              <a:ext cx="1421331" cy="38751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25" y="114300"/>
            <a:ext cx="9387205" cy="705485"/>
          </a:xfrm>
        </p:spPr>
        <p:txBody>
          <a:bodyPr/>
          <a:lstStyle/>
          <a:p>
            <a:pPr algn="ctr"/>
            <a:r>
              <a:rPr lang="zh-CN" altLang="en-US"/>
              <a:t>本章目录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7909" y="1574697"/>
            <a:ext cx="6051999" cy="2383846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US" altLang="zh-CN" sz="3200" dirty="0"/>
              <a:t> </a:t>
            </a:r>
            <a:r>
              <a:rPr lang="en-US" altLang="zh-CN" sz="3200" u="dottedHeavy" dirty="0">
                <a:solidFill>
                  <a:schemeClr val="tx1"/>
                </a:solidFill>
                <a:uFillTx/>
              </a:rPr>
              <a:t>5.1  </a:t>
            </a:r>
            <a:r>
              <a:rPr sz="3200" u="dottedHeavy" dirty="0">
                <a:solidFill>
                  <a:schemeClr val="tx1"/>
                </a:solidFill>
                <a:uFillTx/>
              </a:rPr>
              <a:t>分级调度与调度目标</a:t>
            </a:r>
          </a:p>
          <a:p>
            <a:pPr>
              <a:buBlip>
                <a:blip r:embed="rId3"/>
              </a:buBlip>
            </a:pPr>
            <a:r>
              <a:rPr sz="3200" dirty="0">
                <a:solidFill>
                  <a:srgbClr val="0000FF"/>
                </a:solidFill>
              </a:rPr>
              <a:t> </a:t>
            </a:r>
            <a:r>
              <a:rPr lang="en-US" altLang="zh-CN" sz="3200" u="dottedHeavy" dirty="0">
                <a:solidFill>
                  <a:srgbClr val="0000FF"/>
                </a:solidFill>
              </a:rPr>
              <a:t>5.2  </a:t>
            </a:r>
            <a:r>
              <a:rPr sz="3200" u="dottedHeavy" dirty="0">
                <a:solidFill>
                  <a:srgbClr val="0000FF"/>
                </a:solidFill>
              </a:rPr>
              <a:t>常用调度算法</a:t>
            </a:r>
            <a:r>
              <a:rPr lang="en-US" altLang="zh-CN" sz="3200" u="dottedHeavy" dirty="0">
                <a:solidFill>
                  <a:srgbClr val="0000FF"/>
                </a:solidFill>
              </a:rPr>
              <a:t>            </a:t>
            </a:r>
            <a:r>
              <a:rPr lang="en-US" altLang="zh-CN" sz="3200" u="dottedHeavy" dirty="0"/>
              <a:t>      </a:t>
            </a:r>
          </a:p>
          <a:p>
            <a:pPr>
              <a:buBlip>
                <a:blip r:embed="rId3"/>
              </a:buBlip>
            </a:pPr>
            <a:r>
              <a:rPr sz="3200" dirty="0"/>
              <a:t> </a:t>
            </a:r>
            <a:r>
              <a:rPr lang="en-US" altLang="zh-CN" sz="3200" u="dottedHeavy" dirty="0"/>
              <a:t>5.3  </a:t>
            </a:r>
            <a:r>
              <a:rPr sz="3200" u="dottedHeavy" dirty="0"/>
              <a:t>实时系统的调度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965" y="266700"/>
            <a:ext cx="9387205" cy="705485"/>
          </a:xfrm>
        </p:spPr>
        <p:txBody>
          <a:bodyPr>
            <a:normAutofit/>
          </a:bodyPr>
          <a:lstStyle/>
          <a:p>
            <a:pPr algn="ctr"/>
            <a:r>
              <a:rPr sz="3600" dirty="0"/>
              <a:t>5.1 分级调度与调度目标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5885" y="1446848"/>
            <a:ext cx="7722235" cy="3542030"/>
          </a:xfrm>
        </p:spPr>
        <p:txBody>
          <a:bodyPr>
            <a:normAutofit/>
          </a:bodyPr>
          <a:lstStyle/>
          <a:p>
            <a:pPr>
              <a:buBlip>
                <a:blip r:embed="rId3"/>
              </a:buBlip>
            </a:pPr>
            <a:r>
              <a:rPr lang="en-US" altLang="zh-CN" sz="3200" dirty="0"/>
              <a:t> </a:t>
            </a:r>
            <a:r>
              <a:rPr lang="en-US" altLang="zh-CN" sz="3200" u="dottedHeavy" dirty="0">
                <a:uFillTx/>
              </a:rPr>
              <a:t>5.1.1  </a:t>
            </a:r>
            <a:r>
              <a:rPr sz="3200" u="dottedHeavy" dirty="0">
                <a:uFillTx/>
              </a:rPr>
              <a:t>作业的概念</a:t>
            </a:r>
          </a:p>
          <a:p>
            <a:pPr>
              <a:buBlip>
                <a:blip r:embed="rId3"/>
              </a:buBlip>
            </a:pPr>
            <a:r>
              <a:rPr sz="3200" dirty="0">
                <a:solidFill>
                  <a:srgbClr val="0000FF"/>
                </a:solidFill>
              </a:rPr>
              <a:t> </a:t>
            </a:r>
            <a:r>
              <a:rPr lang="en-US" altLang="zh-CN" sz="3200" u="dottedHeavy" dirty="0">
                <a:solidFill>
                  <a:srgbClr val="0000FF"/>
                </a:solidFill>
              </a:rPr>
              <a:t>5.1.2  </a:t>
            </a:r>
            <a:r>
              <a:rPr sz="3200" u="dottedHeavy" dirty="0">
                <a:solidFill>
                  <a:srgbClr val="0000FF"/>
                </a:solidFill>
              </a:rPr>
              <a:t>处理机调度的层次</a:t>
            </a:r>
          </a:p>
          <a:p>
            <a:pPr>
              <a:buBlip>
                <a:blip r:embed="rId3"/>
              </a:buBlip>
            </a:pPr>
            <a:r>
              <a:rPr sz="3200" dirty="0">
                <a:solidFill>
                  <a:srgbClr val="0000FF"/>
                </a:solidFill>
              </a:rPr>
              <a:t> </a:t>
            </a:r>
            <a:r>
              <a:rPr lang="en-US" altLang="zh-CN" sz="3200" u="dottedHeavy" dirty="0">
                <a:solidFill>
                  <a:srgbClr val="0000FF"/>
                </a:solidFill>
              </a:rPr>
              <a:t>5.1.3  </a:t>
            </a:r>
            <a:r>
              <a:rPr sz="3200" u="dottedHeavy" dirty="0">
                <a:solidFill>
                  <a:srgbClr val="0000FF"/>
                </a:solidFill>
              </a:rPr>
              <a:t>进程调度方式与时机</a:t>
            </a:r>
          </a:p>
          <a:p>
            <a:pPr>
              <a:buBlip>
                <a:blip r:embed="rId3"/>
              </a:buBlip>
            </a:pPr>
            <a:r>
              <a:rPr sz="3200" dirty="0"/>
              <a:t> </a:t>
            </a:r>
            <a:r>
              <a:rPr lang="en-US" altLang="zh-CN" sz="3200" u="dottedHeavy" dirty="0"/>
              <a:t>5.1.4  </a:t>
            </a:r>
            <a:r>
              <a:rPr sz="3200" u="dottedHeavy" dirty="0"/>
              <a:t>调度算法选择依据与性能评价</a:t>
            </a:r>
            <a:r>
              <a:rPr lang="en-US" altLang="zh-CN" sz="3200" u="dottedHeavy" dirty="0"/>
              <a:t>                 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95" y="114370"/>
            <a:ext cx="9266485" cy="70560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5</a:t>
            </a:r>
            <a:r>
              <a:rPr lang="zh-CN" altLang="en-US" sz="3600" dirty="0"/>
              <a:t>.1.1 作业的概念</a:t>
            </a: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11505" y="1015365"/>
            <a:ext cx="10968990" cy="434213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800" b="1" dirty="0">
                <a:sym typeface="+mn-ea"/>
              </a:rPr>
              <a:t>1．作业和作业步</a:t>
            </a:r>
          </a:p>
          <a:p>
            <a:r>
              <a:rPr lang="zh-CN" altLang="en-US" sz="2800" dirty="0"/>
              <a:t>用于早期批处理系统和现在的大型机、巨型机系统。</a:t>
            </a:r>
            <a:endParaRPr lang="en-US" altLang="zh-CN" sz="2800" dirty="0"/>
          </a:p>
          <a:p>
            <a:r>
              <a:rPr lang="zh-CN" altLang="en-US" sz="2800" dirty="0"/>
              <a:t>作业：从程序输入开始到输出建档，用户要求计算机所做的有关该次业务的全部工作称为一个作业。</a:t>
            </a:r>
          </a:p>
          <a:p>
            <a:pPr lvl="1"/>
            <a:r>
              <a:rPr lang="zh-CN" altLang="en-US" sz="2800" dirty="0"/>
              <a:t>作业由若干相互独立又相互联系的加工步骤顺序组成。每一个加工步骤称为一个作业步。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A0BF3-C47A-A681-C04B-2CBB85612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279" y="1218340"/>
            <a:ext cx="3038405" cy="705600"/>
          </a:xfrm>
        </p:spPr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脚本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77D74B-FD37-1661-4C07-D530160B6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0105" y="917892"/>
            <a:ext cx="7130616" cy="50222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dirty="0"/>
              <a:t>#!/bin/bash</a:t>
            </a:r>
          </a:p>
          <a:p>
            <a:pPr marL="0" indent="0">
              <a:buNone/>
            </a:pPr>
            <a:r>
              <a:rPr lang="en-US" altLang="zh-CN" sz="2000" dirty="0" err="1"/>
              <a:t>log_file</a:t>
            </a:r>
            <a:r>
              <a:rPr lang="en-US" altLang="zh-CN" sz="2000" dirty="0"/>
              <a:t>="$1"</a:t>
            </a:r>
          </a:p>
          <a:p>
            <a:pPr marL="0" indent="0">
              <a:buNone/>
            </a:pPr>
            <a:r>
              <a:rPr lang="en-US" altLang="zh-CN" sz="2000" dirty="0"/>
              <a:t># </a:t>
            </a:r>
            <a:r>
              <a:rPr lang="zh-CN" altLang="en-US" sz="2000" dirty="0"/>
              <a:t>检查文件是否存在</a:t>
            </a:r>
          </a:p>
          <a:p>
            <a:pPr marL="0" indent="0">
              <a:buNone/>
            </a:pPr>
            <a:r>
              <a:rPr lang="en-US" altLang="zh-CN" sz="2000" dirty="0"/>
              <a:t>if [ ! -f "$</a:t>
            </a:r>
            <a:r>
              <a:rPr lang="en-US" altLang="zh-CN" sz="2000" dirty="0" err="1"/>
              <a:t>log_file</a:t>
            </a:r>
            <a:r>
              <a:rPr lang="en-US" altLang="zh-CN" sz="2000" dirty="0"/>
              <a:t>" ]; then</a:t>
            </a:r>
          </a:p>
          <a:p>
            <a:pPr marL="0" indent="0">
              <a:buNone/>
            </a:pPr>
            <a:r>
              <a:rPr lang="en-US" altLang="zh-CN" sz="2000" dirty="0"/>
              <a:t>    echo "</a:t>
            </a:r>
            <a:r>
              <a:rPr lang="zh-CN" altLang="en-US" sz="2000" dirty="0"/>
              <a:t>文件 </a:t>
            </a:r>
            <a:r>
              <a:rPr lang="en-US" altLang="zh-CN" sz="2000" dirty="0"/>
              <a:t>$</a:t>
            </a:r>
            <a:r>
              <a:rPr lang="en-US" altLang="zh-CN" sz="2000" dirty="0" err="1"/>
              <a:t>log_file</a:t>
            </a:r>
            <a:r>
              <a:rPr lang="en-US" altLang="zh-CN" sz="2000" dirty="0"/>
              <a:t> </a:t>
            </a:r>
            <a:r>
              <a:rPr lang="zh-CN" altLang="en-US" sz="2000" dirty="0"/>
              <a:t>不存在。</a:t>
            </a:r>
            <a:r>
              <a:rPr lang="en-US" altLang="zh-CN" sz="2000" dirty="0"/>
              <a:t>"</a:t>
            </a:r>
          </a:p>
          <a:p>
            <a:pPr marL="0" indent="0">
              <a:buNone/>
            </a:pPr>
            <a:r>
              <a:rPr lang="en-US" altLang="zh-CN" sz="2000" dirty="0"/>
              <a:t>    exit 1</a:t>
            </a:r>
          </a:p>
          <a:p>
            <a:pPr marL="0" indent="0">
              <a:buNone/>
            </a:pPr>
            <a:r>
              <a:rPr lang="en-US" altLang="zh-CN" sz="2000" dirty="0"/>
              <a:t>fi</a:t>
            </a:r>
          </a:p>
          <a:p>
            <a:pPr marL="0" indent="0">
              <a:buNone/>
            </a:pPr>
            <a:r>
              <a:rPr lang="en-US" altLang="zh-CN" sz="2000" dirty="0"/>
              <a:t># </a:t>
            </a:r>
            <a:r>
              <a:rPr lang="zh-CN" altLang="en-US" sz="2000" dirty="0"/>
              <a:t>提取 </a:t>
            </a:r>
            <a:r>
              <a:rPr lang="en-US" altLang="zh-CN" sz="2000" dirty="0"/>
              <a:t>IP </a:t>
            </a:r>
            <a:r>
              <a:rPr lang="zh-CN" altLang="en-US" sz="2000" dirty="0"/>
              <a:t>地址并统计访问次数</a:t>
            </a:r>
          </a:p>
          <a:p>
            <a:pPr marL="0" indent="0">
              <a:buNone/>
            </a:pPr>
            <a:r>
              <a:rPr lang="en-US" altLang="zh-CN" sz="2000" dirty="0"/>
              <a:t>awk '{print $1}' "$</a:t>
            </a:r>
            <a:r>
              <a:rPr lang="en-US" altLang="zh-CN" sz="2000" dirty="0" err="1"/>
              <a:t>log_file</a:t>
            </a:r>
            <a:r>
              <a:rPr lang="en-US" altLang="zh-CN" sz="2000" dirty="0"/>
              <a:t>" | sort | </a:t>
            </a:r>
            <a:r>
              <a:rPr lang="en-US" altLang="zh-CN" sz="2000" dirty="0" err="1"/>
              <a:t>uniq</a:t>
            </a:r>
            <a:r>
              <a:rPr lang="en-US" altLang="zh-CN" sz="2000" dirty="0"/>
              <a:t> -c | sort -nr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8262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5</a:t>
            </a:r>
            <a:r>
              <a:rPr>
                <a:sym typeface="+mn-ea"/>
              </a:rPr>
              <a:t>.1.1 作业的概念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354238"/>
            <a:ext cx="10968990" cy="36576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3200" b="1" dirty="0"/>
              <a:t>2．作业说明书和作业控制块</a:t>
            </a:r>
          </a:p>
          <a:p>
            <a:r>
              <a:rPr lang="zh-CN" altLang="en-US" sz="3200" dirty="0"/>
              <a:t>作业由</a:t>
            </a:r>
            <a:r>
              <a:rPr lang="zh-CN" altLang="en-US" sz="3200" dirty="0">
                <a:solidFill>
                  <a:srgbClr val="0000FF"/>
                </a:solidFill>
              </a:rPr>
              <a:t>程序、数据和</a:t>
            </a:r>
            <a:r>
              <a:rPr lang="zh-CN" altLang="en-US" sz="3200" dirty="0">
                <a:solidFill>
                  <a:srgbClr val="FF0000"/>
                </a:solidFill>
              </a:rPr>
              <a:t>作业说明书</a:t>
            </a:r>
            <a:r>
              <a:rPr lang="zh-CN" altLang="en-US" sz="3200" dirty="0"/>
              <a:t>三部分组成。</a:t>
            </a:r>
          </a:p>
          <a:p>
            <a:endParaRPr lang="en-US" altLang="zh-CN" sz="3200" dirty="0"/>
          </a:p>
          <a:p>
            <a:r>
              <a:rPr lang="zh-CN" altLang="en-US" sz="3200" dirty="0">
                <a:solidFill>
                  <a:srgbClr val="0000FF"/>
                </a:solidFill>
              </a:rPr>
              <a:t>作业控制块</a:t>
            </a:r>
            <a:r>
              <a:rPr lang="zh-CN" altLang="en-US" sz="3200" dirty="0"/>
              <a:t>保存了系统对作业进行管理和调度所需的全部信息，主要包含作业基本描述、作业控制描述和资源要求描述。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7CE999-6CBD-F583-F54E-1249885B8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05" y="933188"/>
            <a:ext cx="10968990" cy="1210571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Linux</a:t>
            </a:r>
            <a:r>
              <a:rPr lang="zh-CN" altLang="en-US" sz="2800" dirty="0"/>
              <a:t>中有关于作业的命令</a:t>
            </a:r>
            <a:r>
              <a:rPr lang="en-US" altLang="zh-CN" sz="2800" dirty="0"/>
              <a:t>jobs</a:t>
            </a:r>
            <a:r>
              <a:rPr lang="zh-CN" altLang="en-US" sz="2800" dirty="0"/>
              <a:t>，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显示了当前</a:t>
            </a:r>
            <a:r>
              <a:rPr lang="en-US" altLang="zh-CN" sz="2800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2"/>
              </a:rPr>
              <a:t>shell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Helvetica Neue"/>
              </a:rPr>
              <a:t>环境中已启动的作业状态。</a:t>
            </a:r>
            <a:endParaRPr lang="en-US" altLang="zh-CN" sz="2800" dirty="0"/>
          </a:p>
          <a:p>
            <a:endParaRPr lang="zh-CN" altLang="en-US" sz="7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6B44D4-4494-0FE8-DDA9-0FF749F8A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639" y="2286002"/>
            <a:ext cx="8763467" cy="363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3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5.1.2 处理机调度的层次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307" y="820801"/>
            <a:ext cx="10968990" cy="705600"/>
          </a:xfrm>
        </p:spPr>
        <p:txBody>
          <a:bodyPr>
            <a:normAutofit fontScale="92500"/>
          </a:bodyPr>
          <a:lstStyle/>
          <a:p>
            <a:r>
              <a:rPr lang="zh-CN" altLang="en-US" sz="2800" dirty="0"/>
              <a:t>处理机调度按照层次可以分为三级：高级调度、中级调度和低级调度。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C87E633-657D-7FA6-ADC4-30633694AC96}"/>
              </a:ext>
            </a:extLst>
          </p:cNvPr>
          <p:cNvGrpSpPr/>
          <p:nvPr/>
        </p:nvGrpSpPr>
        <p:grpSpPr>
          <a:xfrm>
            <a:off x="524225" y="1289490"/>
            <a:ext cx="9974994" cy="4989610"/>
            <a:chOff x="524225" y="1289490"/>
            <a:chExt cx="9974994" cy="4989610"/>
          </a:xfrm>
        </p:grpSpPr>
        <p:pic>
          <p:nvPicPr>
            <p:cNvPr id="4" name="图片 3" descr="{JF@@7L02}[C7NHM)JIK~{H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0255" y="1289490"/>
              <a:ext cx="8668963" cy="4493905"/>
            </a:xfrm>
            <a:prstGeom prst="rect">
              <a:avLst/>
            </a:prstGeom>
          </p:spPr>
        </p:pic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B846EBEF-22CD-4C55-833B-0491B73FB6C3}"/>
                </a:ext>
              </a:extLst>
            </p:cNvPr>
            <p:cNvSpPr/>
            <p:nvPr/>
          </p:nvSpPr>
          <p:spPr>
            <a:xfrm>
              <a:off x="2782793" y="1775626"/>
              <a:ext cx="2457450" cy="390525"/>
            </a:xfrm>
            <a:prstGeom prst="round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rgbClr val="0000FF"/>
                  </a:solidFill>
                </a:rPr>
                <a:t>外存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F840763-C623-45AD-ABC1-B3CC926BDAEF}"/>
                </a:ext>
              </a:extLst>
            </p:cNvPr>
            <p:cNvSpPr txBox="1"/>
            <p:nvPr/>
          </p:nvSpPr>
          <p:spPr>
            <a:xfrm>
              <a:off x="524225" y="5817435"/>
              <a:ext cx="99749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0000FF"/>
                  </a:solidFill>
                  <a:latin typeface="幼圆" pitchFamily="49" charset="-122"/>
                </a:rPr>
                <a:t>作业状态：</a:t>
              </a:r>
              <a:r>
                <a:rPr lang="zh-CN" altLang="zh-CN" sz="2400" dirty="0">
                  <a:solidFill>
                    <a:srgbClr val="0000FF"/>
                  </a:solidFill>
                  <a:latin typeface="幼圆" pitchFamily="49" charset="-122"/>
                </a:rPr>
                <a:t>提交状态、后备状态、</a:t>
              </a:r>
              <a:r>
                <a:rPr lang="en-US" altLang="zh-CN" sz="2400" dirty="0">
                  <a:solidFill>
                    <a:srgbClr val="0000FF"/>
                  </a:solidFill>
                  <a:latin typeface="幼圆" pitchFamily="49" charset="-122"/>
                </a:rPr>
                <a:t>     </a:t>
              </a:r>
              <a:r>
                <a:rPr lang="zh-CN" altLang="zh-CN" sz="2400" dirty="0">
                  <a:solidFill>
                    <a:srgbClr val="0000FF"/>
                  </a:solidFill>
                  <a:latin typeface="幼圆" pitchFamily="49" charset="-122"/>
                </a:rPr>
                <a:t>运行状态</a:t>
              </a:r>
              <a:r>
                <a:rPr lang="zh-CN" altLang="en-US" sz="2400" dirty="0">
                  <a:solidFill>
                    <a:srgbClr val="0000FF"/>
                  </a:solidFill>
                  <a:latin typeface="幼圆" pitchFamily="49" charset="-122"/>
                </a:rPr>
                <a:t>、    </a:t>
              </a:r>
              <a:r>
                <a:rPr lang="zh-CN" altLang="zh-CN" sz="2400" dirty="0">
                  <a:solidFill>
                    <a:srgbClr val="0000FF"/>
                  </a:solidFill>
                  <a:latin typeface="幼圆" pitchFamily="49" charset="-122"/>
                </a:rPr>
                <a:t>完成状态</a:t>
              </a:r>
              <a:endParaRPr lang="zh-CN" altLang="zh-CN" sz="2400" dirty="0">
                <a:latin typeface="幼圆" pitchFamily="49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8268D4C-94A9-4258-8909-5E383ECF724D}"/>
                </a:ext>
              </a:extLst>
            </p:cNvPr>
            <p:cNvSpPr/>
            <p:nvPr/>
          </p:nvSpPr>
          <p:spPr>
            <a:xfrm>
              <a:off x="6363673" y="1983179"/>
              <a:ext cx="843148" cy="39052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4D4A5F1-8F67-4F85-941F-A12EF7904385}"/>
                </a:ext>
              </a:extLst>
            </p:cNvPr>
            <p:cNvCxnSpPr/>
            <p:nvPr/>
          </p:nvCxnSpPr>
          <p:spPr>
            <a:xfrm>
              <a:off x="3611529" y="1615736"/>
              <a:ext cx="0" cy="4598633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D206C88-B228-47F7-A95B-241A545DD239}"/>
                </a:ext>
              </a:extLst>
            </p:cNvPr>
            <p:cNvCxnSpPr>
              <a:cxnSpLocks/>
            </p:cNvCxnSpPr>
            <p:nvPr/>
          </p:nvCxnSpPr>
          <p:spPr>
            <a:xfrm>
              <a:off x="5139969" y="1626090"/>
              <a:ext cx="0" cy="4598633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F517CD5-84B4-4609-B3A7-C10E633FA624}"/>
                </a:ext>
              </a:extLst>
            </p:cNvPr>
            <p:cNvCxnSpPr/>
            <p:nvPr/>
          </p:nvCxnSpPr>
          <p:spPr>
            <a:xfrm>
              <a:off x="7776646" y="1670478"/>
              <a:ext cx="0" cy="4598633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对话气泡: 矩形 14">
            <a:extLst>
              <a:ext uri="{FF2B5EF4-FFF2-40B4-BE49-F238E27FC236}">
                <a16:creationId xmlns:a16="http://schemas.microsoft.com/office/drawing/2014/main" id="{261C1FD6-C6C3-DA93-7650-34B8B2EAAEEA}"/>
              </a:ext>
            </a:extLst>
          </p:cNvPr>
          <p:cNvSpPr/>
          <p:nvPr/>
        </p:nvSpPr>
        <p:spPr>
          <a:xfrm>
            <a:off x="944490" y="3969794"/>
            <a:ext cx="1278946" cy="929465"/>
          </a:xfrm>
          <a:prstGeom prst="wedgeRectCallout">
            <a:avLst>
              <a:gd name="adj1" fmla="val 50765"/>
              <a:gd name="adj2" fmla="val -9598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程序、数据和作业说明书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6">
            <a:extLst>
              <a:ext uri="{FF2B5EF4-FFF2-40B4-BE49-F238E27FC236}">
                <a16:creationId xmlns:a16="http://schemas.microsoft.com/office/drawing/2014/main" id="{BDCF67DE-A815-4776-9A1E-41FAD220F9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604937"/>
              </p:ext>
            </p:extLst>
          </p:nvPr>
        </p:nvGraphicFramePr>
        <p:xfrm>
          <a:off x="1166813" y="1235075"/>
          <a:ext cx="10270462" cy="438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259333" imgH="2067669" progId="Visio.Drawing.11">
                  <p:embed/>
                </p:oleObj>
              </mc:Choice>
              <mc:Fallback>
                <p:oleObj name="Visio" r:id="rId2" imgW="5259333" imgH="2067669" progId="Visio.Drawing.11">
                  <p:embed/>
                  <p:pic>
                    <p:nvPicPr>
                      <p:cNvPr id="9221" name="对象 6">
                        <a:extLst>
                          <a:ext uri="{FF2B5EF4-FFF2-40B4-BE49-F238E27FC236}">
                            <a16:creationId xmlns:a16="http://schemas.microsoft.com/office/drawing/2014/main" id="{278DB00E-7644-42C1-9E18-F7BB4747C7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1235075"/>
                        <a:ext cx="10270462" cy="438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F5179EA-F1DD-17E5-2C3B-AED2D8ECD8BE}"/>
              </a:ext>
            </a:extLst>
          </p:cNvPr>
          <p:cNvSpPr txBox="1"/>
          <p:nvPr/>
        </p:nvSpPr>
        <p:spPr>
          <a:xfrm>
            <a:off x="3941805" y="584474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作业及进程在系统中的状态图</a:t>
            </a:r>
          </a:p>
        </p:txBody>
      </p:sp>
    </p:spTree>
    <p:extLst>
      <p:ext uri="{BB962C8B-B14F-4D97-AF65-F5344CB8AC3E}">
        <p14:creationId xmlns:p14="http://schemas.microsoft.com/office/powerpoint/2010/main" val="3186959880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5.1.2 处理机调度的层次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6689" y="1056640"/>
            <a:ext cx="11160631" cy="508951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3500" b="1" dirty="0"/>
              <a:t>1．高级调度</a:t>
            </a:r>
          </a:p>
          <a:p>
            <a:r>
              <a:rPr lang="zh-CN" altLang="en-US" sz="2800" dirty="0"/>
              <a:t>又称为</a:t>
            </a:r>
            <a:r>
              <a:rPr lang="zh-CN" altLang="en-US" sz="2800" dirty="0">
                <a:solidFill>
                  <a:srgbClr val="FF0000"/>
                </a:solidFill>
              </a:rPr>
              <a:t>作业调度或长程调度</a:t>
            </a:r>
            <a:r>
              <a:rPr lang="zh-CN" altLang="en-US" sz="2800" dirty="0"/>
              <a:t>，主要用于批处理系统。</a:t>
            </a:r>
          </a:p>
          <a:p>
            <a:r>
              <a:rPr lang="zh-CN" altLang="en-US" sz="2800" dirty="0"/>
              <a:t>高级调度负责</a:t>
            </a:r>
            <a:r>
              <a:rPr lang="zh-CN" altLang="en-US" sz="2800" dirty="0">
                <a:solidFill>
                  <a:srgbClr val="0000FF"/>
                </a:solidFill>
              </a:rPr>
              <a:t>从后备队列</a:t>
            </a:r>
            <a:r>
              <a:rPr lang="zh-CN" altLang="en-US" sz="2800" dirty="0"/>
              <a:t>中选择多个</a:t>
            </a:r>
            <a:r>
              <a:rPr lang="zh-CN" altLang="en-US" sz="2800" dirty="0">
                <a:solidFill>
                  <a:srgbClr val="0000FF"/>
                </a:solidFill>
              </a:rPr>
              <a:t>作业</a:t>
            </a:r>
            <a:r>
              <a:rPr lang="zh-CN" altLang="en-US" sz="2800" dirty="0"/>
              <a:t>调入内存，为它们创建进程并分配必要的资源，然后链接到就绪队列上。</a:t>
            </a:r>
          </a:p>
          <a:p>
            <a:r>
              <a:rPr lang="zh-CN" altLang="en-US" sz="2800" dirty="0">
                <a:solidFill>
                  <a:srgbClr val="0000FF"/>
                </a:solidFill>
              </a:rPr>
              <a:t>在分时</a:t>
            </a:r>
            <a:r>
              <a:rPr lang="en-US" altLang="zh-CN" sz="2800" dirty="0">
                <a:solidFill>
                  <a:srgbClr val="0000FF"/>
                </a:solidFill>
              </a:rPr>
              <a:t>/</a:t>
            </a:r>
            <a:r>
              <a:rPr lang="zh-CN" altLang="en-US" sz="2800" dirty="0">
                <a:solidFill>
                  <a:srgbClr val="0000FF"/>
                </a:solidFill>
              </a:rPr>
              <a:t>实时系统中</a:t>
            </a:r>
            <a:r>
              <a:rPr lang="zh-CN" altLang="en-US" sz="2800" dirty="0"/>
              <a:t>，为了做到及时响应，通过键盘输入的命令或数据等，都被直接送入内存创建进程，因而</a:t>
            </a:r>
            <a:r>
              <a:rPr lang="zh-CN" altLang="en-US" sz="2800" dirty="0">
                <a:solidFill>
                  <a:srgbClr val="0000FF"/>
                </a:solidFill>
              </a:rPr>
              <a:t>不需要设置高级调度</a:t>
            </a:r>
            <a:r>
              <a:rPr lang="zh-CN" altLang="en-US" sz="2800" dirty="0"/>
              <a:t>这个层次。 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作业的状态</a:t>
            </a:r>
            <a:r>
              <a:rPr lang="zh-CN" altLang="en-US" sz="2800" dirty="0">
                <a:latin typeface="仿宋" pitchFamily="49" charset="-122"/>
                <a:ea typeface="仿宋" pitchFamily="49" charset="-122"/>
              </a:rPr>
              <a:t>：</a:t>
            </a:r>
            <a:r>
              <a:rPr lang="zh-CN" altLang="zh-CN" sz="2800" dirty="0">
                <a:latin typeface="幼圆" pitchFamily="49" charset="-122"/>
              </a:rPr>
              <a:t>作业自提交进入系统开始</a:t>
            </a:r>
            <a:r>
              <a:rPr lang="zh-CN" altLang="en-US" sz="2800" dirty="0">
                <a:latin typeface="幼圆" pitchFamily="49" charset="-122"/>
              </a:rPr>
              <a:t>，</a:t>
            </a:r>
            <a:r>
              <a:rPr lang="zh-CN" altLang="zh-CN" sz="2800" dirty="0">
                <a:latin typeface="幼圆" pitchFamily="49" charset="-122"/>
              </a:rPr>
              <a:t>直到运行结束后退出系统，通常经历四种状态：</a:t>
            </a:r>
            <a:r>
              <a:rPr lang="zh-CN" altLang="zh-CN" sz="2800" dirty="0">
                <a:solidFill>
                  <a:srgbClr val="0000FF"/>
                </a:solidFill>
                <a:latin typeface="幼圆" pitchFamily="49" charset="-122"/>
              </a:rPr>
              <a:t>提交状态、后备状态、运行状态和完成状态</a:t>
            </a:r>
            <a:r>
              <a:rPr lang="zh-CN" altLang="zh-CN" sz="2800" dirty="0">
                <a:latin typeface="幼圆" pitchFamily="49" charset="-122"/>
              </a:rPr>
              <a:t>。</a:t>
            </a: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5.1.2 处理机调度的层次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343202"/>
            <a:ext cx="10968990" cy="3238423"/>
          </a:xfrm>
        </p:spPr>
        <p:txBody>
          <a:bodyPr>
            <a:normAutofit/>
          </a:bodyPr>
          <a:lstStyle/>
          <a:p>
            <a:r>
              <a:rPr lang="zh-CN" altLang="en-US" sz="2600" dirty="0"/>
              <a:t>每当有作业执行完毕并撤离时，高级调度会选择一个或多个作业调入内存。此外，如果CPU 的空闲时间超过一定的阈值，系统也会触发高级调度选择后备队列中的作业进入内存。</a:t>
            </a:r>
          </a:p>
          <a:p>
            <a:r>
              <a:rPr lang="zh-CN" altLang="en-US" sz="2600" dirty="0"/>
              <a:t>选择多少个作业进入内存取决于系统可以处理程序的数量，</a:t>
            </a:r>
            <a:r>
              <a:rPr lang="zh-CN" altLang="en-US" sz="2600" dirty="0">
                <a:solidFill>
                  <a:srgbClr val="0000FF"/>
                </a:solidFill>
              </a:rPr>
              <a:t>选择什么类型的作业进入内存</a:t>
            </a:r>
            <a:r>
              <a:rPr lang="zh-CN" altLang="en-US" sz="2600" dirty="0"/>
              <a:t>取决于系统采用的高级调度算法。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5.1.2 处理机调度的层次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b="1" dirty="0"/>
              <a:t>2．低级调度</a:t>
            </a:r>
          </a:p>
          <a:p>
            <a:r>
              <a:rPr lang="zh-CN" altLang="en-US" sz="2600" dirty="0"/>
              <a:t>又称为</a:t>
            </a:r>
            <a:r>
              <a:rPr lang="zh-CN" altLang="en-US" sz="2600" dirty="0">
                <a:solidFill>
                  <a:srgbClr val="FF0000"/>
                </a:solidFill>
              </a:rPr>
              <a:t>进程调度或短程调度</a:t>
            </a:r>
            <a:r>
              <a:rPr lang="zh-CN" altLang="en-US" sz="2600" dirty="0"/>
              <a:t>。</a:t>
            </a:r>
          </a:p>
          <a:p>
            <a:r>
              <a:rPr lang="zh-CN" altLang="en-US" sz="2600" dirty="0"/>
              <a:t>低级调度负责按照某种调度算法，从内存的</a:t>
            </a:r>
            <a:r>
              <a:rPr lang="zh-CN" altLang="en-US" sz="2600" dirty="0">
                <a:solidFill>
                  <a:srgbClr val="0000FF"/>
                </a:solidFill>
              </a:rPr>
              <a:t>就绪队列中选择一个就绪进程</a:t>
            </a:r>
            <a:r>
              <a:rPr lang="zh-CN" altLang="en-US" sz="2600" dirty="0"/>
              <a:t>获得CPU，并分派程序执行进程切换的具体操作。</a:t>
            </a:r>
          </a:p>
          <a:p>
            <a:r>
              <a:rPr lang="zh-CN" altLang="en-US" sz="2600" dirty="0"/>
              <a:t>低级调度是最基本的一级调度，是</a:t>
            </a:r>
            <a:r>
              <a:rPr lang="zh-CN" altLang="en-US" sz="2600" dirty="0">
                <a:solidFill>
                  <a:srgbClr val="0000FF"/>
                </a:solidFill>
              </a:rPr>
              <a:t>各类操作系统必备的功能</a:t>
            </a:r>
            <a:r>
              <a:rPr lang="zh-CN" altLang="en-US" sz="2600" dirty="0"/>
              <a:t>，其调度算法的优劣将直接影响整个系统的性能。 </a:t>
            </a:r>
          </a:p>
          <a:p>
            <a:r>
              <a:rPr lang="zh-CN" altLang="en-US" sz="2600" dirty="0"/>
              <a:t>在多线程系统中，线程成为调度的基本单位，此时还存在</a:t>
            </a:r>
            <a:r>
              <a:rPr lang="zh-CN" altLang="en-US" sz="2600" dirty="0">
                <a:solidFill>
                  <a:srgbClr val="0000FF"/>
                </a:solidFill>
              </a:rPr>
              <a:t>线程调度</a:t>
            </a:r>
            <a:r>
              <a:rPr lang="zh-CN" altLang="en-US" sz="2600" dirty="0"/>
              <a:t>这个层次。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5.1.2 处理机调度的层次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3200" b="1" dirty="0"/>
              <a:t>3．中级调度</a:t>
            </a:r>
          </a:p>
          <a:p>
            <a:r>
              <a:rPr lang="zh-CN" altLang="en-US" sz="2600" dirty="0"/>
              <a:t>又称为</a:t>
            </a:r>
            <a:r>
              <a:rPr lang="zh-CN" altLang="en-US" sz="2600" dirty="0">
                <a:solidFill>
                  <a:srgbClr val="FF0000"/>
                </a:solidFill>
              </a:rPr>
              <a:t>交换调度或中程调度</a:t>
            </a:r>
            <a:r>
              <a:rPr lang="zh-CN" altLang="en-US" sz="2600" dirty="0"/>
              <a:t>。</a:t>
            </a:r>
          </a:p>
          <a:p>
            <a:r>
              <a:rPr lang="zh-CN" altLang="en-US" sz="2600" dirty="0"/>
              <a:t>为了缓解内存压力，中级调度负责按照一定的策略，把</a:t>
            </a:r>
            <a:r>
              <a:rPr lang="zh-CN" altLang="en-US" sz="2600" dirty="0">
                <a:solidFill>
                  <a:srgbClr val="0000FF"/>
                </a:solidFill>
              </a:rPr>
              <a:t>内存</a:t>
            </a:r>
            <a:r>
              <a:rPr lang="zh-CN" altLang="en-US" sz="2600" dirty="0"/>
              <a:t>中的进程交换到</a:t>
            </a:r>
            <a:r>
              <a:rPr lang="zh-CN" altLang="en-US" sz="2600" dirty="0">
                <a:solidFill>
                  <a:srgbClr val="0000FF"/>
                </a:solidFill>
              </a:rPr>
              <a:t>外存</a:t>
            </a:r>
            <a:r>
              <a:rPr lang="zh-CN" altLang="en-US" sz="2600" dirty="0"/>
              <a:t>交换区，或将</a:t>
            </a:r>
            <a:r>
              <a:rPr lang="zh-CN" altLang="en-US" sz="2600" dirty="0">
                <a:solidFill>
                  <a:srgbClr val="0000FF"/>
                </a:solidFill>
              </a:rPr>
              <a:t>外存</a:t>
            </a:r>
            <a:r>
              <a:rPr lang="zh-CN" altLang="en-US" sz="2600" dirty="0"/>
              <a:t>交换区中的挂起进程调入</a:t>
            </a:r>
            <a:r>
              <a:rPr lang="zh-CN" altLang="en-US" sz="2600" dirty="0">
                <a:solidFill>
                  <a:srgbClr val="0000FF"/>
                </a:solidFill>
              </a:rPr>
              <a:t>内存</a:t>
            </a:r>
            <a:r>
              <a:rPr lang="zh-CN" altLang="en-US" sz="2600" dirty="0"/>
              <a:t>。</a:t>
            </a:r>
          </a:p>
          <a:p>
            <a:r>
              <a:rPr lang="zh-CN" altLang="en-US" sz="2600" dirty="0"/>
              <a:t>中级调度常用于分时操作系统和应用虚拟内存技术的系统中，中级调度是交换功能的一部分。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A8D86F-B1FF-7664-3A2F-26D8D62B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95" y="114370"/>
            <a:ext cx="4265039" cy="705600"/>
          </a:xfrm>
        </p:spPr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5115C-B6FE-F4EB-4B2D-BF7912856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某小型 </a:t>
            </a:r>
            <a:r>
              <a:rPr lang="en-US" altLang="zh-CN" dirty="0"/>
              <a:t>Web </a:t>
            </a:r>
            <a:r>
              <a:rPr lang="zh-CN" altLang="en-US" dirty="0"/>
              <a:t>服务器中，已有 </a:t>
            </a:r>
            <a:r>
              <a:rPr lang="en-US" altLang="zh-CN" dirty="0"/>
              <a:t>5 </a:t>
            </a:r>
            <a:r>
              <a:rPr lang="zh-CN" altLang="en-US" dirty="0"/>
              <a:t>个 “用户浏览网页” 的进程常驻内存（均为就绪状态）。此时内存突然不足，操作系统将其中 </a:t>
            </a:r>
            <a:r>
              <a:rPr lang="en-US" altLang="zh-CN" dirty="0"/>
              <a:t>2 </a:t>
            </a:r>
            <a:r>
              <a:rPr lang="zh-CN" altLang="en-US" dirty="0"/>
              <a:t>个暂时无用户操作的进程数据转移到硬盘，释放内存空间供新的 “用户登录” 进程使用。转移进程的操作属于哪一级调度？（ 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高级调度（作业调度）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B. </a:t>
            </a:r>
            <a:r>
              <a:rPr lang="zh-CN" altLang="en-US" dirty="0"/>
              <a:t>中级调度（内存调度）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C. </a:t>
            </a:r>
            <a:r>
              <a:rPr lang="zh-CN" altLang="en-US" dirty="0"/>
              <a:t>低级调度（进程调度）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D. </a:t>
            </a:r>
            <a:r>
              <a:rPr lang="zh-CN" altLang="en-US" dirty="0"/>
              <a:t>不属于任何一级调度</a:t>
            </a:r>
          </a:p>
        </p:txBody>
      </p:sp>
    </p:spTree>
    <p:extLst>
      <p:ext uri="{BB962C8B-B14F-4D97-AF65-F5344CB8AC3E}">
        <p14:creationId xmlns:p14="http://schemas.microsoft.com/office/powerpoint/2010/main" val="260070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5.1.3 进程调度方式与时机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963295"/>
            <a:ext cx="10968990" cy="5489575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进程调度有两种基本方式：非抢占式调度方式和抢占式调度方式。</a:t>
            </a:r>
          </a:p>
          <a:p>
            <a:pPr marL="0" indent="0">
              <a:buNone/>
            </a:pPr>
            <a:r>
              <a:rPr lang="zh-CN" altLang="en-US" sz="2800" b="1" dirty="0"/>
              <a:t>1．非抢占式调度方式，</a:t>
            </a:r>
            <a:r>
              <a:rPr lang="zh-CN" altLang="en-US" sz="2800" dirty="0"/>
              <a:t>也称为非剥夺式调度方式。</a:t>
            </a:r>
          </a:p>
          <a:p>
            <a:r>
              <a:rPr lang="zh-CN" altLang="en-US" dirty="0"/>
              <a:t>采用非抢占式调度方式时，一旦把CPU 分派给某个进程，该进程将一直执行下去，</a:t>
            </a:r>
            <a:r>
              <a:rPr lang="zh-CN" altLang="en-US" dirty="0">
                <a:solidFill>
                  <a:srgbClr val="0000FF"/>
                </a:solidFill>
              </a:rPr>
              <a:t>直至运行结束</a:t>
            </a:r>
            <a:r>
              <a:rPr lang="zh-CN" altLang="en-US" dirty="0"/>
              <a:t>或因某种原因阻塞而</a:t>
            </a:r>
            <a:r>
              <a:rPr lang="zh-CN" altLang="en-US" dirty="0">
                <a:solidFill>
                  <a:srgbClr val="0000FF"/>
                </a:solidFill>
              </a:rPr>
              <a:t>不能运行，才将CPU 分派给其他进程</a:t>
            </a:r>
            <a:r>
              <a:rPr lang="zh-CN" altLang="en-US" dirty="0"/>
              <a:t>，即不允许其他进程抢占正在运行的进程的CPU 的使用权。</a:t>
            </a:r>
          </a:p>
          <a:p>
            <a:pPr marL="0" indent="0">
              <a:buNone/>
            </a:pPr>
            <a:endParaRPr lang="zh-CN" altLang="en-US" dirty="0"/>
          </a:p>
          <a:p>
            <a:r>
              <a:rPr lang="zh-CN" altLang="en-US" dirty="0"/>
              <a:t>优点：</a:t>
            </a:r>
            <a:r>
              <a:rPr lang="zh-CN" altLang="en-US" b="1" dirty="0"/>
              <a:t>实现简单</a:t>
            </a:r>
            <a:r>
              <a:rPr lang="zh-CN" altLang="en-US" dirty="0"/>
              <a:t>，系统开销小；</a:t>
            </a:r>
            <a:endParaRPr lang="en-US" altLang="zh-CN" dirty="0"/>
          </a:p>
          <a:p>
            <a:r>
              <a:rPr lang="zh-CN" altLang="en-US" dirty="0"/>
              <a:t>缺点：</a:t>
            </a:r>
            <a:r>
              <a:rPr lang="zh-CN" altLang="en-US" b="1" dirty="0"/>
              <a:t>难以满足有紧急任务的进程要求</a:t>
            </a:r>
            <a:r>
              <a:rPr lang="zh-CN" altLang="en-US" dirty="0"/>
              <a:t>。分时系统和对时间要求比较严格的实时系统不使用这种方式。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5.1.3 进程调度方式与时机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030" y="1022033"/>
            <a:ext cx="10968990" cy="364497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CN" altLang="en-US" sz="2800" b="1" dirty="0"/>
              <a:t>2．抢占式调度方式，</a:t>
            </a:r>
            <a:r>
              <a:rPr lang="zh-CN" altLang="en-US" sz="2800" dirty="0"/>
              <a:t>也称为剥夺式调度方式。</a:t>
            </a:r>
          </a:p>
          <a:p>
            <a:pPr algn="just"/>
            <a:r>
              <a:rPr lang="zh-CN" altLang="en-US" sz="2600" dirty="0"/>
              <a:t>系统允许调度程序</a:t>
            </a:r>
            <a:r>
              <a:rPr lang="zh-CN" altLang="en-US" sz="2600" dirty="0">
                <a:solidFill>
                  <a:srgbClr val="0000FF"/>
                </a:solidFill>
              </a:rPr>
              <a:t>根据某个抢占原则</a:t>
            </a:r>
            <a:r>
              <a:rPr lang="zh-CN" altLang="en-US" sz="2600" dirty="0"/>
              <a:t>，</a:t>
            </a:r>
            <a:r>
              <a:rPr lang="zh-CN" altLang="en-US" sz="2600" dirty="0">
                <a:solidFill>
                  <a:srgbClr val="0000FF"/>
                </a:solidFill>
              </a:rPr>
              <a:t>强行抢占</a:t>
            </a:r>
            <a:r>
              <a:rPr lang="zh-CN" altLang="en-US" sz="2600" dirty="0"/>
              <a:t>正在运行的进程的CPU的使用权，将其分派给另外一个就绪进程。抢占原则有下面三种：</a:t>
            </a:r>
          </a:p>
          <a:p>
            <a:pPr lvl="1" algn="just"/>
            <a:r>
              <a:rPr lang="zh-CN" altLang="en-US" sz="2600" dirty="0"/>
              <a:t>优先权原则</a:t>
            </a:r>
            <a:endParaRPr lang="en-US" altLang="zh-CN" sz="2600" dirty="0"/>
          </a:p>
          <a:p>
            <a:pPr lvl="1" algn="just"/>
            <a:r>
              <a:rPr lang="zh-CN" altLang="en-US" sz="2600" dirty="0"/>
              <a:t>短进程优先原则</a:t>
            </a:r>
            <a:endParaRPr lang="en-US" altLang="zh-CN" sz="2600" dirty="0"/>
          </a:p>
          <a:p>
            <a:pPr lvl="1" algn="just"/>
            <a:r>
              <a:rPr lang="zh-CN" altLang="en-US" sz="2600" dirty="0"/>
              <a:t>时间片原则</a:t>
            </a:r>
            <a:endParaRPr lang="en-US" altLang="zh-CN" sz="2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461C5A-05D4-474D-9F35-A51DF9FF4C71}"/>
              </a:ext>
            </a:extLst>
          </p:cNvPr>
          <p:cNvSpPr txBox="1"/>
          <p:nvPr/>
        </p:nvSpPr>
        <p:spPr>
          <a:xfrm>
            <a:off x="1076395" y="4667003"/>
            <a:ext cx="7742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</a:rPr>
              <a:t>抢占式调度方式下，符合抢占原则时也会调度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80F045-ADFE-992D-8698-342847F8972B}"/>
              </a:ext>
            </a:extLst>
          </p:cNvPr>
          <p:cNvSpPr txBox="1"/>
          <p:nvPr/>
        </p:nvSpPr>
        <p:spPr>
          <a:xfrm>
            <a:off x="1076395" y="5794408"/>
            <a:ext cx="7742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想一想</a:t>
            </a:r>
            <a:r>
              <a:rPr lang="zh-CN" altLang="en-US" sz="2800" b="1" dirty="0"/>
              <a:t>：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对于实时系统，哪种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调度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方式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更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适合？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876FE-780D-C68C-1690-D7AABFD59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828" y="423289"/>
            <a:ext cx="10969200" cy="705600"/>
          </a:xfrm>
        </p:spPr>
        <p:txBody>
          <a:bodyPr/>
          <a:lstStyle/>
          <a:p>
            <a:r>
              <a:rPr lang="zh-CN" altLang="en-US" dirty="0"/>
              <a:t>练习：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CF2CF2-6AB8-A625-2B7F-1D224E5F3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97" y="1355133"/>
            <a:ext cx="10968990" cy="4147734"/>
          </a:xfrm>
        </p:spPr>
        <p:txBody>
          <a:bodyPr>
            <a:noAutofit/>
          </a:bodyPr>
          <a:lstStyle/>
          <a:p>
            <a:pPr marL="0" indent="0" algn="l">
              <a:spcBef>
                <a:spcPts val="1050"/>
              </a:spcBef>
              <a:buNone/>
            </a:pPr>
            <a:r>
              <a:rPr lang="zh-CN" altLang="en-US" b="0" i="0" dirty="0">
                <a:effectLst/>
                <a:latin typeface="-apple-system"/>
              </a:rPr>
              <a:t>以下哪些情况会触发进程调度器的重新调度？（多选）</a:t>
            </a:r>
          </a:p>
          <a:p>
            <a:pPr>
              <a:spcBef>
                <a:spcPts val="1050"/>
              </a:spcBef>
            </a:pPr>
            <a:r>
              <a:rPr lang="en-US" altLang="zh-CN" b="0" i="0" dirty="0">
                <a:effectLst/>
                <a:latin typeface="-apple-system"/>
              </a:rPr>
              <a:t>A. </a:t>
            </a:r>
            <a:r>
              <a:rPr lang="zh-CN" altLang="en-US" b="0" i="0" dirty="0">
                <a:effectLst/>
                <a:latin typeface="-apple-system"/>
              </a:rPr>
              <a:t>一个进程的时间片刚好用完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spcBef>
                <a:spcPts val="1050"/>
              </a:spcBef>
            </a:pPr>
            <a:r>
              <a:rPr lang="en-US" altLang="zh-CN" b="0" i="0" dirty="0">
                <a:effectLst/>
                <a:latin typeface="-apple-system"/>
              </a:rPr>
              <a:t>B.</a:t>
            </a:r>
            <a:r>
              <a:rPr lang="en-US" altLang="zh-CN" dirty="0">
                <a:latin typeface="-apple-system"/>
              </a:rPr>
              <a:t> . </a:t>
            </a:r>
            <a:r>
              <a:rPr lang="zh-CN" altLang="en-US" dirty="0">
                <a:latin typeface="-apple-system"/>
              </a:rPr>
              <a:t>一个优先级更高的进程被添加到就绪队列中</a:t>
            </a:r>
            <a:endParaRPr lang="en-US" altLang="zh-CN" dirty="0">
              <a:latin typeface="-apple-system"/>
            </a:endParaRPr>
          </a:p>
          <a:p>
            <a:pPr>
              <a:spcBef>
                <a:spcPts val="1050"/>
              </a:spcBef>
            </a:pPr>
            <a:r>
              <a:rPr lang="en-US" altLang="zh-CN" b="0" i="0" dirty="0">
                <a:effectLst/>
                <a:latin typeface="-apple-system"/>
              </a:rPr>
              <a:t>C. </a:t>
            </a:r>
            <a:r>
              <a:rPr lang="zh-CN" altLang="en-US" b="0" i="0" dirty="0">
                <a:effectLst/>
                <a:latin typeface="-apple-system"/>
              </a:rPr>
              <a:t>一个进程成功完成了其任务并正常退出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spcBef>
                <a:spcPts val="1050"/>
              </a:spcBef>
            </a:pPr>
            <a:r>
              <a:rPr lang="en-US" altLang="zh-CN" b="0" i="0" dirty="0">
                <a:effectLst/>
                <a:latin typeface="-apple-system"/>
              </a:rPr>
              <a:t>D. </a:t>
            </a:r>
            <a:r>
              <a:rPr lang="zh-CN" altLang="en-US" b="0" i="0" dirty="0">
                <a:effectLst/>
                <a:latin typeface="-apple-system"/>
              </a:rPr>
              <a:t>一个进程正在执行一个长时间的计算密集型任务，但尚未用完其时间片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spcBef>
                <a:spcPts val="1050"/>
              </a:spcBef>
            </a:pPr>
            <a:r>
              <a:rPr lang="en-US" altLang="zh-CN" dirty="0"/>
              <a:t>E. </a:t>
            </a:r>
            <a:r>
              <a:rPr lang="zh-CN" altLang="en-US" dirty="0"/>
              <a:t>某一进程运行时因缺乏资源进入阻塞状态</a:t>
            </a:r>
            <a:br>
              <a:rPr lang="zh-CN" altLang="en-US" b="0" i="0" dirty="0">
                <a:effectLst/>
                <a:latin typeface="-apple-system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407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5.1.4 调度算法选择依据与性能评价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27455"/>
            <a:ext cx="10968990" cy="4249319"/>
          </a:xfrm>
        </p:spPr>
        <p:txBody>
          <a:bodyPr>
            <a:normAutofit fontScale="97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处理机</a:t>
            </a:r>
            <a:r>
              <a:rPr lang="zh-CN" altLang="en-US" sz="2800" dirty="0">
                <a:solidFill>
                  <a:srgbClr val="0000FF"/>
                </a:solidFill>
              </a:rPr>
              <a:t>调度方式和调度算法</a:t>
            </a:r>
            <a:r>
              <a:rPr lang="zh-CN" altLang="en-US" sz="2800" dirty="0"/>
              <a:t>的选择取决于</a:t>
            </a:r>
            <a:r>
              <a:rPr lang="zh-CN" altLang="en-US" sz="2800" dirty="0">
                <a:solidFill>
                  <a:srgbClr val="FF0000"/>
                </a:solidFill>
              </a:rPr>
              <a:t>操作系统的类型及其设计目标</a:t>
            </a:r>
            <a:r>
              <a:rPr lang="zh-CN" altLang="en-US" sz="2800" dirty="0"/>
              <a:t>。</a:t>
            </a:r>
          </a:p>
          <a:p>
            <a:pPr lvl="1">
              <a:lnSpc>
                <a:spcPct val="150000"/>
              </a:lnSpc>
            </a:pPr>
            <a:r>
              <a:rPr lang="zh-CN" altLang="en-US" sz="2700" dirty="0">
                <a:latin typeface="宋体" panose="02010600030101010101" pitchFamily="2" charset="-122"/>
                <a:ea typeface="宋体" panose="02010600030101010101" pitchFamily="2" charset="-122"/>
              </a:rPr>
              <a:t>批处理操作系统会选择</a:t>
            </a:r>
            <a:r>
              <a:rPr lang="zh-CN" altLang="en-US" sz="27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资源利用率高、平均周转时间短和系统吞吐量大</a:t>
            </a:r>
            <a:r>
              <a:rPr lang="zh-CN" altLang="en-US" sz="2700" dirty="0">
                <a:latin typeface="宋体" panose="02010600030101010101" pitchFamily="2" charset="-122"/>
                <a:ea typeface="宋体" panose="02010600030101010101" pitchFamily="2" charset="-122"/>
              </a:rPr>
              <a:t>的调度算法；</a:t>
            </a:r>
          </a:p>
          <a:p>
            <a:pPr lvl="1">
              <a:lnSpc>
                <a:spcPct val="150000"/>
              </a:lnSpc>
            </a:pPr>
            <a:r>
              <a:rPr lang="zh-CN" altLang="en-US" sz="2700" dirty="0">
                <a:latin typeface="宋体" panose="02010600030101010101" pitchFamily="2" charset="-122"/>
                <a:ea typeface="宋体" panose="02010600030101010101" pitchFamily="2" charset="-122"/>
              </a:rPr>
              <a:t>分时操作系统会选择</a:t>
            </a:r>
            <a:r>
              <a:rPr lang="zh-CN" altLang="en-US" sz="27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交互性好、响应时间短</a:t>
            </a:r>
            <a:r>
              <a:rPr lang="zh-CN" altLang="en-US" sz="2700" dirty="0">
                <a:latin typeface="宋体" panose="02010600030101010101" pitchFamily="2" charset="-122"/>
                <a:ea typeface="宋体" panose="02010600030101010101" pitchFamily="2" charset="-122"/>
              </a:rPr>
              <a:t>的调度算法；</a:t>
            </a:r>
          </a:p>
          <a:p>
            <a:pPr lvl="1">
              <a:lnSpc>
                <a:spcPct val="150000"/>
              </a:lnSpc>
            </a:pPr>
            <a:r>
              <a:rPr lang="zh-CN" altLang="en-US" sz="2700" dirty="0">
                <a:latin typeface="宋体" panose="02010600030101010101" pitchFamily="2" charset="-122"/>
                <a:ea typeface="宋体" panose="02010600030101010101" pitchFamily="2" charset="-122"/>
              </a:rPr>
              <a:t>实时操作系统会选择能够处理紧急任务、</a:t>
            </a:r>
            <a:r>
              <a:rPr lang="zh-CN" altLang="en-US" sz="27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保证时间要求</a:t>
            </a:r>
            <a:r>
              <a:rPr lang="zh-CN" altLang="en-US" sz="2700" dirty="0">
                <a:latin typeface="宋体" panose="02010600030101010101" pitchFamily="2" charset="-122"/>
                <a:ea typeface="宋体" panose="02010600030101010101" pitchFamily="2" charset="-122"/>
              </a:rPr>
              <a:t>的调度算法。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5.1.4 调度算法选择依据与性能评价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34415"/>
            <a:ext cx="10968990" cy="5587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1．调度算法性能评价的共同准则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资源利用率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0000FF"/>
                </a:solidFill>
              </a:rPr>
              <a:t>公平性</a:t>
            </a:r>
            <a:r>
              <a:rPr lang="zh-CN" altLang="en-US" dirty="0"/>
              <a:t> </a:t>
            </a:r>
          </a:p>
          <a:p>
            <a:pPr lvl="1"/>
            <a:r>
              <a:rPr lang="zh-CN" altLang="en-US" dirty="0"/>
              <a:t>在用户或系统没有特殊要求时，进程应该被公平地对待，</a:t>
            </a:r>
            <a:r>
              <a:rPr lang="zh-CN" altLang="en-US" dirty="0">
                <a:solidFill>
                  <a:srgbClr val="FF0000"/>
                </a:solidFill>
              </a:rPr>
              <a:t>避免</a:t>
            </a:r>
            <a:r>
              <a:rPr lang="zh-CN" altLang="en-US" dirty="0"/>
              <a:t>出现进程</a:t>
            </a:r>
            <a:r>
              <a:rPr lang="zh-CN" altLang="en-US" dirty="0">
                <a:solidFill>
                  <a:srgbClr val="FF0000"/>
                </a:solidFill>
              </a:rPr>
              <a:t>饥饿</a:t>
            </a:r>
            <a:r>
              <a:rPr lang="zh-CN" altLang="en-US" dirty="0"/>
              <a:t>现象。</a:t>
            </a:r>
            <a:endParaRPr lang="en-US" altLang="zh-CN" dirty="0"/>
          </a:p>
          <a:p>
            <a:pPr marL="228600" lvl="1">
              <a:lnSpc>
                <a:spcPct val="130000"/>
              </a:lnSpc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</a:pPr>
            <a:r>
              <a:rPr lang="zh-CN" altLang="en-US" dirty="0">
                <a:solidFill>
                  <a:srgbClr val="0000FF"/>
                </a:solidFill>
              </a:rPr>
              <a:t>各类资源的平衡利用 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系统制定的抢占策略、安全策略等强制执行</a:t>
            </a:r>
            <a:endParaRPr lang="zh-CN" altLang="en-US" dirty="0"/>
          </a:p>
          <a:p>
            <a:r>
              <a:rPr lang="zh-CN" altLang="en-US" dirty="0">
                <a:solidFill>
                  <a:srgbClr val="0000FF"/>
                </a:solidFill>
              </a:rPr>
              <a:t>优先级</a:t>
            </a:r>
            <a:r>
              <a:rPr lang="en-US" altLang="zh-CN" dirty="0"/>
              <a:t>——</a:t>
            </a:r>
            <a:r>
              <a:rPr lang="zh-CN" altLang="en-US" dirty="0"/>
              <a:t>紧急的作业能够得到及时处理</a:t>
            </a:r>
            <a:endParaRPr lang="zh-CN" altLang="en-US" dirty="0">
              <a:solidFill>
                <a:srgbClr val="0000FF"/>
              </a:solidFill>
              <a:sym typeface="+mn-ea"/>
            </a:endParaRPr>
          </a:p>
          <a:p>
            <a:pPr lvl="1"/>
            <a:endParaRPr lang="en-US" altLang="zh-CN" dirty="0"/>
          </a:p>
        </p:txBody>
      </p:sp>
      <p:pic>
        <p:nvPicPr>
          <p:cNvPr id="5" name="图片 4" descr="GMUR6P3EUBAC6RVNX0(M_9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148" y="1712863"/>
            <a:ext cx="6648450" cy="7810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ym typeface="+mn-ea"/>
              </a:rPr>
              <a:t>5.1.4 调度算法选择依据与性能评价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63931"/>
            <a:ext cx="10968990" cy="5436870"/>
          </a:xfrm>
        </p:spPr>
        <p:txBody>
          <a:bodyPr/>
          <a:lstStyle/>
          <a:p>
            <a:pPr marL="0" indent="0">
              <a:buNone/>
            </a:pPr>
            <a:r>
              <a:rPr sz="2800" b="1" dirty="0">
                <a:sym typeface="+mn-ea"/>
              </a:rPr>
              <a:t>2．批处理系统调度算法常用评价准则</a:t>
            </a:r>
            <a:endParaRPr lang="zh-CN" altLang="en-US" sz="2800" b="1" dirty="0"/>
          </a:p>
          <a:p>
            <a:pPr lvl="0"/>
            <a:r>
              <a:rPr dirty="0">
                <a:sym typeface="+mn-ea"/>
              </a:rPr>
              <a:t>周转时间</a:t>
            </a:r>
            <a:r>
              <a:rPr lang="zh-CN" altLang="en-US" dirty="0">
                <a:sym typeface="+mn-ea"/>
              </a:rPr>
              <a:t>（教材</a:t>
            </a:r>
            <a:r>
              <a:rPr lang="en-US" altLang="zh-CN" dirty="0">
                <a:sym typeface="+mn-ea"/>
              </a:rPr>
              <a:t>p9,p87</a:t>
            </a:r>
            <a:r>
              <a:rPr lang="zh-CN" altLang="en-US" dirty="0">
                <a:sym typeface="+mn-ea"/>
              </a:rPr>
              <a:t>）</a:t>
            </a:r>
            <a:endParaRPr dirty="0">
              <a:sym typeface="+mn-ea"/>
            </a:endParaRPr>
          </a:p>
          <a:p>
            <a:pPr lvl="1"/>
            <a:r>
              <a:rPr dirty="0">
                <a:solidFill>
                  <a:srgbClr val="FF0000"/>
                </a:solidFill>
                <a:sym typeface="+mn-ea"/>
              </a:rPr>
              <a:t>是指从作业提交给系统开始，到作业完成为止的这段时间间隔</a:t>
            </a:r>
            <a:r>
              <a:rPr dirty="0">
                <a:sym typeface="+mn-ea"/>
              </a:rPr>
              <a:t>。</a:t>
            </a:r>
            <a:endParaRPr lang="zh-CN" altLang="en-US" dirty="0"/>
          </a:p>
          <a:p>
            <a:pPr lvl="1"/>
            <a:r>
              <a:rPr dirty="0">
                <a:sym typeface="+mn-ea"/>
              </a:rPr>
              <a:t>如果作业提交给系统的时刻是t1，完成的时刻是t2，那么作业的周转时间为</a:t>
            </a:r>
            <a:endParaRPr lang="en-US" dirty="0">
              <a:sym typeface="+mn-ea"/>
            </a:endParaRPr>
          </a:p>
          <a:p>
            <a:pPr lvl="1"/>
            <a:endParaRPr dirty="0">
              <a:sym typeface="+mn-ea"/>
            </a:endParaRPr>
          </a:p>
          <a:p>
            <a:pPr lvl="2" defTabSz="914400">
              <a:spcBef>
                <a:spcPts val="600"/>
              </a:spcBef>
              <a:spcAft>
                <a:spcPts val="0"/>
              </a:spcAft>
              <a:tabLst>
                <a:tab pos="1609725" algn="l"/>
                <a:tab pos="1609725" algn="l"/>
              </a:tabLst>
            </a:pPr>
            <a:endParaRPr lang="en-US" dirty="0">
              <a:sym typeface="+mn-ea"/>
            </a:endParaRPr>
          </a:p>
          <a:p>
            <a:pPr lvl="2" defTabSz="914400">
              <a:spcBef>
                <a:spcPts val="600"/>
              </a:spcBef>
              <a:spcAft>
                <a:spcPts val="0"/>
              </a:spcAft>
              <a:tabLst>
                <a:tab pos="1609725" algn="l"/>
                <a:tab pos="1609725" algn="l"/>
              </a:tabLst>
            </a:pPr>
            <a:r>
              <a:rPr sz="2200" dirty="0">
                <a:sym typeface="+mn-ea"/>
              </a:rPr>
              <a:t>Tw表示作业在系统中的等待时间，Ts 表示作业在系统中的运行时间。</a:t>
            </a:r>
            <a:endParaRPr lang="en-US" sz="2200" dirty="0">
              <a:sym typeface="+mn-ea"/>
            </a:endParaRPr>
          </a:p>
          <a:p>
            <a:pPr lvl="2">
              <a:spcBef>
                <a:spcPts val="600"/>
              </a:spcBef>
              <a:spcAft>
                <a:spcPts val="0"/>
              </a:spcAft>
              <a:tabLst>
                <a:tab pos="1609725" algn="l"/>
                <a:tab pos="1609725" algn="l"/>
              </a:tabLst>
            </a:pPr>
            <a:r>
              <a:rPr lang="zh-CN" altLang="en-US" sz="2200" dirty="0">
                <a:sym typeface="+mn-ea"/>
              </a:rPr>
              <a:t>等待时间包括作业在外存后备队列中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等待的时间</a:t>
            </a:r>
            <a:r>
              <a:rPr lang="zh-CN" altLang="en-US" sz="2200" dirty="0">
                <a:sym typeface="+mn-ea"/>
              </a:rPr>
              <a:t>、进程进入内存后在就绪队列中</a:t>
            </a:r>
            <a:r>
              <a:rPr lang="zh-CN" altLang="en-US" sz="2200" dirty="0">
                <a:solidFill>
                  <a:srgbClr val="0000FF"/>
                </a:solidFill>
                <a:sym typeface="+mn-ea"/>
              </a:rPr>
              <a:t>等待的时间</a:t>
            </a:r>
            <a:r>
              <a:rPr lang="zh-CN" altLang="en-US" sz="2200" dirty="0">
                <a:sym typeface="+mn-ea"/>
              </a:rPr>
              <a:t>、进程等待</a:t>
            </a:r>
            <a:r>
              <a:rPr lang="en-US" altLang="zh-CN" sz="2200" dirty="0">
                <a:sym typeface="+mn-ea"/>
              </a:rPr>
              <a:t>I/O </a:t>
            </a:r>
            <a:r>
              <a:rPr lang="zh-CN" altLang="en-US" sz="2200" dirty="0">
                <a:sym typeface="+mn-ea"/>
              </a:rPr>
              <a:t>操作完成的时间。</a:t>
            </a:r>
          </a:p>
        </p:txBody>
      </p:sp>
      <p:pic>
        <p:nvPicPr>
          <p:cNvPr id="4" name="图片 3" descr="2~9G9D7_{_V)GG}5$0MJSW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358" y="3785568"/>
            <a:ext cx="4833099" cy="84205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5.1.4 调度算法选择依据与性能评价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02825"/>
            <a:ext cx="10968990" cy="5683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b="1" dirty="0">
                <a:sym typeface="+mn-ea"/>
              </a:rPr>
              <a:t>2．批处理系统调度算法常用评价准则（续）</a:t>
            </a:r>
            <a:endParaRPr lang="zh-CN" altLang="en-US" sz="2800" b="1" dirty="0"/>
          </a:p>
          <a:p>
            <a:pPr lvl="0"/>
            <a:r>
              <a:rPr dirty="0">
                <a:sym typeface="+mn-ea"/>
              </a:rPr>
              <a:t>平均周转时间</a:t>
            </a:r>
          </a:p>
          <a:p>
            <a:pPr lvl="0"/>
            <a:endParaRPr lang="zh-CN" altLang="en-US" b="1" dirty="0">
              <a:sym typeface="+mn-ea"/>
            </a:endParaRPr>
          </a:p>
          <a:p>
            <a:pPr lvl="1"/>
            <a:r>
              <a:rPr lang="zh-CN" altLang="en-US" dirty="0"/>
              <a:t>其中，Ti是第i 个作业的周转时间，n是作业流的个数。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lvl="0"/>
            <a:r>
              <a:rPr lang="zh-CN" altLang="en-US" dirty="0"/>
              <a:t>带权周转时间</a:t>
            </a:r>
          </a:p>
          <a:p>
            <a:pPr marL="0" lvl="0" indent="0">
              <a:buNone/>
            </a:pPr>
            <a:endParaRPr lang="zh-CN" altLang="en-US" dirty="0"/>
          </a:p>
          <a:p>
            <a:pPr lvl="0"/>
            <a:r>
              <a:rPr lang="zh-CN" altLang="en-US" dirty="0"/>
              <a:t>平均带权周转时间</a:t>
            </a:r>
          </a:p>
        </p:txBody>
      </p:sp>
      <p:pic>
        <p:nvPicPr>
          <p:cNvPr id="4" name="图片 3" descr="[6W6W5KAFJ]OZ$4SPRRYQS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630" y="1615411"/>
            <a:ext cx="1575460" cy="923954"/>
          </a:xfrm>
          <a:prstGeom prst="rect">
            <a:avLst/>
          </a:prstGeom>
        </p:spPr>
      </p:pic>
      <p:pic>
        <p:nvPicPr>
          <p:cNvPr id="5" name="图片 4" descr="H(Q1ZC{]}(7_{5RG5Y{[VM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620" y="3624896"/>
            <a:ext cx="4262289" cy="1143873"/>
          </a:xfrm>
          <a:prstGeom prst="rect">
            <a:avLst/>
          </a:prstGeom>
        </p:spPr>
      </p:pic>
      <p:pic>
        <p:nvPicPr>
          <p:cNvPr id="6" name="图片 5" descr="]N0QF1EM4(}I4{]{FV{U1I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1225" y="5297975"/>
            <a:ext cx="1799096" cy="89954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5.1.4 调度算法选择依据与性能评价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7252" y="819970"/>
            <a:ext cx="10968990" cy="5641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>
                <a:sym typeface="+mn-ea"/>
              </a:rPr>
              <a:t>2．批处理系统调度算法常用评价准则（续）</a:t>
            </a:r>
          </a:p>
          <a:p>
            <a:pPr lvl="0"/>
            <a:r>
              <a:rPr lang="zh-CN" altLang="en-US" dirty="0"/>
              <a:t>系统吞吐率</a:t>
            </a:r>
          </a:p>
          <a:p>
            <a:pPr lvl="1"/>
            <a:r>
              <a:rPr lang="zh-CN" altLang="en-US" dirty="0"/>
              <a:t>是指</a:t>
            </a:r>
            <a:r>
              <a:rPr lang="zh-CN" altLang="en-US" dirty="0">
                <a:solidFill>
                  <a:srgbClr val="0000FF"/>
                </a:solidFill>
              </a:rPr>
              <a:t>单位时间</a:t>
            </a:r>
            <a:r>
              <a:rPr lang="zh-CN" altLang="en-US" dirty="0"/>
              <a:t>内系统完成作业的</a:t>
            </a:r>
            <a:r>
              <a:rPr lang="zh-CN" altLang="en-US" dirty="0">
                <a:solidFill>
                  <a:srgbClr val="0000FF"/>
                </a:solidFill>
              </a:rPr>
              <a:t>个数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显然，若处理的长作业多，则系统吞吐率低；若处理的短作业多，则系统吞吐率高。</a:t>
            </a:r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b="1" dirty="0">
                <a:sym typeface="+mn-ea"/>
              </a:rPr>
              <a:t>3．分时系统调度算法常用评价准则</a:t>
            </a:r>
            <a:endParaRPr lang="zh-CN" altLang="en-US" b="1" dirty="0"/>
          </a:p>
          <a:p>
            <a:pPr lvl="0"/>
            <a:r>
              <a:rPr dirty="0">
                <a:sym typeface="+mn-ea"/>
              </a:rPr>
              <a:t>响应时间</a:t>
            </a:r>
            <a:endParaRPr lang="zh-CN" altLang="en-US" dirty="0"/>
          </a:p>
          <a:p>
            <a:pPr lvl="1"/>
            <a:r>
              <a:rPr dirty="0">
                <a:sym typeface="+mn-ea"/>
              </a:rPr>
              <a:t>是指用户提交一个请求到系统响应（通常是系统有一个输出）的时间间隔。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ym typeface="+mn-ea"/>
              </a:rPr>
              <a:t>5.1.4 调度算法选择依据与性能评价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0720" y="1095375"/>
            <a:ext cx="10734040" cy="481453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>
                <a:sym typeface="+mn-ea"/>
              </a:rPr>
              <a:t>4．实时系统调度算法常用评价准则</a:t>
            </a:r>
            <a:endParaRPr lang="zh-CN" altLang="en-US" b="1" dirty="0"/>
          </a:p>
          <a:p>
            <a:pPr lvl="0"/>
            <a:r>
              <a:rPr dirty="0">
                <a:sym typeface="+mn-ea"/>
              </a:rPr>
              <a:t>截止时间是衡量实时系统时限性能的主要指标，也是选择实时系统调度算法的重要准则。截止时间可以分为：</a:t>
            </a:r>
            <a:endParaRPr lang="zh-CN" altLang="en-US" dirty="0"/>
          </a:p>
          <a:p>
            <a:pPr lvl="1"/>
            <a:r>
              <a:rPr dirty="0">
                <a:sym typeface="+mn-ea"/>
              </a:rPr>
              <a:t>开始截止时间：某任务必须开始执行的最迟时间</a:t>
            </a:r>
          </a:p>
          <a:p>
            <a:pPr lvl="1"/>
            <a:r>
              <a:rPr dirty="0">
                <a:sym typeface="+mn-ea"/>
              </a:rPr>
              <a:t>完成截止时间：某任务必须完成的最迟时间。</a:t>
            </a:r>
            <a:endParaRPr lang="zh-CN" altLang="en-US" dirty="0"/>
          </a:p>
          <a:p>
            <a:pPr lvl="0"/>
            <a:r>
              <a:rPr dirty="0">
                <a:sym typeface="+mn-ea"/>
              </a:rPr>
              <a:t>可预测性。</a:t>
            </a:r>
            <a:endParaRPr lang="zh-CN" altLang="en-US" dirty="0"/>
          </a:p>
          <a:p>
            <a:pPr lvl="1"/>
            <a:r>
              <a:rPr dirty="0">
                <a:sym typeface="+mn-ea"/>
              </a:rPr>
              <a:t>例如，在视频播放任务中，视频的连续播放可以提供请求的可预测性。若系统采用了双缓冲，则可以实现第i 帧的播放和第i+1帧的读取并行处理，从而提高其实时性。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FD282-67A2-487F-BC88-C66075D8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A145C4-D137-46F4-B0CB-DE83BAF66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819970"/>
            <a:ext cx="10968990" cy="5061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  </a:t>
            </a:r>
            <a:r>
              <a:rPr lang="zh-CN" altLang="en-US" dirty="0"/>
              <a:t>作业调度程序从处于（     ）状态的队列中选取适当的作业投入运行。 </a:t>
            </a:r>
          </a:p>
          <a:p>
            <a:pPr marL="914400" lvl="2" indent="0">
              <a:buNone/>
            </a:pPr>
            <a:r>
              <a:rPr lang="en-US" altLang="zh-CN" dirty="0"/>
              <a:t>A.</a:t>
            </a:r>
            <a:r>
              <a:rPr lang="zh-CN" altLang="en-US" dirty="0"/>
              <a:t>运行</a:t>
            </a:r>
          </a:p>
          <a:p>
            <a:pPr marL="914400" lvl="2" indent="0">
              <a:buNone/>
            </a:pPr>
            <a:r>
              <a:rPr lang="en-US" altLang="zh-CN" dirty="0"/>
              <a:t>B.</a:t>
            </a:r>
            <a:r>
              <a:rPr lang="zh-CN" altLang="en-US" dirty="0"/>
              <a:t>提交</a:t>
            </a:r>
          </a:p>
          <a:p>
            <a:pPr marL="914400" lvl="2" indent="0">
              <a:buNone/>
            </a:pPr>
            <a:r>
              <a:rPr lang="en-US" altLang="zh-CN" dirty="0"/>
              <a:t>C.</a:t>
            </a:r>
            <a:r>
              <a:rPr lang="zh-CN" altLang="en-US" dirty="0"/>
              <a:t>完成</a:t>
            </a:r>
          </a:p>
          <a:p>
            <a:pPr marL="914400" lvl="2" indent="0">
              <a:buNone/>
            </a:pPr>
            <a:r>
              <a:rPr lang="en-US" altLang="zh-CN" dirty="0"/>
              <a:t>D.</a:t>
            </a:r>
            <a:r>
              <a:rPr lang="zh-CN" altLang="en-US" dirty="0"/>
              <a:t>后备 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marL="0" lvl="2" indent="0">
              <a:lnSpc>
                <a:spcPct val="130000"/>
              </a:lnSpc>
              <a:spcAft>
                <a:spcPts val="1000"/>
              </a:spcAft>
              <a:buClr>
                <a:srgbClr val="2094CE"/>
              </a:buClr>
              <a:buSzPct val="80000"/>
              <a:buNone/>
            </a:pPr>
            <a:r>
              <a:rPr lang="en-US" altLang="zh-CN" dirty="0"/>
              <a:t>2.  </a:t>
            </a:r>
            <a:r>
              <a:rPr lang="zh-CN" altLang="en-US" dirty="0"/>
              <a:t>（判断对错）周转时间长的作业，其带权周转时间也长。（   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193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25" y="114300"/>
            <a:ext cx="10166985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dirty="0"/>
              <a:t>5.2 常用调度算法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2298699" y="1399222"/>
            <a:ext cx="7722235" cy="4608039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2094CE"/>
              </a:buClr>
              <a:buSzPct val="80000"/>
              <a:buFont typeface="Arial" panose="020B0604020202020204" pitchFamily="34" charset="0"/>
              <a:buChar char="►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FF9800"/>
              </a:buClr>
              <a:buSzPct val="90000"/>
              <a:buFont typeface="Arial" panose="020B0604020202020204" pitchFamily="34" charset="0"/>
              <a:buChar char="♦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Blip>
                <a:blip r:embed="rId4"/>
              </a:buBlip>
            </a:pPr>
            <a:r>
              <a:rPr lang="en-US" altLang="zh-CN" sz="2800" dirty="0"/>
              <a:t> </a:t>
            </a:r>
            <a:r>
              <a:rPr lang="en-US" altLang="zh-CN" sz="2800" u="dottedHeavy" dirty="0">
                <a:solidFill>
                  <a:schemeClr val="tx1"/>
                </a:solidFill>
                <a:uFillTx/>
              </a:rPr>
              <a:t>5.2.1  </a:t>
            </a:r>
            <a:r>
              <a:rPr sz="2800" u="dottedHeavy" dirty="0">
                <a:solidFill>
                  <a:schemeClr val="tx1"/>
                </a:solidFill>
                <a:uFillTx/>
              </a:rPr>
              <a:t>先来先服务调度算法</a:t>
            </a:r>
          </a:p>
          <a:p>
            <a:pPr>
              <a:buBlip>
                <a:blip r:embed="rId4"/>
              </a:buBlip>
            </a:pPr>
            <a:r>
              <a:rPr sz="2800" dirty="0"/>
              <a:t> </a:t>
            </a:r>
            <a:r>
              <a:rPr lang="en-US" altLang="zh-CN" sz="2800" u="dottedHeavy" dirty="0"/>
              <a:t>5.2.2  </a:t>
            </a:r>
            <a:r>
              <a:rPr sz="2800" u="dottedHeavy" dirty="0"/>
              <a:t>短进程（作业）优先调度算法</a:t>
            </a:r>
          </a:p>
          <a:p>
            <a:pPr>
              <a:buBlip>
                <a:blip r:embed="rId4"/>
              </a:buBlip>
            </a:pPr>
            <a:r>
              <a:rPr sz="2800" dirty="0"/>
              <a:t> </a:t>
            </a:r>
            <a:r>
              <a:rPr lang="en-US" altLang="zh-CN" sz="2800" u="dottedHeavy" dirty="0"/>
              <a:t>5.2.3  </a:t>
            </a:r>
            <a:r>
              <a:rPr sz="2800" u="dottedHeavy" dirty="0"/>
              <a:t>轮转调度算法</a:t>
            </a:r>
          </a:p>
          <a:p>
            <a:pPr>
              <a:buBlip>
                <a:blip r:embed="rId4"/>
              </a:buBlip>
            </a:pPr>
            <a:r>
              <a:rPr sz="2800" dirty="0"/>
              <a:t> </a:t>
            </a:r>
            <a:r>
              <a:rPr lang="en-US" altLang="zh-CN" sz="2800" u="dottedHeavy" dirty="0"/>
              <a:t>5.2.4  </a:t>
            </a:r>
            <a:r>
              <a:rPr sz="2800" u="dottedHeavy" dirty="0"/>
              <a:t>优先级调度算法</a:t>
            </a:r>
          </a:p>
          <a:p>
            <a:pPr>
              <a:buBlip>
                <a:blip r:embed="rId4"/>
              </a:buBlip>
            </a:pPr>
            <a:r>
              <a:rPr sz="2800" dirty="0">
                <a:sym typeface="+mn-ea"/>
              </a:rPr>
              <a:t> </a:t>
            </a:r>
            <a:r>
              <a:rPr lang="en-US" altLang="zh-CN" sz="2800" u="dottedHeavy" dirty="0">
                <a:sym typeface="+mn-ea"/>
              </a:rPr>
              <a:t>5.2.5  </a:t>
            </a:r>
            <a:r>
              <a:rPr lang="en-US" altLang="zh-CN" sz="2800" u="dottedHeavy" dirty="0" err="1"/>
              <a:t>最高响应比优先调度算法</a:t>
            </a:r>
            <a:endParaRPr lang="en-US" altLang="zh-CN" sz="2800" u="dottedHeavy" dirty="0"/>
          </a:p>
          <a:p>
            <a:pPr>
              <a:buBlip>
                <a:blip r:embed="rId4"/>
              </a:buBlip>
            </a:pPr>
            <a:r>
              <a:rPr sz="2800" dirty="0">
                <a:sym typeface="+mn-ea"/>
              </a:rPr>
              <a:t> </a:t>
            </a:r>
            <a:r>
              <a:rPr lang="en-US" altLang="zh-CN" sz="2800" u="dottedHeavy" dirty="0">
                <a:sym typeface="+mn-ea"/>
              </a:rPr>
              <a:t>5.2.6  </a:t>
            </a:r>
            <a:r>
              <a:rPr lang="en-US" altLang="zh-CN" sz="2800" u="dottedHeavy" dirty="0" err="1"/>
              <a:t>多级队列调度算法</a:t>
            </a:r>
            <a:endParaRPr lang="en-US" altLang="zh-CN" sz="2800" u="dottedHeavy" dirty="0"/>
          </a:p>
          <a:p>
            <a:pPr>
              <a:buBlip>
                <a:blip r:embed="rId4"/>
              </a:buBlip>
            </a:pPr>
            <a:r>
              <a:rPr sz="2800" dirty="0">
                <a:sym typeface="+mn-ea"/>
              </a:rPr>
              <a:t> </a:t>
            </a:r>
            <a:r>
              <a:rPr lang="en-US" altLang="zh-CN" sz="2800" u="dottedHeavy" dirty="0">
                <a:sym typeface="+mn-ea"/>
              </a:rPr>
              <a:t>5.2.7  </a:t>
            </a:r>
            <a:r>
              <a:rPr lang="en-US" altLang="zh-CN" sz="2800" u="dottedHeavy" dirty="0" err="1"/>
              <a:t>多级反馈队列调度算法</a:t>
            </a:r>
            <a:r>
              <a:rPr lang="en-US" altLang="zh-CN" sz="2800" u="dottedHeavy" dirty="0"/>
              <a:t>                 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5.2.1 先来先服务调度算法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0201" y="819971"/>
            <a:ext cx="10968990" cy="2964952"/>
          </a:xfrm>
        </p:spPr>
        <p:txBody>
          <a:bodyPr>
            <a:normAutofit lnSpcReduction="10000"/>
          </a:bodyPr>
          <a:lstStyle/>
          <a:p>
            <a:r>
              <a:rPr lang="zh-CN" altLang="en-US" sz="2600" dirty="0"/>
              <a:t>先来先服务（First Come First Served，FCFS）调度算法是一种最简单的调度算法。</a:t>
            </a:r>
          </a:p>
          <a:p>
            <a:r>
              <a:rPr lang="zh-CN" altLang="en-US" sz="2600" dirty="0"/>
              <a:t>既可以用于高级调度，又可以用于低级调度。</a:t>
            </a:r>
          </a:p>
          <a:p>
            <a:r>
              <a:rPr lang="zh-CN" altLang="en-US" sz="2600" dirty="0"/>
              <a:t>按照作业或进程到达系统的先后次序进行调度的。</a:t>
            </a:r>
          </a:p>
          <a:p>
            <a:pPr lvl="0"/>
            <a:r>
              <a:rPr lang="zh-CN" altLang="en-US" sz="2600" dirty="0"/>
              <a:t>FCFS调度算法是一种非抢占式调度算法。</a:t>
            </a:r>
          </a:p>
        </p:txBody>
      </p:sp>
      <p:pic>
        <p:nvPicPr>
          <p:cNvPr id="4" name="图片 3" descr="_[YWF3POUM)4CU%D(Q~N_SU">
            <a:extLst>
              <a:ext uri="{FF2B5EF4-FFF2-40B4-BE49-F238E27FC236}">
                <a16:creationId xmlns:a16="http://schemas.microsoft.com/office/drawing/2014/main" id="{CEE7E47C-CD06-4F8A-B69B-495EE8A55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06" y="3881934"/>
            <a:ext cx="10977119" cy="27112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5.2.1 先来先服务调度算法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53770"/>
            <a:ext cx="10968990" cy="5194300"/>
          </a:xfrm>
        </p:spPr>
        <p:txBody>
          <a:bodyPr/>
          <a:lstStyle/>
          <a:p>
            <a:r>
              <a:rPr lang="zh-CN" altLang="en-US" dirty="0"/>
              <a:t>以低级调度为例，</a:t>
            </a:r>
            <a:r>
              <a:rPr dirty="0">
                <a:sym typeface="+mn-ea"/>
              </a:rPr>
              <a:t>各进程的周转时间、带权周转时间等调度性能指标值。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 descr="3V8RM3OHF%9LFJNA%X[{{_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833" y="1657350"/>
            <a:ext cx="9326358" cy="1609090"/>
          </a:xfrm>
          <a:prstGeom prst="rect">
            <a:avLst/>
          </a:prstGeom>
        </p:spPr>
      </p:pic>
      <p:pic>
        <p:nvPicPr>
          <p:cNvPr id="6" name="图片 5" descr="9H@KO4LNGJ}JQADJ4EQVL)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530" y="3591561"/>
            <a:ext cx="9903460" cy="291719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418234D-2582-4D90-BFB3-5F133D5EE82B}"/>
              </a:ext>
            </a:extLst>
          </p:cNvPr>
          <p:cNvSpPr txBox="1"/>
          <p:nvPr/>
        </p:nvSpPr>
        <p:spPr>
          <a:xfrm>
            <a:off x="196770" y="5315445"/>
            <a:ext cx="1111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注：忽略调度时间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5.2.1 先来先服务调度算法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27455"/>
            <a:ext cx="10968990" cy="4201795"/>
          </a:xfrm>
        </p:spPr>
        <p:txBody>
          <a:bodyPr/>
          <a:lstStyle/>
          <a:p>
            <a:r>
              <a:rPr sz="2600" dirty="0">
                <a:sym typeface="+mn-ea"/>
              </a:rPr>
              <a:t>优点：FCFS调度算法简单、易于实现。</a:t>
            </a:r>
            <a:endParaRPr lang="zh-CN" altLang="en-US" sz="2600" dirty="0"/>
          </a:p>
          <a:p>
            <a:r>
              <a:rPr sz="2600" dirty="0">
                <a:sym typeface="+mn-ea"/>
              </a:rPr>
              <a:t>缺点：</a:t>
            </a:r>
            <a:endParaRPr lang="zh-CN" altLang="en-US" sz="2600" dirty="0"/>
          </a:p>
          <a:p>
            <a:pPr lvl="1"/>
            <a:r>
              <a:rPr sz="2600" dirty="0">
                <a:sym typeface="+mn-ea"/>
              </a:rPr>
              <a:t>有利于长进程，不利于短进程。 </a:t>
            </a:r>
            <a:endParaRPr lang="zh-CN" altLang="en-US" sz="2600" dirty="0"/>
          </a:p>
          <a:p>
            <a:pPr lvl="1"/>
            <a:r>
              <a:rPr sz="2600" dirty="0">
                <a:sym typeface="+mn-ea"/>
              </a:rPr>
              <a:t>有利于CPU繁忙的进程，不利于I/O操作繁忙的进程。</a:t>
            </a:r>
            <a:endParaRPr lang="en-US" sz="2600" dirty="0">
              <a:sym typeface="+mn-ea"/>
            </a:endParaRPr>
          </a:p>
          <a:p>
            <a:pPr lvl="2"/>
            <a:r>
              <a:rPr b="1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对于I/O操作繁忙的进程，每进行一次I/O操作都要等待系统中其他进程一个运行周期结束后才能再次获得CPU，故大大延长了进程运行的总时间，也不能有效利用各种外设资源。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6F4BB9-D30E-4355-9B52-AB5BD951056C}"/>
              </a:ext>
            </a:extLst>
          </p:cNvPr>
          <p:cNvSpPr txBox="1"/>
          <p:nvPr/>
        </p:nvSpPr>
        <p:spPr>
          <a:xfrm>
            <a:off x="1402672" y="5530789"/>
            <a:ext cx="9401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highlight>
                  <a:srgbClr val="FFFF00"/>
                </a:highlight>
              </a:rPr>
              <a:t>openEuler</a:t>
            </a:r>
            <a:r>
              <a:rPr lang="zh-CN" alt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实现了先来先服务算法，而且是与优先级结合起来实现的。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5.2.1 先来先服务调度算法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6395" y="1173610"/>
            <a:ext cx="7459224" cy="610605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不利于短进程，例如：</a:t>
            </a:r>
          </a:p>
        </p:txBody>
      </p:sp>
      <p:pic>
        <p:nvPicPr>
          <p:cNvPr id="4" name="图片 3" descr="J8XV%8_(J_2}P~9@18D[3I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1059" y="2275840"/>
            <a:ext cx="11032943" cy="275336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5BE2BAD-4BF0-420D-81B4-3D60F0C898A6}"/>
              </a:ext>
            </a:extLst>
          </p:cNvPr>
          <p:cNvSpPr/>
          <p:nvPr/>
        </p:nvSpPr>
        <p:spPr>
          <a:xfrm>
            <a:off x="8715375" y="3743325"/>
            <a:ext cx="3162300" cy="3905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5.2.2 短进程（作业）优先调度算法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7295"/>
            <a:ext cx="10966354" cy="274503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zh-CN" altLang="en-US" sz="2600" dirty="0"/>
              <a:t>该算法优先选择短进程（作业）投入运行，可分别用于高级调度和低级调度。</a:t>
            </a:r>
          </a:p>
          <a:p>
            <a:pPr lvl="1" algn="just"/>
            <a:r>
              <a:rPr lang="zh-CN" altLang="en-US" sz="2600" dirty="0"/>
              <a:t>S</a:t>
            </a:r>
            <a:r>
              <a:rPr lang="zh-CN" altLang="en-US" sz="2600" b="1" dirty="0">
                <a:solidFill>
                  <a:srgbClr val="FF0000"/>
                </a:solidFill>
              </a:rPr>
              <a:t>J</a:t>
            </a:r>
            <a:r>
              <a:rPr lang="zh-CN" altLang="en-US" sz="2600" dirty="0"/>
              <a:t>F（ Shortest Job First ）调度算法是从后备队列中选择一个或多个估计运行时间最短的</a:t>
            </a:r>
            <a:r>
              <a:rPr lang="zh-CN" altLang="en-US" sz="2600" dirty="0">
                <a:solidFill>
                  <a:srgbClr val="FF0000"/>
                </a:solidFill>
              </a:rPr>
              <a:t>作业</a:t>
            </a:r>
            <a:r>
              <a:rPr lang="zh-CN" altLang="en-US" sz="2600" dirty="0"/>
              <a:t>，将它们调入内存运行。</a:t>
            </a:r>
          </a:p>
          <a:p>
            <a:pPr lvl="1" algn="just"/>
            <a:r>
              <a:rPr lang="zh-CN" altLang="en-US" sz="2600" dirty="0"/>
              <a:t>S</a:t>
            </a:r>
            <a:r>
              <a:rPr lang="zh-CN" altLang="en-US" sz="2600" b="1" dirty="0">
                <a:solidFill>
                  <a:srgbClr val="FF0000"/>
                </a:solidFill>
              </a:rPr>
              <a:t>P</a:t>
            </a:r>
            <a:r>
              <a:rPr lang="zh-CN" altLang="en-US" sz="2600" dirty="0"/>
              <a:t>F（ Shortest Process First ）调度算法是从就绪队列中选择一个估计运行时间最短的就绪</a:t>
            </a:r>
            <a:r>
              <a:rPr lang="zh-CN" altLang="en-US" sz="2600" dirty="0">
                <a:solidFill>
                  <a:srgbClr val="FF0000"/>
                </a:solidFill>
              </a:rPr>
              <a:t>进程</a:t>
            </a:r>
            <a:r>
              <a:rPr lang="zh-CN" altLang="en-US" sz="2600" dirty="0"/>
              <a:t>，将CPU分派给它，使其执行。</a:t>
            </a:r>
          </a:p>
        </p:txBody>
      </p:sp>
      <p:pic>
        <p:nvPicPr>
          <p:cNvPr id="4" name="图片 3" descr="_[YWF3POUM)4CU%D(Q~N_SU">
            <a:extLst>
              <a:ext uri="{FF2B5EF4-FFF2-40B4-BE49-F238E27FC236}">
                <a16:creationId xmlns:a16="http://schemas.microsoft.com/office/drawing/2014/main" id="{00802E41-BACD-413F-9644-4D3997CB5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80" y="3739540"/>
            <a:ext cx="10977119" cy="27112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5.2.2 短进程（作业）优先调度算法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6818" y="869527"/>
            <a:ext cx="10968990" cy="47412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下面以</a:t>
            </a:r>
            <a:r>
              <a:rPr lang="zh-CN" altLang="en-US" b="1" dirty="0"/>
              <a:t>非抢占式</a:t>
            </a:r>
            <a:r>
              <a:rPr lang="zh-CN" altLang="en-US" dirty="0"/>
              <a:t>为例介绍SPF 调度算法。 </a:t>
            </a:r>
          </a:p>
        </p:txBody>
      </p:sp>
      <p:graphicFrame>
        <p:nvGraphicFramePr>
          <p:cNvPr id="5" name="对象 4"/>
          <p:cNvGraphicFramePr/>
          <p:nvPr>
            <p:extLst>
              <p:ext uri="{D42A27DB-BD31-4B8C-83A1-F6EECF244321}">
                <p14:modId xmlns:p14="http://schemas.microsoft.com/office/powerpoint/2010/main" val="1034994467"/>
              </p:ext>
            </p:extLst>
          </p:nvPr>
        </p:nvGraphicFramePr>
        <p:xfrm>
          <a:off x="3802692" y="1258461"/>
          <a:ext cx="7663116" cy="2021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004560" imgH="1249680" progId="Paint.Picture">
                  <p:embed/>
                </p:oleObj>
              </mc:Choice>
              <mc:Fallback>
                <p:oleObj r:id="rId3" imgW="6004560" imgH="124968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2692" y="1258461"/>
                        <a:ext cx="7663116" cy="2021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74D46C7-0078-549A-0534-D810FEE97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621537"/>
              </p:ext>
            </p:extLst>
          </p:nvPr>
        </p:nvGraphicFramePr>
        <p:xfrm>
          <a:off x="853338" y="3281244"/>
          <a:ext cx="10969623" cy="6858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1607688590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352444041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756861705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50848507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058575607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691591081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4165341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进程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38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08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08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88F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到达时刻 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08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0F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80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0F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服务时间 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10F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0F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8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48F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开始执行时间 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effectLst/>
                        </a:rPr>
                        <a:t>/ms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80F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38F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8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B8F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完成时间 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38F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68F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40F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C0F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周转时间 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68F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0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0F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38F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</a:rPr>
                        <a:t>带权周转时间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0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0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E0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E0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9706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FCEA8CF-7869-EDE0-C10C-8FB6AB224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050793"/>
              </p:ext>
            </p:extLst>
          </p:nvPr>
        </p:nvGraphicFramePr>
        <p:xfrm>
          <a:off x="853338" y="3967044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2550351416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073460115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72079613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924454302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109841915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925727021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734031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D08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907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007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98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907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C8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98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007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C8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2082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B88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C07E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2082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2082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C8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08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2082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2082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08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B88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2082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08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50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C8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08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38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B0D7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687F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4483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C028FC2-8C54-3B65-9489-32483C9F5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197011"/>
              </p:ext>
            </p:extLst>
          </p:nvPr>
        </p:nvGraphicFramePr>
        <p:xfrm>
          <a:off x="853338" y="4409841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1566697806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390884210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623829237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548041138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7304283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996947626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611876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B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F82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03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03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383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103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483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803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82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6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483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483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03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583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483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483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03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583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9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483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483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03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583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7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483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383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683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303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1.17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383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203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008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E83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21907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82215E1-6AD5-BEE5-5BE8-29C46E2DF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732866"/>
              </p:ext>
            </p:extLst>
          </p:nvPr>
        </p:nvGraphicFramePr>
        <p:xfrm>
          <a:off x="853338" y="4852638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972270695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0026656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790467579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95058132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538516739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711449831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331797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E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60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B8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40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B8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8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B8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B8F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28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40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B8F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B8F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40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8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9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B8F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B8F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0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B8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11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B8F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38B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8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0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38B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0F7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80F7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8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1.5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80F7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8F8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283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68F7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619627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E71B21B-D7DE-EC85-F39E-6803469B1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595280"/>
              </p:ext>
            </p:extLst>
          </p:nvPr>
        </p:nvGraphicFramePr>
        <p:xfrm>
          <a:off x="853338" y="5288857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469829485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952133258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63097979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91117173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86409486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963993858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239648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C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683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40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40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83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40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0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0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B8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10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983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F83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B032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11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983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983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B8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0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15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983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03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B8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0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11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03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003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B8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033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2.75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003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F0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8B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4831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4543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ACCC9E6-2091-0976-EC57-3B868DC8B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94642"/>
              </p:ext>
            </p:extLst>
          </p:nvPr>
        </p:nvGraphicFramePr>
        <p:xfrm>
          <a:off x="853338" y="5723751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217658874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133307730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44139854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11525045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279389919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838460031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1954366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D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B8F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0F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18F3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6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8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8F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F0F3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08F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5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D8F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8F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60F3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08F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15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D8F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8F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60F3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08F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20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88FB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40F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00F3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8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14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40F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B8F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8F3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08F4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2.8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B8F2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68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F02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98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34870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AC39E24-9E36-7C1D-97A7-5BED8BFD7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675220"/>
              </p:ext>
            </p:extLst>
          </p:nvPr>
        </p:nvGraphicFramePr>
        <p:xfrm>
          <a:off x="831036" y="6147493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149877211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57546226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63388777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341140250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749709072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41100964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400218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平均值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A0E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8F0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88E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—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90F0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8F0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—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8F0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0E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—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E8E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8F0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—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0E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8F0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7.6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0F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30F0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88E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0E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1.84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30F0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A8F0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C0D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E8E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693769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5.2.2 短进程（作业）优先调度算法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55371"/>
            <a:ext cx="10968990" cy="4354028"/>
          </a:xfrm>
        </p:spPr>
        <p:txBody>
          <a:bodyPr>
            <a:normAutofit/>
          </a:bodyPr>
          <a:lstStyle/>
          <a:p>
            <a:r>
              <a:rPr lang="zh-CN" altLang="en-US" dirty="0"/>
              <a:t>优点：由于优先执行短进程（作业），故可以缩短进程（作业）的平均周转时间，提高系统的吞吐量。</a:t>
            </a:r>
          </a:p>
          <a:p>
            <a:r>
              <a:rPr lang="zh-CN" altLang="en-US" dirty="0"/>
              <a:t>缺点：</a:t>
            </a:r>
          </a:p>
          <a:p>
            <a:pPr marL="457200" lvl="1" indent="0">
              <a:buNone/>
            </a:pPr>
            <a:r>
              <a:rPr lang="zh-CN" altLang="en-US" dirty="0"/>
              <a:t>（1）不利于长进程（作业），会导致长进程（作业）的饥饿现象。</a:t>
            </a:r>
          </a:p>
          <a:p>
            <a:pPr marL="457200" lvl="1" indent="0">
              <a:buNone/>
            </a:pPr>
            <a:r>
              <a:rPr lang="zh-CN" altLang="en-US" dirty="0"/>
              <a:t>（2）没有考虑进程（作业）的紧迫程度，对于分时、实时操作处理仍然不理想。</a:t>
            </a:r>
          </a:p>
          <a:p>
            <a:pPr marL="457200" lvl="1" indent="0">
              <a:buNone/>
            </a:pPr>
            <a:r>
              <a:rPr lang="zh-CN" altLang="en-US" dirty="0"/>
              <a:t>（3）需要预先知道进程（作业）所需的运行时间，由于估计的运行时间不准确，不一定能真正做到短进程（作业）优先，从而影响调度性能。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3FFA71-E818-493B-B1AC-5C08CF654434}"/>
              </a:ext>
            </a:extLst>
          </p:cNvPr>
          <p:cNvSpPr txBox="1"/>
          <p:nvPr/>
        </p:nvSpPr>
        <p:spPr>
          <a:xfrm>
            <a:off x="1737835" y="5409399"/>
            <a:ext cx="3758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highlight>
                  <a:srgbClr val="FFFF00"/>
                </a:highlight>
              </a:rPr>
              <a:t>openEuler</a:t>
            </a:r>
            <a:r>
              <a:rPr lang="zh-CN" alt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没有实现此算法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0895F-5893-19CB-F6D5-213ED75F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5FF92CB-7ED6-979E-C956-12D075D5BA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082868"/>
              </p:ext>
            </p:extLst>
          </p:nvPr>
        </p:nvGraphicFramePr>
        <p:xfrm>
          <a:off x="2121385" y="3429000"/>
          <a:ext cx="6512476" cy="2401905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2085688">
                  <a:extLst>
                    <a:ext uri="{9D8B030D-6E8A-4147-A177-3AD203B41FA5}">
                      <a16:colId xmlns:a16="http://schemas.microsoft.com/office/drawing/2014/main" val="683988252"/>
                    </a:ext>
                  </a:extLst>
                </a:gridCol>
                <a:gridCol w="2371214">
                  <a:extLst>
                    <a:ext uri="{9D8B030D-6E8A-4147-A177-3AD203B41FA5}">
                      <a16:colId xmlns:a16="http://schemas.microsoft.com/office/drawing/2014/main" val="4163837269"/>
                    </a:ext>
                  </a:extLst>
                </a:gridCol>
                <a:gridCol w="2055574">
                  <a:extLst>
                    <a:ext uri="{9D8B030D-6E8A-4147-A177-3AD203B41FA5}">
                      <a16:colId xmlns:a16="http://schemas.microsoft.com/office/drawing/2014/main" val="523366303"/>
                    </a:ext>
                  </a:extLst>
                </a:gridCol>
              </a:tblGrid>
              <a:tr h="7808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作业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提交时间（分钟）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zh-CN" sz="2000" kern="100" dirty="0">
                          <a:effectLst/>
                        </a:rPr>
                        <a:t>运行时间（分钟）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1002373"/>
                  </a:ext>
                </a:extLst>
              </a:tr>
              <a:tr h="407219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>
                          <a:effectLst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 dirty="0">
                          <a:effectLst/>
                        </a:rPr>
                        <a:t>20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8813683"/>
                  </a:ext>
                </a:extLst>
              </a:tr>
              <a:tr h="399369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 dirty="0">
                          <a:effectLst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533400" algn="l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 dirty="0">
                          <a:effectLst/>
                        </a:rPr>
                        <a:t>        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>
                          <a:effectLst/>
                        </a:rPr>
                        <a:t>5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1348047"/>
                  </a:ext>
                </a:extLst>
              </a:tr>
              <a:tr h="407219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>
                          <a:effectLst/>
                        </a:rPr>
                        <a:t>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>
                          <a:effectLst/>
                        </a:rPr>
                        <a:t>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 dirty="0">
                          <a:effectLst/>
                        </a:rPr>
                        <a:t>10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193068"/>
                  </a:ext>
                </a:extLst>
              </a:tr>
              <a:tr h="407219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>
                          <a:effectLst/>
                        </a:rPr>
                        <a:t>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>
                          <a:effectLst/>
                        </a:rPr>
                        <a:t>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tabLst>
                          <a:tab pos="4495800" algn="l"/>
                        </a:tabLst>
                      </a:pPr>
                      <a:r>
                        <a:rPr lang="en-US" sz="2000" kern="100" dirty="0">
                          <a:effectLst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861780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BDB4390-9BEC-FBED-8E4F-531C33C20067}"/>
              </a:ext>
            </a:extLst>
          </p:cNvPr>
          <p:cNvSpPr txBox="1"/>
          <p:nvPr/>
        </p:nvSpPr>
        <p:spPr>
          <a:xfrm>
            <a:off x="875898" y="1109841"/>
            <a:ext cx="10597415" cy="2236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在单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环境下，某系统有四个作业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进程，作业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进程的到达时间和所需服务时间（即运行时间）如下表所示，若系统采用先来先服务调度算法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和短作业优先调度算法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，请列出作业的调度顺序，并计算平均周转时间和平均带权周转时间。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0736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5.2.4 优先级调度算法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27455"/>
            <a:ext cx="10968990" cy="44150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800" b="1" dirty="0"/>
              <a:t>1．优先级调度算法的类型</a:t>
            </a:r>
          </a:p>
          <a:p>
            <a:r>
              <a:rPr lang="zh-CN" altLang="en-US" sz="2600" dirty="0"/>
              <a:t>非抢占式优先级调度算法</a:t>
            </a:r>
          </a:p>
          <a:p>
            <a:pPr lvl="1"/>
            <a:r>
              <a:rPr lang="zh-CN" altLang="en-US" sz="2600" dirty="0"/>
              <a:t>选择优先级最高的就绪进程运行，系统</a:t>
            </a:r>
            <a:r>
              <a:rPr lang="zh-CN" altLang="en-US" sz="2600" dirty="0">
                <a:solidFill>
                  <a:srgbClr val="0000FF"/>
                </a:solidFill>
              </a:rPr>
              <a:t>一旦把CPU 分派给优先级最高的就绪进程后，该进程便一直执行下去，直到完成</a:t>
            </a:r>
            <a:r>
              <a:rPr lang="zh-CN" altLang="en-US" sz="2600" dirty="0"/>
              <a:t>；</a:t>
            </a:r>
            <a:r>
              <a:rPr lang="zh-CN" altLang="en-US" sz="2600" dirty="0">
                <a:solidFill>
                  <a:srgbClr val="0000FF"/>
                </a:solidFill>
              </a:rPr>
              <a:t>或因某事件阻塞使该进程放弃CPU </a:t>
            </a:r>
            <a:r>
              <a:rPr lang="zh-CN" altLang="en-US" sz="2600" dirty="0"/>
              <a:t>时，系统方可调度另一优先级最高的进程。</a:t>
            </a:r>
          </a:p>
          <a:p>
            <a:pPr lvl="1"/>
            <a:r>
              <a:rPr lang="zh-CN" altLang="en-US" sz="2600" dirty="0"/>
              <a:t>非抢占式优先级调度算法</a:t>
            </a:r>
            <a:r>
              <a:rPr lang="zh-CN" altLang="en-US" sz="2600" dirty="0">
                <a:solidFill>
                  <a:srgbClr val="0000FF"/>
                </a:solidFill>
              </a:rPr>
              <a:t>主要用于批处理系统</a:t>
            </a:r>
            <a:r>
              <a:rPr lang="zh-CN" altLang="en-US" sz="2600" dirty="0"/>
              <a:t>，也可用于</a:t>
            </a:r>
            <a:r>
              <a:rPr lang="zh-CN" altLang="en-US" sz="2600" dirty="0">
                <a:solidFill>
                  <a:srgbClr val="0000FF"/>
                </a:solidFill>
              </a:rPr>
              <a:t>某些对实时性要求不严的实时系统</a:t>
            </a:r>
            <a:r>
              <a:rPr lang="zh-CN" altLang="en-US" sz="2600" dirty="0"/>
              <a:t>中。</a:t>
            </a:r>
          </a:p>
          <a:p>
            <a:endParaRPr lang="zh-CN" altLang="en-US" sz="2800" dirty="0"/>
          </a:p>
          <a:p>
            <a:endParaRPr lang="zh-CN" altLang="en-US" sz="2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5.2.4 优先级调度算法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9124"/>
            <a:ext cx="10968990" cy="5139159"/>
          </a:xfrm>
        </p:spPr>
        <p:txBody>
          <a:bodyPr>
            <a:noAutofit/>
          </a:bodyPr>
          <a:lstStyle/>
          <a:p>
            <a:r>
              <a:rPr sz="2800" b="1" dirty="0">
                <a:sym typeface="+mn-ea"/>
              </a:rPr>
              <a:t>1．优先级调度算法的类型（续）</a:t>
            </a:r>
            <a:endParaRPr lang="zh-CN" altLang="en-US" sz="2800" b="1" dirty="0"/>
          </a:p>
          <a:p>
            <a:r>
              <a:rPr lang="zh-CN" altLang="en-US" sz="2600" dirty="0"/>
              <a:t>抢占式优先级调度算法</a:t>
            </a:r>
          </a:p>
          <a:p>
            <a:pPr lvl="1"/>
            <a:r>
              <a:rPr lang="zh-CN" altLang="en-US" sz="2600" dirty="0"/>
              <a:t>系统同样将CPU分派给优先级最高的就绪进程，使之执行。但</a:t>
            </a:r>
            <a:r>
              <a:rPr lang="zh-CN" altLang="en-US" sz="2600" dirty="0">
                <a:solidFill>
                  <a:srgbClr val="0000FF"/>
                </a:solidFill>
              </a:rPr>
              <a:t>在执行期间，如果出现一个优先级更高的就绪进程，该进程可以抢占CPU</a:t>
            </a:r>
            <a:r>
              <a:rPr lang="zh-CN" altLang="en-US" sz="2600" dirty="0"/>
              <a:t>，使正在执行的低优先级进程中断执行。</a:t>
            </a:r>
          </a:p>
          <a:p>
            <a:pPr lvl="1"/>
            <a:r>
              <a:rPr lang="zh-CN" altLang="en-US" sz="2600" dirty="0"/>
              <a:t>因为抢占式优先级调度算法能更好地满足紧急任务的要求，因而</a:t>
            </a:r>
            <a:r>
              <a:rPr lang="zh-CN" altLang="en-US" sz="2600" dirty="0">
                <a:solidFill>
                  <a:srgbClr val="0000FF"/>
                </a:solidFill>
              </a:rPr>
              <a:t>常用于比较严格的实时系统</a:t>
            </a:r>
            <a:r>
              <a:rPr lang="zh-CN" altLang="en-US" sz="2600" dirty="0"/>
              <a:t>及对性能要求较高的批处理和分时系统中。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5.2.4 优先级调度算法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72273"/>
            <a:ext cx="10968990" cy="4988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600" b="1" dirty="0">
                <a:sym typeface="+mn-ea"/>
              </a:rPr>
              <a:t>2．优先级的类型</a:t>
            </a:r>
            <a:endParaRPr lang="zh-CN" altLang="en-US" sz="2600" b="1" dirty="0"/>
          </a:p>
          <a:p>
            <a:r>
              <a:rPr sz="2600" dirty="0">
                <a:sym typeface="+mn-ea"/>
              </a:rPr>
              <a:t>静态优先级 </a:t>
            </a:r>
            <a:endParaRPr lang="zh-CN" altLang="en-US" sz="2600" dirty="0"/>
          </a:p>
          <a:p>
            <a:pPr lvl="1"/>
            <a:r>
              <a:rPr sz="2600" dirty="0">
                <a:sym typeface="+mn-ea"/>
              </a:rPr>
              <a:t>静态优先级是在创建进程时确定的，且在进程的整个生命周期内保持</a:t>
            </a:r>
            <a:r>
              <a:rPr sz="3200" b="1" dirty="0">
                <a:solidFill>
                  <a:srgbClr val="0000FF"/>
                </a:solidFill>
                <a:sym typeface="+mn-ea"/>
              </a:rPr>
              <a:t>不变</a:t>
            </a:r>
            <a:r>
              <a:rPr sz="2600" dirty="0">
                <a:sym typeface="+mn-ea"/>
              </a:rPr>
              <a:t>。</a:t>
            </a:r>
            <a:endParaRPr lang="zh-CN" altLang="en-US" sz="2600" dirty="0"/>
          </a:p>
          <a:p>
            <a:pPr lvl="1"/>
            <a:r>
              <a:rPr sz="2600" dirty="0">
                <a:sym typeface="+mn-ea"/>
              </a:rPr>
              <a:t>简单易行，但灵活性较差，容易导致低优先级进程饥饿。</a:t>
            </a:r>
            <a:endParaRPr lang="zh-CN" altLang="en-US" sz="2600" dirty="0"/>
          </a:p>
          <a:p>
            <a:r>
              <a:rPr sz="2600" dirty="0">
                <a:sym typeface="+mn-ea"/>
              </a:rPr>
              <a:t>动态优先级 </a:t>
            </a:r>
            <a:endParaRPr lang="zh-CN" altLang="en-US" sz="2600" dirty="0"/>
          </a:p>
          <a:p>
            <a:pPr lvl="1"/>
            <a:r>
              <a:rPr sz="2600" dirty="0">
                <a:sym typeface="+mn-ea"/>
              </a:rPr>
              <a:t>动态优先级是指在创建进程时确定的优先级，可以随进程的推进或进程等待时间的增加而</a:t>
            </a:r>
            <a:r>
              <a:rPr sz="3200" b="1" dirty="0">
                <a:solidFill>
                  <a:srgbClr val="0000FF"/>
                </a:solidFill>
                <a:sym typeface="+mn-ea"/>
              </a:rPr>
              <a:t>改变</a:t>
            </a:r>
            <a:r>
              <a:rPr sz="2600" dirty="0">
                <a:sym typeface="+mn-ea"/>
              </a:rPr>
              <a:t>，以便获得更好的调度性能。</a:t>
            </a:r>
            <a:endParaRPr lang="zh-CN" altLang="en-US" sz="2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02B74-5D6B-A773-E09E-8D6FC204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中的优先级策略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8AC5EA-2D5B-F724-1871-B4B88F77B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05" y="1004430"/>
            <a:ext cx="10968990" cy="5022215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Windows </a:t>
            </a:r>
            <a:r>
              <a:rPr lang="zh-CN" altLang="en-US" dirty="0"/>
              <a:t>优先级范围 </a:t>
            </a:r>
            <a:r>
              <a:rPr lang="en-US" altLang="zh-CN" dirty="0"/>
              <a:t>0-31</a:t>
            </a:r>
            <a:r>
              <a:rPr lang="zh-CN" altLang="en-US" dirty="0"/>
              <a:t>（</a:t>
            </a:r>
            <a:r>
              <a:rPr lang="en-US" altLang="zh-CN" dirty="0"/>
              <a:t>0 </a:t>
            </a:r>
            <a:r>
              <a:rPr lang="zh-CN" altLang="en-US" dirty="0"/>
              <a:t>最低、</a:t>
            </a:r>
            <a:r>
              <a:rPr lang="en-US" altLang="zh-CN" dirty="0"/>
              <a:t>31 </a:t>
            </a:r>
            <a:r>
              <a:rPr lang="zh-CN" altLang="en-US" dirty="0"/>
              <a:t>最高），分实时类（</a:t>
            </a:r>
            <a:r>
              <a:rPr lang="en-US" altLang="zh-CN" dirty="0"/>
              <a:t>16-31 </a:t>
            </a:r>
            <a:r>
              <a:rPr lang="zh-CN" altLang="en-US" dirty="0"/>
              <a:t>级）和普通类（</a:t>
            </a:r>
            <a:r>
              <a:rPr lang="en-US" altLang="zh-CN" dirty="0"/>
              <a:t>0-15 </a:t>
            </a:r>
            <a:r>
              <a:rPr lang="zh-CN" altLang="en-US" dirty="0"/>
              <a:t>级）</a:t>
            </a:r>
            <a:endParaRPr lang="en-US" altLang="zh-CN" dirty="0"/>
          </a:p>
          <a:p>
            <a:pPr lvl="1"/>
            <a:r>
              <a:rPr lang="zh-CN" altLang="en-US" dirty="0"/>
              <a:t>前台进程优待：优先级会直接 </a:t>
            </a:r>
            <a:r>
              <a:rPr lang="en-US" altLang="zh-CN" dirty="0"/>
              <a:t>+2</a:t>
            </a:r>
            <a:r>
              <a:rPr lang="zh-CN" altLang="en-US" dirty="0"/>
              <a:t>（如基准 </a:t>
            </a:r>
            <a:r>
              <a:rPr lang="en-US" altLang="zh-CN" dirty="0"/>
              <a:t>8 </a:t>
            </a:r>
            <a:r>
              <a:rPr lang="zh-CN" altLang="en-US" dirty="0"/>
              <a:t>级→</a:t>
            </a:r>
            <a:r>
              <a:rPr lang="en-US" altLang="zh-CN" dirty="0"/>
              <a:t>10 </a:t>
            </a:r>
            <a:r>
              <a:rPr lang="zh-CN" altLang="en-US" dirty="0"/>
              <a:t>级）</a:t>
            </a:r>
            <a:endParaRPr lang="en-US" altLang="zh-CN" dirty="0"/>
          </a:p>
          <a:p>
            <a:pPr lvl="1"/>
            <a:r>
              <a:rPr lang="en-US" altLang="zh-CN" dirty="0"/>
              <a:t>I/O </a:t>
            </a:r>
            <a:r>
              <a:rPr lang="zh-CN" altLang="en-US" dirty="0"/>
              <a:t>完成提升：进程完成 </a:t>
            </a:r>
            <a:r>
              <a:rPr lang="en-US" altLang="zh-CN" dirty="0"/>
              <a:t>I/O </a:t>
            </a:r>
            <a:r>
              <a:rPr lang="zh-CN" altLang="en-US" dirty="0"/>
              <a:t>操作后，优先级临时 </a:t>
            </a:r>
            <a:r>
              <a:rPr lang="en-US" altLang="zh-CN" dirty="0"/>
              <a:t>+1 </a:t>
            </a:r>
            <a:r>
              <a:rPr lang="zh-CN" altLang="en-US" dirty="0"/>
              <a:t>或 </a:t>
            </a:r>
            <a:r>
              <a:rPr lang="en-US" altLang="zh-CN" dirty="0"/>
              <a:t>+2</a:t>
            </a:r>
            <a:endParaRPr lang="zh-CN" altLang="en-US" dirty="0"/>
          </a:p>
          <a:p>
            <a:pPr lvl="1"/>
            <a:r>
              <a:rPr lang="zh-CN" altLang="en-US" dirty="0"/>
              <a:t>等待事件结束：优先级提升 </a:t>
            </a:r>
            <a:r>
              <a:rPr lang="en-US" altLang="zh-CN" dirty="0"/>
              <a:t>1-3 </a:t>
            </a:r>
            <a:r>
              <a:rPr lang="zh-CN" altLang="en-US" dirty="0"/>
              <a:t>级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/>
              <a:t>低优先级补偿：长期未获得 </a:t>
            </a:r>
            <a:r>
              <a:rPr lang="en-US" altLang="zh-CN" dirty="0"/>
              <a:t>CPU </a:t>
            </a:r>
            <a:r>
              <a:rPr lang="zh-CN" altLang="en-US" dirty="0"/>
              <a:t>的低优先级进程（饥饿状态），系统会自动提升其优先级至中等水平，避免饿死 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b="1" dirty="0"/>
              <a:t>自动衰减：</a:t>
            </a:r>
            <a:r>
              <a:rPr lang="zh-CN" altLang="en-US" dirty="0"/>
              <a:t>默认每占用一个时间片（</a:t>
            </a:r>
            <a:r>
              <a:rPr lang="en-US" altLang="zh-CN" dirty="0"/>
              <a:t>Windows </a:t>
            </a:r>
            <a:r>
              <a:rPr lang="zh-CN" altLang="en-US" dirty="0"/>
              <a:t>时间片约 </a:t>
            </a:r>
            <a:r>
              <a:rPr lang="en-US" altLang="zh-CN" dirty="0"/>
              <a:t>10-30ms</a:t>
            </a:r>
            <a:r>
              <a:rPr lang="zh-CN" altLang="en-US" dirty="0"/>
              <a:t>），优先级降低 </a:t>
            </a:r>
            <a:r>
              <a:rPr lang="en-US" altLang="zh-CN" dirty="0"/>
              <a:t>1 </a:t>
            </a:r>
            <a:r>
              <a:rPr lang="zh-CN" altLang="en-US" dirty="0"/>
              <a:t>级，一直回落至进程的原始基准优先级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210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B2EF3-4C66-3685-1DA5-B944CB75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用户模式下的优先级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AF4B9B-ED1A-1CBD-6250-D4B03847D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20" y="970978"/>
            <a:ext cx="10968990" cy="980485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在任务管理器的 “详细信息” 面板中右键点击进程，选择 “设置优先级” 时，会看到以下几个选项。它们对应的内核底层优先级值如下：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B40900-698C-CFA3-49D9-6F3F7224E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132267"/>
              </p:ext>
            </p:extLst>
          </p:nvPr>
        </p:nvGraphicFramePr>
        <p:xfrm>
          <a:off x="934523" y="2102471"/>
          <a:ext cx="10642587" cy="4318525"/>
        </p:xfrm>
        <a:graphic>
          <a:graphicData uri="http://schemas.openxmlformats.org/drawingml/2006/table">
            <a:tbl>
              <a:tblPr/>
              <a:tblGrid>
                <a:gridCol w="2412678">
                  <a:extLst>
                    <a:ext uri="{9D8B030D-6E8A-4147-A177-3AD203B41FA5}">
                      <a16:colId xmlns:a16="http://schemas.microsoft.com/office/drawing/2014/main" val="3269554090"/>
                    </a:ext>
                  </a:extLst>
                </a:gridCol>
                <a:gridCol w="1870955">
                  <a:extLst>
                    <a:ext uri="{9D8B030D-6E8A-4147-A177-3AD203B41FA5}">
                      <a16:colId xmlns:a16="http://schemas.microsoft.com/office/drawing/2014/main" val="2859927186"/>
                    </a:ext>
                  </a:extLst>
                </a:gridCol>
                <a:gridCol w="6358954">
                  <a:extLst>
                    <a:ext uri="{9D8B030D-6E8A-4147-A177-3AD203B41FA5}">
                      <a16:colId xmlns:a16="http://schemas.microsoft.com/office/drawing/2014/main" val="1949177521"/>
                    </a:ext>
                  </a:extLst>
                </a:gridCol>
              </a:tblGrid>
              <a:tr h="45899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</a:rPr>
                        <a:t>任务管理器中的优先级类别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70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A0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00A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8C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</a:rPr>
                        <a:t>对应的内核优先级值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A0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0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F8A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8C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effectLst/>
                        </a:rPr>
                        <a:t>说明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10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0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0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824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559616"/>
                  </a:ext>
                </a:extLst>
              </a:tr>
              <a:tr h="68722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低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18C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F0C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8C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38B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400" b="0">
                          <a:effectLst/>
                        </a:rPr>
                        <a:t>4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F0C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F8A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8C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30B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最低的用户模式优先级。这类进程只有在没有其他更高优先级的进程需要 </a:t>
                      </a:r>
                      <a:r>
                        <a:rPr lang="en-US" altLang="zh-CN" sz="1400" b="0">
                          <a:effectLst/>
                        </a:rPr>
                        <a:t>CPU </a:t>
                      </a:r>
                      <a:r>
                        <a:rPr lang="zh-CN" altLang="en-US" sz="1400" b="0">
                          <a:effectLst/>
                        </a:rPr>
                        <a:t>时才会运行。例如，一些后台索引、备份程序可能会使用此优先级。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F8A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50A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824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824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647707"/>
                  </a:ext>
                </a:extLst>
              </a:tr>
              <a:tr h="45899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低于正常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98B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38B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8B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18B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400" b="0">
                          <a:effectLst/>
                        </a:rPr>
                        <a:t>6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38B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F8A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0B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18B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优先级低于默认值。适用于一些不需要立即响应的后台任务，比如某些监控程序或日志记录程序。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F8A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8A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824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8823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644283"/>
                  </a:ext>
                </a:extLst>
              </a:tr>
              <a:tr h="56387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</a:rPr>
                        <a:t>正常</a:t>
                      </a:r>
                      <a:endParaRPr lang="zh-CN" altLang="en-US" sz="1400" b="0">
                        <a:effectLst/>
                      </a:endParaRP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68B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90B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8B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8A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zh-CN" altLang="en-US" sz="1400" b="0">
                        <a:effectLst/>
                      </a:endParaRP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90B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8A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8B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8B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</a:rPr>
                        <a:t>这是绝大多数进程的默认优先级。</a:t>
                      </a:r>
                      <a:r>
                        <a:rPr lang="zh-CN" altLang="en-US" sz="1400" b="0">
                          <a:effectLst/>
                        </a:rPr>
                        <a:t> 例如，你日常使用的浏览器、</a:t>
                      </a:r>
                      <a:r>
                        <a:rPr lang="en-US" altLang="zh-CN" sz="1400" b="0">
                          <a:effectLst/>
                        </a:rPr>
                        <a:t>Office</a:t>
                      </a:r>
                      <a:r>
                        <a:rPr lang="zh-CN" altLang="en-US" sz="1400" b="0">
                          <a:effectLst/>
                        </a:rPr>
                        <a:t>、文件管理器等都运行在这个优先级。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D8A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8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8823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381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379312"/>
                  </a:ext>
                </a:extLst>
              </a:tr>
              <a:tr h="45899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高于正常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18B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0C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F8A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0C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400" b="0">
                          <a:effectLst/>
                        </a:rPr>
                        <a:t>10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80C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48A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8B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0C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比默认优先级高。适用于需要更快响应的程序，比如一些实时性要求不高的游戏或设计软件。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48A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70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81F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80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771251"/>
                  </a:ext>
                </a:extLst>
              </a:tr>
              <a:tr h="68722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高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30B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78B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0C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8B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400" b="0">
                          <a:effectLst/>
                        </a:rPr>
                        <a:t>13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78B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8B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0C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8A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较高的优先级。操作系统的一些核心组件，如窗口管理器（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effectLst/>
                          <a:latin typeface="Menlo"/>
                        </a:rPr>
                        <a:t>dwm.exe</a:t>
                      </a:r>
                      <a:r>
                        <a:rPr lang="zh-CN" altLang="en-US" sz="1400" b="0">
                          <a:effectLst/>
                        </a:rPr>
                        <a:t>），通常运行在这个级别。用户程序也可以设置，但需谨慎，可能会影响系统响应。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18B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48A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80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04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284831"/>
                  </a:ext>
                </a:extLst>
              </a:tr>
              <a:tr h="687222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实时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70B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28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F8B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10B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400" b="0">
                          <a:effectLst/>
                        </a:rPr>
                        <a:t>24-31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28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0A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8A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58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effectLst/>
                        </a:rPr>
                        <a:t>最高优先级。</a:t>
                      </a:r>
                      <a:r>
                        <a:rPr lang="zh-CN" altLang="en-US" sz="1400" b="0" dirty="0">
                          <a:effectLst/>
                        </a:rPr>
                        <a:t> 这类进程会抢占系统中所有其他进程的 </a:t>
                      </a:r>
                      <a:r>
                        <a:rPr lang="en-US" altLang="zh-CN" sz="1400" b="0" dirty="0">
                          <a:effectLst/>
                        </a:rPr>
                        <a:t>CPU </a:t>
                      </a:r>
                      <a:r>
                        <a:rPr lang="zh-CN" altLang="en-US" sz="1400" b="0" dirty="0">
                          <a:effectLst/>
                        </a:rPr>
                        <a:t>时间。仅用于对响应时间要求极高的专业应用，如音频处理、工业控制等。普通用户应避免使用。</a:t>
                      </a:r>
                    </a:p>
                  </a:txBody>
                  <a:tcPr marL="67990" marR="67990" marT="45327" marB="45327" anchor="ctr">
                    <a:lnL w="4699" cap="flat" cmpd="sng" algn="ctr">
                      <a:solidFill>
                        <a:srgbClr val="E0A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8A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04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48A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181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49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F9E23-7E9C-8CC5-E058-824816463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71" y="883804"/>
            <a:ext cx="10969200" cy="705600"/>
          </a:xfrm>
        </p:spPr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的优先级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7D440A-E2BA-DA3A-532A-E03F81484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05" y="1798653"/>
            <a:ext cx="10968990" cy="417554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静态基础：</a:t>
            </a:r>
            <a:r>
              <a:rPr lang="en-US" altLang="zh-CN" sz="2000" dirty="0"/>
              <a:t>nice </a:t>
            </a:r>
            <a:r>
              <a:rPr lang="zh-CN" altLang="en-US" sz="2000" dirty="0"/>
              <a:t>值直接对应进程权重（</a:t>
            </a:r>
            <a:r>
              <a:rPr lang="en-US" altLang="zh-CN" sz="2000" dirty="0"/>
              <a:t>weight</a:t>
            </a:r>
            <a:r>
              <a:rPr lang="zh-CN" altLang="en-US" sz="2000" dirty="0"/>
              <a:t>），</a:t>
            </a:r>
            <a:r>
              <a:rPr lang="en-US" altLang="zh-CN" sz="2000" dirty="0"/>
              <a:t>nice </a:t>
            </a:r>
            <a:r>
              <a:rPr lang="zh-CN" altLang="en-US" sz="2000" dirty="0"/>
              <a:t>值越小，权重越大（如 </a:t>
            </a:r>
            <a:r>
              <a:rPr lang="en-US" altLang="zh-CN" sz="2000" dirty="0"/>
              <a:t>nice=-20 </a:t>
            </a:r>
            <a:r>
              <a:rPr lang="zh-CN" altLang="en-US" sz="2000" dirty="0"/>
              <a:t>权重 </a:t>
            </a:r>
            <a:r>
              <a:rPr lang="en-US" altLang="zh-CN" sz="2000" dirty="0"/>
              <a:t>88761</a:t>
            </a:r>
            <a:r>
              <a:rPr lang="zh-CN" altLang="en-US" sz="2000" dirty="0"/>
              <a:t>，</a:t>
            </a:r>
            <a:r>
              <a:rPr lang="en-US" altLang="zh-CN" sz="2000" dirty="0"/>
              <a:t>nice=19 </a:t>
            </a:r>
            <a:r>
              <a:rPr lang="zh-CN" altLang="en-US" sz="2000" dirty="0"/>
              <a:t>权重 </a:t>
            </a:r>
            <a:r>
              <a:rPr lang="en-US" altLang="zh-CN" sz="2000" dirty="0"/>
              <a:t>1024</a:t>
            </a:r>
            <a:r>
              <a:rPr lang="zh-CN" altLang="en-US" sz="2000" dirty="0"/>
              <a:t>），权重决定 </a:t>
            </a:r>
            <a:r>
              <a:rPr lang="en-US" altLang="zh-CN" sz="2000" dirty="0"/>
              <a:t>CPU </a:t>
            </a:r>
            <a:r>
              <a:rPr lang="zh-CN" altLang="en-US" sz="2000" dirty="0"/>
              <a:t>分配比例。</a:t>
            </a:r>
          </a:p>
          <a:p>
            <a:r>
              <a:rPr lang="zh-CN" altLang="en-US" sz="2000" dirty="0"/>
              <a:t>动态补偿：进程睡眠时间越长，唤醒后会获得 “虚拟运行时间（</a:t>
            </a:r>
            <a:r>
              <a:rPr lang="en-US" altLang="zh-CN" sz="2000" dirty="0" err="1"/>
              <a:t>vruntime</a:t>
            </a:r>
            <a:r>
              <a:rPr lang="zh-CN" altLang="en-US" sz="2000" dirty="0"/>
              <a:t>）” 的补偿（</a:t>
            </a:r>
            <a:r>
              <a:rPr lang="en-US" altLang="zh-CN" sz="2000" dirty="0" err="1"/>
              <a:t>vruntime</a:t>
            </a:r>
            <a:r>
              <a:rPr lang="en-US" altLang="zh-CN" sz="2000" dirty="0"/>
              <a:t> </a:t>
            </a:r>
            <a:r>
              <a:rPr lang="zh-CN" altLang="en-US" sz="2000" dirty="0"/>
              <a:t>增长变慢），等价于优先级相对提升，能更快获得 </a:t>
            </a:r>
            <a:r>
              <a:rPr lang="en-US" altLang="zh-CN" sz="2000" dirty="0"/>
              <a:t>CPU </a:t>
            </a:r>
            <a:r>
              <a:rPr lang="zh-CN" altLang="en-US" sz="2000" dirty="0"/>
              <a:t>时间。</a:t>
            </a:r>
          </a:p>
          <a:p>
            <a:pPr lvl="1"/>
            <a:r>
              <a:rPr lang="zh-CN" altLang="en-US" sz="2000" dirty="0"/>
              <a:t>例：进程 </a:t>
            </a:r>
            <a:r>
              <a:rPr lang="en-US" altLang="zh-CN" sz="2000" dirty="0"/>
              <a:t>A </a:t>
            </a:r>
            <a:r>
              <a:rPr lang="zh-CN" altLang="en-US" sz="2000" dirty="0"/>
              <a:t>睡眠 </a:t>
            </a:r>
            <a:r>
              <a:rPr lang="en-US" altLang="zh-CN" sz="2000" dirty="0"/>
              <a:t>10 </a:t>
            </a:r>
            <a:r>
              <a:rPr lang="zh-CN" altLang="en-US" sz="2000" dirty="0"/>
              <a:t>秒，进程 </a:t>
            </a:r>
            <a:r>
              <a:rPr lang="en-US" altLang="zh-CN" sz="2000" dirty="0"/>
              <a:t>B </a:t>
            </a:r>
            <a:r>
              <a:rPr lang="zh-CN" altLang="en-US" sz="2000" dirty="0"/>
              <a:t>持续运行 </a:t>
            </a:r>
            <a:r>
              <a:rPr lang="en-US" altLang="zh-CN" sz="2000" dirty="0"/>
              <a:t>10 </a:t>
            </a:r>
            <a:r>
              <a:rPr lang="zh-CN" altLang="en-US" sz="2000" dirty="0"/>
              <a:t>秒，</a:t>
            </a:r>
            <a:r>
              <a:rPr lang="en-US" altLang="zh-CN" sz="2000" dirty="0"/>
              <a:t>A </a:t>
            </a:r>
            <a:r>
              <a:rPr lang="zh-CN" altLang="en-US" sz="2000" dirty="0"/>
              <a:t>唤醒后 </a:t>
            </a:r>
            <a:r>
              <a:rPr lang="en-US" altLang="zh-CN" sz="2000" dirty="0" err="1"/>
              <a:t>vruntime</a:t>
            </a:r>
            <a:r>
              <a:rPr lang="en-US" altLang="zh-CN" sz="2000" dirty="0"/>
              <a:t> </a:t>
            </a:r>
            <a:r>
              <a:rPr lang="zh-CN" altLang="en-US" sz="2000" dirty="0"/>
              <a:t>远小于 </a:t>
            </a:r>
            <a:r>
              <a:rPr lang="en-US" altLang="zh-CN" sz="2000" dirty="0"/>
              <a:t>B</a:t>
            </a:r>
            <a:r>
              <a:rPr lang="zh-CN" altLang="en-US" sz="2000" dirty="0"/>
              <a:t>，</a:t>
            </a:r>
            <a:r>
              <a:rPr lang="en-US" altLang="zh-CN" sz="2000" dirty="0"/>
              <a:t>CFS </a:t>
            </a:r>
            <a:r>
              <a:rPr lang="zh-CN" altLang="en-US" sz="2000" dirty="0"/>
              <a:t>会优先调度 </a:t>
            </a:r>
            <a:r>
              <a:rPr lang="en-US" altLang="zh-CN" sz="2000" dirty="0"/>
              <a:t>A</a:t>
            </a:r>
            <a:r>
              <a:rPr lang="zh-CN" altLang="en-US" sz="2000" dirty="0"/>
              <a:t>，直到两者 </a:t>
            </a:r>
            <a:r>
              <a:rPr lang="en-US" altLang="zh-CN" sz="2000" dirty="0" err="1"/>
              <a:t>vruntime</a:t>
            </a:r>
            <a:r>
              <a:rPr lang="en-US" altLang="zh-CN" sz="2000" dirty="0"/>
              <a:t> </a:t>
            </a:r>
            <a:r>
              <a:rPr lang="zh-CN" altLang="en-US" sz="2000" dirty="0"/>
              <a:t>趋于平衡。</a:t>
            </a:r>
          </a:p>
          <a:p>
            <a:r>
              <a:rPr lang="zh-CN" altLang="en-US" sz="2000" dirty="0"/>
              <a:t>动态惩罚：</a:t>
            </a:r>
            <a:r>
              <a:rPr lang="en-US" altLang="zh-CN" sz="2000" dirty="0"/>
              <a:t>CPU </a:t>
            </a:r>
            <a:r>
              <a:rPr lang="zh-CN" altLang="en-US" sz="2000" dirty="0"/>
              <a:t>密集型进程（长期占用 </a:t>
            </a:r>
            <a:r>
              <a:rPr lang="en-US" altLang="zh-CN" sz="2000" dirty="0"/>
              <a:t>CPU</a:t>
            </a:r>
            <a:r>
              <a:rPr lang="zh-CN" altLang="en-US" sz="2000" dirty="0"/>
              <a:t>）的 </a:t>
            </a:r>
            <a:r>
              <a:rPr lang="en-US" altLang="zh-CN" sz="2000" dirty="0" err="1"/>
              <a:t>vruntime</a:t>
            </a:r>
            <a:r>
              <a:rPr lang="en-US" altLang="zh-CN" sz="2000" dirty="0"/>
              <a:t> </a:t>
            </a:r>
            <a:r>
              <a:rPr lang="zh-CN" altLang="en-US" sz="2000" dirty="0"/>
              <a:t>会快速增长，调度权重相对降低，相当于优先级 “被动下降”，避免独占 </a:t>
            </a:r>
            <a:r>
              <a:rPr lang="en-US" altLang="zh-CN" sz="2000" dirty="0"/>
              <a:t>CPU</a:t>
            </a:r>
            <a:r>
              <a:rPr lang="zh-CN" altLang="en-US" sz="2000" dirty="0"/>
              <a:t>。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9549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B823BB0-CB56-4103-93A5-0C2BE76AB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624442"/>
              </p:ext>
            </p:extLst>
          </p:nvPr>
        </p:nvGraphicFramePr>
        <p:xfrm>
          <a:off x="1693763" y="2701724"/>
          <a:ext cx="8410937" cy="29698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1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5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0603">
                  <a:extLst>
                    <a:ext uri="{9D8B030D-6E8A-4147-A177-3AD203B41FA5}">
                      <a16:colId xmlns:a16="http://schemas.microsoft.com/office/drawing/2014/main" val="1140245751"/>
                    </a:ext>
                  </a:extLst>
                </a:gridCol>
              </a:tblGrid>
              <a:tr h="5939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作业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提交时间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执行时间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80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（小时）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280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优先级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9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    1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 8.00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 2.00	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8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9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    2 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 8.50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0.50 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8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9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    3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 9.00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 0.10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8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97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    4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 9.50 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 0.20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28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文本框 2">
            <a:extLst>
              <a:ext uri="{FF2B5EF4-FFF2-40B4-BE49-F238E27FC236}">
                <a16:creationId xmlns:a16="http://schemas.microsoft.com/office/drawing/2014/main" id="{D9FF5EE6-F445-4A8F-8C79-AD29770B9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90600"/>
            <a:ext cx="1056768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  <a:defRPr sz="2400">
                <a:solidFill>
                  <a:srgbClr val="262626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50000"/>
              </a:lnSpc>
              <a:spcAft>
                <a:spcPts val="300"/>
              </a:spcAft>
              <a:buClr>
                <a:srgbClr val="FF00FF"/>
              </a:buClr>
              <a:buSzPct val="90000"/>
              <a:buFont typeface="Wingdings" panose="05000000000000000000" pitchFamily="2" charset="2"/>
              <a:buChar char="u"/>
              <a:defRPr sz="2200">
                <a:solidFill>
                  <a:srgbClr val="262626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150000"/>
              </a:lnSpc>
              <a:spcAft>
                <a:spcPts val="300"/>
              </a:spcAft>
              <a:buClr>
                <a:srgbClr val="0000FF"/>
              </a:buClr>
              <a:buSzPct val="90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150000"/>
              </a:lnSpc>
              <a:spcAft>
                <a:spcPts val="300"/>
              </a:spcAft>
              <a:buClr>
                <a:srgbClr val="F16517"/>
              </a:buClr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练习：请计算以下作业用基于优先级调度算法（优先级数值越大优先级越高）和短作业优先调度算法时的平均周转时间和平均带权周转时间。</a:t>
            </a:r>
          </a:p>
        </p:txBody>
      </p:sp>
    </p:spTree>
    <p:extLst>
      <p:ext uri="{BB962C8B-B14F-4D97-AF65-F5344CB8AC3E}">
        <p14:creationId xmlns:p14="http://schemas.microsoft.com/office/powerpoint/2010/main" val="424664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5.2.5 最高响应比优先调度算法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819971"/>
            <a:ext cx="10968990" cy="5429700"/>
          </a:xfrm>
        </p:spPr>
        <p:txBody>
          <a:bodyPr>
            <a:normAutofit/>
          </a:bodyPr>
          <a:lstStyle/>
          <a:p>
            <a:r>
              <a:rPr lang="zh-CN" altLang="en-US" dirty="0"/>
              <a:t>最高响应比优先（Highest Response-Ratio Next，HRRN）调度算法是一种非抢占式调度算法。</a:t>
            </a:r>
          </a:p>
          <a:p>
            <a:r>
              <a:rPr lang="zh-CN" altLang="en-US" dirty="0"/>
              <a:t> HRRN 调度算法</a:t>
            </a:r>
            <a:r>
              <a:rPr lang="zh-CN" altLang="en-US" dirty="0">
                <a:solidFill>
                  <a:srgbClr val="0000FF"/>
                </a:solidFill>
              </a:rPr>
              <a:t>同时考虑每个作业的等待时间和要求服务时间</a:t>
            </a:r>
            <a:r>
              <a:rPr lang="zh-CN" altLang="en-US" dirty="0"/>
              <a:t>，从中选出响应比最高的作业投入执行。</a:t>
            </a:r>
          </a:p>
          <a:p>
            <a:r>
              <a:rPr lang="zh-CN" altLang="en-US" dirty="0"/>
              <a:t>一个进程（作业）的响应比R 定义如下：</a:t>
            </a:r>
          </a:p>
          <a:p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其中，</a:t>
            </a:r>
            <a:r>
              <a:rPr dirty="0">
                <a:sym typeface="+mn-ea"/>
              </a:rPr>
              <a:t>T</a:t>
            </a:r>
            <a:r>
              <a:rPr lang="zh-CN" altLang="en-US" dirty="0">
                <a:solidFill>
                  <a:schemeClr val="tx2"/>
                </a:solidFill>
              </a:rPr>
              <a:t>s</a:t>
            </a:r>
            <a:r>
              <a:rPr lang="zh-CN" altLang="en-US" dirty="0"/>
              <a:t> ′为该进程（作业）要求服务时间，Tw为进程（作业）的等待时间。</a:t>
            </a:r>
          </a:p>
        </p:txBody>
      </p:sp>
      <p:pic>
        <p:nvPicPr>
          <p:cNvPr id="4" name="图片 3" descr="A4LBLV}5O_6NHMJG3BK$L24"/>
          <p:cNvPicPr>
            <a:picLocks noChangeAspect="1"/>
          </p:cNvPicPr>
          <p:nvPr/>
        </p:nvPicPr>
        <p:blipFill>
          <a:blip r:embed="rId3"/>
          <a:srcRect l="41372" r="21289" b="35000"/>
          <a:stretch>
            <a:fillRect/>
          </a:stretch>
        </p:blipFill>
        <p:spPr>
          <a:xfrm>
            <a:off x="3203023" y="3703900"/>
            <a:ext cx="4191319" cy="96112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5.2.5 最高响应比优先调度算法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877" y="2926520"/>
            <a:ext cx="7604050" cy="3418524"/>
          </a:xfrm>
        </p:spPr>
        <p:txBody>
          <a:bodyPr>
            <a:normAutofit fontScale="97500"/>
          </a:bodyPr>
          <a:lstStyle/>
          <a:p>
            <a:r>
              <a:rPr lang="zh-CN" altLang="en-US" dirty="0"/>
              <a:t>若等待时间相同，则要求服务时间越短，其响应比越</a:t>
            </a:r>
          </a:p>
          <a:p>
            <a:r>
              <a:rPr lang="zh-CN" altLang="en-US" dirty="0"/>
              <a:t>若要求服务时间相同，则等待时间越长，其响应比越</a:t>
            </a:r>
          </a:p>
          <a:p>
            <a:r>
              <a:rPr lang="zh-CN" altLang="en-US" dirty="0"/>
              <a:t>对于长进程（作业），响应比可以随着等待时间的增加而相应地提高，使长进程获得CPU 的可能性逐步提高，从而避免了饥饿现象。</a:t>
            </a:r>
          </a:p>
          <a:p>
            <a:r>
              <a:rPr lang="zh-CN" altLang="en-US" dirty="0"/>
              <a:t>由于每次调度前都需要计算响应比，计算开销大。</a:t>
            </a:r>
          </a:p>
        </p:txBody>
      </p:sp>
      <p:pic>
        <p:nvPicPr>
          <p:cNvPr id="4" name="图片 3" descr="A4LBLV}5O_6NHMJG3BK$L24"/>
          <p:cNvPicPr>
            <a:picLocks noChangeAspect="1"/>
          </p:cNvPicPr>
          <p:nvPr/>
        </p:nvPicPr>
        <p:blipFill>
          <a:blip r:embed="rId3"/>
          <a:srcRect l="41372" r="21289" b="35000"/>
          <a:stretch>
            <a:fillRect/>
          </a:stretch>
        </p:blipFill>
        <p:spPr>
          <a:xfrm>
            <a:off x="809907" y="1200219"/>
            <a:ext cx="5869932" cy="134605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A8C6904-A1BC-AC79-E82F-E07D1C8ACECA}"/>
              </a:ext>
            </a:extLst>
          </p:cNvPr>
          <p:cNvSpPr txBox="1"/>
          <p:nvPr/>
        </p:nvSpPr>
        <p:spPr>
          <a:xfrm>
            <a:off x="7850459" y="2969865"/>
            <a:ext cx="391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高</a:t>
            </a:r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rgbClr val="0000FF"/>
                </a:solidFill>
              </a:rPr>
              <a:t>有利于短进程（作业）。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4A8CA0-F778-E937-DF80-877EBAC81635}"/>
              </a:ext>
            </a:extLst>
          </p:cNvPr>
          <p:cNvSpPr txBox="1"/>
          <p:nvPr/>
        </p:nvSpPr>
        <p:spPr>
          <a:xfrm>
            <a:off x="7850459" y="3561860"/>
            <a:ext cx="4105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高</a:t>
            </a:r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olidFill>
                  <a:srgbClr val="0000FF"/>
                </a:solidFill>
              </a:rPr>
              <a:t>等价于FCFS 调度算法。</a:t>
            </a:r>
          </a:p>
        </p:txBody>
      </p:sp>
      <p:sp>
        <p:nvSpPr>
          <p:cNvPr id="7" name="思想气泡: 云 6">
            <a:extLst>
              <a:ext uri="{FF2B5EF4-FFF2-40B4-BE49-F238E27FC236}">
                <a16:creationId xmlns:a16="http://schemas.microsoft.com/office/drawing/2014/main" id="{86CF7AD3-1D3D-A8C2-8E64-502E1C748A14}"/>
              </a:ext>
            </a:extLst>
          </p:cNvPr>
          <p:cNvSpPr/>
          <p:nvPr/>
        </p:nvSpPr>
        <p:spPr>
          <a:xfrm>
            <a:off x="7850459" y="819970"/>
            <a:ext cx="1918009" cy="1119151"/>
          </a:xfrm>
          <a:prstGeom prst="cloudCallout">
            <a:avLst>
              <a:gd name="adj1" fmla="val -50484"/>
              <a:gd name="adj2" fmla="val 1324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高？低？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5.2.5 最高响应比优先调度算法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3365" y="5631365"/>
            <a:ext cx="10968990" cy="1030899"/>
          </a:xfrm>
        </p:spPr>
        <p:txBody>
          <a:bodyPr>
            <a:normAutofit fontScale="90000" lnSpcReduction="10000"/>
          </a:bodyPr>
          <a:lstStyle/>
          <a:p>
            <a:r>
              <a:rPr lang="zh-CN" altLang="en-US" dirty="0"/>
              <a:t>通过对比可以看出，HRRN 调度算法的平均带权周转时间介于FCFS 调度算法和SPF 调度算法之间。</a:t>
            </a:r>
          </a:p>
          <a:p>
            <a:endParaRPr lang="zh-CN" altLang="en-US" dirty="0"/>
          </a:p>
        </p:txBody>
      </p:sp>
      <p:pic>
        <p:nvPicPr>
          <p:cNvPr id="4" name="图片 3" descr="A{@XRE%`}C`P(T`N]Q)P$VP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rcRect t="11109" r="61298" b="14022"/>
          <a:stretch>
            <a:fillRect/>
          </a:stretch>
        </p:blipFill>
        <p:spPr>
          <a:xfrm>
            <a:off x="8062332" y="0"/>
            <a:ext cx="4129668" cy="2274625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C9F1646-F9E3-2E88-224D-B86A0F332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609857"/>
              </p:ext>
            </p:extLst>
          </p:nvPr>
        </p:nvGraphicFramePr>
        <p:xfrm>
          <a:off x="106211" y="2367693"/>
          <a:ext cx="10969623" cy="6858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420902594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981140449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823775361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58120394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818886999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33887349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223584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进程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F0BD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F0BD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60BD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58BC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到达时刻 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F0BD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B8B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58BC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C0BD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服务时间 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B8BF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C8C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58BC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00C0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开始执行时间 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effectLst/>
                        </a:rPr>
                        <a:t>/ms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C8C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0C5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58BC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B0C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完成时间 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10C5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48CC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58BC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90C6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</a:rPr>
                        <a:t>周转时间 </a:t>
                      </a:r>
                      <a:r>
                        <a:rPr lang="en-US" altLang="zh-CN" b="1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ms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48CC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90BA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58BC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50CA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</a:rPr>
                        <a:t>带权周转时间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90BA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90BA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90BA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90BA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8408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8D2FF13-E2E9-34DC-1682-BE778EDDA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900818"/>
              </p:ext>
            </p:extLst>
          </p:nvPr>
        </p:nvGraphicFramePr>
        <p:xfrm>
          <a:off x="106211" y="3053493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3271991531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4149840692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68110382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244603571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82983964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698951932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239191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90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A8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8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30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A8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09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60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8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D09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289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8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8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289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289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8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8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289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289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0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8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289D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09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90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8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09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09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80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609B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02356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B1E987E-B41F-A6D8-AA6B-A170AB2D4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408833"/>
              </p:ext>
            </p:extLst>
          </p:nvPr>
        </p:nvGraphicFramePr>
        <p:xfrm>
          <a:off x="106211" y="3485139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232774477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363786156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925652015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792010647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416907195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592228939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9501181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B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B0A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30A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0A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30A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30A9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58A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0A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6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1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0A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0A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1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E8A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0A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9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1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0A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0A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7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10B7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28A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E8A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0A8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1.17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28A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F8A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0862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40A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79342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28B2DBE-873A-F32F-638D-07274DB0B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627125"/>
              </p:ext>
            </p:extLst>
          </p:nvPr>
        </p:nvGraphicFramePr>
        <p:xfrm>
          <a:off x="106211" y="3916785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3908856267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025667328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953996586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338519877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59012575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160450322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137891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C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387D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507D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8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0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507D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08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8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0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808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08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0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C0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9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808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08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C0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8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13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808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585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F0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C0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9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585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87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8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07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2.25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87B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987D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06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387D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09681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A4F9FAA-6144-7E35-ACAF-78292A1D9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900689"/>
              </p:ext>
            </p:extLst>
          </p:nvPr>
        </p:nvGraphicFramePr>
        <p:xfrm>
          <a:off x="106210" y="4350910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194271922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866874910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665861479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45820262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387275532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413300449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336952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E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B89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48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409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09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8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48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58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B89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30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58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58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0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48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13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58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0A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589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48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15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D0A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18C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0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48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7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18C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09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0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489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3.5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809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6894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07E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709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436594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CBCBE62-F456-7CA3-6CB7-0AF7D8A9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744636"/>
              </p:ext>
            </p:extLst>
          </p:nvPr>
        </p:nvGraphicFramePr>
        <p:xfrm>
          <a:off x="117360" y="4781161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1399056965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713932727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076182680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376057764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888350570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072545255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504025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D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8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D80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E00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B8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6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D80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C80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E8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B8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5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C80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C80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28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C00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15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C80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781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0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28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20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781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581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A0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B8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14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581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E8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10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E8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2.8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80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380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78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680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2294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2EB35E3-49DF-FA7C-49C2-3832E4342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402792"/>
              </p:ext>
            </p:extLst>
          </p:nvPr>
        </p:nvGraphicFramePr>
        <p:xfrm>
          <a:off x="106209" y="5210789"/>
          <a:ext cx="10969623" cy="419100"/>
        </p:xfrm>
        <a:graphic>
          <a:graphicData uri="http://schemas.openxmlformats.org/drawingml/2006/table">
            <a:tbl>
              <a:tblPr/>
              <a:tblGrid>
                <a:gridCol w="1567089">
                  <a:extLst>
                    <a:ext uri="{9D8B030D-6E8A-4147-A177-3AD203B41FA5}">
                      <a16:colId xmlns:a16="http://schemas.microsoft.com/office/drawing/2014/main" val="2352839881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4261421712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1756425881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59862093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823553946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2714129526"/>
                    </a:ext>
                  </a:extLst>
                </a:gridCol>
                <a:gridCol w="1567089">
                  <a:extLst>
                    <a:ext uri="{9D8B030D-6E8A-4147-A177-3AD203B41FA5}">
                      <a16:colId xmlns:a16="http://schemas.microsoft.com/office/drawing/2014/main" val="34844349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平均值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E04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B04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C04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684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—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B04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784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304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84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—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784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784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684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84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—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784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784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C04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84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—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784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784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484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D84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8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7849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804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D84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F84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2.14</a:t>
                      </a:r>
                    </a:p>
                  </a:txBody>
                  <a:tcPr marL="114300" marR="114300" marT="76200" marB="76200" anchor="ctr">
                    <a:lnL w="4699" cap="flat" cmpd="sng" algn="ctr">
                      <a:solidFill>
                        <a:srgbClr val="804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699" cap="flat" cmpd="sng" algn="ctr">
                      <a:solidFill>
                        <a:srgbClr val="6847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699" cap="flat" cmpd="sng" algn="ctr">
                      <a:solidFill>
                        <a:srgbClr val="200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699" cap="flat" cmpd="sng" algn="ctr">
                      <a:solidFill>
                        <a:srgbClr val="A84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73396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5.2.5 最高响应比优先调度算法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64896"/>
            <a:ext cx="10968990" cy="810204"/>
          </a:xfrm>
        </p:spPr>
        <p:txBody>
          <a:bodyPr>
            <a:normAutofit/>
          </a:bodyPr>
          <a:lstStyle/>
          <a:p>
            <a:r>
              <a:rPr lang="zh-CN" altLang="en-US" dirty="0"/>
              <a:t>进程的调度顺序为A→B→C→E→D。</a:t>
            </a:r>
          </a:p>
        </p:txBody>
      </p:sp>
      <p:graphicFrame>
        <p:nvGraphicFramePr>
          <p:cNvPr id="5" name="对象 4"/>
          <p:cNvGraphicFramePr/>
          <p:nvPr>
            <p:extLst>
              <p:ext uri="{D42A27DB-BD31-4B8C-83A1-F6EECF244321}">
                <p14:modId xmlns:p14="http://schemas.microsoft.com/office/powerpoint/2010/main" val="2552043472"/>
              </p:ext>
            </p:extLst>
          </p:nvPr>
        </p:nvGraphicFramePr>
        <p:xfrm>
          <a:off x="920846" y="2120026"/>
          <a:ext cx="9293671" cy="2407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156960" imgH="1097280" progId="Paint.Picture">
                  <p:embed/>
                </p:oleObj>
              </mc:Choice>
              <mc:Fallback>
                <p:oleObj r:id="rId3" imgW="6156960" imgH="109728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0846" y="2120026"/>
                        <a:ext cx="9293671" cy="24073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E3003-980E-22AA-EA70-11917D5EA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95" y="114370"/>
            <a:ext cx="1656531" cy="705600"/>
          </a:xfrm>
        </p:spPr>
        <p:txBody>
          <a:bodyPr/>
          <a:lstStyle/>
          <a:p>
            <a:r>
              <a:rPr lang="zh-CN" altLang="en-US"/>
              <a:t>举例</a:t>
            </a:r>
            <a:endParaRPr lang="zh-CN" altLang="en-US" dirty="0"/>
          </a:p>
        </p:txBody>
      </p:sp>
      <p:pic>
        <p:nvPicPr>
          <p:cNvPr id="5" name="内容占位符 4" descr="表格&#10;&#10;描述已自动生成">
            <a:extLst>
              <a:ext uri="{FF2B5EF4-FFF2-40B4-BE49-F238E27FC236}">
                <a16:creationId xmlns:a16="http://schemas.microsoft.com/office/drawing/2014/main" id="{551059C6-B652-1C68-3F19-E95EBC5B1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666" y="4139541"/>
            <a:ext cx="8000814" cy="1915572"/>
          </a:xfrm>
        </p:spPr>
      </p:pic>
      <p:pic>
        <p:nvPicPr>
          <p:cNvPr id="7" name="图片 6" descr="表格&#10;&#10;描述已自动生成">
            <a:extLst>
              <a:ext uri="{FF2B5EF4-FFF2-40B4-BE49-F238E27FC236}">
                <a16:creationId xmlns:a16="http://schemas.microsoft.com/office/drawing/2014/main" id="{4A5C2133-B717-98D2-6A37-089676FD9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211" y="1022158"/>
            <a:ext cx="5473981" cy="251472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3E7865C-FA91-98B4-2C79-CA88424D3EED}"/>
              </a:ext>
            </a:extLst>
          </p:cNvPr>
          <p:cNvSpPr txBox="1"/>
          <p:nvPr/>
        </p:nvSpPr>
        <p:spPr>
          <a:xfrm>
            <a:off x="1252808" y="1183984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响应比高者优先调度算法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8954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E823D-2182-5575-A300-B1EB1262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615" y="850351"/>
            <a:ext cx="7788824" cy="705600"/>
          </a:xfrm>
        </p:spPr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ADA532-E8DD-52BA-1E2E-8A9E1A313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2129883"/>
            <a:ext cx="10968990" cy="4119787"/>
          </a:xfrm>
        </p:spPr>
        <p:txBody>
          <a:bodyPr/>
          <a:lstStyle/>
          <a:p>
            <a:r>
              <a:rPr lang="zh-CN" altLang="en-US" dirty="0"/>
              <a:t>判断对错：短作业优先调度算法能使平均周转时间最短，但可能会导致长作业长时间得不到执行。（ 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判断对错：在可抢占优先级调度算法中，当一个高优先级进程就绪时，如果当前正在执行的进程是低优先级进程，那么高优先级进程会抢占 </a:t>
            </a:r>
            <a:r>
              <a:rPr lang="en-US" altLang="zh-CN" dirty="0"/>
              <a:t>CPU </a:t>
            </a:r>
            <a:r>
              <a:rPr lang="zh-CN" altLang="en-US" dirty="0"/>
              <a:t>资源开始执行，低优先级进程会被重新放回就绪队列。（ ）</a:t>
            </a:r>
          </a:p>
        </p:txBody>
      </p:sp>
    </p:spTree>
    <p:extLst>
      <p:ext uri="{BB962C8B-B14F-4D97-AF65-F5344CB8AC3E}">
        <p14:creationId xmlns:p14="http://schemas.microsoft.com/office/powerpoint/2010/main" val="45421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5.2.3 轮转调度算法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13461"/>
            <a:ext cx="10968990" cy="3291840"/>
          </a:xfrm>
        </p:spPr>
        <p:txBody>
          <a:bodyPr>
            <a:normAutofit/>
          </a:bodyPr>
          <a:lstStyle/>
          <a:p>
            <a:r>
              <a:rPr lang="zh-CN" altLang="en-US" dirty="0"/>
              <a:t>基于时钟的轮转（Round Robin，RR）调度算法用于</a:t>
            </a:r>
            <a:r>
              <a:rPr lang="zh-CN" altLang="en-US" dirty="0">
                <a:solidFill>
                  <a:srgbClr val="FF0000"/>
                </a:solidFill>
              </a:rPr>
              <a:t>低级调度</a:t>
            </a:r>
            <a:r>
              <a:rPr lang="zh-CN" altLang="en-US" dirty="0"/>
              <a:t>，专为分时操作系统设计。</a:t>
            </a:r>
          </a:p>
          <a:p>
            <a:pPr lvl="1"/>
            <a:r>
              <a:rPr lang="zh-CN" altLang="en-US" dirty="0"/>
              <a:t> RR 调度算法是</a:t>
            </a:r>
            <a:r>
              <a:rPr lang="zh-CN" altLang="en-US" dirty="0">
                <a:solidFill>
                  <a:srgbClr val="FF0000"/>
                </a:solidFill>
              </a:rPr>
              <a:t>以时间片为单位轮流为每个就绪进程服务</a:t>
            </a:r>
            <a:r>
              <a:rPr lang="zh-CN" altLang="en-US" dirty="0"/>
              <a:t>，从而保证所有的就绪进程在一个确定的时间段内，都能够获得一次CPU 执行。</a:t>
            </a:r>
          </a:p>
          <a:p>
            <a:pPr lvl="0"/>
            <a:r>
              <a:rPr lang="zh-CN" altLang="en-US" dirty="0"/>
              <a:t>RR 调度算法是一种抢占式调度算法。</a:t>
            </a:r>
          </a:p>
        </p:txBody>
      </p:sp>
      <p:pic>
        <p:nvPicPr>
          <p:cNvPr id="4" name="图片 3" descr="_[YWF3POUM)4CU%D(Q~N_SU">
            <a:extLst>
              <a:ext uri="{FF2B5EF4-FFF2-40B4-BE49-F238E27FC236}">
                <a16:creationId xmlns:a16="http://schemas.microsoft.com/office/drawing/2014/main" id="{3291C2B6-8639-492D-AAF0-E0C9F9D7D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22" y="3808988"/>
            <a:ext cx="10977119" cy="27112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5.2.3 轮转调度算法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27456"/>
            <a:ext cx="10968990" cy="3801744"/>
          </a:xfrm>
        </p:spPr>
        <p:txBody>
          <a:bodyPr/>
          <a:lstStyle/>
          <a:p>
            <a:r>
              <a:rPr lang="zh-CN" altLang="en-US" dirty="0"/>
              <a:t>时间片是一个很小的时间单位。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时间片的长度</a:t>
            </a:r>
            <a:r>
              <a:rPr lang="zh-CN" altLang="en-US" dirty="0"/>
              <a:t>是影响调度性能的一个重要指标。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如果时间片很长</a:t>
            </a:r>
            <a:r>
              <a:rPr lang="zh-CN" altLang="en-US" dirty="0"/>
              <a:t>，长到大多数进程在一个时间片内都能够完成，RR调度算法就</a:t>
            </a:r>
            <a:r>
              <a:rPr lang="zh-CN" altLang="en-US" dirty="0">
                <a:solidFill>
                  <a:srgbClr val="FF0000"/>
                </a:solidFill>
              </a:rPr>
              <a:t>退化为FCFS调度算法</a:t>
            </a:r>
            <a:r>
              <a:rPr lang="zh-CN" altLang="en-US" dirty="0"/>
              <a:t>；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如果时间片很短</a:t>
            </a:r>
            <a:r>
              <a:rPr lang="zh-CN" altLang="en-US" dirty="0"/>
              <a:t>，短到用户的一次交互需要若干调度才能完成，那么频繁地切换进程会导致</a:t>
            </a:r>
            <a:r>
              <a:rPr lang="zh-CN" altLang="en-US" dirty="0">
                <a:solidFill>
                  <a:srgbClr val="FF0000"/>
                </a:solidFill>
              </a:rPr>
              <a:t>切换开销增大</a:t>
            </a:r>
            <a:r>
              <a:rPr lang="zh-CN" altLang="en-US" dirty="0"/>
              <a:t>，用户响应时间增长。</a:t>
            </a:r>
          </a:p>
          <a:p>
            <a:pPr lvl="1"/>
            <a:r>
              <a:rPr lang="zh-CN" altLang="en-US" dirty="0"/>
              <a:t>因此，时间片的长度要略大于一次典型交互活动所需的时间。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8C1ADA-2698-4430-8A19-19A6223A0897}"/>
              </a:ext>
            </a:extLst>
          </p:cNvPr>
          <p:cNvSpPr txBox="1"/>
          <p:nvPr/>
        </p:nvSpPr>
        <p:spPr>
          <a:xfrm>
            <a:off x="849970" y="5240222"/>
            <a:ext cx="10968990" cy="113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</a:rPr>
              <a:t>      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00"/>
                </a:highlight>
              </a:rPr>
              <a:t>openEuler</a:t>
            </a:r>
            <a:r>
              <a:rPr lang="zh-CN" alt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实现了此算法，与优先级调度结合实现的，默认时间片是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00"/>
                </a:highlight>
              </a:rPr>
              <a:t>6ms</a:t>
            </a:r>
            <a:r>
              <a:rPr lang="zh-CN" alt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。可以使用</a:t>
            </a:r>
            <a:r>
              <a:rPr lang="en-US" altLang="zh-CN" sz="2400" dirty="0" err="1">
                <a:solidFill>
                  <a:srgbClr val="0000FF"/>
                </a:solidFill>
                <a:highlight>
                  <a:srgbClr val="FFFF00"/>
                </a:highlight>
              </a:rPr>
              <a:t>openEuler</a:t>
            </a:r>
            <a:r>
              <a:rPr lang="zh-CN" alt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提供的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00"/>
                </a:highlight>
              </a:rPr>
              <a:t>A-Tune</a:t>
            </a:r>
            <a:r>
              <a:rPr lang="zh-CN" alt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工具对时间片大小自动调优。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03D69-101C-084D-D3B6-D6902A19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BE3DF6-BAB5-1190-1B97-3F9320F3B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05" y="819970"/>
            <a:ext cx="10968990" cy="542471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Windows 10/11</a:t>
            </a:r>
            <a:r>
              <a:rPr lang="zh-CN" altLang="en-US" dirty="0"/>
              <a:t>、</a:t>
            </a:r>
            <a:r>
              <a:rPr lang="en-US" altLang="zh-CN" dirty="0"/>
              <a:t>Linux 5.x+</a:t>
            </a:r>
            <a:r>
              <a:rPr lang="zh-CN" altLang="en-US" dirty="0"/>
              <a:t>、</a:t>
            </a:r>
            <a:r>
              <a:rPr lang="en-US" altLang="zh-CN" dirty="0"/>
              <a:t>macOS 12+</a:t>
            </a:r>
            <a:r>
              <a:rPr lang="zh-CN" altLang="en-US" dirty="0"/>
              <a:t>的时间片没有固定值</a:t>
            </a:r>
            <a:r>
              <a:rPr lang="en-US" altLang="zh-CN" dirty="0"/>
              <a:t>,</a:t>
            </a:r>
            <a:r>
              <a:rPr lang="zh-CN" altLang="en-US" dirty="0"/>
              <a:t>范围为 </a:t>
            </a:r>
            <a:r>
              <a:rPr lang="en-US" altLang="zh-CN" b="1" dirty="0"/>
              <a:t>10ms-100ms</a:t>
            </a:r>
            <a:r>
              <a:rPr lang="zh-CN" altLang="en-US" dirty="0"/>
              <a:t>，且随系统负载、进程类型灵活变化。</a:t>
            </a:r>
            <a:endParaRPr lang="en-US" altLang="zh-CN" dirty="0"/>
          </a:p>
          <a:p>
            <a:r>
              <a:rPr lang="en-US" altLang="zh-CN" b="1" dirty="0"/>
              <a:t>Windows 10/11 </a:t>
            </a:r>
            <a:r>
              <a:rPr lang="zh-CN" altLang="en-US" b="1" dirty="0"/>
              <a:t>时间片规则</a:t>
            </a:r>
          </a:p>
          <a:p>
            <a:pPr lvl="1"/>
            <a:r>
              <a:rPr lang="zh-CN" altLang="en-US" dirty="0"/>
              <a:t>基础范围：默认情况下，普通进程时间片为 </a:t>
            </a:r>
            <a:r>
              <a:rPr lang="en-US" altLang="zh-CN" b="1" dirty="0"/>
              <a:t>10ms-30ms</a:t>
            </a:r>
            <a:r>
              <a:rPr lang="zh-CN" altLang="en-US" dirty="0"/>
              <a:t>，实时进程时间片固定为 </a:t>
            </a:r>
            <a:r>
              <a:rPr lang="en-US" altLang="zh-CN" b="1" dirty="0"/>
              <a:t>10ms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动态调整逻辑：</a:t>
            </a:r>
          </a:p>
          <a:p>
            <a:pPr lvl="2"/>
            <a:r>
              <a:rPr lang="zh-CN" altLang="en-US" dirty="0"/>
              <a:t>系统负载低（</a:t>
            </a:r>
            <a:r>
              <a:rPr lang="en-US" altLang="zh-CN" dirty="0"/>
              <a:t>CPU </a:t>
            </a:r>
            <a:r>
              <a:rPr lang="zh-CN" altLang="en-US" dirty="0"/>
              <a:t>使用率＜</a:t>
            </a:r>
            <a:r>
              <a:rPr lang="en-US" altLang="zh-CN" dirty="0"/>
              <a:t>50%</a:t>
            </a:r>
            <a:r>
              <a:rPr lang="zh-CN" altLang="en-US" dirty="0"/>
              <a:t>）时，时间片会延长至 </a:t>
            </a:r>
            <a:r>
              <a:rPr lang="en-US" altLang="zh-CN" dirty="0"/>
              <a:t>30ms</a:t>
            </a:r>
            <a:r>
              <a:rPr lang="zh-CN" altLang="en-US" dirty="0"/>
              <a:t>，减少进程切换开销。</a:t>
            </a:r>
          </a:p>
          <a:p>
            <a:pPr lvl="2"/>
            <a:r>
              <a:rPr lang="zh-CN" altLang="en-US" dirty="0"/>
              <a:t>系统负载高（</a:t>
            </a:r>
            <a:r>
              <a:rPr lang="en-US" altLang="zh-CN" dirty="0"/>
              <a:t>CPU </a:t>
            </a:r>
            <a:r>
              <a:rPr lang="zh-CN" altLang="en-US" dirty="0"/>
              <a:t>使用率＞</a:t>
            </a:r>
            <a:r>
              <a:rPr lang="en-US" altLang="zh-CN" dirty="0"/>
              <a:t>80%</a:t>
            </a:r>
            <a:r>
              <a:rPr lang="zh-CN" altLang="en-US" dirty="0"/>
              <a:t>）时，时间片缩短至 </a:t>
            </a:r>
            <a:r>
              <a:rPr lang="en-US" altLang="zh-CN" dirty="0"/>
              <a:t>10ms</a:t>
            </a:r>
            <a:r>
              <a:rPr lang="zh-CN" altLang="en-US" dirty="0"/>
              <a:t>，提升多进程响应速度。</a:t>
            </a:r>
          </a:p>
          <a:p>
            <a:pPr lvl="2"/>
            <a:r>
              <a:rPr lang="zh-CN" altLang="en-US" dirty="0"/>
              <a:t>前台交互进程（如浏览器、办公软件）的时间片比后台进程长 </a:t>
            </a:r>
            <a:r>
              <a:rPr lang="en-US" altLang="zh-CN" dirty="0"/>
              <a:t>50%-100%</a:t>
            </a:r>
            <a:r>
              <a:rPr lang="zh-CN" altLang="en-US" dirty="0"/>
              <a:t>，保障操作流畅性。</a:t>
            </a:r>
          </a:p>
          <a:p>
            <a:r>
              <a:rPr lang="en-US" altLang="zh-CN" b="1" dirty="0"/>
              <a:t>Linux</a:t>
            </a:r>
            <a:r>
              <a:rPr lang="zh-CN" altLang="en-US" b="1" dirty="0"/>
              <a:t>无固定时间片，</a:t>
            </a:r>
            <a:r>
              <a:rPr lang="zh-CN" altLang="en-US" dirty="0"/>
              <a:t>按进程权重动态分配 </a:t>
            </a:r>
            <a:r>
              <a:rPr lang="en-US" altLang="zh-CN" dirty="0"/>
              <a:t>CPU </a:t>
            </a:r>
            <a:r>
              <a:rPr lang="zh-CN" altLang="en-US" dirty="0"/>
              <a:t>时间：</a:t>
            </a:r>
            <a:endParaRPr lang="en-US" altLang="zh-CN" dirty="0"/>
          </a:p>
          <a:p>
            <a:pPr lvl="1"/>
            <a:r>
              <a:rPr lang="zh-CN" altLang="en-US" dirty="0"/>
              <a:t>优先级越高，权重越大，获得的 </a:t>
            </a:r>
            <a:r>
              <a:rPr lang="en-US" altLang="zh-CN" dirty="0"/>
              <a:t>CPU </a:t>
            </a:r>
            <a:r>
              <a:rPr lang="zh-CN" altLang="en-US" dirty="0"/>
              <a:t>时间占比越高</a:t>
            </a:r>
          </a:p>
        </p:txBody>
      </p:sp>
    </p:spTree>
    <p:extLst>
      <p:ext uri="{BB962C8B-B14F-4D97-AF65-F5344CB8AC3E}">
        <p14:creationId xmlns:p14="http://schemas.microsoft.com/office/powerpoint/2010/main" val="202459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5.2.3 轮转调度算法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1106170"/>
            <a:ext cx="10968990" cy="5295900"/>
          </a:xfrm>
        </p:spPr>
        <p:txBody>
          <a:bodyPr/>
          <a:lstStyle/>
          <a:p>
            <a:r>
              <a:rPr lang="zh-CN" altLang="en-US"/>
              <a:t>在时间片q = 1和q = 4 的情况下，各进程的调度顺序及详细执行情况如下图所示。</a:t>
            </a:r>
          </a:p>
        </p:txBody>
      </p:sp>
      <p:graphicFrame>
        <p:nvGraphicFramePr>
          <p:cNvPr id="4" name="对象 3"/>
          <p:cNvGraphicFramePr/>
          <p:nvPr>
            <p:extLst>
              <p:ext uri="{D42A27DB-BD31-4B8C-83A1-F6EECF244321}">
                <p14:modId xmlns:p14="http://schemas.microsoft.com/office/powerpoint/2010/main" val="1305649993"/>
              </p:ext>
            </p:extLst>
          </p:nvPr>
        </p:nvGraphicFramePr>
        <p:xfrm>
          <a:off x="2106295" y="2477770"/>
          <a:ext cx="7928956" cy="3112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126480" imgH="1912620" progId="Paint.Picture">
                  <p:embed/>
                </p:oleObj>
              </mc:Choice>
              <mc:Fallback>
                <p:oleObj r:id="rId3" imgW="6126480" imgH="191262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6295" y="2477770"/>
                        <a:ext cx="7928956" cy="31128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5.2.3 轮转调度算法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994410"/>
            <a:ext cx="10968990" cy="5397500"/>
          </a:xfrm>
        </p:spPr>
        <p:txBody>
          <a:bodyPr/>
          <a:lstStyle/>
          <a:p>
            <a:r>
              <a:rPr lang="zh-CN" altLang="en-US"/>
              <a:t>在时间片q = 1和q = 4 的情况下，表5-5 列出了各进程周转时间、带权周转时间等指标值。</a:t>
            </a:r>
          </a:p>
        </p:txBody>
      </p:sp>
      <p:pic>
        <p:nvPicPr>
          <p:cNvPr id="4" name="图片 3" descr="F~XQR[]}AA@HAO%M`F)N1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" y="2071370"/>
            <a:ext cx="9001760" cy="44119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5FD8C-BE12-4B9E-9B45-A82EF47F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304" y="1118790"/>
            <a:ext cx="10969200" cy="43800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再例：</a:t>
            </a:r>
            <a:r>
              <a:rPr lang="en-US" altLang="zh-CN" dirty="0"/>
              <a:t>q=1</a:t>
            </a:r>
            <a:r>
              <a:rPr lang="zh-CN" altLang="en-US" dirty="0"/>
              <a:t>与</a:t>
            </a:r>
            <a:r>
              <a:rPr lang="en-US" altLang="zh-CN" dirty="0"/>
              <a:t>q=4</a:t>
            </a:r>
            <a:r>
              <a:rPr lang="zh-CN" altLang="en-US" dirty="0"/>
              <a:t>的对比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F983873-A55C-4282-9AEC-D4B7727D2B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51612" y="1692797"/>
            <a:ext cx="9604733" cy="360840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224249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5.2.3 轮转调度算法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特点：</a:t>
            </a:r>
          </a:p>
          <a:p>
            <a:pPr lvl="1"/>
            <a:r>
              <a:rPr lang="zh-CN" altLang="en-US" dirty="0"/>
              <a:t>RR调度算法简单易行，进程的平均响应时间短，交互性好，但</a:t>
            </a:r>
            <a:r>
              <a:rPr lang="zh-CN" altLang="en-US" dirty="0">
                <a:solidFill>
                  <a:srgbClr val="FF0000"/>
                </a:solidFill>
              </a:rPr>
              <a:t>不利于处理紧急任务</a:t>
            </a:r>
            <a:r>
              <a:rPr lang="zh-CN" altLang="en-US" dirty="0"/>
              <a:t>。因此，RR 调度算法适用于分时操作系统，但不适用于实时系统。</a:t>
            </a:r>
          </a:p>
          <a:p>
            <a:pPr lvl="1"/>
            <a:r>
              <a:rPr lang="zh-CN" altLang="en-US" dirty="0"/>
              <a:t>另外，</a:t>
            </a:r>
            <a:r>
              <a:rPr lang="zh-CN" altLang="en-US" dirty="0">
                <a:solidFill>
                  <a:srgbClr val="0000FF"/>
                </a:solidFill>
              </a:rPr>
              <a:t>RR 调度算法不利于处理I/O 操作频繁的进程</a:t>
            </a:r>
            <a:r>
              <a:rPr lang="zh-CN" altLang="en-US" dirty="0"/>
              <a:t>，因为这些进程通常运行不完一个时间片就阻塞了，等它完成了I/O 操作后，又要和其他进程一样排队。所以这类进程的周转时间会比不需要I/O 操作或I/O 操作少的进程要长得多。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改进的RR 调度算法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43610"/>
            <a:ext cx="6598285" cy="5306060"/>
          </a:xfrm>
        </p:spPr>
        <p:txBody>
          <a:bodyPr>
            <a:normAutofit fontScale="90000" lnSpcReduction="10000"/>
          </a:bodyPr>
          <a:lstStyle/>
          <a:p>
            <a:r>
              <a:rPr lang="zh-CN" altLang="en-US" dirty="0"/>
              <a:t>新进程到达后，首先进入就绪队列。按照先来先服务原则，以时间片为单位进行调度。</a:t>
            </a:r>
          </a:p>
          <a:p>
            <a:pPr lvl="1"/>
            <a:r>
              <a:rPr lang="zh-CN" altLang="en-US" dirty="0"/>
              <a:t>如果该进程的时间片用完后，仍然转入就绪队列的队尾排队。</a:t>
            </a:r>
          </a:p>
          <a:p>
            <a:pPr lvl="1"/>
            <a:r>
              <a:rPr lang="zh-CN" altLang="en-US" dirty="0"/>
              <a:t>当该进程因I/O 操作而被阻塞时，会转入一个阻塞队列。当I/O 操作完成，该阻塞进程被唤醒时不是进入就绪队列而是进入一个辅助队列。</a:t>
            </a:r>
          </a:p>
          <a:p>
            <a:r>
              <a:rPr lang="zh-CN" altLang="en-US" dirty="0"/>
              <a:t>在调度时，辅助队列的进程优先于就绪队列的进程。</a:t>
            </a:r>
          </a:p>
          <a:p>
            <a:r>
              <a:rPr lang="zh-CN" altLang="en-US" dirty="0"/>
              <a:t>改进的RR 调度算法在公平性方面优于一般的RR调度算法。</a:t>
            </a:r>
          </a:p>
        </p:txBody>
      </p:sp>
      <p:pic>
        <p:nvPicPr>
          <p:cNvPr id="4" name="图片 3" descr="U[YRI9Z(20MX1R{R2PQ$5G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615" y="1703705"/>
            <a:ext cx="4586605" cy="39712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5.2.6 多级队列调度算法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120" y="1383276"/>
            <a:ext cx="10969200" cy="3669174"/>
          </a:xfrm>
        </p:spPr>
        <p:txBody>
          <a:bodyPr>
            <a:normAutofit/>
          </a:bodyPr>
          <a:lstStyle/>
          <a:p>
            <a:r>
              <a:rPr lang="zh-CN" altLang="en-US" dirty="0"/>
              <a:t>多级队列调度算法的主要思想：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组建多个就绪队列</a:t>
            </a:r>
            <a:r>
              <a:rPr lang="zh-CN" altLang="en-US" dirty="0"/>
              <a:t>，进程就绪后根据其类型或性质链接到相应的就绪队列，</a:t>
            </a:r>
            <a:r>
              <a:rPr lang="zh-CN" altLang="en-US" dirty="0">
                <a:solidFill>
                  <a:srgbClr val="0000FF"/>
                </a:solidFill>
              </a:rPr>
              <a:t>不同的就绪队列可以设置不同的优先级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同一个就绪队列中的进程也可以设置不同的优先级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由于设置多个就绪队列，</a:t>
            </a:r>
            <a:r>
              <a:rPr lang="zh-CN" altLang="en-US" dirty="0">
                <a:solidFill>
                  <a:srgbClr val="0000FF"/>
                </a:solidFill>
              </a:rPr>
              <a:t>允许对每个就绪队列实施不同的调度算法</a:t>
            </a:r>
            <a:r>
              <a:rPr lang="zh-CN" altLang="en-US" dirty="0"/>
              <a:t>，以满足不同用户进程的需求，实现调度策略的多样性。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5.2.7 多级反馈队列调度算法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27455"/>
            <a:ext cx="10968990" cy="3217223"/>
          </a:xfrm>
        </p:spPr>
        <p:txBody>
          <a:bodyPr>
            <a:normAutofit/>
          </a:bodyPr>
          <a:lstStyle/>
          <a:p>
            <a:r>
              <a:rPr lang="zh-CN" altLang="en-US" dirty="0"/>
              <a:t>多级反馈（Feedback，FB）队列调度算法就</a:t>
            </a:r>
            <a:r>
              <a:rPr lang="zh-CN" altLang="en-US" dirty="0">
                <a:solidFill>
                  <a:srgbClr val="0000FF"/>
                </a:solidFill>
              </a:rPr>
              <a:t>不必事先知道各进程所需的执行时间</a:t>
            </a:r>
            <a:r>
              <a:rPr lang="zh-CN" altLang="en-US" dirty="0"/>
              <a:t>，而且还可以满足各种类型进程的需要，因而它是目前被公认的一种较好的进程调度算法。</a:t>
            </a:r>
          </a:p>
          <a:p>
            <a:r>
              <a:rPr lang="zh-CN" altLang="en-US" dirty="0"/>
              <a:t>现在，FB 调度算法被很多操作系统所采用，最典型的有Windows NT 和UNIX统。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5.2.7 多级反馈队列调度算法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23926"/>
            <a:ext cx="6702425" cy="705600"/>
          </a:xfrm>
        </p:spPr>
        <p:txBody>
          <a:bodyPr>
            <a:normAutofit fontScale="97500"/>
          </a:bodyPr>
          <a:lstStyle/>
          <a:p>
            <a:r>
              <a:rPr lang="zh-CN" altLang="en-US" dirty="0"/>
              <a:t>FB 调度算法描述如下：</a:t>
            </a:r>
          </a:p>
        </p:txBody>
      </p:sp>
      <p:pic>
        <p:nvPicPr>
          <p:cNvPr id="4" name="图片 3" descr="_$HLWTA2KP_4JH517~UGK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476" y="1390383"/>
            <a:ext cx="5256875" cy="50229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CCB2A36-FB70-4837-8FBA-729F18F2AEA7}"/>
              </a:ext>
            </a:extLst>
          </p:cNvPr>
          <p:cNvSpPr txBox="1"/>
          <p:nvPr/>
        </p:nvSpPr>
        <p:spPr>
          <a:xfrm>
            <a:off x="7940233" y="1448554"/>
            <a:ext cx="37939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dirty="0"/>
              <a:t>系统总是从第一个就绪队列里的进程开始调度；只有前i-1 级就绪队列都为空时，才调度第i 级就绪队列中的进程。</a:t>
            </a: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dirty="0"/>
              <a:t>高优先级的进程可以</a:t>
            </a:r>
            <a:r>
              <a:rPr lang="zh-CN" altLang="en-US" sz="2400" b="1" dirty="0">
                <a:solidFill>
                  <a:srgbClr val="FF0000"/>
                </a:solidFill>
              </a:rPr>
              <a:t>抢占</a:t>
            </a:r>
            <a:r>
              <a:rPr lang="zh-CN" altLang="en-US" sz="2400" dirty="0"/>
              <a:t>当前运行进程的CPU。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11546E8-C722-4794-8776-0D26999E2FFF}"/>
              </a:ext>
            </a:extLst>
          </p:cNvPr>
          <p:cNvCxnSpPr/>
          <p:nvPr/>
        </p:nvCxnSpPr>
        <p:spPr>
          <a:xfrm>
            <a:off x="914400" y="1770927"/>
            <a:ext cx="0" cy="4085863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438993F-8FA6-4AFE-A50F-94BE41559B52}"/>
              </a:ext>
            </a:extLst>
          </p:cNvPr>
          <p:cNvCxnSpPr/>
          <p:nvPr/>
        </p:nvCxnSpPr>
        <p:spPr>
          <a:xfrm>
            <a:off x="1749709" y="1761277"/>
            <a:ext cx="0" cy="4085863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0487BFA-5262-400B-9841-C6DCF6F9601C}"/>
              </a:ext>
            </a:extLst>
          </p:cNvPr>
          <p:cNvSpPr txBox="1"/>
          <p:nvPr/>
        </p:nvSpPr>
        <p:spPr>
          <a:xfrm>
            <a:off x="1826765" y="1747778"/>
            <a:ext cx="44818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小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r>
              <a:rPr lang="zh-CN" altLang="en-US" sz="2000" b="1" dirty="0">
                <a:solidFill>
                  <a:srgbClr val="0000FF"/>
                </a:solidFill>
              </a:rPr>
              <a:t>时间片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r>
              <a:rPr lang="zh-CN" altLang="en-US" sz="2000" b="1" dirty="0">
                <a:solidFill>
                  <a:srgbClr val="0000FF"/>
                </a:solidFill>
              </a:rPr>
              <a:t>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077A10-FA7E-4322-9487-77D51EEA4960}"/>
              </a:ext>
            </a:extLst>
          </p:cNvPr>
          <p:cNvSpPr txBox="1"/>
          <p:nvPr/>
        </p:nvSpPr>
        <p:spPr>
          <a:xfrm>
            <a:off x="405014" y="1749705"/>
            <a:ext cx="44818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高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r>
              <a:rPr lang="zh-CN" altLang="en-US" sz="2000" b="1" dirty="0">
                <a:solidFill>
                  <a:srgbClr val="0000FF"/>
                </a:solidFill>
              </a:rPr>
              <a:t>优先级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endParaRPr lang="en-US" altLang="zh-CN" sz="2000" b="1" dirty="0">
              <a:solidFill>
                <a:srgbClr val="0000FF"/>
              </a:solidFill>
            </a:endParaRPr>
          </a:p>
          <a:p>
            <a:r>
              <a:rPr lang="zh-CN" altLang="en-US" sz="2000" b="1" dirty="0">
                <a:solidFill>
                  <a:srgbClr val="0000FF"/>
                </a:solidFill>
              </a:rPr>
              <a:t>低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5.2.7 多级反馈队列调度算法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27455"/>
            <a:ext cx="10968990" cy="2285179"/>
          </a:xfrm>
        </p:spPr>
        <p:txBody>
          <a:bodyPr>
            <a:normAutofit/>
          </a:bodyPr>
          <a:lstStyle/>
          <a:p>
            <a:r>
              <a:rPr lang="zh-CN" altLang="en-US" dirty="0"/>
              <a:t>FB 调度算法是一种抢占式、具有动态优先级机制的调度算法。</a:t>
            </a:r>
            <a:endParaRPr lang="en-US" altLang="zh-CN" dirty="0"/>
          </a:p>
          <a:p>
            <a:r>
              <a:rPr lang="zh-CN" altLang="en-US" dirty="0"/>
              <a:t>FB 调度算法向短进程、I/O 操作繁忙进程和交互式进程倾斜。对于长进程，它将依次在n 个就绪队列中运行，然后按照轮转方式执行，用户也不必担心进程长期得不到处理。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5.2.7 多级反馈队列调度算法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当然，</a:t>
            </a:r>
            <a:r>
              <a:rPr lang="zh-CN" altLang="en-US" dirty="0">
                <a:solidFill>
                  <a:srgbClr val="0000FF"/>
                </a:solidFill>
              </a:rPr>
              <a:t>在FB 调度算法下，进程仍然存在饥饿的可能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因为一个长进程会很快沉底，位于优先级最低的就绪队列中。不断到来的短进程如果形成稳定的进程流，长进程就会永远等待下去。</a:t>
            </a:r>
          </a:p>
          <a:p>
            <a:pPr lvl="0"/>
            <a:r>
              <a:rPr lang="zh-CN" altLang="en-US" dirty="0"/>
              <a:t>一个改进的方法是：</a:t>
            </a:r>
          </a:p>
          <a:p>
            <a:pPr lvl="1"/>
            <a:r>
              <a:rPr lang="zh-CN" altLang="en-US" dirty="0"/>
              <a:t>一个进程在某个队列中等待的时长若超出了允许范围，该进程提升到上一级就绪队列。</a:t>
            </a:r>
          </a:p>
          <a:p>
            <a:pPr lvl="0"/>
            <a:r>
              <a:rPr lang="zh-CN" altLang="en-US" dirty="0"/>
              <a:t>在实际应用中，FB 调度算法还有很多的变体。</a:t>
            </a:r>
          </a:p>
          <a:p>
            <a:pPr lvl="1"/>
            <a:r>
              <a:rPr lang="zh-CN" altLang="en-US" dirty="0"/>
              <a:t>例如，为了保证I/O 操作能及时完成，可以在进程发出I/O 请求后进入最高优先级队列，并执行一个时间片来响应I/O 操作。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42A44-FD04-BE3A-F2BD-1654EA62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CFS</a:t>
            </a:r>
            <a:r>
              <a:rPr lang="zh-CN" altLang="en-US" dirty="0"/>
              <a:t>调度器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491378-6667-28D2-80D3-4A680672C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CFS</a:t>
            </a:r>
            <a:r>
              <a:rPr lang="zh-CN" altLang="en-US" dirty="0"/>
              <a:t>是</a:t>
            </a:r>
            <a:r>
              <a:rPr lang="en-US" altLang="zh-CN" dirty="0"/>
              <a:t>Completely Fair Scheduler</a:t>
            </a:r>
            <a:r>
              <a:rPr lang="zh-CN" altLang="en-US" dirty="0"/>
              <a:t>简称，即完全公平调度器。</a:t>
            </a:r>
            <a:r>
              <a:rPr lang="en-US" altLang="zh-CN" dirty="0"/>
              <a:t>CFS</a:t>
            </a:r>
            <a:r>
              <a:rPr lang="zh-CN" altLang="en-US" dirty="0"/>
              <a:t>的设计理念是在真实硬件上实现理想的、精确的多任务</a:t>
            </a:r>
            <a:r>
              <a:rPr lang="en-US" altLang="zh-CN" dirty="0"/>
              <a:t>CPU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CFS</a:t>
            </a:r>
            <a:r>
              <a:rPr lang="zh-CN" altLang="en-US" dirty="0"/>
              <a:t>调度器和以往的调度器不同之处在于没有时间片的概念，而是分配</a:t>
            </a:r>
            <a:r>
              <a:rPr lang="en-US" altLang="zh-CN" dirty="0" err="1"/>
              <a:t>cpu</a:t>
            </a:r>
            <a:r>
              <a:rPr lang="zh-CN" altLang="en-US" dirty="0"/>
              <a:t>使用时间的比例。</a:t>
            </a:r>
            <a:endParaRPr lang="en-US" altLang="zh-CN" dirty="0"/>
          </a:p>
          <a:p>
            <a:r>
              <a:rPr lang="zh-CN" altLang="en-US" dirty="0"/>
              <a:t>例如：</a:t>
            </a:r>
            <a:r>
              <a:rPr lang="en-US" altLang="zh-CN" dirty="0"/>
              <a:t>2</a:t>
            </a:r>
            <a:r>
              <a:rPr lang="zh-CN" altLang="en-US" dirty="0"/>
              <a:t>个相同优先级的进程在一个</a:t>
            </a:r>
            <a:r>
              <a:rPr lang="en-US" altLang="zh-CN" dirty="0" err="1"/>
              <a:t>cpu</a:t>
            </a:r>
            <a:r>
              <a:rPr lang="zh-CN" altLang="en-US" dirty="0"/>
              <a:t>上运行，那么每个进程都将会分配</a:t>
            </a:r>
            <a:r>
              <a:rPr lang="en-US" altLang="zh-CN" dirty="0"/>
              <a:t>50%</a:t>
            </a:r>
            <a:r>
              <a:rPr lang="zh-CN" altLang="en-US" dirty="0"/>
              <a:t>的</a:t>
            </a:r>
            <a:r>
              <a:rPr lang="en-US" altLang="zh-CN" dirty="0" err="1"/>
              <a:t>cpu</a:t>
            </a:r>
            <a:r>
              <a:rPr lang="zh-CN" altLang="en-US" dirty="0"/>
              <a:t>运行时间。这就是要实现的</a:t>
            </a:r>
            <a:r>
              <a:rPr lang="zh-CN" altLang="en-US"/>
              <a:t>公平。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0167460"/>
      </p:ext>
    </p:extLst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DCD23-5F05-4666-8DBD-72AABEE1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E8655B-B398-4EC2-99CB-28DD9E42F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395" y="1369696"/>
            <a:ext cx="9673590" cy="3745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下述作业调度算法中，（  ）调度算法与作业的估计运行时间有关。 </a:t>
            </a:r>
          </a:p>
          <a:p>
            <a:pPr marL="457200" lvl="1" indent="0">
              <a:buNone/>
            </a:pPr>
            <a:r>
              <a:rPr lang="en-US" altLang="zh-CN" dirty="0"/>
              <a:t>A.</a:t>
            </a:r>
            <a:r>
              <a:rPr lang="zh-CN" altLang="en-US" dirty="0"/>
              <a:t>先来先服务</a:t>
            </a:r>
          </a:p>
          <a:p>
            <a:pPr marL="457200" lvl="1" indent="0">
              <a:buNone/>
            </a:pPr>
            <a:r>
              <a:rPr lang="en-US" altLang="zh-CN" dirty="0"/>
              <a:t>B.</a:t>
            </a:r>
            <a:r>
              <a:rPr lang="zh-CN" altLang="en-US" dirty="0"/>
              <a:t>短作业优先 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C.</a:t>
            </a:r>
            <a:r>
              <a:rPr lang="zh-CN" altLang="en-US" dirty="0"/>
              <a:t>基于优先级</a:t>
            </a:r>
          </a:p>
          <a:p>
            <a:pPr marL="457200" lvl="1" indent="0">
              <a:buNone/>
            </a:pPr>
            <a:r>
              <a:rPr lang="en-US" altLang="zh-CN" dirty="0"/>
              <a:t>D.</a:t>
            </a:r>
            <a:r>
              <a:rPr lang="zh-CN" altLang="en-US" dirty="0"/>
              <a:t>时间片轮转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E</a:t>
            </a:r>
            <a:r>
              <a:rPr lang="zh-CN" altLang="en-US" dirty="0"/>
              <a:t> 响应比高者优先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093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5BF4F-3AB3-4D9D-9411-5AD54D61B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74140C-6F6F-40ED-810E-78E6158CC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1227456"/>
            <a:ext cx="9832842" cy="4843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有</a:t>
            </a:r>
            <a:r>
              <a:rPr lang="en-US" altLang="zh-CN" dirty="0"/>
              <a:t>3</a:t>
            </a:r>
            <a:r>
              <a:rPr lang="zh-CN" altLang="en-US" dirty="0"/>
              <a:t>个作业</a:t>
            </a:r>
            <a:r>
              <a:rPr lang="en-US" altLang="zh-CN" dirty="0"/>
              <a:t>A(</a:t>
            </a:r>
            <a:r>
              <a:rPr lang="zh-CN" altLang="en-US" dirty="0"/>
              <a:t>到达时间</a:t>
            </a:r>
            <a:r>
              <a:rPr lang="en-US" altLang="zh-CN" dirty="0"/>
              <a:t>8</a:t>
            </a:r>
            <a:r>
              <a:rPr lang="zh-CN" altLang="en-US" dirty="0"/>
              <a:t>：</a:t>
            </a:r>
            <a:r>
              <a:rPr lang="en-US" altLang="zh-CN" dirty="0"/>
              <a:t>50</a:t>
            </a:r>
            <a:r>
              <a:rPr lang="zh-CN" altLang="en-US" dirty="0"/>
              <a:t>，执行时间</a:t>
            </a:r>
            <a:r>
              <a:rPr lang="en-US" altLang="zh-CN" dirty="0"/>
              <a:t>1.5</a:t>
            </a:r>
            <a:r>
              <a:rPr lang="zh-CN" altLang="en-US" dirty="0"/>
              <a:t>小时）、</a:t>
            </a:r>
            <a:r>
              <a:rPr lang="en-US" altLang="zh-CN" dirty="0"/>
              <a:t>B(</a:t>
            </a:r>
            <a:r>
              <a:rPr lang="zh-CN" altLang="en-US" dirty="0"/>
              <a:t>到达时间</a:t>
            </a:r>
            <a:r>
              <a:rPr lang="en-US" altLang="zh-CN" dirty="0"/>
              <a:t>9</a:t>
            </a:r>
            <a:r>
              <a:rPr lang="zh-CN" altLang="en-US" dirty="0"/>
              <a:t>：</a:t>
            </a:r>
            <a:r>
              <a:rPr lang="en-US" altLang="zh-CN" dirty="0"/>
              <a:t>00</a:t>
            </a:r>
            <a:r>
              <a:rPr lang="zh-CN" altLang="en-US" dirty="0"/>
              <a:t>，执行时间</a:t>
            </a:r>
            <a:r>
              <a:rPr lang="en-US" altLang="zh-CN" dirty="0"/>
              <a:t>0.4</a:t>
            </a:r>
            <a:r>
              <a:rPr lang="zh-CN" altLang="en-US" dirty="0"/>
              <a:t>小时）、</a:t>
            </a:r>
            <a:r>
              <a:rPr lang="en-US" altLang="zh-CN" dirty="0"/>
              <a:t>C</a:t>
            </a:r>
            <a:r>
              <a:rPr lang="zh-CN" altLang="en-US" dirty="0"/>
              <a:t>（到达时间</a:t>
            </a:r>
            <a:r>
              <a:rPr lang="en-US" altLang="zh-CN" dirty="0"/>
              <a:t>9:30</a:t>
            </a:r>
            <a:r>
              <a:rPr lang="zh-CN" altLang="en-US" dirty="0"/>
              <a:t>，执行时间</a:t>
            </a:r>
            <a:r>
              <a:rPr lang="en-US" altLang="zh-CN" dirty="0"/>
              <a:t>1</a:t>
            </a:r>
            <a:r>
              <a:rPr lang="zh-CN" altLang="en-US" dirty="0"/>
              <a:t>小时）。批处理单道系统按照响应比高者优先算法进行调度，则作业被选中执行的次序是</a:t>
            </a:r>
            <a:r>
              <a:rPr lang="en-US" altLang="zh-CN" dirty="0"/>
              <a:t>(     )</a:t>
            </a:r>
            <a:r>
              <a:rPr lang="zh-CN" altLang="en-US" dirty="0"/>
              <a:t>。</a:t>
            </a:r>
          </a:p>
          <a:p>
            <a:pPr marL="457200" lvl="1" indent="0">
              <a:buNone/>
            </a:pPr>
            <a:r>
              <a:rPr lang="en-US" altLang="zh-CN" dirty="0"/>
              <a:t>A.(A,B,C)    </a:t>
            </a:r>
          </a:p>
          <a:p>
            <a:pPr marL="457200" lvl="1" indent="0">
              <a:buNone/>
            </a:pPr>
            <a:r>
              <a:rPr lang="en-US" altLang="zh-CN" dirty="0"/>
              <a:t>B.(A,C,B)    </a:t>
            </a:r>
          </a:p>
          <a:p>
            <a:pPr marL="457200" lvl="1" indent="0">
              <a:buNone/>
            </a:pPr>
            <a:r>
              <a:rPr lang="en-US" altLang="zh-CN" dirty="0"/>
              <a:t>C.(B,A,C)    </a:t>
            </a:r>
          </a:p>
          <a:p>
            <a:pPr marL="457200" lvl="1" indent="0">
              <a:buNone/>
            </a:pPr>
            <a:r>
              <a:rPr lang="en-US" altLang="zh-CN" dirty="0"/>
              <a:t>D.(C,A,B)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698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6140DD-D1B7-4A6A-A6DB-AC70744A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790F4-32A6-46FE-91BE-ADC10E25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30" y="1227456"/>
            <a:ext cx="10968990" cy="3823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在下列进程调度算法中，不存在进程饥饿现象的调度算法是（　　）。</a:t>
            </a:r>
            <a:r>
              <a:rPr lang="en-US" altLang="zh-CN" dirty="0"/>
              <a:t>[</a:t>
            </a:r>
            <a:r>
              <a:rPr lang="zh-CN" altLang="en-US" dirty="0"/>
              <a:t>电子科技大学</a:t>
            </a:r>
            <a:r>
              <a:rPr lang="en-US" altLang="zh-CN" dirty="0"/>
              <a:t>2016</a:t>
            </a:r>
            <a:r>
              <a:rPr lang="zh-CN" altLang="en-US" dirty="0"/>
              <a:t>研</a:t>
            </a:r>
            <a:r>
              <a:rPr lang="en-US" altLang="zh-CN" dirty="0"/>
              <a:t>]</a:t>
            </a:r>
          </a:p>
          <a:p>
            <a:pPr marL="0" indent="0">
              <a:buNone/>
            </a:pPr>
            <a:r>
              <a:rPr lang="en-US" altLang="zh-CN" dirty="0"/>
              <a:t>A.</a:t>
            </a:r>
            <a:r>
              <a:rPr lang="zh-CN" altLang="en-US" dirty="0"/>
              <a:t>先来先服务</a:t>
            </a:r>
          </a:p>
          <a:p>
            <a:pPr marL="0" indent="0">
              <a:buNone/>
            </a:pPr>
            <a:r>
              <a:rPr lang="en-US" altLang="zh-CN" dirty="0"/>
              <a:t>B.</a:t>
            </a:r>
            <a:r>
              <a:rPr lang="zh-CN" altLang="en-US" dirty="0"/>
              <a:t>反馈调度算法</a:t>
            </a:r>
          </a:p>
          <a:p>
            <a:pPr marL="0" indent="0">
              <a:buNone/>
            </a:pPr>
            <a:r>
              <a:rPr lang="en-US" altLang="zh-CN" dirty="0"/>
              <a:t>C.</a:t>
            </a:r>
            <a:r>
              <a:rPr lang="zh-CN" altLang="en-US" dirty="0"/>
              <a:t>短进程优先</a:t>
            </a:r>
          </a:p>
          <a:p>
            <a:pPr marL="0" indent="0">
              <a:buNone/>
            </a:pPr>
            <a:r>
              <a:rPr lang="en-US" altLang="zh-CN" dirty="0"/>
              <a:t>D.</a:t>
            </a:r>
            <a:r>
              <a:rPr lang="zh-CN" altLang="en-US" dirty="0"/>
              <a:t>基于静态优先级调度算法</a:t>
            </a:r>
          </a:p>
        </p:txBody>
      </p:sp>
    </p:spTree>
    <p:extLst>
      <p:ext uri="{BB962C8B-B14F-4D97-AF65-F5344CB8AC3E}">
        <p14:creationId xmlns:p14="http://schemas.microsoft.com/office/powerpoint/2010/main" val="423536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04258-EDD8-4D06-B87E-015109FD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思考及扩展知识任务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E13FBE-4DB1-4456-8885-46983F18E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71" y="1070897"/>
            <a:ext cx="10968990" cy="539681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lang="zh-CN" altLang="en-US" sz="2800" dirty="0"/>
              <a:t>思考题</a:t>
            </a:r>
            <a:r>
              <a:rPr lang="en-US" altLang="zh-CN" sz="2800" dirty="0"/>
              <a:t>1</a:t>
            </a:r>
            <a:r>
              <a:rPr lang="zh-CN" altLang="en-US" sz="2800" dirty="0"/>
              <a:t>：桌面操作系统（</a:t>
            </a:r>
            <a:r>
              <a:rPr lang="en-US" altLang="zh-CN" sz="2800" dirty="0"/>
              <a:t>Windows/macOS</a:t>
            </a:r>
            <a:r>
              <a:rPr lang="zh-CN" altLang="en-US" sz="2800" dirty="0"/>
              <a:t>）的调度选择</a:t>
            </a:r>
          </a:p>
          <a:p>
            <a:pPr marL="0" indent="0">
              <a:lnSpc>
                <a:spcPct val="160000"/>
              </a:lnSpc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lang="zh-CN" altLang="en-US" sz="2800" dirty="0"/>
              <a:t>场景描述：桌面用户的操作具有随机性，可能同时进行多个任务，例如一边用浏览器下载文件（</a:t>
            </a:r>
            <a:r>
              <a:rPr lang="en-US" altLang="zh-CN" sz="2800" dirty="0"/>
              <a:t>I/O</a:t>
            </a:r>
            <a:r>
              <a:rPr lang="zh-CN" altLang="en-US" sz="2800" dirty="0"/>
              <a:t>密集型），一边用编辑器写代码（</a:t>
            </a:r>
            <a:r>
              <a:rPr lang="en-US" altLang="zh-CN" sz="2800" dirty="0"/>
              <a:t>CPU</a:t>
            </a:r>
            <a:r>
              <a:rPr lang="zh-CN" altLang="en-US" sz="2800" dirty="0"/>
              <a:t>轻度密集），偶尔还会打开视频软件播放视频（对响应延迟敏感）。</a:t>
            </a:r>
          </a:p>
          <a:p>
            <a:pPr marL="0" indent="0">
              <a:lnSpc>
                <a:spcPct val="160000"/>
              </a:lnSpc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lang="zh-CN" altLang="en-US" sz="2800" dirty="0"/>
              <a:t>问题：</a:t>
            </a:r>
          </a:p>
          <a:p>
            <a:pPr marL="0" indent="0">
              <a:lnSpc>
                <a:spcPct val="160000"/>
              </a:lnSpc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若桌面操作系统采用先来先服务（</a:t>
            </a:r>
            <a:r>
              <a:rPr lang="en-US" altLang="zh-CN" sz="2800" dirty="0"/>
              <a:t>FCFS</a:t>
            </a:r>
            <a:r>
              <a:rPr lang="zh-CN" altLang="en-US" sz="2800" dirty="0"/>
              <a:t>）调度算法，会出现什么具体问题？请结合“下载文件”和“播放视频”两个任务举例说明。</a:t>
            </a:r>
          </a:p>
          <a:p>
            <a:pPr marL="0" indent="0">
              <a:lnSpc>
                <a:spcPct val="160000"/>
              </a:lnSpc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实际桌面系统更倾向于选择抢占式优先权调度或时间片轮转（</a:t>
            </a:r>
            <a:r>
              <a:rPr lang="en-US" altLang="zh-CN" sz="2800" dirty="0"/>
              <a:t>RR</a:t>
            </a:r>
            <a:r>
              <a:rPr lang="zh-CN" altLang="en-US" sz="2800" dirty="0"/>
              <a:t>）</a:t>
            </a:r>
            <a:r>
              <a:rPr lang="en-US" altLang="zh-CN" sz="2800" dirty="0"/>
              <a:t>+ </a:t>
            </a:r>
            <a:r>
              <a:rPr lang="zh-CN" altLang="en-US" sz="2800" dirty="0"/>
              <a:t>动态优先权的组合算法，请分析这两种算法如何解决上述</a:t>
            </a:r>
            <a:r>
              <a:rPr lang="en-US" altLang="zh-CN" sz="2800" dirty="0"/>
              <a:t>FCFS</a:t>
            </a:r>
            <a:r>
              <a:rPr lang="zh-CN" altLang="en-US" sz="2800" dirty="0"/>
              <a:t>的问题，满足桌面用户的核心需求（如低延迟、任务不卡顿）。</a:t>
            </a:r>
          </a:p>
        </p:txBody>
      </p:sp>
    </p:spTree>
    <p:extLst>
      <p:ext uri="{BB962C8B-B14F-4D97-AF65-F5344CB8AC3E}">
        <p14:creationId xmlns:p14="http://schemas.microsoft.com/office/powerpoint/2010/main" val="95623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BE54E1-9982-CA8A-F29E-84FE28FEB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05" y="917892"/>
            <a:ext cx="10968990" cy="50222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dirty="0"/>
              <a:t>思考题</a:t>
            </a:r>
            <a:r>
              <a:rPr lang="en-US" altLang="zh-CN" dirty="0"/>
              <a:t>2</a:t>
            </a:r>
            <a:r>
              <a:rPr lang="zh-CN" altLang="en-US" dirty="0"/>
              <a:t>：服务器（</a:t>
            </a:r>
            <a:r>
              <a:rPr lang="en-US" altLang="zh-CN" dirty="0"/>
              <a:t>Web</a:t>
            </a:r>
            <a:r>
              <a:rPr lang="zh-CN" altLang="en-US" dirty="0"/>
              <a:t>服务器</a:t>
            </a:r>
            <a:r>
              <a:rPr lang="en-US" altLang="zh-CN" dirty="0"/>
              <a:t>/</a:t>
            </a:r>
            <a:r>
              <a:rPr lang="zh-CN" altLang="en-US" dirty="0"/>
              <a:t>数据库服务器）的调度权衡</a:t>
            </a:r>
          </a:p>
          <a:p>
            <a:pPr marL="0" indent="0">
              <a:buNone/>
            </a:pPr>
            <a:r>
              <a:rPr lang="zh-CN" altLang="en-US" dirty="0"/>
              <a:t>场景描述：某电商平台的</a:t>
            </a:r>
            <a:r>
              <a:rPr lang="en-US" altLang="zh-CN" dirty="0"/>
              <a:t>Web</a:t>
            </a:r>
            <a:r>
              <a:rPr lang="zh-CN" altLang="en-US" dirty="0"/>
              <a:t>服务器，在非促销时段，主要处理用户的浏览商品请求（短任务，单次</a:t>
            </a:r>
            <a:r>
              <a:rPr lang="en-US" altLang="zh-CN" dirty="0"/>
              <a:t>CPU</a:t>
            </a:r>
            <a:r>
              <a:rPr lang="zh-CN" altLang="en-US" dirty="0"/>
              <a:t>占用低）；在促销秒杀时段，会同时涌入大量“提交订单”请求（需调用数据库，</a:t>
            </a:r>
            <a:r>
              <a:rPr lang="en-US" altLang="zh-CN" dirty="0"/>
              <a:t>I/O</a:t>
            </a:r>
            <a:r>
              <a:rPr lang="zh-CN" altLang="en-US" dirty="0"/>
              <a:t>等待时间长）和少量“生成订单报表”请求（</a:t>
            </a:r>
            <a:r>
              <a:rPr lang="en-US" altLang="zh-CN" dirty="0"/>
              <a:t>CPU</a:t>
            </a:r>
            <a:r>
              <a:rPr lang="zh-CN" altLang="en-US" dirty="0"/>
              <a:t>密集型，执行时间长）。</a:t>
            </a:r>
          </a:p>
          <a:p>
            <a:pPr marL="0" indent="0">
              <a:buNone/>
            </a:pPr>
            <a:r>
              <a:rPr lang="zh-CN" altLang="en-US" dirty="0"/>
              <a:t>问题：</a:t>
            </a:r>
          </a:p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若服务器采用短作业优先（</a:t>
            </a:r>
            <a:r>
              <a:rPr lang="en-US" altLang="zh-CN" dirty="0"/>
              <a:t>SJF</a:t>
            </a:r>
            <a:r>
              <a:rPr lang="zh-CN" altLang="en-US" dirty="0"/>
              <a:t>） 调度算法，在秒杀时段可能会对“生成订单报表”任务造成什么影响？该影响是否会损害电商平台的业务（如报表延迟是否影响财务统计）？</a:t>
            </a:r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为了平衡“短任务吞吐量”和“长任务不饿死”，服务器可引入多级反馈队列（</a:t>
            </a:r>
            <a:r>
              <a:rPr lang="en-US" altLang="zh-CN" dirty="0"/>
              <a:t>MLFQ</a:t>
            </a:r>
            <a:r>
              <a:rPr lang="zh-CN" altLang="en-US" dirty="0"/>
              <a:t>）调度算法。请设计该</a:t>
            </a:r>
            <a:r>
              <a:rPr lang="en-US" altLang="zh-CN" dirty="0"/>
              <a:t>MLFQ</a:t>
            </a:r>
            <a:r>
              <a:rPr lang="zh-CN" altLang="en-US" dirty="0"/>
              <a:t>的核心规则（至少包含队列数量、优先级调整逻辑），并说明它如何兼顾“提交订单”和“生成订单报表”两类任务的需求。</a:t>
            </a:r>
          </a:p>
        </p:txBody>
      </p:sp>
    </p:spTree>
    <p:extLst>
      <p:ext uri="{BB962C8B-B14F-4D97-AF65-F5344CB8AC3E}">
        <p14:creationId xmlns:p14="http://schemas.microsoft.com/office/powerpoint/2010/main" val="330860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EA8AB-0BF5-AC33-A3B3-883937EA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思考题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zh-CN" altLang="en-US" sz="2400" dirty="0"/>
              <a:t>实时系统（自动驾驶</a:t>
            </a:r>
            <a:r>
              <a:rPr lang="en-US" altLang="zh-CN" sz="2400" dirty="0"/>
              <a:t>/</a:t>
            </a:r>
            <a:r>
              <a:rPr lang="zh-CN" altLang="en-US" sz="2400" dirty="0"/>
              <a:t>工业控制）的调度刚性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6C674F-4DE6-231E-A21A-DCF7430F5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场景描述：自动驾驶系统中，有三个核心任务：① 激光雷达数据采集（周期</a:t>
            </a:r>
            <a:r>
              <a:rPr lang="en-US" altLang="zh-CN" dirty="0"/>
              <a:t>10ms</a:t>
            </a:r>
            <a:r>
              <a:rPr lang="zh-CN" altLang="en-US" dirty="0"/>
              <a:t>，延迟超过</a:t>
            </a:r>
            <a:r>
              <a:rPr lang="en-US" altLang="zh-CN" dirty="0"/>
              <a:t>20ms</a:t>
            </a:r>
            <a:r>
              <a:rPr lang="zh-CN" altLang="en-US" dirty="0"/>
              <a:t>会导致障碍物识别滞后）；② 路径规划计算（周期</a:t>
            </a:r>
            <a:r>
              <a:rPr lang="en-US" altLang="zh-CN" dirty="0"/>
              <a:t>50ms</a:t>
            </a:r>
            <a:r>
              <a:rPr lang="zh-CN" altLang="en-US" dirty="0"/>
              <a:t>，延迟超过</a:t>
            </a:r>
            <a:r>
              <a:rPr lang="en-US" altLang="zh-CN" dirty="0"/>
              <a:t>100ms</a:t>
            </a:r>
            <a:r>
              <a:rPr lang="zh-CN" altLang="en-US" dirty="0"/>
              <a:t>会导致转向不及时）；③ 车内娱乐系统音乐播放（周期</a:t>
            </a:r>
            <a:r>
              <a:rPr lang="en-US" altLang="zh-CN" dirty="0"/>
              <a:t>1000ms</a:t>
            </a:r>
            <a:r>
              <a:rPr lang="zh-CN" altLang="en-US" dirty="0"/>
              <a:t>，延迟</a:t>
            </a:r>
            <a:r>
              <a:rPr lang="en-US" altLang="zh-CN" dirty="0"/>
              <a:t>100ms</a:t>
            </a:r>
            <a:r>
              <a:rPr lang="zh-CN" altLang="en-US" dirty="0"/>
              <a:t>内用户无感知）。</a:t>
            </a:r>
          </a:p>
          <a:p>
            <a:r>
              <a:rPr lang="zh-CN" altLang="en-US" dirty="0"/>
              <a:t>问题：</a:t>
            </a:r>
          </a:p>
          <a:p>
            <a:r>
              <a:rPr lang="zh-CN" altLang="en-US" dirty="0"/>
              <a:t>上述三个任务属于硬实时任务还是软实时任务？请分别说明判断依据（ “延迟是否会导致严重后果”）。</a:t>
            </a:r>
          </a:p>
        </p:txBody>
      </p:sp>
    </p:spTree>
    <p:extLst>
      <p:ext uri="{BB962C8B-B14F-4D97-AF65-F5344CB8AC3E}">
        <p14:creationId xmlns:p14="http://schemas.microsoft.com/office/powerpoint/2010/main" val="400653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ym typeface="+mn-ea"/>
              </a:rPr>
              <a:t>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84250"/>
            <a:ext cx="10968990" cy="4414468"/>
          </a:xfrm>
        </p:spPr>
        <p:txBody>
          <a:bodyPr>
            <a:normAutofit/>
          </a:bodyPr>
          <a:lstStyle/>
          <a:p>
            <a:r>
              <a:rPr dirty="0">
                <a:sym typeface="+mn-ea"/>
              </a:rPr>
              <a:t>处理机调度是操作系统中的核心问题，它根据某种调度算法选择合适的进程，并把CPU分配给该进程使用。处理机调度分为三级</a:t>
            </a:r>
            <a:r>
              <a:rPr lang="zh-CN" altLang="en-US" dirty="0">
                <a:sym typeface="+mn-ea"/>
              </a:rPr>
              <a:t>：高级调度、</a:t>
            </a:r>
            <a:r>
              <a:rPr dirty="0">
                <a:sym typeface="+mn-ea"/>
              </a:rPr>
              <a:t>中级调度</a:t>
            </a:r>
            <a:r>
              <a:rPr lang="zh-CN" altLang="en-US" dirty="0">
                <a:sym typeface="+mn-ea"/>
              </a:rPr>
              <a:t>和低级调度</a:t>
            </a:r>
            <a:r>
              <a:rPr lang="zh-CN" altLang="en-US" dirty="0"/>
              <a:t>；</a:t>
            </a:r>
            <a:endParaRPr dirty="0">
              <a:sym typeface="+mn-ea"/>
            </a:endParaRPr>
          </a:p>
          <a:p>
            <a:r>
              <a:rPr dirty="0">
                <a:sym typeface="+mn-ea"/>
              </a:rPr>
              <a:t>常用的性能评价准则有CPU利用率、系统吞吐率、周转时间、等待时间和响应时间等。一般来说，调度算法的复杂度不宜过高。</a:t>
            </a:r>
            <a:endParaRPr lang="en-US" dirty="0">
              <a:sym typeface="+mn-ea"/>
            </a:endParaRPr>
          </a:p>
          <a:p>
            <a:r>
              <a:rPr dirty="0">
                <a:sym typeface="+mn-ea"/>
              </a:rPr>
              <a:t>常用的调度算法有FCFS调度算法、SPF调度算法、SJF调度算法、RR调度算法、HRRN调度算法、FB调度算法、EDF调度算法、LLF调度算法等。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random/>
      </p:transition>
    </mc:Choice>
    <mc:Fallback xmlns="">
      <p:transition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953,&quot;width&quot;:15840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510,&quot;width&quot;:15840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3068</TotalTime>
  <Words>5489</Words>
  <Application>Microsoft Office PowerPoint</Application>
  <PresentationFormat>宽屏</PresentationFormat>
  <Paragraphs>539</Paragraphs>
  <Slides>67</Slides>
  <Notes>9</Notes>
  <HiddenSlides>5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67</vt:i4>
      </vt:variant>
    </vt:vector>
  </HeadingPairs>
  <TitlesOfParts>
    <vt:vector size="83" baseType="lpstr">
      <vt:lpstr>-apple-system</vt:lpstr>
      <vt:lpstr>Helvetica Neue</vt:lpstr>
      <vt:lpstr>Menlo</vt:lpstr>
      <vt:lpstr>等线</vt:lpstr>
      <vt:lpstr>仿宋</vt:lpstr>
      <vt:lpstr>黑体</vt:lpstr>
      <vt:lpstr>华文楷体</vt:lpstr>
      <vt:lpstr>宋体</vt:lpstr>
      <vt:lpstr>幼圆</vt:lpstr>
      <vt:lpstr>Arial</vt:lpstr>
      <vt:lpstr>Calibri</vt:lpstr>
      <vt:lpstr>Times New Roman</vt:lpstr>
      <vt:lpstr>Wingdings</vt:lpstr>
      <vt:lpstr>Office 主题​​</vt:lpstr>
      <vt:lpstr>Visio</vt:lpstr>
      <vt:lpstr>Bitmap Image</vt:lpstr>
      <vt:lpstr>第5章  处理机调度</vt:lpstr>
      <vt:lpstr>本章目录</vt:lpstr>
      <vt:lpstr>5.1 分级调度与调度目标</vt:lpstr>
      <vt:lpstr>5.1.1 作业的概念</vt:lpstr>
      <vt:lpstr>Linux脚本</vt:lpstr>
      <vt:lpstr>5.1.1 作业的概念</vt:lpstr>
      <vt:lpstr>PowerPoint 演示文稿</vt:lpstr>
      <vt:lpstr>5.1.2 处理机调度的层次</vt:lpstr>
      <vt:lpstr>PowerPoint 演示文稿</vt:lpstr>
      <vt:lpstr>5.1.2 处理机调度的层次</vt:lpstr>
      <vt:lpstr>5.1.2 处理机调度的层次</vt:lpstr>
      <vt:lpstr>5.1.2 处理机调度的层次</vt:lpstr>
      <vt:lpstr>5.1.2 处理机调度的层次</vt:lpstr>
      <vt:lpstr>练习</vt:lpstr>
      <vt:lpstr>5.1.3 进程调度方式与时机</vt:lpstr>
      <vt:lpstr>5.1.3 进程调度方式与时机</vt:lpstr>
      <vt:lpstr>练习：</vt:lpstr>
      <vt:lpstr>5.1.4 调度算法选择依据与性能评价</vt:lpstr>
      <vt:lpstr>5.1.4 调度算法选择依据与性能评价</vt:lpstr>
      <vt:lpstr>5.1.4 调度算法选择依据与性能评价</vt:lpstr>
      <vt:lpstr>5.1.4 调度算法选择依据与性能评价</vt:lpstr>
      <vt:lpstr>5.1.4 调度算法选择依据与性能评价</vt:lpstr>
      <vt:lpstr>5.1.4 调度算法选择依据与性能评价</vt:lpstr>
      <vt:lpstr>练习</vt:lpstr>
      <vt:lpstr>5.2 常用调度算法</vt:lpstr>
      <vt:lpstr>5.2.1 先来先服务调度算法</vt:lpstr>
      <vt:lpstr>5.2.1 先来先服务调度算法</vt:lpstr>
      <vt:lpstr>5.2.1 先来先服务调度算法</vt:lpstr>
      <vt:lpstr>5.2.1 先来先服务调度算法</vt:lpstr>
      <vt:lpstr>5.2.2 短进程（作业）优先调度算法</vt:lpstr>
      <vt:lpstr>5.2.2 短进程（作业）优先调度算法</vt:lpstr>
      <vt:lpstr>5.2.2 短进程（作业）优先调度算法</vt:lpstr>
      <vt:lpstr>练习：</vt:lpstr>
      <vt:lpstr>5.2.4 优先级调度算法</vt:lpstr>
      <vt:lpstr>5.2.4 优先级调度算法</vt:lpstr>
      <vt:lpstr>5.2.4 优先级调度算法</vt:lpstr>
      <vt:lpstr>Windows中的优先级策略</vt:lpstr>
      <vt:lpstr>Windows用户模式下的优先级</vt:lpstr>
      <vt:lpstr>Linux的优先级</vt:lpstr>
      <vt:lpstr>PowerPoint 演示文稿</vt:lpstr>
      <vt:lpstr>5.2.5 最高响应比优先调度算法</vt:lpstr>
      <vt:lpstr>5.2.5 最高响应比优先调度算法</vt:lpstr>
      <vt:lpstr>5.2.5 最高响应比优先调度算法</vt:lpstr>
      <vt:lpstr>5.2.5 最高响应比优先调度算法</vt:lpstr>
      <vt:lpstr>举例</vt:lpstr>
      <vt:lpstr>课堂练习</vt:lpstr>
      <vt:lpstr>5.2.3 轮转调度算法</vt:lpstr>
      <vt:lpstr>5.2.3 轮转调度算法</vt:lpstr>
      <vt:lpstr>时间片</vt:lpstr>
      <vt:lpstr>5.2.3 轮转调度算法</vt:lpstr>
      <vt:lpstr>5.2.3 轮转调度算法</vt:lpstr>
      <vt:lpstr>再例：q=1与q=4的对比</vt:lpstr>
      <vt:lpstr>5.2.3 轮转调度算法</vt:lpstr>
      <vt:lpstr>改进的RR 调度算法</vt:lpstr>
      <vt:lpstr>5.2.6 多级队列调度算法</vt:lpstr>
      <vt:lpstr>5.2.7 多级反馈队列调度算法</vt:lpstr>
      <vt:lpstr>5.2.7 多级反馈队列调度算法</vt:lpstr>
      <vt:lpstr>5.2.7 多级反馈队列调度算法</vt:lpstr>
      <vt:lpstr>5.2.7 多级反馈队列调度算法</vt:lpstr>
      <vt:lpstr>CFS调度器</vt:lpstr>
      <vt:lpstr>练习</vt:lpstr>
      <vt:lpstr>练习</vt:lpstr>
      <vt:lpstr>练习</vt:lpstr>
      <vt:lpstr>思考及扩展知识任务</vt:lpstr>
      <vt:lpstr>PowerPoint 演示文稿</vt:lpstr>
      <vt:lpstr>思考题3：实时系统（自动驾驶/工业控制）的调度刚性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 处理机调度</dc:title>
  <dc:creator/>
  <cp:lastModifiedBy>Z33789</cp:lastModifiedBy>
  <cp:revision>763</cp:revision>
  <dcterms:created xsi:type="dcterms:W3CDTF">2019-06-19T02:08:00Z</dcterms:created>
  <dcterms:modified xsi:type="dcterms:W3CDTF">2025-11-13T12:05:12Z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