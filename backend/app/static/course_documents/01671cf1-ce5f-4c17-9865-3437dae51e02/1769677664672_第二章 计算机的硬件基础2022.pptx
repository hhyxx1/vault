
<file path=[Content_Types].xml><?xml version="1.0" encoding="utf-8"?>
<Types xmlns="http://schemas.openxmlformats.org/package/2006/content-types">
  <Default Extension="jpeg" ContentType="image/jpeg"/>
  <Default Extension="JPG" ContentType="image/.jpg"/>
  <Default Extension="vml" ContentType="application/vnd.openxmlformats-officedocument.vmlDrawing"/>
  <Default Extension="bin" ContentType="application/vnd.openxmlformats-officedocument.oleObject"/>
  <Default Extension="emf" ContentType="image/x-emf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29"/>
  </p:notesMasterIdLst>
  <p:sldIdLst>
    <p:sldId id="256" r:id="rId3"/>
    <p:sldId id="290" r:id="rId4"/>
    <p:sldId id="317" r:id="rId5"/>
    <p:sldId id="318" r:id="rId6"/>
    <p:sldId id="319" r:id="rId7"/>
    <p:sldId id="320" r:id="rId8"/>
    <p:sldId id="321" r:id="rId9"/>
    <p:sldId id="322" r:id="rId10"/>
    <p:sldId id="323" r:id="rId11"/>
    <p:sldId id="324" r:id="rId12"/>
    <p:sldId id="325" r:id="rId13"/>
    <p:sldId id="326" r:id="rId14"/>
    <p:sldId id="327" r:id="rId15"/>
    <p:sldId id="330" r:id="rId16"/>
    <p:sldId id="329" r:id="rId17"/>
    <p:sldId id="340" r:id="rId18"/>
    <p:sldId id="331" r:id="rId19"/>
    <p:sldId id="332" r:id="rId20"/>
    <p:sldId id="333" r:id="rId21"/>
    <p:sldId id="334" r:id="rId22"/>
    <p:sldId id="335" r:id="rId23"/>
    <p:sldId id="336" r:id="rId24"/>
    <p:sldId id="337" r:id="rId25"/>
    <p:sldId id="338" r:id="rId26"/>
    <p:sldId id="339" r:id="rId27"/>
    <p:sldId id="341" r:id="rId28"/>
  </p:sldIdLst>
  <p:sldSz cx="9144000" cy="6858000" type="screen4x3"/>
  <p:notesSz cx="6858000" cy="9144000"/>
  <p:custDataLst>
    <p:tags r:id="rId33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5580" autoAdjust="0"/>
    <p:restoredTop sz="86085" autoAdjust="0"/>
  </p:normalViewPr>
  <p:slideViewPr>
    <p:cSldViewPr>
      <p:cViewPr>
        <p:scale>
          <a:sx n="80" d="100"/>
          <a:sy n="80" d="100"/>
        </p:scale>
        <p:origin x="-1512" y="-6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3" Type="http://schemas.openxmlformats.org/officeDocument/2006/relationships/tags" Target="tags/tag1.xml"/><Relationship Id="rId32" Type="http://schemas.openxmlformats.org/officeDocument/2006/relationships/tableStyles" Target="tableStyles.xml"/><Relationship Id="rId31" Type="http://schemas.openxmlformats.org/officeDocument/2006/relationships/viewProps" Target="viewProps.xml"/><Relationship Id="rId30" Type="http://schemas.openxmlformats.org/officeDocument/2006/relationships/presProps" Target="presProps.xml"/><Relationship Id="rId3" Type="http://schemas.openxmlformats.org/officeDocument/2006/relationships/slide" Target="slides/slide1.xml"/><Relationship Id="rId29" Type="http://schemas.openxmlformats.org/officeDocument/2006/relationships/notesMaster" Target="notesMasters/notesMaster1.xml"/><Relationship Id="rId28" Type="http://schemas.openxmlformats.org/officeDocument/2006/relationships/slide" Target="slides/slide26.xml"/><Relationship Id="rId27" Type="http://schemas.openxmlformats.org/officeDocument/2006/relationships/slide" Target="slides/slide25.xml"/><Relationship Id="rId26" Type="http://schemas.openxmlformats.org/officeDocument/2006/relationships/slide" Target="slides/slide24.xml"/><Relationship Id="rId25" Type="http://schemas.openxmlformats.org/officeDocument/2006/relationships/slide" Target="slides/slide23.xml"/><Relationship Id="rId24" Type="http://schemas.openxmlformats.org/officeDocument/2006/relationships/slide" Target="slides/slide22.xml"/><Relationship Id="rId23" Type="http://schemas.openxmlformats.org/officeDocument/2006/relationships/slide" Target="slides/slide21.xml"/><Relationship Id="rId22" Type="http://schemas.openxmlformats.org/officeDocument/2006/relationships/slide" Target="slides/slide20.xml"/><Relationship Id="rId21" Type="http://schemas.openxmlformats.org/officeDocument/2006/relationships/slide" Target="slides/slide19.xml"/><Relationship Id="rId20" Type="http://schemas.openxmlformats.org/officeDocument/2006/relationships/slide" Target="slides/slide18.xml"/><Relationship Id="rId2" Type="http://schemas.openxmlformats.org/officeDocument/2006/relationships/theme" Target="theme/theme1.xml"/><Relationship Id="rId19" Type="http://schemas.openxmlformats.org/officeDocument/2006/relationships/slide" Target="slides/slide17.xml"/><Relationship Id="rId18" Type="http://schemas.openxmlformats.org/officeDocument/2006/relationships/slide" Target="slides/slide16.xml"/><Relationship Id="rId17" Type="http://schemas.openxmlformats.org/officeDocument/2006/relationships/slide" Target="slides/slide15.xml"/><Relationship Id="rId16" Type="http://schemas.openxmlformats.org/officeDocument/2006/relationships/slide" Target="slides/slide14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2.emf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4.emf"/></Relationships>
</file>

<file path=ppt/drawings/_rels/vmlDrawing3.vml.rels><?xml version="1.0" encoding="UTF-8" standalone="yes"?>
<Relationships xmlns="http://schemas.openxmlformats.org/package/2006/relationships"><Relationship Id="rId1" Type="http://schemas.openxmlformats.org/officeDocument/2006/relationships/image" Target="../media/image5.emf"/></Relationships>
</file>

<file path=ppt/drawings/_rels/vmlDrawing4.vml.rels><?xml version="1.0" encoding="UTF-8" standalone="yes"?>
<Relationships xmlns="http://schemas.openxmlformats.org/package/2006/relationships"><Relationship Id="rId1" Type="http://schemas.openxmlformats.org/officeDocument/2006/relationships/image" Target="../media/image6.emf"/></Relationships>
</file>

<file path=ppt/drawings/_rels/vmlDrawing5.vml.rels><?xml version="1.0" encoding="UTF-8" standalone="yes"?>
<Relationships xmlns="http://schemas.openxmlformats.org/package/2006/relationships"><Relationship Id="rId1" Type="http://schemas.openxmlformats.org/officeDocument/2006/relationships/image" Target="../media/image7.emf"/></Relationships>
</file>

<file path=ppt/drawings/_rels/vmlDrawing6.vml.rels><?xml version="1.0" encoding="UTF-8" standalone="yes"?>
<Relationships xmlns="http://schemas.openxmlformats.org/package/2006/relationships"><Relationship Id="rId1" Type="http://schemas.openxmlformats.org/officeDocument/2006/relationships/image" Target="../media/image8.emf"/></Relationships>
</file>

<file path=ppt/drawings/_rels/vmlDrawing7.vml.rels><?xml version="1.0" encoding="UTF-8" standalone="yes"?>
<Relationships xmlns="http://schemas.openxmlformats.org/package/2006/relationships"><Relationship Id="rId1" Type="http://schemas.openxmlformats.org/officeDocument/2006/relationships/image" Target="../media/image9.e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672F3D0-2070-4A1C-9BEB-D5F85B01F5CD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660FE56-DC3C-4814-AE3A-D49703B9417F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28596" y="-285776"/>
            <a:ext cx="8229600" cy="1143000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3" Type="http://schemas.openxmlformats.org/officeDocument/2006/relationships/theme" Target="../theme/theme1.xml"/><Relationship Id="rId12" Type="http://schemas.openxmlformats.org/officeDocument/2006/relationships/image" Target="../media/image1.jpeg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3714744" y="142852"/>
            <a:ext cx="501489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dirty="0" smtClean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dirty="0" smtClean="0"/>
              <a:t>单击此处编辑母版文本样式</a:t>
            </a:r>
            <a:endParaRPr lang="zh-CN" altLang="en-US" dirty="0" smtClean="0"/>
          </a:p>
          <a:p>
            <a:pPr lvl="1"/>
            <a:r>
              <a:rPr lang="zh-CN" altLang="en-US" dirty="0" smtClean="0"/>
              <a:t>第二级</a:t>
            </a:r>
            <a:endParaRPr lang="zh-CN" altLang="en-US" dirty="0"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  <p:pic>
        <p:nvPicPr>
          <p:cNvPr id="12290" name="Picture 2" descr="http://pic.qiantucdn.com/58pic/18/80/26/92S58PICwui_1024.jpg"/>
          <p:cNvPicPr>
            <a:picLocks noChangeAspect="1" noChangeArrowheads="1"/>
          </p:cNvPicPr>
          <p:nvPr userDrawn="1"/>
        </p:nvPicPr>
        <p:blipFill>
          <a:blip r:embed="rId12" cstate="print"/>
          <a:srcRect/>
          <a:stretch>
            <a:fillRect/>
          </a:stretch>
        </p:blipFill>
        <p:spPr bwMode="auto">
          <a:xfrm>
            <a:off x="1" y="0"/>
            <a:ext cx="3357553" cy="1428736"/>
          </a:xfrm>
          <a:prstGeom prst="rect">
            <a:avLst/>
          </a:prstGeom>
          <a:noFill/>
        </p:spPr>
      </p:pic>
      <p:sp>
        <p:nvSpPr>
          <p:cNvPr id="8" name="矩形 7"/>
          <p:cNvSpPr/>
          <p:nvPr userDrawn="1"/>
        </p:nvSpPr>
        <p:spPr>
          <a:xfrm>
            <a:off x="0" y="1142984"/>
            <a:ext cx="9144000" cy="7143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3000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Clr>
          <a:srgbClr val="FF0000"/>
        </a:buClr>
        <a:buSzPct val="68000"/>
        <a:buFont typeface="Wingdings" panose="05000000000000000000" pitchFamily="2" charset="2"/>
        <a:buChar char="n"/>
        <a:defRPr sz="2800" b="0" kern="1200">
          <a:solidFill>
            <a:schemeClr val="tx1"/>
          </a:solidFill>
          <a:latin typeface="华文中宋" panose="02010600040101010101" pitchFamily="2" charset="-122"/>
          <a:ea typeface="华文中宋" panose="02010600040101010101" pitchFamily="2" charset="-122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Clr>
          <a:srgbClr val="FF0000"/>
        </a:buClr>
        <a:buSzPct val="68000"/>
        <a:buFont typeface="Wingdings" panose="05000000000000000000" pitchFamily="2" charset="2"/>
        <a:buChar char="Ø"/>
        <a:defRPr sz="2400" kern="1200">
          <a:solidFill>
            <a:schemeClr val="tx1"/>
          </a:solidFill>
          <a:latin typeface="华文中宋" panose="02010600040101010101" pitchFamily="2" charset="-122"/>
          <a:ea typeface="华文中宋" panose="02010600040101010101" pitchFamily="2" charset="-122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4" Type="http://schemas.openxmlformats.org/officeDocument/2006/relationships/vmlDrawing" Target="../drawings/vmlDrawing1.v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2.emf"/><Relationship Id="rId1" Type="http://schemas.openxmlformats.org/officeDocument/2006/relationships/oleObject" Target="../embeddings/oleObject1.bin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.jpe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4" Type="http://schemas.openxmlformats.org/officeDocument/2006/relationships/vmlDrawing" Target="../drawings/vmlDrawing2.v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4.emf"/><Relationship Id="rId1" Type="http://schemas.openxmlformats.org/officeDocument/2006/relationships/oleObject" Target="../embeddings/oleObject2.bin"/></Relationships>
</file>

<file path=ppt/slides/_rels/slide9.xml.rels><?xml version="1.0" encoding="UTF-8" standalone="yes"?>
<Relationships xmlns="http://schemas.openxmlformats.org/package/2006/relationships"><Relationship Id="rId4" Type="http://schemas.openxmlformats.org/officeDocument/2006/relationships/vmlDrawing" Target="../drawings/vmlDrawing3.v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5.emf"/><Relationship Id="rId1" Type="http://schemas.openxmlformats.org/officeDocument/2006/relationships/oleObject" Target="../embeddings/oleObject3.bin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4" Type="http://schemas.openxmlformats.org/officeDocument/2006/relationships/vmlDrawing" Target="../drawings/vmlDrawing4.v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6.emf"/><Relationship Id="rId1" Type="http://schemas.openxmlformats.org/officeDocument/2006/relationships/oleObject" Target="../embeddings/oleObject4.bin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4" Type="http://schemas.openxmlformats.org/officeDocument/2006/relationships/vmlDrawing" Target="../drawings/vmlDrawing5.v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7.emf"/><Relationship Id="rId1" Type="http://schemas.openxmlformats.org/officeDocument/2006/relationships/oleObject" Target="../embeddings/oleObject5.bin"/></Relationships>
</file>

<file path=ppt/slides/_rels/slide22.xml.rels><?xml version="1.0" encoding="UTF-8" standalone="yes"?>
<Relationships xmlns="http://schemas.openxmlformats.org/package/2006/relationships"><Relationship Id="rId4" Type="http://schemas.openxmlformats.org/officeDocument/2006/relationships/vmlDrawing" Target="../drawings/vmlDrawing6.v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8.emf"/><Relationship Id="rId1" Type="http://schemas.openxmlformats.org/officeDocument/2006/relationships/oleObject" Target="../embeddings/oleObject6.bin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4" Type="http://schemas.openxmlformats.org/officeDocument/2006/relationships/vmlDrawing" Target="../drawings/vmlDrawing7.v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9.emf"/><Relationship Id="rId1" Type="http://schemas.openxmlformats.org/officeDocument/2006/relationships/oleObject" Target="../embeddings/oleObject7.bin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zh-CN" altLang="en-US" sz="4800" dirty="0" smtClean="0"/>
              <a:t>第二章 操作系统的硬件基础</a:t>
            </a:r>
            <a:endParaRPr lang="zh-CN" altLang="en-US" sz="4800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zh-CN" altLang="en-US" dirty="0" smtClean="0">
                <a:solidFill>
                  <a:schemeClr val="tx1"/>
                </a:solidFill>
              </a:rPr>
              <a:t>刘晓建</a:t>
            </a:r>
            <a:endParaRPr lang="en-US" altLang="zh-CN" dirty="0" smtClean="0">
              <a:solidFill>
                <a:schemeClr val="tx1"/>
              </a:solidFill>
            </a:endParaRPr>
          </a:p>
          <a:p>
            <a:r>
              <a:rPr lang="en-US" altLang="zh-CN" dirty="0" smtClean="0">
                <a:solidFill>
                  <a:schemeClr val="tx1"/>
                </a:solidFill>
              </a:rPr>
              <a:t>2022</a:t>
            </a:r>
            <a:r>
              <a:rPr lang="zh-CN" altLang="en-US" dirty="0" smtClean="0">
                <a:solidFill>
                  <a:schemeClr val="tx1"/>
                </a:solidFill>
              </a:rPr>
              <a:t>年</a:t>
            </a:r>
            <a:r>
              <a:rPr lang="en-US" altLang="zh-CN" dirty="0" smtClean="0">
                <a:solidFill>
                  <a:schemeClr val="tx1"/>
                </a:solidFill>
              </a:rPr>
              <a:t>9</a:t>
            </a:r>
            <a:r>
              <a:rPr lang="zh-CN" altLang="en-US" dirty="0" smtClean="0">
                <a:solidFill>
                  <a:schemeClr val="tx1"/>
                </a:solidFill>
              </a:rPr>
              <a:t>月</a:t>
            </a:r>
            <a:endParaRPr lang="zh-CN" altLang="en-US" dirty="0">
              <a:solidFill>
                <a:schemeClr val="tx1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158" y="1357298"/>
            <a:ext cx="8229600" cy="5286412"/>
          </a:xfrm>
          <a:ln w="28575">
            <a:solidFill>
              <a:schemeClr val="tx1"/>
            </a:solidFill>
          </a:ln>
        </p:spPr>
        <p:txBody>
          <a:bodyPr>
            <a:normAutofit/>
          </a:bodyPr>
          <a:lstStyle/>
          <a:p>
            <a:pPr>
              <a:lnSpc>
                <a:spcPct val="150000"/>
              </a:lnSpc>
              <a:buNone/>
            </a:pPr>
            <a:r>
              <a:rPr lang="zh-CN" altLang="en-US" dirty="0" smtClean="0"/>
              <a:t>   </a:t>
            </a:r>
            <a:r>
              <a:rPr lang="zh-CN" altLang="en-US" sz="2600" dirty="0" smtClean="0">
                <a:solidFill>
                  <a:srgbClr val="FF0000"/>
                </a:solidFill>
              </a:rPr>
              <a:t>操作系统是直接工作在硬件资源上的软件系统</a:t>
            </a:r>
            <a:endParaRPr lang="en-US" altLang="zh-CN" sz="2600" dirty="0" smtClean="0"/>
          </a:p>
          <a:p>
            <a:pPr>
              <a:lnSpc>
                <a:spcPct val="150000"/>
              </a:lnSpc>
              <a:buNone/>
            </a:pPr>
            <a:r>
              <a:rPr lang="en-US" altLang="zh-CN" sz="2000" dirty="0" smtClean="0"/>
              <a:t>    </a:t>
            </a:r>
            <a:r>
              <a:rPr lang="zh-CN" altLang="en-US" sz="2000" dirty="0" smtClean="0"/>
              <a:t>要了解操作系统的工作原理，首先必须了解硬件的基本特性和工作原理，以及硬件为计算（或程序执行）所提供的基本支撑。</a:t>
            </a:r>
            <a:endParaRPr lang="en-US" altLang="zh-CN" sz="2000" dirty="0" smtClean="0"/>
          </a:p>
          <a:p>
            <a:pPr>
              <a:lnSpc>
                <a:spcPct val="150000"/>
              </a:lnSpc>
              <a:buNone/>
            </a:pPr>
            <a:r>
              <a:rPr lang="en-US" altLang="zh-CN" sz="2000" dirty="0" smtClean="0"/>
              <a:t>    </a:t>
            </a:r>
            <a:r>
              <a:rPr lang="zh-CN" altLang="en-US" sz="2000" dirty="0" smtClean="0"/>
              <a:t>本章主要学习：</a:t>
            </a:r>
            <a:endParaRPr lang="en-US" altLang="zh-CN" sz="2000" dirty="0" smtClean="0"/>
          </a:p>
          <a:p>
            <a:pPr lvl="0">
              <a:lnSpc>
                <a:spcPct val="150000"/>
              </a:lnSpc>
            </a:pPr>
            <a:r>
              <a:rPr lang="zh-CN" altLang="en-US" sz="2000" dirty="0" smtClean="0"/>
              <a:t>计算机的构成部分以及各部分之间的互连关系</a:t>
            </a:r>
            <a:endParaRPr lang="zh-CN" altLang="en-US" sz="2000" dirty="0" smtClean="0"/>
          </a:p>
          <a:p>
            <a:pPr lvl="0">
              <a:lnSpc>
                <a:spcPct val="150000"/>
              </a:lnSpc>
            </a:pPr>
            <a:r>
              <a:rPr lang="zh-CN" altLang="en-US" sz="2000" dirty="0" smtClean="0"/>
              <a:t>内存、</a:t>
            </a:r>
            <a:r>
              <a:rPr lang="en-US" sz="2000" dirty="0" smtClean="0"/>
              <a:t>CPU</a:t>
            </a:r>
            <a:r>
              <a:rPr lang="zh-CN" altLang="en-US" sz="2000" dirty="0" smtClean="0"/>
              <a:t>、</a:t>
            </a:r>
            <a:r>
              <a:rPr lang="en-US" sz="2000" dirty="0" smtClean="0"/>
              <a:t>I/O</a:t>
            </a:r>
            <a:r>
              <a:rPr lang="zh-CN" altLang="en-US" sz="2000" dirty="0" smtClean="0"/>
              <a:t>模块的基本特性和工作原理</a:t>
            </a:r>
            <a:endParaRPr lang="zh-CN" altLang="en-US" sz="2000" dirty="0" smtClean="0"/>
          </a:p>
          <a:p>
            <a:pPr lvl="0">
              <a:lnSpc>
                <a:spcPct val="150000"/>
              </a:lnSpc>
            </a:pPr>
            <a:r>
              <a:rPr lang="zh-CN" altLang="en-US" sz="2000" dirty="0" smtClean="0"/>
              <a:t>指令循环、异常和异常处理的概念，明确它们在计算机程序执行过程中的基础性作用。</a:t>
            </a:r>
            <a:endParaRPr lang="zh-CN" altLang="en-US" sz="2000" dirty="0" smtClean="0"/>
          </a:p>
          <a:p>
            <a:pPr>
              <a:lnSpc>
                <a:spcPct val="150000"/>
              </a:lnSpc>
            </a:pPr>
            <a:r>
              <a:rPr lang="zh-CN" altLang="en-US" sz="2000" dirty="0" smtClean="0"/>
              <a:t>处理器的两种运行模式和模式切换，明确它们在保障计算机安全、提高计算机的可用性方面的重要作用。</a:t>
            </a:r>
            <a:endParaRPr lang="en-US" altLang="zh-CN" sz="2000" dirty="0" smtClean="0"/>
          </a:p>
          <a:p>
            <a:pPr>
              <a:lnSpc>
                <a:spcPct val="150000"/>
              </a:lnSpc>
              <a:buNone/>
            </a:pPr>
            <a:endParaRPr lang="zh-CN" altLang="en-US" sz="2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857620" y="214290"/>
            <a:ext cx="4800576" cy="857224"/>
          </a:xfrm>
        </p:spPr>
        <p:txBody>
          <a:bodyPr/>
          <a:lstStyle/>
          <a:p>
            <a:r>
              <a:rPr lang="en-US" altLang="zh-CN" dirty="0" smtClean="0"/>
              <a:t>2.1 </a:t>
            </a:r>
            <a:r>
              <a:rPr lang="zh-CN" altLang="en-US" dirty="0" smtClean="0"/>
              <a:t>计算机硬件结构</a:t>
            </a:r>
            <a:endParaRPr lang="zh-CN" altLang="en-US" dirty="0"/>
          </a:p>
        </p:txBody>
      </p:sp>
      <p:sp>
        <p:nvSpPr>
          <p:cNvPr id="100354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graphicFrame>
        <p:nvGraphicFramePr>
          <p:cNvPr id="100353" name="Object 1"/>
          <p:cNvGraphicFramePr>
            <a:graphicFrameLocks noChangeAspect="1"/>
          </p:cNvGraphicFramePr>
          <p:nvPr/>
        </p:nvGraphicFramePr>
        <p:xfrm>
          <a:off x="0" y="115674"/>
          <a:ext cx="9072530" cy="32418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5" name="Visio" r:id="rId1" imgW="9359900" imgH="3314700" progId="Visio.Drawing.11">
                  <p:embed/>
                </p:oleObj>
              </mc:Choice>
              <mc:Fallback>
                <p:oleObj name="Visio" r:id="rId1" imgW="9359900" imgH="3314700" progId="Visio.Drawing.11">
                  <p:embed/>
                  <p:pic>
                    <p:nvPicPr>
                      <p:cNvPr id="0" name="图片 1024"/>
                      <p:cNvPicPr>
                        <a:picLocks noChangeAspect="1"/>
                      </p:cNvPicPr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0" y="115674"/>
                        <a:ext cx="9072530" cy="3241888"/>
                      </a:xfrm>
                      <a:prstGeom prst="rect">
                        <a:avLst/>
                      </a:prstGeom>
                      <a:solidFill>
                        <a:srgbClr val="FFFFFF"/>
                      </a:solidFill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矩形 6"/>
          <p:cNvSpPr/>
          <p:nvPr/>
        </p:nvSpPr>
        <p:spPr>
          <a:xfrm>
            <a:off x="285720" y="3143248"/>
            <a:ext cx="8572560" cy="373115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Font typeface="Wingdings" panose="05000000000000000000" pitchFamily="2" charset="2"/>
              <a:buChar char="u"/>
            </a:pPr>
            <a:r>
              <a:rPr lang="zh-CN" altLang="en-US" sz="2000" dirty="0" smtClean="0">
                <a:latin typeface="华文中宋" panose="02010600040101010101" pitchFamily="2" charset="-122"/>
                <a:ea typeface="华文中宋" panose="02010600040101010101" pitchFamily="2" charset="-122"/>
              </a:rPr>
              <a:t>处理器是唯一具有处理功能的单元</a:t>
            </a:r>
            <a:endParaRPr lang="en-US" altLang="zh-CN" sz="2000" dirty="0" smtClean="0">
              <a:latin typeface="华文中宋" panose="02010600040101010101" pitchFamily="2" charset="-122"/>
              <a:ea typeface="华文中宋" panose="02010600040101010101" pitchFamily="2" charset="-122"/>
            </a:endParaRP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u"/>
            </a:pPr>
            <a:r>
              <a:rPr lang="zh-CN" altLang="en-US" sz="2000" dirty="0" smtClean="0">
                <a:latin typeface="华文中宋" panose="02010600040101010101" pitchFamily="2" charset="-122"/>
                <a:ea typeface="华文中宋" panose="02010600040101010101" pitchFamily="2" charset="-122"/>
              </a:rPr>
              <a:t>内存模块充当外部存储设备与处理器之间交换数据的高速缓存（</a:t>
            </a:r>
            <a:r>
              <a:rPr lang="en-US" sz="2000" dirty="0" smtClean="0">
                <a:latin typeface="华文中宋" panose="02010600040101010101" pitchFamily="2" charset="-122"/>
                <a:ea typeface="华文中宋" panose="02010600040101010101" pitchFamily="2" charset="-122"/>
              </a:rPr>
              <a:t>Cache</a:t>
            </a:r>
            <a:r>
              <a:rPr lang="zh-CN" altLang="en-US" sz="2000" dirty="0" smtClean="0">
                <a:latin typeface="华文中宋" panose="02010600040101010101" pitchFamily="2" charset="-122"/>
                <a:ea typeface="华文中宋" panose="02010600040101010101" pitchFamily="2" charset="-122"/>
              </a:rPr>
              <a:t>），通常用来存放用户程序和数据，并驻留操作系统内核；</a:t>
            </a:r>
            <a:endParaRPr lang="en-US" altLang="zh-CN" sz="2000" dirty="0" smtClean="0">
              <a:latin typeface="华文中宋" panose="02010600040101010101" pitchFamily="2" charset="-122"/>
              <a:ea typeface="华文中宋" panose="02010600040101010101" pitchFamily="2" charset="-122"/>
            </a:endParaRP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u"/>
            </a:pPr>
            <a:r>
              <a:rPr lang="en-US" sz="2000" dirty="0" smtClean="0">
                <a:latin typeface="华文中宋" panose="02010600040101010101" pitchFamily="2" charset="-122"/>
                <a:ea typeface="华文中宋" panose="02010600040101010101" pitchFamily="2" charset="-122"/>
              </a:rPr>
              <a:t>I/O</a:t>
            </a:r>
            <a:r>
              <a:rPr lang="zh-CN" altLang="en-US" sz="2000" dirty="0" smtClean="0">
                <a:latin typeface="华文中宋" panose="02010600040101010101" pitchFamily="2" charset="-122"/>
                <a:ea typeface="华文中宋" panose="02010600040101010101" pitchFamily="2" charset="-122"/>
              </a:rPr>
              <a:t>模块用来管理和控制外部设备，并充当外部设备与处理器之间交互的中介；</a:t>
            </a:r>
            <a:endParaRPr lang="en-US" altLang="zh-CN" sz="2000" dirty="0" smtClean="0">
              <a:latin typeface="华文中宋" panose="02010600040101010101" pitchFamily="2" charset="-122"/>
              <a:ea typeface="华文中宋" panose="02010600040101010101" pitchFamily="2" charset="-122"/>
            </a:endParaRP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u"/>
            </a:pPr>
            <a:r>
              <a:rPr lang="zh-CN" altLang="en-US" sz="2000" dirty="0" smtClean="0">
                <a:latin typeface="华文中宋" panose="02010600040101010101" pitchFamily="2" charset="-122"/>
                <a:ea typeface="华文中宋" panose="02010600040101010101" pitchFamily="2" charset="-122"/>
              </a:rPr>
              <a:t>系统总线是这三类模块的连接方式，实现它们之间控制、状态和数据信息的交换；</a:t>
            </a:r>
            <a:endParaRPr lang="en-US" altLang="zh-CN" sz="2000" dirty="0" smtClean="0">
              <a:latin typeface="华文中宋" panose="02010600040101010101" pitchFamily="2" charset="-122"/>
              <a:ea typeface="华文中宋" panose="02010600040101010101" pitchFamily="2" charset="-122"/>
            </a:endParaRP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u"/>
            </a:pPr>
            <a:r>
              <a:rPr lang="zh-CN" altLang="en-US" sz="2000" dirty="0" smtClean="0">
                <a:latin typeface="华文中宋" panose="02010600040101010101" pitchFamily="2" charset="-122"/>
                <a:ea typeface="华文中宋" panose="02010600040101010101" pitchFamily="2" charset="-122"/>
              </a:rPr>
              <a:t>时钟模块用来产生时钟脉冲，同步和协调这四类模块之间的交互。</a:t>
            </a:r>
            <a:endParaRPr lang="zh-CN" altLang="en-US" sz="2000" dirty="0">
              <a:latin typeface="华文中宋" panose="02010600040101010101" pitchFamily="2" charset="-122"/>
              <a:ea typeface="华文中宋" panose="02010600040101010101" pitchFamily="2" charset="-122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矩形 3"/>
          <p:cNvSpPr/>
          <p:nvPr/>
        </p:nvSpPr>
        <p:spPr>
          <a:xfrm>
            <a:off x="428596" y="1775760"/>
            <a:ext cx="8215370" cy="193899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000" dirty="0" smtClean="0">
                <a:latin typeface="华文中宋" panose="02010600040101010101" pitchFamily="2" charset="-122"/>
                <a:ea typeface="华文中宋" panose="02010600040101010101" pitchFamily="2" charset="-122"/>
              </a:rPr>
              <a:t>内存是</a:t>
            </a:r>
            <a:r>
              <a:rPr lang="zh-CN" altLang="en-US" sz="2000" dirty="0" smtClean="0">
                <a:solidFill>
                  <a:srgbClr val="FF0000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易失性</a:t>
            </a:r>
            <a:r>
              <a:rPr lang="zh-CN" altLang="en-US" sz="2000" dirty="0" smtClean="0">
                <a:latin typeface="华文中宋" panose="02010600040101010101" pitchFamily="2" charset="-122"/>
                <a:ea typeface="华文中宋" panose="02010600040101010101" pitchFamily="2" charset="-122"/>
              </a:rPr>
              <a:t>存储介质，其中存储的数据随着计算机的掉电而消失。</a:t>
            </a:r>
            <a:endParaRPr lang="en-US" altLang="zh-CN" sz="2000" dirty="0" smtClean="0">
              <a:latin typeface="华文中宋" panose="02010600040101010101" pitchFamily="2" charset="-122"/>
              <a:ea typeface="华文中宋" panose="02010600040101010101" pitchFamily="2" charset="-122"/>
            </a:endParaRP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u"/>
            </a:pPr>
            <a:r>
              <a:rPr lang="zh-CN" altLang="en-US" sz="2000" dirty="0" smtClean="0">
                <a:latin typeface="华文中宋" panose="02010600040101010101" pitchFamily="2" charset="-122"/>
                <a:ea typeface="华文中宋" panose="02010600040101010101" pitchFamily="2" charset="-122"/>
              </a:rPr>
              <a:t>从用户角度看，内存中存储操作系统内核以及应用程序的指令和数据。</a:t>
            </a:r>
            <a:endParaRPr lang="en-US" altLang="zh-CN" sz="2000" dirty="0" smtClean="0">
              <a:latin typeface="华文中宋" panose="02010600040101010101" pitchFamily="2" charset="-122"/>
              <a:ea typeface="华文中宋" panose="02010600040101010101" pitchFamily="2" charset="-122"/>
            </a:endParaRP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u"/>
            </a:pPr>
            <a:r>
              <a:rPr lang="zh-CN" altLang="en-US" sz="2000" dirty="0" smtClean="0">
                <a:latin typeface="华文中宋" panose="02010600040101010101" pitchFamily="2" charset="-122"/>
                <a:ea typeface="华文中宋" panose="02010600040101010101" pitchFamily="2" charset="-122"/>
              </a:rPr>
              <a:t>从系统角度看，内存实际上充当高速的处理器与相对低速的外部设备之间的缓存（</a:t>
            </a:r>
            <a:r>
              <a:rPr lang="en-US" sz="2000" dirty="0" smtClean="0">
                <a:latin typeface="华文中宋" panose="02010600040101010101" pitchFamily="2" charset="-122"/>
                <a:ea typeface="华文中宋" panose="02010600040101010101" pitchFamily="2" charset="-122"/>
              </a:rPr>
              <a:t>Cache</a:t>
            </a:r>
            <a:r>
              <a:rPr lang="zh-CN" altLang="en-US" sz="2000" dirty="0" smtClean="0">
                <a:latin typeface="华文中宋" panose="02010600040101010101" pitchFamily="2" charset="-122"/>
                <a:ea typeface="华文中宋" panose="02010600040101010101" pitchFamily="2" charset="-122"/>
              </a:rPr>
              <a:t>），以提高系统整体运行效率。</a:t>
            </a:r>
            <a:endParaRPr lang="zh-CN" altLang="en-US" sz="2000" dirty="0">
              <a:latin typeface="华文中宋" panose="02010600040101010101" pitchFamily="2" charset="-122"/>
              <a:ea typeface="华文中宋" panose="0201060004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428596" y="3857628"/>
            <a:ext cx="8215370" cy="286232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000" dirty="0" smtClean="0">
                <a:solidFill>
                  <a:srgbClr val="FF0000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内存的抽象模型</a:t>
            </a:r>
            <a:endParaRPr lang="en-US" altLang="zh-CN" sz="2000" dirty="0" smtClean="0">
              <a:latin typeface="华文中宋" panose="02010600040101010101" pitchFamily="2" charset="-122"/>
              <a:ea typeface="华文中宋" panose="02010600040101010101" pitchFamily="2" charset="-122"/>
            </a:endParaRP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u"/>
            </a:pPr>
            <a:r>
              <a:rPr lang="zh-CN" altLang="en-US" sz="2000" dirty="0" smtClean="0">
                <a:latin typeface="华文中宋" panose="02010600040101010101" pitchFamily="2" charset="-122"/>
                <a:ea typeface="华文中宋" panose="02010600040101010101" pitchFamily="2" charset="-122"/>
              </a:rPr>
              <a:t>大多数计算机使用</a:t>
            </a:r>
            <a:r>
              <a:rPr lang="zh-CN" altLang="en-US" sz="2000" b="1" dirty="0" smtClean="0">
                <a:latin typeface="华文中宋" panose="02010600040101010101" pitchFamily="2" charset="-122"/>
                <a:ea typeface="华文中宋" panose="02010600040101010101" pitchFamily="2" charset="-122"/>
              </a:rPr>
              <a:t>字节</a:t>
            </a:r>
            <a:r>
              <a:rPr lang="zh-CN" altLang="en-US" sz="2000" dirty="0" smtClean="0">
                <a:latin typeface="华文中宋" panose="02010600040101010101" pitchFamily="2" charset="-122"/>
                <a:ea typeface="华文中宋" panose="02010600040101010101" pitchFamily="2" charset="-122"/>
              </a:rPr>
              <a:t>（</a:t>
            </a:r>
            <a:r>
              <a:rPr lang="en-US" sz="2000" dirty="0" smtClean="0">
                <a:latin typeface="华文中宋" panose="02010600040101010101" pitchFamily="2" charset="-122"/>
                <a:ea typeface="华文中宋" panose="02010600040101010101" pitchFamily="2" charset="-122"/>
              </a:rPr>
              <a:t>Bytes</a:t>
            </a:r>
            <a:r>
              <a:rPr lang="zh-CN" altLang="en-US" sz="2000" dirty="0" smtClean="0">
                <a:latin typeface="华文中宋" panose="02010600040101010101" pitchFamily="2" charset="-122"/>
                <a:ea typeface="华文中宋" panose="02010600040101010101" pitchFamily="2" charset="-122"/>
              </a:rPr>
              <a:t>）（</a:t>
            </a:r>
            <a:r>
              <a:rPr lang="en-US" sz="2000" dirty="0" smtClean="0">
                <a:latin typeface="华文中宋" panose="02010600040101010101" pitchFamily="2" charset="-122"/>
                <a:ea typeface="华文中宋" panose="02010600040101010101" pitchFamily="2" charset="-122"/>
              </a:rPr>
              <a:t>8</a:t>
            </a:r>
            <a:r>
              <a:rPr lang="zh-CN" altLang="en-US" sz="2000" dirty="0" smtClean="0">
                <a:latin typeface="华文中宋" panose="02010600040101010101" pitchFamily="2" charset="-122"/>
                <a:ea typeface="华文中宋" panose="02010600040101010101" pitchFamily="2" charset="-122"/>
              </a:rPr>
              <a:t>位）作为内存的最小访问单元</a:t>
            </a:r>
            <a:endParaRPr lang="en-US" altLang="zh-CN" sz="2000" dirty="0" smtClean="0">
              <a:latin typeface="华文中宋" panose="02010600040101010101" pitchFamily="2" charset="-122"/>
              <a:ea typeface="华文中宋" panose="02010600040101010101" pitchFamily="2" charset="-122"/>
            </a:endParaRP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u"/>
            </a:pPr>
            <a:r>
              <a:rPr lang="zh-CN" altLang="en-US" sz="2000" dirty="0" smtClean="0">
                <a:latin typeface="华文中宋" panose="02010600040101010101" pitchFamily="2" charset="-122"/>
                <a:ea typeface="华文中宋" panose="02010600040101010101" pitchFamily="2" charset="-122"/>
              </a:rPr>
              <a:t>每个字节有一个唯一的</a:t>
            </a:r>
            <a:r>
              <a:rPr lang="zh-CN" altLang="en-US" sz="2000" b="1" dirty="0" smtClean="0">
                <a:latin typeface="华文中宋" panose="02010600040101010101" pitchFamily="2" charset="-122"/>
                <a:ea typeface="华文中宋" panose="02010600040101010101" pitchFamily="2" charset="-122"/>
              </a:rPr>
              <a:t>物理地址</a:t>
            </a:r>
            <a:r>
              <a:rPr lang="zh-CN" altLang="en-US" sz="2000" dirty="0" smtClean="0">
                <a:latin typeface="华文中宋" panose="02010600040101010101" pitchFamily="2" charset="-122"/>
                <a:ea typeface="华文中宋" panose="02010600040101010101" pitchFamily="2" charset="-122"/>
              </a:rPr>
              <a:t>。</a:t>
            </a:r>
            <a:endParaRPr lang="en-US" altLang="zh-CN" sz="2000" dirty="0" smtClean="0">
              <a:latin typeface="华文中宋" panose="02010600040101010101" pitchFamily="2" charset="-122"/>
              <a:ea typeface="华文中宋" panose="02010600040101010101" pitchFamily="2" charset="-122"/>
            </a:endParaRP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u"/>
            </a:pPr>
            <a:r>
              <a:rPr lang="zh-CN" altLang="en-US" sz="2000" dirty="0" smtClean="0">
                <a:latin typeface="华文中宋" panose="02010600040101010101" pitchFamily="2" charset="-122"/>
                <a:ea typeface="华文中宋" panose="02010600040101010101" pitchFamily="2" charset="-122"/>
              </a:rPr>
              <a:t>内存可以被抽象为字节的一维数组，首字节的地址从</a:t>
            </a:r>
            <a:r>
              <a:rPr lang="en-US" sz="2000" dirty="0" smtClean="0">
                <a:latin typeface="华文中宋" panose="02010600040101010101" pitchFamily="2" charset="-122"/>
                <a:ea typeface="华文中宋" panose="02010600040101010101" pitchFamily="2" charset="-122"/>
              </a:rPr>
              <a:t>0</a:t>
            </a:r>
            <a:r>
              <a:rPr lang="zh-CN" altLang="en-US" sz="2000" dirty="0" smtClean="0">
                <a:latin typeface="华文中宋" panose="02010600040101010101" pitchFamily="2" charset="-122"/>
                <a:ea typeface="华文中宋" panose="02010600040101010101" pitchFamily="2" charset="-122"/>
              </a:rPr>
              <a:t>开始，顺序编址。</a:t>
            </a:r>
            <a:endParaRPr lang="en-US" altLang="zh-CN" sz="2000" dirty="0" smtClean="0">
              <a:latin typeface="华文中宋" panose="02010600040101010101" pitchFamily="2" charset="-122"/>
              <a:ea typeface="华文中宋" panose="02010600040101010101" pitchFamily="2" charset="-122"/>
            </a:endParaRP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u"/>
            </a:pPr>
            <a:r>
              <a:rPr lang="zh-CN" altLang="en-US" sz="2000" dirty="0" smtClean="0">
                <a:latin typeface="华文中宋" panose="02010600040101010101" pitchFamily="2" charset="-122"/>
                <a:ea typeface="华文中宋" panose="02010600040101010101" pitchFamily="2" charset="-122"/>
              </a:rPr>
              <a:t>内存中所有</a:t>
            </a:r>
            <a:r>
              <a:rPr lang="en-US" sz="2000" dirty="0" smtClean="0">
                <a:latin typeface="华文中宋" panose="02010600040101010101" pitchFamily="2" charset="-122"/>
                <a:ea typeface="华文中宋" panose="02010600040101010101" pitchFamily="2" charset="-122"/>
              </a:rPr>
              <a:t>M</a:t>
            </a:r>
            <a:r>
              <a:rPr lang="zh-CN" altLang="en-US" sz="2000" dirty="0" smtClean="0">
                <a:latin typeface="华文中宋" panose="02010600040101010101" pitchFamily="2" charset="-122"/>
                <a:ea typeface="华文中宋" panose="02010600040101010101" pitchFamily="2" charset="-122"/>
              </a:rPr>
              <a:t>个字节的物理地址构成了一个集合</a:t>
            </a:r>
            <a:r>
              <a:rPr lang="en-US" sz="2000" dirty="0" smtClean="0">
                <a:latin typeface="华文中宋" panose="02010600040101010101" pitchFamily="2" charset="-122"/>
                <a:ea typeface="华文中宋" panose="02010600040101010101" pitchFamily="2" charset="-122"/>
              </a:rPr>
              <a:t>{0,1,2,…,M-1}</a:t>
            </a:r>
            <a:r>
              <a:rPr lang="zh-CN" altLang="en-US" sz="2000" dirty="0" smtClean="0">
                <a:latin typeface="华文中宋" panose="02010600040101010101" pitchFamily="2" charset="-122"/>
                <a:ea typeface="华文中宋" panose="02010600040101010101" pitchFamily="2" charset="-122"/>
              </a:rPr>
              <a:t>，称为“</a:t>
            </a:r>
            <a:r>
              <a:rPr lang="zh-CN" altLang="en-US" sz="2000" b="1" dirty="0" smtClean="0">
                <a:latin typeface="华文中宋" panose="02010600040101010101" pitchFamily="2" charset="-122"/>
                <a:ea typeface="华文中宋" panose="02010600040101010101" pitchFamily="2" charset="-122"/>
              </a:rPr>
              <a:t>物理地址空间</a:t>
            </a:r>
            <a:r>
              <a:rPr lang="zh-CN" altLang="en-US" sz="2000" dirty="0" smtClean="0">
                <a:latin typeface="华文中宋" panose="02010600040101010101" pitchFamily="2" charset="-122"/>
                <a:ea typeface="华文中宋" panose="02010600040101010101" pitchFamily="2" charset="-122"/>
              </a:rPr>
              <a:t>”。</a:t>
            </a:r>
            <a:endParaRPr lang="zh-CN" altLang="en-US" sz="2000" dirty="0">
              <a:latin typeface="华文中宋" panose="02010600040101010101" pitchFamily="2" charset="-122"/>
              <a:ea typeface="华文中宋" panose="02010600040101010101" pitchFamily="2" charset="-122"/>
            </a:endParaRPr>
          </a:p>
        </p:txBody>
      </p:sp>
      <p:sp>
        <p:nvSpPr>
          <p:cNvPr id="6" name="矩形 5"/>
          <p:cNvSpPr/>
          <p:nvPr/>
        </p:nvSpPr>
        <p:spPr>
          <a:xfrm>
            <a:off x="357158" y="1123565"/>
            <a:ext cx="902811" cy="66236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800" dirty="0" smtClean="0">
                <a:solidFill>
                  <a:srgbClr val="FF0000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内存</a:t>
            </a:r>
            <a:endParaRPr lang="en-US" altLang="zh-CN" sz="2800" dirty="0" smtClean="0">
              <a:solidFill>
                <a:srgbClr val="FF0000"/>
              </a:solidFill>
              <a:latin typeface="华文中宋" panose="02010600040101010101" pitchFamily="2" charset="-122"/>
              <a:ea typeface="华文中宋" panose="02010600040101010101" pitchFamily="2" charset="-122"/>
            </a:endParaRPr>
          </a:p>
        </p:txBody>
      </p:sp>
      <p:sp>
        <p:nvSpPr>
          <p:cNvPr id="7" name="椭圆形标注 6"/>
          <p:cNvSpPr/>
          <p:nvPr/>
        </p:nvSpPr>
        <p:spPr>
          <a:xfrm>
            <a:off x="6715140" y="3286124"/>
            <a:ext cx="2071702" cy="1041276"/>
          </a:xfrm>
          <a:prstGeom prst="wedgeEllipseCallout">
            <a:avLst>
              <a:gd name="adj1" fmla="val -81250"/>
              <a:gd name="adj2" fmla="val 62500"/>
            </a:avLst>
          </a:prstGeom>
          <a:solidFill>
            <a:schemeClr val="bg1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 smtClean="0">
                <a:solidFill>
                  <a:srgbClr val="FF0000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如何访问字节中的位呢？</a:t>
            </a:r>
            <a:endParaRPr lang="zh-CN" altLang="en-US" dirty="0">
              <a:solidFill>
                <a:srgbClr val="FF0000"/>
              </a:solidFill>
              <a:latin typeface="华文中宋" panose="02010600040101010101" pitchFamily="2" charset="-122"/>
              <a:ea typeface="华文中宋" panose="02010600040101010101" pitchFamily="2" charset="-122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矩形 3"/>
          <p:cNvSpPr/>
          <p:nvPr/>
        </p:nvSpPr>
        <p:spPr>
          <a:xfrm>
            <a:off x="500034" y="1500174"/>
            <a:ext cx="8358246" cy="433965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400" dirty="0" smtClean="0">
                <a:solidFill>
                  <a:srgbClr val="FF0000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字（</a:t>
            </a:r>
            <a:r>
              <a:rPr lang="en-US" altLang="zh-CN" sz="2400" dirty="0" smtClean="0">
                <a:solidFill>
                  <a:srgbClr val="FF0000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word</a:t>
            </a:r>
            <a:r>
              <a:rPr lang="zh-CN" altLang="en-US" sz="2400" dirty="0" smtClean="0">
                <a:solidFill>
                  <a:srgbClr val="FF0000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）</a:t>
            </a:r>
            <a:endParaRPr lang="en-US" altLang="zh-CN" sz="2400" dirty="0" smtClean="0">
              <a:solidFill>
                <a:srgbClr val="FF0000"/>
              </a:solidFill>
              <a:latin typeface="华文中宋" panose="02010600040101010101" pitchFamily="2" charset="-122"/>
              <a:ea typeface="华文中宋" panose="02010600040101010101" pitchFamily="2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2000" dirty="0" smtClean="0">
                <a:latin typeface="华文中宋" panose="02010600040101010101" pitchFamily="2" charset="-122"/>
                <a:ea typeface="华文中宋" panose="02010600040101010101" pitchFamily="2" charset="-122"/>
              </a:rPr>
              <a:t>       由若干个确定数目的</a:t>
            </a:r>
            <a:r>
              <a:rPr lang="zh-CN" altLang="en-US" sz="2000" dirty="0" smtClean="0">
                <a:solidFill>
                  <a:srgbClr val="FF0000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连续字节</a:t>
            </a:r>
            <a:r>
              <a:rPr lang="zh-CN" altLang="en-US" sz="2000" dirty="0" smtClean="0">
                <a:latin typeface="华文中宋" panose="02010600040101010101" pitchFamily="2" charset="-122"/>
                <a:ea typeface="华文中宋" panose="02010600040101010101" pitchFamily="2" charset="-122"/>
              </a:rPr>
              <a:t>所构成的存储区块（</a:t>
            </a:r>
            <a:r>
              <a:rPr lang="en-US" sz="2000" dirty="0" smtClean="0">
                <a:latin typeface="华文中宋" panose="02010600040101010101" pitchFamily="2" charset="-122"/>
                <a:ea typeface="华文中宋" panose="02010600040101010101" pitchFamily="2" charset="-122"/>
              </a:rPr>
              <a:t>Chunk</a:t>
            </a:r>
            <a:r>
              <a:rPr lang="zh-CN" altLang="en-US" sz="2000" dirty="0" smtClean="0">
                <a:latin typeface="华文中宋" panose="02010600040101010101" pitchFamily="2" charset="-122"/>
                <a:ea typeface="华文中宋" panose="02010600040101010101" pitchFamily="2" charset="-122"/>
              </a:rPr>
              <a:t>）称为“</a:t>
            </a:r>
            <a:r>
              <a:rPr lang="zh-CN" altLang="en-US" sz="2000" b="1" dirty="0" smtClean="0">
                <a:solidFill>
                  <a:srgbClr val="FF0000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字</a:t>
            </a:r>
            <a:r>
              <a:rPr lang="zh-CN" altLang="en-US" sz="2000" dirty="0" smtClean="0">
                <a:latin typeface="华文中宋" panose="02010600040101010101" pitchFamily="2" charset="-122"/>
                <a:ea typeface="华文中宋" panose="02010600040101010101" pitchFamily="2" charset="-122"/>
              </a:rPr>
              <a:t>”（</a:t>
            </a:r>
            <a:r>
              <a:rPr lang="en-US" sz="2000" dirty="0" smtClean="0">
                <a:latin typeface="华文中宋" panose="02010600040101010101" pitchFamily="2" charset="-122"/>
                <a:ea typeface="华文中宋" panose="02010600040101010101" pitchFamily="2" charset="-122"/>
              </a:rPr>
              <a:t>Word</a:t>
            </a:r>
            <a:r>
              <a:rPr lang="zh-CN" altLang="en-US" sz="2000" dirty="0" smtClean="0">
                <a:latin typeface="华文中宋" panose="02010600040101010101" pitchFamily="2" charset="-122"/>
                <a:ea typeface="华文中宋" panose="02010600040101010101" pitchFamily="2" charset="-122"/>
              </a:rPr>
              <a:t>）。</a:t>
            </a:r>
            <a:endParaRPr lang="en-US" altLang="zh-CN" sz="2000" dirty="0" smtClean="0">
              <a:latin typeface="华文中宋" panose="02010600040101010101" pitchFamily="2" charset="-122"/>
              <a:ea typeface="华文中宋" panose="02010600040101010101" pitchFamily="2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2000" dirty="0" smtClean="0">
                <a:latin typeface="华文中宋" panose="02010600040101010101" pitchFamily="2" charset="-122"/>
                <a:ea typeface="华文中宋" panose="02010600040101010101" pitchFamily="2" charset="-122"/>
              </a:rPr>
              <a:t>       字的大小通常用它包含的字节数或位数来表示。常见的字大小为</a:t>
            </a:r>
            <a:r>
              <a:rPr lang="en-US" sz="2000" dirty="0" smtClean="0">
                <a:latin typeface="华文中宋" panose="02010600040101010101" pitchFamily="2" charset="-122"/>
                <a:ea typeface="华文中宋" panose="02010600040101010101" pitchFamily="2" charset="-122"/>
              </a:rPr>
              <a:t>4</a:t>
            </a:r>
            <a:r>
              <a:rPr lang="zh-CN" altLang="en-US" sz="2000" dirty="0" smtClean="0">
                <a:latin typeface="华文中宋" panose="02010600040101010101" pitchFamily="2" charset="-122"/>
                <a:ea typeface="华文中宋" panose="02010600040101010101" pitchFamily="2" charset="-122"/>
              </a:rPr>
              <a:t>字节（</a:t>
            </a:r>
            <a:r>
              <a:rPr lang="en-US" sz="2000" dirty="0" smtClean="0">
                <a:latin typeface="华文中宋" panose="02010600040101010101" pitchFamily="2" charset="-122"/>
                <a:ea typeface="华文中宋" panose="02010600040101010101" pitchFamily="2" charset="-122"/>
              </a:rPr>
              <a:t>32</a:t>
            </a:r>
            <a:r>
              <a:rPr lang="zh-CN" altLang="en-US" sz="2000" dirty="0" smtClean="0">
                <a:latin typeface="华文中宋" panose="02010600040101010101" pitchFamily="2" charset="-122"/>
                <a:ea typeface="华文中宋" panose="02010600040101010101" pitchFamily="2" charset="-122"/>
              </a:rPr>
              <a:t>位）或</a:t>
            </a:r>
            <a:r>
              <a:rPr lang="en-US" sz="2000" dirty="0" smtClean="0">
                <a:latin typeface="华文中宋" panose="02010600040101010101" pitchFamily="2" charset="-122"/>
                <a:ea typeface="华文中宋" panose="02010600040101010101" pitchFamily="2" charset="-122"/>
              </a:rPr>
              <a:t>8</a:t>
            </a:r>
            <a:r>
              <a:rPr lang="zh-CN" altLang="en-US" sz="2000" dirty="0" smtClean="0">
                <a:latin typeface="华文中宋" panose="02010600040101010101" pitchFamily="2" charset="-122"/>
                <a:ea typeface="华文中宋" panose="02010600040101010101" pitchFamily="2" charset="-122"/>
              </a:rPr>
              <a:t>字节（</a:t>
            </a:r>
            <a:r>
              <a:rPr lang="en-US" sz="2000" dirty="0" smtClean="0">
                <a:latin typeface="华文中宋" panose="02010600040101010101" pitchFamily="2" charset="-122"/>
                <a:ea typeface="华文中宋" panose="02010600040101010101" pitchFamily="2" charset="-122"/>
              </a:rPr>
              <a:t>64</a:t>
            </a:r>
            <a:r>
              <a:rPr lang="zh-CN" altLang="en-US" sz="2000" dirty="0" smtClean="0">
                <a:latin typeface="华文中宋" panose="02010600040101010101" pitchFamily="2" charset="-122"/>
                <a:ea typeface="华文中宋" panose="02010600040101010101" pitchFamily="2" charset="-122"/>
              </a:rPr>
              <a:t>位），它是计算机系统的一个重要参数。通常，一个整数值或指针值用一个字的大小来表示，因此如果一个计算机系统的字大小是</a:t>
            </a:r>
            <a:r>
              <a:rPr lang="en-US" sz="2000" dirty="0" smtClean="0">
                <a:latin typeface="华文中宋" panose="02010600040101010101" pitchFamily="2" charset="-122"/>
                <a:ea typeface="华文中宋" panose="02010600040101010101" pitchFamily="2" charset="-122"/>
              </a:rPr>
              <a:t>32</a:t>
            </a:r>
            <a:r>
              <a:rPr lang="zh-CN" altLang="en-US" sz="2000" dirty="0" smtClean="0">
                <a:latin typeface="华文中宋" panose="02010600040101010101" pitchFamily="2" charset="-122"/>
                <a:ea typeface="华文中宋" panose="02010600040101010101" pitchFamily="2" charset="-122"/>
              </a:rPr>
              <a:t>位，那么一个整数值或指针值（即地址值）也就用</a:t>
            </a:r>
            <a:r>
              <a:rPr lang="en-US" sz="2000" dirty="0" smtClean="0">
                <a:latin typeface="华文中宋" panose="02010600040101010101" pitchFamily="2" charset="-122"/>
                <a:ea typeface="华文中宋" panose="02010600040101010101" pitchFamily="2" charset="-122"/>
              </a:rPr>
              <a:t>32</a:t>
            </a:r>
            <a:r>
              <a:rPr lang="zh-CN" altLang="en-US" sz="2000" dirty="0" smtClean="0">
                <a:latin typeface="华文中宋" panose="02010600040101010101" pitchFamily="2" charset="-122"/>
                <a:ea typeface="华文中宋" panose="02010600040101010101" pitchFamily="2" charset="-122"/>
              </a:rPr>
              <a:t>位（即</a:t>
            </a:r>
            <a:r>
              <a:rPr lang="en-US" sz="2000" dirty="0" smtClean="0">
                <a:latin typeface="华文中宋" panose="02010600040101010101" pitchFamily="2" charset="-122"/>
                <a:ea typeface="华文中宋" panose="02010600040101010101" pitchFamily="2" charset="-122"/>
              </a:rPr>
              <a:t>4</a:t>
            </a:r>
            <a:r>
              <a:rPr lang="zh-CN" altLang="en-US" sz="2000" dirty="0" smtClean="0">
                <a:latin typeface="华文中宋" panose="02010600040101010101" pitchFamily="2" charset="-122"/>
                <a:ea typeface="华文中宋" panose="02010600040101010101" pitchFamily="2" charset="-122"/>
              </a:rPr>
              <a:t>个字节）来表示。</a:t>
            </a:r>
            <a:endParaRPr lang="en-US" altLang="zh-CN" sz="2000" dirty="0" smtClean="0">
              <a:latin typeface="华文中宋" panose="02010600040101010101" pitchFamily="2" charset="-122"/>
              <a:ea typeface="华文中宋" panose="02010600040101010101" pitchFamily="2" charset="-122"/>
            </a:endParaRPr>
          </a:p>
          <a:p>
            <a:pPr>
              <a:lnSpc>
                <a:spcPct val="150000"/>
              </a:lnSpc>
            </a:pPr>
            <a:r>
              <a:rPr lang="en-US" altLang="zh-CN" sz="2000" dirty="0" smtClean="0">
                <a:latin typeface="华文中宋" panose="02010600040101010101" pitchFamily="2" charset="-122"/>
                <a:ea typeface="华文中宋" panose="02010600040101010101" pitchFamily="2" charset="-122"/>
              </a:rPr>
              <a:t>      C</a:t>
            </a:r>
            <a:r>
              <a:rPr lang="zh-CN" altLang="en-US" sz="2000" dirty="0" smtClean="0">
                <a:latin typeface="华文中宋" panose="02010600040101010101" pitchFamily="2" charset="-122"/>
                <a:ea typeface="华文中宋" panose="02010600040101010101" pitchFamily="2" charset="-122"/>
              </a:rPr>
              <a:t>语言中不同类型的数据占据的字（或字节）大小不同。</a:t>
            </a:r>
            <a:endParaRPr lang="zh-CN" altLang="en-US" sz="2000" dirty="0">
              <a:latin typeface="华文中宋" panose="02010600040101010101" pitchFamily="2" charset="-122"/>
              <a:ea typeface="华文中宋" panose="02010600040101010101" pitchFamily="2" charset="-122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103425" name="Rectangle 1"/>
          <p:cNvSpPr>
            <a:spLocks noChangeArrowheads="1"/>
          </p:cNvSpPr>
          <p:nvPr/>
        </p:nvSpPr>
        <p:spPr bwMode="auto">
          <a:xfrm>
            <a:off x="285720" y="1285860"/>
            <a:ext cx="8572560" cy="2215991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square" lIns="91440" tIns="45720" rIns="91440" bIns="45720" numCol="1" anchor="ctr" anchorCtr="0" compatLnSpc="1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zh-CN" altLang="en-US" sz="2000" i="0" u="none" strike="noStrike" cap="none" normalizeH="0" baseline="0" dirty="0" smtClean="0">
                <a:ln>
                  <a:noFill/>
                </a:ln>
                <a:solidFill>
                  <a:srgbClr val="FF0000"/>
                </a:solidFill>
                <a:effectLst/>
                <a:latin typeface="华文中宋" panose="02010600040101010101" pitchFamily="2" charset="-122"/>
                <a:ea typeface="华文中宋" panose="02010600040101010101" pitchFamily="2" charset="-122"/>
                <a:cs typeface="Times New Roman" panose="02020603050405020304" pitchFamily="18" charset="0"/>
              </a:rPr>
              <a:t>字的</a:t>
            </a:r>
            <a:r>
              <a:rPr kumimoji="0" lang="zh-CN" sz="2000" i="0" u="none" strike="noStrike" cap="none" normalizeH="0" baseline="0" dirty="0" smtClean="0">
                <a:ln>
                  <a:noFill/>
                </a:ln>
                <a:solidFill>
                  <a:srgbClr val="FF0000"/>
                </a:solidFill>
                <a:effectLst/>
                <a:latin typeface="华文中宋" panose="02010600040101010101" pitchFamily="2" charset="-122"/>
                <a:ea typeface="华文中宋" panose="02010600040101010101" pitchFamily="2" charset="-122"/>
                <a:cs typeface="Times New Roman" panose="02020603050405020304" pitchFamily="18" charset="0"/>
              </a:rPr>
              <a:t>大端（</a:t>
            </a:r>
            <a:r>
              <a:rPr kumimoji="0" lang="en-US" altLang="zh-CN" sz="2000" i="0" u="none" strike="noStrike" cap="none" normalizeH="0" baseline="0" dirty="0" smtClean="0">
                <a:ln>
                  <a:noFill/>
                </a:ln>
                <a:solidFill>
                  <a:srgbClr val="FF0000"/>
                </a:solidFill>
                <a:effectLst/>
                <a:latin typeface="华文中宋" panose="02010600040101010101" pitchFamily="2" charset="-122"/>
                <a:ea typeface="华文中宋" panose="02010600040101010101" pitchFamily="2" charset="-122"/>
                <a:cs typeface="Times New Roman" panose="02020603050405020304" pitchFamily="18" charset="0"/>
              </a:rPr>
              <a:t>Big </a:t>
            </a:r>
            <a:r>
              <a:rPr kumimoji="0" lang="en-US" altLang="zh-CN" sz="2000" i="0" u="none" strike="noStrike" cap="none" normalizeH="0" baseline="0" dirty="0" err="1" smtClean="0">
                <a:ln>
                  <a:noFill/>
                </a:ln>
                <a:solidFill>
                  <a:srgbClr val="FF0000"/>
                </a:solidFill>
                <a:effectLst/>
                <a:latin typeface="华文中宋" panose="02010600040101010101" pitchFamily="2" charset="-122"/>
                <a:ea typeface="华文中宋" panose="02010600040101010101" pitchFamily="2" charset="-122"/>
                <a:cs typeface="Times New Roman" panose="02020603050405020304" pitchFamily="18" charset="0"/>
              </a:rPr>
              <a:t>endian</a:t>
            </a:r>
            <a:r>
              <a:rPr kumimoji="0" lang="zh-CN" altLang="en-US" sz="2000" i="0" u="none" strike="noStrike" cap="none" normalizeH="0" baseline="0" dirty="0" smtClean="0">
                <a:ln>
                  <a:noFill/>
                </a:ln>
                <a:solidFill>
                  <a:srgbClr val="FF0000"/>
                </a:solidFill>
                <a:effectLst/>
                <a:latin typeface="华文中宋" panose="02010600040101010101" pitchFamily="2" charset="-122"/>
                <a:ea typeface="华文中宋" panose="02010600040101010101" pitchFamily="2" charset="-122"/>
                <a:cs typeface="Times New Roman" panose="02020603050405020304" pitchFamily="18" charset="0"/>
              </a:rPr>
              <a:t>）和小端（</a:t>
            </a:r>
            <a:r>
              <a:rPr kumimoji="0" lang="en-US" altLang="zh-CN" sz="2000" i="0" u="none" strike="noStrike" cap="none" normalizeH="0" baseline="0" dirty="0" smtClean="0">
                <a:ln>
                  <a:noFill/>
                </a:ln>
                <a:solidFill>
                  <a:srgbClr val="FF0000"/>
                </a:solidFill>
                <a:effectLst/>
                <a:latin typeface="华文中宋" panose="02010600040101010101" pitchFamily="2" charset="-122"/>
                <a:ea typeface="华文中宋" panose="02010600040101010101" pitchFamily="2" charset="-122"/>
                <a:cs typeface="Times New Roman" panose="02020603050405020304" pitchFamily="18" charset="0"/>
              </a:rPr>
              <a:t>Little </a:t>
            </a:r>
            <a:r>
              <a:rPr kumimoji="0" lang="en-US" altLang="zh-CN" sz="2000" i="0" u="none" strike="noStrike" cap="none" normalizeH="0" baseline="0" dirty="0" err="1" smtClean="0">
                <a:ln>
                  <a:noFill/>
                </a:ln>
                <a:solidFill>
                  <a:srgbClr val="FF0000"/>
                </a:solidFill>
                <a:effectLst/>
                <a:latin typeface="华文中宋" panose="02010600040101010101" pitchFamily="2" charset="-122"/>
                <a:ea typeface="华文中宋" panose="02010600040101010101" pitchFamily="2" charset="-122"/>
                <a:cs typeface="Times New Roman" panose="02020603050405020304" pitchFamily="18" charset="0"/>
              </a:rPr>
              <a:t>endian</a:t>
            </a:r>
            <a:r>
              <a:rPr kumimoji="0" lang="zh-CN" altLang="en-US" sz="2000" i="0" u="none" strike="noStrike" cap="none" normalizeH="0" baseline="0" dirty="0" smtClean="0">
                <a:ln>
                  <a:noFill/>
                </a:ln>
                <a:solidFill>
                  <a:srgbClr val="FF0000"/>
                </a:solidFill>
                <a:effectLst/>
                <a:latin typeface="华文中宋" panose="02010600040101010101" pitchFamily="2" charset="-122"/>
                <a:ea typeface="华文中宋" panose="02010600040101010101" pitchFamily="2" charset="-122"/>
                <a:cs typeface="Times New Roman" panose="02020603050405020304" pitchFamily="18" charset="0"/>
              </a:rPr>
              <a:t>） </a:t>
            </a:r>
            <a:endParaRPr kumimoji="0" lang="zh-CN" altLang="en-US" sz="2000" i="0" u="none" strike="noStrike" cap="none" normalizeH="0" baseline="0" dirty="0" smtClean="0">
              <a:ln>
                <a:noFill/>
              </a:ln>
              <a:solidFill>
                <a:srgbClr val="FF0000"/>
              </a:solidFill>
              <a:effectLst/>
              <a:latin typeface="华文中宋" panose="02010600040101010101" pitchFamily="2" charset="-122"/>
              <a:ea typeface="华文中宋" panose="02010600040101010101" pitchFamily="2" charset="-122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zh-CN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华文中宋" panose="02010600040101010101" pitchFamily="2" charset="-122"/>
                <a:ea typeface="华文中宋" panose="02010600040101010101" pitchFamily="2" charset="-122"/>
                <a:cs typeface="Times New Roman" panose="02020603050405020304" pitchFamily="18" charset="0"/>
              </a:rPr>
              <a:t>多字节数据对象都用相邻的字节来存储。这样就带来两个问题：</a:t>
            </a:r>
            <a:endParaRPr kumimoji="0" lang="en-US" altLang="zh-CN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华文中宋" panose="02010600040101010101" pitchFamily="2" charset="-122"/>
              <a:ea typeface="华文中宋" panose="02010600040101010101" pitchFamily="2" charset="-122"/>
              <a:cs typeface="Times New Roman" panose="02020603050405020304" pitchFamily="18" charset="0"/>
            </a:endParaRPr>
          </a:p>
          <a:p>
            <a:pPr lvl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u"/>
            </a:pPr>
            <a:r>
              <a:rPr kumimoji="0" lang="zh-CN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华文中宋" panose="02010600040101010101" pitchFamily="2" charset="-122"/>
                <a:ea typeface="华文中宋" panose="02010600040101010101" pitchFamily="2" charset="-122"/>
                <a:cs typeface="Times New Roman" panose="02020603050405020304" pitchFamily="18" charset="0"/>
              </a:rPr>
              <a:t>一是多字节数据对象的地址怎样确定？</a:t>
            </a:r>
            <a:r>
              <a:rPr lang="zh-CN" altLang="en-US" dirty="0" smtClean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  <a:cs typeface="Times New Roman" panose="02020603050405020304" pitchFamily="18" charset="0"/>
              </a:rPr>
              <a:t>通常用字节的最小地址作为多字节数据对象的地址。</a:t>
            </a:r>
            <a:endParaRPr kumimoji="0" lang="en-US" altLang="zh-CN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华文中宋" panose="02010600040101010101" pitchFamily="2" charset="-122"/>
              <a:ea typeface="华文中宋" panose="02010600040101010101" pitchFamily="2" charset="-122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u"/>
            </a:pPr>
            <a:r>
              <a:rPr kumimoji="0" lang="zh-CN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华文中宋" panose="02010600040101010101" pitchFamily="2" charset="-122"/>
                <a:ea typeface="华文中宋" panose="02010600040101010101" pitchFamily="2" charset="-122"/>
                <a:cs typeface="Times New Roman" panose="02020603050405020304" pitchFamily="18" charset="0"/>
              </a:rPr>
              <a:t>二是多个字节的顺序如何规定</a:t>
            </a:r>
            <a:r>
              <a:rPr lang="zh-CN" altLang="en-US" dirty="0" smtClean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  <a:cs typeface="Times New Roman" panose="02020603050405020304" pitchFamily="18" charset="0"/>
              </a:rPr>
              <a:t>？</a:t>
            </a:r>
            <a:endParaRPr lang="en-US" altLang="zh-CN" dirty="0" smtClean="0">
              <a:solidFill>
                <a:schemeClr val="tx1"/>
              </a:solidFill>
              <a:latin typeface="华文中宋" panose="02010600040101010101" pitchFamily="2" charset="-122"/>
              <a:ea typeface="华文中宋" panose="0201060004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285720" y="3714752"/>
            <a:ext cx="8429684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000" dirty="0" smtClean="0">
                <a:latin typeface="华文中宋" panose="02010600040101010101" pitchFamily="2" charset="-122"/>
                <a:ea typeface="华文中宋" panose="02010600040101010101" pitchFamily="2" charset="-122"/>
              </a:rPr>
              <a:t>有一个</a:t>
            </a:r>
            <a:r>
              <a:rPr lang="en-US" altLang="zh-CN" sz="2000" dirty="0" smtClean="0">
                <a:latin typeface="华文中宋" panose="02010600040101010101" pitchFamily="2" charset="-122"/>
                <a:ea typeface="华文中宋" panose="02010600040101010101" pitchFamily="2" charset="-122"/>
              </a:rPr>
              <a:t>32</a:t>
            </a:r>
            <a:r>
              <a:rPr lang="zh-CN" altLang="en-US" sz="2000" dirty="0" smtClean="0">
                <a:latin typeface="华文中宋" panose="02010600040101010101" pitchFamily="2" charset="-122"/>
                <a:ea typeface="华文中宋" panose="02010600040101010101" pitchFamily="2" charset="-122"/>
              </a:rPr>
              <a:t>位整数：</a:t>
            </a:r>
            <a:endParaRPr lang="en-US" altLang="zh-CN" sz="2000" dirty="0" smtClean="0">
              <a:latin typeface="华文中宋" panose="02010600040101010101" pitchFamily="2" charset="-122"/>
              <a:ea typeface="华文中宋" panose="02010600040101010101" pitchFamily="2" charset="-122"/>
            </a:endParaRPr>
          </a:p>
          <a:p>
            <a:pPr algn="ctr">
              <a:lnSpc>
                <a:spcPct val="150000"/>
              </a:lnSpc>
            </a:pPr>
            <a:r>
              <a:rPr lang="en-US" altLang="zh-CN" sz="2000" dirty="0" smtClean="0">
                <a:latin typeface="华文中宋" panose="02010600040101010101" pitchFamily="2" charset="-122"/>
                <a:ea typeface="华文中宋" panose="02010600040101010101" pitchFamily="2" charset="-122"/>
              </a:rPr>
              <a:t>0x12345678</a:t>
            </a:r>
            <a:endParaRPr lang="en-US" altLang="zh-CN" sz="2000" dirty="0" smtClean="0">
              <a:latin typeface="华文中宋" panose="02010600040101010101" pitchFamily="2" charset="-122"/>
              <a:ea typeface="华文中宋" panose="02010600040101010101" pitchFamily="2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2000" dirty="0" smtClean="0">
                <a:latin typeface="华文中宋" panose="02010600040101010101" pitchFamily="2" charset="-122"/>
                <a:ea typeface="华文中宋" panose="02010600040101010101" pitchFamily="2" charset="-122"/>
              </a:rPr>
              <a:t>要把它存放在地址分别为</a:t>
            </a:r>
            <a:r>
              <a:rPr lang="en-US" altLang="zh-CN" sz="2000" dirty="0" smtClean="0">
                <a:latin typeface="华文中宋" panose="02010600040101010101" pitchFamily="2" charset="-122"/>
                <a:ea typeface="华文中宋" panose="02010600040101010101" pitchFamily="2" charset="-122"/>
                <a:cs typeface="Times New Roman" panose="02020603050405020304" pitchFamily="18" charset="0"/>
              </a:rPr>
              <a:t>0x100</a:t>
            </a:r>
            <a:r>
              <a:rPr lang="zh-CN" altLang="en-US" sz="2000" dirty="0" smtClean="0">
                <a:latin typeface="华文中宋" panose="02010600040101010101" pitchFamily="2" charset="-122"/>
                <a:ea typeface="华文中宋" panose="02010600040101010101" pitchFamily="2" charset="-122"/>
                <a:cs typeface="Times New Roman" panose="02020603050405020304" pitchFamily="18" charset="0"/>
              </a:rPr>
              <a:t>，</a:t>
            </a:r>
            <a:r>
              <a:rPr lang="en-US" altLang="zh-CN" sz="2000" dirty="0" smtClean="0">
                <a:latin typeface="华文中宋" panose="02010600040101010101" pitchFamily="2" charset="-122"/>
                <a:ea typeface="华文中宋" panose="02010600040101010101" pitchFamily="2" charset="-122"/>
                <a:cs typeface="Times New Roman" panose="02020603050405020304" pitchFamily="18" charset="0"/>
              </a:rPr>
              <a:t>0x101</a:t>
            </a:r>
            <a:r>
              <a:rPr lang="zh-CN" altLang="en-US" sz="2000" dirty="0" smtClean="0">
                <a:latin typeface="华文中宋" panose="02010600040101010101" pitchFamily="2" charset="-122"/>
                <a:ea typeface="华文中宋" panose="02010600040101010101" pitchFamily="2" charset="-122"/>
                <a:cs typeface="Times New Roman" panose="02020603050405020304" pitchFamily="18" charset="0"/>
              </a:rPr>
              <a:t>，</a:t>
            </a:r>
            <a:r>
              <a:rPr lang="en-US" altLang="zh-CN" sz="2000" dirty="0" smtClean="0">
                <a:latin typeface="华文中宋" panose="02010600040101010101" pitchFamily="2" charset="-122"/>
                <a:ea typeface="华文中宋" panose="02010600040101010101" pitchFamily="2" charset="-122"/>
                <a:cs typeface="Times New Roman" panose="02020603050405020304" pitchFamily="18" charset="0"/>
              </a:rPr>
              <a:t>0x102</a:t>
            </a:r>
            <a:r>
              <a:rPr lang="zh-CN" altLang="en-US" sz="2000" dirty="0" smtClean="0">
                <a:latin typeface="华文中宋" panose="02010600040101010101" pitchFamily="2" charset="-122"/>
                <a:ea typeface="华文中宋" panose="02010600040101010101" pitchFamily="2" charset="-122"/>
                <a:cs typeface="Times New Roman" panose="02020603050405020304" pitchFamily="18" charset="0"/>
              </a:rPr>
              <a:t>和</a:t>
            </a:r>
            <a:r>
              <a:rPr lang="en-US" altLang="zh-CN" sz="2000" dirty="0" smtClean="0">
                <a:latin typeface="华文中宋" panose="02010600040101010101" pitchFamily="2" charset="-122"/>
                <a:ea typeface="华文中宋" panose="02010600040101010101" pitchFamily="2" charset="-122"/>
                <a:cs typeface="Times New Roman" panose="02020603050405020304" pitchFamily="18" charset="0"/>
              </a:rPr>
              <a:t>0x103</a:t>
            </a:r>
            <a:r>
              <a:rPr lang="zh-CN" altLang="en-US" sz="2000" dirty="0" smtClean="0">
                <a:latin typeface="华文中宋" panose="02010600040101010101" pitchFamily="2" charset="-122"/>
                <a:ea typeface="华文中宋" panose="02010600040101010101" pitchFamily="2" charset="-122"/>
              </a:rPr>
              <a:t>的四个字节中，</a:t>
            </a:r>
            <a:endParaRPr lang="en-US" altLang="zh-CN" sz="2000" dirty="0" smtClean="0">
              <a:latin typeface="华文中宋" panose="02010600040101010101" pitchFamily="2" charset="-122"/>
              <a:ea typeface="华文中宋" panose="02010600040101010101" pitchFamily="2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2000" dirty="0" smtClean="0">
                <a:latin typeface="华文中宋" panose="02010600040101010101" pitchFamily="2" charset="-122"/>
                <a:ea typeface="华文中宋" panose="02010600040101010101" pitchFamily="2" charset="-122"/>
              </a:rPr>
              <a:t>如何在内存中保存它呢？如何确定这个整数的地址呢？</a:t>
            </a:r>
            <a:endParaRPr lang="zh-CN" altLang="en-US" sz="2000" dirty="0">
              <a:latin typeface="华文中宋" panose="02010600040101010101" pitchFamily="2" charset="-122"/>
              <a:ea typeface="华文中宋" panose="02010600040101010101" pitchFamily="2" charset="-122"/>
            </a:endParaRPr>
          </a:p>
        </p:txBody>
      </p:sp>
      <p:pic>
        <p:nvPicPr>
          <p:cNvPr id="103427" name="Picture 3" descr="http://a0.att.hudong.com/48/16/20300542522853140004167672146_s.jpg"/>
          <p:cNvPicPr>
            <a:picLocks noChangeAspect="1" noChangeArrowheads="1"/>
          </p:cNvPicPr>
          <p:nvPr/>
        </p:nvPicPr>
        <p:blipFill>
          <a:blip r:embed="rId1"/>
          <a:srcRect/>
          <a:stretch>
            <a:fillRect/>
          </a:stretch>
        </p:blipFill>
        <p:spPr bwMode="auto">
          <a:xfrm>
            <a:off x="6643702" y="5240535"/>
            <a:ext cx="1143008" cy="1617465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Rectangle 1"/>
          <p:cNvSpPr>
            <a:spLocks noChangeArrowheads="1"/>
          </p:cNvSpPr>
          <p:nvPr/>
        </p:nvSpPr>
        <p:spPr bwMode="auto">
          <a:xfrm>
            <a:off x="285720" y="1285860"/>
            <a:ext cx="8572560" cy="4708981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square" lIns="91440" tIns="45720" rIns="91440" bIns="45720" numCol="1" anchor="ctr" anchorCtr="0" compatLnSpc="1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zh-CN" altLang="en-US" sz="2000" i="0" u="none" strike="noStrike" cap="none" normalizeH="0" baseline="0" dirty="0" smtClean="0">
                <a:ln>
                  <a:noFill/>
                </a:ln>
                <a:solidFill>
                  <a:srgbClr val="FF0000"/>
                </a:solidFill>
                <a:effectLst/>
                <a:latin typeface="华文中宋" panose="02010600040101010101" pitchFamily="2" charset="-122"/>
                <a:ea typeface="华文中宋" panose="02010600040101010101" pitchFamily="2" charset="-122"/>
                <a:cs typeface="Times New Roman" panose="02020603050405020304" pitchFamily="18" charset="0"/>
              </a:rPr>
              <a:t>处理器（</a:t>
            </a:r>
            <a:r>
              <a:rPr kumimoji="0" lang="en-US" altLang="zh-CN" sz="2000" i="0" u="none" strike="noStrike" cap="none" normalizeH="0" baseline="0" dirty="0" smtClean="0">
                <a:ln>
                  <a:noFill/>
                </a:ln>
                <a:solidFill>
                  <a:srgbClr val="FF0000"/>
                </a:solidFill>
                <a:effectLst/>
                <a:latin typeface="华文中宋" panose="02010600040101010101" pitchFamily="2" charset="-122"/>
                <a:ea typeface="华文中宋" panose="02010600040101010101" pitchFamily="2" charset="-122"/>
                <a:cs typeface="Times New Roman" panose="02020603050405020304" pitchFamily="18" charset="0"/>
              </a:rPr>
              <a:t>CPU</a:t>
            </a:r>
            <a:r>
              <a:rPr kumimoji="0" lang="zh-CN" altLang="en-US" sz="2000" i="0" u="none" strike="noStrike" cap="none" normalizeH="0" baseline="0" dirty="0" smtClean="0">
                <a:ln>
                  <a:noFill/>
                </a:ln>
                <a:solidFill>
                  <a:srgbClr val="FF0000"/>
                </a:solidFill>
                <a:effectLst/>
                <a:latin typeface="华文中宋" panose="02010600040101010101" pitchFamily="2" charset="-122"/>
                <a:ea typeface="华文中宋" panose="02010600040101010101" pitchFamily="2" charset="-122"/>
                <a:cs typeface="Times New Roman" panose="02020603050405020304" pitchFamily="18" charset="0"/>
              </a:rPr>
              <a:t>）：唯一具有处理能力的单元 </a:t>
            </a:r>
            <a:endParaRPr kumimoji="0" lang="zh-CN" altLang="en-US" sz="2000" i="0" u="none" strike="noStrike" cap="none" normalizeH="0" baseline="0" dirty="0" smtClean="0">
              <a:ln>
                <a:noFill/>
              </a:ln>
              <a:solidFill>
                <a:srgbClr val="FF0000"/>
              </a:solidFill>
              <a:effectLst/>
              <a:latin typeface="华文中宋" panose="02010600040101010101" pitchFamily="2" charset="-122"/>
              <a:ea typeface="华文中宋" panose="02010600040101010101" pitchFamily="2" charset="-122"/>
              <a:cs typeface="Times New Roman" panose="02020603050405020304" pitchFamily="18" charset="0"/>
            </a:endParaRPr>
          </a:p>
          <a:p>
            <a:pPr lvl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u"/>
            </a:pPr>
            <a:r>
              <a:rPr lang="zh-CN" altLang="en-US" dirty="0" smtClean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  <a:cs typeface="Times New Roman" panose="02020603050405020304" pitchFamily="18" charset="0"/>
              </a:rPr>
              <a:t>算术逻辑单元</a:t>
            </a:r>
            <a:r>
              <a:rPr lang="en-US" altLang="zh-CN" dirty="0" smtClean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  <a:cs typeface="Times New Roman" panose="02020603050405020304" pitchFamily="18" charset="0"/>
              </a:rPr>
              <a:t>ALU</a:t>
            </a:r>
            <a:endParaRPr lang="en-US" altLang="zh-CN" dirty="0" smtClean="0">
              <a:solidFill>
                <a:schemeClr val="tx1"/>
              </a:solidFill>
              <a:latin typeface="华文中宋" panose="02010600040101010101" pitchFamily="2" charset="-122"/>
              <a:ea typeface="华文中宋" panose="02010600040101010101" pitchFamily="2" charset="-122"/>
              <a:cs typeface="Times New Roman" panose="02020603050405020304" pitchFamily="18" charset="0"/>
            </a:endParaRPr>
          </a:p>
          <a:p>
            <a:pPr lvl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u"/>
            </a:pPr>
            <a:r>
              <a:rPr lang="zh-CN" altLang="en-US" dirty="0" smtClean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  <a:cs typeface="Times New Roman" panose="02020603050405020304" pitchFamily="18" charset="0"/>
              </a:rPr>
              <a:t>控制单元</a:t>
            </a:r>
            <a:endParaRPr lang="en-US" altLang="zh-CN" dirty="0" smtClean="0">
              <a:solidFill>
                <a:schemeClr val="tx1"/>
              </a:solidFill>
              <a:latin typeface="华文中宋" panose="02010600040101010101" pitchFamily="2" charset="-122"/>
              <a:ea typeface="华文中宋" panose="02010600040101010101" pitchFamily="2" charset="-122"/>
              <a:cs typeface="Times New Roman" panose="02020603050405020304" pitchFamily="18" charset="0"/>
            </a:endParaRPr>
          </a:p>
          <a:p>
            <a:pPr lvl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u"/>
            </a:pPr>
            <a:r>
              <a:rPr lang="zh-CN" altLang="en-US" dirty="0" smtClean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  <a:cs typeface="Times New Roman" panose="02020603050405020304" pitchFamily="18" charset="0"/>
              </a:rPr>
              <a:t>寄存器组</a:t>
            </a:r>
            <a:endParaRPr lang="en-US" altLang="zh-CN" dirty="0" smtClean="0">
              <a:solidFill>
                <a:schemeClr val="tx1"/>
              </a:solidFill>
              <a:latin typeface="华文中宋" panose="02010600040101010101" pitchFamily="2" charset="-122"/>
              <a:ea typeface="华文中宋" panose="02010600040101010101" pitchFamily="2" charset="-122"/>
              <a:cs typeface="Times New Roman" panose="02020603050405020304" pitchFamily="18" charset="0"/>
            </a:endParaRPr>
          </a:p>
          <a:p>
            <a:pPr lvl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u"/>
            </a:pPr>
            <a:r>
              <a:rPr lang="zh-CN" altLang="en-US" dirty="0" smtClean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  <a:cs typeface="Times New Roman" panose="02020603050405020304" pitchFamily="18" charset="0"/>
              </a:rPr>
              <a:t>总线接口</a:t>
            </a:r>
            <a:endParaRPr lang="en-US" altLang="zh-CN" dirty="0" smtClean="0">
              <a:solidFill>
                <a:schemeClr val="tx1"/>
              </a:solidFill>
              <a:latin typeface="华文中宋" panose="02010600040101010101" pitchFamily="2" charset="-122"/>
              <a:ea typeface="华文中宋" panose="02010600040101010101" pitchFamily="2" charset="-122"/>
              <a:cs typeface="Times New Roman" panose="02020603050405020304" pitchFamily="18" charset="0"/>
            </a:endParaRPr>
          </a:p>
          <a:p>
            <a:pPr lvl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dirty="0" smtClean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  <a:cs typeface="Times New Roman" panose="02020603050405020304" pitchFamily="18" charset="0"/>
              </a:rPr>
              <a:t>ALU</a:t>
            </a:r>
            <a:r>
              <a:rPr lang="zh-CN" altLang="en-US" dirty="0" smtClean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  <a:cs typeface="Times New Roman" panose="02020603050405020304" pitchFamily="18" charset="0"/>
              </a:rPr>
              <a:t>、控制单元和总线接口等这些逻辑，在</a:t>
            </a:r>
            <a:r>
              <a:rPr lang="en-US" altLang="zh-CN" dirty="0" smtClean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  <a:cs typeface="Times New Roman" panose="02020603050405020304" pitchFamily="18" charset="0"/>
              </a:rPr>
              <a:t>CPU</a:t>
            </a:r>
            <a:r>
              <a:rPr lang="zh-CN" altLang="en-US" dirty="0" smtClean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  <a:cs typeface="Times New Roman" panose="02020603050405020304" pitchFamily="18" charset="0"/>
              </a:rPr>
              <a:t>设计时就已经确定下来，程序员是无法改动的。只有部分寄存是向程序员开放的接口，换句话说，程序员可以通过一些寄存器读取</a:t>
            </a:r>
            <a:r>
              <a:rPr lang="en-US" altLang="zh-CN" dirty="0" smtClean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  <a:cs typeface="Times New Roman" panose="02020603050405020304" pitchFamily="18" charset="0"/>
              </a:rPr>
              <a:t>CPU</a:t>
            </a:r>
            <a:r>
              <a:rPr lang="zh-CN" altLang="en-US" dirty="0" smtClean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  <a:cs typeface="Times New Roman" panose="02020603050405020304" pitchFamily="18" charset="0"/>
              </a:rPr>
              <a:t>的内部状态，通过一些寄存器为</a:t>
            </a:r>
            <a:r>
              <a:rPr lang="en-US" altLang="zh-CN" dirty="0" smtClean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  <a:cs typeface="Times New Roman" panose="02020603050405020304" pitchFamily="18" charset="0"/>
              </a:rPr>
              <a:t>CPU</a:t>
            </a:r>
            <a:r>
              <a:rPr lang="zh-CN" altLang="en-US" dirty="0" smtClean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  <a:cs typeface="Times New Roman" panose="02020603050405020304" pitchFamily="18" charset="0"/>
              </a:rPr>
              <a:t>提供数据和地址。</a:t>
            </a:r>
            <a:endParaRPr lang="en-US" altLang="zh-CN" dirty="0" smtClean="0">
              <a:solidFill>
                <a:schemeClr val="tx1"/>
              </a:solidFill>
              <a:latin typeface="华文中宋" panose="02010600040101010101" pitchFamily="2" charset="-122"/>
              <a:ea typeface="华文中宋" panose="02010600040101010101" pitchFamily="2" charset="-122"/>
              <a:cs typeface="Times New Roman" panose="02020603050405020304" pitchFamily="18" charset="0"/>
            </a:endParaRPr>
          </a:p>
          <a:p>
            <a:pPr lvl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dirty="0" smtClean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  <a:cs typeface="Times New Roman" panose="02020603050405020304" pitchFamily="18" charset="0"/>
              </a:rPr>
              <a:t>     根据寄存器对程序员的可见性，可以把寄存器组分为：</a:t>
            </a:r>
            <a:endParaRPr lang="en-US" altLang="zh-CN" dirty="0" smtClean="0">
              <a:solidFill>
                <a:schemeClr val="tx1"/>
              </a:solidFill>
              <a:latin typeface="华文中宋" panose="02010600040101010101" pitchFamily="2" charset="-122"/>
              <a:ea typeface="华文中宋" panose="02010600040101010101" pitchFamily="2" charset="-122"/>
              <a:cs typeface="Times New Roman" panose="02020603050405020304" pitchFamily="18" charset="0"/>
            </a:endParaRPr>
          </a:p>
          <a:p>
            <a:pPr lvl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u"/>
            </a:pPr>
            <a:r>
              <a:rPr lang="zh-CN" altLang="en-US" dirty="0" smtClean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  <a:cs typeface="Times New Roman" panose="02020603050405020304" pitchFamily="18" charset="0"/>
              </a:rPr>
              <a:t>用户可见（可读或可读写）的寄存器</a:t>
            </a:r>
            <a:endParaRPr lang="en-US" altLang="zh-CN" dirty="0" smtClean="0">
              <a:solidFill>
                <a:schemeClr val="tx1"/>
              </a:solidFill>
              <a:latin typeface="华文中宋" panose="02010600040101010101" pitchFamily="2" charset="-122"/>
              <a:ea typeface="华文中宋" panose="02010600040101010101" pitchFamily="2" charset="-122"/>
              <a:cs typeface="Times New Roman" panose="02020603050405020304" pitchFamily="18" charset="0"/>
            </a:endParaRPr>
          </a:p>
          <a:p>
            <a:pPr lvl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u"/>
            </a:pPr>
            <a:r>
              <a:rPr lang="zh-CN" altLang="en-US" dirty="0" smtClean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  <a:cs typeface="Times New Roman" panose="02020603050405020304" pitchFamily="18" charset="0"/>
              </a:rPr>
              <a:t>控制和状态寄存器（通常不可访问，或仅可读取，不可改写）</a:t>
            </a:r>
            <a:endParaRPr lang="en-US" altLang="zh-CN" dirty="0" smtClean="0">
              <a:solidFill>
                <a:schemeClr val="tx1"/>
              </a:solidFill>
              <a:latin typeface="华文中宋" panose="02010600040101010101" pitchFamily="2" charset="-122"/>
              <a:ea typeface="华文中宋" panose="02010600040101010101" pitchFamily="2" charset="-122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106498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graphicFrame>
        <p:nvGraphicFramePr>
          <p:cNvPr id="106497" name="Object 1"/>
          <p:cNvGraphicFramePr>
            <a:graphicFrameLocks noChangeAspect="1"/>
          </p:cNvGraphicFramePr>
          <p:nvPr/>
        </p:nvGraphicFramePr>
        <p:xfrm>
          <a:off x="357158" y="1142984"/>
          <a:ext cx="8488113" cy="428628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49" name="Visio" r:id="rId1" imgW="8343900" imgH="4203700" progId="Visio.Drawing.11">
                  <p:embed/>
                </p:oleObj>
              </mc:Choice>
              <mc:Fallback>
                <p:oleObj name="Visio" r:id="rId1" imgW="8343900" imgH="4203700" progId="Visio.Drawing.11">
                  <p:embed/>
                  <p:pic>
                    <p:nvPicPr>
                      <p:cNvPr id="0" name="图片 2048"/>
                      <p:cNvPicPr>
                        <a:picLocks noChangeAspect="1"/>
                      </p:cNvPicPr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357158" y="1142984"/>
                        <a:ext cx="8488113" cy="428628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矩形 5"/>
          <p:cNvSpPr/>
          <p:nvPr/>
        </p:nvSpPr>
        <p:spPr>
          <a:xfrm>
            <a:off x="285720" y="5380672"/>
            <a:ext cx="8572560" cy="14773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000" dirty="0" smtClean="0">
                <a:latin typeface="华文中宋" panose="02010600040101010101" pitchFamily="2" charset="-122"/>
                <a:ea typeface="华文中宋" panose="02010600040101010101" pitchFamily="2" charset="-122"/>
              </a:rPr>
              <a:t>I/O</a:t>
            </a:r>
            <a:r>
              <a:rPr lang="zh-CN" altLang="en-US" sz="2000" dirty="0" smtClean="0">
                <a:latin typeface="华文中宋" panose="02010600040101010101" pitchFamily="2" charset="-122"/>
                <a:ea typeface="华文中宋" panose="02010600040101010101" pitchFamily="2" charset="-122"/>
              </a:rPr>
              <a:t>模块屏蔽了不同外部设备的细节，使得处理器能够以一种简单、一致的读、写命令的方式访问外部设备。同时，</a:t>
            </a:r>
            <a:r>
              <a:rPr lang="en-US" sz="2000" dirty="0" smtClean="0">
                <a:latin typeface="华文中宋" panose="02010600040101010101" pitchFamily="2" charset="-122"/>
                <a:ea typeface="华文中宋" panose="02010600040101010101" pitchFamily="2" charset="-122"/>
              </a:rPr>
              <a:t>I/O</a:t>
            </a:r>
            <a:r>
              <a:rPr lang="zh-CN" altLang="en-US" sz="2000" dirty="0" smtClean="0">
                <a:latin typeface="华文中宋" panose="02010600040101010101" pitchFamily="2" charset="-122"/>
                <a:ea typeface="华文中宋" panose="02010600040101010101" pitchFamily="2" charset="-122"/>
              </a:rPr>
              <a:t>模块也为处理器对外部设备的控制留有足够的细节，如磁带机的回卷操作等。</a:t>
            </a:r>
            <a:endParaRPr lang="zh-CN" altLang="en-US" sz="2000" dirty="0">
              <a:latin typeface="华文中宋" panose="02010600040101010101" pitchFamily="2" charset="-122"/>
              <a:ea typeface="华文中宋" panose="02010600040101010101" pitchFamily="2" charset="-122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108546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graphicFrame>
        <p:nvGraphicFramePr>
          <p:cNvPr id="108545" name="Object 1"/>
          <p:cNvGraphicFramePr>
            <a:graphicFrameLocks noChangeAspect="1"/>
          </p:cNvGraphicFramePr>
          <p:nvPr/>
        </p:nvGraphicFramePr>
        <p:xfrm>
          <a:off x="428596" y="1857364"/>
          <a:ext cx="8376727" cy="471490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3" name="Visio" r:id="rId1" imgW="7620000" imgH="4279900" progId="Visio.Drawing.11">
                  <p:embed/>
                </p:oleObj>
              </mc:Choice>
              <mc:Fallback>
                <p:oleObj name="Visio" r:id="rId1" imgW="7620000" imgH="4279900" progId="Visio.Drawing.11">
                  <p:embed/>
                  <p:pic>
                    <p:nvPicPr>
                      <p:cNvPr id="0" name="图片 3072"/>
                      <p:cNvPicPr>
                        <a:picLocks noChangeAspect="1"/>
                      </p:cNvPicPr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428596" y="1857364"/>
                        <a:ext cx="8376727" cy="4714908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00034" y="1428736"/>
            <a:ext cx="762260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400" dirty="0" smtClean="0">
                <a:solidFill>
                  <a:srgbClr val="FF0000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系统总线：</a:t>
            </a:r>
            <a:r>
              <a:rPr lang="zh-CN" altLang="en-US" sz="2000" dirty="0" smtClean="0">
                <a:latin typeface="华文中宋" panose="02010600040101010101" pitchFamily="2" charset="-122"/>
                <a:ea typeface="华文中宋" panose="02010600040101010101" pitchFamily="2" charset="-122"/>
              </a:rPr>
              <a:t>把其它部件连接起来的一组物理导线以及通信协议。</a:t>
            </a:r>
            <a:endParaRPr lang="zh-CN" altLang="en-US" sz="2000" dirty="0">
              <a:latin typeface="华文中宋" panose="02010600040101010101" pitchFamily="2" charset="-122"/>
              <a:ea typeface="华文中宋" panose="02010600040101010101" pitchFamily="2" charset="-122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矩形 3"/>
          <p:cNvSpPr/>
          <p:nvPr/>
        </p:nvSpPr>
        <p:spPr>
          <a:xfrm>
            <a:off x="428596" y="1428736"/>
            <a:ext cx="8358246" cy="5170646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000" dirty="0" smtClean="0">
                <a:latin typeface="华文中宋" panose="02010600040101010101" pitchFamily="2" charset="-122"/>
                <a:ea typeface="华文中宋" panose="02010600040101010101" pitchFamily="2" charset="-122"/>
              </a:rPr>
              <a:t>系统总线通常包括</a:t>
            </a:r>
            <a:r>
              <a:rPr lang="en-US" sz="2000" dirty="0" smtClean="0">
                <a:latin typeface="华文中宋" panose="02010600040101010101" pitchFamily="2" charset="-122"/>
                <a:ea typeface="华文中宋" panose="02010600040101010101" pitchFamily="2" charset="-122"/>
              </a:rPr>
              <a:t>50</a:t>
            </a:r>
            <a:r>
              <a:rPr lang="zh-CN" altLang="en-US" sz="2000" dirty="0" smtClean="0">
                <a:latin typeface="华文中宋" panose="02010600040101010101" pitchFamily="2" charset="-122"/>
                <a:ea typeface="华文中宋" panose="02010600040101010101" pitchFamily="2" charset="-122"/>
              </a:rPr>
              <a:t>到上百条导线，每条线都具有特定的含义和功能。尽管有多种不同的总线设计，我们总可以把总线中的导线按照功能分为</a:t>
            </a:r>
            <a:r>
              <a:rPr lang="zh-CN" altLang="en-US" sz="2000" b="1" dirty="0" smtClean="0">
                <a:latin typeface="华文中宋" panose="02010600040101010101" pitchFamily="2" charset="-122"/>
                <a:ea typeface="华文中宋" panose="02010600040101010101" pitchFamily="2" charset="-122"/>
              </a:rPr>
              <a:t>数据线</a:t>
            </a:r>
            <a:r>
              <a:rPr lang="zh-CN" altLang="en-US" sz="2000" dirty="0" smtClean="0">
                <a:latin typeface="华文中宋" panose="02010600040101010101" pitchFamily="2" charset="-122"/>
                <a:ea typeface="华文中宋" panose="02010600040101010101" pitchFamily="2" charset="-122"/>
              </a:rPr>
              <a:t>、</a:t>
            </a:r>
            <a:r>
              <a:rPr lang="zh-CN" altLang="en-US" sz="2000" b="1" dirty="0" smtClean="0">
                <a:latin typeface="华文中宋" panose="02010600040101010101" pitchFamily="2" charset="-122"/>
                <a:ea typeface="华文中宋" panose="02010600040101010101" pitchFamily="2" charset="-122"/>
              </a:rPr>
              <a:t>地址线</a:t>
            </a:r>
            <a:r>
              <a:rPr lang="zh-CN" altLang="en-US" sz="2000" dirty="0" smtClean="0">
                <a:latin typeface="华文中宋" panose="02010600040101010101" pitchFamily="2" charset="-122"/>
                <a:ea typeface="华文中宋" panose="02010600040101010101" pitchFamily="2" charset="-122"/>
              </a:rPr>
              <a:t>和</a:t>
            </a:r>
            <a:r>
              <a:rPr lang="zh-CN" altLang="en-US" sz="2000" b="1" dirty="0" smtClean="0">
                <a:latin typeface="华文中宋" panose="02010600040101010101" pitchFamily="2" charset="-122"/>
                <a:ea typeface="华文中宋" panose="02010600040101010101" pitchFamily="2" charset="-122"/>
              </a:rPr>
              <a:t>控制线</a:t>
            </a:r>
            <a:r>
              <a:rPr lang="zh-CN" altLang="en-US" sz="2000" dirty="0" smtClean="0">
                <a:latin typeface="华文中宋" panose="02010600040101010101" pitchFamily="2" charset="-122"/>
                <a:ea typeface="华文中宋" panose="02010600040101010101" pitchFamily="2" charset="-122"/>
              </a:rPr>
              <a:t>。除此之外，还有为总线上的模块供电的导线。</a:t>
            </a:r>
            <a:endParaRPr lang="en-US" altLang="zh-CN" sz="2000" dirty="0" smtClean="0">
              <a:latin typeface="华文中宋" panose="02010600040101010101" pitchFamily="2" charset="-122"/>
              <a:ea typeface="华文中宋" panose="02010600040101010101" pitchFamily="2" charset="-122"/>
            </a:endParaRP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u"/>
            </a:pPr>
            <a:r>
              <a:rPr lang="zh-CN" altLang="en-US" sz="2000" dirty="0" smtClean="0">
                <a:latin typeface="华文中宋" panose="02010600040101010101" pitchFamily="2" charset="-122"/>
                <a:ea typeface="华文中宋" panose="02010600040101010101" pitchFamily="2" charset="-122"/>
              </a:rPr>
              <a:t>数据线提供系统模块间交换数据的路径，通常包括</a:t>
            </a:r>
            <a:r>
              <a:rPr lang="en-US" sz="2000" dirty="0" smtClean="0">
                <a:latin typeface="华文中宋" panose="02010600040101010101" pitchFamily="2" charset="-122"/>
                <a:ea typeface="华文中宋" panose="02010600040101010101" pitchFamily="2" charset="-122"/>
              </a:rPr>
              <a:t>32</a:t>
            </a:r>
            <a:r>
              <a:rPr lang="zh-CN" altLang="en-US" sz="2000" dirty="0" smtClean="0">
                <a:latin typeface="华文中宋" panose="02010600040101010101" pitchFamily="2" charset="-122"/>
                <a:ea typeface="华文中宋" panose="02010600040101010101" pitchFamily="2" charset="-122"/>
              </a:rPr>
              <a:t>，</a:t>
            </a:r>
            <a:r>
              <a:rPr lang="en-US" sz="2000" dirty="0" smtClean="0">
                <a:latin typeface="华文中宋" panose="02010600040101010101" pitchFamily="2" charset="-122"/>
                <a:ea typeface="华文中宋" panose="02010600040101010101" pitchFamily="2" charset="-122"/>
              </a:rPr>
              <a:t>64</a:t>
            </a:r>
            <a:r>
              <a:rPr lang="zh-CN" altLang="en-US" sz="2000" dirty="0" smtClean="0">
                <a:latin typeface="华文中宋" panose="02010600040101010101" pitchFamily="2" charset="-122"/>
                <a:ea typeface="华文中宋" panose="02010600040101010101" pitchFamily="2" charset="-122"/>
              </a:rPr>
              <a:t>，</a:t>
            </a:r>
            <a:r>
              <a:rPr lang="en-US" sz="2000" dirty="0" smtClean="0">
                <a:latin typeface="华文中宋" panose="02010600040101010101" pitchFamily="2" charset="-122"/>
                <a:ea typeface="华文中宋" panose="02010600040101010101" pitchFamily="2" charset="-122"/>
              </a:rPr>
              <a:t>128</a:t>
            </a:r>
            <a:r>
              <a:rPr lang="zh-CN" altLang="en-US" sz="2000" dirty="0" smtClean="0">
                <a:latin typeface="华文中宋" panose="02010600040101010101" pitchFamily="2" charset="-122"/>
                <a:ea typeface="华文中宋" panose="02010600040101010101" pitchFamily="2" charset="-122"/>
              </a:rPr>
              <a:t>条或更多数目的导线，这些线的数目称为数据总线的“</a:t>
            </a:r>
            <a:r>
              <a:rPr lang="zh-CN" altLang="en-US" sz="2000" b="1" dirty="0" smtClean="0">
                <a:solidFill>
                  <a:srgbClr val="FF0000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带宽</a:t>
            </a:r>
            <a:r>
              <a:rPr lang="zh-CN" altLang="en-US" sz="2000" b="1" dirty="0" smtClean="0">
                <a:latin typeface="华文中宋" panose="02010600040101010101" pitchFamily="2" charset="-122"/>
                <a:ea typeface="华文中宋" panose="02010600040101010101" pitchFamily="2" charset="-122"/>
              </a:rPr>
              <a:t>”</a:t>
            </a:r>
            <a:endParaRPr lang="en-US" altLang="zh-CN" sz="2000" b="1" dirty="0" smtClean="0">
              <a:latin typeface="华文中宋" panose="02010600040101010101" pitchFamily="2" charset="-122"/>
              <a:ea typeface="华文中宋" panose="02010600040101010101" pitchFamily="2" charset="-122"/>
            </a:endParaRP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u"/>
            </a:pPr>
            <a:r>
              <a:rPr lang="zh-CN" altLang="en-US" sz="2000" dirty="0" smtClean="0">
                <a:latin typeface="华文中宋" panose="02010600040101010101" pitchFamily="2" charset="-122"/>
                <a:ea typeface="华文中宋" panose="02010600040101010101" pitchFamily="2" charset="-122"/>
              </a:rPr>
              <a:t>地址总线用来指示数据总线上数据的源地址或目标地址。</a:t>
            </a:r>
            <a:endParaRPr lang="en-US" altLang="zh-CN" sz="2000" dirty="0" smtClean="0">
              <a:latin typeface="华文中宋" panose="02010600040101010101" pitchFamily="2" charset="-122"/>
              <a:ea typeface="华文中宋" panose="02010600040101010101" pitchFamily="2" charset="-122"/>
            </a:endParaRP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u"/>
            </a:pPr>
            <a:r>
              <a:rPr lang="zh-CN" altLang="en-US" sz="2000" dirty="0" smtClean="0">
                <a:latin typeface="华文中宋" panose="02010600040101010101" pitchFamily="2" charset="-122"/>
                <a:ea typeface="华文中宋" panose="02010600040101010101" pitchFamily="2" charset="-122"/>
              </a:rPr>
              <a:t>控制线用来控制访问和使用数据线和地址线的方式</a:t>
            </a:r>
            <a:endParaRPr lang="en-US" altLang="zh-CN" sz="2000" dirty="0" smtClean="0">
              <a:latin typeface="华文中宋" panose="02010600040101010101" pitchFamily="2" charset="-122"/>
              <a:ea typeface="华文中宋" panose="02010600040101010101" pitchFamily="2" charset="-122"/>
            </a:endParaRPr>
          </a:p>
          <a:p>
            <a:pPr lvl="1">
              <a:lnSpc>
                <a:spcPct val="150000"/>
              </a:lnSpc>
              <a:buFont typeface="Wingdings" panose="05000000000000000000" pitchFamily="2" charset="2"/>
              <a:buChar char="u"/>
            </a:pPr>
            <a:r>
              <a:rPr lang="zh-CN" altLang="en-US" sz="2000" dirty="0" smtClean="0">
                <a:latin typeface="华文中宋" panose="02010600040101010101" pitchFamily="2" charset="-122"/>
                <a:ea typeface="华文中宋" panose="02010600040101010101" pitchFamily="2" charset="-122"/>
              </a:rPr>
              <a:t>内存读写</a:t>
            </a:r>
            <a:endParaRPr lang="en-US" altLang="zh-CN" sz="2000" dirty="0" smtClean="0">
              <a:latin typeface="华文中宋" panose="02010600040101010101" pitchFamily="2" charset="-122"/>
              <a:ea typeface="华文中宋" panose="02010600040101010101" pitchFamily="2" charset="-122"/>
            </a:endParaRPr>
          </a:p>
          <a:p>
            <a:pPr lvl="1">
              <a:lnSpc>
                <a:spcPct val="150000"/>
              </a:lnSpc>
              <a:buFont typeface="Wingdings" panose="05000000000000000000" pitchFamily="2" charset="2"/>
              <a:buChar char="u"/>
            </a:pPr>
            <a:r>
              <a:rPr lang="en-US" altLang="zh-CN" sz="2000" dirty="0" smtClean="0">
                <a:latin typeface="华文中宋" panose="02010600040101010101" pitchFamily="2" charset="-122"/>
                <a:ea typeface="华文中宋" panose="02010600040101010101" pitchFamily="2" charset="-122"/>
              </a:rPr>
              <a:t>I/O</a:t>
            </a:r>
            <a:r>
              <a:rPr lang="zh-CN" altLang="en-US" sz="2000" dirty="0" smtClean="0">
                <a:latin typeface="华文中宋" panose="02010600040101010101" pitchFamily="2" charset="-122"/>
                <a:ea typeface="华文中宋" panose="02010600040101010101" pitchFamily="2" charset="-122"/>
              </a:rPr>
              <a:t>读写</a:t>
            </a:r>
            <a:endParaRPr lang="en-US" altLang="zh-CN" sz="2000" dirty="0" smtClean="0">
              <a:latin typeface="华文中宋" panose="02010600040101010101" pitchFamily="2" charset="-122"/>
              <a:ea typeface="华文中宋" panose="02010600040101010101" pitchFamily="2" charset="-122"/>
            </a:endParaRPr>
          </a:p>
          <a:p>
            <a:pPr lvl="1">
              <a:lnSpc>
                <a:spcPct val="150000"/>
              </a:lnSpc>
              <a:buFont typeface="Wingdings" panose="05000000000000000000" pitchFamily="2" charset="2"/>
              <a:buChar char="u"/>
            </a:pPr>
            <a:r>
              <a:rPr lang="zh-CN" altLang="en-US" sz="2000" dirty="0" smtClean="0">
                <a:latin typeface="华文中宋" panose="02010600040101010101" pitchFamily="2" charset="-122"/>
                <a:ea typeface="华文中宋" panose="02010600040101010101" pitchFamily="2" charset="-122"/>
              </a:rPr>
              <a:t>中断请求</a:t>
            </a:r>
            <a:r>
              <a:rPr lang="en-US" altLang="zh-CN" sz="2000" dirty="0" smtClean="0">
                <a:latin typeface="华文中宋" panose="02010600040101010101" pitchFamily="2" charset="-122"/>
                <a:ea typeface="华文中宋" panose="02010600040101010101" pitchFamily="2" charset="-122"/>
              </a:rPr>
              <a:t>/</a:t>
            </a:r>
            <a:r>
              <a:rPr lang="zh-CN" altLang="en-US" sz="2000" dirty="0" smtClean="0">
                <a:latin typeface="华文中宋" panose="02010600040101010101" pitchFamily="2" charset="-122"/>
                <a:ea typeface="华文中宋" panose="02010600040101010101" pitchFamily="2" charset="-122"/>
              </a:rPr>
              <a:t>应答</a:t>
            </a:r>
            <a:endParaRPr lang="en-US" altLang="zh-CN" sz="2000" dirty="0" smtClean="0">
              <a:latin typeface="华文中宋" panose="02010600040101010101" pitchFamily="2" charset="-122"/>
              <a:ea typeface="华文中宋" panose="02010600040101010101" pitchFamily="2" charset="-122"/>
            </a:endParaRPr>
          </a:p>
          <a:p>
            <a:pPr lvl="1">
              <a:lnSpc>
                <a:spcPct val="150000"/>
              </a:lnSpc>
              <a:buFont typeface="Wingdings" panose="05000000000000000000" pitchFamily="2" charset="2"/>
              <a:buChar char="u"/>
            </a:pPr>
            <a:r>
              <a:rPr lang="zh-CN" altLang="en-US" sz="2000" dirty="0" smtClean="0">
                <a:latin typeface="华文中宋" panose="02010600040101010101" pitchFamily="2" charset="-122"/>
                <a:ea typeface="华文中宋" panose="02010600040101010101" pitchFamily="2" charset="-122"/>
              </a:rPr>
              <a:t>总线仲裁、时钟、重置等</a:t>
            </a:r>
            <a:endParaRPr lang="zh-CN" altLang="en-US" sz="2000" dirty="0">
              <a:latin typeface="华文中宋" panose="02010600040101010101" pitchFamily="2" charset="-122"/>
              <a:ea typeface="华文中宋" panose="02010600040101010101" pitchFamily="2" charset="-122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109569" name="Rectangle 1"/>
          <p:cNvSpPr>
            <a:spLocks noChangeArrowheads="1"/>
          </p:cNvSpPr>
          <p:nvPr/>
        </p:nvSpPr>
        <p:spPr bwMode="auto">
          <a:xfrm>
            <a:off x="0" y="1785926"/>
            <a:ext cx="8929718" cy="466281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ctr" anchorCtr="0" compatLnSpc="1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zh-CN" altLang="zh-CN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华文中宋" panose="02010600040101010101" pitchFamily="2" charset="-122"/>
                <a:ea typeface="华文中宋" panose="02010600040101010101" pitchFamily="2" charset="-122"/>
                <a:cs typeface="Times New Roman" panose="02020603050405020304" pitchFamily="18" charset="0"/>
              </a:rPr>
              <a:t>【</a:t>
            </a:r>
            <a:r>
              <a:rPr kumimoji="0" lang="zh-CN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华文中宋" panose="02010600040101010101" pitchFamily="2" charset="-122"/>
                <a:ea typeface="华文中宋" panose="02010600040101010101" pitchFamily="2" charset="-122"/>
                <a:cs typeface="Times New Roman" panose="02020603050405020304" pitchFamily="18" charset="0"/>
              </a:rPr>
              <a:t>例</a:t>
            </a:r>
            <a:r>
              <a:rPr kumimoji="0" lang="en-US" altLang="zh-CN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华文中宋" panose="02010600040101010101" pitchFamily="2" charset="-122"/>
                <a:ea typeface="华文中宋" panose="02010600040101010101" pitchFamily="2" charset="-122"/>
                <a:cs typeface="Times New Roman" panose="02020603050405020304" pitchFamily="18" charset="0"/>
              </a:rPr>
              <a:t>2-1】</a:t>
            </a:r>
            <a:r>
              <a:rPr kumimoji="0" lang="zh-CN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华文中宋" panose="02010600040101010101" pitchFamily="2" charset="-122"/>
                <a:ea typeface="华文中宋" panose="02010600040101010101" pitchFamily="2" charset="-122"/>
                <a:cs typeface="Times New Roman" panose="02020603050405020304" pitchFamily="18" charset="0"/>
              </a:rPr>
              <a:t>假设有一个微处理器产生一个</a:t>
            </a:r>
            <a:r>
              <a:rPr kumimoji="0" lang="en-US" altLang="zh-CN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华文中宋" panose="02010600040101010101" pitchFamily="2" charset="-122"/>
                <a:ea typeface="华文中宋" panose="02010600040101010101" pitchFamily="2" charset="-122"/>
                <a:cs typeface="Times New Roman" panose="02020603050405020304" pitchFamily="18" charset="0"/>
              </a:rPr>
              <a:t>16</a:t>
            </a:r>
            <a:r>
              <a:rPr kumimoji="0" lang="zh-CN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华文中宋" panose="02010600040101010101" pitchFamily="2" charset="-122"/>
                <a:ea typeface="华文中宋" panose="02010600040101010101" pitchFamily="2" charset="-122"/>
                <a:cs typeface="Times New Roman" panose="02020603050405020304" pitchFamily="18" charset="0"/>
              </a:rPr>
              <a:t>位的地址（例如，假设程序计数器和地址寄存器都是</a:t>
            </a:r>
            <a:r>
              <a:rPr kumimoji="0" lang="en-US" altLang="zh-CN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华文中宋" panose="02010600040101010101" pitchFamily="2" charset="-122"/>
                <a:ea typeface="华文中宋" panose="02010600040101010101" pitchFamily="2" charset="-122"/>
                <a:cs typeface="Times New Roman" panose="02020603050405020304" pitchFamily="18" charset="0"/>
              </a:rPr>
              <a:t>16</a:t>
            </a:r>
            <a:r>
              <a:rPr kumimoji="0" lang="zh-CN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华文中宋" panose="02010600040101010101" pitchFamily="2" charset="-122"/>
                <a:ea typeface="华文中宋" panose="02010600040101010101" pitchFamily="2" charset="-122"/>
                <a:cs typeface="Times New Roman" panose="02020603050405020304" pitchFamily="18" charset="0"/>
              </a:rPr>
              <a:t>位）并且具有一个</a:t>
            </a:r>
            <a:r>
              <a:rPr kumimoji="0" lang="en-US" altLang="zh-CN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华文中宋" panose="02010600040101010101" pitchFamily="2" charset="-122"/>
                <a:ea typeface="华文中宋" panose="02010600040101010101" pitchFamily="2" charset="-122"/>
                <a:cs typeface="Times New Roman" panose="02020603050405020304" pitchFamily="18" charset="0"/>
              </a:rPr>
              <a:t>16</a:t>
            </a:r>
            <a:r>
              <a:rPr kumimoji="0" lang="zh-CN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华文中宋" panose="02010600040101010101" pitchFamily="2" charset="-122"/>
                <a:ea typeface="华文中宋" panose="02010600040101010101" pitchFamily="2" charset="-122"/>
                <a:cs typeface="Times New Roman" panose="02020603050405020304" pitchFamily="18" charset="0"/>
              </a:rPr>
              <a:t>位的数据总线。</a:t>
            </a:r>
            <a:endParaRPr kumimoji="0" lang="zh-CN" altLang="en-US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华文中宋" panose="02010600040101010101" pitchFamily="2" charset="-122"/>
              <a:ea typeface="华文中宋" panose="02010600040101010101" pitchFamily="2" charset="-122"/>
              <a:cs typeface="宋体" panose="02010600030101010101" pitchFamily="2" charset="-122"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kumimoji="0" lang="zh-CN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华文中宋" panose="02010600040101010101" pitchFamily="2" charset="-122"/>
                <a:ea typeface="华文中宋" panose="02010600040101010101" pitchFamily="2" charset="-122"/>
                <a:cs typeface="Times New Roman" panose="02020603050405020304" pitchFamily="18" charset="0"/>
              </a:rPr>
              <a:t>（</a:t>
            </a:r>
            <a:r>
              <a:rPr kumimoji="0" lang="en-US" altLang="zh-CN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华文中宋" panose="02010600040101010101" pitchFamily="2" charset="-122"/>
                <a:ea typeface="华文中宋" panose="02010600040101010101" pitchFamily="2" charset="-122"/>
                <a:cs typeface="Times New Roman" panose="02020603050405020304" pitchFamily="18" charset="0"/>
              </a:rPr>
              <a:t>1</a:t>
            </a:r>
            <a:r>
              <a:rPr kumimoji="0" lang="zh-CN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华文中宋" panose="02010600040101010101" pitchFamily="2" charset="-122"/>
                <a:ea typeface="华文中宋" panose="02010600040101010101" pitchFamily="2" charset="-122"/>
                <a:cs typeface="Times New Roman" panose="02020603050405020304" pitchFamily="18" charset="0"/>
              </a:rPr>
              <a:t>）如果连接到一个</a:t>
            </a:r>
            <a:r>
              <a:rPr kumimoji="0" lang="en-US" altLang="zh-CN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华文中宋" panose="02010600040101010101" pitchFamily="2" charset="-122"/>
                <a:ea typeface="华文中宋" panose="02010600040101010101" pitchFamily="2" charset="-122"/>
                <a:cs typeface="Times New Roman" panose="02020603050405020304" pitchFamily="18" charset="0"/>
              </a:rPr>
              <a:t>16</a:t>
            </a:r>
            <a:r>
              <a:rPr kumimoji="0" lang="zh-CN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华文中宋" panose="02010600040101010101" pitchFamily="2" charset="-122"/>
                <a:ea typeface="华文中宋" panose="02010600040101010101" pitchFamily="2" charset="-122"/>
                <a:cs typeface="Times New Roman" panose="02020603050405020304" pitchFamily="18" charset="0"/>
              </a:rPr>
              <a:t>位存储器上，处理器能够直接访问的最大存储器地址空间为多少？</a:t>
            </a:r>
            <a:endParaRPr kumimoji="0" lang="zh-CN" altLang="en-US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华文中宋" panose="02010600040101010101" pitchFamily="2" charset="-122"/>
              <a:ea typeface="华文中宋" panose="02010600040101010101" pitchFamily="2" charset="-122"/>
              <a:cs typeface="宋体" panose="02010600030101010101" pitchFamily="2" charset="-122"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kumimoji="0" lang="zh-CN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华文中宋" panose="02010600040101010101" pitchFamily="2" charset="-122"/>
                <a:ea typeface="华文中宋" panose="02010600040101010101" pitchFamily="2" charset="-122"/>
                <a:cs typeface="Times New Roman" panose="02020603050405020304" pitchFamily="18" charset="0"/>
              </a:rPr>
              <a:t>（</a:t>
            </a:r>
            <a:r>
              <a:rPr kumimoji="0" lang="en-US" altLang="zh-CN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华文中宋" panose="02010600040101010101" pitchFamily="2" charset="-122"/>
                <a:ea typeface="华文中宋" panose="02010600040101010101" pitchFamily="2" charset="-122"/>
                <a:cs typeface="Times New Roman" panose="02020603050405020304" pitchFamily="18" charset="0"/>
              </a:rPr>
              <a:t>2</a:t>
            </a:r>
            <a:r>
              <a:rPr kumimoji="0" lang="zh-CN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华文中宋" panose="02010600040101010101" pitchFamily="2" charset="-122"/>
                <a:ea typeface="华文中宋" panose="02010600040101010101" pitchFamily="2" charset="-122"/>
                <a:cs typeface="Times New Roman" panose="02020603050405020304" pitchFamily="18" charset="0"/>
              </a:rPr>
              <a:t>）如果连接到一个</a:t>
            </a:r>
            <a:r>
              <a:rPr kumimoji="0" lang="en-US" altLang="zh-CN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华文中宋" panose="02010600040101010101" pitchFamily="2" charset="-122"/>
                <a:ea typeface="华文中宋" panose="02010600040101010101" pitchFamily="2" charset="-122"/>
                <a:cs typeface="Times New Roman" panose="02020603050405020304" pitchFamily="18" charset="0"/>
              </a:rPr>
              <a:t>8</a:t>
            </a:r>
            <a:r>
              <a:rPr kumimoji="0" lang="zh-CN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华文中宋" panose="02010600040101010101" pitchFamily="2" charset="-122"/>
                <a:ea typeface="华文中宋" panose="02010600040101010101" pitchFamily="2" charset="-122"/>
                <a:cs typeface="Times New Roman" panose="02020603050405020304" pitchFamily="18" charset="0"/>
              </a:rPr>
              <a:t>位存储器上，处理器能够直接访问的最大存储器地址空间为多少？</a:t>
            </a:r>
            <a:endParaRPr kumimoji="0" lang="zh-CN" altLang="en-US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华文中宋" panose="02010600040101010101" pitchFamily="2" charset="-122"/>
              <a:ea typeface="华文中宋" panose="02010600040101010101" pitchFamily="2" charset="-122"/>
              <a:cs typeface="宋体" panose="02010600030101010101" pitchFamily="2" charset="-122"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zh-CN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华文中宋" panose="02010600040101010101" pitchFamily="2" charset="-122"/>
                <a:ea typeface="华文中宋" panose="02010600040101010101" pitchFamily="2" charset="-122"/>
                <a:cs typeface="Times New Roman" panose="02020603050405020304" pitchFamily="18" charset="0"/>
              </a:rPr>
              <a:t>（</a:t>
            </a:r>
            <a:r>
              <a:rPr kumimoji="0" lang="en-US" altLang="zh-CN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华文中宋" panose="02010600040101010101" pitchFamily="2" charset="-122"/>
                <a:ea typeface="华文中宋" panose="02010600040101010101" pitchFamily="2" charset="-122"/>
                <a:cs typeface="Times New Roman" panose="02020603050405020304" pitchFamily="18" charset="0"/>
              </a:rPr>
              <a:t>3</a:t>
            </a:r>
            <a:r>
              <a:rPr kumimoji="0" lang="zh-CN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华文中宋" panose="02010600040101010101" pitchFamily="2" charset="-122"/>
                <a:ea typeface="华文中宋" panose="02010600040101010101" pitchFamily="2" charset="-122"/>
                <a:cs typeface="Times New Roman" panose="02020603050405020304" pitchFamily="18" charset="0"/>
              </a:rPr>
              <a:t>）如果输入指令和输出指令可以表示</a:t>
            </a:r>
            <a:r>
              <a:rPr kumimoji="0" lang="en-US" altLang="zh-CN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华文中宋" panose="02010600040101010101" pitchFamily="2" charset="-122"/>
                <a:ea typeface="华文中宋" panose="02010600040101010101" pitchFamily="2" charset="-122"/>
                <a:cs typeface="Times New Roman" panose="02020603050405020304" pitchFamily="18" charset="0"/>
              </a:rPr>
              <a:t>8</a:t>
            </a:r>
            <a:r>
              <a:rPr kumimoji="0" lang="zh-CN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华文中宋" panose="02010600040101010101" pitchFamily="2" charset="-122"/>
                <a:ea typeface="华文中宋" panose="02010600040101010101" pitchFamily="2" charset="-122"/>
                <a:cs typeface="Times New Roman" panose="02020603050405020304" pitchFamily="18" charset="0"/>
              </a:rPr>
              <a:t>位端口号，这个微处理器可以支持多少</a:t>
            </a:r>
            <a:r>
              <a:rPr kumimoji="0" lang="en-US" altLang="zh-CN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华文中宋" panose="02010600040101010101" pitchFamily="2" charset="-122"/>
                <a:ea typeface="华文中宋" panose="02010600040101010101" pitchFamily="2" charset="-122"/>
                <a:cs typeface="Times New Roman" panose="02020603050405020304" pitchFamily="18" charset="0"/>
              </a:rPr>
              <a:t>8</a:t>
            </a:r>
            <a:r>
              <a:rPr kumimoji="0" lang="zh-CN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华文中宋" panose="02010600040101010101" pitchFamily="2" charset="-122"/>
                <a:ea typeface="华文中宋" panose="02010600040101010101" pitchFamily="2" charset="-122"/>
                <a:cs typeface="Times New Roman" panose="02020603050405020304" pitchFamily="18" charset="0"/>
              </a:rPr>
              <a:t>位</a:t>
            </a:r>
            <a:r>
              <a:rPr kumimoji="0" lang="en-US" altLang="zh-CN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华文中宋" panose="02010600040101010101" pitchFamily="2" charset="-122"/>
                <a:ea typeface="华文中宋" panose="02010600040101010101" pitchFamily="2" charset="-122"/>
                <a:cs typeface="Times New Roman" panose="02020603050405020304" pitchFamily="18" charset="0"/>
              </a:rPr>
              <a:t>I/O</a:t>
            </a:r>
            <a:r>
              <a:rPr kumimoji="0" lang="zh-CN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华文中宋" panose="02010600040101010101" pitchFamily="2" charset="-122"/>
                <a:ea typeface="华文中宋" panose="02010600040101010101" pitchFamily="2" charset="-122"/>
                <a:cs typeface="Times New Roman" panose="02020603050405020304" pitchFamily="18" charset="0"/>
              </a:rPr>
              <a:t>端口？</a:t>
            </a:r>
            <a:endParaRPr kumimoji="0" lang="en-US" altLang="zh-CN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华文中宋" panose="02010600040101010101" pitchFamily="2" charset="-122"/>
              <a:ea typeface="华文中宋" panose="02010600040101010101" pitchFamily="2" charset="-122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zh-CN" altLang="en-US" dirty="0" smtClean="0">
                <a:latin typeface="华文中宋" panose="02010600040101010101" pitchFamily="2" charset="-122"/>
                <a:ea typeface="华文中宋" panose="02010600040101010101" pitchFamily="2" charset="-122"/>
                <a:cs typeface="Times New Roman" panose="02020603050405020304" pitchFamily="18" charset="0"/>
              </a:rPr>
              <a:t>（</a:t>
            </a:r>
            <a:r>
              <a:rPr lang="en-US" altLang="zh-CN" dirty="0" smtClean="0">
                <a:latin typeface="华文中宋" panose="02010600040101010101" pitchFamily="2" charset="-122"/>
                <a:ea typeface="华文中宋" panose="02010600040101010101" pitchFamily="2" charset="-122"/>
                <a:cs typeface="Times New Roman" panose="02020603050405020304" pitchFamily="18" charset="0"/>
              </a:rPr>
              <a:t>4</a:t>
            </a:r>
            <a:r>
              <a:rPr lang="zh-CN" altLang="en-US" dirty="0" smtClean="0">
                <a:latin typeface="华文中宋" panose="02010600040101010101" pitchFamily="2" charset="-122"/>
                <a:ea typeface="华文中宋" panose="02010600040101010101" pitchFamily="2" charset="-122"/>
                <a:cs typeface="Times New Roman" panose="02020603050405020304" pitchFamily="18" charset="0"/>
              </a:rPr>
              <a:t>）如果存储器的地址是</a:t>
            </a:r>
            <a:r>
              <a:rPr lang="en-US" altLang="zh-CN" dirty="0" smtClean="0">
                <a:latin typeface="华文中宋" panose="02010600040101010101" pitchFamily="2" charset="-122"/>
                <a:ea typeface="华文中宋" panose="02010600040101010101" pitchFamily="2" charset="-122"/>
                <a:cs typeface="Times New Roman" panose="02020603050405020304" pitchFamily="18" charset="0"/>
              </a:rPr>
              <a:t>32</a:t>
            </a:r>
            <a:r>
              <a:rPr lang="zh-CN" altLang="en-US" dirty="0" smtClean="0">
                <a:latin typeface="华文中宋" panose="02010600040101010101" pitchFamily="2" charset="-122"/>
                <a:ea typeface="华文中宋" panose="02010600040101010101" pitchFamily="2" charset="-122"/>
                <a:cs typeface="Times New Roman" panose="02020603050405020304" pitchFamily="18" charset="0"/>
              </a:rPr>
              <a:t>位的</a:t>
            </a:r>
            <a:r>
              <a:rPr kumimoji="0" lang="zh-CN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华文中宋" panose="02010600040101010101" pitchFamily="2" charset="-122"/>
                <a:ea typeface="华文中宋" panose="02010600040101010101" pitchFamily="2" charset="-122"/>
                <a:cs typeface="宋体" panose="02010600030101010101" pitchFamily="2" charset="-122"/>
              </a:rPr>
              <a:t>，那么如何用</a:t>
            </a:r>
            <a:r>
              <a:rPr kumimoji="0" lang="en-US" altLang="zh-CN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华文中宋" panose="02010600040101010101" pitchFamily="2" charset="-122"/>
                <a:ea typeface="华文中宋" panose="02010600040101010101" pitchFamily="2" charset="-122"/>
                <a:cs typeface="宋体" panose="02010600030101010101" pitchFamily="2" charset="-122"/>
              </a:rPr>
              <a:t>16</a:t>
            </a:r>
            <a:r>
              <a:rPr kumimoji="0" lang="zh-CN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华文中宋" panose="02010600040101010101" pitchFamily="2" charset="-122"/>
                <a:ea typeface="华文中宋" panose="02010600040101010101" pitchFamily="2" charset="-122"/>
                <a:cs typeface="宋体" panose="02010600030101010101" pitchFamily="2" charset="-122"/>
              </a:rPr>
              <a:t>位的地址总线传输</a:t>
            </a:r>
            <a:r>
              <a:rPr kumimoji="0" lang="en-US" altLang="zh-CN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华文中宋" panose="02010600040101010101" pitchFamily="2" charset="-122"/>
                <a:ea typeface="华文中宋" panose="02010600040101010101" pitchFamily="2" charset="-122"/>
                <a:cs typeface="宋体" panose="02010600030101010101" pitchFamily="2" charset="-122"/>
              </a:rPr>
              <a:t>32</a:t>
            </a:r>
            <a:r>
              <a:rPr kumimoji="0" lang="zh-CN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华文中宋" panose="02010600040101010101" pitchFamily="2" charset="-122"/>
                <a:ea typeface="华文中宋" panose="02010600040101010101" pitchFamily="2" charset="-122"/>
                <a:cs typeface="宋体" panose="02010600030101010101" pitchFamily="2" charset="-122"/>
              </a:rPr>
              <a:t>位的地址呢？</a:t>
            </a:r>
            <a:endParaRPr kumimoji="0" lang="en-US" altLang="zh-CN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华文中宋" panose="02010600040101010101" pitchFamily="2" charset="-122"/>
              <a:ea typeface="华文中宋" panose="02010600040101010101" pitchFamily="2" charset="-122"/>
              <a:cs typeface="宋体" panose="02010600030101010101" pitchFamily="2" charset="-122"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zh-CN" altLang="en-US" dirty="0" smtClean="0">
                <a:latin typeface="华文中宋" panose="02010600040101010101" pitchFamily="2" charset="-122"/>
                <a:ea typeface="华文中宋" panose="02010600040101010101" pitchFamily="2" charset="-122"/>
                <a:cs typeface="宋体" panose="02010600030101010101" pitchFamily="2" charset="-122"/>
              </a:rPr>
              <a:t>（</a:t>
            </a:r>
            <a:r>
              <a:rPr lang="en-US" altLang="zh-CN" dirty="0" smtClean="0">
                <a:latin typeface="华文中宋" panose="02010600040101010101" pitchFamily="2" charset="-122"/>
                <a:ea typeface="华文中宋" panose="02010600040101010101" pitchFamily="2" charset="-122"/>
                <a:cs typeface="宋体" panose="02010600030101010101" pitchFamily="2" charset="-122"/>
              </a:rPr>
              <a:t>5</a:t>
            </a:r>
            <a:r>
              <a:rPr lang="zh-CN" altLang="en-US" dirty="0" smtClean="0">
                <a:latin typeface="华文中宋" panose="02010600040101010101" pitchFamily="2" charset="-122"/>
                <a:ea typeface="华文中宋" panose="02010600040101010101" pitchFamily="2" charset="-122"/>
                <a:cs typeface="宋体" panose="02010600030101010101" pitchFamily="2" charset="-122"/>
              </a:rPr>
              <a:t>）如果某个数据是</a:t>
            </a:r>
            <a:r>
              <a:rPr lang="en-US" altLang="zh-CN" dirty="0" smtClean="0">
                <a:latin typeface="华文中宋" panose="02010600040101010101" pitchFamily="2" charset="-122"/>
                <a:ea typeface="华文中宋" panose="02010600040101010101" pitchFamily="2" charset="-122"/>
                <a:cs typeface="宋体" panose="02010600030101010101" pitchFamily="2" charset="-122"/>
              </a:rPr>
              <a:t>32</a:t>
            </a:r>
            <a:r>
              <a:rPr lang="zh-CN" altLang="en-US" dirty="0" smtClean="0">
                <a:latin typeface="华文中宋" panose="02010600040101010101" pitchFamily="2" charset="-122"/>
                <a:ea typeface="华文中宋" panose="02010600040101010101" pitchFamily="2" charset="-122"/>
                <a:cs typeface="宋体" panose="02010600030101010101" pitchFamily="2" charset="-122"/>
              </a:rPr>
              <a:t>位的，那么如果用</a:t>
            </a:r>
            <a:r>
              <a:rPr lang="en-US" altLang="zh-CN" dirty="0" smtClean="0">
                <a:latin typeface="华文中宋" panose="02010600040101010101" pitchFamily="2" charset="-122"/>
                <a:ea typeface="华文中宋" panose="02010600040101010101" pitchFamily="2" charset="-122"/>
                <a:cs typeface="宋体" panose="02010600030101010101" pitchFamily="2" charset="-122"/>
              </a:rPr>
              <a:t>16</a:t>
            </a:r>
            <a:r>
              <a:rPr lang="zh-CN" altLang="en-US" dirty="0" smtClean="0">
                <a:latin typeface="华文中宋" panose="02010600040101010101" pitchFamily="2" charset="-122"/>
                <a:ea typeface="华文中宋" panose="02010600040101010101" pitchFamily="2" charset="-122"/>
                <a:cs typeface="宋体" panose="02010600030101010101" pitchFamily="2" charset="-122"/>
              </a:rPr>
              <a:t>位的数据总线来传输</a:t>
            </a:r>
            <a:r>
              <a:rPr lang="en-US" altLang="zh-CN" dirty="0" smtClean="0">
                <a:latin typeface="华文中宋" panose="02010600040101010101" pitchFamily="2" charset="-122"/>
                <a:ea typeface="华文中宋" panose="02010600040101010101" pitchFamily="2" charset="-122"/>
                <a:cs typeface="宋体" panose="02010600030101010101" pitchFamily="2" charset="-122"/>
              </a:rPr>
              <a:t>32</a:t>
            </a:r>
            <a:r>
              <a:rPr lang="zh-CN" altLang="en-US" dirty="0" smtClean="0">
                <a:latin typeface="华文中宋" panose="02010600040101010101" pitchFamily="2" charset="-122"/>
                <a:ea typeface="华文中宋" panose="02010600040101010101" pitchFamily="2" charset="-122"/>
                <a:cs typeface="宋体" panose="02010600030101010101" pitchFamily="2" charset="-122"/>
              </a:rPr>
              <a:t>位的数据呢？</a:t>
            </a:r>
            <a:endParaRPr kumimoji="0" lang="en-US" altLang="zh-CN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华文中宋" panose="02010600040101010101" pitchFamily="2" charset="-122"/>
              <a:ea typeface="华文中宋" panose="02010600040101010101" pitchFamily="2" charset="-122"/>
              <a:cs typeface="宋体" panose="02010600030101010101" pitchFamily="2" charset="-122"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zh-CN" altLang="en-US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华文中宋" panose="02010600040101010101" pitchFamily="2" charset="-122"/>
              <a:ea typeface="华文中宋" panose="02010600040101010101" pitchFamily="2" charset="-122"/>
              <a:cs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000364" y="0"/>
            <a:ext cx="5729270" cy="1143000"/>
          </a:xfrm>
        </p:spPr>
        <p:txBody>
          <a:bodyPr/>
          <a:lstStyle/>
          <a:p>
            <a:r>
              <a:rPr lang="en-US" altLang="zh-CN" dirty="0" smtClean="0"/>
              <a:t>2.2 </a:t>
            </a:r>
            <a:r>
              <a:rPr lang="zh-CN" altLang="en-US" dirty="0" smtClean="0"/>
              <a:t>指令</a:t>
            </a:r>
            <a:endParaRPr lang="zh-CN" altLang="en-US" dirty="0"/>
          </a:p>
        </p:txBody>
      </p:sp>
      <p:sp>
        <p:nvSpPr>
          <p:cNvPr id="3" name="矩形 2"/>
          <p:cNvSpPr/>
          <p:nvPr/>
        </p:nvSpPr>
        <p:spPr>
          <a:xfrm>
            <a:off x="428596" y="1357298"/>
            <a:ext cx="8286808" cy="156966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400" dirty="0" smtClean="0">
                <a:solidFill>
                  <a:srgbClr val="FF0000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指令集</a:t>
            </a:r>
            <a:r>
              <a:rPr lang="zh-CN" altLang="en-US" sz="2000" dirty="0" smtClean="0">
                <a:latin typeface="华文中宋" panose="02010600040101010101" pitchFamily="2" charset="-122"/>
                <a:ea typeface="华文中宋" panose="02010600040101010101" pitchFamily="2" charset="-122"/>
              </a:rPr>
              <a:t>是由处理器为程序员提供的一组基本指令的集合，处理器能够</a:t>
            </a:r>
            <a:r>
              <a:rPr lang="zh-CN" altLang="en-US" sz="2000" dirty="0" smtClean="0">
                <a:solidFill>
                  <a:srgbClr val="FF0000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识别并执行</a:t>
            </a:r>
            <a:r>
              <a:rPr lang="zh-CN" altLang="en-US" sz="2000" dirty="0" smtClean="0">
                <a:latin typeface="华文中宋" panose="02010600040101010101" pitchFamily="2" charset="-122"/>
                <a:ea typeface="华文中宋" panose="02010600040101010101" pitchFamily="2" charset="-122"/>
              </a:rPr>
              <a:t>指令集中的每一条指令。任何高级语言程序都必须被翻译成基本指令的序列，才能被处理器最终执行。</a:t>
            </a:r>
            <a:endParaRPr lang="zh-CN" altLang="en-US" sz="2000" dirty="0">
              <a:latin typeface="华文中宋" panose="02010600040101010101" pitchFamily="2" charset="-122"/>
              <a:ea typeface="华文中宋" panose="02010600040101010101" pitchFamily="2" charset="-122"/>
            </a:endParaRPr>
          </a:p>
        </p:txBody>
      </p:sp>
      <p:sp>
        <p:nvSpPr>
          <p:cNvPr id="128001" name="Rectangle 1"/>
          <p:cNvSpPr>
            <a:spLocks noChangeArrowheads="1"/>
          </p:cNvSpPr>
          <p:nvPr/>
        </p:nvSpPr>
        <p:spPr bwMode="auto">
          <a:xfrm>
            <a:off x="500034" y="2857496"/>
            <a:ext cx="8286808" cy="387798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ctr" anchorCtr="0" compatLnSpc="1">
            <a:spAutoFit/>
          </a:bodyPr>
          <a:lstStyle/>
          <a:p>
            <a:pPr marL="0" marR="0" lvl="0" indent="266700" algn="l" defTabSz="914400" rtl="0" eaLnBrk="1" fontAlgn="base" latinLnBrk="0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zh-CN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华文中宋" panose="02010600040101010101" pitchFamily="2" charset="-122"/>
                <a:ea typeface="华文中宋" panose="02010600040101010101" pitchFamily="2" charset="-122"/>
                <a:cs typeface="Times New Roman" panose="02020603050405020304" pitchFamily="18" charset="0"/>
              </a:rPr>
              <a:t>每一条指令由操作码（</a:t>
            </a:r>
            <a:r>
              <a:rPr kumimoji="0" lang="en-US" altLang="zh-CN" sz="20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华文中宋" panose="02010600040101010101" pitchFamily="2" charset="-122"/>
                <a:ea typeface="华文中宋" panose="02010600040101010101" pitchFamily="2" charset="-122"/>
                <a:cs typeface="Times New Roman" panose="02020603050405020304" pitchFamily="18" charset="0"/>
              </a:rPr>
              <a:t>opcode</a:t>
            </a:r>
            <a:r>
              <a:rPr kumimoji="0" lang="zh-CN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华文中宋" panose="02010600040101010101" pitchFamily="2" charset="-122"/>
                <a:ea typeface="华文中宋" panose="02010600040101010101" pitchFamily="2" charset="-122"/>
                <a:cs typeface="Times New Roman" panose="02020603050405020304" pitchFamily="18" charset="0"/>
              </a:rPr>
              <a:t>）和一个或多个操作数（</a:t>
            </a:r>
            <a:r>
              <a:rPr kumimoji="0" lang="en-US" altLang="zh-CN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华文中宋" panose="02010600040101010101" pitchFamily="2" charset="-122"/>
                <a:ea typeface="华文中宋" panose="02010600040101010101" pitchFamily="2" charset="-122"/>
                <a:cs typeface="Times New Roman" panose="02020603050405020304" pitchFamily="18" charset="0"/>
              </a:rPr>
              <a:t>operand</a:t>
            </a:r>
            <a:r>
              <a:rPr kumimoji="0" lang="zh-CN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华文中宋" panose="02010600040101010101" pitchFamily="2" charset="-122"/>
                <a:ea typeface="华文中宋" panose="02010600040101010101" pitchFamily="2" charset="-122"/>
                <a:cs typeface="Times New Roman" panose="02020603050405020304" pitchFamily="18" charset="0"/>
              </a:rPr>
              <a:t>）组成，写作</a:t>
            </a:r>
            <a:endParaRPr kumimoji="0" lang="zh-CN" altLang="en-US" sz="20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华文中宋" panose="02010600040101010101" pitchFamily="2" charset="-122"/>
              <a:ea typeface="华文中宋" panose="02010600040101010101" pitchFamily="2" charset="-122"/>
              <a:cs typeface="宋体" panose="02010600030101010101" pitchFamily="2" charset="-122"/>
            </a:endParaRPr>
          </a:p>
          <a:p>
            <a:pPr marL="0" marR="0" lvl="0" indent="266700" algn="ctr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en-US" altLang="zh-CN" sz="2400" b="0" i="0" u="none" strike="noStrike" cap="none" normalizeH="0" baseline="0" dirty="0" smtClean="0">
                <a:ln>
                  <a:noFill/>
                </a:ln>
                <a:solidFill>
                  <a:srgbClr val="FF0000"/>
                </a:solidFill>
                <a:effectLst/>
                <a:latin typeface="华文中宋" panose="02010600040101010101" pitchFamily="2" charset="-122"/>
                <a:ea typeface="华文中宋" panose="02010600040101010101" pitchFamily="2" charset="-122"/>
                <a:cs typeface="Times New Roman" panose="02020603050405020304" pitchFamily="18" charset="0"/>
              </a:rPr>
              <a:t>op R1,R2,…</a:t>
            </a:r>
            <a:endParaRPr kumimoji="0" lang="en-US" altLang="zh-CN" sz="2400" b="0" i="0" u="none" strike="noStrike" cap="none" normalizeH="0" baseline="0" dirty="0" smtClean="0">
              <a:ln>
                <a:noFill/>
              </a:ln>
              <a:solidFill>
                <a:srgbClr val="FF0000"/>
              </a:solidFill>
              <a:effectLst/>
              <a:latin typeface="华文中宋" panose="02010600040101010101" pitchFamily="2" charset="-122"/>
              <a:ea typeface="华文中宋" panose="02010600040101010101" pitchFamily="2" charset="-122"/>
              <a:cs typeface="Times New Roman" panose="02020603050405020304" pitchFamily="18" charset="0"/>
            </a:endParaRPr>
          </a:p>
          <a:p>
            <a:pPr marL="0" marR="0" lvl="0" indent="266700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zh-CN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华文中宋" panose="02010600040101010101" pitchFamily="2" charset="-122"/>
                <a:ea typeface="华文中宋" panose="02010600040101010101" pitchFamily="2" charset="-122"/>
                <a:cs typeface="Times New Roman" panose="02020603050405020304" pitchFamily="18" charset="0"/>
              </a:rPr>
              <a:t>  其中</a:t>
            </a:r>
            <a:r>
              <a:rPr kumimoji="0" lang="en-US" altLang="zh-CN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华文中宋" panose="02010600040101010101" pitchFamily="2" charset="-122"/>
                <a:ea typeface="华文中宋" panose="02010600040101010101" pitchFamily="2" charset="-122"/>
                <a:cs typeface="Times New Roman" panose="02020603050405020304" pitchFamily="18" charset="0"/>
              </a:rPr>
              <a:t>op</a:t>
            </a:r>
            <a:r>
              <a:rPr kumimoji="0" lang="zh-CN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华文中宋" panose="02010600040101010101" pitchFamily="2" charset="-122"/>
                <a:ea typeface="华文中宋" panose="02010600040101010101" pitchFamily="2" charset="-122"/>
                <a:cs typeface="Times New Roman" panose="02020603050405020304" pitchFamily="18" charset="0"/>
              </a:rPr>
              <a:t>为操作码，</a:t>
            </a:r>
            <a:r>
              <a:rPr kumimoji="0" lang="en-US" altLang="zh-CN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华文中宋" panose="02010600040101010101" pitchFamily="2" charset="-122"/>
                <a:ea typeface="华文中宋" panose="02010600040101010101" pitchFamily="2" charset="-122"/>
                <a:cs typeface="Times New Roman" panose="02020603050405020304" pitchFamily="18" charset="0"/>
              </a:rPr>
              <a:t>R1</a:t>
            </a:r>
            <a:r>
              <a:rPr kumimoji="0" lang="zh-CN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华文中宋" panose="02010600040101010101" pitchFamily="2" charset="-122"/>
                <a:ea typeface="华文中宋" panose="02010600040101010101" pitchFamily="2" charset="-122"/>
                <a:cs typeface="Times New Roman" panose="02020603050405020304" pitchFamily="18" charset="0"/>
              </a:rPr>
              <a:t>，</a:t>
            </a:r>
            <a:r>
              <a:rPr kumimoji="0" lang="en-US" altLang="zh-CN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华文中宋" panose="02010600040101010101" pitchFamily="2" charset="-122"/>
                <a:ea typeface="华文中宋" panose="02010600040101010101" pitchFamily="2" charset="-122"/>
                <a:cs typeface="Times New Roman" panose="02020603050405020304" pitchFamily="18" charset="0"/>
              </a:rPr>
              <a:t>R2</a:t>
            </a:r>
            <a:r>
              <a:rPr kumimoji="0" lang="zh-CN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华文中宋" panose="02010600040101010101" pitchFamily="2" charset="-122"/>
                <a:ea typeface="华文中宋" panose="02010600040101010101" pitchFamily="2" charset="-122"/>
                <a:cs typeface="Times New Roman" panose="02020603050405020304" pitchFamily="18" charset="0"/>
              </a:rPr>
              <a:t>，</a:t>
            </a:r>
            <a:r>
              <a:rPr kumimoji="0" lang="en-US" altLang="zh-CN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华文中宋" panose="02010600040101010101" pitchFamily="2" charset="-122"/>
                <a:ea typeface="华文中宋" panose="02010600040101010101" pitchFamily="2" charset="-122"/>
                <a:cs typeface="Times New Roman" panose="02020603050405020304" pitchFamily="18" charset="0"/>
              </a:rPr>
              <a:t>…</a:t>
            </a:r>
            <a:r>
              <a:rPr kumimoji="0" lang="zh-CN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华文中宋" panose="02010600040101010101" pitchFamily="2" charset="-122"/>
                <a:ea typeface="华文中宋" panose="02010600040101010101" pitchFamily="2" charset="-122"/>
                <a:cs typeface="Times New Roman" panose="02020603050405020304" pitchFamily="18" charset="0"/>
              </a:rPr>
              <a:t>为操作数。一条指令用二进制（或</a:t>
            </a:r>
            <a:r>
              <a:rPr kumimoji="0" lang="en-US" altLang="zh-CN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华文中宋" panose="02010600040101010101" pitchFamily="2" charset="-122"/>
                <a:ea typeface="华文中宋" panose="02010600040101010101" pitchFamily="2" charset="-122"/>
                <a:cs typeface="Times New Roman" panose="02020603050405020304" pitchFamily="18" charset="0"/>
              </a:rPr>
              <a:t>16</a:t>
            </a:r>
            <a:r>
              <a:rPr kumimoji="0" lang="zh-CN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华文中宋" panose="02010600040101010101" pitchFamily="2" charset="-122"/>
                <a:ea typeface="华文中宋" panose="02010600040101010101" pitchFamily="2" charset="-122"/>
                <a:cs typeface="Times New Roman" panose="02020603050405020304" pitchFamily="18" charset="0"/>
              </a:rPr>
              <a:t>进制）串来编码。</a:t>
            </a:r>
            <a:endParaRPr kumimoji="0" lang="en-US" altLang="zh-CN" sz="20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华文中宋" panose="02010600040101010101" pitchFamily="2" charset="-122"/>
              <a:ea typeface="华文中宋" panose="02010600040101010101" pitchFamily="2" charset="-122"/>
              <a:cs typeface="Times New Roman" panose="02020603050405020304" pitchFamily="18" charset="0"/>
            </a:endParaRPr>
          </a:p>
          <a:p>
            <a:pPr marL="0" marR="0" lvl="0" indent="266700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zh-CN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华文中宋" panose="02010600040101010101" pitchFamily="2" charset="-122"/>
                <a:ea typeface="华文中宋" panose="02010600040101010101" pitchFamily="2" charset="-122"/>
                <a:cs typeface="Times New Roman" panose="02020603050405020304" pitchFamily="18" charset="0"/>
              </a:rPr>
              <a:t>  有些指令集的所有指令编码的长度都是固定的，如</a:t>
            </a:r>
            <a:r>
              <a:rPr kumimoji="0" lang="en-US" altLang="zh-CN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华文中宋" panose="02010600040101010101" pitchFamily="2" charset="-122"/>
                <a:ea typeface="华文中宋" panose="02010600040101010101" pitchFamily="2" charset="-122"/>
                <a:cs typeface="Times New Roman" panose="02020603050405020304" pitchFamily="18" charset="0"/>
              </a:rPr>
              <a:t>ARM</a:t>
            </a:r>
            <a:r>
              <a:rPr kumimoji="0" lang="zh-CN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华文中宋" panose="02010600040101010101" pitchFamily="2" charset="-122"/>
                <a:ea typeface="华文中宋" panose="02010600040101010101" pitchFamily="2" charset="-122"/>
                <a:cs typeface="Times New Roman" panose="02020603050405020304" pitchFamily="18" charset="0"/>
              </a:rPr>
              <a:t>指令集，每条指令用</a:t>
            </a:r>
            <a:r>
              <a:rPr kumimoji="0" lang="en-US" altLang="zh-CN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华文中宋" panose="02010600040101010101" pitchFamily="2" charset="-122"/>
                <a:ea typeface="华文中宋" panose="02010600040101010101" pitchFamily="2" charset="-122"/>
                <a:cs typeface="Times New Roman" panose="02020603050405020304" pitchFamily="18" charset="0"/>
              </a:rPr>
              <a:t>4</a:t>
            </a:r>
            <a:r>
              <a:rPr kumimoji="0" lang="zh-CN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华文中宋" panose="02010600040101010101" pitchFamily="2" charset="-122"/>
                <a:ea typeface="华文中宋" panose="02010600040101010101" pitchFamily="2" charset="-122"/>
                <a:cs typeface="Times New Roman" panose="02020603050405020304" pitchFamily="18" charset="0"/>
              </a:rPr>
              <a:t>个字节来编码；而有些指令集的指令编码是变长的，如</a:t>
            </a:r>
            <a:r>
              <a:rPr kumimoji="0" lang="en-US" altLang="zh-CN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华文中宋" panose="02010600040101010101" pitchFamily="2" charset="-122"/>
                <a:ea typeface="华文中宋" panose="02010600040101010101" pitchFamily="2" charset="-122"/>
                <a:cs typeface="Times New Roman" panose="02020603050405020304" pitchFamily="18" charset="0"/>
              </a:rPr>
              <a:t>IA32</a:t>
            </a:r>
            <a:r>
              <a:rPr kumimoji="0" lang="zh-CN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华文中宋" panose="02010600040101010101" pitchFamily="2" charset="-122"/>
                <a:ea typeface="华文中宋" panose="02010600040101010101" pitchFamily="2" charset="-122"/>
                <a:cs typeface="Times New Roman" panose="02020603050405020304" pitchFamily="18" charset="0"/>
              </a:rPr>
              <a:t>指令编码的长度是</a:t>
            </a:r>
            <a:r>
              <a:rPr kumimoji="0" lang="en-US" altLang="zh-CN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华文中宋" panose="02010600040101010101" pitchFamily="2" charset="-122"/>
                <a:ea typeface="华文中宋" panose="02010600040101010101" pitchFamily="2" charset="-122"/>
                <a:cs typeface="Times New Roman" panose="02020603050405020304" pitchFamily="18" charset="0"/>
              </a:rPr>
              <a:t>1~15</a:t>
            </a:r>
            <a:r>
              <a:rPr kumimoji="0" lang="zh-CN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华文中宋" panose="02010600040101010101" pitchFamily="2" charset="-122"/>
                <a:ea typeface="华文中宋" panose="02010600040101010101" pitchFamily="2" charset="-122"/>
                <a:cs typeface="Times New Roman" panose="02020603050405020304" pitchFamily="18" charset="0"/>
              </a:rPr>
              <a:t>字节长度。</a:t>
            </a:r>
            <a:r>
              <a:rPr kumimoji="0" lang="zh-CN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华文中宋" panose="02010600040101010101" pitchFamily="2" charset="-122"/>
                <a:ea typeface="华文中宋" panose="02010600040101010101" pitchFamily="2" charset="-122"/>
                <a:cs typeface="宋体" panose="02010600030101010101" pitchFamily="2" charset="-122"/>
              </a:rPr>
              <a:t> </a:t>
            </a:r>
            <a:endParaRPr kumimoji="0" lang="zh-CN" altLang="en-US" sz="20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华文中宋" panose="02010600040101010101" pitchFamily="2" charset="-122"/>
              <a:ea typeface="华文中宋" panose="02010600040101010101" pitchFamily="2" charset="-122"/>
              <a:cs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TextBox 3"/>
          <p:cNvSpPr txBox="1"/>
          <p:nvPr/>
        </p:nvSpPr>
        <p:spPr>
          <a:xfrm>
            <a:off x="1571604" y="1643050"/>
            <a:ext cx="4355680" cy="483209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800" dirty="0" err="1" smtClean="0">
                <a:latin typeface="华文中宋" panose="02010600040101010101" pitchFamily="2" charset="-122"/>
                <a:ea typeface="华文中宋" panose="02010600040101010101" pitchFamily="2" charset="-122"/>
              </a:rPr>
              <a:t>mov</a:t>
            </a:r>
            <a:r>
              <a:rPr lang="en-US" altLang="zh-CN" sz="2800" dirty="0" smtClean="0">
                <a:latin typeface="华文中宋" panose="02010600040101010101" pitchFamily="2" charset="-122"/>
                <a:ea typeface="华文中宋" panose="02010600040101010101" pitchFamily="2" charset="-122"/>
              </a:rPr>
              <a:t>    $100</a:t>
            </a:r>
            <a:r>
              <a:rPr lang="zh-CN" altLang="en-US" sz="2800" dirty="0" smtClean="0">
                <a:latin typeface="华文中宋" panose="02010600040101010101" pitchFamily="2" charset="-122"/>
                <a:ea typeface="华文中宋" panose="02010600040101010101" pitchFamily="2" charset="-122"/>
              </a:rPr>
              <a:t>，</a:t>
            </a:r>
            <a:r>
              <a:rPr lang="en-US" altLang="zh-CN" sz="2800" dirty="0" smtClean="0">
                <a:latin typeface="华文中宋" panose="02010600040101010101" pitchFamily="2" charset="-122"/>
                <a:ea typeface="华文中宋" panose="02010600040101010101" pitchFamily="2" charset="-122"/>
              </a:rPr>
              <a:t> %</a:t>
            </a:r>
            <a:r>
              <a:rPr lang="en-US" altLang="zh-CN" sz="2800" dirty="0" err="1" smtClean="0">
                <a:latin typeface="华文中宋" panose="02010600040101010101" pitchFamily="2" charset="-122"/>
                <a:ea typeface="华文中宋" panose="02010600040101010101" pitchFamily="2" charset="-122"/>
              </a:rPr>
              <a:t>eax</a:t>
            </a:r>
            <a:endParaRPr lang="en-US" altLang="zh-CN" sz="2800" dirty="0" smtClean="0">
              <a:latin typeface="华文中宋" panose="02010600040101010101" pitchFamily="2" charset="-122"/>
              <a:ea typeface="华文中宋" panose="02010600040101010101" pitchFamily="2" charset="-122"/>
            </a:endParaRPr>
          </a:p>
          <a:p>
            <a:endParaRPr lang="en-US" altLang="zh-CN" sz="2800" dirty="0" smtClean="0">
              <a:latin typeface="华文中宋" panose="02010600040101010101" pitchFamily="2" charset="-122"/>
              <a:ea typeface="华文中宋" panose="02010600040101010101" pitchFamily="2" charset="-122"/>
            </a:endParaRPr>
          </a:p>
          <a:p>
            <a:r>
              <a:rPr lang="en-US" altLang="zh-CN" sz="2800" dirty="0" err="1" smtClean="0">
                <a:latin typeface="华文中宋" panose="02010600040101010101" pitchFamily="2" charset="-122"/>
                <a:ea typeface="华文中宋" panose="02010600040101010101" pitchFamily="2" charset="-122"/>
              </a:rPr>
              <a:t>mov</a:t>
            </a:r>
            <a:r>
              <a:rPr lang="en-US" altLang="zh-CN" sz="2800" dirty="0" smtClean="0">
                <a:latin typeface="华文中宋" panose="02010600040101010101" pitchFamily="2" charset="-122"/>
                <a:ea typeface="华文中宋" panose="02010600040101010101" pitchFamily="2" charset="-122"/>
              </a:rPr>
              <a:t>    %</a:t>
            </a:r>
            <a:r>
              <a:rPr lang="en-US" altLang="zh-CN" sz="2800" dirty="0" err="1" smtClean="0">
                <a:latin typeface="华文中宋" panose="02010600040101010101" pitchFamily="2" charset="-122"/>
                <a:ea typeface="华文中宋" panose="02010600040101010101" pitchFamily="2" charset="-122"/>
              </a:rPr>
              <a:t>eax</a:t>
            </a:r>
            <a:r>
              <a:rPr lang="zh-CN" altLang="en-US" sz="2800" dirty="0" smtClean="0">
                <a:latin typeface="华文中宋" panose="02010600040101010101" pitchFamily="2" charset="-122"/>
                <a:ea typeface="华文中宋" panose="02010600040101010101" pitchFamily="2" charset="-122"/>
              </a:rPr>
              <a:t>， </a:t>
            </a:r>
            <a:r>
              <a:rPr lang="en-US" altLang="zh-CN" sz="2800" dirty="0" smtClean="0">
                <a:latin typeface="华文中宋" panose="02010600040101010101" pitchFamily="2" charset="-122"/>
                <a:ea typeface="华文中宋" panose="02010600040101010101" pitchFamily="2" charset="-122"/>
              </a:rPr>
              <a:t>%</a:t>
            </a:r>
            <a:r>
              <a:rPr lang="en-US" altLang="zh-CN" sz="2800" dirty="0" err="1" smtClean="0">
                <a:latin typeface="华文中宋" panose="02010600040101010101" pitchFamily="2" charset="-122"/>
                <a:ea typeface="华文中宋" panose="02010600040101010101" pitchFamily="2" charset="-122"/>
              </a:rPr>
              <a:t>ebx</a:t>
            </a:r>
            <a:endParaRPr lang="en-US" altLang="zh-CN" sz="2800" dirty="0" smtClean="0">
              <a:latin typeface="华文中宋" panose="02010600040101010101" pitchFamily="2" charset="-122"/>
              <a:ea typeface="华文中宋" panose="02010600040101010101" pitchFamily="2" charset="-122"/>
            </a:endParaRPr>
          </a:p>
          <a:p>
            <a:endParaRPr lang="en-US" altLang="zh-CN" sz="2800" dirty="0" smtClean="0">
              <a:latin typeface="华文中宋" panose="02010600040101010101" pitchFamily="2" charset="-122"/>
              <a:ea typeface="华文中宋" panose="02010600040101010101" pitchFamily="2" charset="-122"/>
            </a:endParaRPr>
          </a:p>
          <a:p>
            <a:r>
              <a:rPr lang="en-US" altLang="zh-CN" sz="2800" dirty="0" err="1" smtClean="0">
                <a:latin typeface="华文中宋" panose="02010600040101010101" pitchFamily="2" charset="-122"/>
                <a:ea typeface="华文中宋" panose="02010600040101010101" pitchFamily="2" charset="-122"/>
              </a:rPr>
              <a:t>mov</a:t>
            </a:r>
            <a:r>
              <a:rPr lang="en-US" altLang="zh-CN" sz="2800" dirty="0" smtClean="0">
                <a:latin typeface="华文中宋" panose="02010600040101010101" pitchFamily="2" charset="-122"/>
                <a:ea typeface="华文中宋" panose="02010600040101010101" pitchFamily="2" charset="-122"/>
              </a:rPr>
              <a:t>   0x100</a:t>
            </a:r>
            <a:r>
              <a:rPr lang="zh-CN" altLang="en-US" sz="2800" dirty="0" smtClean="0">
                <a:latin typeface="华文中宋" panose="02010600040101010101" pitchFamily="2" charset="-122"/>
                <a:ea typeface="华文中宋" panose="02010600040101010101" pitchFamily="2" charset="-122"/>
              </a:rPr>
              <a:t>， </a:t>
            </a:r>
            <a:r>
              <a:rPr lang="en-US" altLang="zh-CN" sz="2800" dirty="0" smtClean="0">
                <a:latin typeface="华文中宋" panose="02010600040101010101" pitchFamily="2" charset="-122"/>
                <a:ea typeface="华文中宋" panose="02010600040101010101" pitchFamily="2" charset="-122"/>
              </a:rPr>
              <a:t>%</a:t>
            </a:r>
            <a:r>
              <a:rPr lang="en-US" altLang="zh-CN" sz="2800" dirty="0" err="1" smtClean="0">
                <a:latin typeface="华文中宋" panose="02010600040101010101" pitchFamily="2" charset="-122"/>
                <a:ea typeface="华文中宋" panose="02010600040101010101" pitchFamily="2" charset="-122"/>
              </a:rPr>
              <a:t>eax</a:t>
            </a:r>
            <a:endParaRPr lang="en-US" altLang="zh-CN" sz="2800" dirty="0" smtClean="0">
              <a:latin typeface="华文中宋" panose="02010600040101010101" pitchFamily="2" charset="-122"/>
              <a:ea typeface="华文中宋" panose="02010600040101010101" pitchFamily="2" charset="-122"/>
            </a:endParaRPr>
          </a:p>
          <a:p>
            <a:endParaRPr lang="en-US" altLang="zh-CN" sz="2800" dirty="0" smtClean="0">
              <a:latin typeface="华文中宋" panose="02010600040101010101" pitchFamily="2" charset="-122"/>
              <a:ea typeface="华文中宋" panose="02010600040101010101" pitchFamily="2" charset="-122"/>
            </a:endParaRPr>
          </a:p>
          <a:p>
            <a:r>
              <a:rPr lang="en-US" altLang="zh-CN" sz="2800" dirty="0" err="1" smtClean="0">
                <a:latin typeface="华文中宋" panose="02010600040101010101" pitchFamily="2" charset="-122"/>
                <a:ea typeface="华文中宋" panose="02010600040101010101" pitchFamily="2" charset="-122"/>
              </a:rPr>
              <a:t>mov</a:t>
            </a:r>
            <a:r>
              <a:rPr lang="en-US" altLang="zh-CN" sz="2800" dirty="0" smtClean="0">
                <a:latin typeface="华文中宋" panose="02010600040101010101" pitchFamily="2" charset="-122"/>
                <a:ea typeface="华文中宋" panose="02010600040101010101" pitchFamily="2" charset="-122"/>
              </a:rPr>
              <a:t>  </a:t>
            </a:r>
            <a:r>
              <a:rPr lang="zh-CN" altLang="en-US" sz="2800" dirty="0" smtClean="0">
                <a:latin typeface="华文中宋" panose="02010600040101010101" pitchFamily="2" charset="-122"/>
                <a:ea typeface="华文中宋" panose="02010600040101010101" pitchFamily="2" charset="-122"/>
              </a:rPr>
              <a:t>（</a:t>
            </a:r>
            <a:r>
              <a:rPr lang="en-US" altLang="zh-CN" sz="2800" dirty="0" smtClean="0">
                <a:latin typeface="华文中宋" panose="02010600040101010101" pitchFamily="2" charset="-122"/>
                <a:ea typeface="华文中宋" panose="02010600040101010101" pitchFamily="2" charset="-122"/>
              </a:rPr>
              <a:t>%</a:t>
            </a:r>
            <a:r>
              <a:rPr lang="en-US" altLang="zh-CN" sz="2800" dirty="0" err="1" smtClean="0">
                <a:latin typeface="华文中宋" panose="02010600040101010101" pitchFamily="2" charset="-122"/>
                <a:ea typeface="华文中宋" panose="02010600040101010101" pitchFamily="2" charset="-122"/>
              </a:rPr>
              <a:t>eax</a:t>
            </a:r>
            <a:r>
              <a:rPr lang="zh-CN" altLang="en-US" sz="2800" dirty="0" smtClean="0">
                <a:latin typeface="华文中宋" panose="02010600040101010101" pitchFamily="2" charset="-122"/>
                <a:ea typeface="华文中宋" panose="02010600040101010101" pitchFamily="2" charset="-122"/>
              </a:rPr>
              <a:t>），</a:t>
            </a:r>
            <a:r>
              <a:rPr lang="en-US" altLang="zh-CN" sz="2800" dirty="0" smtClean="0">
                <a:latin typeface="华文中宋" panose="02010600040101010101" pitchFamily="2" charset="-122"/>
                <a:ea typeface="华文中宋" panose="02010600040101010101" pitchFamily="2" charset="-122"/>
              </a:rPr>
              <a:t>%</a:t>
            </a:r>
            <a:r>
              <a:rPr lang="en-US" altLang="zh-CN" sz="2800" dirty="0" err="1" smtClean="0">
                <a:latin typeface="华文中宋" panose="02010600040101010101" pitchFamily="2" charset="-122"/>
                <a:ea typeface="华文中宋" panose="02010600040101010101" pitchFamily="2" charset="-122"/>
              </a:rPr>
              <a:t>ebx</a:t>
            </a:r>
            <a:endParaRPr lang="en-US" altLang="zh-CN" sz="2800" dirty="0" smtClean="0">
              <a:latin typeface="华文中宋" panose="02010600040101010101" pitchFamily="2" charset="-122"/>
              <a:ea typeface="华文中宋" panose="02010600040101010101" pitchFamily="2" charset="-122"/>
            </a:endParaRPr>
          </a:p>
          <a:p>
            <a:endParaRPr lang="en-US" altLang="zh-CN" sz="2800" dirty="0" smtClean="0">
              <a:latin typeface="华文中宋" panose="02010600040101010101" pitchFamily="2" charset="-122"/>
              <a:ea typeface="华文中宋" panose="02010600040101010101" pitchFamily="2" charset="-122"/>
            </a:endParaRPr>
          </a:p>
          <a:p>
            <a:r>
              <a:rPr lang="en-US" altLang="zh-CN" sz="2800" dirty="0" err="1" smtClean="0">
                <a:latin typeface="华文中宋" panose="02010600040101010101" pitchFamily="2" charset="-122"/>
                <a:ea typeface="华文中宋" panose="02010600040101010101" pitchFamily="2" charset="-122"/>
              </a:rPr>
              <a:t>mov</a:t>
            </a:r>
            <a:r>
              <a:rPr lang="en-US" altLang="zh-CN" sz="2800" dirty="0" smtClean="0">
                <a:latin typeface="华文中宋" panose="02010600040101010101" pitchFamily="2" charset="-122"/>
                <a:ea typeface="华文中宋" panose="02010600040101010101" pitchFamily="2" charset="-122"/>
              </a:rPr>
              <a:t>   4(%</a:t>
            </a:r>
            <a:r>
              <a:rPr lang="en-US" altLang="zh-CN" sz="2800" dirty="0" err="1" smtClean="0">
                <a:latin typeface="华文中宋" panose="02010600040101010101" pitchFamily="2" charset="-122"/>
                <a:ea typeface="华文中宋" panose="02010600040101010101" pitchFamily="2" charset="-122"/>
              </a:rPr>
              <a:t>ebp</a:t>
            </a:r>
            <a:r>
              <a:rPr lang="en-US" altLang="zh-CN" sz="2800" dirty="0" smtClean="0">
                <a:latin typeface="华文中宋" panose="02010600040101010101" pitchFamily="2" charset="-122"/>
                <a:ea typeface="华文中宋" panose="02010600040101010101" pitchFamily="2" charset="-122"/>
              </a:rPr>
              <a:t>), %</a:t>
            </a:r>
            <a:r>
              <a:rPr lang="en-US" altLang="zh-CN" sz="2800" dirty="0" err="1" smtClean="0">
                <a:latin typeface="华文中宋" panose="02010600040101010101" pitchFamily="2" charset="-122"/>
                <a:ea typeface="华文中宋" panose="02010600040101010101" pitchFamily="2" charset="-122"/>
              </a:rPr>
              <a:t>eax</a:t>
            </a:r>
            <a:r>
              <a:rPr lang="en-US" altLang="zh-CN" sz="2800" dirty="0" smtClean="0">
                <a:latin typeface="华文中宋" panose="02010600040101010101" pitchFamily="2" charset="-122"/>
                <a:ea typeface="华文中宋" panose="02010600040101010101" pitchFamily="2" charset="-122"/>
              </a:rPr>
              <a:t> </a:t>
            </a:r>
            <a:endParaRPr lang="en-US" altLang="zh-CN" sz="2800" dirty="0" smtClean="0">
              <a:latin typeface="华文中宋" panose="02010600040101010101" pitchFamily="2" charset="-122"/>
              <a:ea typeface="华文中宋" panose="02010600040101010101" pitchFamily="2" charset="-122"/>
            </a:endParaRPr>
          </a:p>
          <a:p>
            <a:endParaRPr lang="en-US" sz="2800" dirty="0" smtClean="0">
              <a:latin typeface="华文中宋" panose="02010600040101010101" pitchFamily="2" charset="-122"/>
              <a:ea typeface="华文中宋" panose="02010600040101010101" pitchFamily="2" charset="-122"/>
            </a:endParaRPr>
          </a:p>
          <a:p>
            <a:r>
              <a:rPr lang="en-US" sz="2800" dirty="0" err="1" smtClean="0">
                <a:latin typeface="华文中宋" panose="02010600040101010101" pitchFamily="2" charset="-122"/>
                <a:ea typeface="华文中宋" panose="02010600040101010101" pitchFamily="2" charset="-122"/>
              </a:rPr>
              <a:t>mov</a:t>
            </a:r>
            <a:r>
              <a:rPr lang="en-US" sz="2800" dirty="0" smtClean="0">
                <a:latin typeface="华文中宋" panose="02010600040101010101" pitchFamily="2" charset="-122"/>
                <a:ea typeface="华文中宋" panose="02010600040101010101" pitchFamily="2" charset="-122"/>
              </a:rPr>
              <a:t> (%</a:t>
            </a:r>
            <a:r>
              <a:rPr lang="en-US" sz="2800" dirty="0" err="1" smtClean="0">
                <a:latin typeface="华文中宋" panose="02010600040101010101" pitchFamily="2" charset="-122"/>
                <a:ea typeface="华文中宋" panose="02010600040101010101" pitchFamily="2" charset="-122"/>
              </a:rPr>
              <a:t>edi</a:t>
            </a:r>
            <a:r>
              <a:rPr lang="en-US" sz="2800" dirty="0" smtClean="0">
                <a:latin typeface="华文中宋" panose="02010600040101010101" pitchFamily="2" charset="-122"/>
                <a:ea typeface="华文中宋" panose="02010600040101010101" pitchFamily="2" charset="-122"/>
              </a:rPr>
              <a:t>, %</a:t>
            </a:r>
            <a:r>
              <a:rPr lang="en-US" sz="2800" dirty="0" err="1" smtClean="0">
                <a:latin typeface="华文中宋" panose="02010600040101010101" pitchFamily="2" charset="-122"/>
                <a:ea typeface="华文中宋" panose="02010600040101010101" pitchFamily="2" charset="-122"/>
              </a:rPr>
              <a:t>ecx</a:t>
            </a:r>
            <a:r>
              <a:rPr lang="en-US" sz="2800" dirty="0" smtClean="0">
                <a:latin typeface="华文中宋" panose="02010600040101010101" pitchFamily="2" charset="-122"/>
                <a:ea typeface="华文中宋" panose="02010600040101010101" pitchFamily="2" charset="-122"/>
              </a:rPr>
              <a:t>), %</a:t>
            </a:r>
            <a:r>
              <a:rPr lang="en-US" sz="2800" dirty="0" err="1" smtClean="0">
                <a:latin typeface="华文中宋" panose="02010600040101010101" pitchFamily="2" charset="-122"/>
                <a:ea typeface="华文中宋" panose="02010600040101010101" pitchFamily="2" charset="-122"/>
              </a:rPr>
              <a:t>eax</a:t>
            </a:r>
            <a:endParaRPr lang="zh-CN" altLang="en-US" sz="2800" dirty="0">
              <a:latin typeface="华文中宋" panose="02010600040101010101" pitchFamily="2" charset="-122"/>
              <a:ea typeface="华文中宋" panose="02010600040101010101" pitchFamily="2" charset="-122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6286512" y="1714488"/>
            <a:ext cx="146706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 dirty="0" smtClean="0">
                <a:solidFill>
                  <a:srgbClr val="FF0000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立即数寻址</a:t>
            </a:r>
            <a:endParaRPr lang="zh-CN" altLang="en-US" sz="2000" dirty="0">
              <a:solidFill>
                <a:srgbClr val="FF0000"/>
              </a:solidFill>
              <a:latin typeface="华文中宋" panose="02010600040101010101" pitchFamily="2" charset="-122"/>
              <a:ea typeface="华文中宋" panose="02010600040101010101" pitchFamily="2" charset="-122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6357950" y="2428868"/>
            <a:ext cx="146706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 dirty="0" smtClean="0">
                <a:solidFill>
                  <a:srgbClr val="FF0000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寄存器寻址</a:t>
            </a:r>
            <a:endParaRPr lang="zh-CN" altLang="en-US" sz="2000" dirty="0">
              <a:solidFill>
                <a:srgbClr val="FF0000"/>
              </a:solidFill>
              <a:latin typeface="华文中宋" panose="02010600040101010101" pitchFamily="2" charset="-122"/>
              <a:ea typeface="华文中宋" panose="02010600040101010101" pitchFamily="2" charset="-122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6357950" y="3429000"/>
            <a:ext cx="172354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 dirty="0" smtClean="0">
                <a:solidFill>
                  <a:srgbClr val="FF0000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直接内存寻址</a:t>
            </a:r>
            <a:endParaRPr lang="zh-CN" altLang="en-US" sz="2000" dirty="0">
              <a:solidFill>
                <a:srgbClr val="FF0000"/>
              </a:solidFill>
              <a:latin typeface="华文中宋" panose="02010600040101010101" pitchFamily="2" charset="-122"/>
              <a:ea typeface="华文中宋" panose="02010600040101010101" pitchFamily="2" charset="-122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6357950" y="4214818"/>
            <a:ext cx="172354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 dirty="0" smtClean="0">
                <a:solidFill>
                  <a:srgbClr val="FF0000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间接内存寻址</a:t>
            </a:r>
            <a:endParaRPr lang="zh-CN" altLang="en-US" sz="2000" dirty="0">
              <a:solidFill>
                <a:srgbClr val="FF0000"/>
              </a:solidFill>
              <a:latin typeface="华文中宋" panose="02010600040101010101" pitchFamily="2" charset="-122"/>
              <a:ea typeface="华文中宋" panose="02010600040101010101" pitchFamily="2" charset="-122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6429388" y="5072074"/>
            <a:ext cx="249299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 dirty="0" smtClean="0">
                <a:solidFill>
                  <a:srgbClr val="FF0000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基址偏移量内存寻址</a:t>
            </a:r>
            <a:endParaRPr lang="zh-CN" altLang="en-US" sz="2000" dirty="0">
              <a:solidFill>
                <a:srgbClr val="FF0000"/>
              </a:solidFill>
              <a:latin typeface="华文中宋" panose="02010600040101010101" pitchFamily="2" charset="-122"/>
              <a:ea typeface="华文中宋" panose="02010600040101010101" pitchFamily="2" charset="-122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TextBox 3"/>
          <p:cNvSpPr txBox="1"/>
          <p:nvPr/>
        </p:nvSpPr>
        <p:spPr>
          <a:xfrm>
            <a:off x="785786" y="1500174"/>
            <a:ext cx="7572428" cy="2400657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000" dirty="0" smtClean="0">
                <a:latin typeface="华文中宋" panose="02010600040101010101" pitchFamily="2" charset="-122"/>
                <a:ea typeface="华文中宋" panose="02010600040101010101" pitchFamily="2" charset="-122"/>
              </a:rPr>
              <a:t>学习指令时要注意：</a:t>
            </a:r>
            <a:endParaRPr lang="en-US" altLang="zh-CN" sz="2000" dirty="0" smtClean="0">
              <a:latin typeface="华文中宋" panose="02010600040101010101" pitchFamily="2" charset="-122"/>
              <a:ea typeface="华文中宋" panose="02010600040101010101" pitchFamily="2" charset="-122"/>
            </a:endParaRP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u"/>
            </a:pPr>
            <a:r>
              <a:rPr lang="zh-CN" altLang="en-US" sz="2000" dirty="0" smtClean="0">
                <a:latin typeface="华文中宋" panose="02010600040101010101" pitchFamily="2" charset="-122"/>
                <a:ea typeface="华文中宋" panose="02010600040101010101" pitchFamily="2" charset="-122"/>
              </a:rPr>
              <a:t>操作数的寻址方式</a:t>
            </a:r>
            <a:endParaRPr lang="en-US" altLang="zh-CN" sz="2000" dirty="0" smtClean="0">
              <a:latin typeface="华文中宋" panose="02010600040101010101" pitchFamily="2" charset="-122"/>
              <a:ea typeface="华文中宋" panose="02010600040101010101" pitchFamily="2" charset="-122"/>
            </a:endParaRP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u"/>
            </a:pPr>
            <a:r>
              <a:rPr lang="zh-CN" altLang="en-US" sz="2000" dirty="0" smtClean="0">
                <a:latin typeface="华文中宋" panose="02010600040101010101" pitchFamily="2" charset="-122"/>
                <a:ea typeface="华文中宋" panose="02010600040101010101" pitchFamily="2" charset="-122"/>
              </a:rPr>
              <a:t>操作数的大小（字节数）</a:t>
            </a:r>
            <a:endParaRPr lang="en-US" altLang="zh-CN" sz="2000" dirty="0" smtClean="0">
              <a:latin typeface="华文中宋" panose="02010600040101010101" pitchFamily="2" charset="-122"/>
              <a:ea typeface="华文中宋" panose="02010600040101010101" pitchFamily="2" charset="-122"/>
            </a:endParaRP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u"/>
            </a:pPr>
            <a:r>
              <a:rPr lang="zh-CN" altLang="en-US" sz="2000" dirty="0" smtClean="0">
                <a:latin typeface="华文中宋" panose="02010600040101010101" pitchFamily="2" charset="-122"/>
                <a:ea typeface="华文中宋" panose="02010600040101010101" pitchFamily="2" charset="-122"/>
              </a:rPr>
              <a:t>指令的编码大小（字节数）</a:t>
            </a:r>
            <a:endParaRPr lang="en-US" altLang="zh-CN" sz="2000" dirty="0" smtClean="0">
              <a:latin typeface="华文中宋" panose="02010600040101010101" pitchFamily="2" charset="-122"/>
              <a:ea typeface="华文中宋" panose="02010600040101010101" pitchFamily="2" charset="-122"/>
            </a:endParaRP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u"/>
            </a:pPr>
            <a:r>
              <a:rPr lang="zh-CN" altLang="en-US" sz="2000" dirty="0" smtClean="0">
                <a:latin typeface="华文中宋" panose="02010600040101010101" pitchFamily="2" charset="-122"/>
                <a:ea typeface="华文中宋" panose="02010600040101010101" pitchFamily="2" charset="-122"/>
              </a:rPr>
              <a:t>指令的编码方式</a:t>
            </a:r>
            <a:endParaRPr lang="zh-CN" altLang="en-US" sz="2000" dirty="0">
              <a:latin typeface="华文中宋" panose="02010600040101010101" pitchFamily="2" charset="-122"/>
              <a:ea typeface="华文中宋" panose="02010600040101010101" pitchFamily="2" charset="-122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357158" y="4071942"/>
            <a:ext cx="8786842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000" dirty="0" smtClean="0">
                <a:latin typeface="华文中宋" panose="02010600040101010101" pitchFamily="2" charset="-122"/>
                <a:ea typeface="华文中宋" panose="02010600040101010101" pitchFamily="2" charset="-122"/>
              </a:rPr>
              <a:t>比如， </a:t>
            </a:r>
            <a:endParaRPr lang="en-US" altLang="zh-CN" sz="2000" dirty="0" smtClean="0">
              <a:latin typeface="华文中宋" panose="02010600040101010101" pitchFamily="2" charset="-122"/>
              <a:ea typeface="华文中宋" panose="02010600040101010101" pitchFamily="2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2000" dirty="0" smtClean="0">
                <a:latin typeface="华文中宋" panose="02010600040101010101" pitchFamily="2" charset="-122"/>
                <a:ea typeface="华文中宋" panose="02010600040101010101" pitchFamily="2" charset="-122"/>
              </a:rPr>
              <a:t>（</a:t>
            </a:r>
            <a:r>
              <a:rPr lang="en-US" altLang="zh-CN" sz="2000" dirty="0" smtClean="0">
                <a:latin typeface="华文中宋" panose="02010600040101010101" pitchFamily="2" charset="-122"/>
                <a:ea typeface="华文中宋" panose="02010600040101010101" pitchFamily="2" charset="-122"/>
              </a:rPr>
              <a:t>1</a:t>
            </a:r>
            <a:r>
              <a:rPr lang="zh-CN" altLang="en-US" sz="2000" dirty="0" smtClean="0">
                <a:latin typeface="华文中宋" panose="02010600040101010101" pitchFamily="2" charset="-122"/>
                <a:ea typeface="华文中宋" panose="02010600040101010101" pitchFamily="2" charset="-122"/>
              </a:rPr>
              <a:t>）</a:t>
            </a:r>
            <a:r>
              <a:rPr lang="en-US" altLang="zh-CN" sz="2000" dirty="0" err="1" smtClean="0">
                <a:latin typeface="华文中宋" panose="02010600040101010101" pitchFamily="2" charset="-122"/>
                <a:ea typeface="华文中宋" panose="02010600040101010101" pitchFamily="2" charset="-122"/>
              </a:rPr>
              <a:t>mov</a:t>
            </a:r>
            <a:r>
              <a:rPr lang="en-US" altLang="zh-CN" sz="2000" dirty="0" smtClean="0">
                <a:latin typeface="华文中宋" panose="02010600040101010101" pitchFamily="2" charset="-122"/>
                <a:ea typeface="华文中宋" panose="02010600040101010101" pitchFamily="2" charset="-122"/>
              </a:rPr>
              <a:t> 0x0405, %</a:t>
            </a:r>
            <a:r>
              <a:rPr lang="en-US" altLang="zh-CN" sz="2000" dirty="0" err="1" smtClean="0">
                <a:latin typeface="华文中宋" panose="02010600040101010101" pitchFamily="2" charset="-122"/>
                <a:ea typeface="华文中宋" panose="02010600040101010101" pitchFamily="2" charset="-122"/>
              </a:rPr>
              <a:t>eax</a:t>
            </a:r>
            <a:r>
              <a:rPr lang="zh-CN" altLang="en-US" sz="2000" dirty="0" smtClean="0">
                <a:latin typeface="华文中宋" panose="02010600040101010101" pitchFamily="2" charset="-122"/>
                <a:ea typeface="华文中宋" panose="02010600040101010101" pitchFamily="2" charset="-122"/>
              </a:rPr>
              <a:t>，把地址</a:t>
            </a:r>
            <a:r>
              <a:rPr lang="en-US" altLang="zh-CN" sz="2000" dirty="0" smtClean="0">
                <a:latin typeface="华文中宋" panose="02010600040101010101" pitchFamily="2" charset="-122"/>
                <a:ea typeface="华文中宋" panose="02010600040101010101" pitchFamily="2" charset="-122"/>
              </a:rPr>
              <a:t>0x0405</a:t>
            </a:r>
            <a:r>
              <a:rPr lang="zh-CN" altLang="en-US" sz="2000" dirty="0" smtClean="0">
                <a:latin typeface="华文中宋" panose="02010600040101010101" pitchFamily="2" charset="-122"/>
                <a:ea typeface="华文中宋" panose="02010600040101010101" pitchFamily="2" charset="-122"/>
              </a:rPr>
              <a:t>上多少个字节的数据移动到</a:t>
            </a:r>
            <a:r>
              <a:rPr lang="en-US" altLang="zh-CN" sz="2000" dirty="0" smtClean="0">
                <a:latin typeface="华文中宋" panose="02010600040101010101" pitchFamily="2" charset="-122"/>
                <a:ea typeface="华文中宋" panose="02010600040101010101" pitchFamily="2" charset="-122"/>
              </a:rPr>
              <a:t>%</a:t>
            </a:r>
            <a:r>
              <a:rPr lang="en-US" altLang="zh-CN" sz="2000" dirty="0" err="1" smtClean="0">
                <a:latin typeface="华文中宋" panose="02010600040101010101" pitchFamily="2" charset="-122"/>
                <a:ea typeface="华文中宋" panose="02010600040101010101" pitchFamily="2" charset="-122"/>
              </a:rPr>
              <a:t>eax</a:t>
            </a:r>
            <a:r>
              <a:rPr lang="zh-CN" altLang="en-US" sz="2000" dirty="0" smtClean="0">
                <a:latin typeface="华文中宋" panose="02010600040101010101" pitchFamily="2" charset="-122"/>
                <a:ea typeface="华文中宋" panose="02010600040101010101" pitchFamily="2" charset="-122"/>
              </a:rPr>
              <a:t>中呢？</a:t>
            </a:r>
            <a:endParaRPr lang="en-US" altLang="zh-CN" sz="2000" dirty="0" smtClean="0">
              <a:latin typeface="华文中宋" panose="02010600040101010101" pitchFamily="2" charset="-122"/>
              <a:ea typeface="华文中宋" panose="02010600040101010101" pitchFamily="2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2000" dirty="0" smtClean="0">
                <a:latin typeface="华文中宋" panose="02010600040101010101" pitchFamily="2" charset="-122"/>
                <a:ea typeface="华文中宋" panose="02010600040101010101" pitchFamily="2" charset="-122"/>
              </a:rPr>
              <a:t>（</a:t>
            </a:r>
            <a:r>
              <a:rPr lang="en-US" altLang="zh-CN" sz="2000" dirty="0" smtClean="0">
                <a:latin typeface="华文中宋" panose="02010600040101010101" pitchFamily="2" charset="-122"/>
                <a:ea typeface="华文中宋" panose="02010600040101010101" pitchFamily="2" charset="-122"/>
              </a:rPr>
              <a:t>2</a:t>
            </a:r>
            <a:r>
              <a:rPr lang="zh-CN" altLang="en-US" sz="2000" dirty="0" smtClean="0">
                <a:latin typeface="华文中宋" panose="02010600040101010101" pitchFamily="2" charset="-122"/>
                <a:ea typeface="华文中宋" panose="02010600040101010101" pitchFamily="2" charset="-122"/>
              </a:rPr>
              <a:t>）如何编码</a:t>
            </a:r>
            <a:r>
              <a:rPr lang="en-US" altLang="zh-CN" sz="2000" dirty="0" err="1" smtClean="0">
                <a:latin typeface="华文中宋" panose="02010600040101010101" pitchFamily="2" charset="-122"/>
                <a:ea typeface="华文中宋" panose="02010600040101010101" pitchFamily="2" charset="-122"/>
              </a:rPr>
              <a:t>mov</a:t>
            </a:r>
            <a:r>
              <a:rPr lang="en-US" altLang="zh-CN" sz="2000" dirty="0" smtClean="0">
                <a:latin typeface="华文中宋" panose="02010600040101010101" pitchFamily="2" charset="-122"/>
                <a:ea typeface="华文中宋" panose="02010600040101010101" pitchFamily="2" charset="-122"/>
              </a:rPr>
              <a:t> $0x0405, %</a:t>
            </a:r>
            <a:r>
              <a:rPr lang="en-US" altLang="zh-CN" sz="2000" dirty="0" err="1" smtClean="0">
                <a:latin typeface="华文中宋" panose="02010600040101010101" pitchFamily="2" charset="-122"/>
                <a:ea typeface="华文中宋" panose="02010600040101010101" pitchFamily="2" charset="-122"/>
              </a:rPr>
              <a:t>eax</a:t>
            </a:r>
            <a:r>
              <a:rPr lang="zh-CN" altLang="en-US" sz="2000" dirty="0" smtClean="0">
                <a:latin typeface="华文中宋" panose="02010600040101010101" pitchFamily="2" charset="-122"/>
                <a:ea typeface="华文中宋" panose="02010600040101010101" pitchFamily="2" charset="-122"/>
              </a:rPr>
              <a:t>和</a:t>
            </a:r>
            <a:r>
              <a:rPr lang="en-US" altLang="zh-CN" sz="2000" dirty="0" err="1" smtClean="0">
                <a:latin typeface="华文中宋" panose="02010600040101010101" pitchFamily="2" charset="-122"/>
                <a:ea typeface="华文中宋" panose="02010600040101010101" pitchFamily="2" charset="-122"/>
              </a:rPr>
              <a:t>mov</a:t>
            </a:r>
            <a:r>
              <a:rPr lang="en-US" altLang="zh-CN" sz="2000" dirty="0" smtClean="0">
                <a:latin typeface="华文中宋" panose="02010600040101010101" pitchFamily="2" charset="-122"/>
                <a:ea typeface="华文中宋" panose="02010600040101010101" pitchFamily="2" charset="-122"/>
              </a:rPr>
              <a:t> 0x0405, %</a:t>
            </a:r>
            <a:r>
              <a:rPr lang="en-US" altLang="zh-CN" sz="2000" dirty="0" err="1" smtClean="0">
                <a:latin typeface="华文中宋" panose="02010600040101010101" pitchFamily="2" charset="-122"/>
                <a:ea typeface="华文中宋" panose="02010600040101010101" pitchFamily="2" charset="-122"/>
              </a:rPr>
              <a:t>eax</a:t>
            </a:r>
            <a:r>
              <a:rPr lang="zh-CN" altLang="en-US" sz="2000" dirty="0" smtClean="0">
                <a:latin typeface="华文中宋" panose="02010600040101010101" pitchFamily="2" charset="-122"/>
                <a:ea typeface="华文中宋" panose="02010600040101010101" pitchFamily="2" charset="-122"/>
              </a:rPr>
              <a:t>呢？</a:t>
            </a:r>
            <a:endParaRPr lang="zh-CN" altLang="en-US" sz="2000" dirty="0">
              <a:latin typeface="华文中宋" panose="02010600040101010101" pitchFamily="2" charset="-122"/>
              <a:ea typeface="华文中宋" panose="02010600040101010101" pitchFamily="2" charset="-122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graphicFrame>
        <p:nvGraphicFramePr>
          <p:cNvPr id="4" name="表格 3"/>
          <p:cNvGraphicFramePr>
            <a:graphicFrameLocks noGrp="1"/>
          </p:cNvGraphicFramePr>
          <p:nvPr/>
        </p:nvGraphicFramePr>
        <p:xfrm>
          <a:off x="214282" y="4500570"/>
          <a:ext cx="8429685" cy="1571637"/>
        </p:xfrm>
        <a:graphic>
          <a:graphicData uri="http://schemas.openxmlformats.org/drawingml/2006/table">
            <a:tbl>
              <a:tblPr/>
              <a:tblGrid>
                <a:gridCol w="2020701"/>
                <a:gridCol w="588421"/>
                <a:gridCol w="443401"/>
                <a:gridCol w="588421"/>
                <a:gridCol w="588421"/>
                <a:gridCol w="1034953"/>
                <a:gridCol w="1035995"/>
                <a:gridCol w="1034953"/>
                <a:gridCol w="1094419"/>
              </a:tblGrid>
              <a:tr h="523879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zh-CN" sz="2000" kern="100" dirty="0">
                          <a:latin typeface="Times New Roman" panose="02020603050405020304"/>
                          <a:ea typeface="宋体" panose="02010600030101010101" pitchFamily="2" charset="-122"/>
                          <a:cs typeface="Times New Roman" panose="02020603050405020304"/>
                        </a:rPr>
                        <a:t>字节</a:t>
                      </a:r>
                      <a:endParaRPr lang="zh-CN" sz="2000" kern="100" dirty="0"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2"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zh-CN" sz="2000" kern="100" dirty="0">
                          <a:latin typeface="Times New Roman" panose="02020603050405020304"/>
                          <a:ea typeface="宋体" panose="02010600030101010101" pitchFamily="2" charset="-122"/>
                          <a:cs typeface="Times New Roman" panose="02020603050405020304"/>
                        </a:rPr>
                        <a:t>操作码</a:t>
                      </a:r>
                      <a:endParaRPr lang="zh-CN" sz="2000" kern="100" dirty="0"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cPr/>
                </a:tc>
                <a:tc gridSpan="2"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2000" kern="100">
                          <a:latin typeface="Times New Roman" panose="02020603050405020304"/>
                          <a:ea typeface="宋体" panose="02010600030101010101" pitchFamily="2" charset="-122"/>
                          <a:cs typeface="Times New Roman" panose="02020603050405020304"/>
                        </a:rPr>
                        <a:t>1</a:t>
                      </a:r>
                      <a:endParaRPr lang="zh-CN" sz="2000" kern="100"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2000" kern="100">
                          <a:latin typeface="Times New Roman" panose="02020603050405020304"/>
                          <a:ea typeface="宋体" panose="02010600030101010101" pitchFamily="2" charset="-122"/>
                          <a:cs typeface="Times New Roman" panose="02020603050405020304"/>
                        </a:rPr>
                        <a:t>2</a:t>
                      </a:r>
                      <a:endParaRPr lang="zh-CN" sz="2000" kern="100"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2000" kern="100">
                          <a:latin typeface="Times New Roman" panose="02020603050405020304"/>
                          <a:ea typeface="宋体" panose="02010600030101010101" pitchFamily="2" charset="-122"/>
                          <a:cs typeface="Times New Roman" panose="02020603050405020304"/>
                        </a:rPr>
                        <a:t>3</a:t>
                      </a:r>
                      <a:endParaRPr lang="zh-CN" sz="2000" kern="100"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2000" kern="100">
                          <a:latin typeface="Times New Roman" panose="02020603050405020304"/>
                          <a:ea typeface="宋体" panose="02010600030101010101" pitchFamily="2" charset="-122"/>
                          <a:cs typeface="Times New Roman" panose="02020603050405020304"/>
                        </a:rPr>
                        <a:t>4</a:t>
                      </a:r>
                      <a:endParaRPr lang="zh-CN" sz="2000" kern="100"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2000" kern="100">
                          <a:latin typeface="Times New Roman" panose="02020603050405020304"/>
                          <a:ea typeface="宋体" panose="02010600030101010101" pitchFamily="2" charset="-122"/>
                          <a:cs typeface="Times New Roman" panose="02020603050405020304"/>
                        </a:rPr>
                        <a:t>5</a:t>
                      </a:r>
                      <a:endParaRPr lang="zh-CN" sz="2000" kern="100"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23879"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2000" kern="100">
                          <a:latin typeface="Times New Roman" panose="02020603050405020304"/>
                          <a:ea typeface="宋体" panose="02010600030101010101" pitchFamily="2" charset="-122"/>
                          <a:cs typeface="Times New Roman" panose="02020603050405020304"/>
                        </a:rPr>
                        <a:t>rmmov rA, D(rB)</a:t>
                      </a:r>
                      <a:endParaRPr lang="zh-CN" sz="2000" kern="100"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2000" kern="100">
                          <a:latin typeface="Times New Roman" panose="02020603050405020304"/>
                          <a:ea typeface="宋体" panose="02010600030101010101" pitchFamily="2" charset="-122"/>
                          <a:cs typeface="Times New Roman" panose="02020603050405020304"/>
                        </a:rPr>
                        <a:t>4</a:t>
                      </a:r>
                      <a:endParaRPr lang="zh-CN" sz="2000" kern="100"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2000" kern="100">
                          <a:latin typeface="Times New Roman" panose="02020603050405020304"/>
                          <a:ea typeface="宋体" panose="02010600030101010101" pitchFamily="2" charset="-122"/>
                          <a:cs typeface="Times New Roman" panose="02020603050405020304"/>
                        </a:rPr>
                        <a:t>0</a:t>
                      </a:r>
                      <a:endParaRPr lang="zh-CN" sz="2000" kern="100"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2000" b="1" kern="100" dirty="0" err="1">
                          <a:latin typeface="Times New Roman" panose="02020603050405020304"/>
                          <a:ea typeface="宋体" panose="02010600030101010101" pitchFamily="2" charset="-122"/>
                          <a:cs typeface="Times New Roman" panose="02020603050405020304"/>
                        </a:rPr>
                        <a:t>rA</a:t>
                      </a:r>
                      <a:endParaRPr lang="zh-CN" sz="2000" kern="100" dirty="0"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2000" b="1" kern="100" dirty="0" err="1">
                          <a:latin typeface="Times New Roman" panose="02020603050405020304"/>
                          <a:ea typeface="宋体" panose="02010600030101010101" pitchFamily="2" charset="-122"/>
                          <a:cs typeface="Times New Roman" panose="02020603050405020304"/>
                        </a:rPr>
                        <a:t>rB</a:t>
                      </a:r>
                      <a:endParaRPr lang="zh-CN" sz="2000" kern="100" dirty="0"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4"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2000" kern="100" dirty="0">
                          <a:latin typeface="Times New Roman" panose="02020603050405020304"/>
                          <a:ea typeface="宋体" panose="02010600030101010101" pitchFamily="2" charset="-122"/>
                          <a:cs typeface="Times New Roman" panose="02020603050405020304"/>
                        </a:rPr>
                        <a:t>D</a:t>
                      </a:r>
                      <a:endParaRPr lang="zh-CN" sz="2000" kern="100" dirty="0"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</a:tr>
              <a:tr h="523879"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2000" kern="100">
                          <a:latin typeface="Times New Roman" panose="02020603050405020304"/>
                          <a:ea typeface="宋体" panose="02010600030101010101" pitchFamily="2" charset="-122"/>
                          <a:cs typeface="Times New Roman" panose="02020603050405020304"/>
                        </a:rPr>
                        <a:t>halt</a:t>
                      </a:r>
                      <a:endParaRPr lang="zh-CN" sz="2000" kern="100"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2000" kern="100">
                          <a:latin typeface="Times New Roman" panose="02020603050405020304"/>
                          <a:ea typeface="宋体" panose="02010600030101010101" pitchFamily="2" charset="-122"/>
                          <a:cs typeface="Times New Roman" panose="02020603050405020304"/>
                        </a:rPr>
                        <a:t>0</a:t>
                      </a:r>
                      <a:endParaRPr lang="zh-CN" sz="2000" kern="100"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2000" kern="100">
                          <a:latin typeface="Times New Roman" panose="02020603050405020304"/>
                          <a:ea typeface="宋体" panose="02010600030101010101" pitchFamily="2" charset="-122"/>
                          <a:cs typeface="Times New Roman" panose="02020603050405020304"/>
                        </a:rPr>
                        <a:t>0</a:t>
                      </a:r>
                      <a:endParaRPr lang="zh-CN" sz="2000" kern="100"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6"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endParaRPr lang="en-US" sz="2000" kern="100" dirty="0">
                        <a:latin typeface="Times New Roman" panose="020206030504050203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</a:tr>
            </a:tbl>
          </a:graphicData>
        </a:graphic>
      </p:graphicFrame>
      <p:sp>
        <p:nvSpPr>
          <p:cNvPr id="143361" name="Rectangle 1"/>
          <p:cNvSpPr>
            <a:spLocks noChangeArrowheads="1"/>
          </p:cNvSpPr>
          <p:nvPr/>
        </p:nvSpPr>
        <p:spPr bwMode="auto">
          <a:xfrm>
            <a:off x="428596" y="1643050"/>
            <a:ext cx="7929618" cy="3139321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ctr" anchorCtr="0" compatLnSpc="1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zh-CN" altLang="zh-CN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华文中宋" panose="02010600040101010101" pitchFamily="2" charset="-122"/>
                <a:ea typeface="华文中宋" panose="02010600040101010101" pitchFamily="2" charset="-122"/>
                <a:cs typeface="Times New Roman" panose="02020603050405020304" pitchFamily="18" charset="0"/>
              </a:rPr>
              <a:t>【</a:t>
            </a:r>
            <a:r>
              <a:rPr kumimoji="0" lang="zh-CN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华文中宋" panose="02010600040101010101" pitchFamily="2" charset="-122"/>
                <a:ea typeface="华文中宋" panose="02010600040101010101" pitchFamily="2" charset="-122"/>
                <a:cs typeface="Times New Roman" panose="02020603050405020304" pitchFamily="18" charset="0"/>
              </a:rPr>
              <a:t>例</a:t>
            </a:r>
            <a:r>
              <a:rPr kumimoji="0" lang="en-US" altLang="zh-CN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华文中宋" panose="02010600040101010101" pitchFamily="2" charset="-122"/>
                <a:ea typeface="华文中宋" panose="02010600040101010101" pitchFamily="2" charset="-122"/>
                <a:cs typeface="Times New Roman" panose="02020603050405020304" pitchFamily="18" charset="0"/>
              </a:rPr>
              <a:t>2-7】</a:t>
            </a:r>
            <a:r>
              <a:rPr kumimoji="0" lang="zh-CN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华文中宋" panose="02010600040101010101" pitchFamily="2" charset="-122"/>
                <a:ea typeface="华文中宋" panose="02010600040101010101" pitchFamily="2" charset="-122"/>
                <a:cs typeface="Times New Roman" panose="02020603050405020304" pitchFamily="18" charset="0"/>
              </a:rPr>
              <a:t>数据移动指令的格式为</a:t>
            </a:r>
            <a:r>
              <a:rPr kumimoji="0" lang="en-US" altLang="zh-CN" sz="20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华文中宋" panose="02010600040101010101" pitchFamily="2" charset="-122"/>
                <a:ea typeface="华文中宋" panose="02010600040101010101" pitchFamily="2" charset="-122"/>
                <a:cs typeface="Times New Roman" panose="02020603050405020304" pitchFamily="18" charset="0"/>
              </a:rPr>
              <a:t>rmmove</a:t>
            </a:r>
            <a:r>
              <a:rPr kumimoji="0" lang="en-US" altLang="zh-CN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华文中宋" panose="02010600040101010101" pitchFamily="2" charset="-122"/>
                <a:ea typeface="华文中宋" panose="02010600040101010101" pitchFamily="2" charset="-122"/>
                <a:cs typeface="Times New Roman" panose="02020603050405020304" pitchFamily="18" charset="0"/>
              </a:rPr>
              <a:t> </a:t>
            </a:r>
            <a:r>
              <a:rPr kumimoji="0" lang="en-US" altLang="zh-CN" sz="20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华文中宋" panose="02010600040101010101" pitchFamily="2" charset="-122"/>
                <a:ea typeface="华文中宋" panose="02010600040101010101" pitchFamily="2" charset="-122"/>
                <a:cs typeface="Times New Roman" panose="02020603050405020304" pitchFamily="18" charset="0"/>
              </a:rPr>
              <a:t>rA</a:t>
            </a:r>
            <a:r>
              <a:rPr kumimoji="0" lang="en-US" altLang="zh-CN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华文中宋" panose="02010600040101010101" pitchFamily="2" charset="-122"/>
                <a:ea typeface="华文中宋" panose="02010600040101010101" pitchFamily="2" charset="-122"/>
                <a:cs typeface="Times New Roman" panose="02020603050405020304" pitchFamily="18" charset="0"/>
              </a:rPr>
              <a:t>, D(</a:t>
            </a:r>
            <a:r>
              <a:rPr kumimoji="0" lang="en-US" altLang="zh-CN" sz="20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华文中宋" panose="02010600040101010101" pitchFamily="2" charset="-122"/>
                <a:ea typeface="华文中宋" panose="02010600040101010101" pitchFamily="2" charset="-122"/>
                <a:cs typeface="Times New Roman" panose="02020603050405020304" pitchFamily="18" charset="0"/>
              </a:rPr>
              <a:t>rB</a:t>
            </a:r>
            <a:r>
              <a:rPr kumimoji="0" lang="en-US" altLang="zh-CN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华文中宋" panose="02010600040101010101" pitchFamily="2" charset="-122"/>
                <a:ea typeface="华文中宋" panose="02010600040101010101" pitchFamily="2" charset="-122"/>
                <a:cs typeface="Times New Roman" panose="02020603050405020304" pitchFamily="18" charset="0"/>
              </a:rPr>
              <a:t>)</a:t>
            </a:r>
            <a:r>
              <a:rPr kumimoji="0" lang="zh-CN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华文中宋" panose="02010600040101010101" pitchFamily="2" charset="-122"/>
                <a:ea typeface="华文中宋" panose="02010600040101010101" pitchFamily="2" charset="-122"/>
                <a:cs typeface="Times New Roman" panose="02020603050405020304" pitchFamily="18" charset="0"/>
              </a:rPr>
              <a:t>，将寄存器</a:t>
            </a:r>
            <a:r>
              <a:rPr kumimoji="0" lang="en-US" altLang="zh-CN" sz="20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华文中宋" panose="02010600040101010101" pitchFamily="2" charset="-122"/>
                <a:ea typeface="华文中宋" panose="02010600040101010101" pitchFamily="2" charset="-122"/>
                <a:cs typeface="Times New Roman" panose="02020603050405020304" pitchFamily="18" charset="0"/>
              </a:rPr>
              <a:t>rA</a:t>
            </a:r>
            <a:r>
              <a:rPr kumimoji="0" lang="zh-CN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华文中宋" panose="02010600040101010101" pitchFamily="2" charset="-122"/>
                <a:ea typeface="华文中宋" panose="02010600040101010101" pitchFamily="2" charset="-122"/>
                <a:cs typeface="Times New Roman" panose="02020603050405020304" pitchFamily="18" charset="0"/>
              </a:rPr>
              <a:t>中的值</a:t>
            </a:r>
            <a:r>
              <a:rPr kumimoji="0" lang="en-US" altLang="zh-CN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华文中宋" panose="02010600040101010101" pitchFamily="2" charset="-122"/>
                <a:ea typeface="华文中宋" panose="02010600040101010101" pitchFamily="2" charset="-122"/>
                <a:cs typeface="Times New Roman" panose="02020603050405020304" pitchFamily="18" charset="0"/>
              </a:rPr>
              <a:t>move</a:t>
            </a:r>
            <a:r>
              <a:rPr kumimoji="0" lang="zh-CN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华文中宋" panose="02010600040101010101" pitchFamily="2" charset="-122"/>
                <a:ea typeface="华文中宋" panose="02010600040101010101" pitchFamily="2" charset="-122"/>
                <a:cs typeface="Times New Roman" panose="02020603050405020304" pitchFamily="18" charset="0"/>
              </a:rPr>
              <a:t>到内存位置</a:t>
            </a:r>
            <a:r>
              <a:rPr kumimoji="0" lang="en-US" altLang="zh-CN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华文中宋" panose="02010600040101010101" pitchFamily="2" charset="-122"/>
                <a:ea typeface="华文中宋" panose="02010600040101010101" pitchFamily="2" charset="-122"/>
                <a:cs typeface="Times New Roman" panose="02020603050405020304" pitchFamily="18" charset="0"/>
              </a:rPr>
              <a:t>D(</a:t>
            </a:r>
            <a:r>
              <a:rPr kumimoji="0" lang="en-US" altLang="zh-CN" sz="20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华文中宋" panose="02010600040101010101" pitchFamily="2" charset="-122"/>
                <a:ea typeface="华文中宋" panose="02010600040101010101" pitchFamily="2" charset="-122"/>
                <a:cs typeface="Times New Roman" panose="02020603050405020304" pitchFamily="18" charset="0"/>
              </a:rPr>
              <a:t>rB</a:t>
            </a:r>
            <a:r>
              <a:rPr kumimoji="0" lang="en-US" altLang="zh-CN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华文中宋" panose="02010600040101010101" pitchFamily="2" charset="-122"/>
                <a:ea typeface="华文中宋" panose="02010600040101010101" pitchFamily="2" charset="-122"/>
                <a:cs typeface="Times New Roman" panose="02020603050405020304" pitchFamily="18" charset="0"/>
              </a:rPr>
              <a:t>)</a:t>
            </a:r>
            <a:r>
              <a:rPr kumimoji="0" lang="zh-CN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华文中宋" panose="02010600040101010101" pitchFamily="2" charset="-122"/>
                <a:ea typeface="华文中宋" panose="02010600040101010101" pitchFamily="2" charset="-122"/>
                <a:cs typeface="Times New Roman" panose="02020603050405020304" pitchFamily="18" charset="0"/>
              </a:rPr>
              <a:t>。</a:t>
            </a:r>
            <a:r>
              <a:rPr kumimoji="0" lang="en-US" altLang="zh-CN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华文中宋" panose="02010600040101010101" pitchFamily="2" charset="-122"/>
                <a:ea typeface="华文中宋" panose="02010600040101010101" pitchFamily="2" charset="-122"/>
                <a:cs typeface="Times New Roman" panose="02020603050405020304" pitchFamily="18" charset="0"/>
              </a:rPr>
              <a:t>D(</a:t>
            </a:r>
            <a:r>
              <a:rPr kumimoji="0" lang="en-US" altLang="zh-CN" sz="20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华文中宋" panose="02010600040101010101" pitchFamily="2" charset="-122"/>
                <a:ea typeface="华文中宋" panose="02010600040101010101" pitchFamily="2" charset="-122"/>
                <a:cs typeface="Times New Roman" panose="02020603050405020304" pitchFamily="18" charset="0"/>
              </a:rPr>
              <a:t>rB</a:t>
            </a:r>
            <a:r>
              <a:rPr kumimoji="0" lang="en-US" altLang="zh-CN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华文中宋" panose="02010600040101010101" pitchFamily="2" charset="-122"/>
                <a:ea typeface="华文中宋" panose="02010600040101010101" pitchFamily="2" charset="-122"/>
                <a:cs typeface="Times New Roman" panose="02020603050405020304" pitchFamily="18" charset="0"/>
              </a:rPr>
              <a:t>)</a:t>
            </a:r>
            <a:r>
              <a:rPr kumimoji="0" lang="zh-CN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华文中宋" panose="02010600040101010101" pitchFamily="2" charset="-122"/>
                <a:ea typeface="华文中宋" panose="02010600040101010101" pitchFamily="2" charset="-122"/>
                <a:cs typeface="Times New Roman" panose="02020603050405020304" pitchFamily="18" charset="0"/>
              </a:rPr>
              <a:t>表示“基址</a:t>
            </a:r>
            <a:r>
              <a:rPr kumimoji="0" lang="en-US" altLang="zh-CN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华文中宋" panose="02010600040101010101" pitchFamily="2" charset="-122"/>
                <a:ea typeface="华文中宋" panose="02010600040101010101" pitchFamily="2" charset="-122"/>
                <a:cs typeface="Times New Roman" panose="02020603050405020304" pitchFamily="18" charset="0"/>
              </a:rPr>
              <a:t>+</a:t>
            </a:r>
            <a:r>
              <a:rPr kumimoji="0" lang="zh-CN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华文中宋" panose="02010600040101010101" pitchFamily="2" charset="-122"/>
                <a:ea typeface="华文中宋" panose="02010600040101010101" pitchFamily="2" charset="-122"/>
                <a:cs typeface="Times New Roman" panose="02020603050405020304" pitchFamily="18" charset="0"/>
              </a:rPr>
              <a:t>偏移量”式的内存寻址方式，基址存放在寄存器</a:t>
            </a:r>
            <a:r>
              <a:rPr kumimoji="0" lang="en-US" altLang="zh-CN" sz="20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华文中宋" panose="02010600040101010101" pitchFamily="2" charset="-122"/>
                <a:ea typeface="华文中宋" panose="02010600040101010101" pitchFamily="2" charset="-122"/>
                <a:cs typeface="Times New Roman" panose="02020603050405020304" pitchFamily="18" charset="0"/>
              </a:rPr>
              <a:t>rB</a:t>
            </a:r>
            <a:r>
              <a:rPr kumimoji="0" lang="zh-CN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华文中宋" panose="02010600040101010101" pitchFamily="2" charset="-122"/>
                <a:ea typeface="华文中宋" panose="02010600040101010101" pitchFamily="2" charset="-122"/>
                <a:cs typeface="Times New Roman" panose="02020603050405020304" pitchFamily="18" charset="0"/>
              </a:rPr>
              <a:t>中，</a:t>
            </a:r>
            <a:r>
              <a:rPr kumimoji="0" lang="en-US" altLang="zh-CN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华文中宋" panose="02010600040101010101" pitchFamily="2" charset="-122"/>
                <a:ea typeface="华文中宋" panose="02010600040101010101" pitchFamily="2" charset="-122"/>
                <a:cs typeface="Times New Roman" panose="02020603050405020304" pitchFamily="18" charset="0"/>
              </a:rPr>
              <a:t>D</a:t>
            </a:r>
            <a:r>
              <a:rPr kumimoji="0" lang="zh-CN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华文中宋" panose="02010600040101010101" pitchFamily="2" charset="-122"/>
                <a:ea typeface="华文中宋" panose="02010600040101010101" pitchFamily="2" charset="-122"/>
                <a:cs typeface="Times New Roman" panose="02020603050405020304" pitchFamily="18" charset="0"/>
              </a:rPr>
              <a:t>是一个立即数，表示偏移量。该指令编码使用</a:t>
            </a:r>
            <a:r>
              <a:rPr kumimoji="0" lang="en-US" altLang="zh-CN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华文中宋" panose="02010600040101010101" pitchFamily="2" charset="-122"/>
                <a:ea typeface="华文中宋" panose="02010600040101010101" pitchFamily="2" charset="-122"/>
                <a:cs typeface="Times New Roman" panose="02020603050405020304" pitchFamily="18" charset="0"/>
              </a:rPr>
              <a:t>6</a:t>
            </a:r>
            <a:r>
              <a:rPr kumimoji="0" lang="zh-CN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华文中宋" panose="02010600040101010101" pitchFamily="2" charset="-122"/>
                <a:ea typeface="华文中宋" panose="02010600040101010101" pitchFamily="2" charset="-122"/>
                <a:cs typeface="Times New Roman" panose="02020603050405020304" pitchFamily="18" charset="0"/>
              </a:rPr>
              <a:t>个字节，其中操作码占用一个字节，三个操作数占用剩下的</a:t>
            </a:r>
            <a:r>
              <a:rPr kumimoji="0" lang="en-US" altLang="zh-CN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华文中宋" panose="02010600040101010101" pitchFamily="2" charset="-122"/>
                <a:ea typeface="华文中宋" panose="02010600040101010101" pitchFamily="2" charset="-122"/>
                <a:cs typeface="Times New Roman" panose="02020603050405020304" pitchFamily="18" charset="0"/>
              </a:rPr>
              <a:t>5</a:t>
            </a:r>
            <a:r>
              <a:rPr kumimoji="0" lang="zh-CN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华文中宋" panose="02010600040101010101" pitchFamily="2" charset="-122"/>
                <a:ea typeface="华文中宋" panose="02010600040101010101" pitchFamily="2" charset="-122"/>
                <a:cs typeface="Times New Roman" panose="02020603050405020304" pitchFamily="18" charset="0"/>
              </a:rPr>
              <a:t>个字节。</a:t>
            </a:r>
            <a:r>
              <a:rPr kumimoji="0" lang="en-US" altLang="zh-CN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华文中宋" panose="02010600040101010101" pitchFamily="2" charset="-122"/>
                <a:ea typeface="华文中宋" panose="02010600040101010101" pitchFamily="2" charset="-122"/>
                <a:cs typeface="Times New Roman" panose="02020603050405020304" pitchFamily="18" charset="0"/>
              </a:rPr>
              <a:t>halt</a:t>
            </a:r>
            <a:r>
              <a:rPr kumimoji="0" lang="zh-CN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华文中宋" panose="02010600040101010101" pitchFamily="2" charset="-122"/>
                <a:ea typeface="华文中宋" panose="02010600040101010101" pitchFamily="2" charset="-122"/>
                <a:cs typeface="Times New Roman" panose="02020603050405020304" pitchFamily="18" charset="0"/>
              </a:rPr>
              <a:t>指令编码只占一个字节，编码为</a:t>
            </a:r>
            <a:r>
              <a:rPr kumimoji="0" lang="en-US" altLang="zh-CN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华文中宋" panose="02010600040101010101" pitchFamily="2" charset="-122"/>
                <a:ea typeface="华文中宋" panose="02010600040101010101" pitchFamily="2" charset="-122"/>
                <a:cs typeface="Times New Roman" panose="02020603050405020304" pitchFamily="18" charset="0"/>
              </a:rPr>
              <a:t>0x00</a:t>
            </a:r>
            <a:r>
              <a:rPr kumimoji="0" lang="zh-CN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华文中宋" panose="02010600040101010101" pitchFamily="2" charset="-122"/>
                <a:ea typeface="华文中宋" panose="02010600040101010101" pitchFamily="2" charset="-122"/>
                <a:cs typeface="Times New Roman" panose="02020603050405020304" pitchFamily="18" charset="0"/>
              </a:rPr>
              <a:t>，没有操作数。</a:t>
            </a:r>
            <a:endParaRPr kumimoji="0" lang="zh-CN" altLang="en-US" sz="20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华文中宋" panose="02010600040101010101" pitchFamily="2" charset="-122"/>
              <a:ea typeface="华文中宋" panose="02010600040101010101" pitchFamily="2" charset="-122"/>
              <a:cs typeface="宋体" panose="02010600030101010101" pitchFamily="2" charset="-122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zh-CN" alt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2285984" y="6143644"/>
            <a:ext cx="547938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400" dirty="0" smtClean="0">
                <a:solidFill>
                  <a:srgbClr val="FF0000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如何编码</a:t>
            </a:r>
            <a:r>
              <a:rPr lang="en-US" altLang="zh-CN" sz="2400" dirty="0" err="1" smtClean="0">
                <a:solidFill>
                  <a:srgbClr val="FF0000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rmmove</a:t>
            </a:r>
            <a:r>
              <a:rPr lang="en-US" altLang="zh-CN" sz="2400" dirty="0" smtClean="0">
                <a:solidFill>
                  <a:srgbClr val="FF0000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  </a:t>
            </a:r>
            <a:r>
              <a:rPr lang="en-US" altLang="zh-CN" sz="2400" dirty="0" smtClean="0">
                <a:solidFill>
                  <a:srgbClr val="FF0000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%</a:t>
            </a:r>
            <a:r>
              <a:rPr lang="en-US" altLang="zh-CN" sz="2400" dirty="0" err="1" smtClean="0">
                <a:solidFill>
                  <a:srgbClr val="FF0000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eax</a:t>
            </a:r>
            <a:r>
              <a:rPr lang="en-US" altLang="zh-CN" sz="2400" dirty="0" smtClean="0">
                <a:solidFill>
                  <a:srgbClr val="FF0000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, 4(%</a:t>
            </a:r>
            <a:r>
              <a:rPr lang="en-US" altLang="zh-CN" sz="2400" dirty="0" err="1" smtClean="0">
                <a:solidFill>
                  <a:srgbClr val="FF0000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ebx</a:t>
            </a:r>
            <a:r>
              <a:rPr lang="en-US" altLang="zh-CN" sz="2400" dirty="0" smtClean="0">
                <a:solidFill>
                  <a:srgbClr val="FF0000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)???</a:t>
            </a:r>
            <a:endParaRPr lang="zh-CN" altLang="en-US" sz="2400" dirty="0">
              <a:solidFill>
                <a:srgbClr val="FF0000"/>
              </a:solidFill>
              <a:latin typeface="华文中宋" panose="02010600040101010101" pitchFamily="2" charset="-122"/>
              <a:ea typeface="华文中宋" panose="02010600040101010101" pitchFamily="2" charset="-122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162817" name="Rectangle 1"/>
          <p:cNvSpPr>
            <a:spLocks noChangeArrowheads="1"/>
          </p:cNvSpPr>
          <p:nvPr/>
        </p:nvSpPr>
        <p:spPr bwMode="auto">
          <a:xfrm>
            <a:off x="214281" y="1928802"/>
            <a:ext cx="8715437" cy="1477328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ctr" anchorCtr="0" compatLnSpc="1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zh-CN" altLang="zh-CN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华文中宋" panose="02010600040101010101" pitchFamily="2" charset="-122"/>
                <a:ea typeface="华文中宋" panose="02010600040101010101" pitchFamily="2" charset="-122"/>
                <a:cs typeface="Times New Roman" panose="02020603050405020304" pitchFamily="18" charset="0"/>
              </a:rPr>
              <a:t>【</a:t>
            </a:r>
            <a:r>
              <a:rPr kumimoji="0" lang="zh-CN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华文中宋" panose="02010600040101010101" pitchFamily="2" charset="-122"/>
                <a:ea typeface="华文中宋" panose="02010600040101010101" pitchFamily="2" charset="-122"/>
                <a:cs typeface="Times New Roman" panose="02020603050405020304" pitchFamily="18" charset="0"/>
              </a:rPr>
              <a:t>例</a:t>
            </a:r>
            <a:r>
              <a:rPr kumimoji="0" lang="en-US" altLang="zh-CN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华文中宋" panose="02010600040101010101" pitchFamily="2" charset="-122"/>
                <a:ea typeface="华文中宋" panose="02010600040101010101" pitchFamily="2" charset="-122"/>
                <a:cs typeface="Times New Roman" panose="02020603050405020304" pitchFamily="18" charset="0"/>
              </a:rPr>
              <a:t>2-8】</a:t>
            </a:r>
            <a:r>
              <a:rPr kumimoji="0" lang="zh-CN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华文中宋" panose="02010600040101010101" pitchFamily="2" charset="-122"/>
                <a:ea typeface="华文中宋" panose="02010600040101010101" pitchFamily="2" charset="-122"/>
                <a:cs typeface="Times New Roman" panose="02020603050405020304" pitchFamily="18" charset="0"/>
              </a:rPr>
              <a:t>设当前</a:t>
            </a:r>
            <a:r>
              <a:rPr kumimoji="0" lang="en-US" altLang="zh-CN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华文中宋" panose="02010600040101010101" pitchFamily="2" charset="-122"/>
                <a:ea typeface="华文中宋" panose="02010600040101010101" pitchFamily="2" charset="-122"/>
                <a:cs typeface="Times New Roman" panose="02020603050405020304" pitchFamily="18" charset="0"/>
              </a:rPr>
              <a:t>PC=0x100</a:t>
            </a:r>
            <a:r>
              <a:rPr kumimoji="0" lang="zh-CN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华文中宋" panose="02010600040101010101" pitchFamily="2" charset="-122"/>
                <a:ea typeface="华文中宋" panose="02010600040101010101" pitchFamily="2" charset="-122"/>
                <a:cs typeface="Times New Roman" panose="02020603050405020304" pitchFamily="18" charset="0"/>
              </a:rPr>
              <a:t>，试解释内存中二进制指令序列</a:t>
            </a:r>
            <a:endParaRPr kumimoji="0" lang="zh-CN" altLang="en-US" sz="20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华文中宋" panose="02010600040101010101" pitchFamily="2" charset="-122"/>
              <a:ea typeface="华文中宋" panose="02010600040101010101" pitchFamily="2" charset="-122"/>
              <a:cs typeface="宋体" panose="02010600030101010101" pitchFamily="2" charset="-122"/>
            </a:endParaRPr>
          </a:p>
          <a:p>
            <a:pPr marL="0" marR="0" lvl="0" indent="0" algn="ctr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en-US" altLang="zh-CN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华文中宋" panose="02010600040101010101" pitchFamily="2" charset="-122"/>
                <a:ea typeface="华文中宋" panose="02010600040101010101" pitchFamily="2" charset="-122"/>
                <a:cs typeface="Times New Roman" panose="02020603050405020304" pitchFamily="18" charset="0"/>
              </a:rPr>
              <a:t>0x100:  40630008000000</a:t>
            </a:r>
            <a:endParaRPr kumimoji="0" lang="en-US" altLang="zh-CN" sz="20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华文中宋" panose="02010600040101010101" pitchFamily="2" charset="-122"/>
              <a:ea typeface="华文中宋" panose="02010600040101010101" pitchFamily="2" charset="-122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zh-CN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华文中宋" panose="02010600040101010101" pitchFamily="2" charset="-122"/>
                <a:ea typeface="华文中宋" panose="02010600040101010101" pitchFamily="2" charset="-122"/>
                <a:cs typeface="Times New Roman" panose="02020603050405020304" pitchFamily="18" charset="0"/>
              </a:rPr>
              <a:t>的含义。假定寄存器</a:t>
            </a:r>
            <a:r>
              <a:rPr kumimoji="0" lang="en-US" altLang="zh-CN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华文中宋" panose="02010600040101010101" pitchFamily="2" charset="-122"/>
                <a:ea typeface="华文中宋" panose="02010600040101010101" pitchFamily="2" charset="-122"/>
                <a:cs typeface="Times New Roman" panose="02020603050405020304" pitchFamily="18" charset="0"/>
              </a:rPr>
              <a:t>%</a:t>
            </a:r>
            <a:r>
              <a:rPr kumimoji="0" lang="en-US" altLang="zh-CN" sz="20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华文中宋" panose="02010600040101010101" pitchFamily="2" charset="-122"/>
                <a:ea typeface="华文中宋" panose="02010600040101010101" pitchFamily="2" charset="-122"/>
                <a:cs typeface="Times New Roman" panose="02020603050405020304" pitchFamily="18" charset="0"/>
              </a:rPr>
              <a:t>esi</a:t>
            </a:r>
            <a:r>
              <a:rPr kumimoji="0" lang="zh-CN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华文中宋" panose="02010600040101010101" pitchFamily="2" charset="-122"/>
                <a:ea typeface="华文中宋" panose="02010600040101010101" pitchFamily="2" charset="-122"/>
                <a:cs typeface="Times New Roman" panose="02020603050405020304" pitchFamily="18" charset="0"/>
              </a:rPr>
              <a:t>和</a:t>
            </a:r>
            <a:r>
              <a:rPr kumimoji="0" lang="en-US" altLang="zh-CN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华文中宋" panose="02010600040101010101" pitchFamily="2" charset="-122"/>
                <a:ea typeface="华文中宋" panose="02010600040101010101" pitchFamily="2" charset="-122"/>
                <a:cs typeface="Times New Roman" panose="02020603050405020304" pitchFamily="18" charset="0"/>
              </a:rPr>
              <a:t>%</a:t>
            </a:r>
            <a:r>
              <a:rPr kumimoji="0" lang="en-US" altLang="zh-CN" sz="20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华文中宋" panose="02010600040101010101" pitchFamily="2" charset="-122"/>
                <a:ea typeface="华文中宋" panose="02010600040101010101" pitchFamily="2" charset="-122"/>
                <a:cs typeface="Times New Roman" panose="02020603050405020304" pitchFamily="18" charset="0"/>
              </a:rPr>
              <a:t>ebx</a:t>
            </a:r>
            <a:r>
              <a:rPr kumimoji="0" lang="zh-CN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华文中宋" panose="02010600040101010101" pitchFamily="2" charset="-122"/>
                <a:ea typeface="华文中宋" panose="02010600040101010101" pitchFamily="2" charset="-122"/>
                <a:cs typeface="Times New Roman" panose="02020603050405020304" pitchFamily="18" charset="0"/>
              </a:rPr>
              <a:t>的编码分别为</a:t>
            </a:r>
            <a:r>
              <a:rPr kumimoji="0" lang="en-US" altLang="zh-CN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华文中宋" panose="02010600040101010101" pitchFamily="2" charset="-122"/>
                <a:ea typeface="华文中宋" panose="02010600040101010101" pitchFamily="2" charset="-122"/>
                <a:cs typeface="Times New Roman" panose="02020603050405020304" pitchFamily="18" charset="0"/>
              </a:rPr>
              <a:t>0x6</a:t>
            </a:r>
            <a:r>
              <a:rPr kumimoji="0" lang="zh-CN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华文中宋" panose="02010600040101010101" pitchFamily="2" charset="-122"/>
                <a:ea typeface="华文中宋" panose="02010600040101010101" pitchFamily="2" charset="-122"/>
                <a:cs typeface="Times New Roman" panose="02020603050405020304" pitchFamily="18" charset="0"/>
              </a:rPr>
              <a:t>和</a:t>
            </a:r>
            <a:r>
              <a:rPr kumimoji="0" lang="en-US" altLang="zh-CN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华文中宋" panose="02010600040101010101" pitchFamily="2" charset="-122"/>
                <a:ea typeface="华文中宋" panose="02010600040101010101" pitchFamily="2" charset="-122"/>
                <a:cs typeface="Times New Roman" panose="02020603050405020304" pitchFamily="18" charset="0"/>
              </a:rPr>
              <a:t>0x3</a:t>
            </a:r>
            <a:r>
              <a:rPr kumimoji="0" lang="zh-CN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华文中宋" panose="02010600040101010101" pitchFamily="2" charset="-122"/>
                <a:ea typeface="华文中宋" panose="02010600040101010101" pitchFamily="2" charset="-122"/>
                <a:cs typeface="Times New Roman" panose="02020603050405020304" pitchFamily="18" charset="0"/>
              </a:rPr>
              <a:t>，内存采用小端存储多字节数据。</a:t>
            </a:r>
            <a:r>
              <a:rPr kumimoji="0" lang="zh-CN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华文中宋" panose="02010600040101010101" pitchFamily="2" charset="-122"/>
                <a:ea typeface="华文中宋" panose="02010600040101010101" pitchFamily="2" charset="-122"/>
                <a:cs typeface="宋体" panose="02010600030101010101" pitchFamily="2" charset="-122"/>
              </a:rPr>
              <a:t> </a:t>
            </a:r>
            <a:endParaRPr kumimoji="0" lang="zh-CN" altLang="en-US" sz="20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华文中宋" panose="02010600040101010101" pitchFamily="2" charset="-122"/>
              <a:ea typeface="华文中宋" panose="02010600040101010101" pitchFamily="2" charset="-122"/>
              <a:cs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571736" y="0"/>
            <a:ext cx="6572264" cy="1143000"/>
          </a:xfrm>
        </p:spPr>
        <p:txBody>
          <a:bodyPr/>
          <a:lstStyle/>
          <a:p>
            <a:r>
              <a:rPr lang="en-US" altLang="zh-CN" dirty="0" smtClean="0"/>
              <a:t>2.3 </a:t>
            </a:r>
            <a:r>
              <a:rPr lang="zh-CN" altLang="en-US" dirty="0" smtClean="0"/>
              <a:t>指令循环和异常处理</a:t>
            </a:r>
            <a:endParaRPr lang="zh-CN" altLang="en-US" dirty="0"/>
          </a:p>
        </p:txBody>
      </p:sp>
      <p:sp>
        <p:nvSpPr>
          <p:cNvPr id="144385" name="Rectangle 1"/>
          <p:cNvSpPr>
            <a:spLocks noChangeArrowheads="1"/>
          </p:cNvSpPr>
          <p:nvPr/>
        </p:nvSpPr>
        <p:spPr bwMode="auto">
          <a:xfrm>
            <a:off x="714348" y="1428736"/>
            <a:ext cx="7929586" cy="5170646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square" lIns="91440" tIns="45720" rIns="91440" bIns="45720" numCol="1" anchor="ctr" anchorCtr="0" compatLnSpc="1">
            <a:spAutoFit/>
          </a:bodyPr>
          <a:lstStyle/>
          <a:p>
            <a:pPr marL="0" marR="0" lvl="0" indent="266700" algn="l" defTabSz="914400" rtl="0" eaLnBrk="1" fontAlgn="base" latinLnBrk="0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en-US" altLang="zh-CN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华文中宋" panose="02010600040101010101" pitchFamily="2" charset="-122"/>
                <a:ea typeface="华文中宋" panose="02010600040101010101" pitchFamily="2" charset="-122"/>
                <a:cs typeface="Times New Roman" panose="02020603050405020304" pitchFamily="18" charset="0"/>
              </a:rPr>
              <a:t>   </a:t>
            </a:r>
            <a:r>
              <a:rPr kumimoji="0" lang="zh-CN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华文中宋" panose="02010600040101010101" pitchFamily="2" charset="-122"/>
                <a:ea typeface="华文中宋" panose="02010600040101010101" pitchFamily="2" charset="-122"/>
                <a:cs typeface="Times New Roman" panose="02020603050405020304" pitchFamily="18" charset="0"/>
              </a:rPr>
              <a:t>处理器执行一条机器指令的过程可以用</a:t>
            </a:r>
            <a:r>
              <a:rPr kumimoji="0" lang="zh-CN" sz="2000" b="0" i="0" u="none" strike="noStrike" cap="none" normalizeH="0" baseline="0" dirty="0" smtClean="0">
                <a:ln>
                  <a:noFill/>
                </a:ln>
                <a:solidFill>
                  <a:srgbClr val="FF0000"/>
                </a:solidFill>
                <a:effectLst/>
                <a:latin typeface="华文中宋" panose="02010600040101010101" pitchFamily="2" charset="-122"/>
                <a:ea typeface="华文中宋" panose="02010600040101010101" pitchFamily="2" charset="-122"/>
                <a:cs typeface="Times New Roman" panose="02020603050405020304" pitchFamily="18" charset="0"/>
              </a:rPr>
              <a:t>指令循环</a:t>
            </a:r>
            <a:r>
              <a:rPr kumimoji="0" lang="zh-CN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华文中宋" panose="02010600040101010101" pitchFamily="2" charset="-122"/>
                <a:ea typeface="华文中宋" panose="02010600040101010101" pitchFamily="2" charset="-122"/>
                <a:cs typeface="Times New Roman" panose="02020603050405020304" pitchFamily="18" charset="0"/>
              </a:rPr>
              <a:t>来描述。一个指令循环分为取指阶段、解码阶段和执行阶段。</a:t>
            </a:r>
            <a:endParaRPr kumimoji="0" lang="zh-CN" sz="20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华文中宋" panose="02010600040101010101" pitchFamily="2" charset="-122"/>
              <a:ea typeface="华文中宋" panose="02010600040101010101" pitchFamily="2" charset="-122"/>
              <a:cs typeface="宋体" panose="02010600030101010101" pitchFamily="2" charset="-122"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u"/>
            </a:pPr>
            <a:r>
              <a:rPr kumimoji="0" lang="zh-CN" sz="20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华文中宋" panose="02010600040101010101" pitchFamily="2" charset="-122"/>
                <a:ea typeface="华文中宋" panose="02010600040101010101" pitchFamily="2" charset="-122"/>
                <a:cs typeface="Times New Roman" panose="02020603050405020304" pitchFamily="18" charset="0"/>
              </a:rPr>
              <a:t>取指阶段</a:t>
            </a:r>
            <a:r>
              <a:rPr kumimoji="0" lang="zh-CN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华文中宋" panose="02010600040101010101" pitchFamily="2" charset="-122"/>
                <a:ea typeface="华文中宋" panose="02010600040101010101" pitchFamily="2" charset="-122"/>
                <a:cs typeface="Times New Roman" panose="02020603050405020304" pitchFamily="18" charset="0"/>
              </a:rPr>
              <a:t>。处理器以</a:t>
            </a:r>
            <a:r>
              <a:rPr kumimoji="0" lang="en-US" altLang="zh-CN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华文中宋" panose="02010600040101010101" pitchFamily="2" charset="-122"/>
                <a:ea typeface="华文中宋" panose="02010600040101010101" pitchFamily="2" charset="-122"/>
                <a:cs typeface="Times New Roman" panose="02020603050405020304" pitchFamily="18" charset="0"/>
              </a:rPr>
              <a:t>PC</a:t>
            </a:r>
            <a:r>
              <a:rPr kumimoji="0" lang="zh-CN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华文中宋" panose="02010600040101010101" pitchFamily="2" charset="-122"/>
                <a:ea typeface="华文中宋" panose="02010600040101010101" pitchFamily="2" charset="-122"/>
                <a:cs typeface="Times New Roman" panose="02020603050405020304" pitchFamily="18" charset="0"/>
              </a:rPr>
              <a:t>（程序计数寄存器）中的值所指示的内存地址为起始地址，取出指令编码。如果指令编码为固定长度，则取出这个长度的指令编码；如果指令编码为可变长度，则先取出操作码，然后根据操作码判断操作数的个数、字节大小以及指令长度，并依次取出操作数。然后计算下一条指令的起始地址。</a:t>
            </a:r>
            <a:endParaRPr kumimoji="0" lang="zh-CN" altLang="en-US" sz="20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华文中宋" panose="02010600040101010101" pitchFamily="2" charset="-122"/>
              <a:ea typeface="华文中宋" panose="02010600040101010101" pitchFamily="2" charset="-122"/>
              <a:cs typeface="宋体" panose="02010600030101010101" pitchFamily="2" charset="-122"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u"/>
            </a:pPr>
            <a:r>
              <a:rPr kumimoji="0" lang="zh-CN" altLang="en-US" sz="20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华文中宋" panose="02010600040101010101" pitchFamily="2" charset="-122"/>
                <a:ea typeface="华文中宋" panose="02010600040101010101" pitchFamily="2" charset="-122"/>
                <a:cs typeface="Times New Roman" panose="02020603050405020304" pitchFamily="18" charset="0"/>
              </a:rPr>
              <a:t>解码阶段</a:t>
            </a:r>
            <a:r>
              <a:rPr kumimoji="0" lang="zh-CN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华文中宋" panose="02010600040101010101" pitchFamily="2" charset="-122"/>
                <a:ea typeface="华文中宋" panose="02010600040101010101" pitchFamily="2" charset="-122"/>
                <a:cs typeface="Times New Roman" panose="02020603050405020304" pitchFamily="18" charset="0"/>
              </a:rPr>
              <a:t>。根据指令操作数的寻址方式和字节大小，计算操作数的值。</a:t>
            </a:r>
            <a:endParaRPr kumimoji="0" lang="zh-CN" altLang="en-US" sz="2000" b="1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华文中宋" panose="02010600040101010101" pitchFamily="2" charset="-122"/>
              <a:ea typeface="华文中宋" panose="02010600040101010101" pitchFamily="2" charset="-122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u"/>
            </a:pPr>
            <a:r>
              <a:rPr kumimoji="0" lang="zh-CN" altLang="en-US" sz="20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华文中宋" panose="02010600040101010101" pitchFamily="2" charset="-122"/>
                <a:ea typeface="华文中宋" panose="02010600040101010101" pitchFamily="2" charset="-122"/>
                <a:cs typeface="Times New Roman" panose="02020603050405020304" pitchFamily="18" charset="0"/>
              </a:rPr>
              <a:t>执行阶段</a:t>
            </a:r>
            <a:r>
              <a:rPr kumimoji="0" lang="zh-CN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华文中宋" panose="02010600040101010101" pitchFamily="2" charset="-122"/>
                <a:ea typeface="华文中宋" panose="02010600040101010101" pitchFamily="2" charset="-122"/>
                <a:cs typeface="Times New Roman" panose="02020603050405020304" pitchFamily="18" charset="0"/>
              </a:rPr>
              <a:t>。执行该指令，并根据指令的后效将计算结果写入寄存器或内存位置，然后将</a:t>
            </a:r>
            <a:r>
              <a:rPr kumimoji="0" lang="en-US" altLang="zh-CN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华文中宋" panose="02010600040101010101" pitchFamily="2" charset="-122"/>
                <a:ea typeface="华文中宋" panose="02010600040101010101" pitchFamily="2" charset="-122"/>
                <a:cs typeface="Times New Roman" panose="02020603050405020304" pitchFamily="18" charset="0"/>
              </a:rPr>
              <a:t>PC</a:t>
            </a:r>
            <a:r>
              <a:rPr kumimoji="0" lang="zh-CN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华文中宋" panose="02010600040101010101" pitchFamily="2" charset="-122"/>
                <a:ea typeface="华文中宋" panose="02010600040101010101" pitchFamily="2" charset="-122"/>
                <a:cs typeface="Times New Roman" panose="02020603050405020304" pitchFamily="18" charset="0"/>
              </a:rPr>
              <a:t>设置为下一条指令的起始地址。</a:t>
            </a:r>
            <a:r>
              <a:rPr kumimoji="0" lang="zh-CN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华文中宋" panose="02010600040101010101" pitchFamily="2" charset="-122"/>
                <a:ea typeface="华文中宋" panose="02010600040101010101" pitchFamily="2" charset="-122"/>
                <a:cs typeface="宋体" panose="02010600030101010101" pitchFamily="2" charset="-122"/>
              </a:rPr>
              <a:t> </a:t>
            </a:r>
            <a:endParaRPr kumimoji="0" lang="zh-CN" altLang="en-US" sz="20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华文中宋" panose="02010600040101010101" pitchFamily="2" charset="-122"/>
              <a:ea typeface="华文中宋" panose="02010600040101010101" pitchFamily="2" charset="-122"/>
              <a:cs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146434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graphicFrame>
        <p:nvGraphicFramePr>
          <p:cNvPr id="146433" name="Object 1"/>
          <p:cNvGraphicFramePr>
            <a:graphicFrameLocks noChangeAspect="1"/>
          </p:cNvGraphicFramePr>
          <p:nvPr/>
        </p:nvGraphicFramePr>
        <p:xfrm>
          <a:off x="142843" y="0"/>
          <a:ext cx="3939375" cy="6858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097" name="Visio" r:id="rId1" imgW="3263900" imgH="5676900" progId="Visio.Drawing.11">
                  <p:embed/>
                </p:oleObj>
              </mc:Choice>
              <mc:Fallback>
                <p:oleObj name="Visio" r:id="rId1" imgW="3263900" imgH="5676900" progId="Visio.Drawing.11">
                  <p:embed/>
                  <p:pic>
                    <p:nvPicPr>
                      <p:cNvPr id="0" name="图片 4096"/>
                      <p:cNvPicPr>
                        <a:picLocks noChangeAspect="1"/>
                      </p:cNvPicPr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142843" y="0"/>
                        <a:ext cx="3939375" cy="6858000"/>
                      </a:xfrm>
                      <a:prstGeom prst="rect">
                        <a:avLst/>
                      </a:prstGeom>
                      <a:solidFill>
                        <a:srgbClr val="FFFFFF"/>
                      </a:solidFill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46435" name="Rectangle 3"/>
          <p:cNvSpPr>
            <a:spLocks noChangeArrowheads="1"/>
          </p:cNvSpPr>
          <p:nvPr/>
        </p:nvSpPr>
        <p:spPr bwMode="auto">
          <a:xfrm>
            <a:off x="3929058" y="1714488"/>
            <a:ext cx="5000660" cy="3323987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ctr" anchorCtr="0" compatLnSpc="1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zh-CN" altLang="zh-CN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华文中宋" panose="02010600040101010101" pitchFamily="2" charset="-122"/>
                <a:ea typeface="华文中宋" panose="02010600040101010101" pitchFamily="2" charset="-122"/>
                <a:cs typeface="Times New Roman" panose="02020603050405020304" pitchFamily="18" charset="0"/>
              </a:rPr>
              <a:t>【</a:t>
            </a:r>
            <a:r>
              <a:rPr kumimoji="0" lang="zh-CN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华文中宋" panose="02010600040101010101" pitchFamily="2" charset="-122"/>
                <a:ea typeface="华文中宋" panose="02010600040101010101" pitchFamily="2" charset="-122"/>
                <a:cs typeface="Times New Roman" panose="02020603050405020304" pitchFamily="18" charset="0"/>
              </a:rPr>
              <a:t>例</a:t>
            </a:r>
            <a:r>
              <a:rPr kumimoji="0" lang="en-US" altLang="zh-CN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华文中宋" panose="02010600040101010101" pitchFamily="2" charset="-122"/>
                <a:ea typeface="华文中宋" panose="02010600040101010101" pitchFamily="2" charset="-122"/>
                <a:cs typeface="Times New Roman" panose="02020603050405020304" pitchFamily="18" charset="0"/>
              </a:rPr>
              <a:t>2-8】</a:t>
            </a:r>
            <a:r>
              <a:rPr kumimoji="0" lang="zh-CN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华文中宋" panose="02010600040101010101" pitchFamily="2" charset="-122"/>
                <a:ea typeface="华文中宋" panose="02010600040101010101" pitchFamily="2" charset="-122"/>
                <a:cs typeface="Times New Roman" panose="02020603050405020304" pitchFamily="18" charset="0"/>
              </a:rPr>
              <a:t>设当前</a:t>
            </a:r>
            <a:r>
              <a:rPr kumimoji="0" lang="en-US" altLang="zh-CN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华文中宋" panose="02010600040101010101" pitchFamily="2" charset="-122"/>
                <a:ea typeface="华文中宋" panose="02010600040101010101" pitchFamily="2" charset="-122"/>
                <a:cs typeface="Times New Roman" panose="02020603050405020304" pitchFamily="18" charset="0"/>
              </a:rPr>
              <a:t>PC=0x100</a:t>
            </a:r>
            <a:r>
              <a:rPr kumimoji="0" lang="zh-CN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华文中宋" panose="02010600040101010101" pitchFamily="2" charset="-122"/>
                <a:ea typeface="华文中宋" panose="02010600040101010101" pitchFamily="2" charset="-122"/>
                <a:cs typeface="Times New Roman" panose="02020603050405020304" pitchFamily="18" charset="0"/>
              </a:rPr>
              <a:t>，试解释内存中二进制指令序列</a:t>
            </a:r>
            <a:endParaRPr kumimoji="0" lang="zh-CN" altLang="en-US" sz="20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华文中宋" panose="02010600040101010101" pitchFamily="2" charset="-122"/>
              <a:ea typeface="华文中宋" panose="02010600040101010101" pitchFamily="2" charset="-122"/>
              <a:cs typeface="Times New Roman" panose="02020603050405020304" pitchFamily="18" charset="0"/>
            </a:endParaRPr>
          </a:p>
          <a:p>
            <a:pPr lvl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zh-CN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华文中宋" panose="02010600040101010101" pitchFamily="2" charset="-122"/>
                <a:ea typeface="华文中宋" panose="02010600040101010101" pitchFamily="2" charset="-122"/>
                <a:cs typeface="Times New Roman" panose="02020603050405020304" pitchFamily="18" charset="0"/>
              </a:rPr>
              <a:t>0x100: </a:t>
            </a:r>
            <a:r>
              <a:rPr lang="en-US" sz="2000" dirty="0" smtClean="0">
                <a:latin typeface="华文中宋" panose="02010600040101010101" pitchFamily="2" charset="-122"/>
                <a:ea typeface="华文中宋" panose="02010600040101010101" pitchFamily="2" charset="-122"/>
              </a:rPr>
              <a:t>40630008000000</a:t>
            </a:r>
            <a:r>
              <a:rPr kumimoji="0" lang="en-US" altLang="zh-CN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华文中宋" panose="02010600040101010101" pitchFamily="2" charset="-122"/>
                <a:ea typeface="华文中宋" panose="02010600040101010101" pitchFamily="2" charset="-122"/>
                <a:cs typeface="Times New Roman" panose="02020603050405020304" pitchFamily="18" charset="0"/>
              </a:rPr>
              <a:t>  </a:t>
            </a:r>
            <a:endParaRPr kumimoji="0" lang="en-US" altLang="zh-CN" sz="20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华文中宋" panose="02010600040101010101" pitchFamily="2" charset="-122"/>
              <a:ea typeface="华文中宋" panose="02010600040101010101" pitchFamily="2" charset="-122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lang="en-US" altLang="zh-CN" sz="2000" dirty="0" smtClean="0">
              <a:latin typeface="华文中宋" panose="02010600040101010101" pitchFamily="2" charset="-122"/>
              <a:ea typeface="华文中宋" panose="02010600040101010101" pitchFamily="2" charset="-122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en-US" altLang="zh-CN" sz="20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华文中宋" panose="02010600040101010101" pitchFamily="2" charset="-122"/>
              <a:ea typeface="华文中宋" panose="02010600040101010101" pitchFamily="2" charset="-122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en-US" altLang="zh-CN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华文中宋" panose="02010600040101010101" pitchFamily="2" charset="-122"/>
                <a:ea typeface="华文中宋" panose="02010600040101010101" pitchFamily="2" charset="-122"/>
                <a:cs typeface="Times New Roman" panose="02020603050405020304" pitchFamily="18" charset="0"/>
              </a:rPr>
              <a:t>0x100: </a:t>
            </a:r>
            <a:r>
              <a:rPr kumimoji="0" lang="en-US" altLang="zh-CN" sz="20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华文中宋" panose="02010600040101010101" pitchFamily="2" charset="-122"/>
                <a:ea typeface="华文中宋" panose="02010600040101010101" pitchFamily="2" charset="-122"/>
                <a:cs typeface="Times New Roman" panose="02020603050405020304" pitchFamily="18" charset="0"/>
              </a:rPr>
              <a:t>rmmov</a:t>
            </a:r>
            <a:r>
              <a:rPr lang="en-US" altLang="zh-CN" sz="2000" dirty="0" smtClean="0">
                <a:latin typeface="华文中宋" panose="02010600040101010101" pitchFamily="2" charset="-122"/>
                <a:ea typeface="华文中宋" panose="02010600040101010101" pitchFamily="2" charset="-122"/>
                <a:cs typeface="Times New Roman" panose="02020603050405020304" pitchFamily="18" charset="0"/>
              </a:rPr>
              <a:t> %</a:t>
            </a:r>
            <a:r>
              <a:rPr lang="en-US" altLang="zh-CN" sz="2000" dirty="0" err="1" smtClean="0">
                <a:latin typeface="华文中宋" panose="02010600040101010101" pitchFamily="2" charset="-122"/>
                <a:ea typeface="华文中宋" panose="02010600040101010101" pitchFamily="2" charset="-122"/>
                <a:cs typeface="Times New Roman" panose="02020603050405020304" pitchFamily="18" charset="0"/>
              </a:rPr>
              <a:t>esi</a:t>
            </a:r>
            <a:r>
              <a:rPr lang="en-US" altLang="zh-CN" sz="2000" dirty="0" smtClean="0">
                <a:latin typeface="华文中宋" panose="02010600040101010101" pitchFamily="2" charset="-122"/>
                <a:ea typeface="华文中宋" panose="02010600040101010101" pitchFamily="2" charset="-122"/>
                <a:cs typeface="Times New Roman" panose="02020603050405020304" pitchFamily="18" charset="0"/>
              </a:rPr>
              <a:t>, 0x800(%</a:t>
            </a:r>
            <a:r>
              <a:rPr lang="en-US" altLang="zh-CN" sz="2000" dirty="0" err="1" smtClean="0">
                <a:latin typeface="华文中宋" panose="02010600040101010101" pitchFamily="2" charset="-122"/>
                <a:ea typeface="华文中宋" panose="02010600040101010101" pitchFamily="2" charset="-122"/>
                <a:cs typeface="Times New Roman" panose="02020603050405020304" pitchFamily="18" charset="0"/>
              </a:rPr>
              <a:t>ebx</a:t>
            </a:r>
            <a:r>
              <a:rPr lang="en-US" altLang="zh-CN" sz="2000" dirty="0" smtClean="0">
                <a:latin typeface="华文中宋" panose="02010600040101010101" pitchFamily="2" charset="-122"/>
                <a:ea typeface="华文中宋" panose="02010600040101010101" pitchFamily="2" charset="-122"/>
                <a:cs typeface="Times New Roman" panose="02020603050405020304" pitchFamily="18" charset="0"/>
              </a:rPr>
              <a:t>)</a:t>
            </a:r>
            <a:endParaRPr kumimoji="0" lang="en-US" altLang="zh-CN" sz="20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华文中宋" panose="02010600040101010101" pitchFamily="2" charset="-122"/>
              <a:ea typeface="华文中宋" panose="02010600040101010101" pitchFamily="2" charset="-122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zh-CN" sz="2000" dirty="0" smtClean="0">
                <a:latin typeface="华文中宋" panose="02010600040101010101" pitchFamily="2" charset="-122"/>
                <a:ea typeface="华文中宋" panose="02010600040101010101" pitchFamily="2" charset="-122"/>
                <a:cs typeface="Times New Roman" panose="02020603050405020304" pitchFamily="18" charset="0"/>
              </a:rPr>
              <a:t>0x</a:t>
            </a:r>
            <a:r>
              <a:rPr kumimoji="0" lang="en-US" altLang="zh-CN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华文中宋" panose="02010600040101010101" pitchFamily="2" charset="-122"/>
                <a:ea typeface="华文中宋" panose="02010600040101010101" pitchFamily="2" charset="-122"/>
                <a:cs typeface="Times New Roman" panose="02020603050405020304" pitchFamily="18" charset="0"/>
              </a:rPr>
              <a:t>106</a:t>
            </a:r>
            <a:r>
              <a:rPr kumimoji="0" lang="zh-CN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华文中宋" panose="02010600040101010101" pitchFamily="2" charset="-122"/>
                <a:ea typeface="华文中宋" panose="02010600040101010101" pitchFamily="2" charset="-122"/>
                <a:cs typeface="Times New Roman" panose="02020603050405020304" pitchFamily="18" charset="0"/>
              </a:rPr>
              <a:t>：</a:t>
            </a:r>
            <a:r>
              <a:rPr kumimoji="0" lang="en-US" altLang="zh-CN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华文中宋" panose="02010600040101010101" pitchFamily="2" charset="-122"/>
                <a:ea typeface="华文中宋" panose="02010600040101010101" pitchFamily="2" charset="-122"/>
                <a:cs typeface="宋体" panose="02010600030101010101" pitchFamily="2" charset="-122"/>
              </a:rPr>
              <a:t>halt</a:t>
            </a:r>
            <a:endParaRPr kumimoji="0" lang="en-US" altLang="zh-CN" sz="20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华文中宋" panose="02010600040101010101" pitchFamily="2" charset="-122"/>
              <a:ea typeface="华文中宋" panose="02010600040101010101" pitchFamily="2" charset="-122"/>
              <a:cs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矩形 3"/>
          <p:cNvSpPr/>
          <p:nvPr/>
        </p:nvSpPr>
        <p:spPr>
          <a:xfrm>
            <a:off x="428596" y="1857364"/>
            <a:ext cx="8143932" cy="4247317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000" dirty="0" smtClean="0">
                <a:latin typeface="华文中宋" panose="02010600040101010101" pitchFamily="2" charset="-122"/>
                <a:ea typeface="华文中宋" panose="02010600040101010101" pitchFamily="2" charset="-122"/>
              </a:rPr>
              <a:t>上面的指令循环没有考虑到异常（</a:t>
            </a:r>
            <a:r>
              <a:rPr lang="en-US" sz="2000" dirty="0" smtClean="0">
                <a:latin typeface="华文中宋" panose="02010600040101010101" pitchFamily="2" charset="-122"/>
                <a:ea typeface="华文中宋" panose="02010600040101010101" pitchFamily="2" charset="-122"/>
              </a:rPr>
              <a:t>Exception</a:t>
            </a:r>
            <a:r>
              <a:rPr lang="zh-CN" altLang="en-US" sz="2000" dirty="0" smtClean="0">
                <a:latin typeface="华文中宋" panose="02010600040101010101" pitchFamily="2" charset="-122"/>
                <a:ea typeface="华文中宋" panose="02010600040101010101" pitchFamily="2" charset="-122"/>
              </a:rPr>
              <a:t>）的发生。异常是一个事件（</a:t>
            </a:r>
            <a:r>
              <a:rPr lang="en-US" sz="2000" dirty="0" smtClean="0">
                <a:latin typeface="华文中宋" panose="02010600040101010101" pitchFamily="2" charset="-122"/>
                <a:ea typeface="华文中宋" panose="02010600040101010101" pitchFamily="2" charset="-122"/>
              </a:rPr>
              <a:t>Event</a:t>
            </a:r>
            <a:r>
              <a:rPr lang="zh-CN" altLang="en-US" sz="2000" dirty="0" smtClean="0">
                <a:latin typeface="华文中宋" panose="02010600040101010101" pitchFamily="2" charset="-122"/>
                <a:ea typeface="华文中宋" panose="02010600040101010101" pitchFamily="2" charset="-122"/>
              </a:rPr>
              <a:t>），而一个事件是处理器或其它设备的状态的一种变化。</a:t>
            </a:r>
            <a:endParaRPr lang="en-US" altLang="zh-CN" sz="2000" dirty="0" smtClean="0">
              <a:latin typeface="华文中宋" panose="02010600040101010101" pitchFamily="2" charset="-122"/>
              <a:ea typeface="华文中宋" panose="02010600040101010101" pitchFamily="2" charset="-122"/>
            </a:endParaRPr>
          </a:p>
          <a:p>
            <a:pPr>
              <a:lnSpc>
                <a:spcPct val="150000"/>
              </a:lnSpc>
            </a:pPr>
            <a:endParaRPr lang="en-US" altLang="zh-CN" sz="2000" dirty="0" smtClean="0">
              <a:latin typeface="华文中宋" panose="02010600040101010101" pitchFamily="2" charset="-122"/>
              <a:ea typeface="华文中宋" panose="02010600040101010101" pitchFamily="2" charset="-122"/>
            </a:endParaRP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u"/>
            </a:pPr>
            <a:r>
              <a:rPr lang="zh-CN" altLang="en-US" sz="2000" dirty="0" smtClean="0">
                <a:solidFill>
                  <a:srgbClr val="FF0000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外部异常</a:t>
            </a:r>
            <a:r>
              <a:rPr lang="zh-CN" altLang="en-US" sz="2000" dirty="0" smtClean="0">
                <a:latin typeface="华文中宋" panose="02010600040101010101" pitchFamily="2" charset="-122"/>
                <a:ea typeface="华文中宋" panose="02010600040101010101" pitchFamily="2" charset="-122"/>
              </a:rPr>
              <a:t>：由时钟或</a:t>
            </a:r>
            <a:r>
              <a:rPr lang="en-US" sz="2000" dirty="0" smtClean="0">
                <a:latin typeface="华文中宋" panose="02010600040101010101" pitchFamily="2" charset="-122"/>
                <a:ea typeface="华文中宋" panose="02010600040101010101" pitchFamily="2" charset="-122"/>
              </a:rPr>
              <a:t>I/O</a:t>
            </a:r>
            <a:r>
              <a:rPr lang="zh-CN" altLang="en-US" sz="2000" dirty="0" smtClean="0">
                <a:latin typeface="华文中宋" panose="02010600040101010101" pitchFamily="2" charset="-122"/>
                <a:ea typeface="华文中宋" panose="02010600040101010101" pitchFamily="2" charset="-122"/>
              </a:rPr>
              <a:t>设备等外部设备触发</a:t>
            </a:r>
            <a:endParaRPr lang="en-US" altLang="zh-CN" sz="2000" dirty="0" smtClean="0">
              <a:latin typeface="华文中宋" panose="02010600040101010101" pitchFamily="2" charset="-122"/>
              <a:ea typeface="华文中宋" panose="02010600040101010101" pitchFamily="2" charset="-122"/>
            </a:endParaRP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u"/>
            </a:pPr>
            <a:r>
              <a:rPr lang="zh-CN" altLang="en-US" sz="2000" dirty="0" smtClean="0">
                <a:solidFill>
                  <a:srgbClr val="FF0000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内部异常</a:t>
            </a:r>
            <a:r>
              <a:rPr lang="zh-CN" altLang="en-US" sz="2000" dirty="0" smtClean="0">
                <a:latin typeface="华文中宋" panose="02010600040101010101" pitchFamily="2" charset="-122"/>
                <a:ea typeface="华文中宋" panose="02010600040101010101" pitchFamily="2" charset="-122"/>
              </a:rPr>
              <a:t>：正在处理的指令触发，比如算术运算指令出现浮点溢出，操作数地址越界等。</a:t>
            </a:r>
            <a:endParaRPr lang="en-US" altLang="zh-CN" sz="2000" dirty="0" smtClean="0">
              <a:latin typeface="华文中宋" panose="02010600040101010101" pitchFamily="2" charset="-122"/>
              <a:ea typeface="华文中宋" panose="02010600040101010101" pitchFamily="2" charset="-122"/>
            </a:endParaRP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u"/>
            </a:pPr>
            <a:r>
              <a:rPr lang="zh-CN" altLang="en-US" sz="2000" dirty="0" smtClean="0">
                <a:latin typeface="华文中宋" panose="02010600040101010101" pitchFamily="2" charset="-122"/>
                <a:ea typeface="华文中宋" panose="02010600040101010101" pitchFamily="2" charset="-122"/>
              </a:rPr>
              <a:t>异常通常具有较高优先级，应当优先得到处理。当异常发生时，处理器正常的指令循环就要被打断，转而先执行异常处理流程，处理完毕后，有可能再返回到原来的程序继续执行。</a:t>
            </a:r>
            <a:endParaRPr lang="zh-CN" altLang="en-US" sz="2000" dirty="0">
              <a:latin typeface="华文中宋" panose="02010600040101010101" pitchFamily="2" charset="-122"/>
              <a:ea typeface="华文中宋" panose="02010600040101010101" pitchFamily="2" charset="-122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500034" y="1285860"/>
            <a:ext cx="233910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400" dirty="0" smtClean="0">
                <a:solidFill>
                  <a:srgbClr val="FF0000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异常和异常处理</a:t>
            </a:r>
            <a:endParaRPr lang="zh-CN" altLang="en-US" sz="2400" dirty="0">
              <a:solidFill>
                <a:srgbClr val="FF0000"/>
              </a:solidFill>
              <a:latin typeface="华文中宋" panose="02010600040101010101" pitchFamily="2" charset="-122"/>
              <a:ea typeface="华文中宋" panose="02010600040101010101" pitchFamily="2" charset="-122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graphicFrame>
        <p:nvGraphicFramePr>
          <p:cNvPr id="4" name="表格 3"/>
          <p:cNvGraphicFramePr>
            <a:graphicFrameLocks noGrp="1"/>
          </p:cNvGraphicFramePr>
          <p:nvPr/>
        </p:nvGraphicFramePr>
        <p:xfrm>
          <a:off x="571472" y="1880031"/>
          <a:ext cx="8143930" cy="4763679"/>
        </p:xfrm>
        <a:graphic>
          <a:graphicData uri="http://schemas.openxmlformats.org/drawingml/2006/table">
            <a:tbl>
              <a:tblPr/>
              <a:tblGrid>
                <a:gridCol w="691094"/>
                <a:gridCol w="2226428"/>
                <a:gridCol w="1224141"/>
                <a:gridCol w="1837685"/>
                <a:gridCol w="2164582"/>
              </a:tblGrid>
              <a:tr h="307733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1800" b="1" kern="100" dirty="0">
                          <a:latin typeface="华文中宋" panose="02010600040101010101" pitchFamily="2" charset="-122"/>
                          <a:ea typeface="华文中宋" panose="02010600040101010101" pitchFamily="2" charset="-122"/>
                          <a:cs typeface="Times New Roman" panose="02020603050405020304"/>
                        </a:rPr>
                        <a:t>类别</a:t>
                      </a:r>
                      <a:endParaRPr lang="zh-CN" sz="1800" kern="100" dirty="0">
                        <a:latin typeface="华文中宋" panose="02010600040101010101" pitchFamily="2" charset="-122"/>
                        <a:ea typeface="华文中宋" panose="02010600040101010101" pitchFamily="2" charset="-122"/>
                        <a:cs typeface="Times New Roman" panose="02020603050405020304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1800" b="1" kern="100" dirty="0">
                          <a:latin typeface="华文中宋" panose="02010600040101010101" pitchFamily="2" charset="-122"/>
                          <a:ea typeface="华文中宋" panose="02010600040101010101" pitchFamily="2" charset="-122"/>
                          <a:cs typeface="Times New Roman" panose="02020603050405020304"/>
                        </a:rPr>
                        <a:t>发生的原因</a:t>
                      </a:r>
                      <a:endParaRPr lang="zh-CN" sz="1800" kern="100" dirty="0">
                        <a:latin typeface="华文中宋" panose="02010600040101010101" pitchFamily="2" charset="-122"/>
                        <a:ea typeface="华文中宋" panose="02010600040101010101" pitchFamily="2" charset="-122"/>
                        <a:cs typeface="Times New Roman" panose="02020603050405020304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1800" b="1" kern="100">
                          <a:latin typeface="华文中宋" panose="02010600040101010101" pitchFamily="2" charset="-122"/>
                          <a:ea typeface="华文中宋" panose="02010600040101010101" pitchFamily="2" charset="-122"/>
                          <a:cs typeface="Times New Roman" panose="02020603050405020304"/>
                        </a:rPr>
                        <a:t>同步</a:t>
                      </a:r>
                      <a:r>
                        <a:rPr lang="en-US" sz="1800" b="1" kern="100">
                          <a:latin typeface="华文中宋" panose="02010600040101010101" pitchFamily="2" charset="-122"/>
                          <a:ea typeface="华文中宋" panose="02010600040101010101" pitchFamily="2" charset="-122"/>
                          <a:cs typeface="Times New Roman" panose="02020603050405020304"/>
                        </a:rPr>
                        <a:t>/</a:t>
                      </a:r>
                      <a:r>
                        <a:rPr lang="zh-CN" sz="1800" b="1" kern="100">
                          <a:latin typeface="华文中宋" panose="02010600040101010101" pitchFamily="2" charset="-122"/>
                          <a:ea typeface="华文中宋" panose="02010600040101010101" pitchFamily="2" charset="-122"/>
                          <a:cs typeface="Times New Roman" panose="02020603050405020304"/>
                        </a:rPr>
                        <a:t>异步</a:t>
                      </a:r>
                      <a:endParaRPr lang="zh-CN" sz="1800" kern="100">
                        <a:latin typeface="华文中宋" panose="02010600040101010101" pitchFamily="2" charset="-122"/>
                        <a:ea typeface="华文中宋" panose="02010600040101010101" pitchFamily="2" charset="-122"/>
                        <a:cs typeface="Times New Roman" panose="02020603050405020304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1800" b="1" kern="100">
                          <a:latin typeface="华文中宋" panose="02010600040101010101" pitchFamily="2" charset="-122"/>
                          <a:ea typeface="华文中宋" panose="02010600040101010101" pitchFamily="2" charset="-122"/>
                          <a:cs typeface="Times New Roman" panose="02020603050405020304"/>
                        </a:rPr>
                        <a:t>返回行为</a:t>
                      </a:r>
                      <a:endParaRPr lang="zh-CN" sz="1800" kern="100">
                        <a:latin typeface="华文中宋" panose="02010600040101010101" pitchFamily="2" charset="-122"/>
                        <a:ea typeface="华文中宋" panose="02010600040101010101" pitchFamily="2" charset="-122"/>
                        <a:cs typeface="Times New Roman" panose="02020603050405020304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1800" b="1" kern="100">
                          <a:latin typeface="华文中宋" panose="02010600040101010101" pitchFamily="2" charset="-122"/>
                          <a:ea typeface="华文中宋" panose="02010600040101010101" pitchFamily="2" charset="-122"/>
                          <a:cs typeface="Times New Roman" panose="02020603050405020304"/>
                        </a:rPr>
                        <a:t>举例</a:t>
                      </a:r>
                      <a:endParaRPr lang="zh-CN" sz="1800" kern="100">
                        <a:latin typeface="华文中宋" panose="02010600040101010101" pitchFamily="2" charset="-122"/>
                        <a:ea typeface="华文中宋" panose="02010600040101010101" pitchFamily="2" charset="-122"/>
                        <a:cs typeface="Times New Roman" panose="02020603050405020304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23199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zh-CN" sz="1800" kern="100">
                          <a:latin typeface="华文中宋" panose="02010600040101010101" pitchFamily="2" charset="-122"/>
                          <a:ea typeface="华文中宋" panose="02010600040101010101" pitchFamily="2" charset="-122"/>
                          <a:cs typeface="Times New Roman" panose="02020603050405020304"/>
                        </a:rPr>
                        <a:t>中断</a:t>
                      </a:r>
                      <a:endParaRPr lang="zh-CN" sz="1800" kern="100">
                        <a:latin typeface="华文中宋" panose="02010600040101010101" pitchFamily="2" charset="-122"/>
                        <a:ea typeface="华文中宋" panose="02010600040101010101" pitchFamily="2" charset="-122"/>
                        <a:cs typeface="Times New Roman" panose="02020603050405020304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zh-CN" sz="1800" kern="100" dirty="0">
                          <a:latin typeface="华文中宋" panose="02010600040101010101" pitchFamily="2" charset="-122"/>
                          <a:ea typeface="华文中宋" panose="02010600040101010101" pitchFamily="2" charset="-122"/>
                          <a:cs typeface="Times New Roman" panose="02020603050405020304"/>
                        </a:rPr>
                        <a:t>由时钟或</a:t>
                      </a:r>
                      <a:r>
                        <a:rPr lang="en-US" sz="1800" kern="100" dirty="0">
                          <a:latin typeface="华文中宋" panose="02010600040101010101" pitchFamily="2" charset="-122"/>
                          <a:ea typeface="华文中宋" panose="02010600040101010101" pitchFamily="2" charset="-122"/>
                          <a:cs typeface="Times New Roman" panose="02020603050405020304"/>
                        </a:rPr>
                        <a:t>I/O</a:t>
                      </a:r>
                      <a:r>
                        <a:rPr lang="zh-CN" sz="1800" kern="100" dirty="0">
                          <a:latin typeface="华文中宋" panose="02010600040101010101" pitchFamily="2" charset="-122"/>
                          <a:ea typeface="华文中宋" panose="02010600040101010101" pitchFamily="2" charset="-122"/>
                          <a:cs typeface="Times New Roman" panose="02020603050405020304"/>
                        </a:rPr>
                        <a:t>设备发出的信号触发，表明这些设备的状态发生了某种改变</a:t>
                      </a:r>
                      <a:endParaRPr lang="zh-CN" sz="1800" kern="100" dirty="0">
                        <a:latin typeface="华文中宋" panose="02010600040101010101" pitchFamily="2" charset="-122"/>
                        <a:ea typeface="华文中宋" panose="02010600040101010101" pitchFamily="2" charset="-122"/>
                        <a:cs typeface="Times New Roman" panose="02020603050405020304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1800" kern="100" dirty="0">
                          <a:latin typeface="华文中宋" panose="02010600040101010101" pitchFamily="2" charset="-122"/>
                          <a:ea typeface="华文中宋" panose="02010600040101010101" pitchFamily="2" charset="-122"/>
                          <a:cs typeface="Times New Roman" panose="02020603050405020304"/>
                        </a:rPr>
                        <a:t>异步</a:t>
                      </a:r>
                      <a:endParaRPr lang="zh-CN" sz="1800" kern="100" dirty="0">
                        <a:latin typeface="华文中宋" panose="02010600040101010101" pitchFamily="2" charset="-122"/>
                        <a:ea typeface="华文中宋" panose="02010600040101010101" pitchFamily="2" charset="-122"/>
                        <a:cs typeface="Times New Roman" panose="02020603050405020304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zh-CN" sz="1800" kern="100">
                          <a:latin typeface="华文中宋" panose="02010600040101010101" pitchFamily="2" charset="-122"/>
                          <a:ea typeface="华文中宋" panose="02010600040101010101" pitchFamily="2" charset="-122"/>
                          <a:cs typeface="Times New Roman" panose="02020603050405020304"/>
                        </a:rPr>
                        <a:t>总是返回到下一条指令继续执行</a:t>
                      </a:r>
                      <a:endParaRPr lang="zh-CN" sz="1800" kern="100">
                        <a:latin typeface="华文中宋" panose="02010600040101010101" pitchFamily="2" charset="-122"/>
                        <a:ea typeface="华文中宋" panose="02010600040101010101" pitchFamily="2" charset="-122"/>
                        <a:cs typeface="Times New Roman" panose="02020603050405020304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zh-CN" sz="1800" kern="100">
                          <a:latin typeface="华文中宋" panose="02010600040101010101" pitchFamily="2" charset="-122"/>
                          <a:ea typeface="华文中宋" panose="02010600040101010101" pitchFamily="2" charset="-122"/>
                          <a:cs typeface="Times New Roman" panose="02020603050405020304"/>
                        </a:rPr>
                        <a:t>打印机准备就绪；打印操作完成等</a:t>
                      </a:r>
                      <a:endParaRPr lang="zh-CN" sz="1800" kern="100">
                        <a:latin typeface="华文中宋" panose="02010600040101010101" pitchFamily="2" charset="-122"/>
                        <a:ea typeface="华文中宋" panose="02010600040101010101" pitchFamily="2" charset="-122"/>
                        <a:cs typeface="Times New Roman" panose="02020603050405020304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15466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zh-CN" sz="1800" kern="100">
                          <a:latin typeface="华文中宋" panose="02010600040101010101" pitchFamily="2" charset="-122"/>
                          <a:ea typeface="华文中宋" panose="02010600040101010101" pitchFamily="2" charset="-122"/>
                          <a:cs typeface="Times New Roman" panose="02020603050405020304"/>
                        </a:rPr>
                        <a:t>陷阱</a:t>
                      </a:r>
                      <a:endParaRPr lang="zh-CN" sz="1800" kern="100">
                        <a:latin typeface="华文中宋" panose="02010600040101010101" pitchFamily="2" charset="-122"/>
                        <a:ea typeface="华文中宋" panose="02010600040101010101" pitchFamily="2" charset="-122"/>
                        <a:cs typeface="Times New Roman" panose="02020603050405020304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zh-CN" sz="1800" kern="100">
                          <a:latin typeface="华文中宋" panose="02010600040101010101" pitchFamily="2" charset="-122"/>
                          <a:ea typeface="华文中宋" panose="02010600040101010101" pitchFamily="2" charset="-122"/>
                          <a:cs typeface="Times New Roman" panose="02020603050405020304"/>
                        </a:rPr>
                        <a:t>程序指令主动发起的异常</a:t>
                      </a:r>
                      <a:endParaRPr lang="zh-CN" sz="1800" kern="100">
                        <a:latin typeface="华文中宋" panose="02010600040101010101" pitchFamily="2" charset="-122"/>
                        <a:ea typeface="华文中宋" panose="02010600040101010101" pitchFamily="2" charset="-122"/>
                        <a:cs typeface="Times New Roman" panose="02020603050405020304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1800" kern="100" dirty="0">
                          <a:latin typeface="华文中宋" panose="02010600040101010101" pitchFamily="2" charset="-122"/>
                          <a:ea typeface="华文中宋" panose="02010600040101010101" pitchFamily="2" charset="-122"/>
                          <a:cs typeface="Times New Roman" panose="02020603050405020304"/>
                        </a:rPr>
                        <a:t>同步</a:t>
                      </a:r>
                      <a:endParaRPr lang="zh-CN" sz="1800" kern="100" dirty="0">
                        <a:latin typeface="华文中宋" panose="02010600040101010101" pitchFamily="2" charset="-122"/>
                        <a:ea typeface="华文中宋" panose="02010600040101010101" pitchFamily="2" charset="-122"/>
                        <a:cs typeface="Times New Roman" panose="02020603050405020304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zh-CN" sz="1800" kern="100" dirty="0">
                          <a:latin typeface="华文中宋" panose="02010600040101010101" pitchFamily="2" charset="-122"/>
                          <a:ea typeface="华文中宋" panose="02010600040101010101" pitchFamily="2" charset="-122"/>
                          <a:cs typeface="Times New Roman" panose="02020603050405020304"/>
                        </a:rPr>
                        <a:t>总是返回到下一条指令继续执行</a:t>
                      </a:r>
                      <a:endParaRPr lang="zh-CN" sz="1800" kern="100" dirty="0">
                        <a:latin typeface="华文中宋" panose="02010600040101010101" pitchFamily="2" charset="-122"/>
                        <a:ea typeface="华文中宋" panose="02010600040101010101" pitchFamily="2" charset="-122"/>
                        <a:cs typeface="Times New Roman" panose="02020603050405020304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zh-CN" sz="1800" kern="100">
                          <a:latin typeface="华文中宋" panose="02010600040101010101" pitchFamily="2" charset="-122"/>
                          <a:ea typeface="华文中宋" panose="02010600040101010101" pitchFamily="2" charset="-122"/>
                          <a:cs typeface="Times New Roman" panose="02020603050405020304"/>
                        </a:rPr>
                        <a:t>系统调用；断点</a:t>
                      </a:r>
                      <a:r>
                        <a:rPr lang="en-US" sz="1800" kern="100">
                          <a:latin typeface="华文中宋" panose="02010600040101010101" pitchFamily="2" charset="-122"/>
                          <a:ea typeface="华文中宋" panose="02010600040101010101" pitchFamily="2" charset="-122"/>
                          <a:cs typeface="Times New Roman" panose="02020603050405020304"/>
                        </a:rPr>
                        <a:t>(Breakpoint)</a:t>
                      </a:r>
                      <a:endParaRPr lang="zh-CN" sz="1800" kern="100">
                        <a:latin typeface="华文中宋" panose="02010600040101010101" pitchFamily="2" charset="-122"/>
                        <a:ea typeface="华文中宋" panose="02010600040101010101" pitchFamily="2" charset="-122"/>
                        <a:cs typeface="Times New Roman" panose="02020603050405020304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538664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zh-CN" sz="1800" kern="100">
                          <a:latin typeface="华文中宋" panose="02010600040101010101" pitchFamily="2" charset="-122"/>
                          <a:ea typeface="华文中宋" panose="02010600040101010101" pitchFamily="2" charset="-122"/>
                          <a:cs typeface="Times New Roman" panose="02020603050405020304"/>
                        </a:rPr>
                        <a:t>故障</a:t>
                      </a:r>
                      <a:endParaRPr lang="zh-CN" sz="1800" kern="100">
                        <a:latin typeface="华文中宋" panose="02010600040101010101" pitchFamily="2" charset="-122"/>
                        <a:ea typeface="华文中宋" panose="02010600040101010101" pitchFamily="2" charset="-122"/>
                        <a:cs typeface="Times New Roman" panose="02020603050405020304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zh-CN" sz="1800" kern="100">
                          <a:latin typeface="华文中宋" panose="02010600040101010101" pitchFamily="2" charset="-122"/>
                          <a:ea typeface="华文中宋" panose="02010600040101010101" pitchFamily="2" charset="-122"/>
                          <a:cs typeface="Times New Roman" panose="02020603050405020304"/>
                        </a:rPr>
                        <a:t>由正在执行的指令产生的各种错误引发。这些错误可能是可恢复的，也可能是不可恢复的</a:t>
                      </a:r>
                      <a:endParaRPr lang="zh-CN" sz="1800" kern="100">
                        <a:latin typeface="华文中宋" panose="02010600040101010101" pitchFamily="2" charset="-122"/>
                        <a:ea typeface="华文中宋" panose="02010600040101010101" pitchFamily="2" charset="-122"/>
                        <a:cs typeface="Times New Roman" panose="02020603050405020304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1800" kern="100">
                          <a:latin typeface="华文中宋" panose="02010600040101010101" pitchFamily="2" charset="-122"/>
                          <a:ea typeface="华文中宋" panose="02010600040101010101" pitchFamily="2" charset="-122"/>
                          <a:cs typeface="Times New Roman" panose="02020603050405020304"/>
                        </a:rPr>
                        <a:t>同步</a:t>
                      </a:r>
                      <a:endParaRPr lang="zh-CN" sz="1800" kern="100">
                        <a:latin typeface="华文中宋" panose="02010600040101010101" pitchFamily="2" charset="-122"/>
                        <a:ea typeface="华文中宋" panose="02010600040101010101" pitchFamily="2" charset="-122"/>
                        <a:cs typeface="Times New Roman" panose="02020603050405020304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zh-CN" sz="1800" kern="100" dirty="0">
                          <a:latin typeface="华文中宋" panose="02010600040101010101" pitchFamily="2" charset="-122"/>
                          <a:ea typeface="华文中宋" panose="02010600040101010101" pitchFamily="2" charset="-122"/>
                          <a:cs typeface="Times New Roman" panose="02020603050405020304"/>
                        </a:rPr>
                        <a:t>可能返回到当前指令重新执行；也可能终止当前程序</a:t>
                      </a:r>
                      <a:endParaRPr lang="zh-CN" sz="1800" kern="100" dirty="0">
                        <a:latin typeface="华文中宋" panose="02010600040101010101" pitchFamily="2" charset="-122"/>
                        <a:ea typeface="华文中宋" panose="02010600040101010101" pitchFamily="2" charset="-122"/>
                        <a:cs typeface="Times New Roman" panose="02020603050405020304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zh-CN" sz="1800" kern="100" dirty="0">
                          <a:latin typeface="华文中宋" panose="02010600040101010101" pitchFamily="2" charset="-122"/>
                          <a:ea typeface="华文中宋" panose="02010600040101010101" pitchFamily="2" charset="-122"/>
                          <a:cs typeface="Times New Roman" panose="02020603050405020304"/>
                        </a:rPr>
                        <a:t>算术溢出；除零错误；缺页故障；保护性故障等。如程序引用一个未定义的内存区域，或程序企图向只读文本段写入数据</a:t>
                      </a:r>
                      <a:endParaRPr lang="zh-CN" sz="1800" kern="100" dirty="0">
                        <a:latin typeface="华文中宋" panose="02010600040101010101" pitchFamily="2" charset="-122"/>
                        <a:ea typeface="华文中宋" panose="02010600040101010101" pitchFamily="2" charset="-122"/>
                        <a:cs typeface="Times New Roman" panose="02020603050405020304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15466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zh-CN" sz="1800" kern="100">
                          <a:latin typeface="华文中宋" panose="02010600040101010101" pitchFamily="2" charset="-122"/>
                          <a:ea typeface="华文中宋" panose="02010600040101010101" pitchFamily="2" charset="-122"/>
                          <a:cs typeface="Times New Roman" panose="02020603050405020304"/>
                        </a:rPr>
                        <a:t>致命故障</a:t>
                      </a:r>
                      <a:endParaRPr lang="zh-CN" sz="1800" kern="100">
                        <a:latin typeface="华文中宋" panose="02010600040101010101" pitchFamily="2" charset="-122"/>
                        <a:ea typeface="华文中宋" panose="02010600040101010101" pitchFamily="2" charset="-122"/>
                        <a:cs typeface="Times New Roman" panose="02020603050405020304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zh-CN" sz="1800" kern="100">
                          <a:latin typeface="华文中宋" panose="02010600040101010101" pitchFamily="2" charset="-122"/>
                          <a:ea typeface="华文中宋" panose="02010600040101010101" pitchFamily="2" charset="-122"/>
                          <a:cs typeface="Times New Roman" panose="02020603050405020304"/>
                        </a:rPr>
                        <a:t>由不可恢复的致命错误引发，通常由硬件错误引发。</a:t>
                      </a:r>
                      <a:endParaRPr lang="zh-CN" sz="1800" kern="100">
                        <a:latin typeface="华文中宋" panose="02010600040101010101" pitchFamily="2" charset="-122"/>
                        <a:ea typeface="华文中宋" panose="02010600040101010101" pitchFamily="2" charset="-122"/>
                        <a:cs typeface="Times New Roman" panose="02020603050405020304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1800" kern="100">
                          <a:latin typeface="华文中宋" panose="02010600040101010101" pitchFamily="2" charset="-122"/>
                          <a:ea typeface="华文中宋" panose="02010600040101010101" pitchFamily="2" charset="-122"/>
                          <a:cs typeface="Times New Roman" panose="02020603050405020304"/>
                        </a:rPr>
                        <a:t>同步</a:t>
                      </a:r>
                      <a:endParaRPr lang="zh-CN" sz="1800" kern="100">
                        <a:latin typeface="华文中宋" panose="02010600040101010101" pitchFamily="2" charset="-122"/>
                        <a:ea typeface="华文中宋" panose="02010600040101010101" pitchFamily="2" charset="-122"/>
                        <a:cs typeface="Times New Roman" panose="02020603050405020304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zh-CN" sz="1800" kern="100">
                          <a:latin typeface="华文中宋" panose="02010600040101010101" pitchFamily="2" charset="-122"/>
                          <a:ea typeface="华文中宋" panose="02010600040101010101" pitchFamily="2" charset="-122"/>
                          <a:cs typeface="Times New Roman" panose="02020603050405020304"/>
                        </a:rPr>
                        <a:t>终止当前程序</a:t>
                      </a:r>
                      <a:endParaRPr lang="zh-CN" sz="1800" kern="100">
                        <a:latin typeface="华文中宋" panose="02010600040101010101" pitchFamily="2" charset="-122"/>
                        <a:ea typeface="华文中宋" panose="02010600040101010101" pitchFamily="2" charset="-122"/>
                        <a:cs typeface="Times New Roman" panose="02020603050405020304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zh-CN" sz="1800" kern="100" dirty="0">
                          <a:latin typeface="华文中宋" panose="02010600040101010101" pitchFamily="2" charset="-122"/>
                          <a:ea typeface="华文中宋" panose="02010600040101010101" pitchFamily="2" charset="-122"/>
                          <a:cs typeface="Times New Roman" panose="02020603050405020304"/>
                        </a:rPr>
                        <a:t>硬件错误，如</a:t>
                      </a:r>
                      <a:r>
                        <a:rPr lang="en-US" sz="1800" kern="100" dirty="0">
                          <a:latin typeface="华文中宋" panose="02010600040101010101" pitchFamily="2" charset="-122"/>
                          <a:ea typeface="华文中宋" panose="02010600040101010101" pitchFamily="2" charset="-122"/>
                          <a:cs typeface="Times New Roman" panose="02020603050405020304"/>
                        </a:rPr>
                        <a:t>DRAM</a:t>
                      </a:r>
                      <a:r>
                        <a:rPr lang="zh-CN" sz="1800" kern="100" dirty="0">
                          <a:latin typeface="华文中宋" panose="02010600040101010101" pitchFamily="2" charset="-122"/>
                          <a:ea typeface="华文中宋" panose="02010600040101010101" pitchFamily="2" charset="-122"/>
                          <a:cs typeface="Times New Roman" panose="02020603050405020304"/>
                        </a:rPr>
                        <a:t>或</a:t>
                      </a:r>
                      <a:r>
                        <a:rPr lang="en-US" sz="1800" kern="100" dirty="0">
                          <a:latin typeface="华文中宋" panose="02010600040101010101" pitchFamily="2" charset="-122"/>
                          <a:ea typeface="华文中宋" panose="02010600040101010101" pitchFamily="2" charset="-122"/>
                          <a:cs typeface="Times New Roman" panose="02020603050405020304"/>
                        </a:rPr>
                        <a:t>SRAM</a:t>
                      </a:r>
                      <a:r>
                        <a:rPr lang="zh-CN" sz="1800" kern="100" dirty="0">
                          <a:latin typeface="华文中宋" panose="02010600040101010101" pitchFamily="2" charset="-122"/>
                          <a:ea typeface="华文中宋" panose="02010600040101010101" pitchFamily="2" charset="-122"/>
                          <a:cs typeface="Times New Roman" panose="02020603050405020304"/>
                        </a:rPr>
                        <a:t>极性错误等</a:t>
                      </a:r>
                      <a:endParaRPr lang="zh-CN" sz="1800" kern="100" dirty="0">
                        <a:latin typeface="华文中宋" panose="02010600040101010101" pitchFamily="2" charset="-122"/>
                        <a:ea typeface="华文中宋" panose="02010600040101010101" pitchFamily="2" charset="-122"/>
                        <a:cs typeface="Times New Roman" panose="02020603050405020304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矩形 4"/>
          <p:cNvSpPr/>
          <p:nvPr/>
        </p:nvSpPr>
        <p:spPr>
          <a:xfrm>
            <a:off x="3643306" y="1428736"/>
            <a:ext cx="2021707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dirty="0" smtClean="0">
                <a:latin typeface="华文中宋" panose="02010600040101010101" pitchFamily="2" charset="-122"/>
                <a:ea typeface="华文中宋" panose="02010600040101010101" pitchFamily="2" charset="-122"/>
              </a:rPr>
              <a:t>表</a:t>
            </a:r>
            <a:r>
              <a:rPr lang="en-US" dirty="0" smtClean="0">
                <a:latin typeface="华文中宋" panose="02010600040101010101" pitchFamily="2" charset="-122"/>
                <a:ea typeface="华文中宋" panose="02010600040101010101" pitchFamily="2" charset="-122"/>
              </a:rPr>
              <a:t>2-7 </a:t>
            </a:r>
            <a:r>
              <a:rPr lang="zh-CN" altLang="en-US" dirty="0" smtClean="0">
                <a:latin typeface="华文中宋" panose="02010600040101010101" pitchFamily="2" charset="-122"/>
                <a:ea typeface="华文中宋" panose="02010600040101010101" pitchFamily="2" charset="-122"/>
              </a:rPr>
              <a:t>异常的分类</a:t>
            </a:r>
            <a:endParaRPr lang="zh-CN" altLang="en-US" dirty="0">
              <a:latin typeface="华文中宋" panose="02010600040101010101" pitchFamily="2" charset="-122"/>
              <a:ea typeface="华文中宋" panose="02010600040101010101" pitchFamily="2" charset="-122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149506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graphicFrame>
        <p:nvGraphicFramePr>
          <p:cNvPr id="149505" name="Object 1"/>
          <p:cNvGraphicFramePr>
            <a:graphicFrameLocks noChangeAspect="1"/>
          </p:cNvGraphicFramePr>
          <p:nvPr/>
        </p:nvGraphicFramePr>
        <p:xfrm>
          <a:off x="142844" y="-1"/>
          <a:ext cx="7286676" cy="679271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21" name="Visio" r:id="rId1" imgW="5537200" imgH="5168900" progId="Visio.Drawing.11">
                  <p:embed/>
                </p:oleObj>
              </mc:Choice>
              <mc:Fallback>
                <p:oleObj name="Visio" r:id="rId1" imgW="5537200" imgH="5168900" progId="Visio.Drawing.11">
                  <p:embed/>
                  <p:pic>
                    <p:nvPicPr>
                      <p:cNvPr id="0" name="图片 5120"/>
                      <p:cNvPicPr>
                        <a:picLocks noChangeAspect="1"/>
                      </p:cNvPicPr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142844" y="-1"/>
                        <a:ext cx="7286676" cy="6792711"/>
                      </a:xfrm>
                      <a:prstGeom prst="rect">
                        <a:avLst/>
                      </a:prstGeom>
                      <a:solidFill>
                        <a:srgbClr val="FFFFFF"/>
                      </a:solidFill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150530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graphicFrame>
        <p:nvGraphicFramePr>
          <p:cNvPr id="150529" name="Object 1"/>
          <p:cNvGraphicFramePr>
            <a:graphicFrameLocks noChangeAspect="1"/>
          </p:cNvGraphicFramePr>
          <p:nvPr/>
        </p:nvGraphicFramePr>
        <p:xfrm>
          <a:off x="214282" y="-9024"/>
          <a:ext cx="6429420" cy="658129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145" name="Visio" r:id="rId1" imgW="6464300" imgH="6616700" progId="Visio.Drawing.11">
                  <p:embed/>
                </p:oleObj>
              </mc:Choice>
              <mc:Fallback>
                <p:oleObj name="Visio" r:id="rId1" imgW="6464300" imgH="6616700" progId="Visio.Drawing.11">
                  <p:embed/>
                  <p:pic>
                    <p:nvPicPr>
                      <p:cNvPr id="0" name="图片 6144"/>
                      <p:cNvPicPr>
                        <a:picLocks noChangeAspect="1"/>
                      </p:cNvPicPr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214282" y="-9024"/>
                        <a:ext cx="6429420" cy="6581296"/>
                      </a:xfrm>
                      <a:prstGeom prst="rect">
                        <a:avLst/>
                      </a:prstGeom>
                      <a:solidFill>
                        <a:srgbClr val="FFFFFF"/>
                      </a:solidFill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571868" y="0"/>
            <a:ext cx="5572132" cy="1143000"/>
          </a:xfrm>
        </p:spPr>
        <p:txBody>
          <a:bodyPr>
            <a:normAutofit/>
          </a:bodyPr>
          <a:lstStyle/>
          <a:p>
            <a:r>
              <a:rPr lang="en-US" altLang="zh-CN" sz="2800" dirty="0" smtClean="0"/>
              <a:t>2.4 </a:t>
            </a:r>
            <a:r>
              <a:rPr lang="zh-CN" altLang="en-US" sz="2800" dirty="0" smtClean="0"/>
              <a:t>处理器的运行模式和模式切换</a:t>
            </a:r>
            <a:endParaRPr lang="zh-CN" altLang="en-US" sz="2800" dirty="0"/>
          </a:p>
        </p:txBody>
      </p:sp>
      <p:sp>
        <p:nvSpPr>
          <p:cNvPr id="4" name="矩形 3"/>
          <p:cNvSpPr/>
          <p:nvPr/>
        </p:nvSpPr>
        <p:spPr>
          <a:xfrm>
            <a:off x="428596" y="1285860"/>
            <a:ext cx="8143932" cy="3924151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000" dirty="0" smtClean="0">
                <a:latin typeface="华文中宋" panose="02010600040101010101" pitchFamily="2" charset="-122"/>
                <a:ea typeface="华文中宋" panose="02010600040101010101" pitchFamily="2" charset="-122"/>
              </a:rPr>
              <a:t>       异常处理过程不仅涉及到控制流的转换，而且还伴随着处理器运行模式的切换。处理器一般具有两种宏状态或运行模式：</a:t>
            </a:r>
            <a:endParaRPr lang="en-US" altLang="zh-CN" sz="2000" dirty="0" smtClean="0">
              <a:latin typeface="华文中宋" panose="02010600040101010101" pitchFamily="2" charset="-122"/>
              <a:ea typeface="华文中宋" panose="02010600040101010101" pitchFamily="2" charset="-122"/>
            </a:endParaRP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u"/>
            </a:pPr>
            <a:r>
              <a:rPr lang="zh-CN" altLang="en-US" b="1" dirty="0" smtClean="0">
                <a:latin typeface="华文中宋" panose="02010600040101010101" pitchFamily="2" charset="-122"/>
                <a:ea typeface="华文中宋" panose="02010600040101010101" pitchFamily="2" charset="-122"/>
              </a:rPr>
              <a:t>用户模式</a:t>
            </a:r>
            <a:r>
              <a:rPr lang="zh-CN" altLang="en-US" dirty="0" smtClean="0">
                <a:latin typeface="华文中宋" panose="02010600040101010101" pitchFamily="2" charset="-122"/>
                <a:ea typeface="华文中宋" panose="02010600040101010101" pitchFamily="2" charset="-122"/>
              </a:rPr>
              <a:t>（</a:t>
            </a:r>
            <a:r>
              <a:rPr lang="en-US" dirty="0" smtClean="0">
                <a:latin typeface="华文中宋" panose="02010600040101010101" pitchFamily="2" charset="-122"/>
                <a:ea typeface="华文中宋" panose="02010600040101010101" pitchFamily="2" charset="-122"/>
              </a:rPr>
              <a:t>User mode</a:t>
            </a:r>
            <a:r>
              <a:rPr lang="zh-CN" altLang="en-US" dirty="0" smtClean="0">
                <a:latin typeface="华文中宋" panose="02010600040101010101" pitchFamily="2" charset="-122"/>
                <a:ea typeface="华文中宋" panose="02010600040101010101" pitchFamily="2" charset="-122"/>
              </a:rPr>
              <a:t>）。用户程序通常运行在用户模式下，不能直接访问受保护的系统资源，不能执行特权指令，也不能改变处理器的运行模式。</a:t>
            </a:r>
            <a:endParaRPr lang="en-US" altLang="zh-CN" dirty="0" smtClean="0">
              <a:latin typeface="华文中宋" panose="02010600040101010101" pitchFamily="2" charset="-122"/>
              <a:ea typeface="华文中宋" panose="02010600040101010101" pitchFamily="2" charset="-122"/>
            </a:endParaRP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u"/>
            </a:pPr>
            <a:r>
              <a:rPr lang="zh-CN" altLang="en-US" b="1" dirty="0" smtClean="0">
                <a:latin typeface="华文中宋" panose="02010600040101010101" pitchFamily="2" charset="-122"/>
                <a:ea typeface="华文中宋" panose="02010600040101010101" pitchFamily="2" charset="-122"/>
              </a:rPr>
              <a:t>特权模式</a:t>
            </a:r>
            <a:r>
              <a:rPr lang="zh-CN" altLang="en-US" dirty="0" smtClean="0">
                <a:latin typeface="华文中宋" panose="02010600040101010101" pitchFamily="2" charset="-122"/>
                <a:ea typeface="华文中宋" panose="02010600040101010101" pitchFamily="2" charset="-122"/>
              </a:rPr>
              <a:t>（</a:t>
            </a:r>
            <a:r>
              <a:rPr lang="en-US" dirty="0" smtClean="0">
                <a:latin typeface="华文中宋" panose="02010600040101010101" pitchFamily="2" charset="-122"/>
                <a:ea typeface="华文中宋" panose="02010600040101010101" pitchFamily="2" charset="-122"/>
              </a:rPr>
              <a:t>Privileged mode</a:t>
            </a:r>
            <a:r>
              <a:rPr lang="zh-CN" altLang="en-US" dirty="0" smtClean="0">
                <a:latin typeface="华文中宋" panose="02010600040101010101" pitchFamily="2" charset="-122"/>
                <a:ea typeface="华文中宋" panose="02010600040101010101" pitchFamily="2" charset="-122"/>
              </a:rPr>
              <a:t>）。系统软件（如操作系统内核、一些具有特权的操作系统任务等）、异常处理程序等运行在特权模式下，可以访问系统的所有资源，而且能够自由的切换系统的运行模式。</a:t>
            </a:r>
            <a:endParaRPr lang="en-US" altLang="zh-CN" dirty="0" smtClean="0">
              <a:latin typeface="华文中宋" panose="02010600040101010101" pitchFamily="2" charset="-122"/>
              <a:ea typeface="华文中宋" panose="02010600040101010101" pitchFamily="2" charset="-122"/>
            </a:endParaRP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u"/>
            </a:pPr>
            <a:r>
              <a:rPr lang="en-US" dirty="0" smtClean="0">
                <a:latin typeface="华文中宋" panose="02010600040101010101" pitchFamily="2" charset="-122"/>
                <a:ea typeface="华文中宋" panose="02010600040101010101" pitchFamily="2" charset="-122"/>
              </a:rPr>
              <a:t>Intel X86</a:t>
            </a:r>
            <a:r>
              <a:rPr lang="zh-CN" altLang="en-US" dirty="0" smtClean="0">
                <a:latin typeface="华文中宋" panose="02010600040101010101" pitchFamily="2" charset="-122"/>
                <a:ea typeface="华文中宋" panose="02010600040101010101" pitchFamily="2" charset="-122"/>
              </a:rPr>
              <a:t>体系结构定义了</a:t>
            </a:r>
            <a:r>
              <a:rPr lang="en-US" altLang="zh-CN" dirty="0" smtClean="0">
                <a:latin typeface="华文中宋" panose="02010600040101010101" pitchFamily="2" charset="-122"/>
                <a:ea typeface="华文中宋" panose="02010600040101010101" pitchFamily="2" charset="-122"/>
              </a:rPr>
              <a:t>Ring0~Ring3</a:t>
            </a:r>
            <a:r>
              <a:rPr lang="zh-CN" altLang="en-US" dirty="0" smtClean="0">
                <a:latin typeface="华文中宋" panose="02010600040101010101" pitchFamily="2" charset="-122"/>
                <a:ea typeface="华文中宋" panose="02010600040101010101" pitchFamily="2" charset="-122"/>
              </a:rPr>
              <a:t>四个级别的模式，但只用到两个模式。</a:t>
            </a:r>
            <a:r>
              <a:rPr lang="en-US" altLang="zh-CN" dirty="0" smtClean="0">
                <a:latin typeface="华文中宋" panose="02010600040101010101" pitchFamily="2" charset="-122"/>
                <a:ea typeface="华文中宋" panose="02010600040101010101" pitchFamily="2" charset="-122"/>
              </a:rPr>
              <a:t>Ring0</a:t>
            </a:r>
            <a:r>
              <a:rPr lang="zh-CN" altLang="en-US" dirty="0" smtClean="0">
                <a:latin typeface="华文中宋" panose="02010600040101010101" pitchFamily="2" charset="-122"/>
                <a:ea typeface="华文中宋" panose="02010600040101010101" pitchFamily="2" charset="-122"/>
              </a:rPr>
              <a:t>是特权模式，</a:t>
            </a:r>
            <a:r>
              <a:rPr lang="en-US" altLang="zh-CN" dirty="0" smtClean="0">
                <a:latin typeface="华文中宋" panose="02010600040101010101" pitchFamily="2" charset="-122"/>
                <a:ea typeface="华文中宋" panose="02010600040101010101" pitchFamily="2" charset="-122"/>
              </a:rPr>
              <a:t>Ring3</a:t>
            </a:r>
            <a:r>
              <a:rPr lang="zh-CN" altLang="en-US" dirty="0" smtClean="0">
                <a:latin typeface="华文中宋" panose="02010600040101010101" pitchFamily="2" charset="-122"/>
                <a:ea typeface="华文中宋" panose="02010600040101010101" pitchFamily="2" charset="-122"/>
              </a:rPr>
              <a:t>是用户模式。</a:t>
            </a:r>
            <a:r>
              <a:rPr lang="en-US" altLang="zh-CN" dirty="0" smtClean="0">
                <a:latin typeface="华文中宋" panose="02010600040101010101" pitchFamily="2" charset="-122"/>
                <a:ea typeface="华文中宋" panose="02010600040101010101" pitchFamily="2" charset="-122"/>
              </a:rPr>
              <a:t>Arm</a:t>
            </a:r>
            <a:r>
              <a:rPr lang="zh-CN" altLang="en-US" dirty="0" smtClean="0">
                <a:latin typeface="华文中宋" panose="02010600040101010101" pitchFamily="2" charset="-122"/>
                <a:ea typeface="华文中宋" panose="02010600040101010101" pitchFamily="2" charset="-122"/>
              </a:rPr>
              <a:t>定义了</a:t>
            </a:r>
            <a:r>
              <a:rPr lang="en-US" altLang="zh-CN" dirty="0" smtClean="0">
                <a:latin typeface="华文中宋" panose="02010600040101010101" pitchFamily="2" charset="-122"/>
                <a:ea typeface="华文中宋" panose="02010600040101010101" pitchFamily="2" charset="-122"/>
              </a:rPr>
              <a:t>6</a:t>
            </a:r>
            <a:r>
              <a:rPr lang="zh-CN" altLang="en-US" dirty="0" smtClean="0">
                <a:latin typeface="华文中宋" panose="02010600040101010101" pitchFamily="2" charset="-122"/>
                <a:ea typeface="华文中宋" panose="02010600040101010101" pitchFamily="2" charset="-122"/>
              </a:rPr>
              <a:t>个模式。</a:t>
            </a:r>
            <a:endParaRPr lang="zh-CN" altLang="en-US" dirty="0">
              <a:latin typeface="华文中宋" panose="02010600040101010101" pitchFamily="2" charset="-122"/>
              <a:ea typeface="华文中宋" panose="02010600040101010101" pitchFamily="2" charset="-122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1571604" y="5572140"/>
            <a:ext cx="634019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3200" dirty="0" smtClean="0">
                <a:solidFill>
                  <a:srgbClr val="FF0000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处理器为什么要区分运行模式呢？</a:t>
            </a:r>
            <a:endParaRPr lang="zh-CN" altLang="en-US" sz="3200" dirty="0">
              <a:solidFill>
                <a:srgbClr val="FF0000"/>
              </a:solidFill>
              <a:latin typeface="华文中宋" panose="02010600040101010101" pitchFamily="2" charset="-122"/>
              <a:ea typeface="华文中宋" panose="02010600040101010101" pitchFamily="2" charset="-122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151554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graphicFrame>
        <p:nvGraphicFramePr>
          <p:cNvPr id="151553" name="Object 1"/>
          <p:cNvGraphicFramePr/>
          <p:nvPr/>
        </p:nvGraphicFramePr>
        <p:xfrm>
          <a:off x="142844" y="0"/>
          <a:ext cx="8643966" cy="671514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169" name="Visio" r:id="rId1" imgW="5854700" imgH="4102100" progId="Visio.Drawing.11">
                  <p:embed/>
                </p:oleObj>
              </mc:Choice>
              <mc:Fallback>
                <p:oleObj name="Visio" r:id="rId1" imgW="5854700" imgH="4102100" progId="Visio.Drawing.11">
                  <p:embed/>
                  <p:pic>
                    <p:nvPicPr>
                      <p:cNvPr id="0" name="图片 7168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142844" y="0"/>
                        <a:ext cx="8643966" cy="6715148"/>
                      </a:xfrm>
                      <a:prstGeom prst="rect">
                        <a:avLst/>
                      </a:prstGeom>
                      <a:solidFill>
                        <a:srgbClr val="FFFFFF"/>
                      </a:solidFill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 smtClean="0"/>
              <a:t>作业</a:t>
            </a:r>
            <a:endParaRPr lang="en-US" altLang="zh-CN" dirty="0" smtClean="0"/>
          </a:p>
          <a:p>
            <a:pPr>
              <a:buNone/>
            </a:pPr>
            <a:endParaRPr lang="en-US" altLang="zh-CN" dirty="0" smtClean="0"/>
          </a:p>
          <a:p>
            <a:pPr>
              <a:buNone/>
            </a:pPr>
            <a:r>
              <a:rPr lang="en-US" altLang="zh-CN" dirty="0" smtClean="0"/>
              <a:t>P48   3</a:t>
            </a:r>
            <a:r>
              <a:rPr lang="zh-CN" altLang="en-US" dirty="0" smtClean="0"/>
              <a:t>、</a:t>
            </a:r>
            <a:r>
              <a:rPr lang="en-US" altLang="zh-CN" dirty="0" smtClean="0"/>
              <a:t>5</a:t>
            </a:r>
            <a:r>
              <a:rPr lang="zh-CN" altLang="en-US" dirty="0" smtClean="0"/>
              <a:t>、</a:t>
            </a:r>
            <a:r>
              <a:rPr lang="en-US" altLang="zh-CN" dirty="0" smtClean="0"/>
              <a:t>8</a:t>
            </a:r>
            <a:endParaRPr lang="zh-CN" altLang="en-US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1571604" y="571480"/>
            <a:ext cx="274947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 dirty="0" smtClean="0">
                <a:solidFill>
                  <a:schemeClr val="bg1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第一章、第二章练习题</a:t>
            </a:r>
            <a:endParaRPr lang="zh-CN" altLang="en-US" sz="2000" dirty="0">
              <a:solidFill>
                <a:schemeClr val="bg1"/>
              </a:solidFill>
              <a:latin typeface="华文中宋" panose="02010600040101010101" pitchFamily="2" charset="-122"/>
              <a:ea typeface="华文中宋" panose="02010600040101010101" pitchFamily="2" charset="-122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0" y="176026"/>
            <a:ext cx="9144000" cy="590931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dirty="0" smtClean="0">
                <a:latin typeface="华文中宋" panose="02010600040101010101" pitchFamily="2" charset="-122"/>
                <a:ea typeface="华文中宋" panose="02010600040101010101" pitchFamily="2" charset="-122"/>
              </a:rPr>
              <a:t>1</a:t>
            </a:r>
            <a:r>
              <a:rPr lang="zh-CN" altLang="en-US" dirty="0" smtClean="0">
                <a:latin typeface="华文中宋" panose="02010600040101010101" pitchFamily="2" charset="-122"/>
                <a:ea typeface="华文中宋" panose="02010600040101010101" pitchFamily="2" charset="-122"/>
              </a:rPr>
              <a:t>、一个程序</a:t>
            </a:r>
            <a:r>
              <a:rPr lang="en-US" altLang="zh-CN" dirty="0" smtClean="0">
                <a:latin typeface="华文中宋" panose="02010600040101010101" pitchFamily="2" charset="-122"/>
                <a:ea typeface="华文中宋" panose="02010600040101010101" pitchFamily="2" charset="-122"/>
              </a:rPr>
              <a:t>P</a:t>
            </a:r>
            <a:r>
              <a:rPr lang="zh-CN" altLang="en-US" dirty="0" smtClean="0">
                <a:latin typeface="华文中宋" panose="02010600040101010101" pitchFamily="2" charset="-122"/>
                <a:ea typeface="华文中宋" panose="02010600040101010101" pitchFamily="2" charset="-122"/>
              </a:rPr>
              <a:t>在操作系统</a:t>
            </a:r>
            <a:r>
              <a:rPr lang="en-US" altLang="zh-CN" dirty="0" smtClean="0">
                <a:latin typeface="华文中宋" panose="02010600040101010101" pitchFamily="2" charset="-122"/>
                <a:ea typeface="华文中宋" panose="02010600040101010101" pitchFamily="2" charset="-122"/>
              </a:rPr>
              <a:t>OS</a:t>
            </a:r>
            <a:r>
              <a:rPr lang="zh-CN" altLang="en-US" dirty="0" smtClean="0">
                <a:latin typeface="华文中宋" panose="02010600040101010101" pitchFamily="2" charset="-122"/>
                <a:ea typeface="华文中宋" panose="02010600040101010101" pitchFamily="2" charset="-122"/>
              </a:rPr>
              <a:t>上运行，</a:t>
            </a:r>
            <a:r>
              <a:rPr lang="en-US" altLang="zh-CN" dirty="0" smtClean="0">
                <a:latin typeface="华文中宋" panose="02010600040101010101" pitchFamily="2" charset="-122"/>
                <a:ea typeface="华文中宋" panose="02010600040101010101" pitchFamily="2" charset="-122"/>
              </a:rPr>
              <a:t>OS</a:t>
            </a:r>
            <a:r>
              <a:rPr lang="zh-CN" altLang="en-US" dirty="0" smtClean="0">
                <a:latin typeface="华文中宋" panose="02010600040101010101" pitchFamily="2" charset="-122"/>
                <a:ea typeface="华文中宋" panose="02010600040101010101" pitchFamily="2" charset="-122"/>
              </a:rPr>
              <a:t>是否需要读取</a:t>
            </a:r>
            <a:r>
              <a:rPr lang="en-US" altLang="zh-CN" dirty="0" smtClean="0">
                <a:latin typeface="华文中宋" panose="02010600040101010101" pitchFamily="2" charset="-122"/>
                <a:ea typeface="华文中宋" panose="02010600040101010101" pitchFamily="2" charset="-122"/>
              </a:rPr>
              <a:t>P</a:t>
            </a:r>
            <a:r>
              <a:rPr lang="zh-CN" altLang="en-US" dirty="0" smtClean="0">
                <a:latin typeface="华文中宋" panose="02010600040101010101" pitchFamily="2" charset="-122"/>
                <a:ea typeface="华文中宋" panose="02010600040101010101" pitchFamily="2" charset="-122"/>
              </a:rPr>
              <a:t>的代码，然后替</a:t>
            </a:r>
            <a:r>
              <a:rPr lang="en-US" altLang="zh-CN" dirty="0" smtClean="0">
                <a:latin typeface="华文中宋" panose="02010600040101010101" pitchFamily="2" charset="-122"/>
                <a:ea typeface="华文中宋" panose="02010600040101010101" pitchFamily="2" charset="-122"/>
              </a:rPr>
              <a:t>P</a:t>
            </a:r>
            <a:r>
              <a:rPr lang="zh-CN" altLang="en-US" dirty="0" smtClean="0">
                <a:latin typeface="华文中宋" panose="02010600040101010101" pitchFamily="2" charset="-122"/>
                <a:ea typeface="华文中宋" panose="02010600040101010101" pitchFamily="2" charset="-122"/>
              </a:rPr>
              <a:t>去执行？</a:t>
            </a:r>
            <a:endParaRPr lang="en-US" altLang="zh-CN" dirty="0" smtClean="0">
              <a:latin typeface="华文中宋" panose="02010600040101010101" pitchFamily="2" charset="-122"/>
              <a:ea typeface="华文中宋" panose="02010600040101010101" pitchFamily="2" charset="-122"/>
            </a:endParaRPr>
          </a:p>
          <a:p>
            <a:pPr>
              <a:lnSpc>
                <a:spcPct val="150000"/>
              </a:lnSpc>
            </a:pPr>
            <a:r>
              <a:rPr lang="en-US" altLang="zh-CN" dirty="0" smtClean="0">
                <a:latin typeface="华文中宋" panose="02010600040101010101" pitchFamily="2" charset="-122"/>
                <a:ea typeface="华文中宋" panose="02010600040101010101" pitchFamily="2" charset="-122"/>
              </a:rPr>
              <a:t>2</a:t>
            </a:r>
            <a:r>
              <a:rPr lang="zh-CN" altLang="en-US" dirty="0" smtClean="0">
                <a:latin typeface="华文中宋" panose="02010600040101010101" pitchFamily="2" charset="-122"/>
                <a:ea typeface="华文中宋" panose="02010600040101010101" pitchFamily="2" charset="-122"/>
              </a:rPr>
              <a:t>、多道程序批处理系统和分时系统都使用了</a:t>
            </a:r>
            <a:r>
              <a:rPr lang="en-US" altLang="zh-CN" dirty="0" smtClean="0">
                <a:latin typeface="华文中宋" panose="02010600040101010101" pitchFamily="2" charset="-122"/>
                <a:ea typeface="华文中宋" panose="02010600040101010101" pitchFamily="2" charset="-122"/>
              </a:rPr>
              <a:t>_________</a:t>
            </a:r>
            <a:r>
              <a:rPr lang="zh-CN" altLang="en-US" dirty="0" smtClean="0">
                <a:latin typeface="华文中宋" panose="02010600040101010101" pitchFamily="2" charset="-122"/>
                <a:ea typeface="华文中宋" panose="02010600040101010101" pitchFamily="2" charset="-122"/>
              </a:rPr>
              <a:t>基本原理，造成多道程序</a:t>
            </a:r>
            <a:endParaRPr lang="en-US" altLang="zh-CN" dirty="0" smtClean="0">
              <a:latin typeface="华文中宋" panose="02010600040101010101" pitchFamily="2" charset="-122"/>
              <a:ea typeface="华文中宋" panose="02010600040101010101" pitchFamily="2" charset="-122"/>
            </a:endParaRPr>
          </a:p>
          <a:p>
            <a:pPr>
              <a:lnSpc>
                <a:spcPct val="150000"/>
              </a:lnSpc>
            </a:pPr>
            <a:r>
              <a:rPr lang="en-US" altLang="zh-CN" dirty="0" smtClean="0">
                <a:latin typeface="华文中宋" panose="02010600040101010101" pitchFamily="2" charset="-122"/>
                <a:ea typeface="华文中宋" panose="02010600040101010101" pitchFamily="2" charset="-122"/>
              </a:rPr>
              <a:t> </a:t>
            </a:r>
            <a:r>
              <a:rPr lang="en-US" altLang="zh-CN" dirty="0" smtClean="0">
                <a:latin typeface="华文中宋" panose="02010600040101010101" pitchFamily="2" charset="-122"/>
                <a:ea typeface="华文中宋" panose="02010600040101010101" pitchFamily="2" charset="-122"/>
              </a:rPr>
              <a:t>      </a:t>
            </a:r>
            <a:r>
              <a:rPr lang="zh-CN" altLang="en-US" dirty="0" smtClean="0">
                <a:latin typeface="华文中宋" panose="02010600040101010101" pitchFamily="2" charset="-122"/>
                <a:ea typeface="华文中宋" panose="02010600040101010101" pitchFamily="2" charset="-122"/>
              </a:rPr>
              <a:t>或多个用户同时使用计算机的假象。</a:t>
            </a:r>
            <a:endParaRPr lang="en-US" altLang="zh-CN" dirty="0" smtClean="0">
              <a:latin typeface="华文中宋" panose="02010600040101010101" pitchFamily="2" charset="-122"/>
              <a:ea typeface="华文中宋" panose="02010600040101010101" pitchFamily="2" charset="-122"/>
            </a:endParaRPr>
          </a:p>
          <a:p>
            <a:pPr>
              <a:lnSpc>
                <a:spcPct val="150000"/>
              </a:lnSpc>
            </a:pPr>
            <a:r>
              <a:rPr lang="en-US" altLang="zh-CN" dirty="0" smtClean="0">
                <a:latin typeface="华文中宋" panose="02010600040101010101" pitchFamily="2" charset="-122"/>
                <a:ea typeface="华文中宋" panose="02010600040101010101" pitchFamily="2" charset="-122"/>
              </a:rPr>
              <a:t>3</a:t>
            </a:r>
            <a:r>
              <a:rPr lang="zh-CN" altLang="en-US" dirty="0" smtClean="0">
                <a:latin typeface="华文中宋" panose="02010600040101010101" pitchFamily="2" charset="-122"/>
                <a:ea typeface="华文中宋" panose="02010600040101010101" pitchFamily="2" charset="-122"/>
              </a:rPr>
              <a:t>、在微内核结构中，应用程序和系统服务程序使用</a:t>
            </a:r>
            <a:r>
              <a:rPr lang="en-US" altLang="zh-CN" dirty="0" smtClean="0">
                <a:latin typeface="华文中宋" panose="02010600040101010101" pitchFamily="2" charset="-122"/>
                <a:ea typeface="华文中宋" panose="02010600040101010101" pitchFamily="2" charset="-122"/>
              </a:rPr>
              <a:t>________</a:t>
            </a:r>
            <a:r>
              <a:rPr lang="zh-CN" altLang="en-US" dirty="0" smtClean="0">
                <a:latin typeface="华文中宋" panose="02010600040101010101" pitchFamily="2" charset="-122"/>
                <a:ea typeface="华文中宋" panose="02010600040101010101" pitchFamily="2" charset="-122"/>
              </a:rPr>
              <a:t>机制进行交互，优点是降低 </a:t>
            </a:r>
            <a:endParaRPr lang="en-US" altLang="zh-CN" dirty="0" smtClean="0">
              <a:latin typeface="华文中宋" panose="02010600040101010101" pitchFamily="2" charset="-122"/>
              <a:ea typeface="华文中宋" panose="02010600040101010101" pitchFamily="2" charset="-122"/>
            </a:endParaRPr>
          </a:p>
          <a:p>
            <a:pPr>
              <a:lnSpc>
                <a:spcPct val="150000"/>
              </a:lnSpc>
            </a:pPr>
            <a:r>
              <a:rPr lang="en-US" altLang="zh-CN" dirty="0" smtClean="0">
                <a:latin typeface="华文中宋" panose="02010600040101010101" pitchFamily="2" charset="-122"/>
                <a:ea typeface="华文中宋" panose="02010600040101010101" pitchFamily="2" charset="-122"/>
              </a:rPr>
              <a:t> </a:t>
            </a:r>
            <a:r>
              <a:rPr lang="en-US" altLang="zh-CN" dirty="0" smtClean="0">
                <a:latin typeface="华文中宋" panose="02010600040101010101" pitchFamily="2" charset="-122"/>
                <a:ea typeface="华文中宋" panose="02010600040101010101" pitchFamily="2" charset="-122"/>
              </a:rPr>
              <a:t>    </a:t>
            </a:r>
            <a:r>
              <a:rPr lang="zh-CN" altLang="en-US" dirty="0" smtClean="0">
                <a:latin typeface="华文中宋" panose="02010600040101010101" pitchFamily="2" charset="-122"/>
                <a:ea typeface="华文中宋" panose="02010600040101010101" pitchFamily="2" charset="-122"/>
              </a:rPr>
              <a:t>了应用程序与系统服务之间的</a:t>
            </a:r>
            <a:r>
              <a:rPr lang="en-US" altLang="zh-CN" dirty="0" smtClean="0">
                <a:latin typeface="华文中宋" panose="02010600040101010101" pitchFamily="2" charset="-122"/>
                <a:ea typeface="华文中宋" panose="02010600040101010101" pitchFamily="2" charset="-122"/>
              </a:rPr>
              <a:t>_______</a:t>
            </a:r>
            <a:r>
              <a:rPr lang="zh-CN" altLang="en-US" dirty="0" smtClean="0">
                <a:latin typeface="华文中宋" panose="02010600040101010101" pitchFamily="2" charset="-122"/>
                <a:ea typeface="华文中宋" panose="02010600040101010101" pitchFamily="2" charset="-122"/>
              </a:rPr>
              <a:t>，缺点是</a:t>
            </a:r>
            <a:r>
              <a:rPr lang="en-US" altLang="zh-CN" dirty="0" smtClean="0">
                <a:latin typeface="华文中宋" panose="02010600040101010101" pitchFamily="2" charset="-122"/>
                <a:ea typeface="华文中宋" panose="02010600040101010101" pitchFamily="2" charset="-122"/>
              </a:rPr>
              <a:t>________</a:t>
            </a:r>
            <a:r>
              <a:rPr lang="zh-CN" altLang="en-US" dirty="0" smtClean="0">
                <a:latin typeface="华文中宋" panose="02010600040101010101" pitchFamily="2" charset="-122"/>
                <a:ea typeface="华文中宋" panose="02010600040101010101" pitchFamily="2" charset="-122"/>
              </a:rPr>
              <a:t>下降</a:t>
            </a:r>
            <a:r>
              <a:rPr lang="zh-CN" altLang="en-US" dirty="0" smtClean="0">
                <a:latin typeface="华文中宋" panose="02010600040101010101" pitchFamily="2" charset="-122"/>
                <a:ea typeface="华文中宋" panose="02010600040101010101" pitchFamily="2" charset="-122"/>
              </a:rPr>
              <a:t>了</a:t>
            </a:r>
            <a:r>
              <a:rPr lang="zh-CN" altLang="en-US" dirty="0" smtClean="0">
                <a:latin typeface="华文中宋" panose="02010600040101010101" pitchFamily="2" charset="-122"/>
                <a:ea typeface="华文中宋" panose="02010600040101010101" pitchFamily="2" charset="-122"/>
              </a:rPr>
              <a:t>。</a:t>
            </a:r>
            <a:endParaRPr lang="en-US" altLang="zh-CN" dirty="0" smtClean="0">
              <a:latin typeface="华文中宋" panose="02010600040101010101" pitchFamily="2" charset="-122"/>
              <a:ea typeface="华文中宋" panose="02010600040101010101" pitchFamily="2" charset="-122"/>
            </a:endParaRPr>
          </a:p>
          <a:p>
            <a:pPr>
              <a:lnSpc>
                <a:spcPct val="150000"/>
              </a:lnSpc>
            </a:pPr>
            <a:r>
              <a:rPr lang="en-US" altLang="zh-CN" dirty="0" smtClean="0">
                <a:latin typeface="华文中宋" panose="02010600040101010101" pitchFamily="2" charset="-122"/>
                <a:ea typeface="华文中宋" panose="02010600040101010101" pitchFamily="2" charset="-122"/>
              </a:rPr>
              <a:t>4</a:t>
            </a:r>
            <a:r>
              <a:rPr lang="zh-CN" altLang="en-US" dirty="0" smtClean="0">
                <a:latin typeface="华文中宋" panose="02010600040101010101" pitchFamily="2" charset="-122"/>
                <a:ea typeface="华文中宋" panose="02010600040101010101" pitchFamily="2" charset="-122"/>
              </a:rPr>
              <a:t>、虚拟机可以直接对</a:t>
            </a:r>
            <a:r>
              <a:rPr lang="en-US" altLang="zh-CN" dirty="0" smtClean="0">
                <a:latin typeface="华文中宋" panose="02010600040101010101" pitchFamily="2" charset="-122"/>
                <a:ea typeface="华文中宋" panose="02010600040101010101" pitchFamily="2" charset="-122"/>
              </a:rPr>
              <a:t>______</a:t>
            </a:r>
            <a:r>
              <a:rPr lang="zh-CN" altLang="en-US" dirty="0" smtClean="0">
                <a:latin typeface="华文中宋" panose="02010600040101010101" pitchFamily="2" charset="-122"/>
                <a:ea typeface="华文中宋" panose="02010600040101010101" pitchFamily="2" charset="-122"/>
              </a:rPr>
              <a:t>层进行虚拟化，也可以对</a:t>
            </a:r>
            <a:r>
              <a:rPr lang="en-US" altLang="zh-CN" dirty="0" smtClean="0">
                <a:latin typeface="华文中宋" panose="02010600040101010101" pitchFamily="2" charset="-122"/>
                <a:ea typeface="华文中宋" panose="02010600040101010101" pitchFamily="2" charset="-122"/>
              </a:rPr>
              <a:t>______</a:t>
            </a:r>
            <a:r>
              <a:rPr lang="zh-CN" altLang="en-US" dirty="0" smtClean="0">
                <a:latin typeface="华文中宋" panose="02010600040101010101" pitchFamily="2" charset="-122"/>
                <a:ea typeface="华文中宋" panose="02010600040101010101" pitchFamily="2" charset="-122"/>
              </a:rPr>
              <a:t>层进行虚拟化。</a:t>
            </a:r>
            <a:endParaRPr lang="en-US" altLang="zh-CN" dirty="0" smtClean="0">
              <a:latin typeface="华文中宋" panose="02010600040101010101" pitchFamily="2" charset="-122"/>
              <a:ea typeface="华文中宋" panose="02010600040101010101" pitchFamily="2" charset="-122"/>
            </a:endParaRPr>
          </a:p>
          <a:p>
            <a:pPr>
              <a:lnSpc>
                <a:spcPct val="150000"/>
              </a:lnSpc>
            </a:pPr>
            <a:r>
              <a:rPr lang="en-US" altLang="zh-CN" dirty="0" smtClean="0">
                <a:latin typeface="华文中宋" panose="02010600040101010101" pitchFamily="2" charset="-122"/>
                <a:ea typeface="华文中宋" panose="02010600040101010101" pitchFamily="2" charset="-122"/>
              </a:rPr>
              <a:t> </a:t>
            </a:r>
            <a:r>
              <a:rPr lang="en-US" altLang="zh-CN" dirty="0" smtClean="0">
                <a:latin typeface="华文中宋" panose="02010600040101010101" pitchFamily="2" charset="-122"/>
                <a:ea typeface="华文中宋" panose="02010600040101010101" pitchFamily="2" charset="-122"/>
              </a:rPr>
              <a:t>    JVM</a:t>
            </a:r>
            <a:r>
              <a:rPr lang="zh-CN" altLang="en-US" dirty="0" smtClean="0">
                <a:latin typeface="华文中宋" panose="02010600040101010101" pitchFamily="2" charset="-122"/>
                <a:ea typeface="华文中宋" panose="02010600040101010101" pitchFamily="2" charset="-122"/>
              </a:rPr>
              <a:t>（</a:t>
            </a:r>
            <a:r>
              <a:rPr lang="en-US" altLang="zh-CN" dirty="0" smtClean="0">
                <a:latin typeface="华文中宋" panose="02010600040101010101" pitchFamily="2" charset="-122"/>
                <a:ea typeface="华文中宋" panose="02010600040101010101" pitchFamily="2" charset="-122"/>
              </a:rPr>
              <a:t>Java VM</a:t>
            </a:r>
            <a:r>
              <a:rPr lang="zh-CN" altLang="en-US" dirty="0" smtClean="0">
                <a:latin typeface="华文中宋" panose="02010600040101010101" pitchFamily="2" charset="-122"/>
                <a:ea typeface="华文中宋" panose="02010600040101010101" pitchFamily="2" charset="-122"/>
              </a:rPr>
              <a:t>）属于</a:t>
            </a:r>
            <a:r>
              <a:rPr lang="en-US" altLang="zh-CN" dirty="0" smtClean="0">
                <a:latin typeface="华文中宋" panose="02010600040101010101" pitchFamily="2" charset="-122"/>
                <a:ea typeface="华文中宋" panose="02010600040101010101" pitchFamily="2" charset="-122"/>
              </a:rPr>
              <a:t>________</a:t>
            </a:r>
            <a:r>
              <a:rPr lang="zh-CN" altLang="en-US" dirty="0" smtClean="0">
                <a:latin typeface="华文中宋" panose="02010600040101010101" pitchFamily="2" charset="-122"/>
                <a:ea typeface="华文中宋" panose="02010600040101010101" pitchFamily="2" charset="-122"/>
              </a:rPr>
              <a:t>类型的虚拟机。</a:t>
            </a:r>
            <a:endParaRPr lang="en-US" altLang="zh-CN" dirty="0" smtClean="0">
              <a:latin typeface="华文中宋" panose="02010600040101010101" pitchFamily="2" charset="-122"/>
              <a:ea typeface="华文中宋" panose="02010600040101010101" pitchFamily="2" charset="-122"/>
            </a:endParaRPr>
          </a:p>
          <a:p>
            <a:pPr>
              <a:lnSpc>
                <a:spcPct val="150000"/>
              </a:lnSpc>
            </a:pPr>
            <a:r>
              <a:rPr lang="en-US" altLang="zh-CN" dirty="0" smtClean="0">
                <a:latin typeface="华文中宋" panose="02010600040101010101" pitchFamily="2" charset="-122"/>
                <a:ea typeface="华文中宋" panose="02010600040101010101" pitchFamily="2" charset="-122"/>
              </a:rPr>
              <a:t>5</a:t>
            </a:r>
            <a:r>
              <a:rPr lang="zh-CN" altLang="en-US" dirty="0" smtClean="0">
                <a:latin typeface="华文中宋" panose="02010600040101010101" pitchFamily="2" charset="-122"/>
                <a:ea typeface="华文中宋" panose="02010600040101010101" pitchFamily="2" charset="-122"/>
              </a:rPr>
              <a:t>、内存地址</a:t>
            </a:r>
            <a:r>
              <a:rPr lang="en-US" altLang="zh-CN" dirty="0" smtClean="0">
                <a:latin typeface="华文中宋" panose="02010600040101010101" pitchFamily="2" charset="-122"/>
                <a:ea typeface="华文中宋" panose="02010600040101010101" pitchFamily="2" charset="-122"/>
              </a:rPr>
              <a:t>0x100</a:t>
            </a:r>
            <a:r>
              <a:rPr lang="zh-CN" altLang="en-US" dirty="0" smtClean="0">
                <a:latin typeface="华文中宋" panose="02010600040101010101" pitchFamily="2" charset="-122"/>
                <a:ea typeface="华文中宋" panose="02010600040101010101" pitchFamily="2" charset="-122"/>
              </a:rPr>
              <a:t>存放了一个</a:t>
            </a:r>
            <a:r>
              <a:rPr lang="en-US" altLang="zh-CN" dirty="0" smtClean="0">
                <a:latin typeface="华文中宋" panose="02010600040101010101" pitchFamily="2" charset="-122"/>
                <a:ea typeface="华文中宋" panose="02010600040101010101" pitchFamily="2" charset="-122"/>
              </a:rPr>
              <a:t>4</a:t>
            </a:r>
            <a:r>
              <a:rPr lang="zh-CN" altLang="en-US" dirty="0" smtClean="0">
                <a:latin typeface="华文中宋" panose="02010600040101010101" pitchFamily="2" charset="-122"/>
                <a:ea typeface="华文中宋" panose="02010600040101010101" pitchFamily="2" charset="-122"/>
              </a:rPr>
              <a:t>字节十六进制整数，即</a:t>
            </a:r>
            <a:r>
              <a:rPr lang="en-US" altLang="zh-CN" dirty="0" smtClean="0">
                <a:latin typeface="华文中宋" panose="02010600040101010101" pitchFamily="2" charset="-122"/>
                <a:ea typeface="华文中宋" panose="02010600040101010101" pitchFamily="2" charset="-122"/>
              </a:rPr>
              <a:t>0x100: 01030507</a:t>
            </a:r>
            <a:r>
              <a:rPr lang="zh-CN" altLang="en-US" dirty="0" smtClean="0">
                <a:latin typeface="华文中宋" panose="02010600040101010101" pitchFamily="2" charset="-122"/>
                <a:ea typeface="华文中宋" panose="02010600040101010101" pitchFamily="2" charset="-122"/>
              </a:rPr>
              <a:t>。已知整数是</a:t>
            </a:r>
            <a:endParaRPr lang="en-US" altLang="zh-CN" dirty="0" smtClean="0">
              <a:latin typeface="华文中宋" panose="02010600040101010101" pitchFamily="2" charset="-122"/>
              <a:ea typeface="华文中宋" panose="02010600040101010101" pitchFamily="2" charset="-122"/>
            </a:endParaRPr>
          </a:p>
          <a:p>
            <a:pPr>
              <a:lnSpc>
                <a:spcPct val="150000"/>
              </a:lnSpc>
            </a:pPr>
            <a:r>
              <a:rPr lang="en-US" altLang="zh-CN" dirty="0" smtClean="0">
                <a:latin typeface="华文中宋" panose="02010600040101010101" pitchFamily="2" charset="-122"/>
                <a:ea typeface="华文中宋" panose="02010600040101010101" pitchFamily="2" charset="-122"/>
              </a:rPr>
              <a:t> </a:t>
            </a:r>
            <a:r>
              <a:rPr lang="en-US" altLang="zh-CN" dirty="0" smtClean="0">
                <a:latin typeface="华文中宋" panose="02010600040101010101" pitchFamily="2" charset="-122"/>
                <a:ea typeface="华文中宋" panose="02010600040101010101" pitchFamily="2" charset="-122"/>
              </a:rPr>
              <a:t>    </a:t>
            </a:r>
            <a:r>
              <a:rPr lang="zh-CN" altLang="en-US" dirty="0" smtClean="0">
                <a:latin typeface="华文中宋" panose="02010600040101010101" pitchFamily="2" charset="-122"/>
                <a:ea typeface="华文中宋" panose="02010600040101010101" pitchFamily="2" charset="-122"/>
              </a:rPr>
              <a:t>按小端方式存储的，请将这个十六进制整数转化为十进制整数。如果这</a:t>
            </a:r>
            <a:r>
              <a:rPr lang="en-US" altLang="zh-CN" dirty="0" smtClean="0">
                <a:latin typeface="华文中宋" panose="02010600040101010101" pitchFamily="2" charset="-122"/>
                <a:ea typeface="华文中宋" panose="02010600040101010101" pitchFamily="2" charset="-122"/>
              </a:rPr>
              <a:t>4</a:t>
            </a:r>
            <a:r>
              <a:rPr lang="zh-CN" altLang="en-US" dirty="0" smtClean="0">
                <a:latin typeface="华文中宋" panose="02010600040101010101" pitchFamily="2" charset="-122"/>
                <a:ea typeface="华文中宋" panose="02010600040101010101" pitchFamily="2" charset="-122"/>
              </a:rPr>
              <a:t>个字节表示</a:t>
            </a:r>
            <a:endParaRPr lang="en-US" altLang="zh-CN" dirty="0" smtClean="0">
              <a:latin typeface="华文中宋" panose="02010600040101010101" pitchFamily="2" charset="-122"/>
              <a:ea typeface="华文中宋" panose="02010600040101010101" pitchFamily="2" charset="-122"/>
            </a:endParaRPr>
          </a:p>
          <a:p>
            <a:pPr>
              <a:lnSpc>
                <a:spcPct val="150000"/>
              </a:lnSpc>
            </a:pPr>
            <a:r>
              <a:rPr lang="en-US" altLang="zh-CN" dirty="0" smtClean="0">
                <a:latin typeface="华文中宋" panose="02010600040101010101" pitchFamily="2" charset="-122"/>
                <a:ea typeface="华文中宋" panose="02010600040101010101" pitchFamily="2" charset="-122"/>
              </a:rPr>
              <a:t> </a:t>
            </a:r>
            <a:r>
              <a:rPr lang="en-US" altLang="zh-CN" dirty="0" smtClean="0">
                <a:latin typeface="华文中宋" panose="02010600040101010101" pitchFamily="2" charset="-122"/>
                <a:ea typeface="华文中宋" panose="02010600040101010101" pitchFamily="2" charset="-122"/>
              </a:rPr>
              <a:t>    </a:t>
            </a:r>
            <a:r>
              <a:rPr lang="zh-CN" altLang="en-US" dirty="0" smtClean="0">
                <a:latin typeface="华文中宋" panose="02010600040101010101" pitchFamily="2" charset="-122"/>
                <a:ea typeface="华文中宋" panose="02010600040101010101" pitchFamily="2" charset="-122"/>
              </a:rPr>
              <a:t>一条</a:t>
            </a:r>
            <a:r>
              <a:rPr lang="en-US" altLang="zh-CN" dirty="0" smtClean="0">
                <a:latin typeface="华文中宋" panose="02010600040101010101" pitchFamily="2" charset="-122"/>
                <a:ea typeface="华文中宋" panose="02010600040101010101" pitchFamily="2" charset="-122"/>
              </a:rPr>
              <a:t>4</a:t>
            </a:r>
            <a:r>
              <a:rPr lang="zh-CN" altLang="en-US" dirty="0" smtClean="0">
                <a:latin typeface="华文中宋" panose="02010600040101010101" pitchFamily="2" charset="-122"/>
                <a:ea typeface="华文中宋" panose="02010600040101010101" pitchFamily="2" charset="-122"/>
              </a:rPr>
              <a:t>字节指令，请写出这条指令的二进制编码。</a:t>
            </a:r>
            <a:endParaRPr lang="en-US" altLang="zh-CN" dirty="0" smtClean="0">
              <a:latin typeface="华文中宋" panose="02010600040101010101" pitchFamily="2" charset="-122"/>
              <a:ea typeface="华文中宋" panose="02010600040101010101" pitchFamily="2" charset="-122"/>
            </a:endParaRPr>
          </a:p>
          <a:p>
            <a:pPr>
              <a:lnSpc>
                <a:spcPct val="150000"/>
              </a:lnSpc>
            </a:pPr>
            <a:r>
              <a:rPr lang="en-US" altLang="zh-CN" dirty="0" smtClean="0">
                <a:latin typeface="华文中宋" panose="02010600040101010101" pitchFamily="2" charset="-122"/>
                <a:ea typeface="华文中宋" panose="02010600040101010101" pitchFamily="2" charset="-122"/>
              </a:rPr>
              <a:t>6</a:t>
            </a:r>
            <a:r>
              <a:rPr lang="zh-CN" altLang="en-US" dirty="0" smtClean="0">
                <a:latin typeface="华文中宋" panose="02010600040101010101" pitchFamily="2" charset="-122"/>
                <a:ea typeface="华文中宋" panose="02010600040101010101" pitchFamily="2" charset="-122"/>
              </a:rPr>
              <a:t>、当应用程序正在执行时，发生了一个异常，那么控制流要从这个应用程序转移到</a:t>
            </a:r>
            <a:endParaRPr lang="en-US" altLang="zh-CN" dirty="0" smtClean="0">
              <a:latin typeface="华文中宋" panose="02010600040101010101" pitchFamily="2" charset="-122"/>
              <a:ea typeface="华文中宋" panose="02010600040101010101" pitchFamily="2" charset="-122"/>
            </a:endParaRPr>
          </a:p>
          <a:p>
            <a:pPr>
              <a:lnSpc>
                <a:spcPct val="150000"/>
              </a:lnSpc>
            </a:pPr>
            <a:r>
              <a:rPr lang="en-US" altLang="zh-CN" dirty="0" smtClean="0">
                <a:latin typeface="华文中宋" panose="02010600040101010101" pitchFamily="2" charset="-122"/>
                <a:ea typeface="华文中宋" panose="02010600040101010101" pitchFamily="2" charset="-122"/>
              </a:rPr>
              <a:t> </a:t>
            </a:r>
            <a:r>
              <a:rPr lang="en-US" altLang="zh-CN" dirty="0" smtClean="0">
                <a:latin typeface="华文中宋" panose="02010600040101010101" pitchFamily="2" charset="-122"/>
                <a:ea typeface="华文中宋" panose="02010600040101010101" pitchFamily="2" charset="-122"/>
              </a:rPr>
              <a:t>     ________</a:t>
            </a:r>
            <a:r>
              <a:rPr lang="zh-CN" altLang="en-US" dirty="0" smtClean="0">
                <a:latin typeface="华文中宋" panose="02010600040101010101" pitchFamily="2" charset="-122"/>
                <a:ea typeface="华文中宋" panose="02010600040101010101" pitchFamily="2" charset="-122"/>
              </a:rPr>
              <a:t>，而且处理器的模式要从</a:t>
            </a:r>
            <a:r>
              <a:rPr lang="en-US" altLang="zh-CN" dirty="0" smtClean="0">
                <a:latin typeface="华文中宋" panose="02010600040101010101" pitchFamily="2" charset="-122"/>
                <a:ea typeface="华文中宋" panose="02010600040101010101" pitchFamily="2" charset="-122"/>
              </a:rPr>
              <a:t>________</a:t>
            </a:r>
            <a:r>
              <a:rPr lang="zh-CN" altLang="en-US" dirty="0" smtClean="0">
                <a:latin typeface="华文中宋" panose="02010600040101010101" pitchFamily="2" charset="-122"/>
                <a:ea typeface="华文中宋" panose="02010600040101010101" pitchFamily="2" charset="-122"/>
              </a:rPr>
              <a:t>模式转换到</a:t>
            </a:r>
            <a:r>
              <a:rPr lang="en-US" altLang="zh-CN" dirty="0" smtClean="0">
                <a:latin typeface="华文中宋" panose="02010600040101010101" pitchFamily="2" charset="-122"/>
                <a:ea typeface="华文中宋" panose="02010600040101010101" pitchFamily="2" charset="-122"/>
              </a:rPr>
              <a:t>________</a:t>
            </a:r>
            <a:r>
              <a:rPr lang="zh-CN" altLang="en-US" dirty="0" smtClean="0">
                <a:latin typeface="华文中宋" panose="02010600040101010101" pitchFamily="2" charset="-122"/>
                <a:ea typeface="华文中宋" panose="02010600040101010101" pitchFamily="2" charset="-122"/>
              </a:rPr>
              <a:t>模式。</a:t>
            </a:r>
            <a:endParaRPr lang="en-US" altLang="zh-CN" dirty="0" smtClean="0">
              <a:latin typeface="华文中宋" panose="02010600040101010101" pitchFamily="2" charset="-122"/>
              <a:ea typeface="华文中宋" panose="02010600040101010101" pitchFamily="2" charset="-122"/>
            </a:endParaRPr>
          </a:p>
          <a:p>
            <a:pPr>
              <a:lnSpc>
                <a:spcPct val="150000"/>
              </a:lnSpc>
            </a:pPr>
            <a:r>
              <a:rPr lang="en-US" altLang="zh-CN" dirty="0" smtClean="0">
                <a:latin typeface="华文中宋" panose="02010600040101010101" pitchFamily="2" charset="-122"/>
                <a:ea typeface="华文中宋" panose="02010600040101010101" pitchFamily="2" charset="-122"/>
              </a:rPr>
              <a:t>7</a:t>
            </a:r>
            <a:r>
              <a:rPr lang="zh-CN" altLang="en-US" dirty="0" smtClean="0">
                <a:latin typeface="华文中宋" panose="02010600040101010101" pitchFamily="2" charset="-122"/>
                <a:ea typeface="华文中宋" panose="02010600040101010101" pitchFamily="2" charset="-122"/>
              </a:rPr>
              <a:t>、如果地址总线是</a:t>
            </a:r>
            <a:r>
              <a:rPr lang="en-US" altLang="zh-CN" dirty="0" smtClean="0">
                <a:latin typeface="华文中宋" panose="02010600040101010101" pitchFamily="2" charset="-122"/>
                <a:ea typeface="华文中宋" panose="02010600040101010101" pitchFamily="2" charset="-122"/>
              </a:rPr>
              <a:t>16</a:t>
            </a:r>
            <a:r>
              <a:rPr lang="zh-CN" altLang="en-US" dirty="0" smtClean="0">
                <a:latin typeface="华文中宋" panose="02010600040101010101" pitchFamily="2" charset="-122"/>
                <a:ea typeface="华文中宋" panose="02010600040101010101" pitchFamily="2" charset="-122"/>
              </a:rPr>
              <a:t>位的，那么处理器能够直接访问的地址空间是</a:t>
            </a:r>
            <a:r>
              <a:rPr lang="en-US" altLang="zh-CN" dirty="0" smtClean="0">
                <a:latin typeface="华文中宋" panose="02010600040101010101" pitchFamily="2" charset="-122"/>
                <a:ea typeface="华文中宋" panose="02010600040101010101" pitchFamily="2" charset="-122"/>
              </a:rPr>
              <a:t>______</a:t>
            </a:r>
            <a:r>
              <a:rPr lang="zh-CN" altLang="en-US" dirty="0" smtClean="0">
                <a:latin typeface="华文中宋" panose="02010600040101010101" pitchFamily="2" charset="-122"/>
                <a:ea typeface="华文中宋" panose="02010600040101010101" pitchFamily="2" charset="-122"/>
              </a:rPr>
              <a:t>；如果数据</a:t>
            </a:r>
            <a:endParaRPr lang="en-US" altLang="zh-CN" dirty="0" smtClean="0">
              <a:latin typeface="华文中宋" panose="02010600040101010101" pitchFamily="2" charset="-122"/>
              <a:ea typeface="华文中宋" panose="02010600040101010101" pitchFamily="2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mtClean="0">
                <a:latin typeface="华文中宋" panose="02010600040101010101" pitchFamily="2" charset="-122"/>
                <a:ea typeface="华文中宋" panose="02010600040101010101" pitchFamily="2" charset="-122"/>
              </a:rPr>
              <a:t>     总线</a:t>
            </a:r>
            <a:r>
              <a:rPr lang="zh-CN" altLang="en-US" dirty="0" smtClean="0">
                <a:latin typeface="华文中宋" panose="02010600040101010101" pitchFamily="2" charset="-122"/>
                <a:ea typeface="华文中宋" panose="02010600040101010101" pitchFamily="2" charset="-122"/>
              </a:rPr>
              <a:t>也是</a:t>
            </a:r>
            <a:r>
              <a:rPr lang="en-US" altLang="zh-CN" dirty="0" smtClean="0">
                <a:latin typeface="华文中宋" panose="02010600040101010101" pitchFamily="2" charset="-122"/>
                <a:ea typeface="华文中宋" panose="02010600040101010101" pitchFamily="2" charset="-122"/>
              </a:rPr>
              <a:t>16</a:t>
            </a:r>
            <a:r>
              <a:rPr lang="zh-CN" altLang="en-US" dirty="0" smtClean="0">
                <a:latin typeface="华文中宋" panose="02010600040101010101" pitchFamily="2" charset="-122"/>
                <a:ea typeface="华文中宋" panose="02010600040101010101" pitchFamily="2" charset="-122"/>
              </a:rPr>
              <a:t>位的，那么要传输一个</a:t>
            </a:r>
            <a:r>
              <a:rPr lang="en-US" altLang="zh-CN" dirty="0" smtClean="0">
                <a:latin typeface="华文中宋" panose="02010600040101010101" pitchFamily="2" charset="-122"/>
                <a:ea typeface="华文中宋" panose="02010600040101010101" pitchFamily="2" charset="-122"/>
              </a:rPr>
              <a:t>4</a:t>
            </a:r>
            <a:r>
              <a:rPr lang="zh-CN" altLang="en-US" dirty="0" smtClean="0">
                <a:latin typeface="华文中宋" panose="02010600040101010101" pitchFamily="2" charset="-122"/>
                <a:ea typeface="华文中宋" panose="02010600040101010101" pitchFamily="2" charset="-122"/>
              </a:rPr>
              <a:t>字节数据，需要</a:t>
            </a:r>
            <a:r>
              <a:rPr lang="en-US" altLang="zh-CN" dirty="0" smtClean="0">
                <a:latin typeface="华文中宋" panose="02010600040101010101" pitchFamily="2" charset="-122"/>
                <a:ea typeface="华文中宋" panose="02010600040101010101" pitchFamily="2" charset="-122"/>
              </a:rPr>
              <a:t>______</a:t>
            </a:r>
            <a:r>
              <a:rPr lang="zh-CN" altLang="en-US" dirty="0" smtClean="0">
                <a:latin typeface="华文中宋" panose="02010600040101010101" pitchFamily="2" charset="-122"/>
                <a:ea typeface="华文中宋" panose="02010600040101010101" pitchFamily="2" charset="-122"/>
              </a:rPr>
              <a:t>个总线周期。</a:t>
            </a:r>
            <a:endParaRPr lang="zh-CN" altLang="en-US" dirty="0">
              <a:latin typeface="华文中宋" panose="02010600040101010101" pitchFamily="2" charset="-122"/>
              <a:ea typeface="华文中宋" panose="02010600040101010101" pitchFamily="2" charset="-122"/>
            </a:endParaRPr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KSO_WPP_MARK_KEY" val="97ec1b8c-497f-4464-a71e-8a19a825d4ac"/>
  <p:tag name="COMMONDATA" val="eyJoZGlkIjoiMTdlMGY2ZWU1ZTdkNjY2Nzc5OTEzOTExMmU2NDk1NzYifQ=="/>
</p:tagLst>
</file>

<file path=ppt/theme/theme1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4662</Words>
  <Application>WPS 演示</Application>
  <PresentationFormat>全屏显示(4:3)</PresentationFormat>
  <Paragraphs>278</Paragraphs>
  <Slides>26</Slides>
  <Notes>0</Notes>
  <HiddenSlides>0</HiddenSlides>
  <MMClips>0</MMClips>
  <ScaleCrop>false</ScaleCrop>
  <HeadingPairs>
    <vt:vector size="8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7</vt:i4>
      </vt:variant>
      <vt:variant>
        <vt:lpstr>幻灯片标题</vt:lpstr>
      </vt:variant>
      <vt:variant>
        <vt:i4>26</vt:i4>
      </vt:variant>
    </vt:vector>
  </HeadingPairs>
  <TitlesOfParts>
    <vt:vector size="45" baseType="lpstr">
      <vt:lpstr>Arial</vt:lpstr>
      <vt:lpstr>宋体</vt:lpstr>
      <vt:lpstr>Wingdings</vt:lpstr>
      <vt:lpstr>黑体</vt:lpstr>
      <vt:lpstr>华文中宋</vt:lpstr>
      <vt:lpstr>Times New Roman</vt:lpstr>
      <vt:lpstr>Calibri</vt:lpstr>
      <vt:lpstr>微软雅黑</vt:lpstr>
      <vt:lpstr>Arial Unicode MS</vt:lpstr>
      <vt:lpstr>Times New Roman</vt:lpstr>
      <vt:lpstr>Calibri</vt:lpstr>
      <vt:lpstr>Office 主题</vt:lpstr>
      <vt:lpstr>Visio.Drawing.11</vt:lpstr>
      <vt:lpstr>Visio.Drawing.11</vt:lpstr>
      <vt:lpstr>Visio.Drawing.11</vt:lpstr>
      <vt:lpstr>Visio.Drawing.11</vt:lpstr>
      <vt:lpstr>Visio.Drawing.11</vt:lpstr>
      <vt:lpstr>Visio.Drawing.11</vt:lpstr>
      <vt:lpstr>Visio.Drawing.11</vt:lpstr>
      <vt:lpstr>第二章 操作系统的硬件基础</vt:lpstr>
      <vt:lpstr>PowerPoint 演示文稿</vt:lpstr>
      <vt:lpstr>2.1 计算机硬件结构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2.2 指令</vt:lpstr>
      <vt:lpstr>PowerPoint 演示文稿</vt:lpstr>
      <vt:lpstr>PowerPoint 演示文稿</vt:lpstr>
      <vt:lpstr>PowerPoint 演示文稿</vt:lpstr>
      <vt:lpstr>PowerPoint 演示文稿</vt:lpstr>
      <vt:lpstr>2.3 指令循环和异常处理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2.4 处理器的运行模式和模式切换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操作系统教程</dc:title>
  <dc:creator>think</dc:creator>
  <cp:lastModifiedBy>WPS_1606829141</cp:lastModifiedBy>
  <cp:revision>145</cp:revision>
  <dcterms:created xsi:type="dcterms:W3CDTF">2016-08-31T08:35:00Z</dcterms:created>
  <dcterms:modified xsi:type="dcterms:W3CDTF">2023-03-02T03:03:17Z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FDAB37B94BD04E37AF6CDE992DB427F6</vt:lpwstr>
  </property>
  <property fmtid="{D5CDD505-2E9C-101B-9397-08002B2CF9AE}" pid="3" name="KSOProductBuildVer">
    <vt:lpwstr>2052-11.1.0.13703</vt:lpwstr>
  </property>
</Properties>
</file>