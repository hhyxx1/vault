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p:sldMasterIdLst>
    <p:sldMasterId id="2147483648" r:id="rId1"/>
  </p:sldMasterIdLst>
  <p:notesMasterIdLst>
    <p:notesMasterId r:id="rId49"/>
  </p:notesMasterIdLst>
  <p:sldIdLst>
    <p:sldId id="256" r:id="rId3"/>
    <p:sldId id="257" r:id="rId4"/>
    <p:sldId id="258" r:id="rId5"/>
    <p:sldId id="327" r:id="rId6"/>
    <p:sldId id="328" r:id="rId7"/>
    <p:sldId id="329" r:id="rId8"/>
    <p:sldId id="330" r:id="rId9"/>
    <p:sldId id="331" r:id="rId10"/>
    <p:sldId id="332" r:id="rId11"/>
    <p:sldId id="333" r:id="rId12"/>
    <p:sldId id="334" r:id="rId13"/>
    <p:sldId id="335" r:id="rId14"/>
    <p:sldId id="336" r:id="rId15"/>
    <p:sldId id="337" r:id="rId16"/>
    <p:sldId id="338" r:id="rId17"/>
    <p:sldId id="339" r:id="rId18"/>
    <p:sldId id="352" r:id="rId19"/>
    <p:sldId id="353" r:id="rId20"/>
    <p:sldId id="354" r:id="rId21"/>
    <p:sldId id="355" r:id="rId22"/>
    <p:sldId id="356" r:id="rId23"/>
    <p:sldId id="357" r:id="rId24"/>
    <p:sldId id="358" r:id="rId25"/>
    <p:sldId id="340" r:id="rId26"/>
    <p:sldId id="341" r:id="rId27"/>
    <p:sldId id="342" r:id="rId28"/>
    <p:sldId id="359" r:id="rId29"/>
    <p:sldId id="343" r:id="rId30"/>
    <p:sldId id="344" r:id="rId31"/>
    <p:sldId id="345" r:id="rId32"/>
    <p:sldId id="360" r:id="rId33"/>
    <p:sldId id="361" r:id="rId34"/>
    <p:sldId id="362" r:id="rId35"/>
    <p:sldId id="364" r:id="rId36"/>
    <p:sldId id="363" r:id="rId37"/>
    <p:sldId id="365" r:id="rId38"/>
    <p:sldId id="366" r:id="rId39"/>
    <p:sldId id="367" r:id="rId40"/>
    <p:sldId id="346" r:id="rId41"/>
    <p:sldId id="368" r:id="rId42"/>
    <p:sldId id="369" r:id="rId43"/>
    <p:sldId id="348" r:id="rId44"/>
    <p:sldId id="370" r:id="rId45"/>
    <p:sldId id="349" r:id="rId46"/>
    <p:sldId id="350" r:id="rId47"/>
    <p:sldId id="351" r:id="rId48"/>
  </p:sldIdLst>
  <p:sldSz cx="9144000" cy="6858000" type="screen4x3"/>
  <p:notesSz cx="6858000" cy="9144000"/>
  <p:custDataLst>
    <p:tags r:id="rId5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深色样式 2 - 强调 1/强调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3" autoAdjust="0"/>
    <p:restoredTop sz="85872" autoAdjust="0"/>
  </p:normalViewPr>
  <p:slideViewPr>
    <p:cSldViewPr>
      <p:cViewPr varScale="1">
        <p:scale>
          <a:sx n="75" d="100"/>
          <a:sy n="75" d="100"/>
        </p:scale>
        <p:origin x="1690" y="18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3" Type="http://schemas.openxmlformats.org/officeDocument/2006/relationships/tags" Target="tags/tag1.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 Target="slides/slide3.xml"/><Relationship Id="rId49" Type="http://schemas.openxmlformats.org/officeDocument/2006/relationships/notesMaster" Target="notesMasters/notesMaster1.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image" Target="../media/image1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672F3D0-2070-4A1C-9BEB-D5F85B01F5C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660FE56-DC3C-4814-AE3A-D49703B9417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28596" y="-285776"/>
            <a:ext cx="8229600" cy="1143000"/>
          </a:xfrm>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3714744" y="142852"/>
            <a:ext cx="5014890" cy="11430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pic>
        <p:nvPicPr>
          <p:cNvPr id="12290" name="Picture 2" descr="http://pic.qiantucdn.com/58pic/18/80/26/92S58PICwui_1024.jpg"/>
          <p:cNvPicPr>
            <a:picLocks noChangeAspect="1" noChangeArrowheads="1"/>
          </p:cNvPicPr>
          <p:nvPr userDrawn="1"/>
        </p:nvPicPr>
        <p:blipFill>
          <a:blip r:embed="rId12" cstate="print"/>
          <a:srcRect/>
          <a:stretch>
            <a:fillRect/>
          </a:stretch>
        </p:blipFill>
        <p:spPr bwMode="auto">
          <a:xfrm>
            <a:off x="1" y="0"/>
            <a:ext cx="3357553" cy="1428736"/>
          </a:xfrm>
          <a:prstGeom prst="rect">
            <a:avLst/>
          </a:prstGeom>
          <a:noFill/>
        </p:spPr>
      </p:pic>
      <p:sp>
        <p:nvSpPr>
          <p:cNvPr id="8" name="矩形 7"/>
          <p:cNvSpPr/>
          <p:nvPr userDrawn="1"/>
        </p:nvSpPr>
        <p:spPr>
          <a:xfrm>
            <a:off x="0" y="1142984"/>
            <a:ext cx="9144000" cy="714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3000" kern="1200">
          <a:solidFill>
            <a:schemeClr val="tx1"/>
          </a:solidFill>
          <a:latin typeface="黑体" panose="02010609060101010101" pitchFamily="49" charset="-122"/>
          <a:ea typeface="黑体" panose="02010609060101010101" pitchFamily="49" charset="-122"/>
          <a:cs typeface="+mj-cs"/>
        </a:defRPr>
      </a:lvl1pPr>
    </p:titleStyle>
    <p:bodyStyle>
      <a:lvl1pPr marL="342900" indent="-342900" algn="l" defTabSz="914400" rtl="0" eaLnBrk="1" latinLnBrk="0" hangingPunct="1">
        <a:spcBef>
          <a:spcPct val="20000"/>
        </a:spcBef>
        <a:buClr>
          <a:srgbClr val="FF0000"/>
        </a:buClr>
        <a:buSzPct val="68000"/>
        <a:buFont typeface="Wingdings" panose="05000000000000000000" pitchFamily="2" charset="2"/>
        <a:buChar char="n"/>
        <a:defRPr sz="2800" b="0" kern="1200">
          <a:solidFill>
            <a:schemeClr val="tx1"/>
          </a:solidFill>
          <a:latin typeface="华文中宋" panose="02010600040101010101" pitchFamily="2" charset="-122"/>
          <a:ea typeface="华文中宋" panose="02010600040101010101" pitchFamily="2" charset="-122"/>
          <a:cs typeface="+mn-cs"/>
        </a:defRPr>
      </a:lvl1pPr>
      <a:lvl2pPr marL="742950" indent="-285750" algn="l" defTabSz="914400" rtl="0" eaLnBrk="1" latinLnBrk="0" hangingPunct="1">
        <a:spcBef>
          <a:spcPct val="20000"/>
        </a:spcBef>
        <a:buClr>
          <a:srgbClr val="FF0000"/>
        </a:buClr>
        <a:buSzPct val="68000"/>
        <a:buFont typeface="Wingdings" panose="05000000000000000000" pitchFamily="2" charset="2"/>
        <a:buChar char="Ø"/>
        <a:defRPr sz="2400" kern="1200">
          <a:solidFill>
            <a:schemeClr val="tx1"/>
          </a:solidFill>
          <a:latin typeface="华文中宋" panose="02010600040101010101" pitchFamily="2" charset="-122"/>
          <a:ea typeface="华文中宋" panose="02010600040101010101" pitchFamily="2"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3.e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6.emf"/><Relationship Id="rId1"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8.emf"/><Relationship Id="rId3" Type="http://schemas.openxmlformats.org/officeDocument/2006/relationships/oleObject" Target="../embeddings/oleObject5.bin"/><Relationship Id="rId2" Type="http://schemas.openxmlformats.org/officeDocument/2006/relationships/image" Target="../media/image7.emf"/><Relationship Id="rId1" Type="http://schemas.openxmlformats.org/officeDocument/2006/relationships/oleObject" Target="../embeddings/oleObject4.bin"/></Relationships>
</file>

<file path=ppt/slides/_rels/slide13.xml.rels><?xml version="1.0" encoding="UTF-8" standalone="yes"?>
<Relationships xmlns="http://schemas.openxmlformats.org/package/2006/relationships"><Relationship Id="rId8" Type="http://schemas.openxmlformats.org/officeDocument/2006/relationships/vmlDrawing" Target="../drawings/vmlDrawing5.vml"/><Relationship Id="rId7" Type="http://schemas.openxmlformats.org/officeDocument/2006/relationships/slideLayout" Target="../slideLayouts/slideLayout2.xml"/><Relationship Id="rId6" Type="http://schemas.openxmlformats.org/officeDocument/2006/relationships/image" Target="../media/image11.emf"/><Relationship Id="rId5" Type="http://schemas.openxmlformats.org/officeDocument/2006/relationships/oleObject" Target="../embeddings/oleObject8.bin"/><Relationship Id="rId4" Type="http://schemas.openxmlformats.org/officeDocument/2006/relationships/image" Target="../media/image10.emf"/><Relationship Id="rId3" Type="http://schemas.openxmlformats.org/officeDocument/2006/relationships/oleObject" Target="../embeddings/oleObject7.bin"/><Relationship Id="rId2" Type="http://schemas.openxmlformats.org/officeDocument/2006/relationships/image" Target="../media/image9.emf"/><Relationship Id="rId1" Type="http://schemas.openxmlformats.org/officeDocument/2006/relationships/oleObject" Target="../embeddings/oleObject6.bin"/></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2.emf"/><Relationship Id="rId1" Type="http://schemas.openxmlformats.org/officeDocument/2006/relationships/oleObject" Target="../embeddings/oleObject9.bin"/></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13.emf"/><Relationship Id="rId1" Type="http://schemas.openxmlformats.org/officeDocument/2006/relationships/oleObject" Target="../embeddings/oleObject10.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2.xml"/><Relationship Id="rId4" Type="http://schemas.openxmlformats.org/officeDocument/2006/relationships/image" Target="../media/image15.emf"/><Relationship Id="rId3" Type="http://schemas.openxmlformats.org/officeDocument/2006/relationships/oleObject" Target="../embeddings/oleObject12.bin"/><Relationship Id="rId2" Type="http://schemas.openxmlformats.org/officeDocument/2006/relationships/image" Target="../media/image14.emf"/><Relationship Id="rId1" Type="http://schemas.openxmlformats.org/officeDocument/2006/relationships/oleObject" Target="../embeddings/oleObject11.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16.emf"/><Relationship Id="rId1" Type="http://schemas.openxmlformats.org/officeDocument/2006/relationships/oleObject" Target="../embeddings/oleObject13.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17.emf"/><Relationship Id="rId1" Type="http://schemas.openxmlformats.org/officeDocument/2006/relationships/oleObject" Target="../embeddings/oleObject14.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18.emf"/><Relationship Id="rId1" Type="http://schemas.openxmlformats.org/officeDocument/2006/relationships/oleObject" Target="../embeddings/oleObject15.bin"/></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2.xml"/><Relationship Id="rId2" Type="http://schemas.openxmlformats.org/officeDocument/2006/relationships/image" Target="../media/image19.emf"/><Relationship Id="rId1" Type="http://schemas.openxmlformats.org/officeDocument/2006/relationships/oleObject" Target="../embeddings/oleObject16.bin"/></Relationships>
</file>

<file path=ppt/slides/_rels/slide28.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20.emf"/><Relationship Id="rId1" Type="http://schemas.openxmlformats.org/officeDocument/2006/relationships/oleObject" Target="../embeddings/oleObject17.bin"/></Relationships>
</file>

<file path=ppt/slides/_rels/slide29.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2.xml"/><Relationship Id="rId2" Type="http://schemas.openxmlformats.org/officeDocument/2006/relationships/image" Target="../media/image21.emf"/><Relationship Id="rId1" Type="http://schemas.openxmlformats.org/officeDocument/2006/relationships/oleObject" Target="../embeddings/oleObject18.bin"/></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2.xml"/><Relationship Id="rId2" Type="http://schemas.openxmlformats.org/officeDocument/2006/relationships/image" Target="../media/image23.emf"/><Relationship Id="rId1" Type="http://schemas.openxmlformats.org/officeDocument/2006/relationships/oleObject" Target="../embeddings/oleObject19.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5.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2.xml"/><Relationship Id="rId2" Type="http://schemas.openxmlformats.org/officeDocument/2006/relationships/image" Target="../media/image24.emf"/><Relationship Id="rId1" Type="http://schemas.openxmlformats.org/officeDocument/2006/relationships/oleObject" Target="../embeddings/oleObject20.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4" Type="http://schemas.openxmlformats.org/officeDocument/2006/relationships/vmlDrawing" Target="../drawings/vmlDrawing17.vml"/><Relationship Id="rId3" Type="http://schemas.openxmlformats.org/officeDocument/2006/relationships/slideLayout" Target="../slideLayouts/slideLayout2.xml"/><Relationship Id="rId2" Type="http://schemas.openxmlformats.org/officeDocument/2006/relationships/image" Target="../media/image25.emf"/><Relationship Id="rId1" Type="http://schemas.openxmlformats.org/officeDocument/2006/relationships/oleObject" Target="../embeddings/oleObject21.bin"/></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vmlDrawing" Target="../drawings/vmlDrawing18.vml"/><Relationship Id="rId7" Type="http://schemas.openxmlformats.org/officeDocument/2006/relationships/slideLayout" Target="../slideLayouts/slideLayout2.xml"/><Relationship Id="rId6" Type="http://schemas.openxmlformats.org/officeDocument/2006/relationships/image" Target="../media/image28.wmf"/><Relationship Id="rId5" Type="http://schemas.openxmlformats.org/officeDocument/2006/relationships/oleObject" Target="../embeddings/oleObject24.bin"/><Relationship Id="rId4" Type="http://schemas.openxmlformats.org/officeDocument/2006/relationships/image" Target="../media/image27.wmf"/><Relationship Id="rId3" Type="http://schemas.openxmlformats.org/officeDocument/2006/relationships/oleObject" Target="../embeddings/oleObject23.bin"/><Relationship Id="rId2" Type="http://schemas.openxmlformats.org/officeDocument/2006/relationships/image" Target="../media/image26.wmf"/><Relationship Id="rId1" Type="http://schemas.openxmlformats.org/officeDocument/2006/relationships/oleObject" Target="../embeddings/oleObject22.bin"/></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46.xml.rels><?xml version="1.0" encoding="UTF-8" standalone="yes"?>
<Relationships xmlns="http://schemas.openxmlformats.org/package/2006/relationships"><Relationship Id="rId4" Type="http://schemas.openxmlformats.org/officeDocument/2006/relationships/vmlDrawing" Target="../drawings/vmlDrawing19.vml"/><Relationship Id="rId3" Type="http://schemas.openxmlformats.org/officeDocument/2006/relationships/slideLayout" Target="../slideLayouts/slideLayout2.xml"/><Relationship Id="rId2" Type="http://schemas.openxmlformats.org/officeDocument/2006/relationships/image" Target="../media/image31.emf"/><Relationship Id="rId1" Type="http://schemas.openxmlformats.org/officeDocument/2006/relationships/oleObject" Target="../embeddings/oleObject25.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sz="4800" dirty="0"/>
              <a:t>第七章 </a:t>
            </a:r>
            <a:r>
              <a:rPr lang="en-US" altLang="zh-CN" sz="4800" dirty="0"/>
              <a:t>I/O</a:t>
            </a:r>
            <a:r>
              <a:rPr lang="zh-CN" altLang="en-US" sz="4800" dirty="0"/>
              <a:t>管理</a:t>
            </a:r>
            <a:endParaRPr lang="zh-CN" altLang="en-US" sz="4800" dirty="0"/>
          </a:p>
        </p:txBody>
      </p:sp>
      <p:sp>
        <p:nvSpPr>
          <p:cNvPr id="3" name="副标题 2"/>
          <p:cNvSpPr>
            <a:spLocks noGrp="1"/>
          </p:cNvSpPr>
          <p:nvPr>
            <p:ph type="subTitle" idx="1"/>
          </p:nvPr>
        </p:nvSpPr>
        <p:spPr/>
        <p:txBody>
          <a:bodyPr/>
          <a:lstStyle/>
          <a:p>
            <a:r>
              <a:rPr lang="zh-CN" altLang="en-US" dirty="0">
                <a:solidFill>
                  <a:schemeClr val="tx1"/>
                </a:solidFill>
              </a:rPr>
              <a:t>刘晓建</a:t>
            </a:r>
            <a:endParaRPr lang="en-US" altLang="zh-CN" dirty="0">
              <a:solidFill>
                <a:schemeClr val="tx1"/>
              </a:solidFill>
            </a:endParaRPr>
          </a:p>
          <a:p>
            <a:r>
              <a:rPr lang="en-US" altLang="zh-CN" smtClean="0">
                <a:solidFill>
                  <a:schemeClr val="tx1"/>
                </a:solidFill>
              </a:rPr>
              <a:t>2022</a:t>
            </a:r>
            <a:r>
              <a:rPr lang="zh-CN" altLang="en-US" smtClean="0">
                <a:solidFill>
                  <a:schemeClr val="tx1"/>
                </a:solidFill>
              </a:rPr>
              <a:t>年</a:t>
            </a:r>
            <a:r>
              <a:rPr lang="en-US" altLang="zh-CN" smtClean="0">
                <a:solidFill>
                  <a:schemeClr val="tx1"/>
                </a:solidFill>
              </a:rPr>
              <a:t>12</a:t>
            </a:r>
            <a:r>
              <a:rPr lang="zh-CN" altLang="en-US" smtClean="0">
                <a:solidFill>
                  <a:schemeClr val="tx1"/>
                </a:solidFill>
              </a:rPr>
              <a:t>月</a:t>
            </a:r>
            <a:endParaRPr lang="zh-CN" altLang="en-US"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5" name="矩形 4"/>
          <p:cNvSpPr/>
          <p:nvPr/>
        </p:nvSpPr>
        <p:spPr>
          <a:xfrm>
            <a:off x="428596" y="1428736"/>
            <a:ext cx="8463884" cy="37856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zh-CN" altLang="en-US" sz="1600" dirty="0">
                <a:latin typeface="华文中宋" panose="02010600040101010101" pitchFamily="2" charset="-122"/>
                <a:ea typeface="华文中宋" panose="02010600040101010101" pitchFamily="2" charset="-122"/>
              </a:rPr>
              <a:t>      </a:t>
            </a:r>
            <a:r>
              <a:rPr lang="en-US" sz="1600" dirty="0">
                <a:latin typeface="华文中宋" panose="02010600040101010101" pitchFamily="2" charset="-122"/>
                <a:ea typeface="华文中宋" panose="02010600040101010101" pitchFamily="2" charset="-122"/>
              </a:rPr>
              <a:t>I/O</a:t>
            </a:r>
            <a:r>
              <a:rPr lang="zh-CN" altLang="en-US" sz="1600" dirty="0">
                <a:latin typeface="华文中宋" panose="02010600040101010101" pitchFamily="2" charset="-122"/>
                <a:ea typeface="华文中宋" panose="02010600040101010101" pitchFamily="2" charset="-122"/>
              </a:rPr>
              <a:t>系统所含设备种类繁多，差异又非常大，致使</a:t>
            </a:r>
            <a:r>
              <a:rPr lang="en-US" sz="1600" dirty="0">
                <a:latin typeface="华文中宋" panose="02010600040101010101" pitchFamily="2" charset="-122"/>
                <a:ea typeface="华文中宋" panose="02010600040101010101" pitchFamily="2" charset="-122"/>
              </a:rPr>
              <a:t>I/O</a:t>
            </a:r>
            <a:r>
              <a:rPr lang="zh-CN" altLang="en-US" sz="1600" dirty="0">
                <a:latin typeface="华文中宋" panose="02010600040101010101" pitchFamily="2" charset="-122"/>
                <a:ea typeface="华文中宋" panose="02010600040101010101" pitchFamily="2" charset="-122"/>
              </a:rPr>
              <a:t>系统成为操作系统中最繁杂且与硬件最紧密相关的部分。</a:t>
            </a:r>
            <a:r>
              <a:rPr lang="zh-CN" altLang="en-US" sz="1600" dirty="0">
                <a:solidFill>
                  <a:srgbClr val="FF0000"/>
                </a:solidFill>
                <a:latin typeface="华文中宋" panose="02010600040101010101" pitchFamily="2" charset="-122"/>
                <a:ea typeface="华文中宋" panose="02010600040101010101" pitchFamily="2" charset="-122"/>
              </a:rPr>
              <a:t>对</a:t>
            </a:r>
            <a:r>
              <a:rPr lang="en-US" sz="1600" dirty="0">
                <a:solidFill>
                  <a:srgbClr val="FF0000"/>
                </a:solidFill>
                <a:latin typeface="华文中宋" panose="02010600040101010101" pitchFamily="2" charset="-122"/>
                <a:ea typeface="华文中宋" panose="02010600040101010101" pitchFamily="2" charset="-122"/>
              </a:rPr>
              <a:t>I/O</a:t>
            </a:r>
            <a:r>
              <a:rPr lang="zh-CN" altLang="en-US" sz="1600" dirty="0">
                <a:solidFill>
                  <a:srgbClr val="FF0000"/>
                </a:solidFill>
                <a:latin typeface="华文中宋" panose="02010600040101010101" pitchFamily="2" charset="-122"/>
                <a:ea typeface="华文中宋" panose="02010600040101010101" pitchFamily="2" charset="-122"/>
              </a:rPr>
              <a:t>设备进行高度抽象，建立一个</a:t>
            </a:r>
            <a:r>
              <a:rPr lang="en-US" sz="1600" dirty="0">
                <a:solidFill>
                  <a:srgbClr val="FF0000"/>
                </a:solidFill>
                <a:latin typeface="华文中宋" panose="02010600040101010101" pitchFamily="2" charset="-122"/>
                <a:ea typeface="华文中宋" panose="02010600040101010101" pitchFamily="2" charset="-122"/>
              </a:rPr>
              <a:t>I/O</a:t>
            </a:r>
            <a:r>
              <a:rPr lang="zh-CN" altLang="en-US" sz="1600" dirty="0">
                <a:solidFill>
                  <a:srgbClr val="FF0000"/>
                </a:solidFill>
                <a:latin typeface="华文中宋" panose="02010600040101010101" pitchFamily="2" charset="-122"/>
                <a:ea typeface="华文中宋" panose="02010600040101010101" pitchFamily="2" charset="-122"/>
              </a:rPr>
              <a:t>设备的虚拟界面使编程人员能够容易地检索和存储数据，这是</a:t>
            </a:r>
            <a:r>
              <a:rPr lang="en-US" sz="1600" dirty="0">
                <a:solidFill>
                  <a:srgbClr val="FF0000"/>
                </a:solidFill>
                <a:latin typeface="华文中宋" panose="02010600040101010101" pitchFamily="2" charset="-122"/>
                <a:ea typeface="华文中宋" panose="02010600040101010101" pitchFamily="2" charset="-122"/>
              </a:rPr>
              <a:t>I/O</a:t>
            </a:r>
            <a:r>
              <a:rPr lang="zh-CN" altLang="en-US" sz="1600" dirty="0">
                <a:solidFill>
                  <a:srgbClr val="FF0000"/>
                </a:solidFill>
                <a:latin typeface="华文中宋" panose="02010600040101010101" pitchFamily="2" charset="-122"/>
                <a:ea typeface="华文中宋" panose="02010600040101010101" pitchFamily="2" charset="-122"/>
              </a:rPr>
              <a:t>系统设计所面临的主要问题</a:t>
            </a:r>
            <a:r>
              <a:rPr lang="zh-CN" altLang="en-US" sz="1600" dirty="0">
                <a:latin typeface="华文中宋" panose="02010600040101010101" pitchFamily="2" charset="-122"/>
                <a:ea typeface="华文中宋" panose="02010600040101010101" pitchFamily="2" charset="-122"/>
              </a:rPr>
              <a:t>。</a:t>
            </a:r>
            <a:endParaRPr lang="en-US" altLang="zh-CN" sz="1600" dirty="0">
              <a:latin typeface="华文中宋" panose="02010600040101010101" pitchFamily="2" charset="-122"/>
              <a:ea typeface="华文中宋" panose="02010600040101010101" pitchFamily="2" charset="-122"/>
            </a:endParaRPr>
          </a:p>
          <a:p>
            <a:pPr>
              <a:lnSpc>
                <a:spcPct val="150000"/>
              </a:lnSpc>
            </a:pPr>
            <a:r>
              <a:rPr lang="zh-CN" altLang="en-US" sz="1600" dirty="0">
                <a:latin typeface="华文中宋" panose="02010600040101010101" pitchFamily="2" charset="-122"/>
                <a:ea typeface="华文中宋" panose="02010600040101010101" pitchFamily="2" charset="-122"/>
              </a:rPr>
              <a:t>     本章将介绍这样几个内容：</a:t>
            </a:r>
            <a:endParaRPr lang="en-US" altLang="zh-CN" sz="1600"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sz="1600" dirty="0">
                <a:latin typeface="华文中宋" panose="02010600040101010101" pitchFamily="2" charset="-122"/>
                <a:ea typeface="华文中宋" panose="02010600040101010101" pitchFamily="2" charset="-122"/>
              </a:rPr>
              <a:t> I/O</a:t>
            </a:r>
            <a:r>
              <a:rPr lang="zh-CN" altLang="en-US" sz="1600" dirty="0">
                <a:latin typeface="华文中宋" panose="02010600040101010101" pitchFamily="2" charset="-122"/>
                <a:ea typeface="华文中宋" panose="02010600040101010101" pitchFamily="2" charset="-122"/>
              </a:rPr>
              <a:t>系统硬件组织</a:t>
            </a:r>
            <a:endParaRPr lang="en-US" altLang="zh-CN" sz="1600"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altLang="zh-CN" sz="1600" dirty="0">
                <a:latin typeface="华文中宋" panose="02010600040101010101" pitchFamily="2" charset="-122"/>
                <a:ea typeface="华文中宋" panose="02010600040101010101" pitchFamily="2" charset="-122"/>
              </a:rPr>
              <a:t> I/O</a:t>
            </a:r>
            <a:r>
              <a:rPr lang="zh-CN" altLang="en-US" sz="1600" dirty="0">
                <a:latin typeface="华文中宋" panose="02010600040101010101" pitchFamily="2" charset="-122"/>
                <a:ea typeface="华文中宋" panose="02010600040101010101" pitchFamily="2" charset="-122"/>
              </a:rPr>
              <a:t>系统接口</a:t>
            </a:r>
            <a:endParaRPr lang="en-US" altLang="zh-CN" sz="1600"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altLang="zh-CN" sz="1600" dirty="0">
                <a:latin typeface="华文中宋" panose="02010600040101010101" pitchFamily="2" charset="-122"/>
                <a:ea typeface="华文中宋" panose="02010600040101010101" pitchFamily="2" charset="-122"/>
              </a:rPr>
              <a:t> I/O</a:t>
            </a:r>
            <a:r>
              <a:rPr lang="zh-CN" altLang="en-US" sz="1600" dirty="0">
                <a:latin typeface="华文中宋" panose="02010600040101010101" pitchFamily="2" charset="-122"/>
                <a:ea typeface="华文中宋" panose="02010600040101010101" pitchFamily="2" charset="-122"/>
              </a:rPr>
              <a:t>设备控制器和通道</a:t>
            </a:r>
            <a:endParaRPr lang="en-US" altLang="zh-CN" sz="1600"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altLang="zh-CN" sz="1600" dirty="0">
                <a:latin typeface="华文中宋" panose="02010600040101010101" pitchFamily="2" charset="-122"/>
                <a:ea typeface="华文中宋" panose="02010600040101010101" pitchFamily="2" charset="-122"/>
              </a:rPr>
              <a:t> I/O</a:t>
            </a:r>
            <a:r>
              <a:rPr lang="zh-CN" altLang="en-US" sz="1600" dirty="0">
                <a:latin typeface="华文中宋" panose="02010600040101010101" pitchFamily="2" charset="-122"/>
                <a:ea typeface="华文中宋" panose="02010600040101010101" pitchFamily="2" charset="-122"/>
              </a:rPr>
              <a:t>设备的控制方式</a:t>
            </a:r>
            <a:endParaRPr lang="en-US" altLang="zh-CN" sz="1600"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altLang="zh-CN" sz="1600" dirty="0">
                <a:latin typeface="华文中宋" panose="02010600040101010101" pitchFamily="2" charset="-122"/>
                <a:ea typeface="华文中宋" panose="02010600040101010101" pitchFamily="2" charset="-122"/>
              </a:rPr>
              <a:t> </a:t>
            </a:r>
            <a:r>
              <a:rPr lang="zh-CN" altLang="en-US" sz="1600" dirty="0">
                <a:latin typeface="华文中宋" panose="02010600040101010101" pitchFamily="2" charset="-122"/>
                <a:ea typeface="华文中宋" panose="02010600040101010101" pitchFamily="2" charset="-122"/>
              </a:rPr>
              <a:t>缓冲处理技术</a:t>
            </a:r>
            <a:endParaRPr lang="en-US" altLang="zh-CN" sz="1600"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altLang="zh-CN" sz="1600" dirty="0">
                <a:latin typeface="华文中宋" panose="02010600040101010101" pitchFamily="2" charset="-122"/>
                <a:ea typeface="华文中宋" panose="02010600040101010101" pitchFamily="2" charset="-122"/>
              </a:rPr>
              <a:t> </a:t>
            </a:r>
            <a:r>
              <a:rPr lang="zh-CN" altLang="en-US" sz="1600" dirty="0">
                <a:latin typeface="华文中宋" panose="02010600040101010101" pitchFamily="2" charset="-122"/>
                <a:ea typeface="华文中宋" panose="02010600040101010101" pitchFamily="2" charset="-122"/>
              </a:rPr>
              <a:t>磁盘驱动调度</a:t>
            </a:r>
            <a:endParaRPr lang="zh-CN" altLang="en-US" sz="1600" dirty="0">
              <a:latin typeface="华文中宋" panose="02010600040101010101" pitchFamily="2" charset="-122"/>
              <a:ea typeface="华文中宋" panose="0201060004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57158" y="1357298"/>
            <a:ext cx="3385863" cy="369332"/>
          </a:xfrm>
          <a:prstGeom prst="rect">
            <a:avLst/>
          </a:prstGeom>
        </p:spPr>
        <p:txBody>
          <a:bodyPr wrap="none">
            <a:spAutoFit/>
          </a:bodyPr>
          <a:lstStyle/>
          <a:p>
            <a:r>
              <a:rPr lang="en-US" dirty="0">
                <a:latin typeface="华文中宋" panose="02010600040101010101" pitchFamily="2" charset="-122"/>
                <a:ea typeface="华文中宋" panose="02010600040101010101" pitchFamily="2" charset="-122"/>
              </a:rPr>
              <a:t>7.1.2  </a:t>
            </a:r>
            <a:r>
              <a:rPr lang="en-US" altLang="zh-CN" dirty="0">
                <a:latin typeface="华文中宋" panose="02010600040101010101" pitchFamily="2" charset="-122"/>
                <a:ea typeface="华文中宋" panose="02010600040101010101" pitchFamily="2" charset="-122"/>
              </a:rPr>
              <a:t>I/O</a:t>
            </a:r>
            <a:r>
              <a:rPr lang="zh-CN" altLang="en-US" dirty="0">
                <a:latin typeface="华文中宋" panose="02010600040101010101" pitchFamily="2" charset="-122"/>
                <a:ea typeface="华文中宋" panose="02010600040101010101" pitchFamily="2" charset="-122"/>
              </a:rPr>
              <a:t>系统层次结构和模型</a:t>
            </a:r>
            <a:endParaRPr lang="zh-CN" altLang="en-US" dirty="0">
              <a:latin typeface="华文中宋" panose="02010600040101010101" pitchFamily="2" charset="-122"/>
              <a:ea typeface="华文中宋" panose="02010600040101010101" pitchFamily="2" charset="-122"/>
            </a:endParaRPr>
          </a:p>
        </p:txBody>
      </p:sp>
      <p:sp>
        <p:nvSpPr>
          <p:cNvPr id="5" name="矩形 4"/>
          <p:cNvSpPr/>
          <p:nvPr/>
        </p:nvSpPr>
        <p:spPr>
          <a:xfrm>
            <a:off x="571472" y="1928802"/>
            <a:ext cx="8072494"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zh-CN" altLang="en-US" sz="1600" dirty="0">
                <a:latin typeface="华文中宋" panose="02010600040101010101" pitchFamily="2" charset="-122"/>
                <a:ea typeface="华文中宋" panose="02010600040101010101" pitchFamily="2" charset="-122"/>
              </a:rPr>
              <a:t>      </a:t>
            </a:r>
            <a:r>
              <a:rPr lang="en-US" sz="1600" dirty="0">
                <a:latin typeface="华文中宋" panose="02010600040101010101" pitchFamily="2" charset="-122"/>
                <a:ea typeface="华文中宋" panose="02010600040101010101" pitchFamily="2" charset="-122"/>
              </a:rPr>
              <a:t>I/O</a:t>
            </a:r>
            <a:r>
              <a:rPr lang="zh-CN" altLang="en-US" sz="1600" dirty="0">
                <a:latin typeface="华文中宋" panose="02010600040101010101" pitchFamily="2" charset="-122"/>
                <a:ea typeface="华文中宋" panose="02010600040101010101" pitchFamily="2" charset="-122"/>
              </a:rPr>
              <a:t>系统涉及的内容很广泛，向下与硬件密切相关，向上又与文件系统、虚拟内存系统和用户直接交互。为了使复杂的</a:t>
            </a:r>
            <a:r>
              <a:rPr lang="en-US" sz="1600" dirty="0">
                <a:latin typeface="华文中宋" panose="02010600040101010101" pitchFamily="2" charset="-122"/>
                <a:ea typeface="华文中宋" panose="02010600040101010101" pitchFamily="2" charset="-122"/>
              </a:rPr>
              <a:t>I/O</a:t>
            </a:r>
            <a:r>
              <a:rPr lang="zh-CN" altLang="en-US" sz="1600" dirty="0">
                <a:latin typeface="华文中宋" panose="02010600040101010101" pitchFamily="2" charset="-122"/>
                <a:ea typeface="华文中宋" panose="02010600040101010101" pitchFamily="2" charset="-122"/>
              </a:rPr>
              <a:t>系统具有清晰的架构以及良好的可移植性和易用性，目前普遍采用层次结构的</a:t>
            </a:r>
            <a:r>
              <a:rPr lang="en-US" sz="1600" dirty="0">
                <a:latin typeface="华文中宋" panose="02010600040101010101" pitchFamily="2" charset="-122"/>
                <a:ea typeface="华文中宋" panose="02010600040101010101" pitchFamily="2" charset="-122"/>
              </a:rPr>
              <a:t>I/O</a:t>
            </a:r>
            <a:r>
              <a:rPr lang="zh-CN" altLang="en-US" sz="1600" dirty="0">
                <a:latin typeface="华文中宋" panose="02010600040101010101" pitchFamily="2" charset="-122"/>
                <a:ea typeface="华文中宋" panose="02010600040101010101" pitchFamily="2" charset="-122"/>
              </a:rPr>
              <a:t>系统。</a:t>
            </a:r>
            <a:endParaRPr lang="zh-CN" altLang="en-US" sz="1600" dirty="0">
              <a:latin typeface="华文中宋" panose="02010600040101010101" pitchFamily="2" charset="-122"/>
              <a:ea typeface="华文中宋" panose="02010600040101010101" pitchFamily="2" charset="-122"/>
            </a:endParaRPr>
          </a:p>
        </p:txBody>
      </p:sp>
      <p:pic>
        <p:nvPicPr>
          <p:cNvPr id="2049" name="Picture 1" descr="图7-3  IO系统软件层次结构"/>
          <p:cNvPicPr>
            <a:picLocks noChangeAspect="1" noChangeArrowheads="1"/>
          </p:cNvPicPr>
          <p:nvPr/>
        </p:nvPicPr>
        <p:blipFill>
          <a:blip r:embed="rId1"/>
          <a:srcRect/>
          <a:stretch>
            <a:fillRect/>
          </a:stretch>
        </p:blipFill>
        <p:spPr bwMode="auto">
          <a:xfrm>
            <a:off x="1857355" y="3500438"/>
            <a:ext cx="5362345" cy="2714644"/>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357158" y="1357298"/>
            <a:ext cx="3587842" cy="369332"/>
          </a:xfrm>
          <a:prstGeom prst="rect">
            <a:avLst/>
          </a:prstGeom>
        </p:spPr>
        <p:txBody>
          <a:bodyPr wrap="none">
            <a:spAutoFit/>
          </a:bodyPr>
          <a:lstStyle/>
          <a:p>
            <a:r>
              <a:rPr lang="en-US" dirty="0">
                <a:latin typeface="华文中宋" panose="02010600040101010101" pitchFamily="2" charset="-122"/>
                <a:ea typeface="华文中宋" panose="02010600040101010101" pitchFamily="2" charset="-122"/>
              </a:rPr>
              <a:t>I/O</a:t>
            </a:r>
            <a:r>
              <a:rPr lang="zh-CN" altLang="en-US" dirty="0">
                <a:latin typeface="华文中宋" panose="02010600040101010101" pitchFamily="2" charset="-122"/>
                <a:ea typeface="华文中宋" panose="02010600040101010101" pitchFamily="2" charset="-122"/>
              </a:rPr>
              <a:t>系统中各模块之间的层次架构</a:t>
            </a:r>
            <a:endParaRPr lang="zh-CN" altLang="en-US" dirty="0">
              <a:latin typeface="华文中宋" panose="02010600040101010101" pitchFamily="2" charset="-122"/>
              <a:ea typeface="华文中宋" panose="02010600040101010101" pitchFamily="2" charset="-122"/>
            </a:endParaRPr>
          </a:p>
        </p:txBody>
      </p:sp>
      <p:sp>
        <p:nvSpPr>
          <p:cNvPr id="94210"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94209" name="Object 1"/>
          <p:cNvGraphicFramePr>
            <a:graphicFrameLocks noChangeAspect="1"/>
          </p:cNvGraphicFramePr>
          <p:nvPr/>
        </p:nvGraphicFramePr>
        <p:xfrm>
          <a:off x="142844" y="115472"/>
          <a:ext cx="8572560" cy="6467891"/>
        </p:xfrm>
        <a:graphic>
          <a:graphicData uri="http://schemas.openxmlformats.org/presentationml/2006/ole">
            <mc:AlternateContent xmlns:mc="http://schemas.openxmlformats.org/markup-compatibility/2006">
              <mc:Choice xmlns:v="urn:schemas-microsoft-com:vml" Requires="v">
                <p:oleObj spid="_x0000_s94276" name="Visio" r:id="rId1" imgW="10845800" imgH="9956800" progId="Visio.Drawing.11">
                  <p:embed/>
                </p:oleObj>
              </mc:Choice>
              <mc:Fallback>
                <p:oleObj name="Visio" r:id="rId1" imgW="10845800" imgH="99568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44" y="115472"/>
                        <a:ext cx="8572560" cy="6467891"/>
                      </a:xfrm>
                      <a:prstGeom prst="rect">
                        <a:avLst/>
                      </a:prstGeom>
                      <a:solidFill>
                        <a:schemeClr val="bg1"/>
                      </a:solidFill>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214282" y="1357298"/>
            <a:ext cx="3400290" cy="369332"/>
          </a:xfrm>
          <a:prstGeom prst="rect">
            <a:avLst/>
          </a:prstGeom>
        </p:spPr>
        <p:txBody>
          <a:bodyPr wrap="none">
            <a:spAutoFit/>
          </a:bodyPr>
          <a:lstStyle/>
          <a:p>
            <a:r>
              <a:rPr lang="en-US" dirty="0">
                <a:latin typeface="华文中宋" panose="02010600040101010101" pitchFamily="2" charset="-122"/>
                <a:ea typeface="华文中宋" panose="02010600040101010101" pitchFamily="2" charset="-122"/>
              </a:rPr>
              <a:t>§7.2  I/O</a:t>
            </a:r>
            <a:r>
              <a:rPr lang="zh-CN" altLang="en-US" dirty="0">
                <a:latin typeface="华文中宋" panose="02010600040101010101" pitchFamily="2" charset="-122"/>
                <a:ea typeface="华文中宋" panose="02010600040101010101" pitchFamily="2" charset="-122"/>
              </a:rPr>
              <a:t>系统硬件结构和组织</a:t>
            </a:r>
            <a:endParaRPr lang="zh-CN" altLang="en-US" dirty="0">
              <a:latin typeface="华文中宋" panose="02010600040101010101" pitchFamily="2" charset="-122"/>
              <a:ea typeface="华文中宋" panose="02010600040101010101" pitchFamily="2" charset="-122"/>
            </a:endParaRPr>
          </a:p>
        </p:txBody>
      </p:sp>
      <p:graphicFrame>
        <p:nvGraphicFramePr>
          <p:cNvPr id="5" name="表格 4"/>
          <p:cNvGraphicFramePr>
            <a:graphicFrameLocks noGrp="1"/>
          </p:cNvGraphicFramePr>
          <p:nvPr/>
        </p:nvGraphicFramePr>
        <p:xfrm>
          <a:off x="785786" y="2214554"/>
          <a:ext cx="7500989" cy="3571899"/>
        </p:xfrm>
        <a:graphic>
          <a:graphicData uri="http://schemas.openxmlformats.org/drawingml/2006/table">
            <a:tbl>
              <a:tblPr/>
              <a:tblGrid>
                <a:gridCol w="1683724"/>
                <a:gridCol w="2408927"/>
                <a:gridCol w="1702967"/>
                <a:gridCol w="1705371"/>
              </a:tblGrid>
              <a:tr h="350776">
                <a:tc gridSpan="4">
                  <a:txBody>
                    <a:bodyPr/>
                    <a:lstStyle/>
                    <a:p>
                      <a:pPr indent="257175" algn="ctr">
                        <a:spcAft>
                          <a:spcPts val="0"/>
                        </a:spcAft>
                      </a:pPr>
                      <a:r>
                        <a:rPr lang="zh-CN" sz="1400" kern="100" dirty="0">
                          <a:latin typeface="华文中宋" panose="02010600040101010101" pitchFamily="2" charset="-122"/>
                          <a:ea typeface="华文中宋" panose="02010600040101010101" pitchFamily="2" charset="-122"/>
                          <a:cs typeface="Times New Roman" panose="02020603050405020304"/>
                        </a:rPr>
                        <a:t>外部设备</a:t>
                      </a:r>
                      <a:endParaRPr lang="zh-CN" sz="14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r>
              <a:tr h="358647">
                <a:tc>
                  <a:txBody>
                    <a:bodyPr/>
                    <a:lstStyle/>
                    <a:p>
                      <a:pPr algn="ctr">
                        <a:spcAft>
                          <a:spcPts val="0"/>
                        </a:spcAft>
                      </a:pPr>
                      <a:r>
                        <a:rPr lang="zh-CN" sz="1400" kern="100">
                          <a:latin typeface="华文中宋" panose="02010600040101010101" pitchFamily="2" charset="-122"/>
                          <a:ea typeface="华文中宋" panose="02010600040101010101" pitchFamily="2" charset="-122"/>
                          <a:cs typeface="Times New Roman" panose="02020603050405020304"/>
                        </a:rPr>
                        <a:t>存储设备</a:t>
                      </a:r>
                      <a:endParaRPr lang="zh-CN" sz="14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100">
                          <a:latin typeface="华文中宋" panose="02010600040101010101" pitchFamily="2" charset="-122"/>
                          <a:ea typeface="华文中宋" panose="02010600040101010101" pitchFamily="2" charset="-122"/>
                          <a:cs typeface="Times New Roman" panose="02020603050405020304"/>
                        </a:rPr>
                        <a:t>输入</a:t>
                      </a:r>
                      <a:r>
                        <a:rPr lang="en-US" sz="1400" kern="100">
                          <a:latin typeface="华文中宋" panose="02010600040101010101" pitchFamily="2" charset="-122"/>
                          <a:ea typeface="华文中宋" panose="02010600040101010101" pitchFamily="2" charset="-122"/>
                          <a:cs typeface="Times New Roman" panose="02020603050405020304"/>
                        </a:rPr>
                        <a:t>/</a:t>
                      </a:r>
                      <a:r>
                        <a:rPr lang="zh-CN" sz="1400" kern="100">
                          <a:latin typeface="华文中宋" panose="02010600040101010101" pitchFamily="2" charset="-122"/>
                          <a:ea typeface="华文中宋" panose="02010600040101010101" pitchFamily="2" charset="-122"/>
                          <a:cs typeface="Times New Roman" panose="02020603050405020304"/>
                        </a:rPr>
                        <a:t>输出设备</a:t>
                      </a:r>
                      <a:endParaRPr lang="zh-CN" sz="14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100" dirty="0">
                          <a:latin typeface="华文中宋" panose="02010600040101010101" pitchFamily="2" charset="-122"/>
                          <a:ea typeface="华文中宋" panose="02010600040101010101" pitchFamily="2" charset="-122"/>
                          <a:cs typeface="Times New Roman" panose="02020603050405020304"/>
                        </a:rPr>
                        <a:t>终端设备</a:t>
                      </a:r>
                      <a:endParaRPr lang="zh-CN" sz="14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100">
                          <a:latin typeface="华文中宋" panose="02010600040101010101" pitchFamily="2" charset="-122"/>
                          <a:ea typeface="华文中宋" panose="02010600040101010101" pitchFamily="2" charset="-122"/>
                          <a:cs typeface="Times New Roman" panose="02020603050405020304"/>
                        </a:rPr>
                        <a:t>脱机设备</a:t>
                      </a:r>
                      <a:endParaRPr lang="zh-CN" sz="14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62476">
                <a:tc>
                  <a:txBody>
                    <a:bodyPr/>
                    <a:lstStyle/>
                    <a:p>
                      <a:pPr indent="257175" algn="just">
                        <a:spcAft>
                          <a:spcPts val="0"/>
                        </a:spcAft>
                      </a:pPr>
                      <a:r>
                        <a:rPr lang="zh-CN" sz="1400" kern="100">
                          <a:latin typeface="华文中宋" panose="02010600040101010101" pitchFamily="2" charset="-122"/>
                          <a:ea typeface="华文中宋" panose="02010600040101010101" pitchFamily="2" charset="-122"/>
                          <a:cs typeface="Times New Roman" panose="02020603050405020304"/>
                        </a:rPr>
                        <a:t>磁带</a:t>
                      </a:r>
                      <a:endParaRPr lang="zh-CN" sz="1400" kern="100">
                        <a:latin typeface="华文中宋" panose="02010600040101010101" pitchFamily="2" charset="-122"/>
                        <a:ea typeface="华文中宋" panose="02010600040101010101" pitchFamily="2" charset="-122"/>
                        <a:cs typeface="Times New Roman" panose="02020603050405020304"/>
                      </a:endParaRPr>
                    </a:p>
                    <a:p>
                      <a:pPr indent="257175" algn="just">
                        <a:spcAft>
                          <a:spcPts val="0"/>
                        </a:spcAft>
                      </a:pPr>
                      <a:r>
                        <a:rPr lang="zh-CN" sz="1400" kern="100">
                          <a:latin typeface="华文中宋" panose="02010600040101010101" pitchFamily="2" charset="-122"/>
                          <a:ea typeface="华文中宋" panose="02010600040101010101" pitchFamily="2" charset="-122"/>
                          <a:cs typeface="Times New Roman" panose="02020603050405020304"/>
                        </a:rPr>
                        <a:t>硬盘</a:t>
                      </a:r>
                      <a:endParaRPr lang="zh-CN" sz="1400" kern="100">
                        <a:latin typeface="华文中宋" panose="02010600040101010101" pitchFamily="2" charset="-122"/>
                        <a:ea typeface="华文中宋" panose="02010600040101010101" pitchFamily="2" charset="-122"/>
                        <a:cs typeface="Times New Roman" panose="02020603050405020304"/>
                      </a:endParaRPr>
                    </a:p>
                    <a:p>
                      <a:pPr indent="257175" algn="just">
                        <a:spcAft>
                          <a:spcPts val="0"/>
                        </a:spcAft>
                      </a:pPr>
                      <a:r>
                        <a:rPr lang="zh-CN" sz="1400" kern="100">
                          <a:latin typeface="华文中宋" panose="02010600040101010101" pitchFamily="2" charset="-122"/>
                          <a:ea typeface="华文中宋" panose="02010600040101010101" pitchFamily="2" charset="-122"/>
                          <a:cs typeface="Times New Roman" panose="02020603050405020304"/>
                        </a:rPr>
                        <a:t>软盘</a:t>
                      </a:r>
                      <a:endParaRPr lang="zh-CN" sz="1400" kern="100">
                        <a:latin typeface="华文中宋" panose="02010600040101010101" pitchFamily="2" charset="-122"/>
                        <a:ea typeface="华文中宋" panose="02010600040101010101" pitchFamily="2" charset="-122"/>
                        <a:cs typeface="Times New Roman" panose="02020603050405020304"/>
                      </a:endParaRPr>
                    </a:p>
                    <a:p>
                      <a:pPr indent="257175" algn="just">
                        <a:spcAft>
                          <a:spcPts val="0"/>
                        </a:spcAft>
                      </a:pPr>
                      <a:r>
                        <a:rPr lang="zh-CN" sz="1400" kern="100">
                          <a:latin typeface="华文中宋" panose="02010600040101010101" pitchFamily="2" charset="-122"/>
                          <a:ea typeface="华文中宋" panose="02010600040101010101" pitchFamily="2" charset="-122"/>
                          <a:cs typeface="Times New Roman" panose="02020603050405020304"/>
                        </a:rPr>
                        <a:t>光盘</a:t>
                      </a:r>
                      <a:endParaRPr lang="zh-CN" sz="1400" kern="100">
                        <a:latin typeface="华文中宋" panose="02010600040101010101" pitchFamily="2" charset="-122"/>
                        <a:ea typeface="华文中宋" panose="02010600040101010101" pitchFamily="2" charset="-122"/>
                        <a:cs typeface="Times New Roman" panose="02020603050405020304"/>
                      </a:endParaRPr>
                    </a:p>
                    <a:p>
                      <a:pPr indent="257175" algn="just">
                        <a:spcAft>
                          <a:spcPts val="0"/>
                        </a:spcAft>
                      </a:pPr>
                      <a:r>
                        <a:rPr lang="en-US" sz="1400" kern="100">
                          <a:latin typeface="华文中宋" panose="02010600040101010101" pitchFamily="2" charset="-122"/>
                          <a:ea typeface="华文中宋" panose="02010600040101010101" pitchFamily="2" charset="-122"/>
                          <a:cs typeface="Times New Roman" panose="02020603050405020304"/>
                        </a:rPr>
                        <a:t>U</a:t>
                      </a:r>
                      <a:r>
                        <a:rPr lang="zh-CN" sz="1400" kern="100">
                          <a:latin typeface="华文中宋" panose="02010600040101010101" pitchFamily="2" charset="-122"/>
                          <a:ea typeface="华文中宋" panose="02010600040101010101" pitchFamily="2" charset="-122"/>
                          <a:cs typeface="Times New Roman" panose="02020603050405020304"/>
                        </a:rPr>
                        <a:t>盘</a:t>
                      </a:r>
                      <a:endParaRPr lang="zh-CN" sz="1400" kern="100">
                        <a:latin typeface="华文中宋" panose="02010600040101010101" pitchFamily="2" charset="-122"/>
                        <a:ea typeface="华文中宋" panose="02010600040101010101" pitchFamily="2" charset="-122"/>
                        <a:cs typeface="Times New Roman" panose="02020603050405020304"/>
                      </a:endParaRPr>
                    </a:p>
                    <a:p>
                      <a:pPr indent="257175" algn="just">
                        <a:spcAft>
                          <a:spcPts val="0"/>
                        </a:spcAft>
                      </a:pPr>
                      <a:r>
                        <a:rPr lang="zh-CN" sz="1400" kern="100">
                          <a:latin typeface="华文中宋" panose="02010600040101010101" pitchFamily="2" charset="-122"/>
                          <a:ea typeface="华文中宋" panose="02010600040101010101" pitchFamily="2" charset="-122"/>
                          <a:cs typeface="Times New Roman" panose="02020603050405020304"/>
                        </a:rPr>
                        <a:t>磁鼓</a:t>
                      </a:r>
                      <a:endParaRPr lang="zh-CN" sz="14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100">
                          <a:latin typeface="华文中宋" panose="02010600040101010101" pitchFamily="2" charset="-122"/>
                          <a:ea typeface="华文中宋" panose="02010600040101010101" pitchFamily="2" charset="-122"/>
                          <a:cs typeface="Times New Roman" panose="02020603050405020304"/>
                        </a:rPr>
                        <a:t>键盘</a:t>
                      </a:r>
                      <a:endParaRPr lang="zh-CN" sz="1400" kern="100">
                        <a:latin typeface="华文中宋" panose="02010600040101010101" pitchFamily="2" charset="-122"/>
                        <a:ea typeface="华文中宋" panose="02010600040101010101" pitchFamily="2" charset="-122"/>
                        <a:cs typeface="Times New Roman" panose="02020603050405020304"/>
                      </a:endParaRPr>
                    </a:p>
                    <a:p>
                      <a:pPr algn="ctr">
                        <a:spcAft>
                          <a:spcPts val="0"/>
                        </a:spcAft>
                      </a:pPr>
                      <a:r>
                        <a:rPr lang="zh-CN" sz="1400" kern="100">
                          <a:latin typeface="华文中宋" panose="02010600040101010101" pitchFamily="2" charset="-122"/>
                          <a:ea typeface="华文中宋" panose="02010600040101010101" pitchFamily="2" charset="-122"/>
                          <a:cs typeface="Times New Roman" panose="02020603050405020304"/>
                        </a:rPr>
                        <a:t>打印机</a:t>
                      </a:r>
                      <a:endParaRPr lang="zh-CN" sz="1400" kern="100">
                        <a:latin typeface="华文中宋" panose="02010600040101010101" pitchFamily="2" charset="-122"/>
                        <a:ea typeface="华文中宋" panose="02010600040101010101" pitchFamily="2" charset="-122"/>
                        <a:cs typeface="Times New Roman" panose="02020603050405020304"/>
                      </a:endParaRPr>
                    </a:p>
                    <a:p>
                      <a:pPr algn="ctr">
                        <a:spcAft>
                          <a:spcPts val="0"/>
                        </a:spcAft>
                      </a:pPr>
                      <a:r>
                        <a:rPr lang="zh-CN" sz="1400" kern="100">
                          <a:latin typeface="华文中宋" panose="02010600040101010101" pitchFamily="2" charset="-122"/>
                          <a:ea typeface="华文中宋" panose="02010600040101010101" pitchFamily="2" charset="-122"/>
                          <a:cs typeface="Times New Roman" panose="02020603050405020304"/>
                        </a:rPr>
                        <a:t>显示器</a:t>
                      </a:r>
                      <a:endParaRPr lang="zh-CN" sz="1400" kern="100">
                        <a:latin typeface="华文中宋" panose="02010600040101010101" pitchFamily="2" charset="-122"/>
                        <a:ea typeface="华文中宋" panose="02010600040101010101" pitchFamily="2" charset="-122"/>
                        <a:cs typeface="Times New Roman" panose="02020603050405020304"/>
                      </a:endParaRPr>
                    </a:p>
                    <a:p>
                      <a:pPr algn="ctr">
                        <a:spcAft>
                          <a:spcPts val="0"/>
                        </a:spcAft>
                      </a:pPr>
                      <a:r>
                        <a:rPr lang="zh-CN" sz="1400" kern="100">
                          <a:latin typeface="华文中宋" panose="02010600040101010101" pitchFamily="2" charset="-122"/>
                          <a:ea typeface="华文中宋" panose="02010600040101010101" pitchFamily="2" charset="-122"/>
                          <a:cs typeface="Times New Roman" panose="02020603050405020304"/>
                        </a:rPr>
                        <a:t>图形输入</a:t>
                      </a:r>
                      <a:r>
                        <a:rPr lang="en-US" sz="1400" kern="100">
                          <a:latin typeface="华文中宋" panose="02010600040101010101" pitchFamily="2" charset="-122"/>
                          <a:ea typeface="华文中宋" panose="02010600040101010101" pitchFamily="2" charset="-122"/>
                          <a:cs typeface="Times New Roman" panose="02020603050405020304"/>
                        </a:rPr>
                        <a:t>/</a:t>
                      </a:r>
                      <a:r>
                        <a:rPr lang="zh-CN" sz="1400" kern="100">
                          <a:latin typeface="华文中宋" panose="02010600040101010101" pitchFamily="2" charset="-122"/>
                          <a:ea typeface="华文中宋" panose="02010600040101010101" pitchFamily="2" charset="-122"/>
                          <a:cs typeface="Times New Roman" panose="02020603050405020304"/>
                        </a:rPr>
                        <a:t>输出设备</a:t>
                      </a:r>
                      <a:endParaRPr lang="zh-CN" sz="1400" kern="100">
                        <a:latin typeface="华文中宋" panose="02010600040101010101" pitchFamily="2" charset="-122"/>
                        <a:ea typeface="华文中宋" panose="02010600040101010101" pitchFamily="2" charset="-122"/>
                        <a:cs typeface="Times New Roman" panose="02020603050405020304"/>
                      </a:endParaRPr>
                    </a:p>
                    <a:p>
                      <a:pPr algn="ctr">
                        <a:spcAft>
                          <a:spcPts val="0"/>
                        </a:spcAft>
                      </a:pPr>
                      <a:r>
                        <a:rPr lang="zh-CN" sz="1400" kern="100">
                          <a:latin typeface="华文中宋" panose="02010600040101010101" pitchFamily="2" charset="-122"/>
                          <a:ea typeface="华文中宋" panose="02010600040101010101" pitchFamily="2" charset="-122"/>
                          <a:cs typeface="Times New Roman" panose="02020603050405020304"/>
                        </a:rPr>
                        <a:t>图像输入</a:t>
                      </a:r>
                      <a:r>
                        <a:rPr lang="en-US" sz="1400" kern="100">
                          <a:latin typeface="华文中宋" panose="02010600040101010101" pitchFamily="2" charset="-122"/>
                          <a:ea typeface="华文中宋" panose="02010600040101010101" pitchFamily="2" charset="-122"/>
                          <a:cs typeface="Times New Roman" panose="02020603050405020304"/>
                        </a:rPr>
                        <a:t>/</a:t>
                      </a:r>
                      <a:r>
                        <a:rPr lang="zh-CN" sz="1400" kern="100">
                          <a:latin typeface="华文中宋" panose="02010600040101010101" pitchFamily="2" charset="-122"/>
                          <a:ea typeface="华文中宋" panose="02010600040101010101" pitchFamily="2" charset="-122"/>
                          <a:cs typeface="Times New Roman" panose="02020603050405020304"/>
                        </a:rPr>
                        <a:t>输出设备</a:t>
                      </a:r>
                      <a:endParaRPr lang="zh-CN" sz="1400" kern="100">
                        <a:latin typeface="华文中宋" panose="02010600040101010101" pitchFamily="2" charset="-122"/>
                        <a:ea typeface="华文中宋" panose="02010600040101010101" pitchFamily="2" charset="-122"/>
                        <a:cs typeface="Times New Roman" panose="02020603050405020304"/>
                      </a:endParaRPr>
                    </a:p>
                    <a:p>
                      <a:pPr algn="ctr">
                        <a:spcAft>
                          <a:spcPts val="0"/>
                        </a:spcAft>
                      </a:pPr>
                      <a:r>
                        <a:rPr lang="zh-CN" sz="1400" kern="100">
                          <a:latin typeface="华文中宋" panose="02010600040101010101" pitchFamily="2" charset="-122"/>
                          <a:ea typeface="华文中宋" panose="02010600040101010101" pitchFamily="2" charset="-122"/>
                          <a:cs typeface="Times New Roman" panose="02020603050405020304"/>
                        </a:rPr>
                        <a:t>绘图仪</a:t>
                      </a:r>
                      <a:endParaRPr lang="zh-CN" sz="1400" kern="100">
                        <a:latin typeface="华文中宋" panose="02010600040101010101" pitchFamily="2" charset="-122"/>
                        <a:ea typeface="华文中宋" panose="02010600040101010101" pitchFamily="2" charset="-122"/>
                        <a:cs typeface="Times New Roman" panose="02020603050405020304"/>
                      </a:endParaRPr>
                    </a:p>
                    <a:p>
                      <a:pPr algn="ctr">
                        <a:spcAft>
                          <a:spcPts val="0"/>
                        </a:spcAft>
                      </a:pPr>
                      <a:r>
                        <a:rPr lang="zh-CN" sz="1400" kern="100">
                          <a:latin typeface="华文中宋" panose="02010600040101010101" pitchFamily="2" charset="-122"/>
                          <a:ea typeface="华文中宋" panose="02010600040101010101" pitchFamily="2" charset="-122"/>
                          <a:cs typeface="Times New Roman" panose="02020603050405020304"/>
                        </a:rPr>
                        <a:t>音频输入</a:t>
                      </a:r>
                      <a:r>
                        <a:rPr lang="en-US" sz="1400" kern="100">
                          <a:latin typeface="华文中宋" panose="02010600040101010101" pitchFamily="2" charset="-122"/>
                          <a:ea typeface="华文中宋" panose="02010600040101010101" pitchFamily="2" charset="-122"/>
                          <a:cs typeface="Times New Roman" panose="02020603050405020304"/>
                        </a:rPr>
                        <a:t>/</a:t>
                      </a:r>
                      <a:r>
                        <a:rPr lang="zh-CN" sz="1400" kern="100">
                          <a:latin typeface="华文中宋" panose="02010600040101010101" pitchFamily="2" charset="-122"/>
                          <a:ea typeface="华文中宋" panose="02010600040101010101" pitchFamily="2" charset="-122"/>
                          <a:cs typeface="Times New Roman" panose="02020603050405020304"/>
                        </a:rPr>
                        <a:t>输出设备</a:t>
                      </a:r>
                      <a:endParaRPr lang="zh-CN" sz="1400" kern="100">
                        <a:latin typeface="华文中宋" panose="02010600040101010101" pitchFamily="2" charset="-122"/>
                        <a:ea typeface="华文中宋" panose="02010600040101010101" pitchFamily="2" charset="-122"/>
                        <a:cs typeface="Times New Roman" panose="02020603050405020304"/>
                      </a:endParaRPr>
                    </a:p>
                    <a:p>
                      <a:pPr algn="ctr">
                        <a:spcAft>
                          <a:spcPts val="0"/>
                        </a:spcAft>
                      </a:pPr>
                      <a:r>
                        <a:rPr lang="zh-CN" sz="1400" kern="100">
                          <a:latin typeface="华文中宋" panose="02010600040101010101" pitchFamily="2" charset="-122"/>
                          <a:ea typeface="华文中宋" panose="02010600040101010101" pitchFamily="2" charset="-122"/>
                          <a:cs typeface="Times New Roman" panose="02020603050405020304"/>
                        </a:rPr>
                        <a:t>网络通信设备</a:t>
                      </a:r>
                      <a:endParaRPr lang="zh-CN" sz="1400" kern="100">
                        <a:latin typeface="华文中宋" panose="02010600040101010101" pitchFamily="2" charset="-122"/>
                        <a:ea typeface="华文中宋" panose="02010600040101010101" pitchFamily="2" charset="-122"/>
                        <a:cs typeface="Times New Roman" panose="02020603050405020304"/>
                      </a:endParaRPr>
                    </a:p>
                    <a:p>
                      <a:pPr algn="ctr">
                        <a:spcAft>
                          <a:spcPts val="0"/>
                        </a:spcAft>
                      </a:pPr>
                      <a:r>
                        <a:rPr lang="zh-CN" sz="1400" kern="100">
                          <a:latin typeface="华文中宋" panose="02010600040101010101" pitchFamily="2" charset="-122"/>
                          <a:ea typeface="华文中宋" panose="02010600040101010101" pitchFamily="2" charset="-122"/>
                          <a:cs typeface="Times New Roman" panose="02020603050405020304"/>
                        </a:rPr>
                        <a:t>其他</a:t>
                      </a:r>
                      <a:endParaRPr lang="zh-CN" sz="1400" kern="10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100" dirty="0">
                          <a:latin typeface="华文中宋" panose="02010600040101010101" pitchFamily="2" charset="-122"/>
                          <a:ea typeface="华文中宋" panose="02010600040101010101" pitchFamily="2" charset="-122"/>
                          <a:cs typeface="Times New Roman" panose="02020603050405020304"/>
                        </a:rPr>
                        <a:t>通用终端</a:t>
                      </a:r>
                      <a:endParaRPr lang="zh-CN" sz="1400" kern="100" dirty="0">
                        <a:latin typeface="华文中宋" panose="02010600040101010101" pitchFamily="2" charset="-122"/>
                        <a:ea typeface="华文中宋" panose="02010600040101010101" pitchFamily="2" charset="-122"/>
                        <a:cs typeface="Times New Roman" panose="02020603050405020304"/>
                      </a:endParaRPr>
                    </a:p>
                    <a:p>
                      <a:pPr algn="ctr">
                        <a:spcAft>
                          <a:spcPts val="0"/>
                        </a:spcAft>
                      </a:pPr>
                      <a:r>
                        <a:rPr lang="zh-CN" sz="1400" kern="100" dirty="0">
                          <a:latin typeface="华文中宋" panose="02010600040101010101" pitchFamily="2" charset="-122"/>
                          <a:ea typeface="华文中宋" panose="02010600040101010101" pitchFamily="2" charset="-122"/>
                          <a:cs typeface="Times New Roman" panose="02020603050405020304"/>
                        </a:rPr>
                        <a:t>专用终端</a:t>
                      </a:r>
                      <a:endParaRPr lang="zh-CN" sz="1400" kern="100" dirty="0">
                        <a:latin typeface="华文中宋" panose="02010600040101010101" pitchFamily="2" charset="-122"/>
                        <a:ea typeface="华文中宋" panose="02010600040101010101" pitchFamily="2" charset="-122"/>
                        <a:cs typeface="Times New Roman" panose="02020603050405020304"/>
                      </a:endParaRPr>
                    </a:p>
                    <a:p>
                      <a:pPr algn="ctr">
                        <a:spcAft>
                          <a:spcPts val="0"/>
                        </a:spcAft>
                      </a:pPr>
                      <a:r>
                        <a:rPr lang="zh-CN" sz="1400" kern="100" dirty="0">
                          <a:latin typeface="华文中宋" panose="02010600040101010101" pitchFamily="2" charset="-122"/>
                          <a:ea typeface="华文中宋" panose="02010600040101010101" pitchFamily="2" charset="-122"/>
                          <a:cs typeface="Times New Roman" panose="02020603050405020304"/>
                        </a:rPr>
                        <a:t>智能终端</a:t>
                      </a:r>
                      <a:endParaRPr lang="zh-CN" sz="1400" kern="100" dirty="0">
                        <a:latin typeface="华文中宋" panose="02010600040101010101" pitchFamily="2" charset="-122"/>
                        <a:ea typeface="华文中宋" panose="02010600040101010101" pitchFamily="2" charset="-122"/>
                        <a:cs typeface="Times New Roman" panose="02020603050405020304"/>
                      </a:endParaRPr>
                    </a:p>
                    <a:p>
                      <a:pPr algn="ctr">
                        <a:spcAft>
                          <a:spcPts val="0"/>
                        </a:spcAft>
                      </a:pPr>
                      <a:r>
                        <a:rPr lang="zh-CN" sz="1400" kern="100" dirty="0">
                          <a:latin typeface="华文中宋" panose="02010600040101010101" pitchFamily="2" charset="-122"/>
                          <a:ea typeface="华文中宋" panose="02010600040101010101" pitchFamily="2" charset="-122"/>
                          <a:cs typeface="Times New Roman" panose="02020603050405020304"/>
                        </a:rPr>
                        <a:t>虚拟终端</a:t>
                      </a:r>
                      <a:endParaRPr lang="zh-CN" sz="14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100" dirty="0">
                          <a:latin typeface="华文中宋" panose="02010600040101010101" pitchFamily="2" charset="-122"/>
                          <a:ea typeface="华文中宋" panose="02010600040101010101" pitchFamily="2" charset="-122"/>
                          <a:cs typeface="Times New Roman" panose="02020603050405020304"/>
                        </a:rPr>
                        <a:t>纸带穿孔机</a:t>
                      </a:r>
                      <a:endParaRPr lang="zh-CN" sz="1400" kern="100" dirty="0">
                        <a:latin typeface="华文中宋" panose="02010600040101010101" pitchFamily="2" charset="-122"/>
                        <a:ea typeface="华文中宋" panose="0201060004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6" name="矩形 5"/>
          <p:cNvSpPr/>
          <p:nvPr/>
        </p:nvSpPr>
        <p:spPr>
          <a:xfrm>
            <a:off x="3000364" y="1785926"/>
            <a:ext cx="2568332" cy="307777"/>
          </a:xfrm>
          <a:prstGeom prst="rect">
            <a:avLst/>
          </a:prstGeom>
        </p:spPr>
        <p:txBody>
          <a:bodyPr wrap="none">
            <a:spAutoFit/>
          </a:bodyPr>
          <a:lstStyle/>
          <a:p>
            <a:r>
              <a:rPr lang="zh-CN" altLang="en-US" sz="1400" dirty="0">
                <a:latin typeface="华文中宋" panose="02010600040101010101" pitchFamily="2" charset="-122"/>
                <a:ea typeface="华文中宋" panose="02010600040101010101" pitchFamily="2" charset="-122"/>
              </a:rPr>
              <a:t>表</a:t>
            </a:r>
            <a:r>
              <a:rPr lang="en-US" sz="1400" dirty="0">
                <a:latin typeface="华文中宋" panose="02010600040101010101" pitchFamily="2" charset="-122"/>
                <a:ea typeface="华文中宋" panose="02010600040101010101" pitchFamily="2" charset="-122"/>
              </a:rPr>
              <a:t>7-1  </a:t>
            </a:r>
            <a:r>
              <a:rPr lang="zh-CN" altLang="en-US" sz="1400" dirty="0">
                <a:latin typeface="华文中宋" panose="02010600040101010101" pitchFamily="2" charset="-122"/>
                <a:ea typeface="华文中宋" panose="02010600040101010101" pitchFamily="2" charset="-122"/>
              </a:rPr>
              <a:t>按使用特性对设备分类</a:t>
            </a:r>
            <a:endParaRPr lang="zh-CN" altLang="en-US" sz="1400" dirty="0">
              <a:latin typeface="华文中宋" panose="02010600040101010101" pitchFamily="2" charset="-122"/>
              <a:ea typeface="华文中宋" panose="0201060004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357158" y="1357298"/>
            <a:ext cx="2610010" cy="369332"/>
          </a:xfrm>
          <a:prstGeom prst="rect">
            <a:avLst/>
          </a:prstGeom>
        </p:spPr>
        <p:txBody>
          <a:bodyPr wrap="none">
            <a:spAutoFit/>
          </a:bodyPr>
          <a:lstStyle/>
          <a:p>
            <a:r>
              <a:rPr lang="en-US" dirty="0">
                <a:latin typeface="华文中宋" panose="02010600040101010101" pitchFamily="2" charset="-122"/>
                <a:ea typeface="华文中宋" panose="02010600040101010101" pitchFamily="2" charset="-122"/>
              </a:rPr>
              <a:t>7.2.3    I/O</a:t>
            </a:r>
            <a:r>
              <a:rPr lang="zh-CN" altLang="en-US" dirty="0">
                <a:latin typeface="华文中宋" panose="02010600040101010101" pitchFamily="2" charset="-122"/>
                <a:ea typeface="华文中宋" panose="02010600040101010101" pitchFamily="2" charset="-122"/>
              </a:rPr>
              <a:t>设备控制器</a:t>
            </a:r>
            <a:endParaRPr lang="zh-CN" altLang="en-US" dirty="0">
              <a:latin typeface="华文中宋" panose="02010600040101010101" pitchFamily="2" charset="-122"/>
              <a:ea typeface="华文中宋" panose="02010600040101010101" pitchFamily="2" charset="-122"/>
            </a:endParaRPr>
          </a:p>
        </p:txBody>
      </p:sp>
      <p:sp>
        <p:nvSpPr>
          <p:cNvPr id="5" name="矩形 4"/>
          <p:cNvSpPr/>
          <p:nvPr/>
        </p:nvSpPr>
        <p:spPr>
          <a:xfrm>
            <a:off x="357158" y="1859340"/>
            <a:ext cx="8429684" cy="263405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buFont typeface="Arial" panose="020B0604020202020204" pitchFamily="34" charset="0"/>
              <a:buChar char="•"/>
            </a:pPr>
            <a:r>
              <a:rPr lang="zh-CN" altLang="en-US" sz="1600" dirty="0">
                <a:latin typeface="华文中宋" panose="02010600040101010101" pitchFamily="2" charset="-122"/>
                <a:ea typeface="华文中宋" panose="02010600040101010101" pitchFamily="2" charset="-122"/>
              </a:rPr>
              <a:t> 设备控制器通常和硬件设备连为一体，主要功能是控制一个或多个</a:t>
            </a:r>
            <a:r>
              <a:rPr lang="en-US" sz="1600" dirty="0">
                <a:latin typeface="华文中宋" panose="02010600040101010101" pitchFamily="2" charset="-122"/>
                <a:ea typeface="华文中宋" panose="02010600040101010101" pitchFamily="2" charset="-122"/>
              </a:rPr>
              <a:t>I/O</a:t>
            </a:r>
            <a:r>
              <a:rPr lang="zh-CN" altLang="en-US" sz="1600" dirty="0">
                <a:latin typeface="华文中宋" panose="02010600040101010101" pitchFamily="2" charset="-122"/>
                <a:ea typeface="华文中宋" panose="02010600040101010101" pitchFamily="2" charset="-122"/>
              </a:rPr>
              <a:t>设备，以实现</a:t>
            </a:r>
            <a:r>
              <a:rPr lang="en-US" sz="1600" dirty="0">
                <a:latin typeface="华文中宋" panose="02010600040101010101" pitchFamily="2" charset="-122"/>
                <a:ea typeface="华文中宋" panose="02010600040101010101" pitchFamily="2" charset="-122"/>
              </a:rPr>
              <a:t>I/O</a:t>
            </a:r>
            <a:r>
              <a:rPr lang="zh-CN" altLang="en-US" sz="1600" dirty="0">
                <a:latin typeface="华文中宋" panose="02010600040101010101" pitchFamily="2" charset="-122"/>
                <a:ea typeface="华文中宋" panose="02010600040101010101" pitchFamily="2" charset="-122"/>
              </a:rPr>
              <a:t>设备和计算机之间的数据交换。</a:t>
            </a:r>
            <a:endParaRPr lang="en-US" altLang="zh-CN" sz="1600"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sz="1600" dirty="0">
                <a:latin typeface="华文中宋" panose="02010600040101010101" pitchFamily="2" charset="-122"/>
                <a:ea typeface="华文中宋" panose="02010600040101010101" pitchFamily="2" charset="-122"/>
              </a:rPr>
              <a:t> I/O</a:t>
            </a:r>
            <a:r>
              <a:rPr lang="zh-CN" altLang="en-US" sz="1600" dirty="0">
                <a:latin typeface="华文中宋" panose="02010600040101010101" pitchFamily="2" charset="-122"/>
                <a:ea typeface="华文中宋" panose="02010600040101010101" pitchFamily="2" charset="-122"/>
              </a:rPr>
              <a:t>控制器是处理机与</a:t>
            </a:r>
            <a:r>
              <a:rPr lang="en-US" sz="1600" dirty="0">
                <a:latin typeface="华文中宋" panose="02010600040101010101" pitchFamily="2" charset="-122"/>
                <a:ea typeface="华文中宋" panose="02010600040101010101" pitchFamily="2" charset="-122"/>
              </a:rPr>
              <a:t>I/O</a:t>
            </a:r>
            <a:r>
              <a:rPr lang="zh-CN" altLang="en-US" sz="1600" dirty="0">
                <a:latin typeface="华文中宋" panose="02010600040101010101" pitchFamily="2" charset="-122"/>
                <a:ea typeface="华文中宋" panose="02010600040101010101" pitchFamily="2" charset="-122"/>
              </a:rPr>
              <a:t>设备之间的接口，接收从处理机发来的命令，控制</a:t>
            </a:r>
            <a:r>
              <a:rPr lang="en-US" sz="1600" dirty="0">
                <a:latin typeface="华文中宋" panose="02010600040101010101" pitchFamily="2" charset="-122"/>
                <a:ea typeface="华文中宋" panose="02010600040101010101" pitchFamily="2" charset="-122"/>
              </a:rPr>
              <a:t>I/O</a:t>
            </a:r>
            <a:r>
              <a:rPr lang="zh-CN" altLang="en-US" sz="1600" dirty="0">
                <a:latin typeface="华文中宋" panose="02010600040101010101" pitchFamily="2" charset="-122"/>
                <a:ea typeface="华文中宋" panose="02010600040101010101" pitchFamily="2" charset="-122"/>
              </a:rPr>
              <a:t>设备工作， 使处理机从繁杂的设备控制事务中解脱出来。</a:t>
            </a:r>
            <a:endParaRPr lang="en-US" altLang="zh-CN" sz="1600"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zh-CN" altLang="en-US" sz="1600" dirty="0">
                <a:latin typeface="华文中宋" panose="02010600040101010101" pitchFamily="2" charset="-122"/>
                <a:ea typeface="华文中宋" panose="02010600040101010101" pitchFamily="2" charset="-122"/>
              </a:rPr>
              <a:t> 设备控制器是一个</a:t>
            </a:r>
            <a:r>
              <a:rPr lang="zh-CN" altLang="en-US" sz="1600" dirty="0">
                <a:solidFill>
                  <a:srgbClr val="FF0000"/>
                </a:solidFill>
                <a:latin typeface="华文中宋" panose="02010600040101010101" pitchFamily="2" charset="-122"/>
                <a:ea typeface="华文中宋" panose="02010600040101010101" pitchFamily="2" charset="-122"/>
              </a:rPr>
              <a:t>可编址</a:t>
            </a:r>
            <a:r>
              <a:rPr lang="zh-CN" altLang="en-US" sz="1600" dirty="0">
                <a:latin typeface="华文中宋" panose="02010600040101010101" pitchFamily="2" charset="-122"/>
                <a:ea typeface="华文中宋" panose="02010600040101010101" pitchFamily="2" charset="-122"/>
              </a:rPr>
              <a:t>的设备，当它仅控制一个设备时，它只有一个唯一的设备地址；若控制器可连接多个设备，则应含有多个设备地址，每一个设备地址对应一个设备。可以把</a:t>
            </a:r>
            <a:endParaRPr lang="en-US" altLang="zh-CN" sz="1600"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altLang="zh-CN" sz="1600" dirty="0">
                <a:latin typeface="华文中宋" panose="02010600040101010101" pitchFamily="2" charset="-122"/>
                <a:ea typeface="华文中宋" panose="02010600040101010101" pitchFamily="2" charset="-122"/>
              </a:rPr>
              <a:t> </a:t>
            </a:r>
            <a:r>
              <a:rPr lang="zh-CN" altLang="en-US" sz="1600" dirty="0">
                <a:latin typeface="华文中宋" panose="02010600040101010101" pitchFamily="2" charset="-122"/>
                <a:ea typeface="华文中宋" panose="02010600040101010101" pitchFamily="2" charset="-122"/>
              </a:rPr>
              <a:t>设备控制器分成两类：字符设备控制器和块设备控制器。</a:t>
            </a:r>
            <a:endParaRPr lang="zh-CN" altLang="en-US" sz="1600" dirty="0">
              <a:latin typeface="华文中宋" panose="02010600040101010101" pitchFamily="2" charset="-122"/>
              <a:ea typeface="华文中宋" panose="02010600040101010101" pitchFamily="2" charset="-122"/>
            </a:endParaRPr>
          </a:p>
        </p:txBody>
      </p:sp>
      <p:sp>
        <p:nvSpPr>
          <p:cNvPr id="107521" name="Rectangle 1"/>
          <p:cNvSpPr>
            <a:spLocks noChangeArrowheads="1"/>
          </p:cNvSpPr>
          <p:nvPr/>
        </p:nvSpPr>
        <p:spPr bwMode="auto">
          <a:xfrm>
            <a:off x="285720" y="4429132"/>
            <a:ext cx="5041765" cy="2354491"/>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50000"/>
              </a:lnSpc>
              <a:spcBef>
                <a:spcPct val="0"/>
              </a:spcBef>
              <a:spcAft>
                <a:spcPct val="0"/>
              </a:spcAft>
              <a:buClrTx/>
              <a:buSzTx/>
              <a:buFontTx/>
              <a:buNone/>
            </a:pPr>
            <a:r>
              <a:rPr kumimoji="0" lang="zh-CN" sz="1600" b="1"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Calibri" panose="020F0502020204030204" pitchFamily="34" charset="0"/>
              </a:rPr>
              <a:t>设备控制器的基本功能</a:t>
            </a:r>
            <a:endParaRPr kumimoji="0" lang="zh-CN" altLang="en-US" sz="16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zh-CN" altLang="en-US" sz="16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Times New Roman" panose="02020603050405020304" pitchFamily="18" charset="0"/>
              </a:rPr>
              <a:t> 接收和识别命令</a:t>
            </a:r>
            <a:r>
              <a:rPr kumimoji="0" lang="zh-CN" altLang="en-US" sz="16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rPr>
              <a:t> </a:t>
            </a:r>
            <a:endParaRPr kumimoji="0" lang="en-US" altLang="zh-CN" sz="16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a:p>
            <a:pPr lvl="0" eaLnBrk="0" fontAlgn="base" hangingPunct="0">
              <a:lnSpc>
                <a:spcPct val="150000"/>
              </a:lnSpc>
              <a:spcBef>
                <a:spcPct val="0"/>
              </a:spcBef>
              <a:spcAft>
                <a:spcPct val="0"/>
              </a:spcAft>
              <a:buFont typeface="Arial" panose="020B0604020202020204" pitchFamily="34" charset="0"/>
              <a:buChar char="•"/>
            </a:pPr>
            <a:r>
              <a:rPr lang="zh-CN" altLang="en-US" sz="1600" dirty="0">
                <a:latin typeface="华文中宋" panose="02010600040101010101" pitchFamily="2" charset="-122"/>
                <a:ea typeface="华文中宋" panose="02010600040101010101" pitchFamily="2" charset="-122"/>
              </a:rPr>
              <a:t> 数据交换</a:t>
            </a:r>
            <a:endParaRPr lang="en-US" altLang="zh-CN" sz="1600" dirty="0">
              <a:latin typeface="华文中宋" panose="02010600040101010101" pitchFamily="2" charset="-122"/>
              <a:ea typeface="华文中宋" panose="02010600040101010101" pitchFamily="2" charset="-122"/>
            </a:endParaRPr>
          </a:p>
          <a:p>
            <a:pPr lvl="0" eaLnBrk="0" fontAlgn="base" hangingPunct="0">
              <a:lnSpc>
                <a:spcPct val="150000"/>
              </a:lnSpc>
              <a:spcBef>
                <a:spcPct val="0"/>
              </a:spcBef>
              <a:spcAft>
                <a:spcPct val="0"/>
              </a:spcAft>
              <a:buFont typeface="Arial" panose="020B0604020202020204" pitchFamily="34" charset="0"/>
              <a:buChar char="•"/>
            </a:pPr>
            <a:r>
              <a:rPr lang="zh-CN" altLang="en-US" sz="1600" dirty="0">
                <a:latin typeface="华文中宋" panose="02010600040101010101" pitchFamily="2" charset="-122"/>
                <a:ea typeface="华文中宋" panose="02010600040101010101" pitchFamily="2" charset="-122"/>
              </a:rPr>
              <a:t> 标识和报告设备的状态</a:t>
            </a:r>
            <a:endParaRPr lang="en-US" altLang="zh-CN" sz="1600" dirty="0">
              <a:latin typeface="华文中宋" panose="02010600040101010101" pitchFamily="2" charset="-122"/>
              <a:ea typeface="华文中宋" panose="02010600040101010101" pitchFamily="2" charset="-122"/>
            </a:endParaRPr>
          </a:p>
          <a:p>
            <a:pPr lvl="0" eaLnBrk="0" fontAlgn="base" hangingPunct="0">
              <a:lnSpc>
                <a:spcPct val="150000"/>
              </a:lnSpc>
              <a:spcBef>
                <a:spcPct val="0"/>
              </a:spcBef>
              <a:spcAft>
                <a:spcPct val="0"/>
              </a:spcAft>
              <a:buFont typeface="Arial" panose="020B0604020202020204" pitchFamily="34" charset="0"/>
              <a:buChar char="•"/>
            </a:pPr>
            <a:r>
              <a:rPr lang="zh-CN" altLang="en-US" sz="1600" dirty="0">
                <a:latin typeface="华文中宋" panose="02010600040101010101" pitchFamily="2" charset="-122"/>
                <a:ea typeface="华文中宋" panose="02010600040101010101" pitchFamily="2" charset="-122"/>
              </a:rPr>
              <a:t> 地址识别</a:t>
            </a:r>
            <a:r>
              <a:rPr lang="en-US" altLang="zh-CN" sz="1600" dirty="0">
                <a:latin typeface="华文中宋" panose="02010600040101010101" pitchFamily="2" charset="-122"/>
                <a:ea typeface="华文中宋" panose="02010600040101010101" pitchFamily="2" charset="-122"/>
              </a:rPr>
              <a:t>——</a:t>
            </a:r>
            <a:r>
              <a:rPr lang="zh-CN" altLang="en-US" sz="1600" dirty="0">
                <a:latin typeface="华文中宋" panose="02010600040101010101" pitchFamily="2" charset="-122"/>
                <a:ea typeface="华文中宋" panose="02010600040101010101" pitchFamily="2" charset="-122"/>
              </a:rPr>
              <a:t>识别设备地址和控制器中的寄存器地址</a:t>
            </a:r>
            <a:endParaRPr lang="en-US" altLang="zh-CN" sz="1600" dirty="0">
              <a:latin typeface="华文中宋" panose="02010600040101010101" pitchFamily="2" charset="-122"/>
              <a:ea typeface="华文中宋" panose="02010600040101010101" pitchFamily="2" charset="-122"/>
            </a:endParaRPr>
          </a:p>
          <a:p>
            <a:pPr lvl="0" eaLnBrk="0" fontAlgn="base" hangingPunct="0">
              <a:lnSpc>
                <a:spcPct val="150000"/>
              </a:lnSpc>
              <a:spcBef>
                <a:spcPct val="0"/>
              </a:spcBef>
              <a:spcAft>
                <a:spcPct val="0"/>
              </a:spcAft>
              <a:buFont typeface="Arial" panose="020B0604020202020204" pitchFamily="34" charset="0"/>
              <a:buChar char="•"/>
            </a:pPr>
            <a:r>
              <a:rPr lang="zh-CN" altLang="en-US" sz="1600" dirty="0">
                <a:latin typeface="华文中宋" panose="02010600040101010101" pitchFamily="2" charset="-122"/>
                <a:ea typeface="华文中宋" panose="02010600040101010101" pitchFamily="2" charset="-122"/>
              </a:rPr>
              <a:t> 数据缓冲区和差错控制</a:t>
            </a:r>
            <a:endParaRPr kumimoji="0" lang="zh-CN" altLang="en-US" sz="16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108546"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08545" name="Object 1"/>
          <p:cNvGraphicFramePr>
            <a:graphicFrameLocks noChangeAspect="1"/>
          </p:cNvGraphicFramePr>
          <p:nvPr/>
        </p:nvGraphicFramePr>
        <p:xfrm>
          <a:off x="285720" y="1643050"/>
          <a:ext cx="8501122" cy="4292849"/>
        </p:xfrm>
        <a:graphic>
          <a:graphicData uri="http://schemas.openxmlformats.org/presentationml/2006/ole">
            <mc:AlternateContent xmlns:mc="http://schemas.openxmlformats.org/markup-compatibility/2006">
              <mc:Choice xmlns:v="urn:schemas-microsoft-com:vml" Requires="v">
                <p:oleObj spid="_x0000_s108612" name="Visio" r:id="rId1" imgW="8343900" imgH="4203700" progId="Visio.Drawing.11">
                  <p:embed/>
                </p:oleObj>
              </mc:Choice>
              <mc:Fallback>
                <p:oleObj name="Visio" r:id="rId1" imgW="8343900" imgH="42037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20" y="1643050"/>
                        <a:ext cx="8501122" cy="42928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285720" y="1357298"/>
            <a:ext cx="1991251" cy="369332"/>
          </a:xfrm>
          <a:prstGeom prst="rect">
            <a:avLst/>
          </a:prstGeom>
        </p:spPr>
        <p:txBody>
          <a:bodyPr wrap="none">
            <a:spAutoFit/>
          </a:bodyPr>
          <a:lstStyle/>
          <a:p>
            <a:r>
              <a:rPr lang="en-US" dirty="0">
                <a:latin typeface="华文中宋" panose="02010600040101010101" pitchFamily="2" charset="-122"/>
                <a:ea typeface="华文中宋" panose="02010600040101010101" pitchFamily="2" charset="-122"/>
              </a:rPr>
              <a:t>7.2.4    I/O </a:t>
            </a:r>
            <a:r>
              <a:rPr lang="zh-CN" altLang="en-US" dirty="0">
                <a:latin typeface="华文中宋" panose="02010600040101010101" pitchFamily="2" charset="-122"/>
                <a:ea typeface="华文中宋" panose="02010600040101010101" pitchFamily="2" charset="-122"/>
              </a:rPr>
              <a:t>通道</a:t>
            </a:r>
            <a:endParaRPr lang="zh-CN" altLang="en-US" dirty="0">
              <a:latin typeface="华文中宋" panose="02010600040101010101" pitchFamily="2" charset="-122"/>
              <a:ea typeface="华文中宋" panose="02010600040101010101" pitchFamily="2" charset="-122"/>
            </a:endParaRPr>
          </a:p>
        </p:txBody>
      </p:sp>
      <p:sp>
        <p:nvSpPr>
          <p:cNvPr id="5" name="矩形 4"/>
          <p:cNvSpPr/>
          <p:nvPr/>
        </p:nvSpPr>
        <p:spPr>
          <a:xfrm>
            <a:off x="500034" y="1928802"/>
            <a:ext cx="8143932"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zh-CN" altLang="en-US" sz="1600" dirty="0">
                <a:latin typeface="华文中宋" panose="02010600040101010101" pitchFamily="2" charset="-122"/>
                <a:ea typeface="华文中宋" panose="02010600040101010101" pitchFamily="2" charset="-122"/>
              </a:rPr>
              <a:t>      虽然在处理器和</a:t>
            </a:r>
            <a:r>
              <a:rPr lang="en-US" sz="1600" dirty="0">
                <a:latin typeface="华文中宋" panose="02010600040101010101" pitchFamily="2" charset="-122"/>
                <a:ea typeface="华文中宋" panose="02010600040101010101" pitchFamily="2" charset="-122"/>
              </a:rPr>
              <a:t>I/O</a:t>
            </a:r>
            <a:r>
              <a:rPr lang="zh-CN" altLang="en-US" sz="1600" dirty="0">
                <a:latin typeface="华文中宋" panose="02010600040101010101" pitchFamily="2" charset="-122"/>
                <a:ea typeface="华文中宋" panose="02010600040101010101" pitchFamily="2" charset="-122"/>
              </a:rPr>
              <a:t>设备之间增加了设备控制器后，已大大减少了处理器对</a:t>
            </a:r>
            <a:r>
              <a:rPr lang="en-US" sz="1600" dirty="0">
                <a:latin typeface="华文中宋" panose="02010600040101010101" pitchFamily="2" charset="-122"/>
                <a:ea typeface="华文中宋" panose="02010600040101010101" pitchFamily="2" charset="-122"/>
              </a:rPr>
              <a:t>I/O</a:t>
            </a:r>
            <a:r>
              <a:rPr lang="zh-CN" altLang="en-US" sz="1600" dirty="0">
                <a:latin typeface="华文中宋" panose="02010600040101010101" pitchFamily="2" charset="-122"/>
                <a:ea typeface="华文中宋" panose="02010600040101010101" pitchFamily="2" charset="-122"/>
              </a:rPr>
              <a:t>的直接干预，但当主机所配置的外设很多时，处理器的负担仍然很重。为此在处理器与设备控制器之间又增设了</a:t>
            </a:r>
            <a:r>
              <a:rPr lang="zh-CN" altLang="en-US" sz="1600" b="1" dirty="0">
                <a:solidFill>
                  <a:srgbClr val="FF0000"/>
                </a:solidFill>
                <a:latin typeface="华文中宋" panose="02010600040101010101" pitchFamily="2" charset="-122"/>
                <a:ea typeface="华文中宋" panose="02010600040101010101" pitchFamily="2" charset="-122"/>
              </a:rPr>
              <a:t>专门负责</a:t>
            </a:r>
            <a:r>
              <a:rPr lang="en-US" sz="1600" b="1" dirty="0">
                <a:solidFill>
                  <a:srgbClr val="FF0000"/>
                </a:solidFill>
                <a:latin typeface="华文中宋" panose="02010600040101010101" pitchFamily="2" charset="-122"/>
                <a:ea typeface="华文中宋" panose="02010600040101010101" pitchFamily="2" charset="-122"/>
              </a:rPr>
              <a:t>I/O</a:t>
            </a:r>
            <a:r>
              <a:rPr lang="zh-CN" altLang="en-US" sz="1600" b="1" dirty="0">
                <a:solidFill>
                  <a:srgbClr val="FF0000"/>
                </a:solidFill>
                <a:latin typeface="华文中宋" panose="02010600040101010101" pitchFamily="2" charset="-122"/>
                <a:ea typeface="华文中宋" panose="02010600040101010101" pitchFamily="2" charset="-122"/>
              </a:rPr>
              <a:t>的处理机</a:t>
            </a:r>
            <a:r>
              <a:rPr lang="zh-CN" altLang="en-US" sz="1600" dirty="0">
                <a:latin typeface="华文中宋" panose="02010600040101010101" pitchFamily="2" charset="-122"/>
                <a:ea typeface="华文中宋" panose="02010600040101010101" pitchFamily="2" charset="-122"/>
              </a:rPr>
              <a:t>，即</a:t>
            </a:r>
            <a:r>
              <a:rPr lang="en-US" sz="1600" b="1" dirty="0">
                <a:solidFill>
                  <a:srgbClr val="FF0000"/>
                </a:solidFill>
                <a:latin typeface="华文中宋" panose="02010600040101010101" pitchFamily="2" charset="-122"/>
                <a:ea typeface="华文中宋" panose="02010600040101010101" pitchFamily="2" charset="-122"/>
              </a:rPr>
              <a:t>I/O</a:t>
            </a:r>
            <a:r>
              <a:rPr lang="zh-CN" altLang="en-US" sz="1600" b="1" dirty="0">
                <a:solidFill>
                  <a:srgbClr val="FF0000"/>
                </a:solidFill>
                <a:latin typeface="华文中宋" panose="02010600040101010101" pitchFamily="2" charset="-122"/>
                <a:ea typeface="华文中宋" panose="02010600040101010101" pitchFamily="2" charset="-122"/>
              </a:rPr>
              <a:t>通道</a:t>
            </a:r>
            <a:r>
              <a:rPr lang="zh-CN" altLang="en-US" sz="1600" dirty="0">
                <a:latin typeface="华文中宋" panose="02010600040101010101" pitchFamily="2" charset="-122"/>
                <a:ea typeface="华文中宋" panose="02010600040101010101" pitchFamily="2" charset="-122"/>
              </a:rPr>
              <a:t>（</a:t>
            </a:r>
            <a:r>
              <a:rPr lang="en-US" sz="1600" dirty="0">
                <a:latin typeface="华文中宋" panose="02010600040101010101" pitchFamily="2" charset="-122"/>
                <a:ea typeface="华文中宋" panose="02010600040101010101" pitchFamily="2" charset="-122"/>
              </a:rPr>
              <a:t>I/O Channel</a:t>
            </a:r>
            <a:r>
              <a:rPr lang="zh-CN" altLang="en-US" sz="1600" dirty="0">
                <a:latin typeface="华文中宋" panose="02010600040101010101" pitchFamily="2" charset="-122"/>
                <a:ea typeface="华文中宋" panose="02010600040101010101" pitchFamily="2" charset="-122"/>
              </a:rPr>
              <a:t>）。</a:t>
            </a:r>
            <a:endParaRPr lang="zh-CN" altLang="en-US" sz="1600" dirty="0">
              <a:latin typeface="华文中宋" panose="02010600040101010101" pitchFamily="2" charset="-122"/>
              <a:ea typeface="华文中宋" panose="02010600040101010101" pitchFamily="2" charset="-122"/>
            </a:endParaRPr>
          </a:p>
        </p:txBody>
      </p:sp>
      <p:sp>
        <p:nvSpPr>
          <p:cNvPr id="6" name="矩形 5"/>
          <p:cNvSpPr/>
          <p:nvPr/>
        </p:nvSpPr>
        <p:spPr>
          <a:xfrm>
            <a:off x="500034" y="3500438"/>
            <a:ext cx="8143932" cy="156966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zh-CN" altLang="en-US" sz="1600" dirty="0">
                <a:latin typeface="华文中宋" panose="02010600040101010101" pitchFamily="2" charset="-122"/>
                <a:ea typeface="华文中宋" panose="02010600040101010101" pitchFamily="2" charset="-122"/>
              </a:rPr>
              <a:t>      把一些原来由处理器处理的</a:t>
            </a:r>
            <a:r>
              <a:rPr lang="en-US" sz="1600" dirty="0">
                <a:latin typeface="华文中宋" panose="02010600040101010101" pitchFamily="2" charset="-122"/>
                <a:ea typeface="华文中宋" panose="02010600040101010101" pitchFamily="2" charset="-122"/>
              </a:rPr>
              <a:t>I/O</a:t>
            </a:r>
            <a:r>
              <a:rPr lang="zh-CN" altLang="en-US" sz="1600" dirty="0">
                <a:latin typeface="华文中宋" panose="02010600040101010101" pitchFamily="2" charset="-122"/>
                <a:ea typeface="华文中宋" panose="02010600040101010101" pitchFamily="2" charset="-122"/>
              </a:rPr>
              <a:t>任务转而由通道来承担，从而把处理器从繁杂的</a:t>
            </a:r>
            <a:r>
              <a:rPr lang="en-US" sz="1600" dirty="0">
                <a:latin typeface="华文中宋" panose="02010600040101010101" pitchFamily="2" charset="-122"/>
                <a:ea typeface="华文中宋" panose="02010600040101010101" pitchFamily="2" charset="-122"/>
              </a:rPr>
              <a:t>I/O</a:t>
            </a:r>
            <a:r>
              <a:rPr lang="zh-CN" altLang="en-US" sz="1600" dirty="0">
                <a:latin typeface="华文中宋" panose="02010600040101010101" pitchFamily="2" charset="-122"/>
                <a:ea typeface="华文中宋" panose="02010600040101010101" pitchFamily="2" charset="-122"/>
              </a:rPr>
              <a:t>任务中解脱出来。设置了通道之后，处理器只需向通道发送一条</a:t>
            </a:r>
            <a:r>
              <a:rPr lang="en-US" sz="1600" b="1" dirty="0">
                <a:solidFill>
                  <a:srgbClr val="FF0000"/>
                </a:solidFill>
                <a:latin typeface="华文中宋" panose="02010600040101010101" pitchFamily="2" charset="-122"/>
                <a:ea typeface="华文中宋" panose="02010600040101010101" pitchFamily="2" charset="-122"/>
              </a:rPr>
              <a:t>I/O</a:t>
            </a:r>
            <a:r>
              <a:rPr lang="zh-CN" altLang="en-US" sz="1600" b="1" dirty="0">
                <a:solidFill>
                  <a:srgbClr val="FF0000"/>
                </a:solidFill>
                <a:latin typeface="华文中宋" panose="02010600040101010101" pitchFamily="2" charset="-122"/>
                <a:ea typeface="华文中宋" panose="02010600040101010101" pitchFamily="2" charset="-122"/>
              </a:rPr>
              <a:t>命令</a:t>
            </a:r>
            <a:r>
              <a:rPr lang="zh-CN" altLang="en-US" sz="1600" dirty="0">
                <a:latin typeface="华文中宋" panose="02010600040101010101" pitchFamily="2" charset="-122"/>
                <a:ea typeface="华文中宋" panose="02010600040101010101" pitchFamily="2" charset="-122"/>
              </a:rPr>
              <a:t>，通道收到后，便从内存中取出本次要执行的</a:t>
            </a:r>
            <a:r>
              <a:rPr lang="zh-CN" altLang="en-US" sz="1600" b="1" dirty="0">
                <a:solidFill>
                  <a:srgbClr val="FF0000"/>
                </a:solidFill>
                <a:latin typeface="华文中宋" panose="02010600040101010101" pitchFamily="2" charset="-122"/>
                <a:ea typeface="华文中宋" panose="02010600040101010101" pitchFamily="2" charset="-122"/>
              </a:rPr>
              <a:t>通道程序</a:t>
            </a:r>
            <a:r>
              <a:rPr lang="zh-CN" altLang="en-US" sz="1600" dirty="0">
                <a:latin typeface="华文中宋" panose="02010600040101010101" pitchFamily="2" charset="-122"/>
                <a:ea typeface="华文中宋" panose="02010600040101010101" pitchFamily="2" charset="-122"/>
              </a:rPr>
              <a:t>，然后执行它，仅当通道完成了指定的</a:t>
            </a:r>
            <a:r>
              <a:rPr lang="en-US" sz="1600" dirty="0">
                <a:latin typeface="华文中宋" panose="02010600040101010101" pitchFamily="2" charset="-122"/>
                <a:ea typeface="华文中宋" panose="02010600040101010101" pitchFamily="2" charset="-122"/>
              </a:rPr>
              <a:t>I/O</a:t>
            </a:r>
            <a:r>
              <a:rPr lang="zh-CN" altLang="en-US" sz="1600" dirty="0">
                <a:latin typeface="华文中宋" panose="02010600040101010101" pitchFamily="2" charset="-122"/>
                <a:ea typeface="华文中宋" panose="02010600040101010101" pitchFamily="2" charset="-122"/>
              </a:rPr>
              <a:t>任务后，才向处理器发中断信号。</a:t>
            </a:r>
            <a:endParaRPr lang="zh-CN" altLang="en-US" sz="1600" dirty="0">
              <a:latin typeface="华文中宋" panose="02010600040101010101" pitchFamily="2" charset="-122"/>
              <a:ea typeface="华文中宋" panose="0201060004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Picture 2"/>
          <p:cNvPicPr>
            <a:picLocks noChangeAspect="1" noChangeArrowheads="1"/>
          </p:cNvPicPr>
          <p:nvPr/>
        </p:nvPicPr>
        <p:blipFill>
          <a:blip r:embed="rId1"/>
          <a:srcRect/>
          <a:stretch>
            <a:fillRect/>
          </a:stretch>
        </p:blipFill>
        <p:spPr bwMode="auto">
          <a:xfrm>
            <a:off x="342900" y="2038373"/>
            <a:ext cx="8801100" cy="3643313"/>
          </a:xfrm>
          <a:prstGeom prst="rect">
            <a:avLst/>
          </a:prstGeom>
          <a:noFill/>
          <a:ln w="9525">
            <a:noFill/>
            <a:miter lim="800000"/>
            <a:headEnd/>
            <a:tailEnd/>
          </a:ln>
        </p:spPr>
      </p:pic>
      <p:sp>
        <p:nvSpPr>
          <p:cNvPr id="5" name="TextBox 4"/>
          <p:cNvSpPr txBox="1">
            <a:spLocks noChangeArrowheads="1"/>
          </p:cNvSpPr>
          <p:nvPr/>
        </p:nvSpPr>
        <p:spPr bwMode="auto">
          <a:xfrm>
            <a:off x="3071802" y="6000768"/>
            <a:ext cx="2723823" cy="369332"/>
          </a:xfrm>
          <a:prstGeom prst="rect">
            <a:avLst/>
          </a:prstGeom>
          <a:noFill/>
          <a:ln w="9525">
            <a:noFill/>
            <a:miter lim="800000"/>
          </a:ln>
        </p:spPr>
        <p:txBody>
          <a:bodyPr wrap="none">
            <a:spAutoFit/>
          </a:bodyPr>
          <a:lstStyle/>
          <a:p>
            <a:r>
              <a:rPr lang="zh-CN" altLang="en-US" dirty="0">
                <a:latin typeface="华文中宋" panose="02010600040101010101" pitchFamily="2" charset="-122"/>
                <a:ea typeface="华文中宋" panose="02010600040101010101" pitchFamily="2" charset="-122"/>
              </a:rPr>
              <a:t>通道结构和通道相关概念</a:t>
            </a:r>
            <a:endParaRPr lang="zh-CN" altLang="en-US" dirty="0">
              <a:latin typeface="华文中宋" panose="02010600040101010101" pitchFamily="2" charset="-122"/>
              <a:ea typeface="华文中宋" panose="02010600040101010101" pitchFamily="2" charset="-122"/>
            </a:endParaRPr>
          </a:p>
        </p:txBody>
      </p:sp>
      <p:sp>
        <p:nvSpPr>
          <p:cNvPr id="6" name="TextBox 5"/>
          <p:cNvSpPr txBox="1">
            <a:spLocks noChangeArrowheads="1"/>
          </p:cNvSpPr>
          <p:nvPr/>
        </p:nvSpPr>
        <p:spPr bwMode="auto">
          <a:xfrm>
            <a:off x="5500688" y="1323998"/>
            <a:ext cx="2464136" cy="646331"/>
          </a:xfrm>
          <a:prstGeom prst="rect">
            <a:avLst/>
          </a:prstGeom>
          <a:noFill/>
          <a:ln w="9525">
            <a:noFill/>
            <a:miter lim="800000"/>
          </a:ln>
        </p:spPr>
        <p:txBody>
          <a:bodyPr wrap="none">
            <a:spAutoFit/>
          </a:bodyPr>
          <a:lstStyle/>
          <a:p>
            <a:pPr algn="l"/>
            <a:r>
              <a:rPr lang="en-US" altLang="zh-CN">
                <a:latin typeface="华文中宋" panose="02010600040101010101" pitchFamily="2" charset="-122"/>
                <a:ea typeface="华文中宋" panose="02010600040101010101" pitchFamily="2" charset="-122"/>
              </a:rPr>
              <a:t>CPU-&gt;</a:t>
            </a:r>
            <a:r>
              <a:rPr lang="zh-CN" altLang="en-US">
                <a:latin typeface="华文中宋" panose="02010600040101010101" pitchFamily="2" charset="-122"/>
                <a:ea typeface="华文中宋" panose="02010600040101010101" pitchFamily="2" charset="-122"/>
              </a:rPr>
              <a:t>通道：</a:t>
            </a:r>
            <a:r>
              <a:rPr lang="en-US" altLang="zh-CN">
                <a:latin typeface="华文中宋" panose="02010600040101010101" pitchFamily="2" charset="-122"/>
                <a:ea typeface="华文中宋" panose="02010600040101010101" pitchFamily="2" charset="-122"/>
              </a:rPr>
              <a:t>I/O</a:t>
            </a:r>
            <a:r>
              <a:rPr lang="zh-CN" altLang="en-US">
                <a:latin typeface="华文中宋" panose="02010600040101010101" pitchFamily="2" charset="-122"/>
                <a:ea typeface="华文中宋" panose="02010600040101010101" pitchFamily="2" charset="-122"/>
              </a:rPr>
              <a:t>指令</a:t>
            </a:r>
            <a:endParaRPr lang="en-US" altLang="zh-CN">
              <a:latin typeface="华文中宋" panose="02010600040101010101" pitchFamily="2" charset="-122"/>
              <a:ea typeface="华文中宋" panose="02010600040101010101" pitchFamily="2" charset="-122"/>
            </a:endParaRPr>
          </a:p>
          <a:p>
            <a:pPr algn="l"/>
            <a:r>
              <a:rPr lang="zh-CN" altLang="en-US">
                <a:latin typeface="华文中宋" panose="02010600040101010101" pitchFamily="2" charset="-122"/>
                <a:ea typeface="华文中宋" panose="02010600040101010101" pitchFamily="2" charset="-122"/>
              </a:rPr>
              <a:t>通道</a:t>
            </a:r>
            <a:r>
              <a:rPr lang="en-US" altLang="zh-CN">
                <a:latin typeface="华文中宋" panose="02010600040101010101" pitchFamily="2" charset="-122"/>
                <a:ea typeface="华文中宋" panose="02010600040101010101" pitchFamily="2" charset="-122"/>
              </a:rPr>
              <a:t>-&gt; </a:t>
            </a:r>
            <a:r>
              <a:rPr lang="zh-CN" altLang="en-US">
                <a:latin typeface="华文中宋" panose="02010600040101010101" pitchFamily="2" charset="-122"/>
                <a:ea typeface="华文中宋" panose="02010600040101010101" pitchFamily="2" charset="-122"/>
              </a:rPr>
              <a:t>设备：</a:t>
            </a:r>
            <a:r>
              <a:rPr lang="en-US" altLang="zh-CN">
                <a:latin typeface="华文中宋" panose="02010600040101010101" pitchFamily="2" charset="-122"/>
                <a:ea typeface="华文中宋" panose="02010600040101010101" pitchFamily="2" charset="-122"/>
              </a:rPr>
              <a:t>CCW</a:t>
            </a:r>
            <a:endParaRPr lang="zh-CN" altLang="en-US">
              <a:latin typeface="华文中宋" panose="02010600040101010101" pitchFamily="2" charset="-122"/>
              <a:ea typeface="华文中宋" panose="02010600040101010101" pitchFamily="2"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428596" y="1859340"/>
            <a:ext cx="8215370" cy="267765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en-US" sz="1600" dirty="0">
                <a:latin typeface="华文中宋" panose="02010600040101010101" pitchFamily="2" charset="-122"/>
                <a:ea typeface="华文中宋" panose="02010600040101010101" pitchFamily="2" charset="-122"/>
              </a:rPr>
              <a:t>      I/O</a:t>
            </a:r>
            <a:r>
              <a:rPr lang="zh-CN" altLang="en-US" sz="1600" dirty="0">
                <a:latin typeface="华文中宋" panose="02010600040101010101" pitchFamily="2" charset="-122"/>
                <a:ea typeface="华文中宋" panose="02010600040101010101" pitchFamily="2" charset="-122"/>
              </a:rPr>
              <a:t>通道实际上是一种特殊的处理机，它具有执行</a:t>
            </a:r>
            <a:r>
              <a:rPr lang="en-US" sz="1600" dirty="0">
                <a:latin typeface="华文中宋" panose="02010600040101010101" pitchFamily="2" charset="-122"/>
                <a:ea typeface="华文中宋" panose="02010600040101010101" pitchFamily="2" charset="-122"/>
              </a:rPr>
              <a:t>I/O</a:t>
            </a:r>
            <a:r>
              <a:rPr lang="zh-CN" altLang="en-US" sz="1600" dirty="0">
                <a:latin typeface="华文中宋" panose="02010600040101010101" pitchFamily="2" charset="-122"/>
                <a:ea typeface="华文中宋" panose="02010600040101010101" pitchFamily="2" charset="-122"/>
              </a:rPr>
              <a:t>指令的能力，并通过编制和执行通道程序（</a:t>
            </a:r>
            <a:r>
              <a:rPr lang="en-US" sz="1600" dirty="0">
                <a:latin typeface="华文中宋" panose="02010600040101010101" pitchFamily="2" charset="-122"/>
                <a:ea typeface="华文中宋" panose="02010600040101010101" pitchFamily="2" charset="-122"/>
              </a:rPr>
              <a:t>I/O</a:t>
            </a:r>
            <a:r>
              <a:rPr lang="zh-CN" altLang="en-US" sz="1600" dirty="0">
                <a:latin typeface="华文中宋" panose="02010600040101010101" pitchFamily="2" charset="-122"/>
                <a:ea typeface="华文中宋" panose="02010600040101010101" pitchFamily="2" charset="-122"/>
              </a:rPr>
              <a:t>程序）来控制</a:t>
            </a:r>
            <a:r>
              <a:rPr lang="en-US" sz="1600" dirty="0">
                <a:latin typeface="华文中宋" panose="02010600040101010101" pitchFamily="2" charset="-122"/>
                <a:ea typeface="华文中宋" panose="02010600040101010101" pitchFamily="2" charset="-122"/>
              </a:rPr>
              <a:t>I/O</a:t>
            </a:r>
            <a:r>
              <a:rPr lang="zh-CN" altLang="en-US" sz="1600" dirty="0">
                <a:latin typeface="华文中宋" panose="02010600040101010101" pitchFamily="2" charset="-122"/>
                <a:ea typeface="华文中宋" panose="02010600040101010101" pitchFamily="2" charset="-122"/>
              </a:rPr>
              <a:t>操作。</a:t>
            </a:r>
            <a:r>
              <a:rPr lang="en-US" sz="1600" dirty="0">
                <a:latin typeface="华文中宋" panose="02010600040101010101" pitchFamily="2" charset="-122"/>
                <a:ea typeface="华文中宋" panose="02010600040101010101" pitchFamily="2" charset="-122"/>
              </a:rPr>
              <a:t>I/O</a:t>
            </a:r>
            <a:r>
              <a:rPr lang="zh-CN" altLang="en-US" sz="1600" dirty="0">
                <a:latin typeface="华文中宋" panose="02010600040101010101" pitchFamily="2" charset="-122"/>
                <a:ea typeface="华文中宋" panose="02010600040101010101" pitchFamily="2" charset="-122"/>
              </a:rPr>
              <a:t>通道与一般处理机不同，主要表现在如下两个方面： </a:t>
            </a:r>
            <a:endParaRPr lang="en-US" altLang="zh-CN" sz="1600"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altLang="zh-CN" sz="1600" dirty="0">
                <a:latin typeface="华文中宋" panose="02010600040101010101" pitchFamily="2" charset="-122"/>
                <a:ea typeface="华文中宋" panose="02010600040101010101" pitchFamily="2" charset="-122"/>
              </a:rPr>
              <a:t> </a:t>
            </a:r>
            <a:r>
              <a:rPr lang="zh-CN" altLang="en-US" sz="1600" dirty="0">
                <a:latin typeface="华文中宋" panose="02010600040101010101" pitchFamily="2" charset="-122"/>
                <a:ea typeface="华文中宋" panose="02010600040101010101" pitchFamily="2" charset="-122"/>
              </a:rPr>
              <a:t>一是其指令类型单一，这是由于通道硬件比较简单，其所能执行的命令主要局限于与</a:t>
            </a:r>
            <a:r>
              <a:rPr lang="en-US" sz="1600" dirty="0">
                <a:latin typeface="华文中宋" panose="02010600040101010101" pitchFamily="2" charset="-122"/>
                <a:ea typeface="华文中宋" panose="02010600040101010101" pitchFamily="2" charset="-122"/>
              </a:rPr>
              <a:t>I/O</a:t>
            </a:r>
            <a:r>
              <a:rPr lang="zh-CN" altLang="en-US" sz="1600" dirty="0">
                <a:latin typeface="华文中宋" panose="02010600040101010101" pitchFamily="2" charset="-122"/>
                <a:ea typeface="华文中宋" panose="02010600040101010101" pitchFamily="2" charset="-122"/>
              </a:rPr>
              <a:t>操作有关的指令；</a:t>
            </a:r>
            <a:endParaRPr lang="en-US" altLang="zh-CN" sz="1600"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zh-CN" altLang="en-US" sz="1600" dirty="0">
                <a:latin typeface="华文中宋" panose="02010600040101010101" pitchFamily="2" charset="-122"/>
                <a:ea typeface="华文中宋" panose="02010600040101010101" pitchFamily="2" charset="-122"/>
              </a:rPr>
              <a:t>二是通道没有自己的内存，通道所执行的通道程序存放在主机的内存中（主机把这些通道程序作为数据块对待），即通道处理机与主处理器共享内存。</a:t>
            </a:r>
            <a:endParaRPr lang="zh-CN" altLang="en-US" sz="1600" dirty="0">
              <a:latin typeface="华文中宋" panose="02010600040101010101" pitchFamily="2" charset="-122"/>
              <a:ea typeface="华文中宋" panose="02010600040101010101" pitchFamily="2"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285720" y="1357298"/>
            <a:ext cx="1114408" cy="369332"/>
          </a:xfrm>
          <a:prstGeom prst="rect">
            <a:avLst/>
          </a:prstGeom>
        </p:spPr>
        <p:txBody>
          <a:bodyPr wrap="none">
            <a:spAutoFit/>
          </a:bodyPr>
          <a:lstStyle/>
          <a:p>
            <a:r>
              <a:rPr lang="zh-CN" altLang="en-US" dirty="0">
                <a:latin typeface="华文中宋" panose="02010600040101010101" pitchFamily="2" charset="-122"/>
                <a:ea typeface="华文中宋" panose="02010600040101010101" pitchFamily="2" charset="-122"/>
              </a:rPr>
              <a:t>通道类型</a:t>
            </a:r>
            <a:endParaRPr lang="zh-CN" altLang="en-US" dirty="0">
              <a:latin typeface="华文中宋" panose="02010600040101010101" pitchFamily="2" charset="-122"/>
              <a:ea typeface="华文中宋" panose="02010600040101010101" pitchFamily="2" charset="-122"/>
            </a:endParaRPr>
          </a:p>
        </p:txBody>
      </p:sp>
      <p:sp>
        <p:nvSpPr>
          <p:cNvPr id="5" name="矩形 4"/>
          <p:cNvSpPr/>
          <p:nvPr/>
        </p:nvSpPr>
        <p:spPr>
          <a:xfrm>
            <a:off x="714348" y="1857364"/>
            <a:ext cx="4923143" cy="369332"/>
          </a:xfrm>
          <a:prstGeom prst="rect">
            <a:avLst/>
          </a:prstGeom>
        </p:spPr>
        <p:txBody>
          <a:bodyPr wrap="none">
            <a:spAutoFit/>
          </a:bodyPr>
          <a:lstStyle/>
          <a:p>
            <a:r>
              <a:rPr lang="zh-CN" altLang="en-US" dirty="0">
                <a:latin typeface="华文中宋" panose="02010600040101010101" pitchFamily="2" charset="-122"/>
                <a:ea typeface="华文中宋" panose="02010600040101010101" pitchFamily="2" charset="-122"/>
              </a:rPr>
              <a:t>字节多路通道（</a:t>
            </a:r>
            <a:r>
              <a:rPr lang="en-US" dirty="0">
                <a:latin typeface="华文中宋" panose="02010600040101010101" pitchFamily="2" charset="-122"/>
                <a:ea typeface="华文中宋" panose="02010600040101010101" pitchFamily="2" charset="-122"/>
              </a:rPr>
              <a:t>Byte Multiplexor Channel</a:t>
            </a:r>
            <a:r>
              <a:rPr lang="zh-CN" altLang="en-US" dirty="0">
                <a:latin typeface="华文中宋" panose="02010600040101010101" pitchFamily="2" charset="-122"/>
                <a:ea typeface="华文中宋" panose="02010600040101010101" pitchFamily="2" charset="-122"/>
              </a:rPr>
              <a:t>）</a:t>
            </a:r>
            <a:endParaRPr lang="zh-CN" altLang="en-US" dirty="0">
              <a:latin typeface="华文中宋" panose="02010600040101010101" pitchFamily="2" charset="-122"/>
              <a:ea typeface="华文中宋" panose="02010600040101010101" pitchFamily="2" charset="-122"/>
            </a:endParaRPr>
          </a:p>
        </p:txBody>
      </p:sp>
      <p:sp>
        <p:nvSpPr>
          <p:cNvPr id="109570"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09569" name="Object 1"/>
          <p:cNvGraphicFramePr>
            <a:graphicFrameLocks noChangeAspect="1"/>
          </p:cNvGraphicFramePr>
          <p:nvPr/>
        </p:nvGraphicFramePr>
        <p:xfrm>
          <a:off x="428596" y="2357430"/>
          <a:ext cx="8358246" cy="3867381"/>
        </p:xfrm>
        <a:graphic>
          <a:graphicData uri="http://schemas.openxmlformats.org/presentationml/2006/ole">
            <mc:AlternateContent xmlns:mc="http://schemas.openxmlformats.org/markup-compatibility/2006">
              <mc:Choice xmlns:v="urn:schemas-microsoft-com:vml" Requires="v">
                <p:oleObj spid="_x0000_s109636" name="Visio" r:id="rId1" imgW="8775700" imgH="3683000" progId="Visio.Drawing.11">
                  <p:embed/>
                </p:oleObj>
              </mc:Choice>
              <mc:Fallback>
                <p:oleObj name="Visio" r:id="rId1" imgW="8775700" imgH="36830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596" y="2357430"/>
                        <a:ext cx="8358246" cy="38673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357158" y="1428736"/>
            <a:ext cx="4581703" cy="369332"/>
          </a:xfrm>
          <a:prstGeom prst="rect">
            <a:avLst/>
          </a:prstGeom>
        </p:spPr>
        <p:txBody>
          <a:bodyPr wrap="none">
            <a:spAutoFit/>
          </a:bodyPr>
          <a:lstStyle/>
          <a:p>
            <a:r>
              <a:rPr lang="zh-CN" altLang="en-US" dirty="0">
                <a:latin typeface="华文中宋" panose="02010600040101010101" pitchFamily="2" charset="-122"/>
                <a:ea typeface="华文中宋" panose="02010600040101010101" pitchFamily="2" charset="-122"/>
              </a:rPr>
              <a:t>数组选择通道（</a:t>
            </a:r>
            <a:r>
              <a:rPr lang="en-US" dirty="0">
                <a:latin typeface="华文中宋" panose="02010600040101010101" pitchFamily="2" charset="-122"/>
                <a:ea typeface="华文中宋" panose="02010600040101010101" pitchFamily="2" charset="-122"/>
              </a:rPr>
              <a:t>Block selector channel</a:t>
            </a:r>
            <a:r>
              <a:rPr lang="zh-CN" altLang="en-US" dirty="0">
                <a:latin typeface="华文中宋" panose="02010600040101010101" pitchFamily="2" charset="-122"/>
                <a:ea typeface="华文中宋" panose="02010600040101010101" pitchFamily="2" charset="-122"/>
              </a:rPr>
              <a:t>）</a:t>
            </a:r>
            <a:endParaRPr lang="zh-CN" altLang="en-US" dirty="0">
              <a:latin typeface="华文中宋" panose="02010600040101010101" pitchFamily="2" charset="-122"/>
              <a:ea typeface="华文中宋" panose="02010600040101010101" pitchFamily="2" charset="-122"/>
            </a:endParaRPr>
          </a:p>
        </p:txBody>
      </p:sp>
      <p:sp>
        <p:nvSpPr>
          <p:cNvPr id="113666"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13665" name="Object 1"/>
          <p:cNvGraphicFramePr>
            <a:graphicFrameLocks noChangeAspect="1"/>
          </p:cNvGraphicFramePr>
          <p:nvPr/>
        </p:nvGraphicFramePr>
        <p:xfrm>
          <a:off x="428596" y="1857364"/>
          <a:ext cx="8157569" cy="1500198"/>
        </p:xfrm>
        <a:graphic>
          <a:graphicData uri="http://schemas.openxmlformats.org/presentationml/2006/ole">
            <mc:AlternateContent xmlns:mc="http://schemas.openxmlformats.org/markup-compatibility/2006">
              <mc:Choice xmlns:v="urn:schemas-microsoft-com:vml" Requires="v">
                <p:oleObj spid="_x0000_s113800" name="Visio" r:id="rId1" imgW="10261600" imgH="1981200" progId="Visio.Drawing.11">
                  <p:embed/>
                </p:oleObj>
              </mc:Choice>
              <mc:Fallback>
                <p:oleObj name="Visio" r:id="rId1" imgW="10261600" imgH="19812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596" y="1857364"/>
                        <a:ext cx="8157569" cy="15001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矩形 6"/>
          <p:cNvSpPr/>
          <p:nvPr/>
        </p:nvSpPr>
        <p:spPr>
          <a:xfrm>
            <a:off x="428596" y="3286124"/>
            <a:ext cx="5004896" cy="369332"/>
          </a:xfrm>
          <a:prstGeom prst="rect">
            <a:avLst/>
          </a:prstGeom>
        </p:spPr>
        <p:txBody>
          <a:bodyPr wrap="none">
            <a:spAutoFit/>
          </a:bodyPr>
          <a:lstStyle/>
          <a:p>
            <a:r>
              <a:rPr lang="zh-CN" altLang="en-US" dirty="0">
                <a:latin typeface="华文中宋" panose="02010600040101010101" pitchFamily="2" charset="-122"/>
                <a:ea typeface="华文中宋" panose="02010600040101010101" pitchFamily="2" charset="-122"/>
              </a:rPr>
              <a:t>数组多路通道（</a:t>
            </a:r>
            <a:r>
              <a:rPr lang="en-US" dirty="0">
                <a:latin typeface="华文中宋" panose="02010600040101010101" pitchFamily="2" charset="-122"/>
                <a:ea typeface="华文中宋" panose="02010600040101010101" pitchFamily="2" charset="-122"/>
              </a:rPr>
              <a:t>Block multiplexor channel</a:t>
            </a:r>
            <a:r>
              <a:rPr lang="zh-CN" altLang="en-US" dirty="0">
                <a:latin typeface="华文中宋" panose="02010600040101010101" pitchFamily="2" charset="-122"/>
                <a:ea typeface="华文中宋" panose="02010600040101010101" pitchFamily="2" charset="-122"/>
              </a:rPr>
              <a:t>）</a:t>
            </a:r>
            <a:endParaRPr lang="zh-CN" altLang="en-US" dirty="0">
              <a:latin typeface="华文中宋" panose="02010600040101010101" pitchFamily="2" charset="-122"/>
              <a:ea typeface="华文中宋" panose="02010600040101010101" pitchFamily="2" charset="-122"/>
            </a:endParaRPr>
          </a:p>
        </p:txBody>
      </p:sp>
      <p:sp>
        <p:nvSpPr>
          <p:cNvPr id="113668"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13667" name="Object 3"/>
          <p:cNvGraphicFramePr>
            <a:graphicFrameLocks noChangeAspect="1"/>
          </p:cNvGraphicFramePr>
          <p:nvPr/>
        </p:nvGraphicFramePr>
        <p:xfrm>
          <a:off x="1571507" y="3714776"/>
          <a:ext cx="6215203" cy="3071810"/>
        </p:xfrm>
        <a:graphic>
          <a:graphicData uri="http://schemas.openxmlformats.org/presentationml/2006/ole">
            <mc:AlternateContent xmlns:mc="http://schemas.openxmlformats.org/markup-compatibility/2006">
              <mc:Choice xmlns:v="urn:schemas-microsoft-com:vml" Requires="v">
                <p:oleObj spid="_x0000_s113801" name="Visio" r:id="rId3" imgW="8674100" imgH="4775200" progId="Visio.Drawing.11">
                  <p:embed/>
                </p:oleObj>
              </mc:Choice>
              <mc:Fallback>
                <p:oleObj name="Visio" r:id="rId3" imgW="8674100" imgH="4775200" progId="Visio.Drawing.11">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1507" y="3714776"/>
                        <a:ext cx="6215203" cy="30718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214282" y="1357298"/>
            <a:ext cx="3145413" cy="369332"/>
          </a:xfrm>
          <a:prstGeom prst="rect">
            <a:avLst/>
          </a:prstGeom>
        </p:spPr>
        <p:txBody>
          <a:bodyPr wrap="none">
            <a:spAutoFit/>
          </a:bodyPr>
          <a:lstStyle/>
          <a:p>
            <a:r>
              <a:rPr lang="en-US" dirty="0">
                <a:latin typeface="华文中宋" panose="02010600040101010101" pitchFamily="2" charset="-122"/>
                <a:ea typeface="华文中宋" panose="02010600040101010101" pitchFamily="2" charset="-122"/>
              </a:rPr>
              <a:t>7.2.5    I/O </a:t>
            </a:r>
            <a:r>
              <a:rPr lang="zh-CN" altLang="en-US" dirty="0">
                <a:latin typeface="华文中宋" panose="02010600040101010101" pitchFamily="2" charset="-122"/>
                <a:ea typeface="华文中宋" panose="02010600040101010101" pitchFamily="2" charset="-122"/>
              </a:rPr>
              <a:t>设备的控制方式</a:t>
            </a:r>
            <a:endParaRPr lang="zh-CN" altLang="en-US" dirty="0">
              <a:latin typeface="华文中宋" panose="02010600040101010101" pitchFamily="2" charset="-122"/>
              <a:ea typeface="华文中宋" panose="02010600040101010101" pitchFamily="2" charset="-122"/>
            </a:endParaRPr>
          </a:p>
        </p:txBody>
      </p:sp>
      <p:sp>
        <p:nvSpPr>
          <p:cNvPr id="114690"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14689" name="Object 1"/>
          <p:cNvGraphicFramePr>
            <a:graphicFrameLocks noChangeAspect="1"/>
          </p:cNvGraphicFramePr>
          <p:nvPr/>
        </p:nvGraphicFramePr>
        <p:xfrm>
          <a:off x="3357554" y="1214422"/>
          <a:ext cx="2714644" cy="5619789"/>
        </p:xfrm>
        <a:graphic>
          <a:graphicData uri="http://schemas.openxmlformats.org/presentationml/2006/ole">
            <mc:AlternateContent xmlns:mc="http://schemas.openxmlformats.org/markup-compatibility/2006">
              <mc:Choice xmlns:v="urn:schemas-microsoft-com:vml" Requires="v">
                <p:oleObj spid="_x0000_s114892" name="Visio" r:id="rId1" imgW="3898900" imgH="8470900" progId="Visio.Drawing.11">
                  <p:embed/>
                </p:oleObj>
              </mc:Choice>
              <mc:Fallback>
                <p:oleObj name="Visio" r:id="rId1" imgW="3898900" imgH="84709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7554" y="1214422"/>
                        <a:ext cx="2714644" cy="56197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4692"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14691" name="Object 3"/>
          <p:cNvGraphicFramePr>
            <a:graphicFrameLocks noChangeAspect="1"/>
          </p:cNvGraphicFramePr>
          <p:nvPr/>
        </p:nvGraphicFramePr>
        <p:xfrm>
          <a:off x="6357950" y="1272263"/>
          <a:ext cx="2500330" cy="5476542"/>
        </p:xfrm>
        <a:graphic>
          <a:graphicData uri="http://schemas.openxmlformats.org/presentationml/2006/ole">
            <mc:AlternateContent xmlns:mc="http://schemas.openxmlformats.org/markup-compatibility/2006">
              <mc:Choice xmlns:v="urn:schemas-microsoft-com:vml" Requires="v">
                <p:oleObj spid="_x0000_s114893" name="Visio" r:id="rId3" imgW="3898900" imgH="8534400" progId="Visio.Drawing.11">
                  <p:embed/>
                </p:oleObj>
              </mc:Choice>
              <mc:Fallback>
                <p:oleObj name="Visio" r:id="rId3" imgW="3898900" imgH="8534400" progId="Visio.Drawing.11">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7950" y="1272263"/>
                        <a:ext cx="2500330" cy="54765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Box 8"/>
          <p:cNvSpPr txBox="1"/>
          <p:nvPr/>
        </p:nvSpPr>
        <p:spPr>
          <a:xfrm>
            <a:off x="357158" y="1857364"/>
            <a:ext cx="1508746" cy="1477328"/>
          </a:xfrm>
          <a:prstGeom prst="rect">
            <a:avLst/>
          </a:prstGeom>
          <a:noFill/>
        </p:spPr>
        <p:txBody>
          <a:bodyPr wrap="none" rtlCol="0">
            <a:spAutoFit/>
          </a:bodyPr>
          <a:lstStyle/>
          <a:p>
            <a:r>
              <a:rPr lang="zh-CN" altLang="en-US" dirty="0">
                <a:latin typeface="华文中宋" panose="02010600040101010101" pitchFamily="2" charset="-122"/>
                <a:ea typeface="华文中宋" panose="02010600040101010101" pitchFamily="2" charset="-122"/>
              </a:rPr>
              <a:t>可编程</a:t>
            </a:r>
            <a:r>
              <a:rPr lang="en-US" altLang="zh-CN" dirty="0">
                <a:latin typeface="华文中宋" panose="02010600040101010101" pitchFamily="2" charset="-122"/>
                <a:ea typeface="华文中宋" panose="02010600040101010101" pitchFamily="2" charset="-122"/>
              </a:rPr>
              <a:t>I/O</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中断驱动</a:t>
            </a:r>
            <a:r>
              <a:rPr lang="en-US" altLang="zh-CN" dirty="0">
                <a:latin typeface="华文中宋" panose="02010600040101010101" pitchFamily="2" charset="-122"/>
                <a:ea typeface="华文中宋" panose="02010600040101010101" pitchFamily="2" charset="-122"/>
              </a:rPr>
              <a:t>I/O</a:t>
            </a:r>
            <a:endParaRPr lang="en-US" altLang="zh-CN" dirty="0">
              <a:latin typeface="华文中宋" panose="02010600040101010101" pitchFamily="2" charset="-122"/>
              <a:ea typeface="华文中宋" panose="02010600040101010101" pitchFamily="2" charset="-122"/>
            </a:endParaRPr>
          </a:p>
          <a:p>
            <a:endParaRPr lang="en-US" altLang="zh-CN" dirty="0">
              <a:latin typeface="华文中宋" panose="02010600040101010101" pitchFamily="2" charset="-122"/>
              <a:ea typeface="华文中宋" panose="02010600040101010101" pitchFamily="2" charset="-122"/>
            </a:endParaRPr>
          </a:p>
          <a:p>
            <a:r>
              <a:rPr lang="en-US" altLang="zh-CN" dirty="0">
                <a:latin typeface="华文中宋" panose="02010600040101010101" pitchFamily="2" charset="-122"/>
                <a:ea typeface="华文中宋" panose="02010600040101010101" pitchFamily="2" charset="-122"/>
              </a:rPr>
              <a:t>DMA</a:t>
            </a:r>
            <a:endParaRPr lang="zh-CN" altLang="en-US" dirty="0">
              <a:latin typeface="华文中宋" panose="02010600040101010101" pitchFamily="2" charset="-122"/>
              <a:ea typeface="华文中宋" panose="02010600040101010101" pitchFamily="2" charset="-122"/>
            </a:endParaRPr>
          </a:p>
        </p:txBody>
      </p:sp>
      <p:sp>
        <p:nvSpPr>
          <p:cNvPr id="114694"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14693" name="Object 5"/>
          <p:cNvGraphicFramePr>
            <a:graphicFrameLocks noChangeAspect="1"/>
          </p:cNvGraphicFramePr>
          <p:nvPr/>
        </p:nvGraphicFramePr>
        <p:xfrm>
          <a:off x="428596" y="3500438"/>
          <a:ext cx="2428892" cy="3033455"/>
        </p:xfrm>
        <a:graphic>
          <a:graphicData uri="http://schemas.openxmlformats.org/presentationml/2006/ole">
            <mc:AlternateContent xmlns:mc="http://schemas.openxmlformats.org/markup-compatibility/2006">
              <mc:Choice xmlns:v="urn:schemas-microsoft-com:vml" Requires="v">
                <p:oleObj spid="_x0000_s114894" name="Visio" r:id="rId5" imgW="2705100" imgH="3327400" progId="Visio.Drawing.11">
                  <p:embed/>
                </p:oleObj>
              </mc:Choice>
              <mc:Fallback>
                <p:oleObj name="Visio" r:id="rId5" imgW="2705100" imgH="3327400" progId="Visio.Drawing.11">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8596" y="3500438"/>
                        <a:ext cx="2428892" cy="30334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115714"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15713" name="Object 1"/>
          <p:cNvGraphicFramePr>
            <a:graphicFrameLocks noChangeAspect="1"/>
          </p:cNvGraphicFramePr>
          <p:nvPr/>
        </p:nvGraphicFramePr>
        <p:xfrm>
          <a:off x="571472" y="1785926"/>
          <a:ext cx="8074699" cy="4143404"/>
        </p:xfrm>
        <a:graphic>
          <a:graphicData uri="http://schemas.openxmlformats.org/presentationml/2006/ole">
            <mc:AlternateContent xmlns:mc="http://schemas.openxmlformats.org/markup-compatibility/2006">
              <mc:Choice xmlns:v="urn:schemas-microsoft-com:vml" Requires="v">
                <p:oleObj spid="_x0000_s115780" name="Visio" r:id="rId1" imgW="9461500" imgH="4533900" progId="Visio.Drawing.11">
                  <p:embed/>
                </p:oleObj>
              </mc:Choice>
              <mc:Fallback>
                <p:oleObj name="Visio" r:id="rId1" imgW="9461500" imgH="45339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472" y="1785926"/>
                        <a:ext cx="8074699" cy="41434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154626"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54625" name="Object 1"/>
          <p:cNvGraphicFramePr>
            <a:graphicFrameLocks noChangeAspect="1"/>
          </p:cNvGraphicFramePr>
          <p:nvPr/>
        </p:nvGraphicFramePr>
        <p:xfrm>
          <a:off x="2500298" y="1214422"/>
          <a:ext cx="4071966" cy="5465822"/>
        </p:xfrm>
        <a:graphic>
          <a:graphicData uri="http://schemas.openxmlformats.org/presentationml/2006/ole">
            <mc:AlternateContent xmlns:mc="http://schemas.openxmlformats.org/markup-compatibility/2006">
              <mc:Choice xmlns:v="urn:schemas-microsoft-com:vml" Requires="v">
                <p:oleObj spid="_x0000_s154692" name="Visio" r:id="rId1" imgW="5270500" imgH="7454900" progId="Visio.Drawing.11">
                  <p:embed/>
                </p:oleObj>
              </mc:Choice>
              <mc:Fallback>
                <p:oleObj name="Visio" r:id="rId1" imgW="5270500" imgH="74549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0298" y="1214422"/>
                        <a:ext cx="4071966" cy="54658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TextBox 3"/>
          <p:cNvSpPr txBox="1"/>
          <p:nvPr/>
        </p:nvSpPr>
        <p:spPr>
          <a:xfrm>
            <a:off x="3428992" y="6357958"/>
            <a:ext cx="1978427" cy="338554"/>
          </a:xfrm>
          <a:prstGeom prst="rect">
            <a:avLst/>
          </a:prstGeom>
          <a:noFill/>
        </p:spPr>
        <p:txBody>
          <a:bodyPr wrap="none" rtlCol="0">
            <a:spAutoFit/>
          </a:bodyPr>
          <a:lstStyle/>
          <a:p>
            <a:r>
              <a:rPr lang="en-US" altLang="zh-CN" sz="1600" dirty="0">
                <a:latin typeface="华文中宋" panose="02010600040101010101" pitchFamily="2" charset="-122"/>
                <a:ea typeface="华文中宋" panose="02010600040101010101" pitchFamily="2" charset="-122"/>
              </a:rPr>
              <a:t>I/O</a:t>
            </a:r>
            <a:r>
              <a:rPr lang="zh-CN" altLang="en-US" sz="1600" dirty="0">
                <a:latin typeface="华文中宋" panose="02010600040101010101" pitchFamily="2" charset="-122"/>
                <a:ea typeface="华文中宋" panose="02010600040101010101" pitchFamily="2" charset="-122"/>
              </a:rPr>
              <a:t>设备控制的层次</a:t>
            </a:r>
            <a:endParaRPr lang="zh-CN" altLang="en-US" sz="1600" dirty="0">
              <a:latin typeface="华文中宋" panose="02010600040101010101" pitchFamily="2" charset="-122"/>
              <a:ea typeface="华文中宋" panose="02010600040101010101" pitchFamily="2" charset="-122"/>
            </a:endParaRPr>
          </a:p>
        </p:txBody>
      </p:sp>
      <p:sp>
        <p:nvSpPr>
          <p:cNvPr id="5" name="TextBox 4"/>
          <p:cNvSpPr txBox="1"/>
          <p:nvPr/>
        </p:nvSpPr>
        <p:spPr>
          <a:xfrm>
            <a:off x="3500430" y="5500702"/>
            <a:ext cx="1854547"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dirty="0"/>
              <a:t>Programming  I/O</a:t>
            </a:r>
            <a:endParaRPr lang="zh-CN" altLang="en-US" dirty="0"/>
          </a:p>
        </p:txBody>
      </p:sp>
      <p:sp>
        <p:nvSpPr>
          <p:cNvPr id="7" name="TextBox 6"/>
          <p:cNvSpPr txBox="1"/>
          <p:nvPr/>
        </p:nvSpPr>
        <p:spPr>
          <a:xfrm>
            <a:off x="5857884" y="5500702"/>
            <a:ext cx="2675732" cy="584775"/>
          </a:xfrm>
          <a:prstGeom prst="rect">
            <a:avLst/>
          </a:prstGeom>
          <a:noFill/>
        </p:spPr>
        <p:txBody>
          <a:bodyPr wrap="none" rtlCol="0">
            <a:spAutoFit/>
          </a:bodyPr>
          <a:lstStyle/>
          <a:p>
            <a:r>
              <a:rPr lang="zh-CN" altLang="en-US" sz="1600" dirty="0">
                <a:latin typeface="华文中宋" panose="02010600040101010101" pitchFamily="2" charset="-122"/>
                <a:ea typeface="华文中宋" panose="02010600040101010101" pitchFamily="2" charset="-122"/>
              </a:rPr>
              <a:t>主</a:t>
            </a:r>
            <a:r>
              <a:rPr lang="en-US" altLang="zh-CN" sz="1600" dirty="0">
                <a:latin typeface="华文中宋" panose="02010600040101010101" pitchFamily="2" charset="-122"/>
                <a:ea typeface="华文中宋" panose="02010600040101010101" pitchFamily="2" charset="-122"/>
              </a:rPr>
              <a:t>CPU</a:t>
            </a:r>
            <a:r>
              <a:rPr lang="zh-CN" altLang="en-US" sz="1600" dirty="0">
                <a:latin typeface="华文中宋" panose="02010600040101010101" pitchFamily="2" charset="-122"/>
                <a:ea typeface="华文中宋" panose="02010600040101010101" pitchFamily="2" charset="-122"/>
              </a:rPr>
              <a:t>循环查询控制器状态</a:t>
            </a:r>
            <a:endParaRPr lang="en-US" altLang="zh-CN" sz="1600" dirty="0">
              <a:latin typeface="华文中宋" panose="02010600040101010101" pitchFamily="2" charset="-122"/>
              <a:ea typeface="华文中宋" panose="02010600040101010101" pitchFamily="2" charset="-122"/>
            </a:endParaRPr>
          </a:p>
          <a:p>
            <a:r>
              <a:rPr lang="zh-CN" altLang="en-US" sz="1600" dirty="0">
                <a:latin typeface="华文中宋" panose="02010600040101010101" pitchFamily="2" charset="-122"/>
                <a:ea typeface="华文中宋" panose="02010600040101010101" pitchFamily="2" charset="-122"/>
              </a:rPr>
              <a:t>一次只能存取一个字节</a:t>
            </a:r>
            <a:endParaRPr lang="zh-CN" altLang="en-US" sz="1600" dirty="0">
              <a:latin typeface="华文中宋" panose="02010600040101010101" pitchFamily="2" charset="-122"/>
              <a:ea typeface="华文中宋" panose="02010600040101010101" pitchFamily="2" charset="-122"/>
            </a:endParaRPr>
          </a:p>
        </p:txBody>
      </p:sp>
      <p:sp>
        <p:nvSpPr>
          <p:cNvPr id="8" name="TextBox 7"/>
          <p:cNvSpPr txBox="1"/>
          <p:nvPr/>
        </p:nvSpPr>
        <p:spPr>
          <a:xfrm>
            <a:off x="3357554" y="4357694"/>
            <a:ext cx="2101986"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dirty="0"/>
              <a:t>Interrupt-driven  I/O</a:t>
            </a:r>
            <a:endParaRPr lang="zh-CN" altLang="en-US" dirty="0"/>
          </a:p>
        </p:txBody>
      </p:sp>
      <p:sp>
        <p:nvSpPr>
          <p:cNvPr id="9" name="TextBox 8"/>
          <p:cNvSpPr txBox="1"/>
          <p:nvPr/>
        </p:nvSpPr>
        <p:spPr>
          <a:xfrm>
            <a:off x="5513816" y="4214818"/>
            <a:ext cx="3701654" cy="584775"/>
          </a:xfrm>
          <a:prstGeom prst="rect">
            <a:avLst/>
          </a:prstGeom>
          <a:noFill/>
        </p:spPr>
        <p:txBody>
          <a:bodyPr wrap="none" rtlCol="0">
            <a:spAutoFit/>
          </a:bodyPr>
          <a:lstStyle/>
          <a:p>
            <a:r>
              <a:rPr lang="zh-CN" altLang="en-US" sz="1600" dirty="0">
                <a:latin typeface="华文中宋" panose="02010600040101010101" pitchFamily="2" charset="-122"/>
                <a:ea typeface="华文中宋" panose="02010600040101010101" pitchFamily="2" charset="-122"/>
              </a:rPr>
              <a:t>主</a:t>
            </a:r>
            <a:r>
              <a:rPr lang="en-US" altLang="zh-CN" sz="1600" dirty="0">
                <a:latin typeface="华文中宋" panose="02010600040101010101" pitchFamily="2" charset="-122"/>
                <a:ea typeface="华文中宋" panose="02010600040101010101" pitchFamily="2" charset="-122"/>
              </a:rPr>
              <a:t>CPU</a:t>
            </a:r>
            <a:r>
              <a:rPr lang="zh-CN" altLang="en-US" sz="1600" dirty="0">
                <a:latin typeface="华文中宋" panose="02010600040101010101" pitchFamily="2" charset="-122"/>
                <a:ea typeface="华文中宋" panose="02010600040101010101" pitchFamily="2" charset="-122"/>
              </a:rPr>
              <a:t>发送命令后不用忙等，中断</a:t>
            </a:r>
            <a:r>
              <a:rPr lang="zh-CN" altLang="en-US" sz="1600">
                <a:latin typeface="华文中宋" panose="02010600040101010101" pitchFamily="2" charset="-122"/>
                <a:ea typeface="华文中宋" panose="02010600040101010101" pitchFamily="2" charset="-122"/>
              </a:rPr>
              <a:t>通</a:t>
            </a:r>
            <a:r>
              <a:rPr lang="zh-CN" altLang="en-US" sz="1600" smtClean="0">
                <a:latin typeface="华文中宋" panose="02010600040101010101" pitchFamily="2" charset="-122"/>
                <a:ea typeface="华文中宋" panose="02010600040101010101" pitchFamily="2" charset="-122"/>
              </a:rPr>
              <a:t>知</a:t>
            </a:r>
            <a:r>
              <a:rPr lang="en-US" altLang="zh-CN" sz="1600" smtClean="0">
                <a:latin typeface="华文中宋" panose="02010600040101010101" pitchFamily="2" charset="-122"/>
                <a:ea typeface="华文中宋" panose="02010600040101010101" pitchFamily="2" charset="-122"/>
              </a:rPr>
              <a:t>,</a:t>
            </a:r>
            <a:endParaRPr lang="en-US" altLang="zh-CN" sz="1600" dirty="0">
              <a:latin typeface="华文中宋" panose="02010600040101010101" pitchFamily="2" charset="-122"/>
              <a:ea typeface="华文中宋" panose="02010600040101010101" pitchFamily="2" charset="-122"/>
            </a:endParaRPr>
          </a:p>
          <a:p>
            <a:r>
              <a:rPr lang="zh-CN" altLang="en-US" sz="1600" dirty="0">
                <a:latin typeface="华文中宋" panose="02010600040101010101" pitchFamily="2" charset="-122"/>
                <a:ea typeface="华文中宋" panose="02010600040101010101" pitchFamily="2" charset="-122"/>
              </a:rPr>
              <a:t>一次只能存取一个字节</a:t>
            </a:r>
            <a:endParaRPr lang="zh-CN" altLang="en-US" sz="1600" dirty="0">
              <a:latin typeface="华文中宋" panose="02010600040101010101" pitchFamily="2" charset="-122"/>
              <a:ea typeface="华文中宋" panose="02010600040101010101" pitchFamily="2" charset="-122"/>
            </a:endParaRPr>
          </a:p>
        </p:txBody>
      </p:sp>
      <p:sp>
        <p:nvSpPr>
          <p:cNvPr id="10" name="TextBox 9"/>
          <p:cNvSpPr txBox="1"/>
          <p:nvPr/>
        </p:nvSpPr>
        <p:spPr>
          <a:xfrm>
            <a:off x="3985886" y="3214686"/>
            <a:ext cx="657552"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dirty="0"/>
              <a:t>DMA</a:t>
            </a:r>
            <a:endParaRPr lang="zh-CN" altLang="en-US" dirty="0"/>
          </a:p>
        </p:txBody>
      </p:sp>
      <p:sp>
        <p:nvSpPr>
          <p:cNvPr id="11" name="TextBox 10"/>
          <p:cNvSpPr txBox="1"/>
          <p:nvPr/>
        </p:nvSpPr>
        <p:spPr>
          <a:xfrm>
            <a:off x="5060831" y="3071810"/>
            <a:ext cx="4083169" cy="830997"/>
          </a:xfrm>
          <a:prstGeom prst="rect">
            <a:avLst/>
          </a:prstGeom>
          <a:noFill/>
        </p:spPr>
        <p:txBody>
          <a:bodyPr wrap="none" rtlCol="0">
            <a:spAutoFit/>
          </a:bodyPr>
          <a:lstStyle/>
          <a:p>
            <a:r>
              <a:rPr lang="zh-CN" altLang="en-US" sz="1600" dirty="0">
                <a:latin typeface="华文中宋" panose="02010600040101010101" pitchFamily="2" charset="-122"/>
                <a:ea typeface="华文中宋" panose="02010600040101010101" pitchFamily="2" charset="-122"/>
              </a:rPr>
              <a:t>主</a:t>
            </a:r>
            <a:r>
              <a:rPr lang="en-US" altLang="zh-CN" sz="1600" dirty="0">
                <a:latin typeface="华文中宋" panose="02010600040101010101" pitchFamily="2" charset="-122"/>
                <a:ea typeface="华文中宋" panose="02010600040101010101" pitchFamily="2" charset="-122"/>
              </a:rPr>
              <a:t>CPU</a:t>
            </a:r>
            <a:r>
              <a:rPr lang="zh-CN" altLang="en-US" sz="1600" dirty="0">
                <a:latin typeface="华文中宋" panose="02010600040101010101" pitchFamily="2" charset="-122"/>
                <a:ea typeface="华文中宋" panose="02010600040101010101" pitchFamily="2" charset="-122"/>
              </a:rPr>
              <a:t>发送命令后不用忙等</a:t>
            </a:r>
            <a:endParaRPr lang="en-US" altLang="zh-CN" sz="1600" dirty="0">
              <a:latin typeface="华文中宋" panose="02010600040101010101" pitchFamily="2" charset="-122"/>
              <a:ea typeface="华文中宋" panose="02010600040101010101" pitchFamily="2" charset="-122"/>
            </a:endParaRPr>
          </a:p>
          <a:p>
            <a:r>
              <a:rPr lang="zh-CN" altLang="en-US" sz="1600" dirty="0">
                <a:latin typeface="华文中宋" panose="02010600040101010101" pitchFamily="2" charset="-122"/>
                <a:ea typeface="华文中宋" panose="02010600040101010101" pitchFamily="2" charset="-122"/>
              </a:rPr>
              <a:t>一次存取一个块数据，存取结束后中断通知</a:t>
            </a:r>
            <a:endParaRPr lang="en-US" altLang="zh-CN" sz="1600" dirty="0">
              <a:latin typeface="华文中宋" panose="02010600040101010101" pitchFamily="2" charset="-122"/>
              <a:ea typeface="华文中宋" panose="02010600040101010101" pitchFamily="2" charset="-122"/>
            </a:endParaRPr>
          </a:p>
          <a:p>
            <a:r>
              <a:rPr lang="zh-CN" altLang="en-US" sz="1600" dirty="0">
                <a:latin typeface="华文中宋" panose="02010600040101010101" pitchFamily="2" charset="-122"/>
                <a:ea typeface="华文中宋" panose="02010600040101010101" pitchFamily="2" charset="-122"/>
              </a:rPr>
              <a:t>但是要窃取总线周期</a:t>
            </a:r>
            <a:endParaRPr lang="zh-CN" altLang="en-US" sz="1600" dirty="0">
              <a:latin typeface="华文中宋" panose="02010600040101010101" pitchFamily="2" charset="-122"/>
              <a:ea typeface="华文中宋" panose="02010600040101010101" pitchFamily="2" charset="-122"/>
            </a:endParaRPr>
          </a:p>
        </p:txBody>
      </p:sp>
      <p:sp>
        <p:nvSpPr>
          <p:cNvPr id="12" name="TextBox 11"/>
          <p:cNvSpPr txBox="1"/>
          <p:nvPr/>
        </p:nvSpPr>
        <p:spPr>
          <a:xfrm>
            <a:off x="3985886" y="2071678"/>
            <a:ext cx="646331"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dirty="0"/>
              <a:t>通道</a:t>
            </a:r>
            <a:endParaRPr lang="zh-CN" altLang="en-US" dirty="0"/>
          </a:p>
        </p:txBody>
      </p:sp>
      <p:sp>
        <p:nvSpPr>
          <p:cNvPr id="13" name="TextBox 12"/>
          <p:cNvSpPr txBox="1"/>
          <p:nvPr/>
        </p:nvSpPr>
        <p:spPr>
          <a:xfrm>
            <a:off x="5132301" y="1928802"/>
            <a:ext cx="3906839" cy="830997"/>
          </a:xfrm>
          <a:prstGeom prst="rect">
            <a:avLst/>
          </a:prstGeom>
          <a:noFill/>
        </p:spPr>
        <p:txBody>
          <a:bodyPr wrap="none" rtlCol="0">
            <a:spAutoFit/>
          </a:bodyPr>
          <a:lstStyle/>
          <a:p>
            <a:r>
              <a:rPr lang="zh-CN" altLang="en-US" sz="1600" dirty="0">
                <a:latin typeface="华文中宋" panose="02010600040101010101" pitchFamily="2" charset="-122"/>
                <a:ea typeface="华文中宋" panose="02010600040101010101" pitchFamily="2" charset="-122"/>
              </a:rPr>
              <a:t>主</a:t>
            </a:r>
            <a:r>
              <a:rPr lang="en-US" altLang="zh-CN" sz="1600" dirty="0">
                <a:latin typeface="华文中宋" panose="02010600040101010101" pitchFamily="2" charset="-122"/>
                <a:ea typeface="华文中宋" panose="02010600040101010101" pitchFamily="2" charset="-122"/>
              </a:rPr>
              <a:t>CPU</a:t>
            </a:r>
            <a:r>
              <a:rPr lang="zh-CN" altLang="en-US" sz="1600" dirty="0">
                <a:latin typeface="华文中宋" panose="02010600040101010101" pitchFamily="2" charset="-122"/>
                <a:ea typeface="华文中宋" panose="02010600040101010101" pitchFamily="2" charset="-122"/>
              </a:rPr>
              <a:t>启动通道，向通道发送命令，通道</a:t>
            </a:r>
            <a:endParaRPr lang="en-US" altLang="zh-CN" sz="1600" dirty="0">
              <a:latin typeface="华文中宋" panose="02010600040101010101" pitchFamily="2" charset="-122"/>
              <a:ea typeface="华文中宋" panose="02010600040101010101" pitchFamily="2" charset="-122"/>
            </a:endParaRPr>
          </a:p>
          <a:p>
            <a:r>
              <a:rPr lang="zh-CN" altLang="en-US" sz="1600" dirty="0">
                <a:latin typeface="华文中宋" panose="02010600040101010101" pitchFamily="2" charset="-122"/>
                <a:ea typeface="华文中宋" panose="02010600040101010101" pitchFamily="2" charset="-122"/>
              </a:rPr>
              <a:t>执行复杂的</a:t>
            </a:r>
            <a:r>
              <a:rPr lang="en-US" altLang="zh-CN" sz="1600" dirty="0">
                <a:latin typeface="华文中宋" panose="02010600040101010101" pitchFamily="2" charset="-122"/>
                <a:ea typeface="华文中宋" panose="02010600040101010101" pitchFamily="2" charset="-122"/>
              </a:rPr>
              <a:t>I/O</a:t>
            </a:r>
            <a:r>
              <a:rPr lang="zh-CN" altLang="en-US" sz="1600" dirty="0">
                <a:latin typeface="华文中宋" panose="02010600040101010101" pitchFamily="2" charset="-122"/>
                <a:ea typeface="华文中宋" panose="02010600040101010101" pitchFamily="2" charset="-122"/>
              </a:rPr>
              <a:t>处理过程</a:t>
            </a:r>
            <a:endParaRPr lang="en-US" altLang="zh-CN" sz="1600" dirty="0">
              <a:latin typeface="华文中宋" panose="02010600040101010101" pitchFamily="2" charset="-122"/>
              <a:ea typeface="华文中宋" panose="02010600040101010101" pitchFamily="2" charset="-122"/>
            </a:endParaRPr>
          </a:p>
          <a:p>
            <a:r>
              <a:rPr lang="zh-CN" altLang="en-US" sz="1600" dirty="0">
                <a:latin typeface="华文中宋" panose="02010600040101010101" pitchFamily="2" charset="-122"/>
                <a:ea typeface="华文中宋" panose="02010600040101010101" pitchFamily="2" charset="-122"/>
              </a:rPr>
              <a:t>有专门的通道总线控制多台设备</a:t>
            </a:r>
            <a:endParaRPr lang="en-US" altLang="zh-CN" sz="1600" dirty="0">
              <a:latin typeface="华文中宋" panose="02010600040101010101" pitchFamily="2" charset="-122"/>
              <a:ea typeface="华文中宋" panose="02010600040101010101" pitchFamily="2" charset="-122"/>
            </a:endParaRPr>
          </a:p>
        </p:txBody>
      </p:sp>
      <p:cxnSp>
        <p:nvCxnSpPr>
          <p:cNvPr id="15" name="直接箭头连接符 14"/>
          <p:cNvCxnSpPr>
            <a:stCxn id="5" idx="0"/>
            <a:endCxn id="8" idx="2"/>
          </p:cNvCxnSpPr>
          <p:nvPr/>
        </p:nvCxnSpPr>
        <p:spPr>
          <a:xfrm rot="16200000" flipV="1">
            <a:off x="4031288" y="5104285"/>
            <a:ext cx="773676" cy="1915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rot="16200000" flipV="1">
            <a:off x="3961269" y="3949136"/>
            <a:ext cx="773676" cy="1915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rot="16200000" flipV="1">
            <a:off x="3908989" y="2806128"/>
            <a:ext cx="773676" cy="1915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rot="5400000" flipH="1" flipV="1">
            <a:off x="71406" y="4000504"/>
            <a:ext cx="3857652" cy="1588"/>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rot="16200000">
            <a:off x="-372293" y="3922691"/>
            <a:ext cx="3685624" cy="369332"/>
          </a:xfrm>
          <a:prstGeom prst="rect">
            <a:avLst/>
          </a:prstGeom>
          <a:noFill/>
        </p:spPr>
        <p:txBody>
          <a:bodyPr wrap="none" rtlCol="0">
            <a:spAutoFit/>
          </a:bodyPr>
          <a:lstStyle/>
          <a:p>
            <a:r>
              <a:rPr lang="zh-CN" altLang="en-US" b="1" dirty="0"/>
              <a:t>主</a:t>
            </a:r>
            <a:r>
              <a:rPr lang="en-US" altLang="zh-CN" b="1" dirty="0"/>
              <a:t>CPU</a:t>
            </a:r>
            <a:r>
              <a:rPr lang="zh-CN" altLang="en-US" b="1" dirty="0"/>
              <a:t>负担的</a:t>
            </a:r>
            <a:r>
              <a:rPr lang="en-US" altLang="zh-CN" b="1" dirty="0"/>
              <a:t>I/O</a:t>
            </a:r>
            <a:r>
              <a:rPr lang="zh-CN" altLang="en-US" b="1" dirty="0"/>
              <a:t>处理任务越来越少</a:t>
            </a:r>
            <a:endParaRPr lang="zh-CN" altLang="en-US" b="1" dirty="0"/>
          </a:p>
        </p:txBody>
      </p:sp>
      <p:sp>
        <p:nvSpPr>
          <p:cNvPr id="21" name="TextBox 20"/>
          <p:cNvSpPr txBox="1"/>
          <p:nvPr/>
        </p:nvSpPr>
        <p:spPr>
          <a:xfrm rot="5400000">
            <a:off x="1001324" y="4075091"/>
            <a:ext cx="3057247" cy="369332"/>
          </a:xfrm>
          <a:prstGeom prst="rect">
            <a:avLst/>
          </a:prstGeom>
          <a:noFill/>
        </p:spPr>
        <p:txBody>
          <a:bodyPr wrap="none" rtlCol="0">
            <a:spAutoFit/>
          </a:bodyPr>
          <a:lstStyle/>
          <a:p>
            <a:r>
              <a:rPr lang="en-US" altLang="zh-CN" b="1" dirty="0"/>
              <a:t>I/O</a:t>
            </a:r>
            <a:r>
              <a:rPr lang="zh-CN" altLang="en-US" b="1" dirty="0"/>
              <a:t>控制器的功能越来越复杂</a:t>
            </a:r>
            <a:endParaRPr lang="zh-CN" altLang="en-US"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19720" y="0"/>
            <a:ext cx="9124280" cy="6669360"/>
          </a:xfrm>
          <a:solidFill>
            <a:schemeClr val="bg1"/>
          </a:solidFill>
        </p:spPr>
        <p:txBody>
          <a:bodyPr>
            <a:normAutofit/>
          </a:bodyPr>
          <a:lstStyle/>
          <a:p>
            <a:pPr marL="0" indent="0">
              <a:buNone/>
            </a:pPr>
            <a:r>
              <a:rPr lang="zh-CN" altLang="en-US" smtClean="0"/>
              <a:t>第五章作业</a:t>
            </a:r>
            <a:endParaRPr lang="en-US" altLang="zh-CN" smtClean="0"/>
          </a:p>
          <a:p>
            <a:pPr marL="0" indent="0">
              <a:buNone/>
            </a:pPr>
            <a:r>
              <a:rPr lang="en-US" altLang="zh-CN" smtClean="0"/>
              <a:t>【11】</a:t>
            </a:r>
            <a:r>
              <a:rPr lang="zh-CN" altLang="en-US" smtClean="0"/>
              <a:t>十进制地址</a:t>
            </a:r>
            <a:r>
              <a:rPr lang="en-US" altLang="zh-CN" smtClean="0"/>
              <a:t>20000</a:t>
            </a:r>
            <a:r>
              <a:rPr lang="zh-CN" altLang="en-US" smtClean="0"/>
              <a:t>，对于大小为</a:t>
            </a:r>
            <a:r>
              <a:rPr lang="en-US" altLang="zh-CN" smtClean="0"/>
              <a:t>4KB</a:t>
            </a:r>
            <a:r>
              <a:rPr lang="zh-CN" altLang="en-US" smtClean="0"/>
              <a:t>和</a:t>
            </a:r>
            <a:r>
              <a:rPr lang="en-US" altLang="zh-CN" smtClean="0"/>
              <a:t>8KB</a:t>
            </a:r>
            <a:r>
              <a:rPr lang="zh-CN" altLang="en-US" smtClean="0"/>
              <a:t>的虚拟页面计算页号和业内偏移。</a:t>
            </a:r>
            <a:endParaRPr lang="en-US" altLang="zh-CN" smtClean="0"/>
          </a:p>
          <a:p>
            <a:pPr marL="0" indent="0">
              <a:buNone/>
            </a:pPr>
            <a:r>
              <a:rPr lang="en-US" altLang="zh-CN" smtClean="0"/>
              <a:t>20000/4096=4</a:t>
            </a:r>
            <a:r>
              <a:rPr lang="zh-CN" altLang="en-US" smtClean="0"/>
              <a:t>号页面</a:t>
            </a:r>
            <a:endParaRPr lang="en-US" altLang="zh-CN" smtClean="0"/>
          </a:p>
          <a:p>
            <a:pPr marL="0" indent="0">
              <a:buNone/>
            </a:pPr>
            <a:r>
              <a:rPr lang="en-US" altLang="zh-CN" smtClean="0"/>
              <a:t>20000%4096=3616</a:t>
            </a:r>
            <a:r>
              <a:rPr lang="zh-CN" altLang="en-US" smtClean="0"/>
              <a:t>页内偏移。</a:t>
            </a:r>
            <a:endParaRPr lang="en-US" altLang="zh-CN" smtClean="0"/>
          </a:p>
          <a:p>
            <a:pPr marL="0" indent="0">
              <a:buNone/>
            </a:pPr>
            <a:r>
              <a:rPr lang="zh-CN" altLang="zh-CN" sz="2000"/>
              <a:t>【</a:t>
            </a:r>
            <a:r>
              <a:rPr lang="en-US" altLang="zh-CN" sz="2000"/>
              <a:t>14</a:t>
            </a:r>
            <a:r>
              <a:rPr lang="zh-CN" altLang="zh-CN" sz="2000"/>
              <a:t>】有二维数组</a:t>
            </a:r>
            <a:r>
              <a:rPr lang="en-US" altLang="zh-CN" sz="2000"/>
              <a:t>int X[64][64]</a:t>
            </a:r>
            <a:r>
              <a:rPr lang="zh-CN" altLang="zh-CN" sz="2000"/>
              <a:t>。假设系统中有四个页框，每个页框大小为</a:t>
            </a:r>
            <a:r>
              <a:rPr lang="en-US" altLang="zh-CN" sz="2000"/>
              <a:t>128</a:t>
            </a:r>
            <a:r>
              <a:rPr lang="zh-CN" altLang="zh-CN" sz="2000"/>
              <a:t>个字（一个整数占用一个字）。处理数组</a:t>
            </a:r>
            <a:r>
              <a:rPr lang="en-US" altLang="zh-CN" sz="2000"/>
              <a:t>X</a:t>
            </a:r>
            <a:r>
              <a:rPr lang="zh-CN" altLang="zh-CN" sz="2000"/>
              <a:t>的程序正好可以放在一页中，而且总是占用</a:t>
            </a:r>
            <a:r>
              <a:rPr lang="en-US" altLang="zh-CN" sz="2000"/>
              <a:t>0</a:t>
            </a:r>
            <a:r>
              <a:rPr lang="zh-CN" altLang="zh-CN" sz="2000"/>
              <a:t>号页。数据会在其它三个页框中被换入和换出。数组</a:t>
            </a:r>
            <a:r>
              <a:rPr lang="en-US" altLang="zh-CN" sz="2000"/>
              <a:t>X</a:t>
            </a:r>
            <a:r>
              <a:rPr lang="zh-CN" altLang="zh-CN" sz="2000"/>
              <a:t>为按行存储。下面两段代码中，哪一个会有最少的缺页中断？并计算缺页中断的次数。</a:t>
            </a:r>
            <a:endParaRPr lang="zh-CN" altLang="zh-CN" sz="2000"/>
          </a:p>
          <a:p>
            <a:pPr marL="0" indent="0">
              <a:buNone/>
            </a:pPr>
            <a:endParaRPr lang="en-US" altLang="zh-CN" sz="2000" smtClean="0"/>
          </a:p>
          <a:p>
            <a:pPr marL="0" indent="0">
              <a:buNone/>
            </a:pPr>
            <a:r>
              <a:rPr lang="en-US" altLang="zh-CN" sz="2000" smtClean="0"/>
              <a:t>A</a:t>
            </a:r>
            <a:r>
              <a:rPr lang="zh-CN" altLang="zh-CN" sz="2000"/>
              <a:t>段：</a:t>
            </a:r>
            <a:endParaRPr lang="zh-CN" altLang="zh-CN" sz="2000"/>
          </a:p>
          <a:p>
            <a:pPr marL="0" indent="0">
              <a:buNone/>
            </a:pPr>
            <a:r>
              <a:rPr lang="en-US" altLang="zh-CN" sz="2000"/>
              <a:t>for (int j=0; j&lt;64;j++)</a:t>
            </a:r>
            <a:endParaRPr lang="zh-CN" altLang="zh-CN" sz="2000"/>
          </a:p>
          <a:p>
            <a:pPr marL="0" indent="0">
              <a:buNone/>
            </a:pPr>
            <a:r>
              <a:rPr lang="en-US" altLang="zh-CN" sz="2000"/>
              <a:t>    for(int i=0; i&lt;64; i++) X[i][j]=0;</a:t>
            </a:r>
            <a:endParaRPr lang="zh-CN" altLang="zh-CN" sz="2000"/>
          </a:p>
          <a:p>
            <a:pPr marL="0" indent="0">
              <a:buNone/>
            </a:pPr>
            <a:r>
              <a:rPr lang="en-US" altLang="zh-CN" sz="2000" smtClean="0"/>
              <a:t>B</a:t>
            </a:r>
            <a:r>
              <a:rPr lang="zh-CN" altLang="zh-CN" sz="2000" smtClean="0"/>
              <a:t>段：</a:t>
            </a:r>
            <a:endParaRPr lang="en-US" altLang="zh-CN" sz="2000" smtClean="0"/>
          </a:p>
          <a:p>
            <a:pPr marL="0" indent="0">
              <a:buNone/>
            </a:pPr>
            <a:r>
              <a:rPr lang="en-US" altLang="zh-CN" sz="2000"/>
              <a:t>for (int </a:t>
            </a:r>
            <a:r>
              <a:rPr lang="en-US" altLang="zh-CN" sz="2000" smtClean="0"/>
              <a:t>i=0</a:t>
            </a:r>
            <a:r>
              <a:rPr lang="en-US" altLang="zh-CN" sz="2000"/>
              <a:t>; j&lt;64;j++)</a:t>
            </a:r>
            <a:endParaRPr lang="zh-CN" altLang="zh-CN" sz="2000"/>
          </a:p>
          <a:p>
            <a:pPr marL="0" indent="0">
              <a:buNone/>
            </a:pPr>
            <a:r>
              <a:rPr lang="en-US" altLang="zh-CN" sz="2000"/>
              <a:t>    for(int </a:t>
            </a:r>
            <a:r>
              <a:rPr lang="en-US" altLang="zh-CN" sz="2000" smtClean="0"/>
              <a:t>j=0</a:t>
            </a:r>
            <a:r>
              <a:rPr lang="en-US" altLang="zh-CN" sz="2000"/>
              <a:t>; i&lt;64; i++) X[i][j]=0;</a:t>
            </a:r>
            <a:endParaRPr lang="zh-CN" altLang="zh-CN" sz="2000"/>
          </a:p>
          <a:p>
            <a:pPr marL="0" indent="0">
              <a:buNone/>
            </a:pPr>
            <a:endParaRPr lang="zh-CN" altLang="en-US" sz="200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0" y="33680"/>
            <a:ext cx="9144000" cy="6779696"/>
          </a:xfrm>
          <a:solidFill>
            <a:schemeClr val="bg1"/>
          </a:solidFill>
        </p:spPr>
        <p:txBody>
          <a:bodyPr/>
          <a:lstStyle/>
          <a:p>
            <a:pPr marL="0" indent="0">
              <a:buNone/>
            </a:pPr>
            <a:endParaRPr lang="zh-CN" altLang="en-US"/>
          </a:p>
        </p:txBody>
      </p:sp>
      <p:sp>
        <p:nvSpPr>
          <p:cNvPr id="4" name="Rectangle 2"/>
          <p:cNvSpPr>
            <a:spLocks noChangeArrowheads="1"/>
          </p:cNvSpPr>
          <p:nvPr/>
        </p:nvSpPr>
        <p:spPr bwMode="auto">
          <a:xfrm>
            <a:off x="539552" y="59406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5" name="对象 4"/>
          <p:cNvGraphicFramePr>
            <a:graphicFrameLocks noChangeAspect="1"/>
          </p:cNvGraphicFramePr>
          <p:nvPr/>
        </p:nvGraphicFramePr>
        <p:xfrm>
          <a:off x="251521" y="762486"/>
          <a:ext cx="4536504" cy="1830563"/>
        </p:xfrm>
        <a:graphic>
          <a:graphicData uri="http://schemas.openxmlformats.org/presentationml/2006/ole">
            <mc:AlternateContent xmlns:mc="http://schemas.openxmlformats.org/markup-compatibility/2006">
              <mc:Choice xmlns:v="urn:schemas-microsoft-com:vml" Requires="v">
                <p:oleObj spid="_x0000_s181365" name="" r:id="rId1" imgW="3077845" imgH="1242695" progId="Visio.Drawing.15">
                  <p:embed/>
                </p:oleObj>
              </mc:Choice>
              <mc:Fallback>
                <p:oleObj name="" r:id="rId1" imgW="3077845" imgH="1242695" progId="Visio.Drawing.15">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1" y="762486"/>
                        <a:ext cx="4536504" cy="1830563"/>
                      </a:xfrm>
                      <a:prstGeom prst="rect">
                        <a:avLst/>
                      </a:prstGeom>
                      <a:noFill/>
                    </p:spPr>
                  </p:pic>
                </p:oleObj>
              </mc:Fallback>
            </mc:AlternateContent>
          </a:graphicData>
        </a:graphic>
      </p:graphicFrame>
      <p:sp>
        <p:nvSpPr>
          <p:cNvPr id="6" name="文本框 5"/>
          <p:cNvSpPr txBox="1"/>
          <p:nvPr/>
        </p:nvSpPr>
        <p:spPr>
          <a:xfrm>
            <a:off x="251319" y="2708903"/>
            <a:ext cx="8654933" cy="1015663"/>
          </a:xfrm>
          <a:prstGeom prst="rect">
            <a:avLst/>
          </a:prstGeom>
          <a:noFill/>
        </p:spPr>
        <p:txBody>
          <a:bodyPr wrap="none" rtlCol="0">
            <a:spAutoFit/>
          </a:bodyPr>
          <a:lstStyle/>
          <a:p>
            <a:pPr>
              <a:lnSpc>
                <a:spcPct val="150000"/>
              </a:lnSpc>
            </a:pPr>
            <a:r>
              <a:rPr lang="zh-CN" altLang="en-US" sz="2000" smtClean="0"/>
              <a:t>一个页框大小为</a:t>
            </a:r>
            <a:r>
              <a:rPr lang="en-US" altLang="zh-CN" sz="2000" smtClean="0"/>
              <a:t>128</a:t>
            </a:r>
            <a:r>
              <a:rPr lang="zh-CN" altLang="en-US" sz="2000" smtClean="0"/>
              <a:t>个字（一个整数占用一个字），因此一个页框可以放</a:t>
            </a:r>
            <a:r>
              <a:rPr lang="en-US" altLang="zh-CN" sz="2000" smtClean="0"/>
              <a:t>2</a:t>
            </a:r>
            <a:r>
              <a:rPr lang="zh-CN" altLang="en-US" sz="2000" smtClean="0"/>
              <a:t>行</a:t>
            </a:r>
            <a:endParaRPr lang="en-US" altLang="zh-CN" sz="2000" smtClean="0"/>
          </a:p>
          <a:p>
            <a:pPr>
              <a:lnSpc>
                <a:spcPct val="150000"/>
              </a:lnSpc>
            </a:pPr>
            <a:r>
              <a:rPr lang="zh-CN" altLang="en-US" sz="2000" smtClean="0"/>
              <a:t>数据。程序占了一个页框，数据占</a:t>
            </a:r>
            <a:r>
              <a:rPr lang="en-US" altLang="zh-CN" sz="2000" smtClean="0"/>
              <a:t>3</a:t>
            </a:r>
            <a:r>
              <a:rPr lang="zh-CN" altLang="en-US" sz="2000" smtClean="0"/>
              <a:t>个页框。</a:t>
            </a:r>
            <a:endParaRPr lang="zh-CN" altLang="en-US" sz="2000"/>
          </a:p>
        </p:txBody>
      </p:sp>
      <p:sp>
        <p:nvSpPr>
          <p:cNvPr id="7" name="Rectangle 6"/>
          <p:cNvSpPr>
            <a:spLocks noChangeArrowheads="1"/>
          </p:cNvSpPr>
          <p:nvPr/>
        </p:nvSpPr>
        <p:spPr bwMode="auto">
          <a:xfrm>
            <a:off x="274479" y="4262243"/>
            <a:ext cx="12856883"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8" name="对象 7"/>
          <p:cNvGraphicFramePr>
            <a:graphicFrameLocks noChangeAspect="1"/>
          </p:cNvGraphicFramePr>
          <p:nvPr/>
        </p:nvGraphicFramePr>
        <p:xfrm>
          <a:off x="266171" y="3960864"/>
          <a:ext cx="2191919" cy="2263100"/>
        </p:xfrm>
        <a:graphic>
          <a:graphicData uri="http://schemas.openxmlformats.org/presentationml/2006/ole">
            <mc:AlternateContent xmlns:mc="http://schemas.openxmlformats.org/markup-compatibility/2006">
              <mc:Choice xmlns:v="urn:schemas-microsoft-com:vml" Requires="v">
                <p:oleObj spid="_x0000_s181366" name="" r:id="rId3" imgW="1203960" imgH="1242695" progId="Visio.Drawing.15">
                  <p:embed/>
                </p:oleObj>
              </mc:Choice>
              <mc:Fallback>
                <p:oleObj name="" r:id="rId3" imgW="1203960" imgH="1242695" progId="Visio.Drawing.15">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171" y="3960864"/>
                        <a:ext cx="2191919" cy="2263100"/>
                      </a:xfrm>
                      <a:prstGeom prst="rect">
                        <a:avLst/>
                      </a:prstGeom>
                      <a:noFill/>
                    </p:spPr>
                  </p:pic>
                </p:oleObj>
              </mc:Fallback>
            </mc:AlternateContent>
          </a:graphicData>
        </a:graphic>
      </p:graphicFrame>
      <p:sp>
        <p:nvSpPr>
          <p:cNvPr id="9" name="文本框 8"/>
          <p:cNvSpPr txBox="1"/>
          <p:nvPr/>
        </p:nvSpPr>
        <p:spPr>
          <a:xfrm>
            <a:off x="2591305" y="3742965"/>
            <a:ext cx="6346609" cy="3785652"/>
          </a:xfrm>
          <a:prstGeom prst="rect">
            <a:avLst/>
          </a:prstGeom>
          <a:noFill/>
        </p:spPr>
        <p:txBody>
          <a:bodyPr wrap="none" rtlCol="0">
            <a:spAutoFit/>
          </a:bodyPr>
          <a:lstStyle/>
          <a:p>
            <a:r>
              <a:rPr lang="en-US" altLang="zh-CN" sz="2000" smtClean="0"/>
              <a:t>A</a:t>
            </a:r>
            <a:r>
              <a:rPr lang="zh-CN" altLang="en-US" sz="2000" smtClean="0"/>
              <a:t>段：按列访问</a:t>
            </a:r>
            <a:endParaRPr lang="en-US" altLang="zh-CN" sz="2000" smtClean="0"/>
          </a:p>
          <a:p>
            <a:r>
              <a:rPr lang="zh-CN" altLang="en-US" sz="2000" smtClean="0"/>
              <a:t>当访问</a:t>
            </a:r>
            <a:r>
              <a:rPr lang="en-US" altLang="zh-CN" sz="2000" smtClean="0"/>
              <a:t>X[0,0]</a:t>
            </a:r>
            <a:r>
              <a:rPr lang="zh-CN" altLang="en-US" sz="2000" smtClean="0"/>
              <a:t>时，把</a:t>
            </a:r>
            <a:r>
              <a:rPr lang="en-US" altLang="zh-CN" sz="2000" smtClean="0"/>
              <a:t>R[0]</a:t>
            </a:r>
            <a:r>
              <a:rPr lang="zh-CN" altLang="en-US" sz="2000" smtClean="0"/>
              <a:t>和</a:t>
            </a:r>
            <a:r>
              <a:rPr lang="en-US" altLang="zh-CN" sz="2000" smtClean="0"/>
              <a:t>R[1]</a:t>
            </a:r>
            <a:r>
              <a:rPr lang="zh-CN" altLang="en-US" sz="2000" smtClean="0"/>
              <a:t>载入</a:t>
            </a:r>
            <a:r>
              <a:rPr lang="en-US" altLang="zh-CN" sz="2000" smtClean="0"/>
              <a:t>PP1</a:t>
            </a:r>
            <a:r>
              <a:rPr lang="zh-CN" altLang="en-US" sz="2000" smtClean="0"/>
              <a:t>，这样当</a:t>
            </a:r>
            <a:r>
              <a:rPr lang="zh-CN" altLang="en-US" sz="2000"/>
              <a:t>访</a:t>
            </a:r>
            <a:r>
              <a:rPr lang="zh-CN" altLang="en-US" sz="2000" smtClean="0"/>
              <a:t>问</a:t>
            </a:r>
            <a:endParaRPr lang="en-US" altLang="zh-CN" sz="2000" smtClean="0"/>
          </a:p>
          <a:p>
            <a:r>
              <a:rPr lang="en-US" altLang="zh-CN" sz="2000" smtClean="0"/>
              <a:t>X[1,0]</a:t>
            </a:r>
            <a:r>
              <a:rPr lang="zh-CN" altLang="en-US" sz="2000" smtClean="0"/>
              <a:t>时，不出现缺页故障；</a:t>
            </a:r>
            <a:endParaRPr lang="en-US" altLang="zh-CN" sz="2000" smtClean="0"/>
          </a:p>
          <a:p>
            <a:r>
              <a:rPr lang="zh-CN" altLang="en-US" sz="2000" smtClean="0"/>
              <a:t>当访问</a:t>
            </a:r>
            <a:r>
              <a:rPr lang="en-US" altLang="zh-CN" sz="2000" smtClean="0"/>
              <a:t>X[2,0]</a:t>
            </a:r>
            <a:r>
              <a:rPr lang="zh-CN" altLang="en-US" sz="2000" smtClean="0"/>
              <a:t>时，把</a:t>
            </a:r>
            <a:r>
              <a:rPr lang="en-US" altLang="zh-CN" sz="2000" smtClean="0"/>
              <a:t>R[2]</a:t>
            </a:r>
            <a:r>
              <a:rPr lang="zh-CN" altLang="en-US" sz="2000" smtClean="0"/>
              <a:t>和</a:t>
            </a:r>
            <a:r>
              <a:rPr lang="en-US" altLang="zh-CN" sz="2000" smtClean="0"/>
              <a:t>R[3]</a:t>
            </a:r>
            <a:r>
              <a:rPr lang="zh-CN" altLang="en-US" sz="2000" smtClean="0"/>
              <a:t>载入</a:t>
            </a:r>
            <a:r>
              <a:rPr lang="en-US" altLang="zh-CN" sz="2000" smtClean="0"/>
              <a:t>PP2</a:t>
            </a:r>
            <a:r>
              <a:rPr lang="zh-CN" altLang="en-US" sz="2000" smtClean="0"/>
              <a:t>，</a:t>
            </a:r>
            <a:r>
              <a:rPr lang="zh-CN" altLang="en-US" sz="2000"/>
              <a:t>这样当访问</a:t>
            </a:r>
            <a:endParaRPr lang="en-US" altLang="zh-CN" sz="2000"/>
          </a:p>
          <a:p>
            <a:r>
              <a:rPr lang="en-US" altLang="zh-CN" sz="2000" smtClean="0"/>
              <a:t>X[3,0</a:t>
            </a:r>
            <a:r>
              <a:rPr lang="en-US" altLang="zh-CN" sz="2000"/>
              <a:t>]</a:t>
            </a:r>
            <a:r>
              <a:rPr lang="zh-CN" altLang="en-US" sz="2000"/>
              <a:t>时，不出现缺页故障</a:t>
            </a:r>
            <a:r>
              <a:rPr lang="zh-CN" altLang="en-US" sz="2000" smtClean="0"/>
              <a:t>；</a:t>
            </a:r>
            <a:endParaRPr lang="en-US" altLang="zh-CN" sz="2000" smtClean="0"/>
          </a:p>
          <a:p>
            <a:r>
              <a:rPr lang="zh-CN" altLang="en-US" sz="2000" smtClean="0"/>
              <a:t>当</a:t>
            </a:r>
            <a:r>
              <a:rPr lang="zh-CN" altLang="en-US" sz="2000"/>
              <a:t>访问</a:t>
            </a:r>
            <a:r>
              <a:rPr lang="en-US" altLang="zh-CN" sz="2000" smtClean="0"/>
              <a:t>X[4,0</a:t>
            </a:r>
            <a:r>
              <a:rPr lang="en-US" altLang="zh-CN" sz="2000"/>
              <a:t>]</a:t>
            </a:r>
            <a:r>
              <a:rPr lang="zh-CN" altLang="en-US" sz="2000"/>
              <a:t>时，把</a:t>
            </a:r>
            <a:r>
              <a:rPr lang="en-US" altLang="zh-CN" sz="2000" smtClean="0"/>
              <a:t>R[4]</a:t>
            </a:r>
            <a:r>
              <a:rPr lang="zh-CN" altLang="en-US" sz="2000"/>
              <a:t>和</a:t>
            </a:r>
            <a:r>
              <a:rPr lang="en-US" altLang="zh-CN" sz="2000" smtClean="0"/>
              <a:t>R[5]</a:t>
            </a:r>
            <a:r>
              <a:rPr lang="zh-CN" altLang="en-US" sz="2000"/>
              <a:t>载入</a:t>
            </a:r>
            <a:r>
              <a:rPr lang="en-US" altLang="zh-CN" sz="2000" smtClean="0"/>
              <a:t>PP3</a:t>
            </a:r>
            <a:r>
              <a:rPr lang="zh-CN" altLang="en-US" sz="2000" smtClean="0"/>
              <a:t>，</a:t>
            </a:r>
            <a:r>
              <a:rPr lang="zh-CN" altLang="en-US" sz="2000"/>
              <a:t>这样当访问</a:t>
            </a:r>
            <a:endParaRPr lang="en-US" altLang="zh-CN" sz="2000"/>
          </a:p>
          <a:p>
            <a:r>
              <a:rPr lang="en-US" altLang="zh-CN" sz="2000" smtClean="0"/>
              <a:t>X[5,0</a:t>
            </a:r>
            <a:r>
              <a:rPr lang="en-US" altLang="zh-CN" sz="2000"/>
              <a:t>]</a:t>
            </a:r>
            <a:r>
              <a:rPr lang="zh-CN" altLang="en-US" sz="2000"/>
              <a:t>时，不出现缺页故障</a:t>
            </a:r>
            <a:r>
              <a:rPr lang="zh-CN" altLang="en-US" sz="2000" smtClean="0"/>
              <a:t>；</a:t>
            </a:r>
            <a:endParaRPr lang="en-US" altLang="zh-CN" sz="2000" smtClean="0"/>
          </a:p>
          <a:p>
            <a:r>
              <a:rPr lang="zh-CN" altLang="en-US" sz="2000"/>
              <a:t>当访问</a:t>
            </a:r>
            <a:r>
              <a:rPr lang="en-US" altLang="zh-CN" sz="2000" smtClean="0"/>
              <a:t>X[6,0</a:t>
            </a:r>
            <a:r>
              <a:rPr lang="en-US" altLang="zh-CN" sz="2000"/>
              <a:t>]</a:t>
            </a:r>
            <a:r>
              <a:rPr lang="zh-CN" altLang="en-US" sz="2000"/>
              <a:t>时，把</a:t>
            </a:r>
            <a:r>
              <a:rPr lang="en-US" altLang="zh-CN" sz="2000" smtClean="0"/>
              <a:t>R[6]</a:t>
            </a:r>
            <a:r>
              <a:rPr lang="zh-CN" altLang="en-US" sz="2000"/>
              <a:t>和</a:t>
            </a:r>
            <a:r>
              <a:rPr lang="en-US" altLang="zh-CN" sz="2000" smtClean="0"/>
              <a:t>R[7]</a:t>
            </a:r>
            <a:r>
              <a:rPr lang="zh-CN" altLang="en-US" sz="2000"/>
              <a:t>载入</a:t>
            </a:r>
            <a:r>
              <a:rPr lang="en-US" altLang="zh-CN" sz="2000" smtClean="0"/>
              <a:t>PP1</a:t>
            </a:r>
            <a:r>
              <a:rPr lang="zh-CN" altLang="en-US" sz="2000" smtClean="0"/>
              <a:t>，</a:t>
            </a:r>
            <a:r>
              <a:rPr lang="zh-CN" altLang="en-US" sz="2000"/>
              <a:t>这样当访问</a:t>
            </a:r>
            <a:endParaRPr lang="en-US" altLang="zh-CN" sz="2000"/>
          </a:p>
          <a:p>
            <a:r>
              <a:rPr lang="en-US" altLang="zh-CN" sz="2000" smtClean="0"/>
              <a:t>X[7,0</a:t>
            </a:r>
            <a:r>
              <a:rPr lang="en-US" altLang="zh-CN" sz="2000"/>
              <a:t>]</a:t>
            </a:r>
            <a:r>
              <a:rPr lang="zh-CN" altLang="en-US" sz="2000"/>
              <a:t>时，不出现缺页故障</a:t>
            </a:r>
            <a:r>
              <a:rPr lang="zh-CN" altLang="en-US" sz="2000" smtClean="0"/>
              <a:t>；</a:t>
            </a:r>
            <a:endParaRPr lang="en-US" altLang="zh-CN" sz="2000" smtClean="0"/>
          </a:p>
          <a:p>
            <a:r>
              <a:rPr lang="zh-CN" altLang="en-US" sz="2000" smtClean="0"/>
              <a:t>对于给定的一列，每访问两行就要出现一次缺页故障。</a:t>
            </a:r>
            <a:endParaRPr lang="en-US" altLang="zh-CN" sz="2000"/>
          </a:p>
          <a:p>
            <a:endParaRPr lang="en-US" altLang="zh-CN" sz="2000"/>
          </a:p>
          <a:p>
            <a:endParaRPr lang="zh-CN" altLang="en-US" sz="200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0" y="0"/>
            <a:ext cx="9144000" cy="3212976"/>
          </a:xfrm>
          <a:solidFill>
            <a:schemeClr val="bg1"/>
          </a:solidFill>
        </p:spPr>
        <p:txBody>
          <a:bodyPr/>
          <a:lstStyle/>
          <a:p>
            <a:pPr marL="0" indent="0">
              <a:lnSpc>
                <a:spcPct val="150000"/>
              </a:lnSpc>
              <a:buNone/>
            </a:pPr>
            <a:r>
              <a:rPr lang="zh-CN" altLang="zh-CN" sz="2000"/>
              <a:t>【</a:t>
            </a:r>
            <a:r>
              <a:rPr lang="en-US" altLang="zh-CN" sz="2000"/>
              <a:t>15</a:t>
            </a:r>
            <a:r>
              <a:rPr lang="zh-CN" altLang="zh-CN" sz="2000"/>
              <a:t>】 考虑以下来自一个</a:t>
            </a:r>
            <a:r>
              <a:rPr lang="en-US" altLang="zh-CN" sz="2000"/>
              <a:t>460</a:t>
            </a:r>
            <a:r>
              <a:rPr lang="zh-CN" altLang="zh-CN" sz="2000"/>
              <a:t>字节程序的虚拟地址（十进制）序列：</a:t>
            </a:r>
            <a:endParaRPr lang="zh-CN" altLang="zh-CN" sz="2000"/>
          </a:p>
          <a:p>
            <a:pPr marL="0" indent="0">
              <a:lnSpc>
                <a:spcPct val="150000"/>
              </a:lnSpc>
              <a:buNone/>
            </a:pPr>
            <a:r>
              <a:rPr lang="en-US" altLang="zh-CN" sz="2000"/>
              <a:t>10</a:t>
            </a:r>
            <a:r>
              <a:rPr lang="zh-CN" altLang="zh-CN" sz="2000"/>
              <a:t>、</a:t>
            </a:r>
            <a:r>
              <a:rPr lang="en-US" altLang="zh-CN" sz="2000"/>
              <a:t>11</a:t>
            </a:r>
            <a:r>
              <a:rPr lang="zh-CN" altLang="zh-CN" sz="2000"/>
              <a:t>、</a:t>
            </a:r>
            <a:r>
              <a:rPr lang="en-US" altLang="zh-CN" sz="2000"/>
              <a:t>104</a:t>
            </a:r>
            <a:r>
              <a:rPr lang="zh-CN" altLang="zh-CN" sz="2000"/>
              <a:t>、</a:t>
            </a:r>
            <a:r>
              <a:rPr lang="en-US" altLang="zh-CN" sz="2000"/>
              <a:t>170</a:t>
            </a:r>
            <a:r>
              <a:rPr lang="zh-CN" altLang="zh-CN" sz="2000"/>
              <a:t>、</a:t>
            </a:r>
            <a:r>
              <a:rPr lang="en-US" altLang="zh-CN" sz="2000"/>
              <a:t>73</a:t>
            </a:r>
            <a:r>
              <a:rPr lang="zh-CN" altLang="zh-CN" sz="2000"/>
              <a:t>、</a:t>
            </a:r>
            <a:r>
              <a:rPr lang="en-US" altLang="zh-CN" sz="2000"/>
              <a:t>309</a:t>
            </a:r>
            <a:r>
              <a:rPr lang="zh-CN" altLang="zh-CN" sz="2000"/>
              <a:t>、</a:t>
            </a:r>
            <a:r>
              <a:rPr lang="en-US" altLang="zh-CN" sz="2000"/>
              <a:t>185</a:t>
            </a:r>
            <a:r>
              <a:rPr lang="zh-CN" altLang="zh-CN" sz="2000"/>
              <a:t>、</a:t>
            </a:r>
            <a:r>
              <a:rPr lang="en-US" altLang="zh-CN" sz="2000"/>
              <a:t>245</a:t>
            </a:r>
            <a:r>
              <a:rPr lang="zh-CN" altLang="zh-CN" sz="2000"/>
              <a:t>、</a:t>
            </a:r>
            <a:r>
              <a:rPr lang="en-US" altLang="zh-CN" sz="2000"/>
              <a:t>246</a:t>
            </a:r>
            <a:r>
              <a:rPr lang="zh-CN" altLang="zh-CN" sz="2000"/>
              <a:t>、</a:t>
            </a:r>
            <a:r>
              <a:rPr lang="en-US" altLang="zh-CN" sz="2000"/>
              <a:t>434</a:t>
            </a:r>
            <a:r>
              <a:rPr lang="zh-CN" altLang="zh-CN" sz="2000"/>
              <a:t>、</a:t>
            </a:r>
            <a:r>
              <a:rPr lang="en-US" altLang="zh-CN" sz="2000"/>
              <a:t>458</a:t>
            </a:r>
            <a:r>
              <a:rPr lang="zh-CN" altLang="zh-CN" sz="2000"/>
              <a:t>、</a:t>
            </a:r>
            <a:r>
              <a:rPr lang="en-US" altLang="zh-CN" sz="2000"/>
              <a:t>364</a:t>
            </a:r>
            <a:r>
              <a:rPr lang="zh-CN" altLang="zh-CN" sz="2000"/>
              <a:t>。</a:t>
            </a:r>
            <a:endParaRPr lang="zh-CN" altLang="zh-CN" sz="2000"/>
          </a:p>
          <a:p>
            <a:pPr marL="0" indent="0">
              <a:lnSpc>
                <a:spcPct val="150000"/>
              </a:lnSpc>
              <a:buNone/>
            </a:pPr>
            <a:r>
              <a:rPr lang="zh-CN" altLang="zh-CN" sz="2000"/>
              <a:t>假设页面大小为</a:t>
            </a:r>
            <a:r>
              <a:rPr lang="en-US" altLang="zh-CN" sz="2000"/>
              <a:t>100</a:t>
            </a:r>
            <a:r>
              <a:rPr lang="zh-CN" altLang="zh-CN" sz="2000"/>
              <a:t>字节。求出页面走向，并计算在</a:t>
            </a:r>
            <a:r>
              <a:rPr lang="en-US" altLang="zh-CN" sz="2000"/>
              <a:t>LRU</a:t>
            </a:r>
            <a:r>
              <a:rPr lang="zh-CN" altLang="zh-CN" sz="2000"/>
              <a:t>和</a:t>
            </a:r>
            <a:r>
              <a:rPr lang="en-US" altLang="zh-CN" sz="2000"/>
              <a:t>FIFO</a:t>
            </a:r>
            <a:r>
              <a:rPr lang="zh-CN" altLang="zh-CN" sz="2000"/>
              <a:t>置换策略下，缺页中断的次数。（假定给程序固定分配</a:t>
            </a:r>
            <a:r>
              <a:rPr lang="en-US" altLang="zh-CN" sz="2000"/>
              <a:t>3</a:t>
            </a:r>
            <a:r>
              <a:rPr lang="zh-CN" altLang="zh-CN" sz="2000"/>
              <a:t>个页框）</a:t>
            </a:r>
            <a:endParaRPr lang="zh-CN" altLang="zh-CN" sz="2000"/>
          </a:p>
          <a:p>
            <a:pPr marL="0" indent="0">
              <a:buNone/>
            </a:pPr>
            <a:r>
              <a:rPr lang="zh-CN" altLang="zh-CN"/>
              <a:t>页面大小为</a:t>
            </a:r>
            <a:r>
              <a:rPr lang="en-US" altLang="zh-CN"/>
              <a:t>100</a:t>
            </a:r>
            <a:r>
              <a:rPr lang="zh-CN" altLang="zh-CN"/>
              <a:t>字节，因此页面走向为：</a:t>
            </a:r>
            <a:endParaRPr lang="zh-CN" altLang="zh-CN"/>
          </a:p>
          <a:p>
            <a:pPr marL="0" indent="0">
              <a:buNone/>
            </a:pPr>
            <a:r>
              <a:rPr lang="en-US" altLang="zh-CN"/>
              <a:t>0</a:t>
            </a:r>
            <a:r>
              <a:rPr lang="zh-CN" altLang="zh-CN"/>
              <a:t>，</a:t>
            </a:r>
            <a:r>
              <a:rPr lang="en-US" altLang="zh-CN"/>
              <a:t>0</a:t>
            </a:r>
            <a:r>
              <a:rPr lang="zh-CN" altLang="zh-CN"/>
              <a:t>，</a:t>
            </a:r>
            <a:r>
              <a:rPr lang="en-US" altLang="zh-CN"/>
              <a:t>1</a:t>
            </a:r>
            <a:r>
              <a:rPr lang="zh-CN" altLang="zh-CN"/>
              <a:t>，</a:t>
            </a:r>
            <a:r>
              <a:rPr lang="en-US" altLang="zh-CN"/>
              <a:t>1</a:t>
            </a:r>
            <a:r>
              <a:rPr lang="zh-CN" altLang="zh-CN"/>
              <a:t>，</a:t>
            </a:r>
            <a:r>
              <a:rPr lang="en-US" altLang="zh-CN"/>
              <a:t>0</a:t>
            </a:r>
            <a:r>
              <a:rPr lang="zh-CN" altLang="zh-CN"/>
              <a:t>，</a:t>
            </a:r>
            <a:r>
              <a:rPr lang="en-US" altLang="zh-CN"/>
              <a:t>3</a:t>
            </a:r>
            <a:r>
              <a:rPr lang="zh-CN" altLang="zh-CN"/>
              <a:t>，</a:t>
            </a:r>
            <a:r>
              <a:rPr lang="en-US" altLang="zh-CN"/>
              <a:t>1</a:t>
            </a:r>
            <a:r>
              <a:rPr lang="zh-CN" altLang="zh-CN"/>
              <a:t>，</a:t>
            </a:r>
            <a:r>
              <a:rPr lang="en-US" altLang="zh-CN"/>
              <a:t>2</a:t>
            </a:r>
            <a:r>
              <a:rPr lang="zh-CN" altLang="zh-CN"/>
              <a:t>，</a:t>
            </a:r>
            <a:r>
              <a:rPr lang="en-US" altLang="zh-CN"/>
              <a:t>2</a:t>
            </a:r>
            <a:r>
              <a:rPr lang="zh-CN" altLang="zh-CN"/>
              <a:t>，</a:t>
            </a:r>
            <a:r>
              <a:rPr lang="en-US" altLang="zh-CN"/>
              <a:t>4</a:t>
            </a:r>
            <a:r>
              <a:rPr lang="zh-CN" altLang="zh-CN"/>
              <a:t>，</a:t>
            </a:r>
            <a:r>
              <a:rPr lang="en-US" altLang="zh-CN"/>
              <a:t>4</a:t>
            </a:r>
            <a:r>
              <a:rPr lang="zh-CN" altLang="zh-CN"/>
              <a:t>，</a:t>
            </a:r>
            <a:r>
              <a:rPr lang="en-US" altLang="zh-CN"/>
              <a:t>3</a:t>
            </a:r>
            <a:endParaRPr lang="zh-CN" altLang="zh-CN"/>
          </a:p>
          <a:p>
            <a:pPr marL="0" indent="0">
              <a:buNone/>
            </a:pPr>
            <a:endParaRPr lang="zh-CN" altLang="en-US"/>
          </a:p>
        </p:txBody>
      </p:sp>
      <p:graphicFrame>
        <p:nvGraphicFramePr>
          <p:cNvPr id="4" name="表格 3"/>
          <p:cNvGraphicFramePr>
            <a:graphicFrameLocks noGrp="1"/>
          </p:cNvGraphicFramePr>
          <p:nvPr/>
        </p:nvGraphicFramePr>
        <p:xfrm>
          <a:off x="323537" y="3212978"/>
          <a:ext cx="8640950" cy="2909184"/>
        </p:xfrm>
        <a:graphic>
          <a:graphicData uri="http://schemas.openxmlformats.org/drawingml/2006/table">
            <a:tbl>
              <a:tblPr firstRow="1" firstCol="1" bandRow="1">
                <a:tableStyleId>{0660B408-B3CF-4A94-85FC-2B1E0A45F4A2}</a:tableStyleId>
              </a:tblPr>
              <a:tblGrid>
                <a:gridCol w="719910"/>
                <a:gridCol w="719910"/>
                <a:gridCol w="719910"/>
                <a:gridCol w="719910"/>
                <a:gridCol w="719910"/>
                <a:gridCol w="719910"/>
                <a:gridCol w="719910"/>
                <a:gridCol w="719910"/>
                <a:gridCol w="719910"/>
                <a:gridCol w="719910"/>
                <a:gridCol w="720925"/>
                <a:gridCol w="720925"/>
              </a:tblGrid>
              <a:tr h="420970">
                <a:tc>
                  <a:txBody>
                    <a:bodyPr/>
                    <a:lstStyle/>
                    <a:p>
                      <a:pPr algn="just">
                        <a:lnSpc>
                          <a:spcPct val="115000"/>
                        </a:lnSpc>
                        <a:spcAft>
                          <a:spcPts val="0"/>
                        </a:spcAft>
                      </a:pPr>
                      <a:r>
                        <a:rPr lang="en-US" sz="1800" kern="0">
                          <a:effectLst/>
                        </a:rPr>
                        <a:t>t0</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T1</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T2</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T3</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T4</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T5</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T6</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T7</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T8</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T9</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T10</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T11</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210485">
                <a:tc>
                  <a:txBody>
                    <a:bodyPr/>
                    <a:lstStyle/>
                    <a:p>
                      <a:pPr algn="just">
                        <a:lnSpc>
                          <a:spcPct val="115000"/>
                        </a:lnSpc>
                        <a:spcAft>
                          <a:spcPts val="0"/>
                        </a:spcAft>
                      </a:pPr>
                      <a:r>
                        <a:rPr lang="en-US" sz="1800" kern="0">
                          <a:effectLst/>
                        </a:rPr>
                        <a:t>0</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0</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1</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1</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0</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3</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1</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2</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2</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4</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4</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3</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631454">
                <a:tc>
                  <a:txBody>
                    <a:bodyPr/>
                    <a:lstStyle/>
                    <a:p>
                      <a:pPr algn="just">
                        <a:lnSpc>
                          <a:spcPct val="115000"/>
                        </a:lnSpc>
                        <a:spcAft>
                          <a:spcPts val="0"/>
                        </a:spcAft>
                      </a:pPr>
                      <a:r>
                        <a:rPr lang="en-US" sz="1800" kern="0">
                          <a:effectLst/>
                        </a:rPr>
                        <a:t>0(t0)</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0(t1)</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0(t1)</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0(t1)</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0(t4)</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0(t4)</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0(t4)</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2(t7)</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2(t8)</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2(t8)</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2(t8)</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2(t8)</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631454">
                <a:tc>
                  <a:txBody>
                    <a:bodyPr/>
                    <a:lstStyle/>
                    <a:p>
                      <a:pPr algn="just">
                        <a:lnSpc>
                          <a:spcPct val="115000"/>
                        </a:lnSpc>
                        <a:spcAft>
                          <a:spcPts val="0"/>
                        </a:spcAft>
                      </a:pPr>
                      <a:r>
                        <a:rPr lang="en-US" sz="1800" kern="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1(t2)</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1(t3)</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1(t3)</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1(t3)</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1(t6)</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1(t6)</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1(t6)</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1(t6)</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1(t6)</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3(t11)</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631454">
                <a:tc>
                  <a:txBody>
                    <a:bodyPr/>
                    <a:lstStyle/>
                    <a:p>
                      <a:pPr algn="just">
                        <a:lnSpc>
                          <a:spcPct val="115000"/>
                        </a:lnSpc>
                        <a:spcAft>
                          <a:spcPts val="0"/>
                        </a:spcAft>
                      </a:pPr>
                      <a:r>
                        <a:rPr lang="en-US" sz="1800" kern="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3(t5)</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3(t5)</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3(t5)</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3(t5)</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4(t9)</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4(t10)</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4(t10)</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210485">
                <a:tc>
                  <a:txBody>
                    <a:bodyPr/>
                    <a:lstStyle/>
                    <a:p>
                      <a:pPr algn="just">
                        <a:lnSpc>
                          <a:spcPct val="115000"/>
                        </a:lnSpc>
                        <a:spcAft>
                          <a:spcPts val="0"/>
                        </a:spcAft>
                      </a:pPr>
                      <a:r>
                        <a:rPr lang="en-US" sz="1800" kern="0">
                          <a:effectLst/>
                        </a:rPr>
                        <a:t>F</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F</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F</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F</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F</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lnSpc>
                          <a:spcPct val="115000"/>
                        </a:lnSpc>
                        <a:spcAft>
                          <a:spcPts val="0"/>
                        </a:spcAft>
                      </a:pPr>
                      <a:r>
                        <a:rPr lang="en-US" sz="1800" kern="0">
                          <a:effectLst/>
                        </a:rPr>
                        <a:t>F</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bl>
          </a:graphicData>
        </a:graphic>
      </p:graphicFrame>
      <p:sp>
        <p:nvSpPr>
          <p:cNvPr id="5" name="Rectangle 1"/>
          <p:cNvSpPr>
            <a:spLocks noChangeArrowheads="1"/>
          </p:cNvSpPr>
          <p:nvPr/>
        </p:nvSpPr>
        <p:spPr bwMode="auto">
          <a:xfrm>
            <a:off x="1866900" y="3442414"/>
            <a:ext cx="572943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LRU</a:t>
            </a:r>
            <a:r>
              <a:rPr kumimoji="0" lang="zh-CN" altLang="en-US"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0" i="0" u="none" strike="noStrike" cap="none" normalizeH="0" baseline="0" smtClean="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0" y="0"/>
            <a:ext cx="9144000" cy="5805264"/>
          </a:xfrm>
          <a:solidFill>
            <a:schemeClr val="bg1"/>
          </a:solidFill>
        </p:spPr>
        <p:txBody>
          <a:bodyPr/>
          <a:lstStyle/>
          <a:p>
            <a:pPr marL="0" indent="0">
              <a:buNone/>
            </a:pPr>
            <a:r>
              <a:rPr lang="en-US" altLang="zh-CN" smtClean="0"/>
              <a:t>【16】</a:t>
            </a:r>
            <a:endParaRPr lang="zh-CN" altLang="en-US"/>
          </a:p>
        </p:txBody>
      </p:sp>
      <p:sp>
        <p:nvSpPr>
          <p:cNvPr id="4" name="Rectangle 2"/>
          <p:cNvSpPr>
            <a:spLocks noChangeArrowheads="1"/>
          </p:cNvSpPr>
          <p:nvPr/>
        </p:nvSpPr>
        <p:spPr bwMode="auto">
          <a:xfrm flipV="1">
            <a:off x="3164753" y="-1484785"/>
            <a:ext cx="7084784"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5" name="对象 4"/>
          <p:cNvGraphicFramePr>
            <a:graphicFrameLocks noChangeAspect="1"/>
          </p:cNvGraphicFramePr>
          <p:nvPr/>
        </p:nvGraphicFramePr>
        <p:xfrm>
          <a:off x="2051720" y="0"/>
          <a:ext cx="4327492" cy="6790854"/>
        </p:xfrm>
        <a:graphic>
          <a:graphicData uri="http://schemas.openxmlformats.org/presentationml/2006/ole">
            <mc:AlternateContent xmlns:mc="http://schemas.openxmlformats.org/markup-compatibility/2006">
              <mc:Choice xmlns:v="urn:schemas-microsoft-com:vml" Requires="v">
                <p:oleObj spid="_x0000_s183349" name="" r:id="rId1" imgW="4745990" imgH="7444105" progId="Visio.Drawing.15">
                  <p:embed/>
                </p:oleObj>
              </mc:Choice>
              <mc:Fallback>
                <p:oleObj name="" r:id="rId1" imgW="4745990" imgH="7444105" progId="Visio.Drawing.15">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0"/>
                        <a:ext cx="4327492" cy="6790854"/>
                      </a:xfrm>
                      <a:prstGeom prst="rect">
                        <a:avLst/>
                      </a:prstGeom>
                      <a:noFill/>
                    </p:spPr>
                  </p:pic>
                </p:oleObj>
              </mc:Fallback>
            </mc:AlternateContent>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28596" y="1124744"/>
            <a:ext cx="8229600" cy="5877272"/>
          </a:xfrm>
        </p:spPr>
        <p:txBody>
          <a:bodyPr>
            <a:normAutofit/>
          </a:bodyPr>
          <a:lstStyle/>
          <a:p>
            <a:pPr>
              <a:lnSpc>
                <a:spcPct val="150000"/>
              </a:lnSpc>
            </a:pPr>
            <a:r>
              <a:rPr lang="zh-CN" altLang="zh-CN" sz="2000">
                <a:latin typeface="Times New Roman" panose="02020603050405020304" pitchFamily="18" charset="0"/>
                <a:cs typeface="Times New Roman" panose="02020603050405020304" pitchFamily="18" charset="0"/>
              </a:rPr>
              <a:t>虽然</a:t>
            </a:r>
            <a:r>
              <a:rPr lang="en-US" altLang="zh-CN" sz="2000">
                <a:latin typeface="Times New Roman" panose="02020603050405020304" pitchFamily="18" charset="0"/>
                <a:cs typeface="Times New Roman" panose="02020603050405020304" pitchFamily="18" charset="0"/>
              </a:rPr>
              <a:t>DMA</a:t>
            </a:r>
            <a:r>
              <a:rPr lang="zh-CN" altLang="zh-CN" sz="2000">
                <a:latin typeface="Times New Roman" panose="02020603050405020304" pitchFamily="18" charset="0"/>
                <a:cs typeface="Times New Roman" panose="02020603050405020304" pitchFamily="18" charset="0"/>
              </a:rPr>
              <a:t>方式比中断方式已经显著减少了处理器的干预，但处理器每次只能读写一个数据块。而当我们需要一次去读多个数据块且将它们分别传送到不同的内存区域，或者从多个内存区域把数据传送到多个设备时，则需由处理器分别发出多条</a:t>
            </a:r>
            <a:r>
              <a:rPr lang="en-US" altLang="zh-CN" sz="2000">
                <a:latin typeface="Times New Roman" panose="02020603050405020304" pitchFamily="18" charset="0"/>
                <a:cs typeface="Times New Roman" panose="02020603050405020304" pitchFamily="18" charset="0"/>
              </a:rPr>
              <a:t>I/O</a:t>
            </a:r>
            <a:r>
              <a:rPr lang="zh-CN" altLang="zh-CN" sz="2000">
                <a:latin typeface="Times New Roman" panose="02020603050405020304" pitchFamily="18" charset="0"/>
                <a:cs typeface="Times New Roman" panose="02020603050405020304" pitchFamily="18" charset="0"/>
              </a:rPr>
              <a:t>指令并进行多次中断处理才能完成</a:t>
            </a:r>
            <a:r>
              <a:rPr lang="zh-CN" altLang="zh-CN" sz="2000" smtClean="0">
                <a:latin typeface="Times New Roman" panose="02020603050405020304" pitchFamily="18" charset="0"/>
                <a:cs typeface="Times New Roman" panose="02020603050405020304" pitchFamily="18" charset="0"/>
              </a:rPr>
              <a:t>。</a:t>
            </a:r>
            <a:endParaRPr lang="en-US" altLang="zh-CN" sz="2000" smtClean="0">
              <a:latin typeface="Times New Roman" panose="02020603050405020304" pitchFamily="18" charset="0"/>
              <a:cs typeface="Times New Roman" panose="02020603050405020304" pitchFamily="18" charset="0"/>
            </a:endParaRPr>
          </a:p>
          <a:p>
            <a:pPr>
              <a:lnSpc>
                <a:spcPct val="150000"/>
              </a:lnSpc>
            </a:pPr>
            <a:r>
              <a:rPr lang="en-US" altLang="zh-CN" sz="2000"/>
              <a:t>I/O</a:t>
            </a:r>
            <a:r>
              <a:rPr lang="zh-CN" altLang="zh-CN" sz="2000"/>
              <a:t>通道方式是</a:t>
            </a:r>
            <a:r>
              <a:rPr lang="en-US" altLang="zh-CN" sz="2000"/>
              <a:t>DMA</a:t>
            </a:r>
            <a:r>
              <a:rPr lang="zh-CN" altLang="zh-CN" sz="2000"/>
              <a:t>方式的发展，它进一步减少了处理器的干预，即把以数据块为单位的读写干预，减少为以一组数据块的读写及有关的控制和管理为单位的干预。同时，又可以实现处理器、通道和</a:t>
            </a:r>
            <a:r>
              <a:rPr lang="en-US" altLang="zh-CN" sz="2000"/>
              <a:t>I/O</a:t>
            </a:r>
            <a:r>
              <a:rPr lang="zh-CN" altLang="zh-CN" sz="2000"/>
              <a:t>设备三者的并行操作，从而更有效地提高整个系统的资源利用率。例如，当处理器要完成一组读写操作及相关控制时，只需向</a:t>
            </a:r>
            <a:r>
              <a:rPr lang="en-US" altLang="zh-CN" sz="2000"/>
              <a:t>I/O</a:t>
            </a:r>
            <a:r>
              <a:rPr lang="zh-CN" altLang="zh-CN" sz="2000"/>
              <a:t>通道发送一条</a:t>
            </a:r>
            <a:r>
              <a:rPr lang="en-US" altLang="zh-CN" sz="2000"/>
              <a:t>I/O</a:t>
            </a:r>
            <a:r>
              <a:rPr lang="zh-CN" altLang="zh-CN" sz="2000"/>
              <a:t>指令，给出所要执行的通道程序的首址和要访问的</a:t>
            </a:r>
            <a:r>
              <a:rPr lang="en-US" altLang="zh-CN" sz="2000"/>
              <a:t>I/O</a:t>
            </a:r>
            <a:r>
              <a:rPr lang="zh-CN" altLang="zh-CN" sz="2000"/>
              <a:t>设备，通道接到该指令后，通过执行通道程序便可完成处理器指定的</a:t>
            </a:r>
            <a:r>
              <a:rPr lang="en-US" altLang="zh-CN" sz="2000"/>
              <a:t>I/O</a:t>
            </a:r>
            <a:r>
              <a:rPr lang="zh-CN" altLang="zh-CN" sz="2000"/>
              <a:t>任务。</a:t>
            </a:r>
            <a:endParaRPr lang="zh-CN" altLang="en-US" sz="20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表格 3"/>
          <p:cNvGraphicFramePr>
            <a:graphicFrameLocks noGrp="1"/>
          </p:cNvGraphicFramePr>
          <p:nvPr/>
        </p:nvGraphicFramePr>
        <p:xfrm>
          <a:off x="428594" y="2276872"/>
          <a:ext cx="7959829" cy="2363532"/>
        </p:xfrm>
        <a:graphic>
          <a:graphicData uri="http://schemas.openxmlformats.org/drawingml/2006/table">
            <a:tbl>
              <a:tblPr>
                <a:tableStyleId>{5C22544A-7EE6-4342-B048-85BDC9FD1C3A}</a:tableStyleId>
              </a:tblPr>
              <a:tblGrid>
                <a:gridCol w="1586242"/>
                <a:gridCol w="1586242"/>
                <a:gridCol w="705905"/>
                <a:gridCol w="596885"/>
                <a:gridCol w="1004348"/>
                <a:gridCol w="2480207"/>
              </a:tblGrid>
              <a:tr h="260947">
                <a:tc>
                  <a:txBody>
                    <a:bodyPr/>
                    <a:lstStyle/>
                    <a:p>
                      <a:pPr algn="ctr">
                        <a:spcAft>
                          <a:spcPts val="0"/>
                        </a:spcAft>
                      </a:pPr>
                      <a:r>
                        <a:rPr lang="zh-CN" sz="2000" kern="100">
                          <a:effectLst/>
                        </a:rPr>
                        <a:t>指令</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2000" kern="100">
                          <a:effectLst/>
                        </a:rPr>
                        <a:t>操作</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P</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R</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2000" kern="100">
                          <a:effectLst/>
                        </a:rPr>
                        <a:t>计数</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2000" kern="100">
                          <a:effectLst/>
                        </a:rPr>
                        <a:t>内存地址</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297046">
                <a:tc>
                  <a:txBody>
                    <a:bodyPr/>
                    <a:lstStyle/>
                    <a:p>
                      <a:pPr algn="ctr">
                        <a:spcAft>
                          <a:spcPts val="0"/>
                        </a:spcAft>
                      </a:pPr>
                      <a:r>
                        <a:rPr lang="en-US" sz="2000" kern="100">
                          <a:effectLst/>
                        </a:rPr>
                        <a:t>1</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WRITE</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0</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0</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80</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813</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284669">
                <a:tc>
                  <a:txBody>
                    <a:bodyPr/>
                    <a:lstStyle/>
                    <a:p>
                      <a:pPr algn="ctr">
                        <a:spcAft>
                          <a:spcPts val="0"/>
                        </a:spcAft>
                      </a:pPr>
                      <a:r>
                        <a:rPr lang="en-US" sz="2000" kern="100">
                          <a:effectLst/>
                        </a:rPr>
                        <a:t>2</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WRITE</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0</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0</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140</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1034</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344491">
                <a:tc>
                  <a:txBody>
                    <a:bodyPr/>
                    <a:lstStyle/>
                    <a:p>
                      <a:pPr algn="ctr">
                        <a:spcAft>
                          <a:spcPts val="0"/>
                        </a:spcAft>
                      </a:pPr>
                      <a:r>
                        <a:rPr lang="en-US" sz="2000" kern="100">
                          <a:effectLst/>
                        </a:rPr>
                        <a:t>3</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WRITE</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0</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1</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60</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5830</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320769">
                <a:tc>
                  <a:txBody>
                    <a:bodyPr/>
                    <a:lstStyle/>
                    <a:p>
                      <a:pPr algn="ctr">
                        <a:spcAft>
                          <a:spcPts val="0"/>
                        </a:spcAft>
                      </a:pPr>
                      <a:r>
                        <a:rPr lang="en-US" sz="2000" kern="100">
                          <a:effectLst/>
                        </a:rPr>
                        <a:t>4</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WRITE</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0</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1</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300</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2000</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368214">
                <a:tc>
                  <a:txBody>
                    <a:bodyPr/>
                    <a:lstStyle/>
                    <a:p>
                      <a:pPr algn="ctr">
                        <a:spcAft>
                          <a:spcPts val="0"/>
                        </a:spcAft>
                      </a:pPr>
                      <a:r>
                        <a:rPr lang="en-US" sz="2000" kern="100">
                          <a:effectLst/>
                        </a:rPr>
                        <a:t>5</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WRITE</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0</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0</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50</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1650</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415658">
                <a:tc>
                  <a:txBody>
                    <a:bodyPr/>
                    <a:lstStyle/>
                    <a:p>
                      <a:pPr algn="ctr">
                        <a:spcAft>
                          <a:spcPts val="0"/>
                        </a:spcAft>
                      </a:pPr>
                      <a:r>
                        <a:rPr lang="en-US" sz="2000" kern="100">
                          <a:effectLst/>
                        </a:rPr>
                        <a:t>6</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WRITE</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1</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1</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250</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2000" kern="100">
                          <a:effectLst/>
                        </a:rPr>
                        <a:t>2720</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bl>
          </a:graphicData>
        </a:graphic>
      </p:graphicFrame>
      <p:sp>
        <p:nvSpPr>
          <p:cNvPr id="5" name="Rectangle 1"/>
          <p:cNvSpPr>
            <a:spLocks noChangeArrowheads="1"/>
          </p:cNvSpPr>
          <p:nvPr/>
        </p:nvSpPr>
        <p:spPr bwMode="auto">
          <a:xfrm>
            <a:off x="2267744" y="1538836"/>
            <a:ext cx="34263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266700" algn="ctr" defTabSz="914400" rtl="0" eaLnBrk="0" fontAlgn="base" latinLnBrk="0" hangingPunct="0">
              <a:lnSpc>
                <a:spcPct val="100000"/>
              </a:lnSpc>
              <a:spcBef>
                <a:spcPct val="0"/>
              </a:spcBef>
              <a:spcAft>
                <a:spcPct val="0"/>
              </a:spcAft>
              <a:buClrTx/>
              <a:buSzTx/>
              <a:buFontTx/>
              <a:buNone/>
            </a:pPr>
            <a:r>
              <a:rPr kumimoji="0" lang="zh-CN"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Calibri" panose="020F0502020204030204" pitchFamily="34" charset="0"/>
              </a:rPr>
              <a:t>表</a:t>
            </a: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7-2 </a:t>
            </a:r>
            <a:r>
              <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Calibri" panose="020F0502020204030204" pitchFamily="34" charset="0"/>
              </a:rPr>
              <a:t>通道程序列表</a:t>
            </a:r>
            <a:endParaRPr kumimoji="0" lang="zh-CN" altLang="en-US" sz="2400" b="0" i="0" u="none" strike="noStrike" cap="none" normalizeH="0" baseline="0" smtClean="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61244" y="1412777"/>
            <a:ext cx="8229600" cy="720080"/>
          </a:xfrm>
        </p:spPr>
        <p:txBody>
          <a:bodyPr/>
          <a:lstStyle/>
          <a:p>
            <a:r>
              <a:rPr lang="zh-CN" altLang="zh-CN" b="1"/>
              <a:t>处理器和通道之间的通信</a:t>
            </a:r>
            <a:endParaRPr lang="zh-CN" altLang="zh-CN"/>
          </a:p>
          <a:p>
            <a:pPr marL="0" indent="0">
              <a:buNone/>
            </a:pPr>
            <a:endParaRPr lang="zh-CN" altLang="en-US"/>
          </a:p>
        </p:txBody>
      </p:sp>
      <p:sp>
        <p:nvSpPr>
          <p:cNvPr id="4" name="Rectangle 2"/>
          <p:cNvSpPr>
            <a:spLocks noChangeArrowheads="1"/>
          </p:cNvSpPr>
          <p:nvPr/>
        </p:nvSpPr>
        <p:spPr bwMode="auto">
          <a:xfrm>
            <a:off x="-10522625" y="-5750014"/>
            <a:ext cx="2651934" cy="4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5" name="对象 4"/>
          <p:cNvGraphicFramePr>
            <a:graphicFrameLocks noChangeAspect="1"/>
          </p:cNvGraphicFramePr>
          <p:nvPr/>
        </p:nvGraphicFramePr>
        <p:xfrm>
          <a:off x="179512" y="2132856"/>
          <a:ext cx="8776694" cy="4536503"/>
        </p:xfrm>
        <a:graphic>
          <a:graphicData uri="http://schemas.openxmlformats.org/presentationml/2006/ole">
            <mc:AlternateContent xmlns:mc="http://schemas.openxmlformats.org/markup-compatibility/2006">
              <mc:Choice xmlns:v="urn:schemas-microsoft-com:vml" Requires="v">
                <p:oleObj spid="_x0000_s185393" name="" r:id="rId1" imgW="9093200" imgH="4864100" progId="Visio.Drawing.11">
                  <p:embed/>
                </p:oleObj>
              </mc:Choice>
              <mc:Fallback>
                <p:oleObj name="" r:id="rId1" imgW="9093200" imgH="486410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2132856"/>
                        <a:ext cx="8776694" cy="4536503"/>
                      </a:xfrm>
                      <a:prstGeom prst="rect">
                        <a:avLst/>
                      </a:prstGeom>
                      <a:noFill/>
                    </p:spPr>
                  </p:pic>
                </p:oleObj>
              </mc:Fallback>
            </mc:AlternateContent>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142844" y="1285860"/>
            <a:ext cx="2781531" cy="369332"/>
          </a:xfrm>
          <a:prstGeom prst="rect">
            <a:avLst/>
          </a:prstGeom>
        </p:spPr>
        <p:txBody>
          <a:bodyPr wrap="none">
            <a:spAutoFit/>
          </a:bodyPr>
          <a:lstStyle/>
          <a:p>
            <a:r>
              <a:rPr lang="en-US" dirty="0">
                <a:latin typeface="华文中宋" panose="02010600040101010101" pitchFamily="2" charset="-122"/>
                <a:ea typeface="华文中宋" panose="02010600040101010101" pitchFamily="2" charset="-122"/>
              </a:rPr>
              <a:t>§7.3   I/O</a:t>
            </a:r>
            <a:r>
              <a:rPr lang="zh-CN" altLang="en-US" dirty="0">
                <a:latin typeface="华文中宋" panose="02010600040101010101" pitchFamily="2" charset="-122"/>
                <a:ea typeface="华文中宋" panose="02010600040101010101" pitchFamily="2" charset="-122"/>
              </a:rPr>
              <a:t>系统软件组织</a:t>
            </a:r>
            <a:endParaRPr lang="zh-CN" altLang="en-US" dirty="0">
              <a:latin typeface="华文中宋" panose="02010600040101010101" pitchFamily="2" charset="-122"/>
              <a:ea typeface="华文中宋" panose="02010600040101010101" pitchFamily="2" charset="-122"/>
            </a:endParaRPr>
          </a:p>
        </p:txBody>
      </p:sp>
      <p:sp>
        <p:nvSpPr>
          <p:cNvPr id="5" name="TextBox 4"/>
          <p:cNvSpPr txBox="1"/>
          <p:nvPr/>
        </p:nvSpPr>
        <p:spPr>
          <a:xfrm>
            <a:off x="857224" y="1928802"/>
            <a:ext cx="3972562" cy="2120773"/>
          </a:xfrm>
          <a:prstGeom prst="rect">
            <a:avLst/>
          </a:prstGeom>
          <a:noFill/>
        </p:spPr>
        <p:txBody>
          <a:bodyPr wrap="none" rtlCol="0">
            <a:spAutoFit/>
          </a:bodyPr>
          <a:lstStyle/>
          <a:p>
            <a:pPr>
              <a:lnSpc>
                <a:spcPct val="150000"/>
              </a:lnSpc>
            </a:pPr>
            <a:r>
              <a:rPr lang="zh-CN" altLang="en-US" dirty="0">
                <a:latin typeface="华文中宋" panose="02010600040101010101" pitchFamily="2" charset="-122"/>
                <a:ea typeface="华文中宋" panose="02010600040101010101" pitchFamily="2" charset="-122"/>
              </a:rPr>
              <a:t>设计目标：</a:t>
            </a:r>
            <a:endParaRPr lang="en-US" altLang="zh-CN"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设备无关性</a:t>
            </a:r>
            <a:endParaRPr lang="en-US" altLang="zh-CN"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en-US" altLang="zh-CN"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差错控制</a:t>
            </a:r>
            <a:endParaRPr lang="en-US" altLang="zh-CN"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zh-CN" altLang="en-US" dirty="0">
                <a:latin typeface="华文中宋" panose="02010600040101010101" pitchFamily="2" charset="-122"/>
                <a:ea typeface="华文中宋" panose="02010600040101010101" pitchFamily="2" charset="-122"/>
              </a:rPr>
              <a:t> 同步</a:t>
            </a:r>
            <a:r>
              <a:rPr lang="en-US"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异步传输</a:t>
            </a:r>
            <a:endParaRPr lang="en-US" altLang="zh-CN"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zh-CN" altLang="en-US" dirty="0">
                <a:latin typeface="华文中宋" panose="02010600040101010101" pitchFamily="2" charset="-122"/>
                <a:ea typeface="华文中宋" panose="02010600040101010101" pitchFamily="2" charset="-122"/>
              </a:rPr>
              <a:t> 处理独占设备和共享设备的</a:t>
            </a:r>
            <a:r>
              <a:rPr lang="en-US" dirty="0">
                <a:latin typeface="华文中宋" panose="02010600040101010101" pitchFamily="2" charset="-122"/>
                <a:ea typeface="华文中宋" panose="02010600040101010101" pitchFamily="2" charset="-122"/>
              </a:rPr>
              <a:t>I/O</a:t>
            </a:r>
            <a:r>
              <a:rPr lang="zh-CN" altLang="en-US" dirty="0">
                <a:latin typeface="华文中宋" panose="02010600040101010101" pitchFamily="2" charset="-122"/>
                <a:ea typeface="华文中宋" panose="02010600040101010101" pitchFamily="2" charset="-122"/>
              </a:rPr>
              <a:t>操作</a:t>
            </a:r>
            <a:endParaRPr lang="zh-CN" altLang="en-US" dirty="0">
              <a:latin typeface="华文中宋" panose="02010600040101010101" pitchFamily="2" charset="-122"/>
              <a:ea typeface="华文中宋" panose="02010600040101010101" pitchFamily="2"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500034" y="1500174"/>
            <a:ext cx="8286808" cy="216982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zh-CN" altLang="en-US" dirty="0">
                <a:latin typeface="华文中宋" panose="02010600040101010101" pitchFamily="2" charset="-122"/>
                <a:ea typeface="华文中宋" panose="02010600040101010101" pitchFamily="2" charset="-122"/>
              </a:rPr>
              <a:t>      假脱机（</a:t>
            </a:r>
            <a:r>
              <a:rPr lang="en-US" dirty="0">
                <a:latin typeface="华文中宋" panose="02010600040101010101" pitchFamily="2" charset="-122"/>
                <a:ea typeface="华文中宋" panose="02010600040101010101" pitchFamily="2" charset="-122"/>
              </a:rPr>
              <a:t>Spooling</a:t>
            </a:r>
            <a:r>
              <a:rPr lang="zh-CN" altLang="en-US" dirty="0">
                <a:latin typeface="华文中宋" panose="02010600040101010101" pitchFamily="2" charset="-122"/>
                <a:ea typeface="华文中宋" panose="02010600040101010101" pitchFamily="2" charset="-122"/>
              </a:rPr>
              <a:t>）系统，它是多道程序设计中处理独占设备的一种方法。例如，打印机是经常用到的输出设备，属于独占设备。如果一个进程申请并分配到打印机，在它释放打印机前，其它进程无法再使用这台打印机。然而，利用假脱机技术可以将</a:t>
            </a:r>
            <a:r>
              <a:rPr lang="zh-CN" altLang="en-US" b="1" dirty="0">
                <a:solidFill>
                  <a:srgbClr val="FF0000"/>
                </a:solidFill>
                <a:latin typeface="华文中宋" panose="02010600040101010101" pitchFamily="2" charset="-122"/>
                <a:ea typeface="华文中宋" panose="02010600040101010101" pitchFamily="2" charset="-122"/>
              </a:rPr>
              <a:t>它改造为一台供多个用户共享的打印设备</a:t>
            </a:r>
            <a:r>
              <a:rPr lang="zh-CN" altLang="en-US" dirty="0">
                <a:latin typeface="华文中宋" panose="02010600040101010101" pitchFamily="2" charset="-122"/>
                <a:ea typeface="华文中宋" panose="02010600040101010101" pitchFamily="2" charset="-122"/>
              </a:rPr>
              <a:t>，从而提高设备的利用率，也方便了用户使用。</a:t>
            </a:r>
            <a:endParaRPr lang="zh-CN" altLang="en-US" dirty="0">
              <a:latin typeface="华文中宋" panose="02010600040101010101" pitchFamily="2" charset="-122"/>
              <a:ea typeface="华文中宋" panose="02010600040101010101" pitchFamily="2"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166914"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66913" name="Object 1"/>
          <p:cNvGraphicFramePr>
            <a:graphicFrameLocks noChangeAspect="1"/>
          </p:cNvGraphicFramePr>
          <p:nvPr/>
        </p:nvGraphicFramePr>
        <p:xfrm>
          <a:off x="428595" y="1500174"/>
          <a:ext cx="8406991" cy="4714908"/>
        </p:xfrm>
        <a:graphic>
          <a:graphicData uri="http://schemas.openxmlformats.org/presentationml/2006/ole">
            <mc:AlternateContent xmlns:mc="http://schemas.openxmlformats.org/markup-compatibility/2006">
              <mc:Choice xmlns:v="urn:schemas-microsoft-com:vml" Requires="v">
                <p:oleObj spid="_x0000_s166980" name="Visio" r:id="rId1" imgW="9486900" imgH="4203700" progId="Visio.Drawing.11">
                  <p:embed/>
                </p:oleObj>
              </mc:Choice>
              <mc:Fallback>
                <p:oleObj name="Visio" r:id="rId1" imgW="9486900" imgH="42037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595" y="1500174"/>
                        <a:ext cx="8406991" cy="47149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28596" y="1196752"/>
            <a:ext cx="8229600" cy="4525963"/>
          </a:xfrm>
        </p:spPr>
        <p:txBody>
          <a:bodyPr>
            <a:normAutofit/>
          </a:bodyPr>
          <a:lstStyle/>
          <a:p>
            <a:pPr marL="0" indent="0">
              <a:buNone/>
            </a:pPr>
            <a:r>
              <a:rPr lang="en-US" altLang="zh-CN" sz="2000">
                <a:latin typeface="Times New Roman" panose="02020603050405020304" pitchFamily="18" charset="0"/>
                <a:cs typeface="Times New Roman" panose="02020603050405020304" pitchFamily="18" charset="0"/>
              </a:rPr>
              <a:t>§7.4 </a:t>
            </a:r>
            <a:r>
              <a:rPr lang="zh-CN" altLang="zh-CN" sz="2000">
                <a:latin typeface="Times New Roman" panose="02020603050405020304" pitchFamily="18" charset="0"/>
                <a:cs typeface="Times New Roman" panose="02020603050405020304" pitchFamily="18" charset="0"/>
              </a:rPr>
              <a:t>缓冲处理技</a:t>
            </a:r>
            <a:r>
              <a:rPr lang="zh-CN" altLang="zh-CN" sz="2000" smtClean="0">
                <a:latin typeface="Times New Roman" panose="02020603050405020304" pitchFamily="18" charset="0"/>
                <a:cs typeface="Times New Roman" panose="02020603050405020304" pitchFamily="18" charset="0"/>
              </a:rPr>
              <a:t>术</a:t>
            </a:r>
            <a:endParaRPr lang="en-US" altLang="zh-CN" sz="2000" smtClean="0">
              <a:latin typeface="Times New Roman" panose="02020603050405020304" pitchFamily="18" charset="0"/>
              <a:cs typeface="Times New Roman" panose="02020603050405020304" pitchFamily="18" charset="0"/>
            </a:endParaRPr>
          </a:p>
          <a:p>
            <a:pPr marL="0" indent="0">
              <a:buNone/>
            </a:pPr>
            <a:r>
              <a:rPr lang="zh-CN" altLang="zh-CN" sz="2000">
                <a:latin typeface="Times New Roman" panose="02020603050405020304" pitchFamily="18" charset="0"/>
                <a:cs typeface="Times New Roman" panose="02020603050405020304" pitchFamily="18" charset="0"/>
              </a:rPr>
              <a:t>引入缓冲区的原因可归结为以下几点：</a:t>
            </a:r>
            <a:endParaRPr lang="zh-CN" altLang="zh-CN" sz="2000">
              <a:latin typeface="Times New Roman" panose="02020603050405020304" pitchFamily="18" charset="0"/>
              <a:cs typeface="Times New Roman" panose="02020603050405020304" pitchFamily="18" charset="0"/>
            </a:endParaRPr>
          </a:p>
          <a:p>
            <a:r>
              <a:rPr lang="zh-CN" altLang="zh-CN" sz="2000">
                <a:latin typeface="Times New Roman" panose="02020603050405020304" pitchFamily="18" charset="0"/>
                <a:cs typeface="Times New Roman" panose="02020603050405020304" pitchFamily="18" charset="0"/>
              </a:rPr>
              <a:t>缓和处理器和</a:t>
            </a:r>
            <a:r>
              <a:rPr lang="en-US" altLang="zh-CN" sz="2000">
                <a:latin typeface="Times New Roman" panose="02020603050405020304" pitchFamily="18" charset="0"/>
                <a:cs typeface="Times New Roman" panose="02020603050405020304" pitchFamily="18" charset="0"/>
              </a:rPr>
              <a:t>I/O</a:t>
            </a:r>
            <a:r>
              <a:rPr lang="zh-CN" altLang="zh-CN" sz="2000">
                <a:latin typeface="Times New Roman" panose="02020603050405020304" pitchFamily="18" charset="0"/>
                <a:cs typeface="Times New Roman" panose="02020603050405020304" pitchFamily="18" charset="0"/>
              </a:rPr>
              <a:t>设备间速度不匹配的矛盾</a:t>
            </a:r>
            <a:r>
              <a:rPr lang="zh-CN" altLang="zh-CN" sz="2000" smtClean="0">
                <a:latin typeface="Times New Roman" panose="02020603050405020304" pitchFamily="18" charset="0"/>
                <a:cs typeface="Times New Roman" panose="02020603050405020304" pitchFamily="18" charset="0"/>
              </a:rPr>
              <a:t>。</a:t>
            </a:r>
            <a:endParaRPr lang="en-US" altLang="zh-CN" sz="2000" smtClean="0">
              <a:latin typeface="Times New Roman" panose="02020603050405020304" pitchFamily="18" charset="0"/>
              <a:cs typeface="Times New Roman" panose="02020603050405020304" pitchFamily="18" charset="0"/>
            </a:endParaRPr>
          </a:p>
          <a:p>
            <a:r>
              <a:rPr lang="zh-CN" altLang="zh-CN" sz="2000">
                <a:latin typeface="Times New Roman" panose="02020603050405020304" pitchFamily="18" charset="0"/>
                <a:cs typeface="Times New Roman" panose="02020603050405020304" pitchFamily="18" charset="0"/>
              </a:rPr>
              <a:t>减少对处理器的中断频率，放宽对处理器中断响应时间的限制</a:t>
            </a:r>
            <a:r>
              <a:rPr lang="zh-CN" altLang="zh-CN" sz="2000" smtClean="0">
                <a:latin typeface="Times New Roman" panose="02020603050405020304" pitchFamily="18" charset="0"/>
                <a:cs typeface="Times New Roman" panose="02020603050405020304" pitchFamily="18" charset="0"/>
              </a:rPr>
              <a:t>。</a:t>
            </a:r>
            <a:endParaRPr lang="en-US" altLang="zh-CN" sz="2000" smtClean="0">
              <a:latin typeface="Times New Roman" panose="02020603050405020304" pitchFamily="18" charset="0"/>
              <a:cs typeface="Times New Roman" panose="02020603050405020304" pitchFamily="18" charset="0"/>
            </a:endParaRPr>
          </a:p>
          <a:p>
            <a:r>
              <a:rPr lang="zh-CN" altLang="zh-CN" sz="2000">
                <a:latin typeface="Times New Roman" panose="02020603050405020304" pitchFamily="18" charset="0"/>
                <a:cs typeface="Times New Roman" panose="02020603050405020304" pitchFamily="18" charset="0"/>
              </a:rPr>
              <a:t>解决数据粒度不匹配的问</a:t>
            </a:r>
            <a:r>
              <a:rPr lang="zh-CN" altLang="zh-CN" sz="2000" smtClean="0">
                <a:latin typeface="Times New Roman" panose="02020603050405020304" pitchFamily="18" charset="0"/>
                <a:cs typeface="Times New Roman" panose="02020603050405020304" pitchFamily="18" charset="0"/>
              </a:rPr>
              <a:t>题</a:t>
            </a:r>
            <a:endParaRPr lang="en-US" altLang="zh-CN" sz="2000" smtClean="0">
              <a:latin typeface="Times New Roman" panose="02020603050405020304" pitchFamily="18" charset="0"/>
              <a:cs typeface="Times New Roman" panose="02020603050405020304" pitchFamily="18" charset="0"/>
            </a:endParaRPr>
          </a:p>
          <a:p>
            <a:r>
              <a:rPr lang="zh-CN" altLang="zh-CN" sz="2000">
                <a:latin typeface="Times New Roman" panose="02020603050405020304" pitchFamily="18" charset="0"/>
                <a:cs typeface="Times New Roman" panose="02020603050405020304" pitchFamily="18" charset="0"/>
              </a:rPr>
              <a:t>提高处理器和</a:t>
            </a:r>
            <a:r>
              <a:rPr lang="en-US" altLang="zh-CN" sz="2000">
                <a:latin typeface="Times New Roman" panose="02020603050405020304" pitchFamily="18" charset="0"/>
                <a:cs typeface="Times New Roman" panose="02020603050405020304" pitchFamily="18" charset="0"/>
              </a:rPr>
              <a:t>I/O</a:t>
            </a:r>
            <a:r>
              <a:rPr lang="zh-CN" altLang="zh-CN" sz="2000">
                <a:latin typeface="Times New Roman" panose="02020603050405020304" pitchFamily="18" charset="0"/>
                <a:cs typeface="Times New Roman" panose="02020603050405020304" pitchFamily="18" charset="0"/>
              </a:rPr>
              <a:t>设备之间的并行性</a:t>
            </a:r>
            <a:endParaRPr lang="zh-CN" altLang="en-US" sz="2000">
              <a:latin typeface="Times New Roman" panose="02020603050405020304" pitchFamily="18" charset="0"/>
              <a:cs typeface="Times New Roman" panose="02020603050405020304" pitchFamily="18" charset="0"/>
            </a:endParaRPr>
          </a:p>
        </p:txBody>
      </p:sp>
      <p:graphicFrame>
        <p:nvGraphicFramePr>
          <p:cNvPr id="5" name="对象 4"/>
          <p:cNvGraphicFramePr>
            <a:graphicFrameLocks noChangeAspect="1"/>
          </p:cNvGraphicFramePr>
          <p:nvPr/>
        </p:nvGraphicFramePr>
        <p:xfrm>
          <a:off x="827584" y="3459733"/>
          <a:ext cx="6192688" cy="2892833"/>
        </p:xfrm>
        <a:graphic>
          <a:graphicData uri="http://schemas.openxmlformats.org/presentationml/2006/ole">
            <mc:AlternateContent xmlns:mc="http://schemas.openxmlformats.org/markup-compatibility/2006">
              <mc:Choice xmlns:v="urn:schemas-microsoft-com:vml" Requires="v">
                <p:oleObj spid="_x0000_s186414" name="" r:id="rId1" imgW="7429500" imgH="3873500" progId="Visio.Drawing.11">
                  <p:embed/>
                </p:oleObj>
              </mc:Choice>
              <mc:Fallback>
                <p:oleObj name="" r:id="rId1" imgW="7429500" imgH="387350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3459733"/>
                        <a:ext cx="6192688" cy="2892833"/>
                      </a:xfrm>
                      <a:prstGeom prst="rect">
                        <a:avLst/>
                      </a:prstGeom>
                      <a:noFill/>
                    </p:spPr>
                  </p:pic>
                </p:oleObj>
              </mc:Fallback>
            </mc:AlternateContent>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323528" y="1340215"/>
            <a:ext cx="3416320" cy="523220"/>
          </a:xfrm>
          <a:prstGeom prst="rect">
            <a:avLst/>
          </a:prstGeom>
        </p:spPr>
        <p:txBody>
          <a:bodyPr wrap="none">
            <a:spAutoFit/>
          </a:bodyPr>
          <a:lstStyle/>
          <a:p>
            <a:r>
              <a:rPr lang="en-US" sz="2800" dirty="0">
                <a:latin typeface="华文中宋" panose="02010600040101010101" pitchFamily="2" charset="-122"/>
                <a:ea typeface="华文中宋" panose="02010600040101010101" pitchFamily="2" charset="-122"/>
              </a:rPr>
              <a:t>§7.4 </a:t>
            </a:r>
            <a:r>
              <a:rPr lang="zh-CN" altLang="en-US" sz="2800" dirty="0">
                <a:latin typeface="华文中宋" panose="02010600040101010101" pitchFamily="2" charset="-122"/>
                <a:ea typeface="华文中宋" panose="02010600040101010101" pitchFamily="2" charset="-122"/>
              </a:rPr>
              <a:t>缓冲处理技术</a:t>
            </a:r>
            <a:endParaRPr lang="zh-CN" altLang="en-US" sz="2800" dirty="0">
              <a:latin typeface="华文中宋" panose="02010600040101010101" pitchFamily="2" charset="-122"/>
              <a:ea typeface="华文中宋" panose="02010600040101010101" pitchFamily="2" charset="-122"/>
            </a:endParaRPr>
          </a:p>
        </p:txBody>
      </p:sp>
      <p:sp>
        <p:nvSpPr>
          <p:cNvPr id="5" name="矩形 4"/>
          <p:cNvSpPr/>
          <p:nvPr/>
        </p:nvSpPr>
        <p:spPr>
          <a:xfrm>
            <a:off x="500034" y="2000240"/>
            <a:ext cx="6643734" cy="369332"/>
          </a:xfrm>
          <a:prstGeom prst="rect">
            <a:avLst/>
          </a:prstGeom>
        </p:spPr>
        <p:txBody>
          <a:bodyPr wrap="square">
            <a:spAutoFit/>
          </a:bodyPr>
          <a:lstStyle/>
          <a:p>
            <a:r>
              <a:rPr lang="zh-CN" altLang="en-US" dirty="0">
                <a:latin typeface="华文中宋" panose="02010600040101010101" pitchFamily="2" charset="-122"/>
                <a:ea typeface="华文中宋" panose="02010600040101010101" pitchFamily="2" charset="-122"/>
              </a:rPr>
              <a:t>缓冲区是一个由操作系统</a:t>
            </a:r>
            <a:r>
              <a:rPr lang="zh-CN" altLang="en-US" dirty="0">
                <a:solidFill>
                  <a:srgbClr val="FF0000"/>
                </a:solidFill>
                <a:latin typeface="华文中宋" panose="02010600040101010101" pitchFamily="2" charset="-122"/>
                <a:ea typeface="华文中宋" panose="02010600040101010101" pitchFamily="2" charset="-122"/>
              </a:rPr>
              <a:t>内核进行管理</a:t>
            </a:r>
            <a:r>
              <a:rPr lang="zh-CN" altLang="en-US" dirty="0">
                <a:latin typeface="华文中宋" panose="02010600040101010101" pitchFamily="2" charset="-122"/>
                <a:ea typeface="华文中宋" panose="02010600040101010101" pitchFamily="2" charset="-122"/>
              </a:rPr>
              <a:t>，而且位于</a:t>
            </a:r>
            <a:r>
              <a:rPr lang="zh-CN" altLang="en-US" dirty="0">
                <a:solidFill>
                  <a:srgbClr val="FF0000"/>
                </a:solidFill>
                <a:latin typeface="华文中宋" panose="02010600040101010101" pitchFamily="2" charset="-122"/>
                <a:ea typeface="华文中宋" panose="02010600040101010101" pitchFamily="2" charset="-122"/>
              </a:rPr>
              <a:t>内核存储区域</a:t>
            </a:r>
            <a:r>
              <a:rPr lang="zh-CN" altLang="en-US" dirty="0">
                <a:latin typeface="华文中宋" panose="02010600040101010101" pitchFamily="2" charset="-122"/>
                <a:ea typeface="华文中宋" panose="02010600040101010101" pitchFamily="2" charset="-122"/>
              </a:rPr>
              <a:t>。</a:t>
            </a:r>
            <a:endParaRPr lang="zh-CN" altLang="en-US" dirty="0">
              <a:latin typeface="华文中宋" panose="02010600040101010101" pitchFamily="2" charset="-122"/>
              <a:ea typeface="华文中宋" panose="02010600040101010101" pitchFamily="2" charset="-122"/>
            </a:endParaRPr>
          </a:p>
        </p:txBody>
      </p:sp>
      <p:sp>
        <p:nvSpPr>
          <p:cNvPr id="171010"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71009" name="Object 1"/>
          <p:cNvGraphicFramePr>
            <a:graphicFrameLocks noChangeAspect="1"/>
          </p:cNvGraphicFramePr>
          <p:nvPr/>
        </p:nvGraphicFramePr>
        <p:xfrm>
          <a:off x="-46405" y="2407830"/>
          <a:ext cx="8175843" cy="4070767"/>
        </p:xfrm>
        <a:graphic>
          <a:graphicData uri="http://schemas.openxmlformats.org/presentationml/2006/ole">
            <mc:AlternateContent xmlns:mc="http://schemas.openxmlformats.org/markup-compatibility/2006">
              <mc:Choice xmlns:v="urn:schemas-microsoft-com:vml" Requires="v">
                <p:oleObj spid="_x0000_s171076" name="Visio" r:id="rId1" imgW="9994900" imgH="4699000" progId="Visio.Drawing.11">
                  <p:embed/>
                </p:oleObj>
              </mc:Choice>
              <mc:Fallback>
                <p:oleObj name="Visio" r:id="rId1" imgW="9994900" imgH="46990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05" y="2407830"/>
                        <a:ext cx="8175843" cy="4070767"/>
                      </a:xfrm>
                      <a:prstGeom prst="rect">
                        <a:avLst/>
                      </a:prstGeom>
                      <a:noFill/>
                    </p:spPr>
                  </p:pic>
                </p:oleObj>
              </mc:Fallback>
            </mc:AlternateContent>
          </a:graphicData>
        </a:graphic>
      </p:graphicFrame>
      <p:sp>
        <p:nvSpPr>
          <p:cNvPr id="8" name="TextBox 7"/>
          <p:cNvSpPr txBox="1"/>
          <p:nvPr/>
        </p:nvSpPr>
        <p:spPr>
          <a:xfrm>
            <a:off x="4139952" y="6309320"/>
            <a:ext cx="1005403" cy="338554"/>
          </a:xfrm>
          <a:prstGeom prst="rect">
            <a:avLst/>
          </a:prstGeom>
          <a:noFill/>
        </p:spPr>
        <p:txBody>
          <a:bodyPr wrap="none" rtlCol="0">
            <a:spAutoFit/>
          </a:bodyPr>
          <a:lstStyle/>
          <a:p>
            <a:r>
              <a:rPr lang="zh-CN" altLang="en-US" sz="1600" dirty="0"/>
              <a:t>单缓冲区</a:t>
            </a:r>
            <a:endParaRPr lang="zh-CN" altLang="en-US" sz="1600" dirty="0"/>
          </a:p>
        </p:txBody>
      </p:sp>
      <p:sp>
        <p:nvSpPr>
          <p:cNvPr id="3" name="矩形 2"/>
          <p:cNvSpPr/>
          <p:nvPr/>
        </p:nvSpPr>
        <p:spPr>
          <a:xfrm>
            <a:off x="5004048" y="1309361"/>
            <a:ext cx="3816424" cy="646331"/>
          </a:xfrm>
          <a:prstGeom prst="rect">
            <a:avLst/>
          </a:prstGeom>
        </p:spPr>
        <p:txBody>
          <a:bodyPr wrap="square">
            <a:spAutoFit/>
          </a:bodyPr>
          <a:lstStyle/>
          <a:p>
            <a:r>
              <a:rPr lang="zh-CN" altLang="zh-CN" kern="100">
                <a:latin typeface="Times New Roman" panose="02020603050405020304" pitchFamily="18" charset="0"/>
                <a:cs typeface="Times New Roman" panose="02020603050405020304" pitchFamily="18" charset="0"/>
              </a:rPr>
              <a:t>系统对每一块数据的处理时间表示为</a:t>
            </a:r>
            <a:r>
              <a:rPr lang="en-US" altLang="zh-CN" kern="100">
                <a:latin typeface="Times New Roman" panose="02020603050405020304" pitchFamily="18" charset="0"/>
              </a:rPr>
              <a:t>Max(C,T)+M</a:t>
            </a:r>
            <a:endParaRPr lang="zh-CN" alt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172034"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72033" name="Object 1"/>
          <p:cNvGraphicFramePr>
            <a:graphicFrameLocks noChangeAspect="1"/>
          </p:cNvGraphicFramePr>
          <p:nvPr/>
        </p:nvGraphicFramePr>
        <p:xfrm>
          <a:off x="357158" y="1500174"/>
          <a:ext cx="8288250" cy="3857652"/>
        </p:xfrm>
        <a:graphic>
          <a:graphicData uri="http://schemas.openxmlformats.org/presentationml/2006/ole">
            <mc:AlternateContent xmlns:mc="http://schemas.openxmlformats.org/markup-compatibility/2006">
              <mc:Choice xmlns:v="urn:schemas-microsoft-com:vml" Requires="v">
                <p:oleObj spid="_x0000_s172100" name="Visio" r:id="rId1" imgW="9169400" imgH="4381500" progId="Visio.Drawing.11">
                  <p:embed/>
                </p:oleObj>
              </mc:Choice>
              <mc:Fallback>
                <p:oleObj name="Visio" r:id="rId1" imgW="9169400" imgH="43815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58" y="1500174"/>
                        <a:ext cx="8288250" cy="38576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4071934" y="6000768"/>
            <a:ext cx="1005403" cy="338554"/>
          </a:xfrm>
          <a:prstGeom prst="rect">
            <a:avLst/>
          </a:prstGeom>
          <a:noFill/>
        </p:spPr>
        <p:txBody>
          <a:bodyPr wrap="none" rtlCol="0">
            <a:spAutoFit/>
          </a:bodyPr>
          <a:lstStyle/>
          <a:p>
            <a:r>
              <a:rPr lang="zh-CN" altLang="en-US" sz="1600" dirty="0"/>
              <a:t>双缓冲区</a:t>
            </a:r>
            <a:endParaRPr lang="zh-CN" altLang="en-US" sz="16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Picture 2"/>
          <p:cNvPicPr>
            <a:picLocks noChangeAspect="1" noChangeArrowheads="1"/>
          </p:cNvPicPr>
          <p:nvPr/>
        </p:nvPicPr>
        <p:blipFill>
          <a:blip r:embed="rId1"/>
          <a:srcRect/>
          <a:stretch>
            <a:fillRect/>
          </a:stretch>
        </p:blipFill>
        <p:spPr bwMode="auto">
          <a:xfrm>
            <a:off x="357157" y="1571612"/>
            <a:ext cx="8408475" cy="401762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150908" y="1556792"/>
            <a:ext cx="8993092" cy="4525963"/>
          </a:xfrm>
        </p:spPr>
        <p:txBody>
          <a:bodyPr>
            <a:normAutofit lnSpcReduction="10000"/>
          </a:bodyPr>
          <a:lstStyle/>
          <a:p>
            <a:pPr marL="0" indent="0">
              <a:lnSpc>
                <a:spcPct val="150000"/>
              </a:lnSpc>
              <a:buNone/>
            </a:pPr>
            <a:r>
              <a:rPr lang="zh-CN" altLang="zh-CN" sz="2400">
                <a:latin typeface="Times New Roman" panose="02020603050405020304" pitchFamily="18" charset="0"/>
                <a:cs typeface="Times New Roman" panose="02020603050405020304" pitchFamily="18" charset="0"/>
              </a:rPr>
              <a:t>在双缓冲区时，系统处理一个数据块的时间可以粗略估计为</a:t>
            </a:r>
            <a:r>
              <a:rPr lang="en-US" altLang="zh-CN" sz="2400">
                <a:latin typeface="Times New Roman" panose="02020603050405020304" pitchFamily="18" charset="0"/>
                <a:cs typeface="Times New Roman" panose="02020603050405020304" pitchFamily="18" charset="0"/>
              </a:rPr>
              <a:t>Max(C,T</a:t>
            </a:r>
            <a:r>
              <a:rPr lang="en-US" altLang="zh-CN" sz="2400" smtClean="0">
                <a:latin typeface="Times New Roman" panose="02020603050405020304" pitchFamily="18" charset="0"/>
                <a:cs typeface="Times New Roman" panose="02020603050405020304" pitchFamily="18" charset="0"/>
              </a:rPr>
              <a:t>)</a:t>
            </a:r>
            <a:r>
              <a:rPr lang="zh-CN" altLang="en-US" sz="2400" smtClean="0">
                <a:latin typeface="Times New Roman" panose="02020603050405020304" pitchFamily="18" charset="0"/>
                <a:cs typeface="Times New Roman" panose="02020603050405020304" pitchFamily="18" charset="0"/>
              </a:rPr>
              <a:t>。</a:t>
            </a:r>
            <a:endParaRPr lang="en-US" altLang="zh-CN" sz="2400" smtClean="0">
              <a:latin typeface="Times New Roman" panose="02020603050405020304" pitchFamily="18" charset="0"/>
              <a:cs typeface="Times New Roman" panose="02020603050405020304" pitchFamily="18" charset="0"/>
            </a:endParaRPr>
          </a:p>
          <a:p>
            <a:pPr>
              <a:lnSpc>
                <a:spcPct val="150000"/>
              </a:lnSpc>
            </a:pPr>
            <a:r>
              <a:rPr lang="zh-CN" altLang="zh-CN" sz="2400" smtClean="0">
                <a:latin typeface="Times New Roman" panose="02020603050405020304" pitchFamily="18" charset="0"/>
                <a:cs typeface="Times New Roman" panose="02020603050405020304" pitchFamily="18" charset="0"/>
              </a:rPr>
              <a:t>如</a:t>
            </a:r>
            <a:r>
              <a:rPr lang="zh-CN" altLang="zh-CN" sz="2400">
                <a:latin typeface="Times New Roman" panose="02020603050405020304" pitchFamily="18" charset="0"/>
                <a:cs typeface="Times New Roman" panose="02020603050405020304" pitchFamily="18" charset="0"/>
              </a:rPr>
              <a:t>果</a:t>
            </a:r>
            <a:r>
              <a:rPr lang="en-US" altLang="zh-CN" sz="2400">
                <a:latin typeface="Times New Roman" panose="02020603050405020304" pitchFamily="18" charset="0"/>
                <a:cs typeface="Times New Roman" panose="02020603050405020304" pitchFamily="18" charset="0"/>
              </a:rPr>
              <a:t>C&lt;&lt;T</a:t>
            </a:r>
            <a:r>
              <a:rPr lang="zh-CN" altLang="zh-CN" sz="2400">
                <a:latin typeface="Times New Roman" panose="02020603050405020304" pitchFamily="18" charset="0"/>
                <a:cs typeface="Times New Roman" panose="02020603050405020304" pitchFamily="18" charset="0"/>
              </a:rPr>
              <a:t>，</a:t>
            </a:r>
            <a:r>
              <a:rPr lang="zh-CN" altLang="zh-CN" sz="2400">
                <a:latin typeface="Times New Roman" panose="02020603050405020304" pitchFamily="18" charset="0"/>
                <a:cs typeface="Times New Roman" panose="02020603050405020304" pitchFamily="18" charset="0"/>
              </a:rPr>
              <a:t>可</a:t>
            </a:r>
            <a:r>
              <a:rPr lang="zh-CN" altLang="zh-CN" sz="2400" smtClean="0">
                <a:latin typeface="Times New Roman" panose="02020603050405020304" pitchFamily="18" charset="0"/>
                <a:cs typeface="Times New Roman" panose="02020603050405020304" pitchFamily="18" charset="0"/>
              </a:rPr>
              <a:t>使</a:t>
            </a:r>
            <a:r>
              <a:rPr lang="en-US" altLang="zh-CN" sz="2400" smtClean="0">
                <a:latin typeface="Times New Roman" panose="02020603050405020304" pitchFamily="18" charset="0"/>
                <a:cs typeface="Times New Roman" panose="02020603050405020304" pitchFamily="18" charset="0"/>
              </a:rPr>
              <a:t>I/O</a:t>
            </a:r>
            <a:r>
              <a:rPr lang="zh-CN" altLang="zh-CN" sz="2400" smtClean="0">
                <a:latin typeface="Times New Roman" panose="02020603050405020304" pitchFamily="18" charset="0"/>
                <a:cs typeface="Times New Roman" panose="02020603050405020304" pitchFamily="18" charset="0"/>
              </a:rPr>
              <a:t>设</a:t>
            </a:r>
            <a:r>
              <a:rPr lang="zh-CN" altLang="zh-CN" sz="2400">
                <a:latin typeface="Times New Roman" panose="02020603050405020304" pitchFamily="18" charset="0"/>
                <a:cs typeface="Times New Roman" panose="02020603050405020304" pitchFamily="18" charset="0"/>
              </a:rPr>
              <a:t>备连续</a:t>
            </a:r>
            <a:r>
              <a:rPr lang="zh-CN" altLang="zh-CN" sz="2400">
                <a:latin typeface="Times New Roman" panose="02020603050405020304" pitchFamily="18" charset="0"/>
                <a:cs typeface="Times New Roman" panose="02020603050405020304" pitchFamily="18" charset="0"/>
              </a:rPr>
              <a:t>输</a:t>
            </a:r>
            <a:r>
              <a:rPr lang="zh-CN" altLang="zh-CN" sz="2400" smtClean="0">
                <a:latin typeface="Times New Roman" panose="02020603050405020304" pitchFamily="18" charset="0"/>
                <a:cs typeface="Times New Roman" panose="02020603050405020304" pitchFamily="18" charset="0"/>
              </a:rPr>
              <a:t>入</a:t>
            </a:r>
            <a:r>
              <a:rPr lang="zh-CN" altLang="en-US" sz="2400" smtClean="0">
                <a:latin typeface="Times New Roman" panose="02020603050405020304" pitchFamily="18" charset="0"/>
                <a:cs typeface="Times New Roman" panose="02020603050405020304" pitchFamily="18" charset="0"/>
              </a:rPr>
              <a:t>，使设备一直处于忙状态</a:t>
            </a:r>
            <a:r>
              <a:rPr lang="zh-CN" altLang="zh-CN" sz="2400" smtClean="0">
                <a:latin typeface="Times New Roman" panose="02020603050405020304" pitchFamily="18" charset="0"/>
                <a:cs typeface="Times New Roman" panose="02020603050405020304" pitchFamily="18" charset="0"/>
              </a:rPr>
              <a:t>；</a:t>
            </a:r>
            <a:endParaRPr lang="en-US" altLang="zh-CN" sz="2400" smtClean="0">
              <a:latin typeface="Times New Roman" panose="02020603050405020304" pitchFamily="18" charset="0"/>
              <a:cs typeface="Times New Roman" panose="02020603050405020304" pitchFamily="18" charset="0"/>
            </a:endParaRPr>
          </a:p>
          <a:p>
            <a:pPr>
              <a:lnSpc>
                <a:spcPct val="150000"/>
              </a:lnSpc>
            </a:pPr>
            <a:r>
              <a:rPr lang="zh-CN" altLang="zh-CN" sz="2400" smtClean="0">
                <a:latin typeface="Times New Roman" panose="02020603050405020304" pitchFamily="18" charset="0"/>
                <a:cs typeface="Times New Roman" panose="02020603050405020304" pitchFamily="18" charset="0"/>
              </a:rPr>
              <a:t>如</a:t>
            </a:r>
            <a:r>
              <a:rPr lang="zh-CN" altLang="zh-CN" sz="2400">
                <a:latin typeface="Times New Roman" panose="02020603050405020304" pitchFamily="18" charset="0"/>
                <a:cs typeface="Times New Roman" panose="02020603050405020304" pitchFamily="18" charset="0"/>
              </a:rPr>
              <a:t>果</a:t>
            </a:r>
            <a:r>
              <a:rPr lang="en-US" altLang="zh-CN" sz="2400">
                <a:latin typeface="Times New Roman" panose="02020603050405020304" pitchFamily="18" charset="0"/>
                <a:cs typeface="Times New Roman" panose="02020603050405020304" pitchFamily="18" charset="0"/>
              </a:rPr>
              <a:t>C&gt;T</a:t>
            </a:r>
            <a:r>
              <a:rPr lang="zh-CN" altLang="zh-CN" sz="2400">
                <a:latin typeface="Times New Roman" panose="02020603050405020304" pitchFamily="18" charset="0"/>
                <a:cs typeface="Times New Roman" panose="02020603050405020304" pitchFamily="18" charset="0"/>
              </a:rPr>
              <a:t>，则处理器不必等待设备</a:t>
            </a:r>
            <a:r>
              <a:rPr lang="zh-CN" altLang="zh-CN" sz="2400">
                <a:latin typeface="Times New Roman" panose="02020603050405020304" pitchFamily="18" charset="0"/>
                <a:cs typeface="Times New Roman" panose="02020603050405020304" pitchFamily="18" charset="0"/>
              </a:rPr>
              <a:t>输</a:t>
            </a:r>
            <a:r>
              <a:rPr lang="zh-CN" altLang="zh-CN" sz="2400" smtClean="0">
                <a:latin typeface="Times New Roman" panose="02020603050405020304" pitchFamily="18" charset="0"/>
                <a:cs typeface="Times New Roman" panose="02020603050405020304" pitchFamily="18" charset="0"/>
              </a:rPr>
              <a:t>入</a:t>
            </a:r>
            <a:r>
              <a:rPr lang="zh-CN" altLang="en-US" sz="2400" smtClean="0">
                <a:latin typeface="Times New Roman" panose="02020603050405020304" pitchFamily="18" charset="0"/>
                <a:cs typeface="Times New Roman" panose="02020603050405020304" pitchFamily="18" charset="0"/>
              </a:rPr>
              <a:t>，使处理器一直处于忙状态</a:t>
            </a:r>
            <a:r>
              <a:rPr lang="zh-CN" altLang="zh-CN" sz="2400" smtClean="0">
                <a:latin typeface="Times New Roman" panose="02020603050405020304" pitchFamily="18" charset="0"/>
                <a:cs typeface="Times New Roman" panose="02020603050405020304" pitchFamily="18" charset="0"/>
              </a:rPr>
              <a:t>。</a:t>
            </a:r>
            <a:endParaRPr lang="en-US" altLang="zh-CN" sz="2400" smtClean="0">
              <a:latin typeface="Times New Roman" panose="02020603050405020304" pitchFamily="18" charset="0"/>
              <a:cs typeface="Times New Roman" panose="02020603050405020304" pitchFamily="18" charset="0"/>
            </a:endParaRPr>
          </a:p>
          <a:p>
            <a:pPr>
              <a:lnSpc>
                <a:spcPct val="150000"/>
              </a:lnSpc>
            </a:pPr>
            <a:r>
              <a:rPr lang="zh-CN" altLang="zh-CN" sz="2400" smtClean="0">
                <a:latin typeface="Times New Roman" panose="02020603050405020304" pitchFamily="18" charset="0"/>
                <a:cs typeface="Times New Roman" panose="02020603050405020304" pitchFamily="18" charset="0"/>
              </a:rPr>
              <a:t>对</a:t>
            </a:r>
            <a:r>
              <a:rPr lang="zh-CN" altLang="zh-CN" sz="2400">
                <a:latin typeface="Times New Roman" panose="02020603050405020304" pitchFamily="18" charset="0"/>
                <a:cs typeface="Times New Roman" panose="02020603050405020304" pitchFamily="18" charset="0"/>
              </a:rPr>
              <a:t>于字符设备，若采用行输入方式，则采用双缓冲通常</a:t>
            </a:r>
            <a:r>
              <a:rPr lang="zh-CN" altLang="zh-CN" sz="2400" b="1">
                <a:solidFill>
                  <a:srgbClr val="FF0000"/>
                </a:solidFill>
                <a:latin typeface="Times New Roman" panose="02020603050405020304" pitchFamily="18" charset="0"/>
                <a:cs typeface="Times New Roman" panose="02020603050405020304" pitchFamily="18" charset="0"/>
              </a:rPr>
              <a:t>能消除用户的等待时间</a:t>
            </a:r>
            <a:r>
              <a:rPr lang="zh-CN" altLang="zh-CN" sz="2400">
                <a:latin typeface="Times New Roman" panose="02020603050405020304" pitchFamily="18" charset="0"/>
                <a:cs typeface="Times New Roman" panose="02020603050405020304" pitchFamily="18" charset="0"/>
              </a:rPr>
              <a:t>，即用户在输入完第一行后，在处理器执行第一行的命令时，用户可继续向第二缓冲区输入下一行数据。</a:t>
            </a:r>
            <a:endParaRPr lang="zh-CN"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5" name="对象 4"/>
          <p:cNvGraphicFramePr>
            <a:graphicFrameLocks noChangeAspect="1"/>
          </p:cNvGraphicFramePr>
          <p:nvPr/>
        </p:nvGraphicFramePr>
        <p:xfrm>
          <a:off x="315386" y="1299602"/>
          <a:ext cx="8342809" cy="3811032"/>
        </p:xfrm>
        <a:graphic>
          <a:graphicData uri="http://schemas.openxmlformats.org/presentationml/2006/ole">
            <mc:AlternateContent xmlns:mc="http://schemas.openxmlformats.org/markup-compatibility/2006">
              <mc:Choice xmlns:v="urn:schemas-microsoft-com:vml" Requires="v">
                <p:oleObj spid="_x0000_s187433" name="" r:id="rId1" imgW="7061200" imgH="3327400" progId="Visio.Drawing.11">
                  <p:embed/>
                </p:oleObj>
              </mc:Choice>
              <mc:Fallback>
                <p:oleObj name="" r:id="rId1" imgW="7061200" imgH="332740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386" y="1299602"/>
                        <a:ext cx="8342809" cy="3811032"/>
                      </a:xfrm>
                      <a:prstGeom prst="rect">
                        <a:avLst/>
                      </a:prstGeom>
                      <a:noFill/>
                    </p:spPr>
                  </p:pic>
                </p:oleObj>
              </mc:Fallback>
            </mc:AlternateContent>
          </a:graphicData>
        </a:graphic>
      </p:graphicFrame>
      <p:sp>
        <p:nvSpPr>
          <p:cNvPr id="6" name="Rectangle 3"/>
          <p:cNvSpPr>
            <a:spLocks noChangeArrowheads="1"/>
          </p:cNvSpPr>
          <p:nvPr/>
        </p:nvSpPr>
        <p:spPr bwMode="auto">
          <a:xfrm>
            <a:off x="2051720" y="5722203"/>
            <a:ext cx="451918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Calibri" panose="020F0502020204030204" pitchFamily="34" charset="0"/>
              </a:rPr>
              <a:t>图</a:t>
            </a: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7-27 </a:t>
            </a:r>
            <a:r>
              <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Calibri" panose="020F0502020204030204" pitchFamily="34" charset="0"/>
              </a:rPr>
              <a:t>双机通信时的缓冲区设置</a:t>
            </a:r>
            <a:endParaRPr kumimoji="0" lang="zh-CN" altLang="en-US" sz="2400" b="0" i="0" u="none" strike="noStrike" cap="none" normalizeH="0" baseline="0" smtClean="0">
              <a:ln>
                <a:noFill/>
              </a:ln>
              <a:solidFill>
                <a:schemeClr val="tx1"/>
              </a:solidFill>
              <a:effectLst/>
              <a:latin typeface="Arial" panose="020B0604020202020204" pitchFamily="34" charset="0"/>
            </a:endParaRPr>
          </a:p>
        </p:txBody>
      </p:sp>
      <p:sp>
        <p:nvSpPr>
          <p:cNvPr id="7" name="矩形 6"/>
          <p:cNvSpPr/>
          <p:nvPr/>
        </p:nvSpPr>
        <p:spPr>
          <a:xfrm>
            <a:off x="0" y="4833635"/>
            <a:ext cx="4909580" cy="553998"/>
          </a:xfrm>
          <a:prstGeom prst="rect">
            <a:avLst/>
          </a:prstGeom>
          <a:solidFill>
            <a:srgbClr val="FFFF00"/>
          </a:solidFill>
        </p:spPr>
        <p:txBody>
          <a:bodyPr wrap="square">
            <a:spAutoFit/>
          </a:bodyPr>
          <a:lstStyle/>
          <a:p>
            <a:pPr>
              <a:lnSpc>
                <a:spcPct val="150000"/>
              </a:lnSpc>
            </a:pPr>
            <a:r>
              <a:rPr lang="zh-CN" altLang="zh-CN" sz="2000" smtClean="0"/>
              <a:t>在</a:t>
            </a:r>
            <a:r>
              <a:rPr lang="zh-CN" altLang="zh-CN" sz="2000" b="1">
                <a:solidFill>
                  <a:srgbClr val="FF0000"/>
                </a:solidFill>
              </a:rPr>
              <a:t>任一时刻</a:t>
            </a:r>
            <a:r>
              <a:rPr lang="zh-CN" altLang="zh-CN" sz="2000"/>
              <a:t>都只能实现单方向的数据传输。</a:t>
            </a:r>
            <a:endParaRPr lang="zh-CN" altLang="en-US" sz="2000"/>
          </a:p>
        </p:txBody>
      </p:sp>
      <p:sp>
        <p:nvSpPr>
          <p:cNvPr id="8" name="文本框 7"/>
          <p:cNvSpPr txBox="1"/>
          <p:nvPr/>
        </p:nvSpPr>
        <p:spPr>
          <a:xfrm>
            <a:off x="5508104" y="4910579"/>
            <a:ext cx="3005951" cy="400110"/>
          </a:xfrm>
          <a:prstGeom prst="rect">
            <a:avLst/>
          </a:prstGeom>
          <a:solidFill>
            <a:srgbClr val="FFFF00"/>
          </a:solidFill>
        </p:spPr>
        <p:txBody>
          <a:bodyPr wrap="none" rtlCol="0">
            <a:spAutoFit/>
          </a:bodyPr>
          <a:lstStyle/>
          <a:p>
            <a:r>
              <a:rPr lang="zh-CN" altLang="en-US" sz="2000" smtClean="0"/>
              <a:t>发送和接收可以</a:t>
            </a:r>
            <a:r>
              <a:rPr lang="zh-CN" altLang="en-US" sz="2000" b="1" smtClean="0">
                <a:solidFill>
                  <a:srgbClr val="FF0000"/>
                </a:solidFill>
              </a:rPr>
              <a:t>同时</a:t>
            </a:r>
            <a:r>
              <a:rPr lang="zh-CN" altLang="en-US" sz="2000" smtClean="0"/>
              <a:t>进行</a:t>
            </a:r>
            <a:endParaRPr lang="zh-CN" altLang="en-US" sz="20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186912" y="1340768"/>
            <a:ext cx="8712968" cy="4525963"/>
          </a:xfrm>
        </p:spPr>
        <p:txBody>
          <a:bodyPr>
            <a:normAutofit/>
          </a:bodyPr>
          <a:lstStyle/>
          <a:p>
            <a:pPr marL="0" indent="0">
              <a:buNone/>
            </a:pPr>
            <a:r>
              <a:rPr lang="en-US" altLang="zh-CN" sz="2400" smtClean="0">
                <a:latin typeface="Times New Roman" panose="02020603050405020304" pitchFamily="18" charset="0"/>
                <a:cs typeface="Times New Roman" panose="02020603050405020304" pitchFamily="18" charset="0"/>
              </a:rPr>
              <a:t>7.4.3 </a:t>
            </a:r>
            <a:r>
              <a:rPr lang="zh-CN" altLang="zh-CN" sz="2400" smtClean="0">
                <a:latin typeface="Times New Roman" panose="02020603050405020304" pitchFamily="18" charset="0"/>
                <a:cs typeface="Times New Roman" panose="02020603050405020304" pitchFamily="18" charset="0"/>
              </a:rPr>
              <a:t>环形缓冲区</a:t>
            </a:r>
            <a:endParaRPr lang="en-US" altLang="zh-CN" sz="2400" smtClean="0">
              <a:latin typeface="Times New Roman" panose="02020603050405020304" pitchFamily="18" charset="0"/>
              <a:cs typeface="Times New Roman" panose="02020603050405020304" pitchFamily="18" charset="0"/>
            </a:endParaRPr>
          </a:p>
          <a:p>
            <a:pPr marL="0" indent="0">
              <a:lnSpc>
                <a:spcPct val="150000"/>
              </a:lnSpc>
              <a:buNone/>
            </a:pPr>
            <a:r>
              <a:rPr lang="en-US" altLang="zh-CN" sz="2000" smtClean="0"/>
              <a:t>    </a:t>
            </a:r>
            <a:r>
              <a:rPr lang="zh-CN" altLang="zh-CN" sz="2000" smtClean="0"/>
              <a:t>当</a:t>
            </a:r>
            <a:r>
              <a:rPr lang="zh-CN" altLang="zh-CN" sz="2000"/>
              <a:t>输</a:t>
            </a:r>
            <a:r>
              <a:rPr lang="zh-CN" altLang="zh-CN" sz="2000" smtClean="0"/>
              <a:t>入</a:t>
            </a:r>
            <a:r>
              <a:rPr lang="en-US" altLang="zh-CN" sz="2000" smtClean="0"/>
              <a:t>/</a:t>
            </a:r>
            <a:r>
              <a:rPr lang="zh-CN" altLang="en-US" sz="2000" smtClean="0"/>
              <a:t>输出</a:t>
            </a:r>
            <a:r>
              <a:rPr lang="zh-CN" altLang="zh-CN" sz="2000" smtClean="0"/>
              <a:t>与</a:t>
            </a:r>
            <a:r>
              <a:rPr lang="zh-CN" altLang="en-US" sz="2000" smtClean="0"/>
              <a:t>数据处理</a:t>
            </a:r>
            <a:r>
              <a:rPr lang="zh-CN" altLang="zh-CN" sz="2000" smtClean="0"/>
              <a:t>的</a:t>
            </a:r>
            <a:r>
              <a:rPr lang="zh-CN" altLang="zh-CN" sz="2000"/>
              <a:t>速度基本匹配时，采用双缓冲区能获得较好的效果，可使生产者和消费者之间基本上能并行操作。但若两者速度相差甚远，双缓冲的效果则不够理想，不过可以适当增加缓冲区的数量，改善系统性能。因此，引入了多缓冲机制，可将多个缓冲区组织成</a:t>
            </a:r>
            <a:r>
              <a:rPr lang="zh-CN" altLang="zh-CN" sz="2000" b="1">
                <a:solidFill>
                  <a:srgbClr val="FF0000"/>
                </a:solidFill>
              </a:rPr>
              <a:t>环形缓冲</a:t>
            </a:r>
            <a:r>
              <a:rPr lang="zh-CN" altLang="zh-CN" sz="2000" b="1">
                <a:solidFill>
                  <a:srgbClr val="FF0000"/>
                </a:solidFill>
              </a:rPr>
              <a:t>区</a:t>
            </a:r>
            <a:r>
              <a:rPr lang="zh-CN" altLang="zh-CN" sz="2000" smtClean="0"/>
              <a:t>。</a:t>
            </a:r>
            <a:endParaRPr lang="en-US" altLang="zh-CN" sz="2000" smtClean="0"/>
          </a:p>
          <a:p>
            <a:pPr marL="0" indent="0">
              <a:lnSpc>
                <a:spcPct val="150000"/>
              </a:lnSpc>
              <a:buNone/>
            </a:pPr>
            <a:r>
              <a:rPr lang="zh-CN" altLang="en-US" sz="2000" smtClean="0">
                <a:latin typeface="Times New Roman" panose="02020603050405020304" pitchFamily="18" charset="0"/>
                <a:cs typeface="Times New Roman" panose="02020603050405020304" pitchFamily="18" charset="0"/>
              </a:rPr>
              <a:t>      在多道程序设计环境下，通常用两个进程对缓冲区进行操作：</a:t>
            </a:r>
            <a:endParaRPr lang="en-US" altLang="zh-CN" sz="2000" smtClean="0">
              <a:latin typeface="Times New Roman" panose="02020603050405020304" pitchFamily="18" charset="0"/>
              <a:cs typeface="Times New Roman" panose="02020603050405020304" pitchFamily="18" charset="0"/>
            </a:endParaRPr>
          </a:p>
          <a:p>
            <a:pPr>
              <a:lnSpc>
                <a:spcPct val="150000"/>
              </a:lnSpc>
            </a:pPr>
            <a:r>
              <a:rPr lang="zh-CN" altLang="en-US" sz="2000" b="1" smtClean="0">
                <a:solidFill>
                  <a:srgbClr val="FF0000"/>
                </a:solidFill>
                <a:latin typeface="Times New Roman" panose="02020603050405020304" pitchFamily="18" charset="0"/>
                <a:cs typeface="Times New Roman" panose="02020603050405020304" pitchFamily="18" charset="0"/>
              </a:rPr>
              <a:t>输入（输出）进程</a:t>
            </a:r>
            <a:r>
              <a:rPr lang="zh-CN" altLang="en-US" sz="2000" smtClean="0">
                <a:latin typeface="Times New Roman" panose="02020603050405020304" pitchFamily="18" charset="0"/>
                <a:cs typeface="Times New Roman" panose="02020603050405020304" pitchFamily="18" charset="0"/>
              </a:rPr>
              <a:t>：输入进程负责从</a:t>
            </a:r>
            <a:r>
              <a:rPr lang="en-US" altLang="zh-CN" sz="2000" smtClean="0">
                <a:latin typeface="Times New Roman" panose="02020603050405020304" pitchFamily="18" charset="0"/>
                <a:cs typeface="Times New Roman" panose="02020603050405020304" pitchFamily="18" charset="0"/>
              </a:rPr>
              <a:t>I/O</a:t>
            </a:r>
            <a:r>
              <a:rPr lang="zh-CN" altLang="en-US" sz="2000" smtClean="0">
                <a:latin typeface="Times New Roman" panose="02020603050405020304" pitchFamily="18" charset="0"/>
                <a:cs typeface="Times New Roman" panose="02020603050405020304" pitchFamily="18" charset="0"/>
              </a:rPr>
              <a:t>设备把数据写入缓冲区；</a:t>
            </a:r>
            <a:endParaRPr lang="en-US" altLang="zh-CN" sz="2000" smtClean="0">
              <a:latin typeface="Times New Roman" panose="02020603050405020304" pitchFamily="18" charset="0"/>
              <a:cs typeface="Times New Roman" panose="02020603050405020304" pitchFamily="18" charset="0"/>
            </a:endParaRPr>
          </a:p>
          <a:p>
            <a:pPr>
              <a:lnSpc>
                <a:spcPct val="150000"/>
              </a:lnSpc>
            </a:pPr>
            <a:r>
              <a:rPr lang="zh-CN" altLang="en-US" sz="2000" b="1">
                <a:solidFill>
                  <a:srgbClr val="FF0000"/>
                </a:solidFill>
                <a:latin typeface="Times New Roman" panose="02020603050405020304" pitchFamily="18" charset="0"/>
                <a:cs typeface="Times New Roman" panose="02020603050405020304" pitchFamily="18" charset="0"/>
              </a:rPr>
              <a:t>计</a:t>
            </a:r>
            <a:r>
              <a:rPr lang="zh-CN" altLang="en-US" sz="2000" b="1" smtClean="0">
                <a:solidFill>
                  <a:srgbClr val="FF0000"/>
                </a:solidFill>
                <a:latin typeface="Times New Roman" panose="02020603050405020304" pitchFamily="18" charset="0"/>
                <a:cs typeface="Times New Roman" panose="02020603050405020304" pitchFamily="18" charset="0"/>
              </a:rPr>
              <a:t>算进程</a:t>
            </a:r>
            <a:r>
              <a:rPr lang="zh-CN" altLang="en-US" sz="2000" smtClean="0">
                <a:latin typeface="Times New Roman" panose="02020603050405020304" pitchFamily="18" charset="0"/>
                <a:cs typeface="Times New Roman" panose="02020603050405020304" pitchFamily="18" charset="0"/>
              </a:rPr>
              <a:t>：负责读出</a:t>
            </a:r>
            <a:r>
              <a:rPr lang="en-US" altLang="zh-CN" sz="2000" smtClean="0">
                <a:latin typeface="Times New Roman" panose="02020603050405020304" pitchFamily="18" charset="0"/>
                <a:cs typeface="Times New Roman" panose="02020603050405020304" pitchFamily="18" charset="0"/>
              </a:rPr>
              <a:t>/</a:t>
            </a:r>
            <a:r>
              <a:rPr lang="zh-CN" altLang="en-US" sz="2000" smtClean="0">
                <a:latin typeface="Times New Roman" panose="02020603050405020304" pitchFamily="18" charset="0"/>
                <a:cs typeface="Times New Roman" panose="02020603050405020304" pitchFamily="18" charset="0"/>
              </a:rPr>
              <a:t>处理缓冲区中的数据。（注意：计算进程不是处理数据的用户进程，因为用户进程不能访问内核缓冲区。）</a:t>
            </a:r>
            <a:endParaRPr lang="zh-CN"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Picture 2"/>
          <p:cNvPicPr>
            <a:picLocks noChangeAspect="1" noChangeArrowheads="1"/>
          </p:cNvPicPr>
          <p:nvPr/>
        </p:nvPicPr>
        <p:blipFill>
          <a:blip r:embed="rId1"/>
          <a:srcRect/>
          <a:stretch>
            <a:fillRect/>
          </a:stretch>
        </p:blipFill>
        <p:spPr bwMode="auto">
          <a:xfrm>
            <a:off x="107504" y="2060848"/>
            <a:ext cx="8408475" cy="4017627"/>
          </a:xfrm>
          <a:prstGeom prst="rect">
            <a:avLst/>
          </a:prstGeom>
          <a:noFill/>
          <a:ln w="9525">
            <a:noFill/>
            <a:miter lim="800000"/>
            <a:headEnd/>
            <a:tailEnd/>
          </a:ln>
        </p:spPr>
      </p:pic>
      <p:sp>
        <p:nvSpPr>
          <p:cNvPr id="7" name="右大括号 6"/>
          <p:cNvSpPr/>
          <p:nvPr/>
        </p:nvSpPr>
        <p:spPr>
          <a:xfrm>
            <a:off x="6516216" y="2708920"/>
            <a:ext cx="299464" cy="792088"/>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a:p>
        </p:txBody>
      </p:sp>
      <p:sp>
        <p:nvSpPr>
          <p:cNvPr id="8" name="文本框 7"/>
          <p:cNvSpPr txBox="1"/>
          <p:nvPr/>
        </p:nvSpPr>
        <p:spPr>
          <a:xfrm>
            <a:off x="6876256" y="2996952"/>
            <a:ext cx="2031325" cy="461665"/>
          </a:xfrm>
          <a:prstGeom prst="rect">
            <a:avLst/>
          </a:prstGeom>
          <a:noFill/>
        </p:spPr>
        <p:txBody>
          <a:bodyPr wrap="none" rtlCol="0">
            <a:spAutoFit/>
          </a:bodyPr>
          <a:lstStyle/>
          <a:p>
            <a:r>
              <a:rPr lang="zh-CN" altLang="en-US" sz="2400" b="1" smtClean="0">
                <a:solidFill>
                  <a:srgbClr val="FF0000"/>
                </a:solidFill>
              </a:rPr>
              <a:t>输入进程完成</a:t>
            </a:r>
            <a:endParaRPr lang="zh-CN" altLang="en-US" sz="2400" b="1">
              <a:solidFill>
                <a:srgbClr val="FF0000"/>
              </a:solidFill>
            </a:endParaRPr>
          </a:p>
        </p:txBody>
      </p:sp>
      <p:sp>
        <p:nvSpPr>
          <p:cNvPr id="9" name="右大括号 8"/>
          <p:cNvSpPr/>
          <p:nvPr/>
        </p:nvSpPr>
        <p:spPr>
          <a:xfrm>
            <a:off x="6516216" y="3590032"/>
            <a:ext cx="299464" cy="792088"/>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a:p>
        </p:txBody>
      </p:sp>
      <p:sp>
        <p:nvSpPr>
          <p:cNvPr id="10" name="文本框 9"/>
          <p:cNvSpPr txBox="1"/>
          <p:nvPr/>
        </p:nvSpPr>
        <p:spPr>
          <a:xfrm>
            <a:off x="6827432" y="3755243"/>
            <a:ext cx="2031325" cy="461665"/>
          </a:xfrm>
          <a:prstGeom prst="rect">
            <a:avLst/>
          </a:prstGeom>
          <a:noFill/>
        </p:spPr>
        <p:txBody>
          <a:bodyPr wrap="none" rtlCol="0">
            <a:spAutoFit/>
          </a:bodyPr>
          <a:lstStyle/>
          <a:p>
            <a:r>
              <a:rPr lang="zh-CN" altLang="en-US" sz="2400" b="1" smtClean="0">
                <a:solidFill>
                  <a:srgbClr val="FF0000"/>
                </a:solidFill>
              </a:rPr>
              <a:t>计算进程完成</a:t>
            </a:r>
            <a:endParaRPr lang="zh-CN" altLang="en-US" sz="2400" b="1">
              <a:solidFill>
                <a:srgbClr val="FF0000"/>
              </a:solidFill>
            </a:endParaRPr>
          </a:p>
        </p:txBody>
      </p:sp>
      <p:sp>
        <p:nvSpPr>
          <p:cNvPr id="11" name="右大括号 10"/>
          <p:cNvSpPr/>
          <p:nvPr/>
        </p:nvSpPr>
        <p:spPr>
          <a:xfrm>
            <a:off x="6516216" y="4563973"/>
            <a:ext cx="299464" cy="792088"/>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a:p>
        </p:txBody>
      </p:sp>
      <p:sp>
        <p:nvSpPr>
          <p:cNvPr id="12" name="文本框 11"/>
          <p:cNvSpPr txBox="1"/>
          <p:nvPr/>
        </p:nvSpPr>
        <p:spPr>
          <a:xfrm>
            <a:off x="6827432" y="4691347"/>
            <a:ext cx="2031325" cy="461665"/>
          </a:xfrm>
          <a:prstGeom prst="rect">
            <a:avLst/>
          </a:prstGeom>
          <a:noFill/>
        </p:spPr>
        <p:txBody>
          <a:bodyPr wrap="none" rtlCol="0">
            <a:spAutoFit/>
          </a:bodyPr>
          <a:lstStyle/>
          <a:p>
            <a:r>
              <a:rPr lang="zh-CN" altLang="en-US" sz="2400" b="1" smtClean="0">
                <a:solidFill>
                  <a:srgbClr val="FF0000"/>
                </a:solidFill>
              </a:rPr>
              <a:t>用户进程完成</a:t>
            </a:r>
            <a:endParaRPr lang="zh-CN" altLang="en-US" sz="2400" b="1">
              <a:solidFill>
                <a:srgbClr val="FF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Rectangle 2"/>
          <p:cNvSpPr>
            <a:spLocks noChangeArrowheads="1"/>
          </p:cNvSpPr>
          <p:nvPr/>
        </p:nvSpPr>
        <p:spPr bwMode="auto">
          <a:xfrm>
            <a:off x="1043608" y="1387624"/>
            <a:ext cx="878497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5" name="对象 4"/>
          <p:cNvGraphicFramePr>
            <a:graphicFrameLocks noChangeAspect="1"/>
          </p:cNvGraphicFramePr>
          <p:nvPr/>
        </p:nvGraphicFramePr>
        <p:xfrm>
          <a:off x="357331" y="1403892"/>
          <a:ext cx="8463141" cy="4329364"/>
        </p:xfrm>
        <a:graphic>
          <a:graphicData uri="http://schemas.openxmlformats.org/presentationml/2006/ole">
            <mc:AlternateContent xmlns:mc="http://schemas.openxmlformats.org/markup-compatibility/2006">
              <mc:Choice xmlns:v="urn:schemas-microsoft-com:vml" Requires="v">
                <p:oleObj spid="_x0000_s188454" name="" r:id="rId1" imgW="8420100" imgH="4572000" progId="Visio.Drawing.11">
                  <p:embed/>
                </p:oleObj>
              </mc:Choice>
              <mc:Fallback>
                <p:oleObj name="" r:id="rId1" imgW="8420100" imgH="457200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331" y="1403892"/>
                        <a:ext cx="8463141" cy="4329364"/>
                      </a:xfrm>
                      <a:prstGeom prst="rect">
                        <a:avLst/>
                      </a:prstGeom>
                      <a:noFill/>
                    </p:spPr>
                  </p:pic>
                </p:oleObj>
              </mc:Fallback>
            </mc:AlternateContent>
          </a:graphicData>
        </a:graphic>
      </p:graphicFrame>
      <p:sp>
        <p:nvSpPr>
          <p:cNvPr id="6" name="Rectangle 3"/>
          <p:cNvSpPr>
            <a:spLocks noChangeArrowheads="1"/>
          </p:cNvSpPr>
          <p:nvPr/>
        </p:nvSpPr>
        <p:spPr bwMode="auto">
          <a:xfrm>
            <a:off x="2699792" y="5716840"/>
            <a:ext cx="34208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Calibri" panose="020F0502020204030204" pitchFamily="34" charset="0"/>
              </a:rPr>
              <a:t>图</a:t>
            </a: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7-28 </a:t>
            </a:r>
            <a:r>
              <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Calibri" panose="020F0502020204030204" pitchFamily="34" charset="0"/>
              </a:rPr>
              <a:t>环形缓冲区</a:t>
            </a:r>
            <a:endParaRPr kumimoji="0" lang="zh-CN" altLang="en-US" sz="2400" b="0" i="0" u="none" strike="noStrike" cap="none" normalizeH="0" baseline="0" smtClean="0">
              <a:ln>
                <a:noFill/>
              </a:ln>
              <a:solidFill>
                <a:schemeClr val="tx1"/>
              </a:solidFill>
              <a:effectLst/>
              <a:latin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179512" y="1412776"/>
            <a:ext cx="8784976" cy="4713387"/>
          </a:xfrm>
        </p:spPr>
        <p:txBody>
          <a:bodyPr>
            <a:normAutofit fontScale="92500" lnSpcReduction="10000"/>
          </a:bodyPr>
          <a:lstStyle/>
          <a:p>
            <a:pPr marL="0" indent="0">
              <a:buNone/>
            </a:pPr>
            <a:r>
              <a:rPr lang="zh-CN" altLang="zh-CN" b="1"/>
              <a:t>环形缓冲区的使用</a:t>
            </a:r>
            <a:endParaRPr lang="zh-CN" altLang="zh-CN"/>
          </a:p>
          <a:p>
            <a:pPr marL="0" indent="0">
              <a:lnSpc>
                <a:spcPct val="150000"/>
              </a:lnSpc>
              <a:buNone/>
            </a:pPr>
            <a:r>
              <a:rPr lang="zh-CN" altLang="zh-CN" sz="2400"/>
              <a:t>计算进程和输入进程可利用下述两个过程来使用环形缓冲</a:t>
            </a:r>
            <a:r>
              <a:rPr lang="zh-CN" altLang="zh-CN" sz="2400"/>
              <a:t>区</a:t>
            </a:r>
            <a:r>
              <a:rPr lang="zh-CN" altLang="zh-CN" sz="2400" smtClean="0"/>
              <a:t>。</a:t>
            </a:r>
            <a:endParaRPr lang="en-US" altLang="zh-CN" sz="2400" smtClean="0"/>
          </a:p>
          <a:p>
            <a:pPr>
              <a:lnSpc>
                <a:spcPct val="150000"/>
              </a:lnSpc>
            </a:pPr>
            <a:r>
              <a:rPr lang="en-US" altLang="zh-CN">
                <a:latin typeface="Times New Roman" panose="02020603050405020304" pitchFamily="18" charset="0"/>
                <a:cs typeface="Times New Roman" panose="02020603050405020304" pitchFamily="18" charset="0"/>
              </a:rPr>
              <a:t>Getbuf</a:t>
            </a:r>
            <a:r>
              <a:rPr lang="zh-CN" altLang="zh-CN">
                <a:latin typeface="Times New Roman" panose="02020603050405020304" pitchFamily="18" charset="0"/>
                <a:cs typeface="Times New Roman" panose="02020603050405020304" pitchFamily="18" charset="0"/>
              </a:rPr>
              <a:t>过</a:t>
            </a:r>
            <a:r>
              <a:rPr lang="zh-CN" altLang="zh-CN" smtClean="0">
                <a:latin typeface="Times New Roman" panose="02020603050405020304" pitchFamily="18" charset="0"/>
                <a:cs typeface="Times New Roman" panose="02020603050405020304" pitchFamily="18" charset="0"/>
              </a:rPr>
              <a:t>程</a:t>
            </a:r>
            <a:r>
              <a:rPr lang="zh-CN" altLang="en-US" smtClean="0">
                <a:latin typeface="Times New Roman" panose="02020603050405020304" pitchFamily="18" charset="0"/>
                <a:cs typeface="Times New Roman" panose="02020603050405020304" pitchFamily="18" charset="0"/>
              </a:rPr>
              <a:t>：</a:t>
            </a:r>
            <a:endParaRPr lang="en-US" altLang="zh-CN" smtClean="0">
              <a:latin typeface="Times New Roman" panose="02020603050405020304" pitchFamily="18" charset="0"/>
              <a:cs typeface="Times New Roman" panose="02020603050405020304" pitchFamily="18" charset="0"/>
            </a:endParaRPr>
          </a:p>
          <a:p>
            <a:pPr lvl="1">
              <a:lnSpc>
                <a:spcPct val="150000"/>
              </a:lnSpc>
            </a:pPr>
            <a:r>
              <a:rPr lang="zh-CN" altLang="zh-CN" smtClean="0">
                <a:latin typeface="Times New Roman" panose="02020603050405020304" pitchFamily="18" charset="0"/>
                <a:cs typeface="Times New Roman" panose="02020603050405020304" pitchFamily="18" charset="0"/>
              </a:rPr>
              <a:t>当</a:t>
            </a:r>
            <a:r>
              <a:rPr lang="zh-CN" altLang="zh-CN">
                <a:latin typeface="Times New Roman" panose="02020603050405020304" pitchFamily="18" charset="0"/>
                <a:cs typeface="Times New Roman" panose="02020603050405020304" pitchFamily="18" charset="0"/>
              </a:rPr>
              <a:t>计算进程要使用缓冲区中的数据时，可调用</a:t>
            </a:r>
            <a:r>
              <a:rPr lang="en-US" altLang="zh-CN">
                <a:latin typeface="Times New Roman" panose="02020603050405020304" pitchFamily="18" charset="0"/>
                <a:cs typeface="Times New Roman" panose="02020603050405020304" pitchFamily="18" charset="0"/>
              </a:rPr>
              <a:t>Getbuf</a:t>
            </a:r>
            <a:r>
              <a:rPr lang="zh-CN" altLang="zh-CN">
                <a:latin typeface="Times New Roman" panose="02020603050405020304" pitchFamily="18" charset="0"/>
                <a:cs typeface="Times New Roman" panose="02020603050405020304" pitchFamily="18" charset="0"/>
              </a:rPr>
              <a:t>过</a:t>
            </a:r>
            <a:r>
              <a:rPr lang="zh-CN" altLang="zh-CN">
                <a:latin typeface="Times New Roman" panose="02020603050405020304" pitchFamily="18" charset="0"/>
                <a:cs typeface="Times New Roman" panose="02020603050405020304" pitchFamily="18" charset="0"/>
              </a:rPr>
              <a:t>程</a:t>
            </a:r>
            <a:r>
              <a:rPr lang="zh-CN" altLang="zh-CN" smtClean="0">
                <a:latin typeface="Times New Roman" panose="02020603050405020304" pitchFamily="18" charset="0"/>
                <a:cs typeface="Times New Roman" panose="02020603050405020304" pitchFamily="18" charset="0"/>
              </a:rPr>
              <a:t>。</a:t>
            </a:r>
            <a:endParaRPr lang="en-US" altLang="zh-CN" smtClean="0">
              <a:latin typeface="Times New Roman" panose="02020603050405020304" pitchFamily="18" charset="0"/>
              <a:cs typeface="Times New Roman" panose="02020603050405020304" pitchFamily="18" charset="0"/>
            </a:endParaRPr>
          </a:p>
          <a:p>
            <a:pPr marL="457200" lvl="1" indent="0">
              <a:lnSpc>
                <a:spcPct val="150000"/>
              </a:lnSpc>
              <a:buNone/>
            </a:pPr>
            <a:r>
              <a:rPr lang="en-US" altLang="zh-CN">
                <a:latin typeface="Times New Roman" panose="02020603050405020304" pitchFamily="18" charset="0"/>
                <a:cs typeface="Times New Roman" panose="02020603050405020304" pitchFamily="18" charset="0"/>
              </a:rPr>
              <a:t> </a:t>
            </a:r>
            <a:r>
              <a:rPr lang="en-US" altLang="zh-CN" smtClean="0">
                <a:latin typeface="Times New Roman" panose="02020603050405020304" pitchFamily="18" charset="0"/>
                <a:cs typeface="Times New Roman" panose="02020603050405020304" pitchFamily="18" charset="0"/>
              </a:rPr>
              <a:t>    Current:=Nextg;</a:t>
            </a:r>
            <a:endParaRPr lang="en-US" altLang="zh-CN" smtClean="0">
              <a:latin typeface="Times New Roman" panose="02020603050405020304" pitchFamily="18" charset="0"/>
              <a:cs typeface="Times New Roman" panose="02020603050405020304" pitchFamily="18" charset="0"/>
            </a:endParaRPr>
          </a:p>
          <a:p>
            <a:pPr marL="457200" lvl="1" indent="0">
              <a:lnSpc>
                <a:spcPct val="150000"/>
              </a:lnSpc>
              <a:buNone/>
            </a:pPr>
            <a:r>
              <a:rPr lang="en-US" altLang="zh-CN">
                <a:latin typeface="Times New Roman" panose="02020603050405020304" pitchFamily="18" charset="0"/>
                <a:cs typeface="Times New Roman" panose="02020603050405020304" pitchFamily="18" charset="0"/>
              </a:rPr>
              <a:t> </a:t>
            </a:r>
            <a:r>
              <a:rPr lang="en-US" altLang="zh-CN" smtClean="0">
                <a:latin typeface="Times New Roman" panose="02020603050405020304" pitchFamily="18" charset="0"/>
                <a:cs typeface="Times New Roman" panose="02020603050405020304" pitchFamily="18" charset="0"/>
              </a:rPr>
              <a:t>    Nextg:=Nextg+1 mod n;</a:t>
            </a:r>
            <a:endParaRPr lang="en-US" altLang="zh-CN" smtClean="0">
              <a:latin typeface="Times New Roman" panose="02020603050405020304" pitchFamily="18" charset="0"/>
              <a:cs typeface="Times New Roman" panose="02020603050405020304" pitchFamily="18" charset="0"/>
            </a:endParaRPr>
          </a:p>
          <a:p>
            <a:pPr lvl="1">
              <a:lnSpc>
                <a:spcPct val="150000"/>
              </a:lnSpc>
            </a:pPr>
            <a:r>
              <a:rPr lang="zh-CN" altLang="zh-CN" smtClean="0">
                <a:latin typeface="Times New Roman" panose="02020603050405020304" pitchFamily="18" charset="0"/>
                <a:cs typeface="Times New Roman" panose="02020603050405020304" pitchFamily="18" charset="0"/>
              </a:rPr>
              <a:t>当</a:t>
            </a:r>
            <a:r>
              <a:rPr lang="zh-CN" altLang="zh-CN">
                <a:latin typeface="Times New Roman" panose="02020603050405020304" pitchFamily="18" charset="0"/>
                <a:cs typeface="Times New Roman" panose="02020603050405020304" pitchFamily="18" charset="0"/>
              </a:rPr>
              <a:t>输入进程要使用空缓冲区装入数据时，也要调用</a:t>
            </a:r>
            <a:r>
              <a:rPr lang="en-US" altLang="zh-CN">
                <a:latin typeface="Times New Roman" panose="02020603050405020304" pitchFamily="18" charset="0"/>
                <a:cs typeface="Times New Roman" panose="02020603050405020304" pitchFamily="18" charset="0"/>
              </a:rPr>
              <a:t>Getbuf</a:t>
            </a:r>
            <a:r>
              <a:rPr lang="zh-CN" altLang="zh-CN">
                <a:latin typeface="Times New Roman" panose="02020603050405020304" pitchFamily="18" charset="0"/>
                <a:cs typeface="Times New Roman" panose="02020603050405020304" pitchFamily="18" charset="0"/>
              </a:rPr>
              <a:t>过</a:t>
            </a:r>
            <a:r>
              <a:rPr lang="zh-CN" altLang="zh-CN" smtClean="0">
                <a:latin typeface="Times New Roman" panose="02020603050405020304" pitchFamily="18" charset="0"/>
                <a:cs typeface="Times New Roman" panose="02020603050405020304" pitchFamily="18" charset="0"/>
              </a:rPr>
              <a:t>程</a:t>
            </a:r>
            <a:r>
              <a:rPr lang="zh-CN" altLang="en-US">
                <a:latin typeface="Times New Roman" panose="02020603050405020304" pitchFamily="18" charset="0"/>
                <a:cs typeface="Times New Roman" panose="02020603050405020304" pitchFamily="18" charset="0"/>
              </a:rPr>
              <a:t>。</a:t>
            </a:r>
            <a:r>
              <a:rPr lang="zh-CN" altLang="zh-CN" smtClean="0">
                <a:latin typeface="Times New Roman" panose="02020603050405020304" pitchFamily="18" charset="0"/>
                <a:cs typeface="Times New Roman" panose="02020603050405020304" pitchFamily="18" charset="0"/>
              </a:rPr>
              <a:t>由</a:t>
            </a:r>
            <a:r>
              <a:rPr lang="zh-CN" altLang="zh-CN">
                <a:latin typeface="Times New Roman" panose="02020603050405020304" pitchFamily="18" charset="0"/>
                <a:cs typeface="Times New Roman" panose="02020603050405020304" pitchFamily="18" charset="0"/>
              </a:rPr>
              <a:t>该过程将指针</a:t>
            </a:r>
            <a:r>
              <a:rPr lang="en-US" altLang="zh-CN">
                <a:latin typeface="Times New Roman" panose="02020603050405020304" pitchFamily="18" charset="0"/>
                <a:cs typeface="Times New Roman" panose="02020603050405020304" pitchFamily="18" charset="0"/>
              </a:rPr>
              <a:t>Nexti</a:t>
            </a:r>
            <a:r>
              <a:rPr lang="zh-CN" altLang="zh-CN">
                <a:latin typeface="Times New Roman" panose="02020603050405020304" pitchFamily="18" charset="0"/>
                <a:cs typeface="Times New Roman" panose="02020603050405020304" pitchFamily="18" charset="0"/>
              </a:rPr>
              <a:t>所指的缓冲区提供给输入进程使用，同时</a:t>
            </a:r>
            <a:r>
              <a:rPr lang="zh-CN" altLang="zh-CN">
                <a:latin typeface="Times New Roman" panose="02020603050405020304" pitchFamily="18" charset="0"/>
                <a:cs typeface="Times New Roman" panose="02020603050405020304" pitchFamily="18" charset="0"/>
              </a:rPr>
              <a:t>将</a:t>
            </a:r>
            <a:r>
              <a:rPr lang="en-US" altLang="zh-CN" smtClean="0">
                <a:latin typeface="Times New Roman" panose="02020603050405020304" pitchFamily="18" charset="0"/>
                <a:cs typeface="Times New Roman" panose="02020603050405020304" pitchFamily="18" charset="0"/>
              </a:rPr>
              <a:t>Nexti:=Nexti+1 mod n</a:t>
            </a:r>
            <a:r>
              <a:rPr lang="zh-CN" altLang="en-US" smtClean="0">
                <a:latin typeface="Times New Roman" panose="02020603050405020304" pitchFamily="18" charset="0"/>
                <a:cs typeface="Times New Roman" panose="02020603050405020304" pitchFamily="18" charset="0"/>
              </a:rPr>
              <a:t>，且新</a:t>
            </a:r>
            <a:r>
              <a:rPr lang="en-US" altLang="zh-CN" smtClean="0">
                <a:latin typeface="Times New Roman" panose="02020603050405020304" pitchFamily="18" charset="0"/>
                <a:cs typeface="Times New Roman" panose="02020603050405020304" pitchFamily="18" charset="0"/>
              </a:rPr>
              <a:t>Nexti</a:t>
            </a:r>
            <a:r>
              <a:rPr lang="zh-CN" altLang="en-US" smtClean="0">
                <a:latin typeface="Times New Roman" panose="02020603050405020304" pitchFamily="18" charset="0"/>
                <a:cs typeface="Times New Roman" panose="02020603050405020304" pitchFamily="18" charset="0"/>
              </a:rPr>
              <a:t>必须指向</a:t>
            </a:r>
            <a:r>
              <a:rPr lang="en-US" altLang="zh-CN" smtClean="0">
                <a:latin typeface="Times New Roman" panose="02020603050405020304" pitchFamily="18" charset="0"/>
                <a:cs typeface="Times New Roman" panose="02020603050405020304" pitchFamily="18" charset="0"/>
              </a:rPr>
              <a:t>R</a:t>
            </a:r>
            <a:r>
              <a:rPr lang="zh-CN" altLang="en-US" smtClean="0">
                <a:latin typeface="Times New Roman" panose="02020603050405020304" pitchFamily="18" charset="0"/>
                <a:cs typeface="Times New Roman" panose="02020603050405020304" pitchFamily="18" charset="0"/>
              </a:rPr>
              <a:t>缓冲区</a:t>
            </a:r>
            <a:r>
              <a:rPr lang="zh-CN" altLang="zh-CN" smtClean="0">
                <a:latin typeface="Times New Roman" panose="02020603050405020304" pitchFamily="18" charset="0"/>
                <a:cs typeface="Times New Roman" panose="02020603050405020304" pitchFamily="18" charset="0"/>
              </a:rPr>
              <a:t>。</a:t>
            </a:r>
            <a:endParaRPr lang="en-US" altLang="zh-CN" sz="2000" smtClean="0">
              <a:latin typeface="Times New Roman" panose="02020603050405020304" pitchFamily="18" charset="0"/>
              <a:cs typeface="Times New Roman" panose="02020603050405020304" pitchFamily="18" charset="0"/>
            </a:endParaRPr>
          </a:p>
          <a:p>
            <a:pPr marL="0" indent="0">
              <a:lnSpc>
                <a:spcPct val="150000"/>
              </a:lnSpc>
              <a:buNone/>
            </a:pPr>
            <a:endParaRPr lang="zh-CN" altLang="en-US" sz="24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179512" y="1484784"/>
            <a:ext cx="8784976" cy="5040560"/>
          </a:xfrm>
        </p:spPr>
        <p:txBody>
          <a:bodyPr>
            <a:normAutofit fontScale="92500" lnSpcReduction="20000"/>
          </a:bodyPr>
          <a:lstStyle/>
          <a:p>
            <a:pPr>
              <a:lnSpc>
                <a:spcPct val="150000"/>
              </a:lnSpc>
            </a:pPr>
            <a:r>
              <a:rPr lang="en-US" altLang="zh-CN" sz="2400" smtClean="0">
                <a:latin typeface="Times New Roman" panose="02020603050405020304" pitchFamily="18" charset="0"/>
                <a:cs typeface="Times New Roman" panose="02020603050405020304" pitchFamily="18" charset="0"/>
              </a:rPr>
              <a:t>Releasebuf </a:t>
            </a:r>
            <a:r>
              <a:rPr lang="zh-CN" altLang="zh-CN" sz="2400" smtClean="0">
                <a:latin typeface="Times New Roman" panose="02020603050405020304" pitchFamily="18" charset="0"/>
                <a:cs typeface="Times New Roman" panose="02020603050405020304" pitchFamily="18" charset="0"/>
              </a:rPr>
              <a:t>过</a:t>
            </a:r>
            <a:r>
              <a:rPr lang="zh-CN" altLang="zh-CN" sz="2400">
                <a:latin typeface="Times New Roman" panose="02020603050405020304" pitchFamily="18" charset="0"/>
                <a:cs typeface="Times New Roman" panose="02020603050405020304" pitchFamily="18" charset="0"/>
              </a:rPr>
              <a:t>程</a:t>
            </a:r>
            <a:r>
              <a:rPr lang="zh-CN" altLang="zh-CN" sz="2400" smtClean="0">
                <a:latin typeface="Times New Roman" panose="02020603050405020304" pitchFamily="18" charset="0"/>
                <a:cs typeface="Times New Roman" panose="02020603050405020304" pitchFamily="18" charset="0"/>
              </a:rPr>
              <a:t>。</a:t>
            </a:r>
            <a:endParaRPr lang="en-US" altLang="zh-CN" sz="2400" smtClean="0">
              <a:latin typeface="Times New Roman" panose="02020603050405020304" pitchFamily="18" charset="0"/>
              <a:cs typeface="Times New Roman" panose="02020603050405020304" pitchFamily="18" charset="0"/>
            </a:endParaRPr>
          </a:p>
          <a:p>
            <a:pPr lvl="1">
              <a:lnSpc>
                <a:spcPct val="150000"/>
              </a:lnSpc>
            </a:pPr>
            <a:r>
              <a:rPr lang="zh-CN" altLang="zh-CN" sz="2000" smtClean="0">
                <a:latin typeface="Times New Roman" panose="02020603050405020304" pitchFamily="18" charset="0"/>
                <a:cs typeface="Times New Roman" panose="02020603050405020304" pitchFamily="18" charset="0"/>
              </a:rPr>
              <a:t>当</a:t>
            </a:r>
            <a:r>
              <a:rPr lang="zh-CN" altLang="zh-CN" sz="2000">
                <a:latin typeface="Times New Roman" panose="02020603050405020304" pitchFamily="18" charset="0"/>
                <a:cs typeface="Times New Roman" panose="02020603050405020304" pitchFamily="18" charset="0"/>
              </a:rPr>
              <a:t>计算进程把</a:t>
            </a:r>
            <a:r>
              <a:rPr lang="en-US" altLang="zh-CN" sz="2000">
                <a:latin typeface="Times New Roman" panose="02020603050405020304" pitchFamily="18" charset="0"/>
                <a:cs typeface="Times New Roman" panose="02020603050405020304" pitchFamily="18" charset="0"/>
              </a:rPr>
              <a:t>C</a:t>
            </a:r>
            <a:r>
              <a:rPr lang="zh-CN" altLang="zh-CN" sz="2000">
                <a:latin typeface="Times New Roman" panose="02020603050405020304" pitchFamily="18" charset="0"/>
                <a:cs typeface="Times New Roman" panose="02020603050405020304" pitchFamily="18" charset="0"/>
              </a:rPr>
              <a:t>缓冲区中的数据提取完毕</a:t>
            </a:r>
            <a:r>
              <a:rPr lang="zh-CN" altLang="zh-CN" sz="2000">
                <a:latin typeface="Times New Roman" panose="02020603050405020304" pitchFamily="18" charset="0"/>
                <a:cs typeface="Times New Roman" panose="02020603050405020304" pitchFamily="18" charset="0"/>
              </a:rPr>
              <a:t>后</a:t>
            </a:r>
            <a:r>
              <a:rPr lang="zh-CN" altLang="zh-CN" sz="2000" smtClean="0">
                <a:latin typeface="Times New Roman" panose="02020603050405020304" pitchFamily="18" charset="0"/>
                <a:cs typeface="Times New Roman" panose="02020603050405020304" pitchFamily="18" charset="0"/>
              </a:rPr>
              <a:t>，调</a:t>
            </a:r>
            <a:r>
              <a:rPr lang="zh-CN" altLang="zh-CN" sz="2000">
                <a:latin typeface="Times New Roman" panose="02020603050405020304" pitchFamily="18" charset="0"/>
                <a:cs typeface="Times New Roman" panose="02020603050405020304" pitchFamily="18" charset="0"/>
              </a:rPr>
              <a:t>用</a:t>
            </a:r>
            <a:r>
              <a:rPr lang="en-US" altLang="zh-CN" sz="2000">
                <a:latin typeface="Times New Roman" panose="02020603050405020304" pitchFamily="18" charset="0"/>
                <a:cs typeface="Times New Roman" panose="02020603050405020304" pitchFamily="18" charset="0"/>
              </a:rPr>
              <a:t>Releasebuf</a:t>
            </a:r>
            <a:r>
              <a:rPr lang="zh-CN" altLang="zh-CN" sz="2000">
                <a:latin typeface="Times New Roman" panose="02020603050405020304" pitchFamily="18" charset="0"/>
                <a:cs typeface="Times New Roman" panose="02020603050405020304" pitchFamily="18" charset="0"/>
              </a:rPr>
              <a:t>过</a:t>
            </a:r>
            <a:r>
              <a:rPr lang="zh-CN" altLang="zh-CN" sz="2000" smtClean="0">
                <a:latin typeface="Times New Roman" panose="02020603050405020304" pitchFamily="18" charset="0"/>
                <a:cs typeface="Times New Roman" panose="02020603050405020304" pitchFamily="18" charset="0"/>
              </a:rPr>
              <a:t>程</a:t>
            </a:r>
            <a:r>
              <a:rPr lang="zh-CN" altLang="en-US" sz="2000" smtClean="0">
                <a:latin typeface="Times New Roman" panose="02020603050405020304" pitchFamily="18" charset="0"/>
                <a:cs typeface="Times New Roman" panose="02020603050405020304" pitchFamily="18" charset="0"/>
              </a:rPr>
              <a:t>：</a:t>
            </a:r>
            <a:endParaRPr lang="en-US" altLang="zh-CN" sz="2000" smtClean="0">
              <a:latin typeface="Times New Roman" panose="02020603050405020304" pitchFamily="18" charset="0"/>
              <a:cs typeface="Times New Roman" panose="02020603050405020304" pitchFamily="18" charset="0"/>
            </a:endParaRPr>
          </a:p>
          <a:p>
            <a:pPr marL="457200" lvl="1" indent="0">
              <a:lnSpc>
                <a:spcPct val="150000"/>
              </a:lnSpc>
              <a:buNone/>
            </a:pPr>
            <a:r>
              <a:rPr lang="en-US" altLang="zh-CN" sz="2000">
                <a:latin typeface="Times New Roman" panose="02020603050405020304" pitchFamily="18" charset="0"/>
                <a:cs typeface="Times New Roman" panose="02020603050405020304" pitchFamily="18" charset="0"/>
              </a:rPr>
              <a:t> </a:t>
            </a:r>
            <a:r>
              <a:rPr lang="en-US" altLang="zh-CN" sz="2000" smtClean="0">
                <a:latin typeface="Times New Roman" panose="02020603050405020304" pitchFamily="18" charset="0"/>
                <a:cs typeface="Times New Roman" panose="02020603050405020304" pitchFamily="18" charset="0"/>
              </a:rPr>
              <a:t>    Current</a:t>
            </a:r>
            <a:r>
              <a:rPr lang="zh-CN" altLang="en-US" sz="2000" smtClean="0">
                <a:latin typeface="Times New Roman" panose="02020603050405020304" pitchFamily="18" charset="0"/>
                <a:cs typeface="Times New Roman" panose="02020603050405020304" pitchFamily="18" charset="0"/>
              </a:rPr>
              <a:t>：</a:t>
            </a:r>
            <a:r>
              <a:rPr lang="en-US" altLang="zh-CN" sz="2000" smtClean="0">
                <a:latin typeface="Times New Roman" panose="02020603050405020304" pitchFamily="18" charset="0"/>
                <a:cs typeface="Times New Roman" panose="02020603050405020304" pitchFamily="18" charset="0"/>
              </a:rPr>
              <a:t>G-&gt;R</a:t>
            </a:r>
            <a:endParaRPr lang="en-US" altLang="zh-CN" sz="2000" smtClean="0">
              <a:latin typeface="Times New Roman" panose="02020603050405020304" pitchFamily="18" charset="0"/>
              <a:cs typeface="Times New Roman" panose="02020603050405020304" pitchFamily="18" charset="0"/>
            </a:endParaRPr>
          </a:p>
          <a:p>
            <a:pPr lvl="1">
              <a:lnSpc>
                <a:spcPct val="150000"/>
              </a:lnSpc>
            </a:pPr>
            <a:r>
              <a:rPr lang="zh-CN" altLang="zh-CN" sz="2000" smtClean="0">
                <a:latin typeface="Times New Roman" panose="02020603050405020304" pitchFamily="18" charset="0"/>
                <a:cs typeface="Times New Roman" panose="02020603050405020304" pitchFamily="18" charset="0"/>
              </a:rPr>
              <a:t>当</a:t>
            </a:r>
            <a:r>
              <a:rPr lang="zh-CN" altLang="zh-CN" sz="2000">
                <a:latin typeface="Times New Roman" panose="02020603050405020304" pitchFamily="18" charset="0"/>
                <a:cs typeface="Times New Roman" panose="02020603050405020304" pitchFamily="18" charset="0"/>
              </a:rPr>
              <a:t>输入进程把缓冲区装满时，也调用</a:t>
            </a:r>
            <a:r>
              <a:rPr lang="en-US" altLang="zh-CN" sz="2000">
                <a:latin typeface="Times New Roman" panose="02020603050405020304" pitchFamily="18" charset="0"/>
                <a:cs typeface="Times New Roman" panose="02020603050405020304" pitchFamily="18" charset="0"/>
              </a:rPr>
              <a:t>Releasebuf</a:t>
            </a:r>
            <a:r>
              <a:rPr lang="zh-CN" altLang="zh-CN" sz="2000">
                <a:latin typeface="Times New Roman" panose="02020603050405020304" pitchFamily="18" charset="0"/>
                <a:cs typeface="Times New Roman" panose="02020603050405020304" pitchFamily="18" charset="0"/>
              </a:rPr>
              <a:t>过</a:t>
            </a:r>
            <a:r>
              <a:rPr lang="zh-CN" altLang="zh-CN" sz="2000" smtClean="0">
                <a:latin typeface="Times New Roman" panose="02020603050405020304" pitchFamily="18" charset="0"/>
                <a:cs typeface="Times New Roman" panose="02020603050405020304" pitchFamily="18" charset="0"/>
              </a:rPr>
              <a:t>程</a:t>
            </a:r>
            <a:r>
              <a:rPr lang="en-US" altLang="zh-CN" sz="2000" smtClean="0">
                <a:latin typeface="Times New Roman" panose="02020603050405020304" pitchFamily="18" charset="0"/>
                <a:cs typeface="Times New Roman" panose="02020603050405020304" pitchFamily="18" charset="0"/>
              </a:rPr>
              <a:t>:</a:t>
            </a:r>
            <a:endParaRPr lang="en-US" altLang="zh-CN" sz="2000" smtClean="0">
              <a:latin typeface="Times New Roman" panose="02020603050405020304" pitchFamily="18" charset="0"/>
              <a:cs typeface="Times New Roman" panose="02020603050405020304" pitchFamily="18" charset="0"/>
            </a:endParaRPr>
          </a:p>
          <a:p>
            <a:pPr marL="457200" lvl="1" indent="0">
              <a:lnSpc>
                <a:spcPct val="150000"/>
              </a:lnSpc>
              <a:buNone/>
            </a:pPr>
            <a:r>
              <a:rPr lang="en-US" altLang="zh-CN" sz="2000">
                <a:latin typeface="Times New Roman" panose="02020603050405020304" pitchFamily="18" charset="0"/>
                <a:cs typeface="Times New Roman" panose="02020603050405020304" pitchFamily="18" charset="0"/>
              </a:rPr>
              <a:t> </a:t>
            </a:r>
            <a:r>
              <a:rPr lang="en-US" altLang="zh-CN" sz="2000" smtClean="0">
                <a:latin typeface="Times New Roman" panose="02020603050405020304" pitchFamily="18" charset="0"/>
                <a:cs typeface="Times New Roman" panose="02020603050405020304" pitchFamily="18" charset="0"/>
              </a:rPr>
              <a:t>    Nexti:      R-&gt;G</a:t>
            </a:r>
            <a:endParaRPr lang="en-US" altLang="zh-CN" sz="2000" smtClean="0">
              <a:latin typeface="Times New Roman" panose="02020603050405020304" pitchFamily="18" charset="0"/>
              <a:cs typeface="Times New Roman" panose="02020603050405020304" pitchFamily="18" charset="0"/>
            </a:endParaRPr>
          </a:p>
          <a:p>
            <a:pPr marL="400050">
              <a:lnSpc>
                <a:spcPct val="150000"/>
              </a:lnSpc>
            </a:pPr>
            <a:r>
              <a:rPr lang="zh-CN" altLang="en-US" sz="2400">
                <a:latin typeface="Times New Roman" panose="02020603050405020304" pitchFamily="18" charset="0"/>
                <a:cs typeface="Times New Roman" panose="02020603050405020304" pitchFamily="18" charset="0"/>
              </a:rPr>
              <a:t>对</a:t>
            </a:r>
            <a:r>
              <a:rPr lang="zh-CN" altLang="en-US" sz="2400" smtClean="0">
                <a:latin typeface="Times New Roman" panose="02020603050405020304" pitchFamily="18" charset="0"/>
                <a:cs typeface="Times New Roman" panose="02020603050405020304" pitchFamily="18" charset="0"/>
              </a:rPr>
              <a:t>于输入进程：</a:t>
            </a:r>
            <a:r>
              <a:rPr lang="en-US" altLang="zh-CN" sz="2400" smtClean="0">
                <a:latin typeface="Times New Roman" panose="02020603050405020304" pitchFamily="18" charset="0"/>
                <a:cs typeface="Times New Roman" panose="02020603050405020304" pitchFamily="18" charset="0"/>
              </a:rPr>
              <a:t>Getbuf; Releasebuf;Getbuf;Releasebuf;……</a:t>
            </a:r>
            <a:endParaRPr lang="en-US" altLang="zh-CN" sz="2400" smtClean="0">
              <a:latin typeface="Times New Roman" panose="02020603050405020304" pitchFamily="18" charset="0"/>
              <a:cs typeface="Times New Roman" panose="02020603050405020304" pitchFamily="18" charset="0"/>
            </a:endParaRPr>
          </a:p>
          <a:p>
            <a:pPr marL="400050">
              <a:lnSpc>
                <a:spcPct val="150000"/>
              </a:lnSpc>
            </a:pPr>
            <a:r>
              <a:rPr lang="zh-CN" altLang="en-US" sz="2400">
                <a:latin typeface="Times New Roman" panose="02020603050405020304" pitchFamily="18" charset="0"/>
                <a:cs typeface="Times New Roman" panose="02020603050405020304" pitchFamily="18" charset="0"/>
              </a:rPr>
              <a:t>对</a:t>
            </a:r>
            <a:r>
              <a:rPr lang="zh-CN" altLang="en-US" sz="2400" smtClean="0">
                <a:latin typeface="Times New Roman" panose="02020603050405020304" pitchFamily="18" charset="0"/>
                <a:cs typeface="Times New Roman" panose="02020603050405020304" pitchFamily="18" charset="0"/>
              </a:rPr>
              <a:t>于计算进程：</a:t>
            </a:r>
            <a:r>
              <a:rPr lang="en-US" altLang="zh-CN" sz="2400" smtClean="0">
                <a:latin typeface="Times New Roman" panose="02020603050405020304" pitchFamily="18" charset="0"/>
                <a:cs typeface="Times New Roman" panose="02020603050405020304" pitchFamily="18" charset="0"/>
              </a:rPr>
              <a:t>Getbuf;Releasebuf;</a:t>
            </a:r>
            <a:r>
              <a:rPr lang="en-US" altLang="zh-CN" sz="2400">
                <a:latin typeface="Times New Roman" panose="02020603050405020304" pitchFamily="18" charset="0"/>
                <a:cs typeface="Times New Roman" panose="02020603050405020304" pitchFamily="18" charset="0"/>
              </a:rPr>
              <a:t> </a:t>
            </a:r>
            <a:r>
              <a:rPr lang="en-US" altLang="zh-CN" sz="2400">
                <a:latin typeface="Times New Roman" panose="02020603050405020304" pitchFamily="18" charset="0"/>
                <a:cs typeface="Times New Roman" panose="02020603050405020304" pitchFamily="18" charset="0"/>
              </a:rPr>
              <a:t>Getbuf;Releasebuf</a:t>
            </a:r>
            <a:r>
              <a:rPr lang="en-US" altLang="zh-CN" sz="2400" smtClean="0">
                <a:latin typeface="Times New Roman" panose="02020603050405020304" pitchFamily="18" charset="0"/>
                <a:cs typeface="Times New Roman" panose="02020603050405020304" pitchFamily="18" charset="0"/>
              </a:rPr>
              <a:t>;……</a:t>
            </a:r>
            <a:endParaRPr lang="en-US" altLang="zh-CN" sz="2400" smtClean="0">
              <a:latin typeface="Times New Roman" panose="02020603050405020304" pitchFamily="18" charset="0"/>
              <a:cs typeface="Times New Roman" panose="02020603050405020304" pitchFamily="18" charset="0"/>
            </a:endParaRPr>
          </a:p>
          <a:p>
            <a:pPr marL="400050">
              <a:lnSpc>
                <a:spcPct val="150000"/>
              </a:lnSpc>
            </a:pPr>
            <a:r>
              <a:rPr lang="zh-CN" altLang="en-US" sz="2400">
                <a:latin typeface="Times New Roman" panose="02020603050405020304" pitchFamily="18" charset="0"/>
                <a:cs typeface="Times New Roman" panose="02020603050405020304" pitchFamily="18" charset="0"/>
              </a:rPr>
              <a:t>两</a:t>
            </a:r>
            <a:r>
              <a:rPr lang="zh-CN" altLang="en-US" sz="2400" smtClean="0">
                <a:latin typeface="Times New Roman" panose="02020603050405020304" pitchFamily="18" charset="0"/>
                <a:cs typeface="Times New Roman" panose="02020603050405020304" pitchFamily="18" charset="0"/>
              </a:rPr>
              <a:t>个进程对环形缓冲区进行并发操作：</a:t>
            </a:r>
            <a:r>
              <a:rPr lang="en-US" altLang="zh-CN" sz="2400" smtClean="0">
                <a:latin typeface="Times New Roman" panose="02020603050405020304" pitchFamily="18" charset="0"/>
                <a:cs typeface="Times New Roman" panose="02020603050405020304" pitchFamily="18" charset="0"/>
              </a:rPr>
              <a:t>——</a:t>
            </a:r>
            <a:r>
              <a:rPr lang="zh-CN" altLang="en-US" sz="2400" b="1" smtClean="0">
                <a:solidFill>
                  <a:srgbClr val="FF0000"/>
                </a:solidFill>
                <a:latin typeface="Times New Roman" panose="02020603050405020304" pitchFamily="18" charset="0"/>
                <a:cs typeface="Times New Roman" panose="02020603050405020304" pitchFamily="18" charset="0"/>
              </a:rPr>
              <a:t>回想一下</a:t>
            </a:r>
            <a:r>
              <a:rPr lang="en-US" altLang="zh-CN" sz="2400" b="1" smtClean="0">
                <a:solidFill>
                  <a:srgbClr val="FF0000"/>
                </a:solidFill>
                <a:latin typeface="Times New Roman" panose="02020603050405020304" pitchFamily="18" charset="0"/>
                <a:cs typeface="Times New Roman" panose="02020603050405020304" pitchFamily="18" charset="0"/>
              </a:rPr>
              <a:t>n-bit PC</a:t>
            </a:r>
            <a:r>
              <a:rPr lang="zh-CN" altLang="en-US" sz="2400" b="1" smtClean="0">
                <a:solidFill>
                  <a:srgbClr val="FF0000"/>
                </a:solidFill>
                <a:latin typeface="Times New Roman" panose="02020603050405020304" pitchFamily="18" charset="0"/>
                <a:cs typeface="Times New Roman" panose="02020603050405020304" pitchFamily="18" charset="0"/>
              </a:rPr>
              <a:t>问题</a:t>
            </a:r>
            <a:endParaRPr lang="en-US" altLang="zh-CN" sz="2400" b="1" smtClean="0">
              <a:solidFill>
                <a:srgbClr val="FF0000"/>
              </a:solidFill>
              <a:latin typeface="Times New Roman" panose="02020603050405020304" pitchFamily="18" charset="0"/>
              <a:cs typeface="Times New Roman" panose="02020603050405020304" pitchFamily="18" charset="0"/>
            </a:endParaRPr>
          </a:p>
          <a:p>
            <a:pPr marL="57150" indent="0">
              <a:lnSpc>
                <a:spcPct val="150000"/>
              </a:lnSpc>
              <a:buNone/>
            </a:pPr>
            <a:r>
              <a:rPr lang="en-US" altLang="zh-CN" sz="2400">
                <a:latin typeface="Times New Roman" panose="02020603050405020304" pitchFamily="18" charset="0"/>
                <a:cs typeface="Times New Roman" panose="02020603050405020304" pitchFamily="18" charset="0"/>
              </a:rPr>
              <a:t> </a:t>
            </a:r>
            <a:r>
              <a:rPr lang="en-US" altLang="zh-CN" sz="2400" smtClean="0">
                <a:latin typeface="Times New Roman" panose="02020603050405020304" pitchFamily="18" charset="0"/>
                <a:cs typeface="Times New Roman" panose="02020603050405020304" pitchFamily="18" charset="0"/>
              </a:rPr>
              <a:t>    </a:t>
            </a:r>
            <a:r>
              <a:rPr lang="zh-CN" altLang="en-US" sz="2400" smtClean="0">
                <a:latin typeface="Times New Roman" panose="02020603050405020304" pitchFamily="18" charset="0"/>
                <a:cs typeface="Times New Roman" panose="02020603050405020304" pitchFamily="18" charset="0"/>
              </a:rPr>
              <a:t>输入进程</a:t>
            </a:r>
            <a:r>
              <a:rPr lang="en-US" altLang="zh-CN" sz="2400" smtClean="0">
                <a:latin typeface="Times New Roman" panose="02020603050405020304" pitchFamily="18" charset="0"/>
                <a:cs typeface="Times New Roman" panose="02020603050405020304" pitchFamily="18" charset="0"/>
              </a:rPr>
              <a:t>--</a:t>
            </a:r>
            <a:r>
              <a:rPr lang="en-US" altLang="zh-CN" sz="2400" smtClean="0">
                <a:latin typeface="Times New Roman" panose="02020603050405020304" pitchFamily="18" charset="0"/>
                <a:cs typeface="Times New Roman" panose="02020603050405020304" pitchFamily="18" charset="0"/>
                <a:sym typeface="Wingdings" panose="05000000000000000000" pitchFamily="2" charset="2"/>
              </a:rPr>
              <a:t></a:t>
            </a:r>
            <a:r>
              <a:rPr lang="zh-CN" altLang="en-US" sz="2400" smtClean="0">
                <a:latin typeface="Times New Roman" panose="02020603050405020304" pitchFamily="18" charset="0"/>
                <a:cs typeface="Times New Roman" panose="02020603050405020304" pitchFamily="18" charset="0"/>
              </a:rPr>
              <a:t>“生产者”；</a:t>
            </a:r>
            <a:endParaRPr lang="en-US" altLang="zh-CN" sz="2400" smtClean="0">
              <a:latin typeface="Times New Roman" panose="02020603050405020304" pitchFamily="18" charset="0"/>
              <a:cs typeface="Times New Roman" panose="02020603050405020304" pitchFamily="18" charset="0"/>
            </a:endParaRPr>
          </a:p>
          <a:p>
            <a:pPr marL="57150" indent="0">
              <a:lnSpc>
                <a:spcPct val="150000"/>
              </a:lnSpc>
              <a:buNone/>
            </a:pPr>
            <a:r>
              <a:rPr lang="en-US" altLang="zh-CN" sz="2400">
                <a:latin typeface="Times New Roman" panose="02020603050405020304" pitchFamily="18" charset="0"/>
                <a:cs typeface="Times New Roman" panose="02020603050405020304" pitchFamily="18" charset="0"/>
              </a:rPr>
              <a:t> </a:t>
            </a:r>
            <a:r>
              <a:rPr lang="en-US" altLang="zh-CN" sz="2400" smtClean="0">
                <a:latin typeface="Times New Roman" panose="02020603050405020304" pitchFamily="18" charset="0"/>
                <a:cs typeface="Times New Roman" panose="02020603050405020304" pitchFamily="18" charset="0"/>
              </a:rPr>
              <a:t>    </a:t>
            </a:r>
            <a:r>
              <a:rPr lang="zh-CN" altLang="en-US" sz="2400" smtClean="0">
                <a:latin typeface="Times New Roman" panose="02020603050405020304" pitchFamily="18" charset="0"/>
                <a:cs typeface="Times New Roman" panose="02020603050405020304" pitchFamily="18" charset="0"/>
              </a:rPr>
              <a:t>计算进程</a:t>
            </a:r>
            <a:r>
              <a:rPr lang="en-US" altLang="zh-CN" sz="2400" smtClean="0">
                <a:latin typeface="Times New Roman" panose="02020603050405020304" pitchFamily="18" charset="0"/>
                <a:cs typeface="Times New Roman" panose="02020603050405020304" pitchFamily="18" charset="0"/>
              </a:rPr>
              <a:t>-</a:t>
            </a:r>
            <a:r>
              <a:rPr lang="en-US" altLang="zh-CN" sz="2400" smtClean="0">
                <a:latin typeface="Times New Roman" panose="02020603050405020304" pitchFamily="18" charset="0"/>
                <a:cs typeface="Times New Roman" panose="02020603050405020304" pitchFamily="18" charset="0"/>
                <a:sym typeface="Wingdings" panose="05000000000000000000" pitchFamily="2" charset="2"/>
              </a:rPr>
              <a:t></a:t>
            </a:r>
            <a:r>
              <a:rPr lang="zh-CN" altLang="en-US" sz="2400" smtClean="0">
                <a:latin typeface="Times New Roman" panose="02020603050405020304" pitchFamily="18" charset="0"/>
                <a:cs typeface="Times New Roman" panose="02020603050405020304" pitchFamily="18" charset="0"/>
              </a:rPr>
              <a:t>“消费者”。</a:t>
            </a:r>
            <a:endParaRPr lang="zh-CN"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35496" y="1484784"/>
            <a:ext cx="9001000" cy="4525963"/>
          </a:xfrm>
        </p:spPr>
        <p:txBody>
          <a:bodyPr>
            <a:normAutofit/>
          </a:bodyPr>
          <a:lstStyle/>
          <a:p>
            <a:r>
              <a:rPr lang="zh-CN" altLang="en-US" sz="2400" smtClean="0">
                <a:latin typeface="Times New Roman" panose="02020603050405020304" pitchFamily="18" charset="0"/>
                <a:cs typeface="Times New Roman" panose="02020603050405020304" pitchFamily="18" charset="0"/>
              </a:rPr>
              <a:t>输入</a:t>
            </a:r>
            <a:r>
              <a:rPr lang="zh-CN" altLang="zh-CN" sz="2400" smtClean="0">
                <a:latin typeface="Times New Roman" panose="02020603050405020304" pitchFamily="18" charset="0"/>
                <a:cs typeface="Times New Roman" panose="02020603050405020304" pitchFamily="18" charset="0"/>
              </a:rPr>
              <a:t>进程</a:t>
            </a:r>
            <a:r>
              <a:rPr lang="zh-CN" altLang="en-US" sz="2400" smtClean="0">
                <a:latin typeface="Times New Roman" panose="02020603050405020304" pitchFamily="18" charset="0"/>
                <a:cs typeface="Times New Roman" panose="02020603050405020304" pitchFamily="18" charset="0"/>
              </a:rPr>
              <a:t>和计算进程</a:t>
            </a:r>
            <a:r>
              <a:rPr lang="zh-CN" altLang="zh-CN" sz="2400" smtClean="0">
                <a:latin typeface="Times New Roman" panose="02020603050405020304" pitchFamily="18" charset="0"/>
                <a:cs typeface="Times New Roman" panose="02020603050405020304" pitchFamily="18" charset="0"/>
              </a:rPr>
              <a:t>之</a:t>
            </a:r>
            <a:r>
              <a:rPr lang="zh-CN" altLang="zh-CN" sz="2400">
                <a:latin typeface="Times New Roman" panose="02020603050405020304" pitchFamily="18" charset="0"/>
                <a:cs typeface="Times New Roman" panose="02020603050405020304" pitchFamily="18" charset="0"/>
              </a:rPr>
              <a:t>间的同步</a:t>
            </a:r>
            <a:r>
              <a:rPr lang="zh-CN" altLang="zh-CN" sz="2400">
                <a:latin typeface="Times New Roman" panose="02020603050405020304" pitchFamily="18" charset="0"/>
                <a:cs typeface="Times New Roman" panose="02020603050405020304" pitchFamily="18" charset="0"/>
              </a:rPr>
              <a:t>问</a:t>
            </a:r>
            <a:r>
              <a:rPr lang="zh-CN" altLang="zh-CN" sz="2400" smtClean="0">
                <a:latin typeface="Times New Roman" panose="02020603050405020304" pitchFamily="18" charset="0"/>
                <a:cs typeface="Times New Roman" panose="02020603050405020304" pitchFamily="18" charset="0"/>
              </a:rPr>
              <a:t>题</a:t>
            </a:r>
            <a:endParaRPr lang="en-US" altLang="zh-CN" sz="2400" smtClean="0">
              <a:latin typeface="Times New Roman" panose="02020603050405020304" pitchFamily="18" charset="0"/>
              <a:cs typeface="Times New Roman" panose="02020603050405020304" pitchFamily="18" charset="0"/>
            </a:endParaRPr>
          </a:p>
          <a:p>
            <a:pPr marL="0" indent="0">
              <a:lnSpc>
                <a:spcPct val="150000"/>
              </a:lnSpc>
              <a:buNone/>
            </a:pPr>
            <a:r>
              <a:rPr lang="zh-CN" altLang="en-US" sz="2400" smtClean="0">
                <a:latin typeface="Times New Roman" panose="02020603050405020304" pitchFamily="18" charset="0"/>
                <a:cs typeface="Times New Roman" panose="02020603050405020304" pitchFamily="18" charset="0"/>
              </a:rPr>
              <a:t>    把循环缓冲链看作</a:t>
            </a:r>
            <a:r>
              <a:rPr lang="en-US" altLang="zh-CN" sz="2400" smtClean="0">
                <a:latin typeface="Times New Roman" panose="02020603050405020304" pitchFamily="18" charset="0"/>
                <a:cs typeface="Times New Roman" panose="02020603050405020304" pitchFamily="18" charset="0"/>
              </a:rPr>
              <a:t>n-bit buffer</a:t>
            </a:r>
            <a:r>
              <a:rPr lang="zh-CN" altLang="en-US" sz="2400" smtClean="0">
                <a:latin typeface="Times New Roman" panose="02020603050405020304" pitchFamily="18" charset="0"/>
                <a:cs typeface="Times New Roman" panose="02020603050405020304" pitchFamily="18" charset="0"/>
              </a:rPr>
              <a:t>，两个进程对缓冲进行并发操作， </a:t>
            </a:r>
            <a:endParaRPr lang="en-US" altLang="zh-CN" sz="2400" smtClean="0">
              <a:latin typeface="Times New Roman" panose="02020603050405020304" pitchFamily="18" charset="0"/>
              <a:cs typeface="Times New Roman" panose="02020603050405020304" pitchFamily="18" charset="0"/>
            </a:endParaRPr>
          </a:p>
          <a:p>
            <a:pPr marL="0" indent="0">
              <a:lnSpc>
                <a:spcPct val="150000"/>
              </a:lnSpc>
              <a:buNone/>
            </a:pPr>
            <a:r>
              <a:rPr lang="en-US" altLang="zh-CN" sz="2400">
                <a:latin typeface="Times New Roman" panose="02020603050405020304" pitchFamily="18" charset="0"/>
                <a:cs typeface="Times New Roman" panose="02020603050405020304" pitchFamily="18" charset="0"/>
              </a:rPr>
              <a:t> </a:t>
            </a:r>
            <a:r>
              <a:rPr lang="en-US" altLang="zh-CN" sz="2400" smtClean="0">
                <a:latin typeface="Times New Roman" panose="02020603050405020304" pitchFamily="18" charset="0"/>
                <a:cs typeface="Times New Roman" panose="02020603050405020304" pitchFamily="18" charset="0"/>
              </a:rPr>
              <a:t>   </a:t>
            </a:r>
            <a:r>
              <a:rPr lang="zh-CN" altLang="en-US" sz="2400" smtClean="0">
                <a:latin typeface="Times New Roman" panose="02020603050405020304" pitchFamily="18" charset="0"/>
                <a:cs typeface="Times New Roman" panose="02020603050405020304" pitchFamily="18" charset="0"/>
              </a:rPr>
              <a:t>因此存在“互斥</a:t>
            </a:r>
            <a:r>
              <a:rPr lang="en-US" altLang="zh-CN" sz="2400" smtClean="0">
                <a:latin typeface="Times New Roman" panose="02020603050405020304" pitchFamily="18" charset="0"/>
                <a:cs typeface="Times New Roman" panose="02020603050405020304" pitchFamily="18" charset="0"/>
              </a:rPr>
              <a:t>+</a:t>
            </a:r>
            <a:r>
              <a:rPr lang="zh-CN" altLang="en-US" sz="2400" smtClean="0">
                <a:latin typeface="Times New Roman" panose="02020603050405020304" pitchFamily="18" charset="0"/>
                <a:cs typeface="Times New Roman" panose="02020603050405020304" pitchFamily="18" charset="0"/>
              </a:rPr>
              <a:t>同步”问题，由于只有一个“生产者”和一</a:t>
            </a:r>
            <a:endParaRPr lang="en-US" altLang="zh-CN" sz="2400" smtClean="0">
              <a:latin typeface="Times New Roman" panose="02020603050405020304" pitchFamily="18" charset="0"/>
              <a:cs typeface="Times New Roman" panose="02020603050405020304" pitchFamily="18" charset="0"/>
            </a:endParaRPr>
          </a:p>
          <a:p>
            <a:pPr marL="0" indent="0">
              <a:lnSpc>
                <a:spcPct val="150000"/>
              </a:lnSpc>
              <a:buNone/>
            </a:pPr>
            <a:r>
              <a:rPr lang="en-US" altLang="zh-CN" sz="2400">
                <a:latin typeface="Times New Roman" panose="02020603050405020304" pitchFamily="18" charset="0"/>
                <a:cs typeface="Times New Roman" panose="02020603050405020304" pitchFamily="18" charset="0"/>
              </a:rPr>
              <a:t> </a:t>
            </a:r>
            <a:r>
              <a:rPr lang="en-US" altLang="zh-CN" sz="2400" smtClean="0">
                <a:latin typeface="Times New Roman" panose="02020603050405020304" pitchFamily="18" charset="0"/>
                <a:cs typeface="Times New Roman" panose="02020603050405020304" pitchFamily="18" charset="0"/>
              </a:rPr>
              <a:t>   </a:t>
            </a:r>
            <a:r>
              <a:rPr lang="zh-CN" altLang="en-US" sz="2400" smtClean="0">
                <a:latin typeface="Times New Roman" panose="02020603050405020304" pitchFamily="18" charset="0"/>
                <a:cs typeface="Times New Roman" panose="02020603050405020304" pitchFamily="18" charset="0"/>
              </a:rPr>
              <a:t>个“消费者”，因此只存在同步问题，也就是：</a:t>
            </a:r>
            <a:endParaRPr lang="en-US" altLang="zh-CN" sz="2400" smtClean="0">
              <a:latin typeface="Times New Roman" panose="02020603050405020304" pitchFamily="18" charset="0"/>
              <a:cs typeface="Times New Roman" panose="02020603050405020304" pitchFamily="18" charset="0"/>
            </a:endParaRPr>
          </a:p>
          <a:p>
            <a:pPr lvl="1" indent="-342900">
              <a:lnSpc>
                <a:spcPct val="150000"/>
              </a:lnSpc>
            </a:pPr>
            <a:r>
              <a:rPr lang="zh-CN" altLang="en-US" sz="2000" smtClean="0">
                <a:latin typeface="Times New Roman" panose="02020603050405020304" pitchFamily="18" charset="0"/>
                <a:cs typeface="Times New Roman" panose="02020603050405020304" pitchFamily="18" charset="0"/>
              </a:rPr>
              <a:t>当计算进程较快，使得</a:t>
            </a:r>
            <a:r>
              <a:rPr lang="en-US" altLang="zh-CN" sz="2000" smtClean="0">
                <a:latin typeface="Times New Roman" panose="02020603050405020304" pitchFamily="18" charset="0"/>
                <a:cs typeface="Times New Roman" panose="02020603050405020304" pitchFamily="18" charset="0"/>
              </a:rPr>
              <a:t>Nextg</a:t>
            </a:r>
            <a:r>
              <a:rPr lang="zh-CN" altLang="en-US" sz="2000" smtClean="0">
                <a:latin typeface="Times New Roman" panose="02020603050405020304" pitchFamily="18" charset="0"/>
                <a:cs typeface="Times New Roman" panose="02020603050405020304" pitchFamily="18" charset="0"/>
              </a:rPr>
              <a:t>追赶上</a:t>
            </a:r>
            <a:r>
              <a:rPr lang="en-US" altLang="zh-CN" sz="2000" smtClean="0">
                <a:latin typeface="Times New Roman" panose="02020603050405020304" pitchFamily="18" charset="0"/>
                <a:cs typeface="Times New Roman" panose="02020603050405020304" pitchFamily="18" charset="0"/>
              </a:rPr>
              <a:t>Nexti</a:t>
            </a:r>
            <a:r>
              <a:rPr lang="zh-CN" altLang="en-US" sz="2000" smtClean="0">
                <a:latin typeface="Times New Roman" panose="02020603050405020304" pitchFamily="18" charset="0"/>
                <a:cs typeface="Times New Roman" panose="02020603050405020304" pitchFamily="18" charset="0"/>
              </a:rPr>
              <a:t>，这时缓冲区全部为</a:t>
            </a:r>
            <a:r>
              <a:rPr lang="en-US" altLang="zh-CN" sz="2000" smtClean="0">
                <a:latin typeface="Times New Roman" panose="02020603050405020304" pitchFamily="18" charset="0"/>
                <a:cs typeface="Times New Roman" panose="02020603050405020304" pitchFamily="18" charset="0"/>
              </a:rPr>
              <a:t>R</a:t>
            </a:r>
            <a:r>
              <a:rPr lang="zh-CN" altLang="en-US" sz="2000" smtClean="0">
                <a:latin typeface="Times New Roman" panose="02020603050405020304" pitchFamily="18" charset="0"/>
                <a:cs typeface="Times New Roman" panose="02020603050405020304" pitchFamily="18" charset="0"/>
              </a:rPr>
              <a:t>，那么计算进程必须阻塞，直到输入进程</a:t>
            </a:r>
            <a:r>
              <a:rPr lang="zh-CN" altLang="en-US" sz="2000">
                <a:latin typeface="Times New Roman" panose="02020603050405020304" pitchFamily="18" charset="0"/>
                <a:cs typeface="Times New Roman" panose="02020603050405020304" pitchFamily="18" charset="0"/>
              </a:rPr>
              <a:t>释</a:t>
            </a:r>
            <a:r>
              <a:rPr lang="zh-CN" altLang="en-US" sz="2000" smtClean="0">
                <a:latin typeface="Times New Roman" panose="02020603050405020304" pitchFamily="18" charset="0"/>
                <a:cs typeface="Times New Roman" panose="02020603050405020304" pitchFamily="18" charset="0"/>
              </a:rPr>
              <a:t>放一个缓冲区。</a:t>
            </a:r>
            <a:r>
              <a:rPr lang="en-US" altLang="zh-CN" sz="2000" smtClean="0">
                <a:latin typeface="Times New Roman" panose="02020603050405020304" pitchFamily="18" charset="0"/>
                <a:cs typeface="Times New Roman" panose="02020603050405020304" pitchFamily="18" charset="0"/>
                <a:sym typeface="Wingdings" panose="05000000000000000000" pitchFamily="2" charset="2"/>
              </a:rPr>
              <a:t></a:t>
            </a:r>
            <a:r>
              <a:rPr lang="zh-CN" altLang="en-US" sz="2000" b="1"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系统受</a:t>
            </a:r>
            <a:r>
              <a:rPr lang="en-US" altLang="zh-CN" sz="2000" b="1"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I/O</a:t>
            </a:r>
            <a:r>
              <a:rPr lang="zh-CN" altLang="en-US" sz="2000" b="1"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限制</a:t>
            </a:r>
            <a:endParaRPr lang="en-US" altLang="zh-CN" sz="2000" b="1"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endParaRPr>
          </a:p>
          <a:p>
            <a:pPr lvl="1" indent="-342900">
              <a:lnSpc>
                <a:spcPct val="150000"/>
              </a:lnSpc>
            </a:pPr>
            <a:r>
              <a:rPr lang="zh-CN" altLang="en-US" sz="2000" smtClean="0">
                <a:latin typeface="Times New Roman" panose="02020603050405020304" pitchFamily="18" charset="0"/>
                <a:cs typeface="Times New Roman" panose="02020603050405020304" pitchFamily="18" charset="0"/>
                <a:sym typeface="Wingdings" panose="05000000000000000000" pitchFamily="2" charset="2"/>
              </a:rPr>
              <a:t>当输入进程较快，使得</a:t>
            </a:r>
            <a:r>
              <a:rPr lang="en-US" altLang="zh-CN" sz="2000" smtClean="0">
                <a:latin typeface="Times New Roman" panose="02020603050405020304" pitchFamily="18" charset="0"/>
                <a:cs typeface="Times New Roman" panose="02020603050405020304" pitchFamily="18" charset="0"/>
                <a:sym typeface="Wingdings" panose="05000000000000000000" pitchFamily="2" charset="2"/>
              </a:rPr>
              <a:t>Nexti</a:t>
            </a:r>
            <a:r>
              <a:rPr lang="zh-CN" altLang="en-US" sz="2000" smtClean="0">
                <a:latin typeface="Times New Roman" panose="02020603050405020304" pitchFamily="18" charset="0"/>
                <a:cs typeface="Times New Roman" panose="02020603050405020304" pitchFamily="18" charset="0"/>
                <a:sym typeface="Wingdings" panose="05000000000000000000" pitchFamily="2" charset="2"/>
              </a:rPr>
              <a:t>追赶上</a:t>
            </a:r>
            <a:r>
              <a:rPr lang="en-US" altLang="zh-CN" sz="2000" smtClean="0">
                <a:latin typeface="Times New Roman" panose="02020603050405020304" pitchFamily="18" charset="0"/>
                <a:cs typeface="Times New Roman" panose="02020603050405020304" pitchFamily="18" charset="0"/>
                <a:sym typeface="Wingdings" panose="05000000000000000000" pitchFamily="2" charset="2"/>
              </a:rPr>
              <a:t>Nextg</a:t>
            </a:r>
            <a:r>
              <a:rPr lang="zh-CN" altLang="en-US" sz="2000" smtClean="0">
                <a:latin typeface="Times New Roman" panose="02020603050405020304" pitchFamily="18" charset="0"/>
                <a:cs typeface="Times New Roman" panose="02020603050405020304" pitchFamily="18" charset="0"/>
                <a:sym typeface="Wingdings" panose="05000000000000000000" pitchFamily="2" charset="2"/>
              </a:rPr>
              <a:t>，这时全部缓冲区为</a:t>
            </a:r>
            <a:r>
              <a:rPr lang="en-US" altLang="zh-CN" sz="2000" smtClean="0">
                <a:latin typeface="Times New Roman" panose="02020603050405020304" pitchFamily="18" charset="0"/>
                <a:cs typeface="Times New Roman" panose="02020603050405020304" pitchFamily="18" charset="0"/>
                <a:sym typeface="Wingdings" panose="05000000000000000000" pitchFamily="2" charset="2"/>
              </a:rPr>
              <a:t>G</a:t>
            </a:r>
            <a:r>
              <a:rPr lang="zh-CN" altLang="en-US" sz="2000" smtClean="0">
                <a:latin typeface="Times New Roman" panose="02020603050405020304" pitchFamily="18" charset="0"/>
                <a:cs typeface="Times New Roman" panose="02020603050405020304" pitchFamily="18" charset="0"/>
                <a:sym typeface="Wingdings" panose="05000000000000000000" pitchFamily="2" charset="2"/>
              </a:rPr>
              <a:t>，那么输入进程必须阻塞，直到计算进程释放一个</a:t>
            </a:r>
            <a:r>
              <a:rPr lang="en-US" altLang="zh-CN" sz="2000" smtClean="0">
                <a:latin typeface="Times New Roman" panose="02020603050405020304" pitchFamily="18" charset="0"/>
                <a:cs typeface="Times New Roman" panose="02020603050405020304" pitchFamily="18" charset="0"/>
                <a:sym typeface="Wingdings" panose="05000000000000000000" pitchFamily="2" charset="2"/>
              </a:rPr>
              <a:t>R</a:t>
            </a:r>
            <a:r>
              <a:rPr lang="zh-CN" altLang="en-US" sz="2000" smtClean="0">
                <a:latin typeface="Times New Roman" panose="02020603050405020304" pitchFamily="18" charset="0"/>
                <a:cs typeface="Times New Roman" panose="02020603050405020304" pitchFamily="18" charset="0"/>
                <a:sym typeface="Wingdings" panose="05000000000000000000" pitchFamily="2" charset="2"/>
              </a:rPr>
              <a:t>缓冲区。</a:t>
            </a:r>
            <a:r>
              <a:rPr lang="en-US" altLang="zh-CN" sz="2000">
                <a:latin typeface="Times New Roman" panose="02020603050405020304" pitchFamily="18" charset="0"/>
                <a:cs typeface="Times New Roman" panose="02020603050405020304" pitchFamily="18" charset="0"/>
                <a:sym typeface="Wingdings" panose="05000000000000000000" pitchFamily="2" charset="2"/>
              </a:rPr>
              <a:t> </a:t>
            </a:r>
            <a:r>
              <a:rPr lang="zh-CN" altLang="en-US" sz="2000" b="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系</a:t>
            </a:r>
            <a:r>
              <a:rPr lang="zh-CN" altLang="en-US" sz="2000" b="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统</a:t>
            </a:r>
            <a:r>
              <a:rPr lang="zh-CN" altLang="en-US" sz="2000" b="1"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受计算限</a:t>
            </a:r>
            <a:r>
              <a:rPr lang="zh-CN" altLang="en-US" sz="2000" b="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制</a:t>
            </a:r>
            <a:endParaRPr lang="zh-CN"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246506" y="1285860"/>
            <a:ext cx="1800493" cy="461665"/>
          </a:xfrm>
          <a:prstGeom prst="rect">
            <a:avLst/>
          </a:prstGeom>
        </p:spPr>
        <p:txBody>
          <a:bodyPr wrap="none">
            <a:spAutoFit/>
          </a:bodyPr>
          <a:lstStyle/>
          <a:p>
            <a:r>
              <a:rPr lang="en-US" sz="2400" dirty="0">
                <a:latin typeface="Times New Roman" panose="02020603050405020304" pitchFamily="18" charset="0"/>
                <a:ea typeface="华文中宋" panose="02010600040101010101" pitchFamily="2" charset="-122"/>
                <a:cs typeface="Times New Roman" panose="02020603050405020304" pitchFamily="18" charset="0"/>
              </a:rPr>
              <a:t>7.4.4 </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缓冲池</a:t>
            </a:r>
            <a:endParaRPr lang="zh-CN" altLang="en-US" sz="2400" dirty="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 name="矩形 4"/>
          <p:cNvSpPr/>
          <p:nvPr/>
        </p:nvSpPr>
        <p:spPr>
          <a:xfrm>
            <a:off x="292835" y="1916832"/>
            <a:ext cx="8501122" cy="417518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zh-CN" altLang="en-US" sz="1600" dirty="0">
                <a:latin typeface="华文中宋" panose="02010600040101010101" pitchFamily="2" charset="-122"/>
                <a:ea typeface="华文中宋" panose="02010600040101010101" pitchFamily="2" charset="-122"/>
              </a:rPr>
              <a:t>       </a:t>
            </a:r>
            <a:r>
              <a:rPr lang="zh-CN" altLang="en-US" sz="2000" dirty="0">
                <a:latin typeface="华文中宋" panose="02010600040101010101" pitchFamily="2" charset="-122"/>
                <a:ea typeface="华文中宋" panose="02010600040101010101" pitchFamily="2" charset="-122"/>
              </a:rPr>
              <a:t>为了提高缓冲区的利用率，目前广泛使用既可用于输入又可用于输出的公用</a:t>
            </a:r>
            <a:r>
              <a:rPr lang="zh-CN" altLang="en-US" sz="2000" dirty="0">
                <a:solidFill>
                  <a:srgbClr val="FF0000"/>
                </a:solidFill>
                <a:latin typeface="华文中宋" panose="02010600040101010101" pitchFamily="2" charset="-122"/>
                <a:ea typeface="华文中宋" panose="02010600040101010101" pitchFamily="2" charset="-122"/>
              </a:rPr>
              <a:t>缓冲池</a:t>
            </a:r>
            <a:r>
              <a:rPr lang="zh-CN" altLang="en-US" sz="2000" dirty="0">
                <a:latin typeface="华文中宋" panose="02010600040101010101" pitchFamily="2" charset="-122"/>
                <a:ea typeface="华文中宋" panose="02010600040101010101" pitchFamily="2" charset="-122"/>
              </a:rPr>
              <a:t>，在池中设置了多个可供若干个进程共享的缓冲区。缓冲池与缓冲区的区别在于：缓冲区仅仅是一组内存块组成的链表，而</a:t>
            </a:r>
            <a:r>
              <a:rPr lang="zh-CN" altLang="en-US" sz="2000" dirty="0">
                <a:solidFill>
                  <a:srgbClr val="FF0000"/>
                </a:solidFill>
                <a:latin typeface="华文中宋" panose="02010600040101010101" pitchFamily="2" charset="-122"/>
                <a:ea typeface="华文中宋" panose="02010600040101010101" pitchFamily="2" charset="-122"/>
              </a:rPr>
              <a:t>缓冲池是一个管理缓冲区的机构，其中不仅包括多个缓冲区队列，而且包括一组管理缓冲区的数据结构和对缓冲区进行管理的操作</a:t>
            </a:r>
            <a:r>
              <a:rPr lang="zh-CN" altLang="en-US" sz="2000" dirty="0">
                <a:latin typeface="华文中宋" panose="02010600040101010101" pitchFamily="2" charset="-122"/>
                <a:ea typeface="华文中宋" panose="02010600040101010101" pitchFamily="2" charset="-122"/>
              </a:rPr>
              <a:t>。</a:t>
            </a:r>
            <a:endParaRPr lang="en-US" altLang="zh-CN" sz="2000" dirty="0">
              <a:latin typeface="华文中宋" panose="02010600040101010101" pitchFamily="2" charset="-122"/>
              <a:ea typeface="华文中宋" panose="02010600040101010101" pitchFamily="2" charset="-122"/>
            </a:endParaRPr>
          </a:p>
          <a:p>
            <a:pPr>
              <a:lnSpc>
                <a:spcPct val="150000"/>
              </a:lnSpc>
            </a:pPr>
            <a:r>
              <a:rPr lang="zh-CN" altLang="en-US" sz="2000" dirty="0">
                <a:latin typeface="华文中宋" panose="02010600040101010101" pitchFamily="2" charset="-122"/>
                <a:ea typeface="华文中宋" panose="02010600040101010101" pitchFamily="2" charset="-122"/>
              </a:rPr>
              <a:t>      缓冲池包括三个缓冲区队列：</a:t>
            </a:r>
            <a:endParaRPr lang="zh-CN" altLang="en-US" sz="2000" dirty="0">
              <a:latin typeface="华文中宋" panose="02010600040101010101" pitchFamily="2" charset="-122"/>
              <a:ea typeface="华文中宋" panose="02010600040101010101" pitchFamily="2" charset="-122"/>
            </a:endParaRPr>
          </a:p>
          <a:p>
            <a:pPr lvl="0">
              <a:lnSpc>
                <a:spcPct val="150000"/>
              </a:lnSpc>
              <a:buFont typeface="Arial" panose="020B0604020202020204" pitchFamily="34" charset="0"/>
              <a:buChar char="•"/>
            </a:pPr>
            <a:r>
              <a:rPr lang="zh-CN" altLang="en-US" sz="2000" dirty="0">
                <a:latin typeface="华文中宋" panose="02010600040101010101" pitchFamily="2" charset="-122"/>
                <a:ea typeface="华文中宋" panose="02010600040101010101" pitchFamily="2" charset="-122"/>
              </a:rPr>
              <a:t> 空白缓冲区队列</a:t>
            </a:r>
            <a:r>
              <a:rPr lang="en-US" sz="2000" dirty="0" err="1">
                <a:latin typeface="华文中宋" panose="02010600040101010101" pitchFamily="2" charset="-122"/>
                <a:ea typeface="华文中宋" panose="02010600040101010101" pitchFamily="2" charset="-122"/>
              </a:rPr>
              <a:t>emq</a:t>
            </a:r>
            <a:r>
              <a:rPr lang="zh-CN" altLang="en-US" sz="2000" dirty="0">
                <a:latin typeface="华文中宋" panose="02010600040101010101" pitchFamily="2" charset="-122"/>
                <a:ea typeface="华文中宋" panose="02010600040101010101" pitchFamily="2" charset="-122"/>
              </a:rPr>
              <a:t>。由空缓冲区所链成的队列。</a:t>
            </a:r>
            <a:endParaRPr lang="zh-CN" altLang="en-US" sz="2000" dirty="0">
              <a:latin typeface="华文中宋" panose="02010600040101010101" pitchFamily="2" charset="-122"/>
              <a:ea typeface="华文中宋" panose="02010600040101010101" pitchFamily="2" charset="-122"/>
            </a:endParaRPr>
          </a:p>
          <a:p>
            <a:pPr lvl="0">
              <a:lnSpc>
                <a:spcPct val="150000"/>
              </a:lnSpc>
              <a:buFont typeface="Arial" panose="020B0604020202020204" pitchFamily="34" charset="0"/>
              <a:buChar char="•"/>
            </a:pPr>
            <a:r>
              <a:rPr lang="zh-CN" altLang="en-US" sz="2000" dirty="0">
                <a:latin typeface="华文中宋" panose="02010600040101010101" pitchFamily="2" charset="-122"/>
                <a:ea typeface="华文中宋" panose="02010600040101010101" pitchFamily="2" charset="-122"/>
              </a:rPr>
              <a:t> 输入缓冲区队列</a:t>
            </a:r>
            <a:r>
              <a:rPr lang="en-US" sz="2000" dirty="0" err="1">
                <a:latin typeface="华文中宋" panose="02010600040101010101" pitchFamily="2" charset="-122"/>
                <a:ea typeface="华文中宋" panose="02010600040101010101" pitchFamily="2" charset="-122"/>
              </a:rPr>
              <a:t>inq</a:t>
            </a:r>
            <a:r>
              <a:rPr lang="zh-CN" altLang="en-US" sz="2000" dirty="0">
                <a:latin typeface="华文中宋" panose="02010600040101010101" pitchFamily="2" charset="-122"/>
                <a:ea typeface="华文中宋" panose="02010600040101010101" pitchFamily="2" charset="-122"/>
              </a:rPr>
              <a:t>。由装满输入数据的缓冲区所链成的队列。</a:t>
            </a:r>
            <a:r>
              <a:rPr lang="en-US" altLang="zh-CN" sz="2000" dirty="0">
                <a:latin typeface="华文中宋" panose="02010600040101010101" pitchFamily="2" charset="-122"/>
                <a:ea typeface="华文中宋" panose="02010600040101010101" pitchFamily="2" charset="-122"/>
              </a:rPr>
              <a:t>	</a:t>
            </a:r>
            <a:endParaRPr lang="zh-CN" altLang="en-US" sz="2000"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zh-CN" altLang="en-US" sz="2000" dirty="0">
                <a:latin typeface="华文中宋" panose="02010600040101010101" pitchFamily="2" charset="-122"/>
                <a:ea typeface="华文中宋" panose="02010600040101010101" pitchFamily="2" charset="-122"/>
              </a:rPr>
              <a:t> 输出缓冲区队列</a:t>
            </a:r>
            <a:r>
              <a:rPr lang="en-US" sz="2000" dirty="0" err="1">
                <a:latin typeface="华文中宋" panose="02010600040101010101" pitchFamily="2" charset="-122"/>
                <a:ea typeface="华文中宋" panose="02010600040101010101" pitchFamily="2" charset="-122"/>
              </a:rPr>
              <a:t>outq</a:t>
            </a:r>
            <a:r>
              <a:rPr lang="zh-CN" altLang="en-US" sz="2000" dirty="0">
                <a:latin typeface="华文中宋" panose="02010600040101010101" pitchFamily="2" charset="-122"/>
                <a:ea typeface="华文中宋" panose="02010600040101010101" pitchFamily="2" charset="-122"/>
              </a:rPr>
              <a:t>。由装满输出数据的缓冲区所链成的队列。</a:t>
            </a:r>
            <a:endParaRPr lang="zh-CN" altLang="en-US" sz="2000" dirty="0">
              <a:latin typeface="华文中宋" panose="02010600040101010101" pitchFamily="2" charset="-122"/>
              <a:ea typeface="华文中宋" panose="02010600040101010101" pitchFamily="2" charset="-122"/>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50908" y="1268760"/>
            <a:ext cx="8093500" cy="2232248"/>
          </a:xfrm>
        </p:spPr>
        <p:txBody>
          <a:bodyPr>
            <a:normAutofit fontScale="77500" lnSpcReduction="20000"/>
          </a:bodyPr>
          <a:lstStyle/>
          <a:p>
            <a:pPr marL="0" indent="0">
              <a:lnSpc>
                <a:spcPct val="150000"/>
              </a:lnSpc>
              <a:buNone/>
            </a:pPr>
            <a:r>
              <a:rPr lang="zh-CN" altLang="zh-CN" sz="2400">
                <a:latin typeface="Times New Roman" panose="02020603050405020304" pitchFamily="18" charset="0"/>
                <a:cs typeface="Times New Roman" panose="02020603050405020304" pitchFamily="18" charset="0"/>
              </a:rPr>
              <a:t>除了上述三个队列外，还应具有四种工作缓冲</a:t>
            </a:r>
            <a:r>
              <a:rPr lang="zh-CN" altLang="zh-CN" sz="2400">
                <a:latin typeface="Times New Roman" panose="02020603050405020304" pitchFamily="18" charset="0"/>
                <a:cs typeface="Times New Roman" panose="02020603050405020304" pitchFamily="18" charset="0"/>
              </a:rPr>
              <a:t>区</a:t>
            </a:r>
            <a:r>
              <a:rPr lang="zh-CN" altLang="zh-CN" sz="2400" smtClean="0">
                <a:latin typeface="Times New Roman" panose="02020603050405020304" pitchFamily="18" charset="0"/>
                <a:cs typeface="Times New Roman" panose="02020603050405020304" pitchFamily="18" charset="0"/>
              </a:rPr>
              <a:t>：</a:t>
            </a:r>
            <a:endParaRPr lang="en-US" altLang="zh-CN" sz="2400" smtClean="0">
              <a:latin typeface="Times New Roman" panose="02020603050405020304" pitchFamily="18" charset="0"/>
              <a:cs typeface="Times New Roman" panose="02020603050405020304" pitchFamily="18" charset="0"/>
            </a:endParaRPr>
          </a:p>
          <a:p>
            <a:pPr>
              <a:lnSpc>
                <a:spcPct val="150000"/>
              </a:lnSpc>
            </a:pPr>
            <a:r>
              <a:rPr lang="zh-CN" altLang="zh-CN" sz="2400" smtClean="0">
                <a:latin typeface="Times New Roman" panose="02020603050405020304" pitchFamily="18" charset="0"/>
                <a:cs typeface="Times New Roman" panose="02020603050405020304" pitchFamily="18" charset="0"/>
              </a:rPr>
              <a:t>用</a:t>
            </a:r>
            <a:r>
              <a:rPr lang="zh-CN" altLang="zh-CN" sz="2400">
                <a:latin typeface="Times New Roman" panose="02020603050405020304" pitchFamily="18" charset="0"/>
                <a:cs typeface="Times New Roman" panose="02020603050405020304" pitchFamily="18" charset="0"/>
              </a:rPr>
              <a:t>于</a:t>
            </a:r>
            <a:r>
              <a:rPr lang="zh-CN" altLang="zh-CN" sz="2400" b="1">
                <a:solidFill>
                  <a:srgbClr val="FF0000"/>
                </a:solidFill>
                <a:latin typeface="Times New Roman" panose="02020603050405020304" pitchFamily="18" charset="0"/>
                <a:cs typeface="Times New Roman" panose="02020603050405020304" pitchFamily="18" charset="0"/>
              </a:rPr>
              <a:t>收容输入</a:t>
            </a:r>
            <a:r>
              <a:rPr lang="zh-CN" altLang="zh-CN" sz="2400">
                <a:latin typeface="Times New Roman" panose="02020603050405020304" pitchFamily="18" charset="0"/>
                <a:cs typeface="Times New Roman" panose="02020603050405020304" pitchFamily="18" charset="0"/>
              </a:rPr>
              <a:t>数据的工作缓</a:t>
            </a:r>
            <a:r>
              <a:rPr lang="zh-CN" altLang="zh-CN" sz="2400">
                <a:latin typeface="Times New Roman" panose="02020603050405020304" pitchFamily="18" charset="0"/>
                <a:cs typeface="Times New Roman" panose="02020603050405020304" pitchFamily="18" charset="0"/>
              </a:rPr>
              <a:t>冲</a:t>
            </a:r>
            <a:r>
              <a:rPr lang="zh-CN" altLang="zh-CN" sz="2400" smtClean="0">
                <a:latin typeface="Times New Roman" panose="02020603050405020304" pitchFamily="18" charset="0"/>
                <a:cs typeface="Times New Roman" panose="02020603050405020304" pitchFamily="18" charset="0"/>
              </a:rPr>
              <a:t>区</a:t>
            </a:r>
            <a:endParaRPr lang="en-US" altLang="zh-CN" sz="2400" smtClean="0">
              <a:latin typeface="Times New Roman" panose="02020603050405020304" pitchFamily="18" charset="0"/>
              <a:cs typeface="Times New Roman" panose="02020603050405020304" pitchFamily="18" charset="0"/>
            </a:endParaRPr>
          </a:p>
          <a:p>
            <a:pPr>
              <a:lnSpc>
                <a:spcPct val="150000"/>
              </a:lnSpc>
            </a:pPr>
            <a:r>
              <a:rPr lang="zh-CN" altLang="zh-CN" sz="2400" smtClean="0">
                <a:latin typeface="Times New Roman" panose="02020603050405020304" pitchFamily="18" charset="0"/>
                <a:cs typeface="Times New Roman" panose="02020603050405020304" pitchFamily="18" charset="0"/>
              </a:rPr>
              <a:t>用</a:t>
            </a:r>
            <a:r>
              <a:rPr lang="zh-CN" altLang="zh-CN" sz="2400">
                <a:latin typeface="Times New Roman" panose="02020603050405020304" pitchFamily="18" charset="0"/>
                <a:cs typeface="Times New Roman" panose="02020603050405020304" pitchFamily="18" charset="0"/>
              </a:rPr>
              <a:t>于</a:t>
            </a:r>
            <a:r>
              <a:rPr lang="zh-CN" altLang="zh-CN" sz="2400" b="1">
                <a:solidFill>
                  <a:srgbClr val="FF0000"/>
                </a:solidFill>
                <a:latin typeface="Times New Roman" panose="02020603050405020304" pitchFamily="18" charset="0"/>
                <a:cs typeface="Times New Roman" panose="02020603050405020304" pitchFamily="18" charset="0"/>
              </a:rPr>
              <a:t>提取输入</a:t>
            </a:r>
            <a:r>
              <a:rPr lang="zh-CN" altLang="zh-CN" sz="2400">
                <a:latin typeface="Times New Roman" panose="02020603050405020304" pitchFamily="18" charset="0"/>
                <a:cs typeface="Times New Roman" panose="02020603050405020304" pitchFamily="18" charset="0"/>
              </a:rPr>
              <a:t>数据的工作缓</a:t>
            </a:r>
            <a:r>
              <a:rPr lang="zh-CN" altLang="zh-CN" sz="2400">
                <a:latin typeface="Times New Roman" panose="02020603050405020304" pitchFamily="18" charset="0"/>
                <a:cs typeface="Times New Roman" panose="02020603050405020304" pitchFamily="18" charset="0"/>
              </a:rPr>
              <a:t>冲</a:t>
            </a:r>
            <a:r>
              <a:rPr lang="zh-CN" altLang="zh-CN" sz="2400" smtClean="0">
                <a:latin typeface="Times New Roman" panose="02020603050405020304" pitchFamily="18" charset="0"/>
                <a:cs typeface="Times New Roman" panose="02020603050405020304" pitchFamily="18" charset="0"/>
              </a:rPr>
              <a:t>区</a:t>
            </a:r>
            <a:endParaRPr lang="en-US" altLang="zh-CN" sz="2400" smtClean="0">
              <a:latin typeface="Times New Roman" panose="02020603050405020304" pitchFamily="18" charset="0"/>
              <a:cs typeface="Times New Roman" panose="02020603050405020304" pitchFamily="18" charset="0"/>
            </a:endParaRPr>
          </a:p>
          <a:p>
            <a:pPr>
              <a:lnSpc>
                <a:spcPct val="150000"/>
              </a:lnSpc>
            </a:pPr>
            <a:r>
              <a:rPr lang="zh-CN" altLang="zh-CN" sz="2400" smtClean="0">
                <a:latin typeface="Times New Roman" panose="02020603050405020304" pitchFamily="18" charset="0"/>
                <a:cs typeface="Times New Roman" panose="02020603050405020304" pitchFamily="18" charset="0"/>
              </a:rPr>
              <a:t>用</a:t>
            </a:r>
            <a:r>
              <a:rPr lang="zh-CN" altLang="zh-CN" sz="2400">
                <a:latin typeface="Times New Roman" panose="02020603050405020304" pitchFamily="18" charset="0"/>
                <a:cs typeface="Times New Roman" panose="02020603050405020304" pitchFamily="18" charset="0"/>
              </a:rPr>
              <a:t>于</a:t>
            </a:r>
            <a:r>
              <a:rPr lang="zh-CN" altLang="zh-CN" sz="2400" b="1">
                <a:solidFill>
                  <a:srgbClr val="FF0000"/>
                </a:solidFill>
                <a:latin typeface="Times New Roman" panose="02020603050405020304" pitchFamily="18" charset="0"/>
                <a:cs typeface="Times New Roman" panose="02020603050405020304" pitchFamily="18" charset="0"/>
              </a:rPr>
              <a:t>收容输出</a:t>
            </a:r>
            <a:r>
              <a:rPr lang="zh-CN" altLang="zh-CN" sz="2400">
                <a:latin typeface="Times New Roman" panose="02020603050405020304" pitchFamily="18" charset="0"/>
                <a:cs typeface="Times New Roman" panose="02020603050405020304" pitchFamily="18" charset="0"/>
              </a:rPr>
              <a:t>数据的工作缓</a:t>
            </a:r>
            <a:r>
              <a:rPr lang="zh-CN" altLang="zh-CN" sz="2400">
                <a:latin typeface="Times New Roman" panose="02020603050405020304" pitchFamily="18" charset="0"/>
                <a:cs typeface="Times New Roman" panose="02020603050405020304" pitchFamily="18" charset="0"/>
              </a:rPr>
              <a:t>冲</a:t>
            </a:r>
            <a:r>
              <a:rPr lang="zh-CN" altLang="zh-CN" sz="2400" smtClean="0">
                <a:latin typeface="Times New Roman" panose="02020603050405020304" pitchFamily="18" charset="0"/>
                <a:cs typeface="Times New Roman" panose="02020603050405020304" pitchFamily="18" charset="0"/>
              </a:rPr>
              <a:t>区</a:t>
            </a:r>
            <a:endParaRPr lang="en-US" altLang="zh-CN" sz="2400" smtClean="0">
              <a:latin typeface="Times New Roman" panose="02020603050405020304" pitchFamily="18" charset="0"/>
              <a:cs typeface="Times New Roman" panose="02020603050405020304" pitchFamily="18" charset="0"/>
            </a:endParaRPr>
          </a:p>
          <a:p>
            <a:pPr>
              <a:lnSpc>
                <a:spcPct val="150000"/>
              </a:lnSpc>
            </a:pPr>
            <a:r>
              <a:rPr lang="zh-CN" altLang="zh-CN" sz="2400" smtClean="0">
                <a:latin typeface="Times New Roman" panose="02020603050405020304" pitchFamily="18" charset="0"/>
                <a:cs typeface="Times New Roman" panose="02020603050405020304" pitchFamily="18" charset="0"/>
              </a:rPr>
              <a:t>用</a:t>
            </a:r>
            <a:r>
              <a:rPr lang="zh-CN" altLang="zh-CN" sz="2400">
                <a:latin typeface="Times New Roman" panose="02020603050405020304" pitchFamily="18" charset="0"/>
                <a:cs typeface="Times New Roman" panose="02020603050405020304" pitchFamily="18" charset="0"/>
              </a:rPr>
              <a:t>于</a:t>
            </a:r>
            <a:r>
              <a:rPr lang="zh-CN" altLang="zh-CN" sz="2400" b="1">
                <a:solidFill>
                  <a:srgbClr val="FF0000"/>
                </a:solidFill>
                <a:latin typeface="Times New Roman" panose="02020603050405020304" pitchFamily="18" charset="0"/>
                <a:cs typeface="Times New Roman" panose="02020603050405020304" pitchFamily="18" charset="0"/>
              </a:rPr>
              <a:t>提取输出</a:t>
            </a:r>
            <a:r>
              <a:rPr lang="zh-CN" altLang="zh-CN" sz="2400">
                <a:latin typeface="Times New Roman" panose="02020603050405020304" pitchFamily="18" charset="0"/>
                <a:cs typeface="Times New Roman" panose="02020603050405020304" pitchFamily="18" charset="0"/>
              </a:rPr>
              <a:t>数据的工作缓冲区。</a:t>
            </a:r>
            <a:endParaRPr lang="zh-CN" altLang="en-US" sz="2400">
              <a:latin typeface="Times New Roman" panose="02020603050405020304" pitchFamily="18" charset="0"/>
              <a:cs typeface="Times New Roman" panose="02020603050405020304" pitchFamily="18" charset="0"/>
            </a:endParaRPr>
          </a:p>
        </p:txBody>
      </p:sp>
      <p:graphicFrame>
        <p:nvGraphicFramePr>
          <p:cNvPr id="5" name="对象 4"/>
          <p:cNvGraphicFramePr>
            <a:graphicFrameLocks noChangeAspect="1"/>
          </p:cNvGraphicFramePr>
          <p:nvPr/>
        </p:nvGraphicFramePr>
        <p:xfrm>
          <a:off x="251520" y="4077072"/>
          <a:ext cx="6081619" cy="2088232"/>
        </p:xfrm>
        <a:graphic>
          <a:graphicData uri="http://schemas.openxmlformats.org/presentationml/2006/ole">
            <mc:AlternateContent xmlns:mc="http://schemas.openxmlformats.org/markup-compatibility/2006">
              <mc:Choice xmlns:v="urn:schemas-microsoft-com:vml" Requires="v">
                <p:oleObj spid="_x0000_s189455" name="" r:id="rId1" imgW="5803900" imgH="1841500" progId="Visio.Drawing.11">
                  <p:embed/>
                </p:oleObj>
              </mc:Choice>
              <mc:Fallback>
                <p:oleObj name="" r:id="rId1" imgW="5803900" imgH="184150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4077072"/>
                        <a:ext cx="6081619" cy="2088232"/>
                      </a:xfrm>
                      <a:prstGeom prst="rect">
                        <a:avLst/>
                      </a:prstGeom>
                      <a:noFill/>
                    </p:spPr>
                  </p:pic>
                </p:oleObj>
              </mc:Fallback>
            </mc:AlternateContent>
          </a:graphicData>
        </a:graphic>
      </p:graphicFrame>
      <p:sp>
        <p:nvSpPr>
          <p:cNvPr id="6" name="文本框 5"/>
          <p:cNvSpPr txBox="1"/>
          <p:nvPr/>
        </p:nvSpPr>
        <p:spPr>
          <a:xfrm>
            <a:off x="-1832" y="3524525"/>
            <a:ext cx="5143844" cy="369332"/>
          </a:xfrm>
          <a:prstGeom prst="rect">
            <a:avLst/>
          </a:prstGeom>
          <a:solidFill>
            <a:srgbClr val="FFFF00"/>
          </a:solidFill>
        </p:spPr>
        <p:txBody>
          <a:bodyPr wrap="none" rtlCol="0">
            <a:spAutoFit/>
          </a:bodyPr>
          <a:lstStyle/>
          <a:p>
            <a:r>
              <a:rPr lang="zh-CN" altLang="en-US"/>
              <a:t>输</a:t>
            </a:r>
            <a:r>
              <a:rPr lang="zh-CN" altLang="en-US" smtClean="0"/>
              <a:t>入进程</a:t>
            </a:r>
            <a:r>
              <a:rPr lang="en-US" altLang="zh-CN" smtClean="0"/>
              <a:t>1</a:t>
            </a:r>
            <a:r>
              <a:rPr lang="zh-CN" altLang="en-US" smtClean="0"/>
              <a:t>：</a:t>
            </a:r>
            <a:r>
              <a:rPr lang="en-US" altLang="zh-CN" smtClean="0"/>
              <a:t>Getbuf(emq);write(hin);Putbuf(inq,hin)</a:t>
            </a:r>
            <a:endParaRPr lang="zh-CN" altLang="en-US"/>
          </a:p>
        </p:txBody>
      </p:sp>
      <p:sp>
        <p:nvSpPr>
          <p:cNvPr id="7" name="文本框 6"/>
          <p:cNvSpPr txBox="1"/>
          <p:nvPr/>
        </p:nvSpPr>
        <p:spPr>
          <a:xfrm>
            <a:off x="4211960" y="3910126"/>
            <a:ext cx="5060553" cy="369332"/>
          </a:xfrm>
          <a:prstGeom prst="rect">
            <a:avLst/>
          </a:prstGeom>
          <a:solidFill>
            <a:srgbClr val="FFFF00"/>
          </a:solidFill>
        </p:spPr>
        <p:txBody>
          <a:bodyPr wrap="none" rtlCol="0">
            <a:spAutoFit/>
          </a:bodyPr>
          <a:lstStyle/>
          <a:p>
            <a:r>
              <a:rPr lang="zh-CN" altLang="en-US" smtClean="0"/>
              <a:t>计算进程</a:t>
            </a:r>
            <a:r>
              <a:rPr lang="en-US" altLang="zh-CN" smtClean="0"/>
              <a:t>1</a:t>
            </a:r>
            <a:r>
              <a:rPr lang="zh-CN" altLang="en-US" smtClean="0"/>
              <a:t>：</a:t>
            </a:r>
            <a:r>
              <a:rPr lang="en-US" altLang="zh-CN" smtClean="0"/>
              <a:t>Getbuf(inq);Read(sin);Putbuf(emq,sin)</a:t>
            </a:r>
            <a:endParaRPr lang="zh-CN" altLang="en-US"/>
          </a:p>
        </p:txBody>
      </p:sp>
      <p:sp>
        <p:nvSpPr>
          <p:cNvPr id="8" name="文本框 7"/>
          <p:cNvSpPr txBox="1"/>
          <p:nvPr/>
        </p:nvSpPr>
        <p:spPr>
          <a:xfrm>
            <a:off x="3682120" y="6488668"/>
            <a:ext cx="5578900" cy="369332"/>
          </a:xfrm>
          <a:prstGeom prst="rect">
            <a:avLst/>
          </a:prstGeom>
          <a:solidFill>
            <a:srgbClr val="FFFF00"/>
          </a:solidFill>
        </p:spPr>
        <p:txBody>
          <a:bodyPr wrap="none" rtlCol="0">
            <a:spAutoFit/>
          </a:bodyPr>
          <a:lstStyle/>
          <a:p>
            <a:r>
              <a:rPr lang="zh-CN" altLang="en-US" smtClean="0"/>
              <a:t>计算进程</a:t>
            </a:r>
            <a:r>
              <a:rPr lang="en-US" altLang="zh-CN" smtClean="0"/>
              <a:t>2</a:t>
            </a:r>
            <a:r>
              <a:rPr lang="zh-CN" altLang="en-US" smtClean="0"/>
              <a:t>：</a:t>
            </a:r>
            <a:r>
              <a:rPr lang="en-US" altLang="zh-CN" smtClean="0"/>
              <a:t>Getbuf(emq);write(hout);Putbuf(outq,hout)</a:t>
            </a:r>
            <a:endParaRPr lang="zh-CN" altLang="en-US"/>
          </a:p>
        </p:txBody>
      </p:sp>
      <p:sp>
        <p:nvSpPr>
          <p:cNvPr id="9" name="文本框 8"/>
          <p:cNvSpPr txBox="1"/>
          <p:nvPr/>
        </p:nvSpPr>
        <p:spPr>
          <a:xfrm>
            <a:off x="-1832" y="6093296"/>
            <a:ext cx="5495607" cy="369332"/>
          </a:xfrm>
          <a:prstGeom prst="rect">
            <a:avLst/>
          </a:prstGeom>
          <a:solidFill>
            <a:srgbClr val="FFFF00"/>
          </a:solidFill>
        </p:spPr>
        <p:txBody>
          <a:bodyPr wrap="none" rtlCol="0">
            <a:spAutoFit/>
          </a:bodyPr>
          <a:lstStyle/>
          <a:p>
            <a:r>
              <a:rPr lang="zh-CN" altLang="en-US" smtClean="0"/>
              <a:t>输出进程</a:t>
            </a:r>
            <a:r>
              <a:rPr lang="en-US" altLang="zh-CN" smtClean="0"/>
              <a:t>2</a:t>
            </a:r>
            <a:r>
              <a:rPr lang="zh-CN" altLang="en-US" smtClean="0"/>
              <a:t>：</a:t>
            </a:r>
            <a:r>
              <a:rPr lang="en-US" altLang="zh-CN" smtClean="0"/>
              <a:t>Getbuf(outq);Read(sout);Putbuf(emq,sout)</a:t>
            </a:r>
            <a:endParaRPr lang="zh-CN" altLang="en-US"/>
          </a:p>
        </p:txBody>
      </p:sp>
      <p:sp>
        <p:nvSpPr>
          <p:cNvPr id="10" name="TextBox 9"/>
          <p:cNvSpPr txBox="1"/>
          <p:nvPr/>
        </p:nvSpPr>
        <p:spPr>
          <a:xfrm>
            <a:off x="5004048" y="1862197"/>
            <a:ext cx="3849371" cy="1200329"/>
          </a:xfrm>
          <a:prstGeom prst="rect">
            <a:avLst/>
          </a:prstGeom>
          <a:solidFill>
            <a:schemeClr val="bg1"/>
          </a:solidFill>
        </p:spPr>
        <p:txBody>
          <a:bodyPr wrap="square" rtlCol="0">
            <a:spAutoFit/>
          </a:bodyPr>
          <a:lstStyle/>
          <a:p>
            <a:r>
              <a:rPr lang="zh-CN" altLang="en-US" sz="2400" b="1" dirty="0">
                <a:solidFill>
                  <a:srgbClr val="FF0000"/>
                </a:solidFill>
                <a:latin typeface="华文中宋" panose="02010600040101010101" pitchFamily="2" charset="-122"/>
                <a:ea typeface="华文中宋" panose="02010600040101010101" pitchFamily="2" charset="-122"/>
              </a:rPr>
              <a:t>由于</a:t>
            </a:r>
            <a:r>
              <a:rPr lang="en-US" altLang="zh-CN" sz="2400" b="1" dirty="0" err="1">
                <a:solidFill>
                  <a:srgbClr val="FF0000"/>
                </a:solidFill>
                <a:latin typeface="华文中宋" panose="02010600040101010101" pitchFamily="2" charset="-122"/>
                <a:ea typeface="华文中宋" panose="02010600040101010101" pitchFamily="2" charset="-122"/>
              </a:rPr>
              <a:t>Getbuf</a:t>
            </a:r>
            <a:r>
              <a:rPr lang="zh-CN" altLang="en-US" sz="2400" b="1" dirty="0">
                <a:solidFill>
                  <a:srgbClr val="FF0000"/>
                </a:solidFill>
                <a:latin typeface="华文中宋" panose="02010600040101010101" pitchFamily="2" charset="-122"/>
                <a:ea typeface="华文中宋" panose="02010600040101010101" pitchFamily="2" charset="-122"/>
              </a:rPr>
              <a:t>和</a:t>
            </a:r>
            <a:r>
              <a:rPr lang="en-US" altLang="zh-CN" sz="2400" b="1" dirty="0" err="1">
                <a:solidFill>
                  <a:srgbClr val="FF0000"/>
                </a:solidFill>
                <a:latin typeface="华文中宋" panose="02010600040101010101" pitchFamily="2" charset="-122"/>
                <a:ea typeface="华文中宋" panose="02010600040101010101" pitchFamily="2" charset="-122"/>
              </a:rPr>
              <a:t>Putbuf</a:t>
            </a:r>
            <a:r>
              <a:rPr lang="zh-CN" altLang="en-US" sz="2400" b="1" dirty="0">
                <a:solidFill>
                  <a:srgbClr val="FF0000"/>
                </a:solidFill>
                <a:latin typeface="华文中宋" panose="02010600040101010101" pitchFamily="2" charset="-122"/>
                <a:ea typeface="华文中宋" panose="02010600040101010101" pitchFamily="2" charset="-122"/>
              </a:rPr>
              <a:t>有可能对同一队列操作，因此要注意并发问题</a:t>
            </a:r>
            <a:r>
              <a:rPr lang="zh-CN" altLang="en-US" dirty="0">
                <a:solidFill>
                  <a:srgbClr val="FF0000"/>
                </a:solidFill>
                <a:latin typeface="华文中宋" panose="02010600040101010101" pitchFamily="2" charset="-122"/>
                <a:ea typeface="华文中宋" panose="02010600040101010101" pitchFamily="2" charset="-122"/>
              </a:rPr>
              <a:t>。</a:t>
            </a:r>
            <a:endParaRPr lang="zh-CN" altLang="en-US" dirty="0">
              <a:solidFill>
                <a:srgbClr val="FF0000"/>
              </a:solidFill>
              <a:latin typeface="华文中宋" panose="02010600040101010101" pitchFamily="2" charset="-122"/>
              <a:ea typeface="华文中宋" panose="0201060004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4" name="表格 3"/>
          <p:cNvGraphicFramePr>
            <a:graphicFrameLocks noGrp="1"/>
          </p:cNvGraphicFramePr>
          <p:nvPr/>
        </p:nvGraphicFramePr>
        <p:xfrm>
          <a:off x="0" y="0"/>
          <a:ext cx="6408712" cy="5896356"/>
        </p:xfrm>
        <a:graphic>
          <a:graphicData uri="http://schemas.openxmlformats.org/drawingml/2006/table">
            <a:tbl>
              <a:tblPr firstRow="1" firstCol="1" bandRow="1">
                <a:tableStyleId>{5C22544A-7EE6-4342-B048-85BDC9FD1C3A}</a:tableStyleId>
              </a:tblPr>
              <a:tblGrid>
                <a:gridCol w="6408712"/>
              </a:tblGrid>
              <a:tr h="5445224">
                <a:tc>
                  <a:txBody>
                    <a:bodyPr/>
                    <a:lstStyle/>
                    <a:p>
                      <a:pPr marL="629285" algn="just">
                        <a:lnSpc>
                          <a:spcPct val="150000"/>
                        </a:lnSpc>
                        <a:spcAft>
                          <a:spcPts val="0"/>
                        </a:spcAft>
                      </a:pPr>
                      <a:r>
                        <a:rPr lang="en-US" sz="2000" kern="100">
                          <a:solidFill>
                            <a:schemeClr val="tx1"/>
                          </a:solidFill>
                          <a:effectLst/>
                        </a:rPr>
                        <a:t>Void Getbuf(unsigned </a:t>
                      </a:r>
                      <a:r>
                        <a:rPr lang="en-US" sz="2000" kern="100">
                          <a:solidFill>
                            <a:schemeClr val="tx1"/>
                          </a:solidFill>
                          <a:effectLst/>
                        </a:rPr>
                        <a:t>type</a:t>
                      </a:r>
                      <a:r>
                        <a:rPr lang="en-US" sz="2000" kern="100" smtClean="0">
                          <a:solidFill>
                            <a:schemeClr val="tx1"/>
                          </a:solidFill>
                          <a:effectLst/>
                        </a:rPr>
                        <a:t>){ </a:t>
                      </a:r>
                      <a:endParaRPr lang="zh-CN" sz="2000" kern="100">
                        <a:solidFill>
                          <a:schemeClr val="tx1"/>
                        </a:solidFill>
                        <a:effectLst/>
                      </a:endParaRPr>
                    </a:p>
                    <a:p>
                      <a:pPr marL="629285" indent="257175" algn="just">
                        <a:lnSpc>
                          <a:spcPct val="150000"/>
                        </a:lnSpc>
                        <a:spcAft>
                          <a:spcPts val="0"/>
                        </a:spcAft>
                      </a:pPr>
                      <a:r>
                        <a:rPr lang="en-US" sz="2000" kern="100">
                          <a:solidFill>
                            <a:schemeClr val="tx1"/>
                          </a:solidFill>
                          <a:effectLst/>
                        </a:rPr>
                        <a:t>  P(RS(type));</a:t>
                      </a:r>
                      <a:endParaRPr lang="zh-CN" sz="2000" kern="100">
                        <a:solidFill>
                          <a:schemeClr val="tx1"/>
                        </a:solidFill>
                        <a:effectLst/>
                      </a:endParaRPr>
                    </a:p>
                    <a:p>
                      <a:pPr marL="629285" indent="257175" algn="just">
                        <a:lnSpc>
                          <a:spcPct val="150000"/>
                        </a:lnSpc>
                        <a:spcAft>
                          <a:spcPts val="0"/>
                        </a:spcAft>
                      </a:pPr>
                      <a:r>
                        <a:rPr lang="en-US" sz="2000" kern="100">
                          <a:solidFill>
                            <a:schemeClr val="tx1"/>
                          </a:solidFill>
                          <a:effectLst/>
                        </a:rPr>
                        <a:t>  P(MS(type));</a:t>
                      </a:r>
                      <a:endParaRPr lang="zh-CN" sz="2000" kern="100">
                        <a:solidFill>
                          <a:schemeClr val="tx1"/>
                        </a:solidFill>
                        <a:effectLst/>
                      </a:endParaRPr>
                    </a:p>
                    <a:p>
                      <a:pPr marL="629285" indent="257175" algn="just">
                        <a:lnSpc>
                          <a:spcPct val="150000"/>
                        </a:lnSpc>
                        <a:spcAft>
                          <a:spcPts val="0"/>
                        </a:spcAft>
                      </a:pPr>
                      <a:r>
                        <a:rPr lang="en-US" sz="2000" kern="100">
                          <a:solidFill>
                            <a:schemeClr val="tx1"/>
                          </a:solidFill>
                          <a:effectLst/>
                        </a:rPr>
                        <a:t>  B(number)=Takebuf(type);  </a:t>
                      </a:r>
                      <a:endParaRPr lang="zh-CN" sz="2000" kern="100">
                        <a:solidFill>
                          <a:schemeClr val="tx1"/>
                        </a:solidFill>
                        <a:effectLst/>
                      </a:endParaRPr>
                    </a:p>
                    <a:p>
                      <a:pPr marL="629285" indent="257175" algn="just">
                        <a:lnSpc>
                          <a:spcPct val="150000"/>
                        </a:lnSpc>
                        <a:spcAft>
                          <a:spcPts val="0"/>
                        </a:spcAft>
                      </a:pPr>
                      <a:r>
                        <a:rPr lang="en-US" sz="2000" kern="100">
                          <a:solidFill>
                            <a:schemeClr val="tx1"/>
                          </a:solidFill>
                          <a:effectLst/>
                        </a:rPr>
                        <a:t>  V(MS(type));</a:t>
                      </a:r>
                      <a:endParaRPr lang="zh-CN" sz="2000" kern="100">
                        <a:solidFill>
                          <a:schemeClr val="tx1"/>
                        </a:solidFill>
                        <a:effectLst/>
                      </a:endParaRPr>
                    </a:p>
                    <a:p>
                      <a:pPr marL="629285" indent="257175" algn="just">
                        <a:lnSpc>
                          <a:spcPct val="150000"/>
                        </a:lnSpc>
                        <a:spcAft>
                          <a:spcPts val="0"/>
                        </a:spcAft>
                      </a:pPr>
                      <a:r>
                        <a:rPr lang="en-US" sz="2000" kern="100">
                          <a:solidFill>
                            <a:schemeClr val="tx1"/>
                          </a:solidFill>
                          <a:effectLst/>
                        </a:rPr>
                        <a:t>}</a:t>
                      </a:r>
                      <a:endParaRPr lang="zh-CN" sz="2000" kern="100">
                        <a:solidFill>
                          <a:schemeClr val="tx1"/>
                        </a:solidFill>
                        <a:effectLst/>
                      </a:endParaRPr>
                    </a:p>
                    <a:p>
                      <a:pPr marL="629285" indent="257175" algn="just">
                        <a:lnSpc>
                          <a:spcPct val="150000"/>
                        </a:lnSpc>
                        <a:spcAft>
                          <a:spcPts val="0"/>
                        </a:spcAft>
                      </a:pPr>
                      <a:r>
                        <a:rPr lang="en-US" sz="2000" kern="100">
                          <a:solidFill>
                            <a:schemeClr val="tx1"/>
                          </a:solidFill>
                          <a:effectLst/>
                        </a:rPr>
                        <a:t> </a:t>
                      </a:r>
                      <a:endParaRPr lang="zh-CN" sz="2000" kern="100">
                        <a:solidFill>
                          <a:schemeClr val="tx1"/>
                        </a:solidFill>
                        <a:effectLst/>
                      </a:endParaRPr>
                    </a:p>
                    <a:p>
                      <a:pPr marL="629285" algn="just">
                        <a:lnSpc>
                          <a:spcPct val="150000"/>
                        </a:lnSpc>
                        <a:spcAft>
                          <a:spcPts val="0"/>
                        </a:spcAft>
                      </a:pPr>
                      <a:r>
                        <a:rPr lang="en-US" sz="2000" kern="100">
                          <a:solidFill>
                            <a:schemeClr val="tx1"/>
                          </a:solidFill>
                          <a:effectLst/>
                        </a:rPr>
                        <a:t>Void Putbuf( </a:t>
                      </a:r>
                      <a:r>
                        <a:rPr lang="en-US" sz="2000" kern="100">
                          <a:solidFill>
                            <a:schemeClr val="tx1"/>
                          </a:solidFill>
                          <a:effectLst/>
                        </a:rPr>
                        <a:t>type,number</a:t>
                      </a:r>
                      <a:r>
                        <a:rPr lang="en-US" sz="2000" kern="100" smtClean="0">
                          <a:solidFill>
                            <a:schemeClr val="tx1"/>
                          </a:solidFill>
                          <a:effectLst/>
                        </a:rPr>
                        <a:t>){ </a:t>
                      </a:r>
                      <a:endParaRPr lang="zh-CN" sz="2000" kern="100">
                        <a:solidFill>
                          <a:schemeClr val="tx1"/>
                        </a:solidFill>
                        <a:effectLst/>
                      </a:endParaRPr>
                    </a:p>
                    <a:p>
                      <a:pPr marL="629285" indent="257175" algn="just">
                        <a:lnSpc>
                          <a:spcPct val="150000"/>
                        </a:lnSpc>
                        <a:spcAft>
                          <a:spcPts val="0"/>
                        </a:spcAft>
                      </a:pPr>
                      <a:r>
                        <a:rPr lang="en-US" sz="2000" kern="100">
                          <a:solidFill>
                            <a:schemeClr val="tx1"/>
                          </a:solidFill>
                          <a:effectLst/>
                        </a:rPr>
                        <a:t>  P(MS(type));</a:t>
                      </a:r>
                      <a:endParaRPr lang="zh-CN" sz="2000" kern="100">
                        <a:solidFill>
                          <a:schemeClr val="tx1"/>
                        </a:solidFill>
                        <a:effectLst/>
                      </a:endParaRPr>
                    </a:p>
                    <a:p>
                      <a:pPr marL="629285" indent="257175" algn="just">
                        <a:lnSpc>
                          <a:spcPct val="150000"/>
                        </a:lnSpc>
                        <a:spcAft>
                          <a:spcPts val="0"/>
                        </a:spcAft>
                      </a:pPr>
                      <a:r>
                        <a:rPr lang="en-US" sz="2000" kern="100">
                          <a:solidFill>
                            <a:schemeClr val="tx1"/>
                          </a:solidFill>
                          <a:effectLst/>
                        </a:rPr>
                        <a:t>  Addbuf(type, number);</a:t>
                      </a:r>
                      <a:endParaRPr lang="zh-CN" sz="2000" kern="100">
                        <a:solidFill>
                          <a:schemeClr val="tx1"/>
                        </a:solidFill>
                        <a:effectLst/>
                      </a:endParaRPr>
                    </a:p>
                    <a:p>
                      <a:pPr marL="629285" indent="257175" algn="just">
                        <a:lnSpc>
                          <a:spcPct val="150000"/>
                        </a:lnSpc>
                        <a:spcAft>
                          <a:spcPts val="0"/>
                        </a:spcAft>
                      </a:pPr>
                      <a:r>
                        <a:rPr lang="en-US" sz="2000" kern="100">
                          <a:solidFill>
                            <a:schemeClr val="tx1"/>
                          </a:solidFill>
                          <a:effectLst/>
                        </a:rPr>
                        <a:t>  V(MS(type));</a:t>
                      </a:r>
                      <a:endParaRPr lang="zh-CN" sz="2000" kern="100">
                        <a:solidFill>
                          <a:schemeClr val="tx1"/>
                        </a:solidFill>
                        <a:effectLst/>
                      </a:endParaRPr>
                    </a:p>
                    <a:p>
                      <a:pPr marL="629285" indent="257175" algn="just">
                        <a:lnSpc>
                          <a:spcPct val="150000"/>
                        </a:lnSpc>
                        <a:spcAft>
                          <a:spcPts val="0"/>
                        </a:spcAft>
                      </a:pPr>
                      <a:r>
                        <a:rPr lang="en-US" sz="2000" kern="100">
                          <a:solidFill>
                            <a:schemeClr val="tx1"/>
                          </a:solidFill>
                          <a:effectLst/>
                        </a:rPr>
                        <a:t>  V(RS(type));</a:t>
                      </a:r>
                      <a:endParaRPr lang="zh-CN" sz="2000" kern="100">
                        <a:solidFill>
                          <a:schemeClr val="tx1"/>
                        </a:solidFill>
                        <a:effectLst/>
                      </a:endParaRPr>
                    </a:p>
                    <a:p>
                      <a:pPr indent="914400" algn="just">
                        <a:lnSpc>
                          <a:spcPct val="150000"/>
                        </a:lnSpc>
                        <a:spcAft>
                          <a:spcPts val="0"/>
                        </a:spcAft>
                      </a:pPr>
                      <a:r>
                        <a:rPr lang="en-US" sz="2000" kern="100">
                          <a:solidFill>
                            <a:schemeClr val="tx1"/>
                          </a:solidFill>
                          <a:effectLst/>
                        </a:rPr>
                        <a:t>}</a:t>
                      </a:r>
                      <a:endParaRPr lang="zh-CN" sz="20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r>
            </a:tbl>
          </a:graphicData>
        </a:graphic>
      </p:graphicFrame>
      <p:sp>
        <p:nvSpPr>
          <p:cNvPr id="5" name="文本框 4"/>
          <p:cNvSpPr txBox="1"/>
          <p:nvPr/>
        </p:nvSpPr>
        <p:spPr>
          <a:xfrm>
            <a:off x="4896544" y="184197"/>
            <a:ext cx="3024336" cy="646331"/>
          </a:xfrm>
          <a:prstGeom prst="rect">
            <a:avLst/>
          </a:prstGeom>
          <a:noFill/>
        </p:spPr>
        <p:txBody>
          <a:bodyPr wrap="square" rtlCol="0">
            <a:spAutoFit/>
          </a:bodyPr>
          <a:lstStyle/>
          <a:p>
            <a:r>
              <a:rPr lang="en-US" altLang="zh-CN" b="1" smtClean="0">
                <a:solidFill>
                  <a:srgbClr val="FF0000"/>
                </a:solidFill>
              </a:rPr>
              <a:t>Semaphore RS(type):=0;</a:t>
            </a:r>
            <a:endParaRPr lang="en-US" altLang="zh-CN" b="1" smtClean="0">
              <a:solidFill>
                <a:srgbClr val="FF0000"/>
              </a:solidFill>
            </a:endParaRPr>
          </a:p>
          <a:p>
            <a:r>
              <a:rPr lang="en-US" altLang="zh-CN" b="1" smtClean="0">
                <a:solidFill>
                  <a:srgbClr val="FF0000"/>
                </a:solidFill>
              </a:rPr>
              <a:t>Semaphore MS(type):=1 </a:t>
            </a:r>
            <a:endParaRPr lang="zh-CN" altLang="en-US" b="1">
              <a:solidFill>
                <a:srgbClr val="FF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85720" y="1428736"/>
            <a:ext cx="2800767" cy="461665"/>
          </a:xfrm>
          <a:prstGeom prst="rect">
            <a:avLst/>
          </a:prstGeom>
        </p:spPr>
        <p:txBody>
          <a:bodyPr wrap="none">
            <a:spAutoFit/>
          </a:bodyPr>
          <a:lstStyle/>
          <a:p>
            <a:r>
              <a:rPr lang="en-US" sz="2400" dirty="0">
                <a:latin typeface="Times New Roman" panose="02020603050405020304" pitchFamily="18" charset="0"/>
                <a:ea typeface="华文中宋" panose="02010600040101010101" pitchFamily="2" charset="-122"/>
                <a:cs typeface="Times New Roman" panose="02020603050405020304" pitchFamily="18" charset="0"/>
              </a:rPr>
              <a:t>§7.5 </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磁盘驱动调度</a:t>
            </a:r>
            <a:endParaRPr lang="zh-CN" altLang="en-US" sz="2400" dirty="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 name="矩形 4"/>
          <p:cNvSpPr/>
          <p:nvPr/>
        </p:nvSpPr>
        <p:spPr>
          <a:xfrm>
            <a:off x="428596" y="2268060"/>
            <a:ext cx="4214842" cy="2446824"/>
          </a:xfrm>
          <a:prstGeom prst="rect">
            <a:avLst/>
          </a:prstGeom>
        </p:spPr>
        <p:txBody>
          <a:bodyPr wrap="square">
            <a:spAutoFit/>
          </a:bodyPr>
          <a:lstStyle/>
          <a:p>
            <a:pPr>
              <a:lnSpc>
                <a:spcPct val="150000"/>
              </a:lnSpc>
            </a:pPr>
            <a:r>
              <a:rPr lang="zh-CN" altLang="en-US" dirty="0">
                <a:latin typeface="华文中宋" panose="02010600040101010101" pitchFamily="2" charset="-122"/>
                <a:ea typeface="华文中宋" panose="02010600040101010101" pitchFamily="2" charset="-122"/>
              </a:rPr>
              <a:t>磁盘的访问时间划分成以下三部分：</a:t>
            </a:r>
            <a:endParaRPr lang="en-US" altLang="zh-CN"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zh-CN" altLang="en-US" dirty="0">
                <a:latin typeface="华文中宋" panose="02010600040101010101" pitchFamily="2" charset="-122"/>
                <a:ea typeface="华文中宋" panose="02010600040101010101" pitchFamily="2" charset="-122"/>
              </a:rPr>
              <a:t>寻道时间</a:t>
            </a:r>
            <a:endParaRPr lang="en-US" altLang="zh-CN"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endParaRPr lang="en-US" altLang="zh-CN" dirty="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zh-CN" altLang="en-US" smtClean="0">
                <a:latin typeface="华文中宋" panose="02010600040101010101" pitchFamily="2" charset="-122"/>
                <a:ea typeface="华文中宋" panose="02010600040101010101" pitchFamily="2" charset="-122"/>
              </a:rPr>
              <a:t>平均旋</a:t>
            </a:r>
            <a:r>
              <a:rPr lang="zh-CN" altLang="en-US" dirty="0">
                <a:latin typeface="华文中宋" panose="02010600040101010101" pitchFamily="2" charset="-122"/>
                <a:ea typeface="华文中宋" panose="02010600040101010101" pitchFamily="2" charset="-122"/>
              </a:rPr>
              <a:t>转时</a:t>
            </a:r>
            <a:r>
              <a:rPr lang="zh-CN" altLang="en-US">
                <a:latin typeface="华文中宋" panose="02010600040101010101" pitchFamily="2" charset="-122"/>
                <a:ea typeface="华文中宋" panose="02010600040101010101" pitchFamily="2" charset="-122"/>
              </a:rPr>
              <a:t>间 </a:t>
            </a:r>
            <a:r>
              <a:rPr lang="en-US" i="1" smtClean="0">
                <a:latin typeface="华文中宋" panose="02010600040101010101" pitchFamily="2" charset="-122"/>
                <a:ea typeface="华文中宋" panose="02010600040101010101" pitchFamily="2" charset="-122"/>
              </a:rPr>
              <a:t>T</a:t>
            </a:r>
            <a:r>
              <a:rPr lang="en-US" i="1" baseline="-25000" smtClean="0">
                <a:latin typeface="华文中宋" panose="02010600040101010101" pitchFamily="2" charset="-122"/>
                <a:ea typeface="华文中宋" panose="02010600040101010101" pitchFamily="2" charset="-122"/>
              </a:rPr>
              <a:t>r</a:t>
            </a:r>
            <a:endParaRPr lang="en-US" baseline="-25000" smtClean="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endParaRPr lang="en-US" altLang="zh-CN" baseline="-25000" smtClean="0">
              <a:latin typeface="华文中宋" panose="02010600040101010101" pitchFamily="2" charset="-122"/>
              <a:ea typeface="华文中宋" panose="02010600040101010101" pitchFamily="2" charset="-122"/>
            </a:endParaRPr>
          </a:p>
          <a:p>
            <a:pPr>
              <a:lnSpc>
                <a:spcPct val="150000"/>
              </a:lnSpc>
              <a:buFont typeface="Arial" panose="020B0604020202020204" pitchFamily="34" charset="0"/>
              <a:buChar char="•"/>
            </a:pPr>
            <a:r>
              <a:rPr lang="zh-CN" altLang="en-US" smtClean="0">
                <a:latin typeface="华文中宋" panose="02010600040101010101" pitchFamily="2" charset="-122"/>
                <a:ea typeface="华文中宋" panose="02010600040101010101" pitchFamily="2" charset="-122"/>
              </a:rPr>
              <a:t>传</a:t>
            </a:r>
            <a:r>
              <a:rPr lang="zh-CN" altLang="en-US" dirty="0">
                <a:latin typeface="华文中宋" panose="02010600040101010101" pitchFamily="2" charset="-122"/>
                <a:ea typeface="华文中宋" panose="02010600040101010101" pitchFamily="2" charset="-122"/>
              </a:rPr>
              <a:t>输时间</a:t>
            </a:r>
            <a:endParaRPr lang="zh-CN" altLang="en-US" dirty="0">
              <a:latin typeface="华文中宋" panose="02010600040101010101" pitchFamily="2" charset="-122"/>
              <a:ea typeface="华文中宋" panose="02010600040101010101" pitchFamily="2" charset="-122"/>
            </a:endParaRPr>
          </a:p>
        </p:txBody>
      </p:sp>
      <p:sp>
        <p:nvSpPr>
          <p:cNvPr id="177154"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77153" name="Object 1"/>
          <p:cNvGraphicFramePr>
            <a:graphicFrameLocks noChangeAspect="1"/>
          </p:cNvGraphicFramePr>
          <p:nvPr/>
        </p:nvGraphicFramePr>
        <p:xfrm>
          <a:off x="1959967" y="2714620"/>
          <a:ext cx="1397587" cy="285752"/>
        </p:xfrm>
        <a:graphic>
          <a:graphicData uri="http://schemas.openxmlformats.org/presentationml/2006/ole">
            <mc:AlternateContent xmlns:mc="http://schemas.openxmlformats.org/markup-compatibility/2006">
              <mc:Choice xmlns:v="urn:schemas-microsoft-com:vml" Requires="v">
                <p:oleObj spid="_x0000_s177356" name="公式" r:id="rId1" imgW="20421600" imgH="4267200" progId="Equation.3">
                  <p:embed/>
                </p:oleObj>
              </mc:Choice>
              <mc:Fallback>
                <p:oleObj name="公式" r:id="rId1" imgW="20421600" imgH="4267200" progId="Equation.3">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9967" y="2714620"/>
                        <a:ext cx="1397587" cy="2857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7156"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77155" name="Object 3"/>
          <p:cNvGraphicFramePr>
            <a:graphicFrameLocks noChangeAspect="1"/>
          </p:cNvGraphicFramePr>
          <p:nvPr/>
        </p:nvGraphicFramePr>
        <p:xfrm>
          <a:off x="1785918" y="4112263"/>
          <a:ext cx="785818" cy="602621"/>
        </p:xfrm>
        <a:graphic>
          <a:graphicData uri="http://schemas.openxmlformats.org/presentationml/2006/ole">
            <mc:AlternateContent xmlns:mc="http://schemas.openxmlformats.org/markup-compatibility/2006">
              <mc:Choice xmlns:v="urn:schemas-microsoft-com:vml" Requires="v">
                <p:oleObj spid="_x0000_s177357" name="公式" r:id="rId3" imgW="12496800" imgH="9448800" progId="Equation.3">
                  <p:embed/>
                </p:oleObj>
              </mc:Choice>
              <mc:Fallback>
                <p:oleObj name="公式" r:id="rId3" imgW="12496800" imgH="944880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5918" y="4112263"/>
                        <a:ext cx="785818" cy="6026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7158"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77157" name="Object 5"/>
          <p:cNvGraphicFramePr>
            <a:graphicFrameLocks noChangeAspect="1"/>
          </p:cNvGraphicFramePr>
          <p:nvPr/>
        </p:nvGraphicFramePr>
        <p:xfrm>
          <a:off x="439748" y="5392276"/>
          <a:ext cx="3141564" cy="1112452"/>
        </p:xfrm>
        <a:graphic>
          <a:graphicData uri="http://schemas.openxmlformats.org/presentationml/2006/ole">
            <mc:AlternateContent xmlns:mc="http://schemas.openxmlformats.org/markup-compatibility/2006">
              <mc:Choice xmlns:v="urn:schemas-microsoft-com:vml" Requires="v">
                <p:oleObj spid="_x0000_s177358" name="公式" r:id="rId5" imgW="26822400" imgH="9448800" progId="Equation.3">
                  <p:embed/>
                </p:oleObj>
              </mc:Choice>
              <mc:Fallback>
                <p:oleObj name="公式" r:id="rId5" imgW="26822400" imgH="9448800" progId="Equation.3">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9748" y="5392276"/>
                        <a:ext cx="3141564" cy="1112452"/>
                      </a:xfrm>
                      <a:prstGeom prst="rect">
                        <a:avLst/>
                      </a:prstGeom>
                      <a:noFill/>
                    </p:spPr>
                  </p:pic>
                </p:oleObj>
              </mc:Fallback>
            </mc:AlternateContent>
          </a:graphicData>
        </a:graphic>
      </p:graphicFrame>
      <p:sp>
        <p:nvSpPr>
          <p:cNvPr id="3" name="文本框 2"/>
          <p:cNvSpPr txBox="1"/>
          <p:nvPr/>
        </p:nvSpPr>
        <p:spPr>
          <a:xfrm>
            <a:off x="5292080" y="1477791"/>
            <a:ext cx="2754280" cy="2809615"/>
          </a:xfrm>
          <a:prstGeom prst="rect">
            <a:avLst/>
          </a:prstGeom>
          <a:noFill/>
        </p:spPr>
        <p:txBody>
          <a:bodyPr wrap="none" rtlCol="0">
            <a:spAutoFit/>
          </a:bodyPr>
          <a:lstStyle/>
          <a:p>
            <a:pPr>
              <a:lnSpc>
                <a:spcPct val="150000"/>
              </a:lnSpc>
            </a:pPr>
            <a:r>
              <a:rPr lang="en-US" altLang="zh-CN" sz="2000" b="1" i="1" smtClean="0">
                <a:latin typeface="Times New Roman" panose="02020603050405020304" pitchFamily="18" charset="0"/>
                <a:cs typeface="Times New Roman" panose="02020603050405020304" pitchFamily="18" charset="0"/>
              </a:rPr>
              <a:t>m</a:t>
            </a:r>
            <a:r>
              <a:rPr lang="en-US" altLang="zh-CN" sz="2000" b="1" smtClean="0"/>
              <a:t>:   </a:t>
            </a:r>
            <a:r>
              <a:rPr lang="zh-CN" altLang="en-US" sz="2000" b="1" smtClean="0"/>
              <a:t>常数</a:t>
            </a:r>
            <a:endParaRPr lang="en-US" altLang="zh-CN" sz="2000" b="1" smtClean="0"/>
          </a:p>
          <a:p>
            <a:pPr>
              <a:lnSpc>
                <a:spcPct val="150000"/>
              </a:lnSpc>
            </a:pPr>
            <a:r>
              <a:rPr lang="en-US" altLang="zh-CN" sz="2000" b="1" i="1" smtClean="0"/>
              <a:t>n</a:t>
            </a:r>
            <a:r>
              <a:rPr lang="en-US" altLang="zh-CN" sz="2000" b="1" smtClean="0"/>
              <a:t>:   </a:t>
            </a:r>
            <a:r>
              <a:rPr lang="zh-CN" altLang="en-US" sz="2000" b="1" smtClean="0"/>
              <a:t>磁头移动的柱面数</a:t>
            </a:r>
            <a:endParaRPr lang="en-US" altLang="zh-CN" sz="2000" b="1" smtClean="0"/>
          </a:p>
          <a:p>
            <a:pPr>
              <a:lnSpc>
                <a:spcPct val="150000"/>
              </a:lnSpc>
            </a:pPr>
            <a:r>
              <a:rPr lang="en-US" altLang="zh-CN" sz="2000" b="1" i="1" smtClean="0"/>
              <a:t>s</a:t>
            </a:r>
            <a:r>
              <a:rPr lang="zh-CN" altLang="en-US" sz="2000" b="1" smtClean="0"/>
              <a:t>：存取臂的启动时间</a:t>
            </a:r>
            <a:endParaRPr lang="en-US" altLang="zh-CN" sz="2000" b="1" smtClean="0"/>
          </a:p>
          <a:p>
            <a:pPr>
              <a:lnSpc>
                <a:spcPct val="150000"/>
              </a:lnSpc>
            </a:pPr>
            <a:r>
              <a:rPr lang="en-US" altLang="zh-CN" sz="2000" b="1" i="1" smtClean="0"/>
              <a:t>r</a:t>
            </a:r>
            <a:r>
              <a:rPr lang="en-US" altLang="zh-CN" sz="2000" b="1" smtClean="0"/>
              <a:t>:    </a:t>
            </a:r>
            <a:r>
              <a:rPr lang="zh-CN" altLang="en-US" sz="2000" b="1" smtClean="0"/>
              <a:t>磁盘</a:t>
            </a:r>
            <a:r>
              <a:rPr lang="en-US" altLang="zh-CN" sz="2000" b="1" smtClean="0"/>
              <a:t>1</a:t>
            </a:r>
            <a:r>
              <a:rPr lang="zh-CN" altLang="en-US" sz="2000" b="1" smtClean="0"/>
              <a:t>秒旋转的周数</a:t>
            </a:r>
            <a:endParaRPr lang="en-US" altLang="zh-CN" sz="2000" b="1" smtClean="0"/>
          </a:p>
          <a:p>
            <a:pPr>
              <a:lnSpc>
                <a:spcPct val="150000"/>
              </a:lnSpc>
            </a:pPr>
            <a:r>
              <a:rPr lang="en-US" altLang="zh-CN" sz="2000" b="1" i="1" smtClean="0"/>
              <a:t>b</a:t>
            </a:r>
            <a:r>
              <a:rPr lang="zh-CN" altLang="en-US" sz="2000" b="1" smtClean="0"/>
              <a:t>：传输的字节数</a:t>
            </a:r>
            <a:endParaRPr lang="en-US" altLang="zh-CN" sz="2000" b="1" smtClean="0"/>
          </a:p>
          <a:p>
            <a:pPr>
              <a:lnSpc>
                <a:spcPct val="150000"/>
              </a:lnSpc>
            </a:pPr>
            <a:r>
              <a:rPr lang="en-US" altLang="zh-CN" sz="2000" b="1" smtClean="0"/>
              <a:t>N</a:t>
            </a:r>
            <a:r>
              <a:rPr lang="zh-CN" altLang="en-US" sz="2000" b="1" smtClean="0"/>
              <a:t>：磁道上的字节数</a:t>
            </a:r>
            <a:endParaRPr lang="zh-CN" altLang="en-US" sz="2000" b="1"/>
          </a:p>
        </p:txBody>
      </p:sp>
      <p:sp>
        <p:nvSpPr>
          <p:cNvPr id="7" name="文本框 6"/>
          <p:cNvSpPr txBox="1"/>
          <p:nvPr/>
        </p:nvSpPr>
        <p:spPr>
          <a:xfrm>
            <a:off x="436300" y="4930611"/>
            <a:ext cx="3732112" cy="461665"/>
          </a:xfrm>
          <a:prstGeom prst="rect">
            <a:avLst/>
          </a:prstGeom>
          <a:solidFill>
            <a:srgbClr val="FFFF00"/>
          </a:solidFill>
        </p:spPr>
        <p:txBody>
          <a:bodyPr wrap="none" rtlCol="0">
            <a:spAutoFit/>
          </a:bodyPr>
          <a:lstStyle/>
          <a:p>
            <a:r>
              <a:rPr lang="zh-CN" altLang="en-US" sz="2400" smtClean="0"/>
              <a:t>传输</a:t>
            </a:r>
            <a:r>
              <a:rPr lang="en-US" altLang="zh-CN" sz="2400" smtClean="0"/>
              <a:t>b</a:t>
            </a:r>
            <a:r>
              <a:rPr lang="zh-CN" altLang="en-US" sz="2400" smtClean="0"/>
              <a:t>字节数据的总时间：</a:t>
            </a:r>
            <a:endParaRPr lang="zh-CN" altLang="en-US" sz="240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78900" y="1340768"/>
            <a:ext cx="8928992" cy="5184576"/>
          </a:xfrm>
        </p:spPr>
        <p:txBody>
          <a:bodyPr>
            <a:normAutofit fontScale="92500" lnSpcReduction="10000"/>
          </a:bodyPr>
          <a:lstStyle/>
          <a:p>
            <a:pPr>
              <a:lnSpc>
                <a:spcPct val="150000"/>
              </a:lnSpc>
            </a:pPr>
            <a:r>
              <a:rPr lang="zh-CN" altLang="zh-CN" sz="2400" smtClean="0">
                <a:latin typeface="Times New Roman" panose="02020603050405020304" pitchFamily="18" charset="0"/>
                <a:cs typeface="Times New Roman" panose="02020603050405020304" pitchFamily="18" charset="0"/>
              </a:rPr>
              <a:t>在</a:t>
            </a:r>
            <a:r>
              <a:rPr lang="zh-CN" altLang="zh-CN" sz="2400">
                <a:latin typeface="Times New Roman" panose="02020603050405020304" pitchFamily="18" charset="0"/>
                <a:cs typeface="Times New Roman" panose="02020603050405020304" pitchFamily="18" charset="0"/>
              </a:rPr>
              <a:t>访问时间中，寻道时间和旋转延迟时间与所读</a:t>
            </a:r>
            <a:r>
              <a:rPr lang="en-US" altLang="zh-CN" sz="2400">
                <a:latin typeface="Times New Roman" panose="02020603050405020304" pitchFamily="18" charset="0"/>
                <a:cs typeface="Times New Roman" panose="02020603050405020304" pitchFamily="18" charset="0"/>
              </a:rPr>
              <a:t>/</a:t>
            </a:r>
            <a:r>
              <a:rPr lang="zh-CN" altLang="zh-CN" sz="2400">
                <a:latin typeface="Times New Roman" panose="02020603050405020304" pitchFamily="18" charset="0"/>
                <a:cs typeface="Times New Roman" panose="02020603050405020304" pitchFamily="18" charset="0"/>
              </a:rPr>
              <a:t>写数据的多少无关，而且它通常占据了访问时间的大部</a:t>
            </a:r>
            <a:r>
              <a:rPr lang="zh-CN" altLang="zh-CN" sz="2400">
                <a:latin typeface="Times New Roman" panose="02020603050405020304" pitchFamily="18" charset="0"/>
                <a:cs typeface="Times New Roman" panose="02020603050405020304" pitchFamily="18" charset="0"/>
              </a:rPr>
              <a:t>分</a:t>
            </a:r>
            <a:r>
              <a:rPr lang="zh-CN" altLang="zh-CN" sz="2400" smtClean="0">
                <a:latin typeface="Times New Roman" panose="02020603050405020304" pitchFamily="18" charset="0"/>
                <a:cs typeface="Times New Roman" panose="02020603050405020304" pitchFamily="18" charset="0"/>
              </a:rPr>
              <a:t>。</a:t>
            </a:r>
            <a:endParaRPr lang="en-US" altLang="zh-CN" sz="2400" smtClean="0">
              <a:latin typeface="Times New Roman" panose="02020603050405020304" pitchFamily="18" charset="0"/>
              <a:cs typeface="Times New Roman" panose="02020603050405020304" pitchFamily="18" charset="0"/>
            </a:endParaRPr>
          </a:p>
          <a:p>
            <a:pPr marL="0" indent="0">
              <a:lnSpc>
                <a:spcPct val="150000"/>
              </a:lnSpc>
              <a:buNone/>
            </a:pPr>
            <a:r>
              <a:rPr lang="en-US" altLang="zh-CN" sz="2400" smtClean="0">
                <a:latin typeface="Times New Roman" panose="02020603050405020304" pitchFamily="18" charset="0"/>
                <a:cs typeface="Times New Roman" panose="02020603050405020304" pitchFamily="18" charset="0"/>
              </a:rPr>
              <a:t>      </a:t>
            </a:r>
            <a:r>
              <a:rPr lang="zh-CN" altLang="zh-CN" sz="2400" smtClean="0">
                <a:latin typeface="Times New Roman" panose="02020603050405020304" pitchFamily="18" charset="0"/>
                <a:cs typeface="Times New Roman" panose="02020603050405020304" pitchFamily="18" charset="0"/>
              </a:rPr>
              <a:t>假</a:t>
            </a:r>
            <a:r>
              <a:rPr lang="zh-CN" altLang="zh-CN" sz="2400">
                <a:latin typeface="Times New Roman" panose="02020603050405020304" pitchFamily="18" charset="0"/>
                <a:cs typeface="Times New Roman" panose="02020603050405020304" pitchFamily="18" charset="0"/>
              </a:rPr>
              <a:t>定寻道时间和旋转延迟时间平均为</a:t>
            </a:r>
            <a:r>
              <a:rPr lang="en-US" altLang="zh-CN" sz="2400">
                <a:latin typeface="Times New Roman" panose="02020603050405020304" pitchFamily="18" charset="0"/>
                <a:cs typeface="Times New Roman" panose="02020603050405020304" pitchFamily="18" charset="0"/>
              </a:rPr>
              <a:t>20ms</a:t>
            </a:r>
            <a:r>
              <a:rPr lang="zh-CN" altLang="zh-CN" sz="2400">
                <a:latin typeface="Times New Roman" panose="02020603050405020304" pitchFamily="18" charset="0"/>
                <a:cs typeface="Times New Roman" panose="02020603050405020304" pitchFamily="18" charset="0"/>
              </a:rPr>
              <a:t>，而且磁盘的传输率为</a:t>
            </a:r>
            <a:r>
              <a:rPr lang="en-US" altLang="zh-CN" sz="2400">
                <a:latin typeface="Times New Roman" panose="02020603050405020304" pitchFamily="18" charset="0"/>
                <a:cs typeface="Times New Roman" panose="02020603050405020304" pitchFamily="18" charset="0"/>
              </a:rPr>
              <a:t>10MB/s</a:t>
            </a:r>
            <a:r>
              <a:rPr lang="zh-CN" altLang="zh-CN" sz="2400">
                <a:latin typeface="Times New Roman" panose="02020603050405020304" pitchFamily="18" charset="0"/>
                <a:cs typeface="Times New Roman" panose="02020603050405020304" pitchFamily="18" charset="0"/>
              </a:rPr>
              <a:t>，如果要传输</a:t>
            </a:r>
            <a:r>
              <a:rPr lang="en-US" altLang="zh-CN" sz="2400">
                <a:latin typeface="Times New Roman" panose="02020603050405020304" pitchFamily="18" charset="0"/>
                <a:cs typeface="Times New Roman" panose="02020603050405020304" pitchFamily="18" charset="0"/>
              </a:rPr>
              <a:t>10KB</a:t>
            </a:r>
            <a:r>
              <a:rPr lang="zh-CN" altLang="zh-CN" sz="2400">
                <a:latin typeface="Times New Roman" panose="02020603050405020304" pitchFamily="18" charset="0"/>
                <a:cs typeface="Times New Roman" panose="02020603050405020304" pitchFamily="18" charset="0"/>
              </a:rPr>
              <a:t>的数据，此时总的访问时间为</a:t>
            </a:r>
            <a:r>
              <a:rPr lang="en-US" altLang="zh-CN" sz="2400">
                <a:latin typeface="Times New Roman" panose="02020603050405020304" pitchFamily="18" charset="0"/>
                <a:cs typeface="Times New Roman" panose="02020603050405020304" pitchFamily="18" charset="0"/>
              </a:rPr>
              <a:t>21ms</a:t>
            </a:r>
            <a:r>
              <a:rPr lang="zh-CN" altLang="zh-CN" sz="2400">
                <a:latin typeface="Times New Roman" panose="02020603050405020304" pitchFamily="18" charset="0"/>
                <a:cs typeface="Times New Roman" panose="02020603050405020304" pitchFamily="18" charset="0"/>
              </a:rPr>
              <a:t>，可见传输时间所占的比例是非常小的。当传输</a:t>
            </a:r>
            <a:r>
              <a:rPr lang="en-US" altLang="zh-CN" sz="2400">
                <a:latin typeface="Times New Roman" panose="02020603050405020304" pitchFamily="18" charset="0"/>
                <a:cs typeface="Times New Roman" panose="02020603050405020304" pitchFamily="18" charset="0"/>
              </a:rPr>
              <a:t>100KB</a:t>
            </a:r>
            <a:r>
              <a:rPr lang="zh-CN" altLang="zh-CN" sz="2400">
                <a:latin typeface="Times New Roman" panose="02020603050405020304" pitchFamily="18" charset="0"/>
                <a:cs typeface="Times New Roman" panose="02020603050405020304" pitchFamily="18" charset="0"/>
              </a:rPr>
              <a:t>的数据时，其访问时间也只是</a:t>
            </a:r>
            <a:r>
              <a:rPr lang="en-US" altLang="zh-CN" sz="2400">
                <a:latin typeface="Times New Roman" panose="02020603050405020304" pitchFamily="18" charset="0"/>
                <a:cs typeface="Times New Roman" panose="02020603050405020304" pitchFamily="18" charset="0"/>
              </a:rPr>
              <a:t>30ms</a:t>
            </a:r>
            <a:r>
              <a:rPr lang="zh-CN" altLang="zh-CN" sz="2400">
                <a:latin typeface="Times New Roman" panose="02020603050405020304" pitchFamily="18" charset="0"/>
                <a:cs typeface="Times New Roman" panose="02020603050405020304" pitchFamily="18" charset="0"/>
              </a:rPr>
              <a:t>，即当传输的数据量增大</a:t>
            </a:r>
            <a:r>
              <a:rPr lang="en-US" altLang="zh-CN" sz="2400">
                <a:latin typeface="Times New Roman" panose="02020603050405020304" pitchFamily="18" charset="0"/>
                <a:cs typeface="Times New Roman" panose="02020603050405020304" pitchFamily="18" charset="0"/>
              </a:rPr>
              <a:t>10</a:t>
            </a:r>
            <a:r>
              <a:rPr lang="zh-CN" altLang="zh-CN" sz="2400">
                <a:latin typeface="Times New Roman" panose="02020603050405020304" pitchFamily="18" charset="0"/>
                <a:cs typeface="Times New Roman" panose="02020603050405020304" pitchFamily="18" charset="0"/>
              </a:rPr>
              <a:t>倍时，访问时间只增加约</a:t>
            </a:r>
            <a:r>
              <a:rPr lang="en-US" altLang="zh-CN" sz="2400">
                <a:latin typeface="Times New Roman" panose="02020603050405020304" pitchFamily="18" charset="0"/>
                <a:cs typeface="Times New Roman" panose="02020603050405020304" pitchFamily="18" charset="0"/>
              </a:rPr>
              <a:t>50%</a:t>
            </a:r>
            <a:r>
              <a:rPr lang="zh-CN" altLang="zh-CN" sz="2400">
                <a:latin typeface="Times New Roman" panose="02020603050405020304" pitchFamily="18" charset="0"/>
                <a:cs typeface="Times New Roman" panose="02020603050405020304" pitchFamily="18" charset="0"/>
              </a:rPr>
              <a:t>。目前磁盘的传输速率已达到</a:t>
            </a:r>
            <a:r>
              <a:rPr lang="en-US" altLang="zh-CN" sz="2400">
                <a:latin typeface="Times New Roman" panose="02020603050405020304" pitchFamily="18" charset="0"/>
                <a:cs typeface="Times New Roman" panose="02020603050405020304" pitchFamily="18" charset="0"/>
              </a:rPr>
              <a:t>80MB/s</a:t>
            </a:r>
            <a:r>
              <a:rPr lang="zh-CN" altLang="zh-CN" sz="2400">
                <a:latin typeface="Times New Roman" panose="02020603050405020304" pitchFamily="18" charset="0"/>
                <a:cs typeface="Times New Roman" panose="02020603050405020304" pitchFamily="18" charset="0"/>
              </a:rPr>
              <a:t>以上，数据传输时间所占整个访问时间的比重更低。可见适当地集中数据传输，有利于提高传输效</a:t>
            </a:r>
            <a:r>
              <a:rPr lang="zh-CN" altLang="zh-CN" sz="2400">
                <a:latin typeface="Times New Roman" panose="02020603050405020304" pitchFamily="18" charset="0"/>
                <a:cs typeface="Times New Roman" panose="02020603050405020304" pitchFamily="18" charset="0"/>
              </a:rPr>
              <a:t>率</a:t>
            </a:r>
            <a:r>
              <a:rPr lang="zh-CN" altLang="zh-CN" sz="2400" smtClean="0">
                <a:latin typeface="Times New Roman" panose="02020603050405020304" pitchFamily="18" charset="0"/>
                <a:cs typeface="Times New Roman" panose="02020603050405020304" pitchFamily="18" charset="0"/>
              </a:rPr>
              <a:t>。</a:t>
            </a:r>
            <a:endParaRPr lang="en-US" altLang="zh-CN" sz="2400" smtClean="0">
              <a:latin typeface="Times New Roman" panose="02020603050405020304" pitchFamily="18" charset="0"/>
              <a:cs typeface="Times New Roman" panose="02020603050405020304" pitchFamily="18" charset="0"/>
            </a:endParaRPr>
          </a:p>
          <a:p>
            <a:pPr>
              <a:lnSpc>
                <a:spcPct val="150000"/>
              </a:lnSpc>
            </a:pPr>
            <a:r>
              <a:rPr lang="zh-CN" altLang="zh-CN" sz="2400" smtClean="0">
                <a:latin typeface="Times New Roman" panose="02020603050405020304" pitchFamily="18" charset="0"/>
                <a:cs typeface="Times New Roman" panose="02020603050405020304" pitchFamily="18" charset="0"/>
              </a:rPr>
              <a:t>减</a:t>
            </a:r>
            <a:r>
              <a:rPr lang="zh-CN" altLang="zh-CN" sz="2400">
                <a:latin typeface="Times New Roman" panose="02020603050405020304" pitchFamily="18" charset="0"/>
                <a:cs typeface="Times New Roman" panose="02020603050405020304" pitchFamily="18" charset="0"/>
              </a:rPr>
              <a:t>少移动到目标柱面的移臂时间、缩短转动到目标数据块的旋转时间可节省整体访问时间。</a:t>
            </a:r>
            <a:endParaRPr lang="zh-CN" altLang="en-US" sz="2400">
              <a:latin typeface="Times New Roman" panose="02020603050405020304" pitchFamily="18" charset="0"/>
              <a:cs typeface="Times New Roman" panose="02020603050405020304" pitchFamily="18" charset="0"/>
            </a:endParaRPr>
          </a:p>
        </p:txBody>
      </p:sp>
      <p:sp>
        <p:nvSpPr>
          <p:cNvPr id="4" name="文本框 3"/>
          <p:cNvSpPr txBox="1"/>
          <p:nvPr/>
        </p:nvSpPr>
        <p:spPr>
          <a:xfrm>
            <a:off x="3635896" y="6156012"/>
            <a:ext cx="5234125" cy="523220"/>
          </a:xfrm>
          <a:prstGeom prst="rect">
            <a:avLst/>
          </a:prstGeom>
          <a:noFill/>
        </p:spPr>
        <p:txBody>
          <a:bodyPr wrap="none" rtlCol="0">
            <a:spAutoFit/>
          </a:bodyPr>
          <a:lstStyle/>
          <a:p>
            <a:r>
              <a:rPr lang="zh-CN" altLang="en-US" sz="2800" b="1" smtClean="0">
                <a:solidFill>
                  <a:srgbClr val="FF0000"/>
                </a:solidFill>
              </a:rPr>
              <a:t>如何优化文件的物理块分布呢？</a:t>
            </a:r>
            <a:endParaRPr lang="zh-CN" altLang="en-US" sz="2800" b="1">
              <a:solidFill>
                <a:srgbClr val="FF000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4" name="矩形 3"/>
          <p:cNvSpPr/>
          <p:nvPr/>
        </p:nvSpPr>
        <p:spPr>
          <a:xfrm>
            <a:off x="214282" y="1357298"/>
            <a:ext cx="2985113" cy="369332"/>
          </a:xfrm>
          <a:prstGeom prst="rect">
            <a:avLst/>
          </a:prstGeom>
        </p:spPr>
        <p:txBody>
          <a:bodyPr wrap="none">
            <a:spAutoFit/>
          </a:bodyPr>
          <a:lstStyle/>
          <a:p>
            <a:r>
              <a:rPr lang="en-US" dirty="0">
                <a:latin typeface="华文中宋" panose="02010600040101010101" pitchFamily="2" charset="-122"/>
                <a:ea typeface="华文中宋" panose="02010600040101010101" pitchFamily="2" charset="-122"/>
              </a:rPr>
              <a:t>7.5.2  </a:t>
            </a:r>
            <a:r>
              <a:rPr lang="zh-CN" altLang="en-US" dirty="0">
                <a:latin typeface="华文中宋" panose="02010600040101010101" pitchFamily="2" charset="-122"/>
                <a:ea typeface="华文中宋" panose="02010600040101010101" pitchFamily="2" charset="-122"/>
              </a:rPr>
              <a:t>早期的磁盘调度算法</a:t>
            </a:r>
            <a:endParaRPr lang="zh-CN" altLang="en-US" dirty="0">
              <a:latin typeface="华文中宋" panose="02010600040101010101" pitchFamily="2" charset="-122"/>
              <a:ea typeface="华文中宋" panose="02010600040101010101" pitchFamily="2" charset="-122"/>
            </a:endParaRPr>
          </a:p>
        </p:txBody>
      </p:sp>
      <p:pic>
        <p:nvPicPr>
          <p:cNvPr id="178181" name="Picture 5"/>
          <p:cNvPicPr>
            <a:picLocks noChangeAspect="1" noChangeArrowheads="1"/>
          </p:cNvPicPr>
          <p:nvPr/>
        </p:nvPicPr>
        <p:blipFill>
          <a:blip r:embed="rId1"/>
          <a:srcRect/>
          <a:stretch>
            <a:fillRect/>
          </a:stretch>
        </p:blipFill>
        <p:spPr bwMode="auto">
          <a:xfrm>
            <a:off x="642909" y="1928802"/>
            <a:ext cx="8036463" cy="4214842"/>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179202" name="Picture 2"/>
          <p:cNvPicPr>
            <a:picLocks noChangeAspect="1" noChangeArrowheads="1"/>
          </p:cNvPicPr>
          <p:nvPr/>
        </p:nvPicPr>
        <p:blipFill>
          <a:blip r:embed="rId1"/>
          <a:srcRect/>
          <a:stretch>
            <a:fillRect/>
          </a:stretch>
        </p:blipFill>
        <p:spPr bwMode="auto">
          <a:xfrm>
            <a:off x="428597" y="1500174"/>
            <a:ext cx="8286808" cy="4401242"/>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矩形 3"/>
          <p:cNvSpPr/>
          <p:nvPr/>
        </p:nvSpPr>
        <p:spPr>
          <a:xfrm>
            <a:off x="214282" y="1285860"/>
            <a:ext cx="2246128" cy="369332"/>
          </a:xfrm>
          <a:prstGeom prst="rect">
            <a:avLst/>
          </a:prstGeom>
        </p:spPr>
        <p:txBody>
          <a:bodyPr wrap="none">
            <a:spAutoFit/>
          </a:bodyPr>
          <a:lstStyle/>
          <a:p>
            <a:r>
              <a:rPr lang="en-US" dirty="0">
                <a:latin typeface="华文中宋" panose="02010600040101010101" pitchFamily="2" charset="-122"/>
                <a:ea typeface="华文中宋" panose="02010600040101010101" pitchFamily="2" charset="-122"/>
              </a:rPr>
              <a:t>§7.7  I/O</a:t>
            </a:r>
            <a:r>
              <a:rPr lang="zh-CN" altLang="en-US" dirty="0">
                <a:latin typeface="华文中宋" panose="02010600040101010101" pitchFamily="2" charset="-122"/>
                <a:ea typeface="华文中宋" panose="02010600040101010101" pitchFamily="2" charset="-122"/>
              </a:rPr>
              <a:t>进程控制</a:t>
            </a:r>
            <a:endParaRPr lang="zh-CN" altLang="en-US" dirty="0">
              <a:latin typeface="华文中宋" panose="02010600040101010101" pitchFamily="2" charset="-122"/>
              <a:ea typeface="华文中宋" panose="02010600040101010101" pitchFamily="2" charset="-122"/>
            </a:endParaRPr>
          </a:p>
        </p:txBody>
      </p:sp>
      <p:sp>
        <p:nvSpPr>
          <p:cNvPr id="180226"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80225" name="Object 1"/>
          <p:cNvGraphicFramePr>
            <a:graphicFrameLocks noChangeAspect="1"/>
          </p:cNvGraphicFramePr>
          <p:nvPr/>
        </p:nvGraphicFramePr>
        <p:xfrm>
          <a:off x="1857356" y="1857364"/>
          <a:ext cx="5488620" cy="4071966"/>
        </p:xfrm>
        <a:graphic>
          <a:graphicData uri="http://schemas.openxmlformats.org/presentationml/2006/ole">
            <mc:AlternateContent xmlns:mc="http://schemas.openxmlformats.org/markup-compatibility/2006">
              <mc:Choice xmlns:v="urn:schemas-microsoft-com:vml" Requires="v">
                <p:oleObj spid="_x0000_s180292" name="Visio" r:id="rId1" imgW="5461000" imgH="4749800" progId="Visio.Drawing.11">
                  <p:embed/>
                </p:oleObj>
              </mc:Choice>
              <mc:Fallback>
                <p:oleObj name="Visio" r:id="rId1" imgW="5461000" imgH="4749800" progId="Visio.Drawing.11">
                  <p:embed/>
                  <p:pic>
                    <p:nvPicPr>
                      <p:cNvPr id="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7356" y="1857364"/>
                        <a:ext cx="5488620" cy="40719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tags/tag1.xml><?xml version="1.0" encoding="utf-8"?>
<p:tagLst xmlns:p="http://schemas.openxmlformats.org/presentationml/2006/main">
  <p:tag name="KSO_WPP_MARK_KEY" val="5cd086ae-794c-4e25-8c2b-6a23f4ecc8e0"/>
  <p:tag name="COMMONDATA" val="eyJoZGlkIjoiMTdlMGY2ZWU1ZTdkNjY2Nzc5OTEzOTExMmU2NDk1Nz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6089</Words>
  <Application>WPS 演示</Application>
  <PresentationFormat>全屏显示(4:3)</PresentationFormat>
  <Paragraphs>562</Paragraphs>
  <Slides>46</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25</vt:i4>
      </vt:variant>
      <vt:variant>
        <vt:lpstr>幻灯片标题</vt:lpstr>
      </vt:variant>
      <vt:variant>
        <vt:i4>46</vt:i4>
      </vt:variant>
    </vt:vector>
  </HeadingPairs>
  <TitlesOfParts>
    <vt:vector size="82" baseType="lpstr">
      <vt:lpstr>Arial</vt:lpstr>
      <vt:lpstr>宋体</vt:lpstr>
      <vt:lpstr>Wingdings</vt:lpstr>
      <vt:lpstr>黑体</vt:lpstr>
      <vt:lpstr>华文中宋</vt:lpstr>
      <vt:lpstr>Times New Roman</vt:lpstr>
      <vt:lpstr>Calibri</vt:lpstr>
      <vt:lpstr>Times New Roman</vt:lpstr>
      <vt:lpstr>微软雅黑</vt:lpstr>
      <vt:lpstr>Arial Unicode MS</vt:lpstr>
      <vt:lpstr>Office 主题</vt:lpstr>
      <vt:lpstr>Visio.Drawing.11</vt:lpstr>
      <vt:lpstr>Visio.Drawing.11</vt:lpstr>
      <vt:lpstr>Visio.Drawing.15</vt:lpstr>
      <vt:lpstr>Visio.Drawing.15</vt:lpstr>
      <vt:lpstr>Visio.Drawing.15</vt:lpstr>
      <vt:lpstr>Visio.Drawing.11</vt:lpstr>
      <vt:lpstr>Visio.Drawing.11</vt:lpstr>
      <vt:lpstr>Visio.Drawing.11</vt:lpstr>
      <vt:lpstr>Visio.Drawing.11</vt:lpstr>
      <vt:lpstr>Visio.Drawing.11</vt:lpstr>
      <vt:lpstr>Visio.Drawing.11</vt:lpstr>
      <vt:lpstr>Visio.Drawing.11</vt:lpstr>
      <vt:lpstr>Visio.Drawing.11</vt:lpstr>
      <vt:lpstr>Visio.Drawing.11</vt:lpstr>
      <vt:lpstr>Equation.3</vt:lpstr>
      <vt:lpstr>Equation.3</vt:lpstr>
      <vt:lpstr>Equation.3</vt:lpstr>
      <vt:lpstr>Visio.Drawing.11</vt:lpstr>
      <vt:lpstr>Visio.Drawing.11</vt:lpstr>
      <vt:lpstr>Visio.Drawing.11</vt:lpstr>
      <vt:lpstr>Visio.Drawing.11</vt:lpstr>
      <vt:lpstr>Visio.Drawing.11</vt:lpstr>
      <vt:lpstr>Visio.Drawing.11</vt:lpstr>
      <vt:lpstr>Visio.Drawing.11</vt:lpstr>
      <vt:lpstr>Visio.Drawing.11</vt:lpstr>
      <vt:lpstr>第七章 I/O管理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操作系统教程</dc:title>
  <dc:creator>think</dc:creator>
  <cp:lastModifiedBy>WPS_1606829141</cp:lastModifiedBy>
  <cp:revision>777</cp:revision>
  <dcterms:created xsi:type="dcterms:W3CDTF">2016-08-31T08:35:00Z</dcterms:created>
  <dcterms:modified xsi:type="dcterms:W3CDTF">2023-03-02T03:06:09Z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0E81587808894F4EBA25FED4B2128A51</vt:lpwstr>
  </property>
  <property fmtid="{D5CDD505-2E9C-101B-9397-08002B2CF9AE}" pid="3" name="KSOProductBuildVer">
    <vt:lpwstr>2052-11.1.0.13703</vt:lpwstr>
  </property>
</Properties>
</file>