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8"/>
  </p:notesMasterIdLst>
  <p:sldIdLst>
    <p:sldId id="256" r:id="rId3"/>
    <p:sldId id="290" r:id="rId4"/>
    <p:sldId id="318" r:id="rId5"/>
    <p:sldId id="319" r:id="rId6"/>
    <p:sldId id="320" r:id="rId7"/>
    <p:sldId id="321" r:id="rId9"/>
    <p:sldId id="322" r:id="rId10"/>
    <p:sldId id="324" r:id="rId11"/>
    <p:sldId id="388" r:id="rId12"/>
    <p:sldId id="389" r:id="rId13"/>
    <p:sldId id="390" r:id="rId14"/>
    <p:sldId id="391" r:id="rId15"/>
    <p:sldId id="392" r:id="rId16"/>
    <p:sldId id="394" r:id="rId17"/>
    <p:sldId id="393" r:id="rId18"/>
    <p:sldId id="397" r:id="rId19"/>
    <p:sldId id="396" r:id="rId20"/>
    <p:sldId id="395" r:id="rId21"/>
    <p:sldId id="398" r:id="rId22"/>
    <p:sldId id="399" r:id="rId23"/>
    <p:sldId id="400" r:id="rId24"/>
    <p:sldId id="401" r:id="rId25"/>
    <p:sldId id="402" r:id="rId26"/>
    <p:sldId id="403" r:id="rId27"/>
    <p:sldId id="404" r:id="rId28"/>
    <p:sldId id="405" r:id="rId29"/>
    <p:sldId id="428" r:id="rId30"/>
    <p:sldId id="425" r:id="rId31"/>
    <p:sldId id="426" r:id="rId32"/>
    <p:sldId id="427" r:id="rId33"/>
    <p:sldId id="406" r:id="rId34"/>
    <p:sldId id="407" r:id="rId35"/>
    <p:sldId id="408" r:id="rId36"/>
    <p:sldId id="409" r:id="rId37"/>
    <p:sldId id="410" r:id="rId38"/>
    <p:sldId id="411" r:id="rId39"/>
    <p:sldId id="412" r:id="rId40"/>
    <p:sldId id="414" r:id="rId41"/>
    <p:sldId id="415" r:id="rId42"/>
    <p:sldId id="413" r:id="rId43"/>
    <p:sldId id="416" r:id="rId44"/>
    <p:sldId id="417" r:id="rId45"/>
    <p:sldId id="418" r:id="rId46"/>
    <p:sldId id="419" r:id="rId47"/>
    <p:sldId id="420" r:id="rId48"/>
    <p:sldId id="421" r:id="rId49"/>
    <p:sldId id="422" r:id="rId50"/>
    <p:sldId id="423" r:id="rId51"/>
    <p:sldId id="424" r:id="rId52"/>
    <p:sldId id="429" r:id="rId53"/>
    <p:sldId id="465" r:id="rId54"/>
    <p:sldId id="452" r:id="rId55"/>
    <p:sldId id="453" r:id="rId56"/>
    <p:sldId id="454" r:id="rId57"/>
    <p:sldId id="455" r:id="rId58"/>
    <p:sldId id="456" r:id="rId59"/>
    <p:sldId id="458" r:id="rId60"/>
    <p:sldId id="459" r:id="rId61"/>
    <p:sldId id="457" r:id="rId62"/>
    <p:sldId id="430" r:id="rId63"/>
    <p:sldId id="431" r:id="rId64"/>
    <p:sldId id="433" r:id="rId65"/>
    <p:sldId id="432" r:id="rId66"/>
    <p:sldId id="434" r:id="rId67"/>
    <p:sldId id="435" r:id="rId68"/>
    <p:sldId id="437" r:id="rId69"/>
    <p:sldId id="438" r:id="rId70"/>
    <p:sldId id="439" r:id="rId71"/>
    <p:sldId id="440" r:id="rId72"/>
    <p:sldId id="441" r:id="rId73"/>
    <p:sldId id="442" r:id="rId74"/>
    <p:sldId id="443" r:id="rId75"/>
    <p:sldId id="444" r:id="rId76"/>
    <p:sldId id="445" r:id="rId77"/>
    <p:sldId id="446" r:id="rId78"/>
    <p:sldId id="447" r:id="rId79"/>
    <p:sldId id="448" r:id="rId80"/>
    <p:sldId id="449" r:id="rId81"/>
    <p:sldId id="450" r:id="rId82"/>
    <p:sldId id="451" r:id="rId83"/>
    <p:sldId id="460" r:id="rId84"/>
    <p:sldId id="461" r:id="rId85"/>
    <p:sldId id="462" r:id="rId86"/>
    <p:sldId id="463" r:id="rId87"/>
    <p:sldId id="464" r:id="rId88"/>
  </p:sldIdLst>
  <p:sldSz cx="9144000" cy="6858000" type="screen4x3"/>
  <p:notesSz cx="6858000" cy="9144000"/>
  <p:custDataLst>
    <p:tags r:id="rId9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3" autoAdjust="0"/>
    <p:restoredTop sz="86085" autoAdjust="0"/>
  </p:normalViewPr>
  <p:slideViewPr>
    <p:cSldViewPr>
      <p:cViewPr varScale="1">
        <p:scale>
          <a:sx n="75" d="100"/>
          <a:sy n="75" d="100"/>
        </p:scale>
        <p:origin x="169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gs" Target="tags/tag1.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6.xml"/><Relationship Id="rId89" Type="http://schemas.openxmlformats.org/officeDocument/2006/relationships/presProps" Target="presProps.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notesMaster" Target="notesMasters/notesMaster1.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72F3D0-2070-4A1C-9BEB-D5F85B01F5C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60FE56-DC3C-4814-AE3A-D49703B9417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660FE56-DC3C-4814-AE3A-D49703B9417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8596" y="-285776"/>
            <a:ext cx="8229600" cy="1143000"/>
          </a:xfrm>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714744" y="142852"/>
            <a:ext cx="501489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pic>
        <p:nvPicPr>
          <p:cNvPr id="12290" name="Picture 2" descr="http://pic.qiantucdn.com/58pic/18/80/26/92S58PICwui_1024.jpg"/>
          <p:cNvPicPr>
            <a:picLocks noChangeAspect="1" noChangeArrowheads="1"/>
          </p:cNvPicPr>
          <p:nvPr userDrawn="1"/>
        </p:nvPicPr>
        <p:blipFill>
          <a:blip r:embed="rId12" cstate="print"/>
          <a:srcRect/>
          <a:stretch>
            <a:fillRect/>
          </a:stretch>
        </p:blipFill>
        <p:spPr bwMode="auto">
          <a:xfrm>
            <a:off x="1" y="0"/>
            <a:ext cx="3357553" cy="1428736"/>
          </a:xfrm>
          <a:prstGeom prst="rect">
            <a:avLst/>
          </a:prstGeom>
          <a:noFill/>
        </p:spPr>
      </p:pic>
      <p:sp>
        <p:nvSpPr>
          <p:cNvPr id="8" name="矩形 7"/>
          <p:cNvSpPr/>
          <p:nvPr userDrawn="1"/>
        </p:nvSpPr>
        <p:spPr>
          <a:xfrm>
            <a:off x="0" y="1142984"/>
            <a:ext cx="9144000" cy="71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000" kern="1200">
          <a:solidFill>
            <a:schemeClr val="tx1"/>
          </a:solidFill>
          <a:latin typeface="黑体" panose="02010609060101010101" pitchFamily="49" charset="-122"/>
          <a:ea typeface="黑体" panose="02010609060101010101" pitchFamily="49" charset="-122"/>
          <a:cs typeface="+mj-cs"/>
        </a:defRPr>
      </a:lvl1pPr>
    </p:titleStyle>
    <p:bodyStyle>
      <a:lvl1pPr marL="342900" indent="-342900" algn="l" defTabSz="914400" rtl="0" eaLnBrk="1" latinLnBrk="0" hangingPunct="1">
        <a:spcBef>
          <a:spcPct val="20000"/>
        </a:spcBef>
        <a:buClr>
          <a:srgbClr val="FF0000"/>
        </a:buClr>
        <a:buSzPct val="68000"/>
        <a:buFont typeface="Wingdings" panose="05000000000000000000" pitchFamily="2" charset="2"/>
        <a:buChar char="n"/>
        <a:defRPr sz="2800" b="0" kern="1200">
          <a:solidFill>
            <a:schemeClr val="tx1"/>
          </a:solidFill>
          <a:latin typeface="华文中宋" panose="02010600040101010101" pitchFamily="2" charset="-122"/>
          <a:ea typeface="华文中宋" panose="02010600040101010101" pitchFamily="2" charset="-122"/>
          <a:cs typeface="+mn-cs"/>
        </a:defRPr>
      </a:lvl1pPr>
      <a:lvl2pPr marL="742950" indent="-285750" algn="l" defTabSz="914400" rtl="0" eaLnBrk="1" latinLnBrk="0" hangingPunct="1">
        <a:spcBef>
          <a:spcPct val="20000"/>
        </a:spcBef>
        <a:buClr>
          <a:srgbClr val="FF0000"/>
        </a:buClr>
        <a:buSzPct val="68000"/>
        <a:buFont typeface="Wingdings" panose="05000000000000000000" pitchFamily="2" charset="2"/>
        <a:buChar char="Ø"/>
        <a:defRPr sz="2400" kern="1200">
          <a:solidFill>
            <a:schemeClr val="tx1"/>
          </a:solidFill>
          <a:latin typeface="华文中宋" panose="02010600040101010101" pitchFamily="2" charset="-122"/>
          <a:ea typeface="华文中宋" panose="02010600040101010101" pitchFamily="2"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3.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4.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5.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6.bin"/></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7.bin"/></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8.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75.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wmf"/><Relationship Id="rId1" Type="http://schemas.openxmlformats.org/officeDocument/2006/relationships/oleObject" Target="../embeddings/oleObject9.bin"/></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83.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oleObject" Target="../embeddings/oleObject10.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4800" dirty="0"/>
              <a:t>第四章 进程的并发和死锁</a:t>
            </a:r>
            <a:endParaRPr lang="zh-CN" altLang="en-US" sz="4800" dirty="0"/>
          </a:p>
        </p:txBody>
      </p:sp>
      <p:sp>
        <p:nvSpPr>
          <p:cNvPr id="3" name="副标题 2"/>
          <p:cNvSpPr>
            <a:spLocks noGrp="1"/>
          </p:cNvSpPr>
          <p:nvPr>
            <p:ph type="subTitle" idx="1"/>
          </p:nvPr>
        </p:nvSpPr>
        <p:spPr/>
        <p:txBody>
          <a:bodyPr/>
          <a:lstStyle/>
          <a:p>
            <a:r>
              <a:rPr lang="zh-CN" altLang="en-US" dirty="0">
                <a:solidFill>
                  <a:schemeClr val="tx1"/>
                </a:solidFill>
              </a:rPr>
              <a:t>刘晓建</a:t>
            </a:r>
            <a:endParaRPr lang="en-US" altLang="zh-CN" dirty="0">
              <a:solidFill>
                <a:schemeClr val="tx1"/>
              </a:solidFill>
            </a:endParaRPr>
          </a:p>
          <a:p>
            <a:r>
              <a:rPr lang="en-US" altLang="zh-CN" smtClean="0">
                <a:solidFill>
                  <a:schemeClr val="tx1"/>
                </a:solidFill>
              </a:rPr>
              <a:t>2022</a:t>
            </a:r>
            <a:r>
              <a:rPr lang="zh-CN" altLang="en-US" smtClean="0">
                <a:solidFill>
                  <a:schemeClr val="tx1"/>
                </a:solidFill>
              </a:rPr>
              <a:t>年</a:t>
            </a:r>
            <a:r>
              <a:rPr lang="en-US" altLang="zh-CN" smtClean="0">
                <a:solidFill>
                  <a:schemeClr val="tx1"/>
                </a:solidFill>
              </a:rPr>
              <a:t>10</a:t>
            </a:r>
            <a:r>
              <a:rPr lang="zh-CN" altLang="en-US" smtClean="0">
                <a:solidFill>
                  <a:schemeClr val="tx1"/>
                </a:solidFill>
              </a:rPr>
              <a:t>月</a:t>
            </a:r>
            <a:endParaRPr lang="zh-CN" alt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357298"/>
            <a:ext cx="8229600" cy="4714908"/>
          </a:xfrm>
          <a:ln w="28575">
            <a:solidFill>
              <a:schemeClr val="tx1"/>
            </a:solidFill>
          </a:ln>
        </p:spPr>
        <p:txBody>
          <a:bodyPr>
            <a:normAutofit/>
          </a:bodyPr>
          <a:lstStyle/>
          <a:p>
            <a:pPr>
              <a:lnSpc>
                <a:spcPct val="150000"/>
              </a:lnSpc>
              <a:buNone/>
            </a:pPr>
            <a:r>
              <a:rPr lang="zh-CN" altLang="en-US" dirty="0"/>
              <a:t>   </a:t>
            </a:r>
            <a:r>
              <a:rPr lang="zh-CN" altLang="en-US" dirty="0">
                <a:solidFill>
                  <a:srgbClr val="FF0000"/>
                </a:solidFill>
              </a:rPr>
              <a:t>本章概要</a:t>
            </a:r>
            <a:endParaRPr lang="en-US" altLang="zh-CN" sz="2600" dirty="0">
              <a:solidFill>
                <a:srgbClr val="FF0000"/>
              </a:solidFill>
            </a:endParaRPr>
          </a:p>
          <a:p>
            <a:pPr>
              <a:lnSpc>
                <a:spcPct val="150000"/>
              </a:lnSpc>
              <a:buNone/>
            </a:pPr>
            <a:r>
              <a:rPr lang="zh-CN" altLang="en-US" sz="2000" dirty="0"/>
              <a:t>     第三章介绍了进程的结构、进程的状态转换、进程的控制以及进程的调度，研究了进程与操作系统之间的关系。本章将探讨进程与进程之间的关系：</a:t>
            </a:r>
            <a:endParaRPr lang="en-US" altLang="zh-CN" sz="2000" dirty="0"/>
          </a:p>
          <a:p>
            <a:pPr>
              <a:lnSpc>
                <a:spcPct val="150000"/>
              </a:lnSpc>
            </a:pPr>
            <a:r>
              <a:rPr lang="zh-CN" altLang="en-US" sz="2000" dirty="0"/>
              <a:t>进程之间的并发控制：同步与互斥</a:t>
            </a:r>
            <a:endParaRPr lang="en-US" altLang="zh-CN" sz="2000" dirty="0"/>
          </a:p>
          <a:p>
            <a:pPr>
              <a:lnSpc>
                <a:spcPct val="150000"/>
              </a:lnSpc>
            </a:pPr>
            <a:r>
              <a:rPr lang="zh-CN" altLang="en-US" sz="2000" dirty="0"/>
              <a:t>进程之间的通信</a:t>
            </a:r>
            <a:endParaRPr lang="en-US" altLang="zh-CN" sz="2000" dirty="0"/>
          </a:p>
          <a:p>
            <a:pPr>
              <a:lnSpc>
                <a:spcPct val="150000"/>
              </a:lnSpc>
            </a:pPr>
            <a:r>
              <a:rPr lang="zh-CN" altLang="en-US" sz="2000" dirty="0"/>
              <a:t>进程死锁：由于进程之间的并发控制不当有可能导致进程死锁问题发生，如何避免、预防和检测死锁？</a:t>
            </a:r>
            <a:endParaRPr lang="en-US" altLang="zh-C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71920" y="0"/>
            <a:ext cx="5372080" cy="1143000"/>
          </a:xfrm>
        </p:spPr>
        <p:txBody>
          <a:bodyPr/>
          <a:lstStyle/>
          <a:p>
            <a:r>
              <a:rPr lang="en-US" altLang="zh-CN" dirty="0">
                <a:latin typeface="华文中宋" panose="02010600040101010101" pitchFamily="2" charset="-122"/>
                <a:ea typeface="华文中宋" panose="02010600040101010101" pitchFamily="2" charset="-122"/>
              </a:rPr>
              <a:t>4.1 </a:t>
            </a:r>
            <a:r>
              <a:rPr lang="zh-CN" altLang="en-US" dirty="0">
                <a:latin typeface="华文中宋" panose="02010600040101010101" pitchFamily="2" charset="-122"/>
                <a:ea typeface="华文中宋" panose="02010600040101010101" pitchFamily="2" charset="-122"/>
              </a:rPr>
              <a:t>并发问题</a:t>
            </a:r>
            <a:endParaRPr lang="zh-CN" altLang="en-US" dirty="0">
              <a:latin typeface="华文中宋" panose="02010600040101010101" pitchFamily="2" charset="-122"/>
              <a:ea typeface="华文中宋" panose="02010600040101010101" pitchFamily="2" charset="-122"/>
            </a:endParaRPr>
          </a:p>
        </p:txBody>
      </p:sp>
      <p:sp>
        <p:nvSpPr>
          <p:cNvPr id="4" name="矩形 3"/>
          <p:cNvSpPr/>
          <p:nvPr/>
        </p:nvSpPr>
        <p:spPr>
          <a:xfrm>
            <a:off x="428596" y="1428736"/>
            <a:ext cx="8215370"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000" dirty="0">
                <a:latin typeface="华文中宋" panose="02010600040101010101" pitchFamily="2" charset="-122"/>
                <a:ea typeface="华文中宋" panose="02010600040101010101" pitchFamily="2" charset="-122"/>
              </a:rPr>
              <a:t>      程序是指令的一个序列，通常以二进制文件的形式存在，而进程是程序的一次执行过程。程序执行通常用一个无限长的状态序列来描述。</a:t>
            </a:r>
            <a:endParaRPr lang="en-US" altLang="zh-CN" sz="2000" dirty="0">
              <a:latin typeface="华文中宋" panose="02010600040101010101" pitchFamily="2" charset="-122"/>
              <a:ea typeface="华文中宋" panose="02010600040101010101" pitchFamily="2" charset="-122"/>
            </a:endParaRPr>
          </a:p>
          <a:p>
            <a:pPr>
              <a:lnSpc>
                <a:spcPct val="150000"/>
              </a:lnSpc>
            </a:pPr>
            <a:r>
              <a:rPr lang="zh-CN" altLang="en-US" sz="2000" dirty="0">
                <a:latin typeface="华文中宋" panose="02010600040101010101" pitchFamily="2" charset="-122"/>
                <a:ea typeface="华文中宋" panose="02010600040101010101" pitchFamily="2" charset="-122"/>
              </a:rPr>
              <a:t>      如果从基于状态的观点来看待一个程序执行，那么程序的执行可以被描述成状态迁移的序列，即</a:t>
            </a:r>
            <a:r>
              <a:rPr lang="en-US" sz="2000" dirty="0">
                <a:latin typeface="华文中宋" panose="02010600040101010101" pitchFamily="2" charset="-122"/>
                <a:ea typeface="华文中宋" panose="02010600040101010101" pitchFamily="2" charset="-122"/>
              </a:rPr>
              <a:t>&lt;</a:t>
            </a:r>
            <a:r>
              <a:rPr lang="en-US" sz="2000" i="1" dirty="0">
                <a:latin typeface="华文中宋" panose="02010600040101010101" pitchFamily="2" charset="-122"/>
                <a:ea typeface="华文中宋" panose="02010600040101010101" pitchFamily="2" charset="-122"/>
              </a:rPr>
              <a:t>s</a:t>
            </a:r>
            <a:r>
              <a:rPr lang="en-US" sz="2000" baseline="-25000" dirty="0">
                <a:latin typeface="华文中宋" panose="02010600040101010101" pitchFamily="2" charset="-122"/>
                <a:ea typeface="华文中宋" panose="02010600040101010101" pitchFamily="2" charset="-122"/>
              </a:rPr>
              <a:t>0, </a:t>
            </a:r>
            <a:r>
              <a:rPr lang="en-US" sz="2000" i="1" dirty="0">
                <a:latin typeface="华文中宋" panose="02010600040101010101" pitchFamily="2" charset="-122"/>
                <a:ea typeface="华文中宋" panose="02010600040101010101" pitchFamily="2" charset="-122"/>
              </a:rPr>
              <a:t>s</a:t>
            </a:r>
            <a:r>
              <a:rPr lang="en-US" sz="2000" baseline="-25000" dirty="0">
                <a:latin typeface="华文中宋" panose="02010600040101010101" pitchFamily="2" charset="-122"/>
                <a:ea typeface="华文中宋" panose="02010600040101010101" pitchFamily="2" charset="-122"/>
              </a:rPr>
              <a:t>1, …,</a:t>
            </a:r>
            <a:r>
              <a:rPr lang="en-US" sz="2000" i="1" dirty="0">
                <a:latin typeface="华文中宋" panose="02010600040101010101" pitchFamily="2" charset="-122"/>
                <a:ea typeface="华文中宋" panose="02010600040101010101" pitchFamily="2" charset="-122"/>
              </a:rPr>
              <a:t> </a:t>
            </a:r>
            <a:r>
              <a:rPr lang="en-US" sz="2000" i="1" dirty="0" err="1">
                <a:latin typeface="华文中宋" panose="02010600040101010101" pitchFamily="2" charset="-122"/>
                <a:ea typeface="华文中宋" panose="02010600040101010101" pitchFamily="2" charset="-122"/>
              </a:rPr>
              <a:t>s</a:t>
            </a:r>
            <a:r>
              <a:rPr lang="en-US" sz="2000" i="1" baseline="-25000" dirty="0" err="1">
                <a:latin typeface="华文中宋" panose="02010600040101010101" pitchFamily="2" charset="-122"/>
                <a:ea typeface="华文中宋" panose="02010600040101010101" pitchFamily="2" charset="-122"/>
              </a:rPr>
              <a:t>i</a:t>
            </a:r>
            <a:r>
              <a:rPr lang="en-US" sz="2000" baseline="-25000" dirty="0">
                <a:latin typeface="华文中宋" panose="02010600040101010101" pitchFamily="2" charset="-122"/>
                <a:ea typeface="华文中宋" panose="02010600040101010101" pitchFamily="2" charset="-122"/>
              </a:rPr>
              <a:t>, </a:t>
            </a:r>
            <a:r>
              <a:rPr lang="en-US" sz="2000" i="1" dirty="0">
                <a:latin typeface="华文中宋" panose="02010600040101010101" pitchFamily="2" charset="-122"/>
                <a:ea typeface="华文中宋" panose="02010600040101010101" pitchFamily="2" charset="-122"/>
              </a:rPr>
              <a:t>s</a:t>
            </a:r>
            <a:r>
              <a:rPr lang="en-US" sz="2000" i="1" baseline="-25000" dirty="0">
                <a:latin typeface="华文中宋" panose="02010600040101010101" pitchFamily="2" charset="-122"/>
                <a:ea typeface="华文中宋" panose="02010600040101010101" pitchFamily="2" charset="-122"/>
              </a:rPr>
              <a:t>i+1</a:t>
            </a:r>
            <a:r>
              <a:rPr lang="en-US" sz="2000" baseline="-25000" dirty="0">
                <a:latin typeface="华文中宋" panose="02010600040101010101" pitchFamily="2" charset="-122"/>
                <a:ea typeface="华文中宋" panose="02010600040101010101" pitchFamily="2" charset="-122"/>
              </a:rPr>
              <a:t>,…</a:t>
            </a:r>
            <a:r>
              <a:rPr lang="en-US" sz="2000" dirty="0">
                <a:latin typeface="华文中宋" panose="02010600040101010101" pitchFamily="2" charset="-122"/>
                <a:ea typeface="华文中宋" panose="02010600040101010101" pitchFamily="2" charset="-122"/>
              </a:rPr>
              <a:t>&gt;</a:t>
            </a:r>
            <a:r>
              <a:rPr lang="zh-CN" altLang="en-US" sz="2000" dirty="0">
                <a:latin typeface="华文中宋" panose="02010600040101010101" pitchFamily="2" charset="-122"/>
                <a:ea typeface="华文中宋" panose="02010600040101010101" pitchFamily="2" charset="-122"/>
              </a:rPr>
              <a:t>，从</a:t>
            </a:r>
            <a:r>
              <a:rPr lang="en-US" sz="2000" i="1" dirty="0" err="1">
                <a:latin typeface="华文中宋" panose="02010600040101010101" pitchFamily="2" charset="-122"/>
                <a:ea typeface="华文中宋" panose="02010600040101010101" pitchFamily="2" charset="-122"/>
              </a:rPr>
              <a:t>s</a:t>
            </a:r>
            <a:r>
              <a:rPr lang="en-US" sz="2000" i="1" baseline="-25000" dirty="0" err="1">
                <a:latin typeface="华文中宋" panose="02010600040101010101" pitchFamily="2" charset="-122"/>
                <a:ea typeface="华文中宋" panose="02010600040101010101" pitchFamily="2" charset="-122"/>
              </a:rPr>
              <a:t>i</a:t>
            </a:r>
            <a:r>
              <a:rPr lang="en-US" sz="2000" baseline="-25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到</a:t>
            </a:r>
            <a:r>
              <a:rPr lang="en-US" sz="2000" i="1" dirty="0">
                <a:latin typeface="华文中宋" panose="02010600040101010101" pitchFamily="2" charset="-122"/>
                <a:ea typeface="华文中宋" panose="02010600040101010101" pitchFamily="2" charset="-122"/>
              </a:rPr>
              <a:t>s</a:t>
            </a:r>
            <a:r>
              <a:rPr lang="en-US" sz="2000" i="1" baseline="-25000" dirty="0">
                <a:latin typeface="华文中宋" panose="02010600040101010101" pitchFamily="2" charset="-122"/>
                <a:ea typeface="华文中宋" panose="02010600040101010101" pitchFamily="2" charset="-122"/>
              </a:rPr>
              <a:t>i+1</a:t>
            </a:r>
            <a:r>
              <a:rPr lang="zh-CN" altLang="en-US" sz="2000" dirty="0">
                <a:latin typeface="华文中宋" panose="02010600040101010101" pitchFamily="2" charset="-122"/>
                <a:ea typeface="华文中宋" panose="02010600040101010101" pitchFamily="2" charset="-122"/>
              </a:rPr>
              <a:t>的状态迁移称为一个执行步（</a:t>
            </a:r>
            <a:r>
              <a:rPr lang="en-US" sz="2000" dirty="0">
                <a:latin typeface="华文中宋" panose="02010600040101010101" pitchFamily="2" charset="-122"/>
                <a:ea typeface="华文中宋" panose="02010600040101010101" pitchFamily="2" charset="-122"/>
              </a:rPr>
              <a:t>Step</a:t>
            </a:r>
            <a:r>
              <a:rPr lang="zh-CN" altLang="en-US" sz="2000" dirty="0">
                <a:latin typeface="华文中宋" panose="02010600040101010101" pitchFamily="2" charset="-122"/>
                <a:ea typeface="华文中宋" panose="02010600040101010101" pitchFamily="2" charset="-122"/>
              </a:rPr>
              <a:t>）。</a:t>
            </a:r>
            <a:endParaRPr lang="en-US" altLang="zh-CN" sz="2000" dirty="0">
              <a:latin typeface="华文中宋" panose="02010600040101010101" pitchFamily="2" charset="-122"/>
              <a:ea typeface="华文中宋" panose="02010600040101010101" pitchFamily="2" charset="-122"/>
            </a:endParaRPr>
          </a:p>
          <a:p>
            <a:pPr>
              <a:lnSpc>
                <a:spcPct val="150000"/>
              </a:lnSpc>
            </a:pPr>
            <a:r>
              <a:rPr lang="en-US" altLang="zh-CN" sz="2000" dirty="0">
                <a:latin typeface="华文中宋" panose="02010600040101010101" pitchFamily="2" charset="-122"/>
                <a:ea typeface="华文中宋" panose="02010600040101010101" pitchFamily="2" charset="-122"/>
              </a:rPr>
              <a:t>      </a:t>
            </a:r>
            <a:r>
              <a:rPr lang="zh-CN" altLang="en-US" sz="2000" dirty="0">
                <a:latin typeface="华文中宋" panose="02010600040101010101" pitchFamily="2" charset="-122"/>
                <a:ea typeface="华文中宋" panose="02010600040101010101" pitchFamily="2" charset="-122"/>
              </a:rPr>
              <a:t>如果从基于事件的观点来看待一个程序执行，那么程序的执行可以被描述成原子操作的序列</a:t>
            </a:r>
            <a:r>
              <a:rPr lang="en-US" sz="2000" dirty="0">
                <a:latin typeface="华文中宋" panose="02010600040101010101" pitchFamily="2" charset="-122"/>
                <a:ea typeface="华文中宋" panose="02010600040101010101" pitchFamily="2" charset="-122"/>
              </a:rPr>
              <a:t>&lt;</a:t>
            </a:r>
            <a:r>
              <a:rPr lang="en-US" sz="2000" i="1" dirty="0">
                <a:latin typeface="华文中宋" panose="02010600040101010101" pitchFamily="2" charset="-122"/>
                <a:ea typeface="华文中宋" panose="02010600040101010101" pitchFamily="2" charset="-122"/>
              </a:rPr>
              <a:t>α</a:t>
            </a:r>
            <a:r>
              <a:rPr lang="en-US" sz="2000" baseline="-25000" dirty="0">
                <a:latin typeface="华文中宋" panose="02010600040101010101" pitchFamily="2" charset="-122"/>
                <a:ea typeface="华文中宋" panose="02010600040101010101" pitchFamily="2" charset="-122"/>
              </a:rPr>
              <a:t>1,</a:t>
            </a:r>
            <a:r>
              <a:rPr lang="en-US" sz="2000" i="1" dirty="0">
                <a:latin typeface="华文中宋" panose="02010600040101010101" pitchFamily="2" charset="-122"/>
                <a:ea typeface="华文中宋" panose="02010600040101010101" pitchFamily="2" charset="-122"/>
              </a:rPr>
              <a:t> α</a:t>
            </a:r>
            <a:r>
              <a:rPr lang="en-US" sz="2000" baseline="-25000" dirty="0">
                <a:latin typeface="华文中宋" panose="02010600040101010101" pitchFamily="2" charset="-122"/>
                <a:ea typeface="华文中宋" panose="02010600040101010101" pitchFamily="2" charset="-122"/>
              </a:rPr>
              <a:t>2 ,…,</a:t>
            </a:r>
            <a:r>
              <a:rPr lang="en-US" sz="2000" i="1" dirty="0">
                <a:latin typeface="华文中宋" panose="02010600040101010101" pitchFamily="2" charset="-122"/>
                <a:ea typeface="华文中宋" panose="02010600040101010101" pitchFamily="2" charset="-122"/>
              </a:rPr>
              <a:t> </a:t>
            </a:r>
            <a:r>
              <a:rPr lang="en-US" sz="2000" i="1" dirty="0" err="1">
                <a:latin typeface="华文中宋" panose="02010600040101010101" pitchFamily="2" charset="-122"/>
                <a:ea typeface="华文中宋" panose="02010600040101010101" pitchFamily="2" charset="-122"/>
              </a:rPr>
              <a:t>α</a:t>
            </a:r>
            <a:r>
              <a:rPr lang="en-US" sz="2000" i="1" baseline="-25000" dirty="0" err="1">
                <a:latin typeface="华文中宋" panose="02010600040101010101" pitchFamily="2" charset="-122"/>
                <a:ea typeface="华文中宋" panose="02010600040101010101" pitchFamily="2" charset="-122"/>
              </a:rPr>
              <a:t>i</a:t>
            </a:r>
            <a:r>
              <a:rPr lang="en-US" sz="2000" baseline="-25000" dirty="0">
                <a:latin typeface="华文中宋" panose="02010600040101010101" pitchFamily="2" charset="-122"/>
                <a:ea typeface="华文中宋" panose="02010600040101010101" pitchFamily="2" charset="-122"/>
              </a:rPr>
              <a:t>, </a:t>
            </a:r>
            <a:r>
              <a:rPr lang="en-US" sz="2000" i="1" dirty="0">
                <a:latin typeface="华文中宋" panose="02010600040101010101" pitchFamily="2" charset="-122"/>
                <a:ea typeface="华文中宋" panose="02010600040101010101" pitchFamily="2" charset="-122"/>
              </a:rPr>
              <a:t>α</a:t>
            </a:r>
            <a:r>
              <a:rPr lang="en-US" sz="2000" i="1" baseline="-25000" dirty="0">
                <a:latin typeface="华文中宋" panose="02010600040101010101" pitchFamily="2" charset="-122"/>
                <a:ea typeface="华文中宋" panose="02010600040101010101" pitchFamily="2" charset="-122"/>
              </a:rPr>
              <a:t>i+1</a:t>
            </a:r>
            <a:r>
              <a:rPr lang="en-US" sz="2000" baseline="-25000" dirty="0">
                <a:latin typeface="华文中宋" panose="02010600040101010101" pitchFamily="2" charset="-122"/>
                <a:ea typeface="华文中宋" panose="02010600040101010101" pitchFamily="2" charset="-122"/>
              </a:rPr>
              <a:t>,…</a:t>
            </a:r>
            <a:r>
              <a:rPr lang="en-US" sz="2000" dirty="0">
                <a:latin typeface="华文中宋" panose="02010600040101010101" pitchFamily="2" charset="-122"/>
                <a:ea typeface="华文中宋" panose="02010600040101010101" pitchFamily="2" charset="-122"/>
              </a:rPr>
              <a:t>&gt;</a:t>
            </a:r>
            <a:r>
              <a:rPr lang="zh-CN" altLang="en-US" sz="2000" dirty="0">
                <a:latin typeface="华文中宋" panose="02010600040101010101" pitchFamily="2" charset="-122"/>
                <a:ea typeface="华文中宋" panose="02010600040101010101" pitchFamily="2" charset="-122"/>
              </a:rPr>
              <a:t>，这两种描述方式是等价的。</a:t>
            </a:r>
            <a:endParaRPr lang="zh-CN" altLang="en-US" sz="2000" dirty="0">
              <a:latin typeface="华文中宋" panose="02010600040101010101" pitchFamily="2" charset="-122"/>
              <a:ea typeface="华文中宋" panose="02010600040101010101" pitchFamily="2" charset="-122"/>
            </a:endParaRPr>
          </a:p>
        </p:txBody>
      </p:sp>
      <p:sp>
        <p:nvSpPr>
          <p:cNvPr id="19251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92513" name="Object 1"/>
          <p:cNvGraphicFramePr>
            <a:graphicFrameLocks noChangeAspect="1"/>
          </p:cNvGraphicFramePr>
          <p:nvPr/>
        </p:nvGraphicFramePr>
        <p:xfrm>
          <a:off x="357158" y="5357826"/>
          <a:ext cx="8358246" cy="833343"/>
        </p:xfrm>
        <a:graphic>
          <a:graphicData uri="http://schemas.openxmlformats.org/presentationml/2006/ole">
            <mc:AlternateContent xmlns:mc="http://schemas.openxmlformats.org/markup-compatibility/2006">
              <mc:Choice xmlns:v="urn:schemas-microsoft-com:vml" Requires="v">
                <p:oleObj spid="_x0000_s192525" name="Visio" r:id="rId1" imgW="5003800" imgH="508000" progId="Visio.Drawing.11">
                  <p:embed/>
                </p:oleObj>
              </mc:Choice>
              <mc:Fallback>
                <p:oleObj name="Visio" r:id="rId1" imgW="5003800" imgH="5080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58" y="5357826"/>
                        <a:ext cx="8358246" cy="8333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57158" y="1357298"/>
            <a:ext cx="8358246" cy="470898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000" dirty="0">
                <a:latin typeface="华文中宋" panose="02010600040101010101" pitchFamily="2" charset="-122"/>
                <a:ea typeface="华文中宋" panose="02010600040101010101" pitchFamily="2" charset="-122"/>
              </a:rPr>
              <a:t>为了明确表示程序状态与程序执行的操作之间的关系，我们用</a:t>
            </a:r>
            <a:endParaRPr lang="zh-CN" altLang="en-US" sz="2000" dirty="0">
              <a:latin typeface="华文中宋" panose="02010600040101010101" pitchFamily="2" charset="-122"/>
              <a:ea typeface="华文中宋" panose="02010600040101010101" pitchFamily="2" charset="-122"/>
            </a:endParaRPr>
          </a:p>
          <a:p>
            <a:pPr algn="ctr">
              <a:lnSpc>
                <a:spcPct val="150000"/>
              </a:lnSpc>
            </a:pP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s </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 </a:t>
            </a:r>
            <a:r>
              <a:rPr lang="en-US" sz="2000" i="1" dirty="0" err="1">
                <a:latin typeface="华文中宋" panose="02010600040101010101" pitchFamily="2" charset="-122"/>
                <a:ea typeface="华文中宋" panose="02010600040101010101" pitchFamily="2" charset="-122"/>
              </a:rPr>
              <a:t>s</a:t>
            </a:r>
            <a:r>
              <a:rPr lang="en-US" sz="2000" i="1" baseline="-25000" dirty="0" err="1">
                <a:latin typeface="华文中宋" panose="02010600040101010101" pitchFamily="2" charset="-122"/>
                <a:ea typeface="华文中宋" panose="02010600040101010101" pitchFamily="2" charset="-122"/>
              </a:rPr>
              <a:t>i</a:t>
            </a:r>
            <a:r>
              <a:rPr lang="en-US" sz="2000" i="1" baseline="-25000" dirty="0">
                <a:latin typeface="华文中宋" panose="02010600040101010101" pitchFamily="2" charset="-122"/>
                <a:ea typeface="华文中宋" panose="02010600040101010101" pitchFamily="2" charset="-122"/>
              </a:rPr>
              <a:t> </a:t>
            </a:r>
            <a:r>
              <a:rPr lang="en-US" sz="2000" dirty="0">
                <a:latin typeface="华文中宋" panose="02010600040101010101" pitchFamily="2" charset="-122"/>
                <a:ea typeface="华文中宋" panose="02010600040101010101" pitchFamily="2" charset="-122"/>
              </a:rPr>
              <a:t>} </a:t>
            </a:r>
            <a:r>
              <a:rPr lang="en-US" sz="2000" i="1" dirty="0">
                <a:latin typeface="华文中宋" panose="02010600040101010101" pitchFamily="2" charset="-122"/>
                <a:ea typeface="华文中宋" panose="02010600040101010101" pitchFamily="2" charset="-122"/>
              </a:rPr>
              <a:t>α</a:t>
            </a:r>
            <a:r>
              <a:rPr lang="en-US" sz="2000" i="1" baseline="-25000" dirty="0">
                <a:latin typeface="华文中宋" panose="02010600040101010101" pitchFamily="2" charset="-122"/>
                <a:ea typeface="华文中宋" panose="02010600040101010101" pitchFamily="2" charset="-122"/>
              </a:rPr>
              <a:t>i+1 </a:t>
            </a:r>
            <a:r>
              <a:rPr lang="en-US" sz="2000" dirty="0">
                <a:latin typeface="华文中宋" panose="02010600040101010101" pitchFamily="2" charset="-122"/>
                <a:ea typeface="华文中宋" panose="02010600040101010101" pitchFamily="2" charset="-122"/>
              </a:rPr>
              <a:t>{ </a:t>
            </a:r>
            <a:r>
              <a:rPr lang="en-US" sz="2000" i="1" dirty="0">
                <a:latin typeface="华文中宋" panose="02010600040101010101" pitchFamily="2" charset="-122"/>
                <a:ea typeface="华文中宋" panose="02010600040101010101" pitchFamily="2" charset="-122"/>
              </a:rPr>
              <a:t>s </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 s</a:t>
            </a:r>
            <a:r>
              <a:rPr lang="en-US" sz="2000" i="1" baseline="-25000" dirty="0">
                <a:latin typeface="华文中宋" panose="02010600040101010101" pitchFamily="2" charset="-122"/>
                <a:ea typeface="华文中宋" panose="02010600040101010101" pitchFamily="2" charset="-122"/>
              </a:rPr>
              <a:t>i+1</a:t>
            </a:r>
            <a:r>
              <a:rPr lang="en-US" sz="2000" dirty="0">
                <a:latin typeface="华文中宋" panose="02010600040101010101" pitchFamily="2" charset="-122"/>
                <a:ea typeface="华文中宋" panose="02010600040101010101" pitchFamily="2" charset="-122"/>
              </a:rPr>
              <a:t>}</a:t>
            </a:r>
            <a:endParaRPr lang="en-US" sz="2000" dirty="0">
              <a:latin typeface="华文中宋" panose="02010600040101010101" pitchFamily="2" charset="-122"/>
              <a:ea typeface="华文中宋" panose="02010600040101010101" pitchFamily="2" charset="-122"/>
            </a:endParaRPr>
          </a:p>
          <a:p>
            <a:pPr>
              <a:lnSpc>
                <a:spcPct val="150000"/>
              </a:lnSpc>
            </a:pPr>
            <a:r>
              <a:rPr lang="zh-CN" altLang="en-US" sz="2000" dirty="0">
                <a:latin typeface="华文中宋" panose="02010600040101010101" pitchFamily="2" charset="-122"/>
                <a:ea typeface="华文中宋" panose="02010600040101010101" pitchFamily="2" charset="-122"/>
              </a:rPr>
              <a:t>引入这样的表示之后，上面的程序执行序列就可以表示为：</a:t>
            </a:r>
            <a:endParaRPr lang="zh-CN" altLang="en-US" sz="2000" dirty="0">
              <a:latin typeface="华文中宋" panose="02010600040101010101" pitchFamily="2" charset="-122"/>
              <a:ea typeface="华文中宋" panose="02010600040101010101" pitchFamily="2" charset="-122"/>
            </a:endParaRPr>
          </a:p>
          <a:p>
            <a:pPr algn="ctr">
              <a:lnSpc>
                <a:spcPct val="150000"/>
              </a:lnSpc>
            </a:pP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s</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 s</a:t>
            </a:r>
            <a:r>
              <a:rPr lang="en-US" sz="2000" baseline="-25000" dirty="0">
                <a:latin typeface="华文中宋" panose="02010600040101010101" pitchFamily="2" charset="-122"/>
                <a:ea typeface="华文中宋" panose="02010600040101010101" pitchFamily="2" charset="-122"/>
              </a:rPr>
              <a:t>0</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α</a:t>
            </a:r>
            <a:r>
              <a:rPr lang="en-US" sz="2000" baseline="-25000" dirty="0">
                <a:latin typeface="华文中宋" panose="02010600040101010101" pitchFamily="2" charset="-122"/>
                <a:ea typeface="华文中宋" panose="02010600040101010101" pitchFamily="2" charset="-122"/>
              </a:rPr>
              <a:t>1</a:t>
            </a:r>
            <a:r>
              <a:rPr lang="en-US" sz="2000" dirty="0">
                <a:latin typeface="华文中宋" panose="02010600040101010101" pitchFamily="2" charset="-122"/>
                <a:ea typeface="华文中宋" panose="02010600040101010101" pitchFamily="2" charset="-122"/>
              </a:rPr>
              <a:t>{ </a:t>
            </a:r>
            <a:r>
              <a:rPr lang="en-US" sz="2000" i="1" dirty="0">
                <a:latin typeface="华文中宋" panose="02010600040101010101" pitchFamily="2" charset="-122"/>
                <a:ea typeface="华文中宋" panose="02010600040101010101" pitchFamily="2" charset="-122"/>
              </a:rPr>
              <a:t>s</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 s</a:t>
            </a:r>
            <a:r>
              <a:rPr lang="en-US" sz="2000" baseline="-25000" dirty="0">
                <a:latin typeface="华文中宋" panose="02010600040101010101" pitchFamily="2" charset="-122"/>
                <a:ea typeface="华文中宋" panose="02010600040101010101" pitchFamily="2" charset="-122"/>
              </a:rPr>
              <a:t>1</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α</a:t>
            </a:r>
            <a:r>
              <a:rPr lang="en-US" sz="2000" baseline="-25000" dirty="0">
                <a:latin typeface="华文中宋" panose="02010600040101010101" pitchFamily="2" charset="-122"/>
                <a:ea typeface="华文中宋" panose="02010600040101010101" pitchFamily="2" charset="-122"/>
              </a:rPr>
              <a:t>2</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 s</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 s</a:t>
            </a:r>
            <a:r>
              <a:rPr lang="en-US" sz="2000" baseline="-25000" dirty="0">
                <a:latin typeface="华文中宋" panose="02010600040101010101" pitchFamily="2" charset="-122"/>
                <a:ea typeface="华文中宋" panose="02010600040101010101" pitchFamily="2" charset="-122"/>
              </a:rPr>
              <a:t>2</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s</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 </a:t>
            </a:r>
            <a:r>
              <a:rPr lang="en-US" sz="2000" i="1" dirty="0" err="1">
                <a:latin typeface="华文中宋" panose="02010600040101010101" pitchFamily="2" charset="-122"/>
                <a:ea typeface="华文中宋" panose="02010600040101010101" pitchFamily="2" charset="-122"/>
              </a:rPr>
              <a:t>s</a:t>
            </a:r>
            <a:r>
              <a:rPr lang="en-US" sz="2000" i="1" baseline="-25000" dirty="0" err="1">
                <a:latin typeface="华文中宋" panose="02010600040101010101" pitchFamily="2" charset="-122"/>
                <a:ea typeface="华文中宋" panose="02010600040101010101" pitchFamily="2" charset="-122"/>
              </a:rPr>
              <a:t>i</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α</a:t>
            </a:r>
            <a:r>
              <a:rPr lang="en-US" sz="2000" i="1" baseline="-25000" dirty="0">
                <a:latin typeface="华文中宋" panose="02010600040101010101" pitchFamily="2" charset="-122"/>
                <a:ea typeface="华文中宋" panose="02010600040101010101" pitchFamily="2" charset="-122"/>
              </a:rPr>
              <a:t>i+1</a:t>
            </a:r>
            <a:r>
              <a:rPr lang="en-US" sz="2000" dirty="0">
                <a:latin typeface="华文中宋" panose="02010600040101010101" pitchFamily="2" charset="-122"/>
                <a:ea typeface="华文中宋" panose="02010600040101010101" pitchFamily="2" charset="-122"/>
              </a:rPr>
              <a:t>{ </a:t>
            </a:r>
            <a:r>
              <a:rPr lang="en-US" sz="2000" i="1" dirty="0">
                <a:latin typeface="华文中宋" panose="02010600040101010101" pitchFamily="2" charset="-122"/>
                <a:ea typeface="华文中宋" panose="02010600040101010101" pitchFamily="2" charset="-122"/>
              </a:rPr>
              <a:t>s</a:t>
            </a:r>
            <a:r>
              <a:rPr lang="en-US" sz="2000" dirty="0">
                <a:latin typeface="华文中宋" panose="02010600040101010101" pitchFamily="2" charset="-122"/>
                <a:ea typeface="华文中宋" panose="02010600040101010101" pitchFamily="2" charset="-122"/>
              </a:rPr>
              <a:t>=</a:t>
            </a:r>
            <a:r>
              <a:rPr lang="en-US" sz="2000" i="1" dirty="0">
                <a:latin typeface="华文中宋" panose="02010600040101010101" pitchFamily="2" charset="-122"/>
                <a:ea typeface="华文中宋" panose="02010600040101010101" pitchFamily="2" charset="-122"/>
              </a:rPr>
              <a:t> s</a:t>
            </a:r>
            <a:r>
              <a:rPr lang="en-US" sz="2000" i="1" baseline="-25000" dirty="0">
                <a:latin typeface="华文中宋" panose="02010600040101010101" pitchFamily="2" charset="-122"/>
                <a:ea typeface="华文中宋" panose="02010600040101010101" pitchFamily="2" charset="-122"/>
              </a:rPr>
              <a:t>i+1</a:t>
            </a:r>
            <a:r>
              <a:rPr lang="en-US" sz="2000" dirty="0">
                <a:latin typeface="华文中宋" panose="02010600040101010101" pitchFamily="2" charset="-122"/>
                <a:ea typeface="华文中宋" panose="02010600040101010101" pitchFamily="2" charset="-122"/>
              </a:rPr>
              <a:t>}……</a:t>
            </a:r>
            <a:endParaRPr lang="en-US" sz="2000" dirty="0">
              <a:latin typeface="华文中宋" panose="02010600040101010101" pitchFamily="2" charset="-122"/>
              <a:ea typeface="华文中宋" panose="02010600040101010101" pitchFamily="2" charset="-122"/>
            </a:endParaRPr>
          </a:p>
          <a:p>
            <a:pPr>
              <a:lnSpc>
                <a:spcPct val="150000"/>
              </a:lnSpc>
            </a:pPr>
            <a:r>
              <a:rPr lang="zh-CN" altLang="en-US" sz="2000" dirty="0">
                <a:latin typeface="华文中宋" panose="02010600040101010101" pitchFamily="2" charset="-122"/>
                <a:ea typeface="华文中宋" panose="02010600040101010101" pitchFamily="2" charset="-122"/>
              </a:rPr>
              <a:t>     如果一个程序执行的结果仅取决于初始状态</a:t>
            </a:r>
            <a:r>
              <a:rPr lang="en-US" sz="2000" i="1" dirty="0">
                <a:latin typeface="华文中宋" panose="02010600040101010101" pitchFamily="2" charset="-122"/>
                <a:ea typeface="华文中宋" panose="02010600040101010101" pitchFamily="2" charset="-122"/>
              </a:rPr>
              <a:t>s</a:t>
            </a:r>
            <a:r>
              <a:rPr lang="en-US" sz="2000" baseline="-25000" dirty="0">
                <a:latin typeface="华文中宋" panose="02010600040101010101" pitchFamily="2" charset="-122"/>
                <a:ea typeface="华文中宋" panose="02010600040101010101" pitchFamily="2" charset="-122"/>
              </a:rPr>
              <a:t>0</a:t>
            </a:r>
            <a:r>
              <a:rPr lang="zh-CN" altLang="en-US" sz="2000" dirty="0">
                <a:latin typeface="华文中宋" panose="02010600040101010101" pitchFamily="2" charset="-122"/>
                <a:ea typeface="华文中宋" panose="02010600040101010101" pitchFamily="2" charset="-122"/>
              </a:rPr>
              <a:t>，即初始状态确定后，程序的每一个执行步就被完全确定下来，我们把这样的程序称为</a:t>
            </a:r>
            <a:r>
              <a:rPr lang="zh-CN" altLang="en-US" sz="2000" b="1" dirty="0">
                <a:latin typeface="华文中宋" panose="02010600040101010101" pitchFamily="2" charset="-122"/>
                <a:ea typeface="华文中宋" panose="02010600040101010101" pitchFamily="2" charset="-122"/>
              </a:rPr>
              <a:t>确定性程序</a:t>
            </a:r>
            <a:r>
              <a:rPr lang="zh-CN" altLang="en-US" sz="2000" dirty="0">
                <a:latin typeface="华文中宋" panose="02010600040101010101" pitchFamily="2" charset="-122"/>
                <a:ea typeface="华文中宋" panose="02010600040101010101" pitchFamily="2" charset="-122"/>
              </a:rPr>
              <a:t>。顺序程序是确定性程序。</a:t>
            </a:r>
            <a:endParaRPr lang="en-US" altLang="zh-CN" sz="2000" dirty="0">
              <a:latin typeface="华文中宋" panose="02010600040101010101" pitchFamily="2" charset="-122"/>
              <a:ea typeface="华文中宋" panose="02010600040101010101" pitchFamily="2" charset="-122"/>
            </a:endParaRPr>
          </a:p>
          <a:p>
            <a:pPr>
              <a:lnSpc>
                <a:spcPct val="150000"/>
              </a:lnSpc>
            </a:pPr>
            <a:r>
              <a:rPr lang="zh-CN" altLang="en-US" sz="2000" dirty="0">
                <a:latin typeface="华文中宋" panose="02010600040101010101" pitchFamily="2" charset="-122"/>
                <a:ea typeface="华文中宋" panose="02010600040101010101" pitchFamily="2" charset="-122"/>
              </a:rPr>
              <a:t>       我们把多个进程可以在同一时间段内同时执行的现象称为程序的</a:t>
            </a:r>
            <a:r>
              <a:rPr lang="zh-CN" altLang="en-US" sz="2000" b="1" dirty="0">
                <a:solidFill>
                  <a:srgbClr val="FF0000"/>
                </a:solidFill>
                <a:latin typeface="华文中宋" panose="02010600040101010101" pitchFamily="2" charset="-122"/>
                <a:ea typeface="华文中宋" panose="02010600040101010101" pitchFamily="2" charset="-122"/>
              </a:rPr>
              <a:t>并发性</a:t>
            </a:r>
            <a:r>
              <a:rPr lang="zh-CN" altLang="en-US" sz="2000" dirty="0">
                <a:latin typeface="华文中宋" panose="02010600040101010101" pitchFamily="2" charset="-122"/>
                <a:ea typeface="华文中宋" panose="02010600040101010101" pitchFamily="2" charset="-122"/>
              </a:rPr>
              <a:t>。对于单处理器而言，这种并发性是“伪并发”，实际上是通过进程的交叉（或交叠）（</a:t>
            </a:r>
            <a:r>
              <a:rPr lang="en-US" sz="2000" dirty="0">
                <a:latin typeface="华文中宋" panose="02010600040101010101" pitchFamily="2" charset="-122"/>
                <a:ea typeface="华文中宋" panose="02010600040101010101" pitchFamily="2" charset="-122"/>
              </a:rPr>
              <a:t>interleaved</a:t>
            </a:r>
            <a:r>
              <a:rPr lang="zh-CN" altLang="en-US" sz="2000" dirty="0">
                <a:latin typeface="华文中宋" panose="02010600040101010101" pitchFamily="2" charset="-122"/>
                <a:ea typeface="华文中宋" panose="02010600040101010101" pitchFamily="2" charset="-122"/>
              </a:rPr>
              <a:t>或</a:t>
            </a:r>
            <a:r>
              <a:rPr lang="en-US" sz="2000" dirty="0">
                <a:latin typeface="华文中宋" panose="02010600040101010101" pitchFamily="2" charset="-122"/>
                <a:ea typeface="华文中宋" panose="02010600040101010101" pitchFamily="2" charset="-122"/>
              </a:rPr>
              <a:t>overlapped</a:t>
            </a:r>
            <a:r>
              <a:rPr lang="zh-CN" altLang="en-US" sz="2000" dirty="0">
                <a:latin typeface="华文中宋" panose="02010600040101010101" pitchFamily="2" charset="-122"/>
                <a:ea typeface="华文中宋" panose="02010600040101010101" pitchFamily="2" charset="-122"/>
              </a:rPr>
              <a:t>）执行来实现的。</a:t>
            </a:r>
            <a:endParaRPr 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graphicFrame>
        <p:nvGraphicFramePr>
          <p:cNvPr id="5" name="表格 4"/>
          <p:cNvGraphicFramePr>
            <a:graphicFrameLocks noGrp="1"/>
          </p:cNvGraphicFramePr>
          <p:nvPr/>
        </p:nvGraphicFramePr>
        <p:xfrm>
          <a:off x="928662" y="3143248"/>
          <a:ext cx="7072362" cy="2500330"/>
        </p:xfrm>
        <a:graphic>
          <a:graphicData uri="http://schemas.openxmlformats.org/drawingml/2006/table">
            <a:tbl>
              <a:tblPr/>
              <a:tblGrid>
                <a:gridCol w="7072362"/>
              </a:tblGrid>
              <a:tr h="2500330">
                <a:tc>
                  <a:txBody>
                    <a:bodyPr/>
                    <a:lstStyle/>
                    <a:p>
                      <a:pPr marL="342900" lvl="0" indent="-342900" algn="just">
                        <a:lnSpc>
                          <a:spcPct val="150000"/>
                        </a:lnSpc>
                        <a:spcAft>
                          <a:spcPts val="0"/>
                        </a:spcAft>
                        <a:buFont typeface="Wingdings" panose="05000000000000000000"/>
                        <a:buChar char=""/>
                      </a:pPr>
                      <a:r>
                        <a:rPr lang="zh-CN" sz="2000" kern="100" dirty="0">
                          <a:latin typeface="华文中宋" panose="02010600040101010101" pitchFamily="2" charset="-122"/>
                          <a:ea typeface="华文中宋" panose="02010600040101010101" pitchFamily="2" charset="-122"/>
                          <a:cs typeface="Times New Roman" panose="02020603050405020304"/>
                        </a:rPr>
                        <a:t>先执行</a:t>
                      </a:r>
                      <a:r>
                        <a:rPr lang="en-US" sz="2000" kern="100" dirty="0">
                          <a:latin typeface="华文中宋" panose="02010600040101010101" pitchFamily="2" charset="-122"/>
                          <a:ea typeface="华文中宋" panose="02010600040101010101" pitchFamily="2" charset="-122"/>
                          <a:cs typeface="Times New Roman" panose="02020603050405020304"/>
                        </a:rPr>
                        <a:t>A</a:t>
                      </a:r>
                      <a:r>
                        <a:rPr lang="zh-CN" sz="2000" kern="100" dirty="0">
                          <a:latin typeface="华文中宋" panose="02010600040101010101" pitchFamily="2" charset="-122"/>
                          <a:ea typeface="华文中宋" panose="02010600040101010101" pitchFamily="2" charset="-122"/>
                          <a:cs typeface="Times New Roman" panose="02020603050405020304"/>
                        </a:rPr>
                        <a:t>，后执行</a:t>
                      </a:r>
                      <a:r>
                        <a:rPr lang="en-US" sz="2000" kern="100" dirty="0">
                          <a:latin typeface="华文中宋" panose="02010600040101010101" pitchFamily="2" charset="-122"/>
                          <a:ea typeface="华文中宋" panose="02010600040101010101" pitchFamily="2" charset="-122"/>
                          <a:cs typeface="Times New Roman" panose="02020603050405020304"/>
                        </a:rPr>
                        <a:t>B</a:t>
                      </a:r>
                      <a:r>
                        <a:rPr lang="zh-CN" sz="2000" kern="100" dirty="0">
                          <a:latin typeface="华文中宋" panose="02010600040101010101" pitchFamily="2" charset="-122"/>
                          <a:ea typeface="华文中宋" panose="02010600040101010101" pitchFamily="2" charset="-122"/>
                          <a:cs typeface="Times New Roman" panose="02020603050405020304"/>
                        </a:rPr>
                        <a:t>，即 </a:t>
                      </a:r>
                      <a:r>
                        <a:rPr lang="en-US" sz="2000" kern="100" dirty="0">
                          <a:latin typeface="华文中宋" panose="02010600040101010101" pitchFamily="2" charset="-122"/>
                          <a:ea typeface="华文中宋" panose="02010600040101010101" pitchFamily="2" charset="-122"/>
                          <a:cs typeface="Times New Roman" panose="02020603050405020304"/>
                        </a:rPr>
                        <a:t>&lt;α</a:t>
                      </a:r>
                      <a:r>
                        <a:rPr lang="en-US" sz="2000" kern="100" baseline="-25000" dirty="0">
                          <a:latin typeface="华文中宋" panose="02010600040101010101" pitchFamily="2" charset="-122"/>
                          <a:ea typeface="华文中宋" panose="02010600040101010101" pitchFamily="2" charset="-122"/>
                          <a:cs typeface="Times New Roman" panose="02020603050405020304"/>
                        </a:rPr>
                        <a:t>1</a:t>
                      </a:r>
                      <a:r>
                        <a:rPr lang="en-US" sz="2000" kern="100" dirty="0">
                          <a:latin typeface="华文中宋" panose="02010600040101010101" pitchFamily="2" charset="-122"/>
                          <a:ea typeface="华文中宋" panose="02010600040101010101" pitchFamily="2" charset="-122"/>
                          <a:cs typeface="Times New Roman" panose="02020603050405020304"/>
                        </a:rPr>
                        <a:t>, α</a:t>
                      </a:r>
                      <a:r>
                        <a:rPr lang="en-US" sz="2000" kern="100" baseline="-25000" dirty="0">
                          <a:latin typeface="华文中宋" panose="02010600040101010101" pitchFamily="2" charset="-122"/>
                          <a:ea typeface="华文中宋" panose="02010600040101010101" pitchFamily="2" charset="-122"/>
                          <a:cs typeface="Times New Roman" panose="02020603050405020304"/>
                        </a:rPr>
                        <a:t>2</a:t>
                      </a:r>
                      <a:r>
                        <a:rPr lang="en-US" sz="2000" kern="100" dirty="0">
                          <a:latin typeface="华文中宋" panose="02010600040101010101" pitchFamily="2" charset="-122"/>
                          <a:ea typeface="华文中宋" panose="02010600040101010101" pitchFamily="2" charset="-122"/>
                          <a:cs typeface="Times New Roman" panose="02020603050405020304"/>
                        </a:rPr>
                        <a:t>, α</a:t>
                      </a:r>
                      <a:r>
                        <a:rPr lang="en-US" sz="2000" kern="100" baseline="-25000" dirty="0">
                          <a:latin typeface="华文中宋" panose="02010600040101010101" pitchFamily="2" charset="-122"/>
                          <a:ea typeface="华文中宋" panose="02010600040101010101" pitchFamily="2" charset="-122"/>
                          <a:cs typeface="Times New Roman" panose="02020603050405020304"/>
                        </a:rPr>
                        <a:t>3</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1</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2</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3</a:t>
                      </a:r>
                      <a:r>
                        <a:rPr lang="en-US" sz="2000" kern="100" dirty="0">
                          <a:latin typeface="华文中宋" panose="02010600040101010101" pitchFamily="2" charset="-122"/>
                          <a:ea typeface="华文中宋" panose="02010600040101010101" pitchFamily="2" charset="-122"/>
                          <a:cs typeface="Times New Roman" panose="02020603050405020304"/>
                        </a:rPr>
                        <a:t>&gt;</a:t>
                      </a:r>
                      <a:r>
                        <a:rPr lang="zh-CN"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2000" kern="100" dirty="0">
                          <a:latin typeface="华文中宋" panose="02010600040101010101" pitchFamily="2" charset="-122"/>
                          <a:ea typeface="华文中宋" panose="02010600040101010101" pitchFamily="2" charset="-122"/>
                          <a:cs typeface="Times New Roman" panose="02020603050405020304"/>
                        </a:rPr>
                        <a:t>先执行</a:t>
                      </a:r>
                      <a:r>
                        <a:rPr lang="en-US" sz="2000" kern="100" dirty="0">
                          <a:latin typeface="华文中宋" panose="02010600040101010101" pitchFamily="2" charset="-122"/>
                          <a:ea typeface="华文中宋" panose="02010600040101010101" pitchFamily="2" charset="-122"/>
                          <a:cs typeface="Times New Roman" panose="02020603050405020304"/>
                        </a:rPr>
                        <a:t>B</a:t>
                      </a:r>
                      <a:r>
                        <a:rPr lang="zh-CN" sz="2000" kern="100" dirty="0">
                          <a:latin typeface="华文中宋" panose="02010600040101010101" pitchFamily="2" charset="-122"/>
                          <a:ea typeface="华文中宋" panose="02010600040101010101" pitchFamily="2" charset="-122"/>
                          <a:cs typeface="Times New Roman" panose="02020603050405020304"/>
                        </a:rPr>
                        <a:t>，后执行</a:t>
                      </a:r>
                      <a:r>
                        <a:rPr lang="en-US" sz="2000" kern="100" dirty="0">
                          <a:latin typeface="华文中宋" panose="02010600040101010101" pitchFamily="2" charset="-122"/>
                          <a:ea typeface="华文中宋" panose="02010600040101010101" pitchFamily="2" charset="-122"/>
                          <a:cs typeface="Times New Roman" panose="02020603050405020304"/>
                        </a:rPr>
                        <a:t>A</a:t>
                      </a:r>
                      <a:r>
                        <a:rPr lang="zh-CN" sz="2000" kern="100" dirty="0">
                          <a:latin typeface="华文中宋" panose="02010600040101010101" pitchFamily="2" charset="-122"/>
                          <a:ea typeface="华文中宋" panose="02010600040101010101" pitchFamily="2" charset="-122"/>
                          <a:cs typeface="Times New Roman" panose="02020603050405020304"/>
                        </a:rPr>
                        <a:t>，即 </a:t>
                      </a:r>
                      <a:r>
                        <a:rPr lang="en-US" sz="2000" kern="100" dirty="0">
                          <a:latin typeface="华文中宋" panose="02010600040101010101" pitchFamily="2" charset="-122"/>
                          <a:ea typeface="华文中宋" panose="02010600040101010101" pitchFamily="2" charset="-122"/>
                          <a:cs typeface="Times New Roman" panose="02020603050405020304"/>
                        </a:rPr>
                        <a:t>&lt;β</a:t>
                      </a:r>
                      <a:r>
                        <a:rPr lang="en-US" sz="2000" kern="100" baseline="-25000" dirty="0">
                          <a:latin typeface="华文中宋" panose="02010600040101010101" pitchFamily="2" charset="-122"/>
                          <a:ea typeface="华文中宋" panose="02010600040101010101" pitchFamily="2" charset="-122"/>
                          <a:cs typeface="Times New Roman" panose="02020603050405020304"/>
                        </a:rPr>
                        <a:t>1</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2</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3</a:t>
                      </a:r>
                      <a:r>
                        <a:rPr lang="en-US" sz="2000" kern="100" dirty="0">
                          <a:latin typeface="华文中宋" panose="02010600040101010101" pitchFamily="2" charset="-122"/>
                          <a:ea typeface="华文中宋" panose="02010600040101010101" pitchFamily="2" charset="-122"/>
                          <a:cs typeface="Times New Roman" panose="02020603050405020304"/>
                        </a:rPr>
                        <a:t>, α</a:t>
                      </a:r>
                      <a:r>
                        <a:rPr lang="en-US" sz="2000" kern="100" baseline="-25000" dirty="0">
                          <a:latin typeface="华文中宋" panose="02010600040101010101" pitchFamily="2" charset="-122"/>
                          <a:ea typeface="华文中宋" panose="02010600040101010101" pitchFamily="2" charset="-122"/>
                          <a:cs typeface="Times New Roman" panose="02020603050405020304"/>
                        </a:rPr>
                        <a:t>1</a:t>
                      </a:r>
                      <a:r>
                        <a:rPr lang="en-US" sz="2000" kern="100" dirty="0">
                          <a:latin typeface="华文中宋" panose="02010600040101010101" pitchFamily="2" charset="-122"/>
                          <a:ea typeface="华文中宋" panose="02010600040101010101" pitchFamily="2" charset="-122"/>
                          <a:cs typeface="Times New Roman" panose="02020603050405020304"/>
                        </a:rPr>
                        <a:t>, α</a:t>
                      </a:r>
                      <a:r>
                        <a:rPr lang="en-US" sz="2000" kern="100" baseline="-25000" dirty="0">
                          <a:latin typeface="华文中宋" panose="02010600040101010101" pitchFamily="2" charset="-122"/>
                          <a:ea typeface="华文中宋" panose="02010600040101010101" pitchFamily="2" charset="-122"/>
                          <a:cs typeface="Times New Roman" panose="02020603050405020304"/>
                        </a:rPr>
                        <a:t>2</a:t>
                      </a:r>
                      <a:r>
                        <a:rPr lang="en-US" sz="2000" kern="100" dirty="0">
                          <a:latin typeface="华文中宋" panose="02010600040101010101" pitchFamily="2" charset="-122"/>
                          <a:ea typeface="华文中宋" panose="02010600040101010101" pitchFamily="2" charset="-122"/>
                          <a:cs typeface="Times New Roman" panose="02020603050405020304"/>
                        </a:rPr>
                        <a:t>, α</a:t>
                      </a:r>
                      <a:r>
                        <a:rPr lang="en-US" sz="2000" kern="100" baseline="-25000" dirty="0">
                          <a:latin typeface="华文中宋" panose="02010600040101010101" pitchFamily="2" charset="-122"/>
                          <a:ea typeface="华文中宋" panose="02010600040101010101" pitchFamily="2" charset="-122"/>
                          <a:cs typeface="Times New Roman" panose="02020603050405020304"/>
                        </a:rPr>
                        <a:t>3</a:t>
                      </a:r>
                      <a:r>
                        <a:rPr lang="en-US" sz="2000" kern="100" dirty="0">
                          <a:latin typeface="华文中宋" panose="02010600040101010101" pitchFamily="2" charset="-122"/>
                          <a:ea typeface="华文中宋" panose="02010600040101010101" pitchFamily="2" charset="-122"/>
                          <a:cs typeface="Times New Roman" panose="02020603050405020304"/>
                        </a:rPr>
                        <a:t>&gt;</a:t>
                      </a:r>
                      <a:r>
                        <a:rPr lang="zh-CN"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2000" kern="100" dirty="0">
                          <a:latin typeface="华文中宋" panose="02010600040101010101" pitchFamily="2" charset="-122"/>
                          <a:ea typeface="华文中宋" panose="02010600040101010101" pitchFamily="2" charset="-122"/>
                          <a:cs typeface="Times New Roman" panose="02020603050405020304"/>
                        </a:rPr>
                        <a:t>交叠执行，</a:t>
                      </a:r>
                      <a:r>
                        <a:rPr lang="en-US" sz="2000" kern="100" dirty="0">
                          <a:latin typeface="华文中宋" panose="02010600040101010101" pitchFamily="2" charset="-122"/>
                          <a:ea typeface="华文中宋" panose="02010600040101010101" pitchFamily="2" charset="-122"/>
                          <a:cs typeface="Times New Roman" panose="02020603050405020304"/>
                        </a:rPr>
                        <a:t>&lt;α</a:t>
                      </a:r>
                      <a:r>
                        <a:rPr lang="en-US" sz="2000" kern="100" baseline="-25000" dirty="0">
                          <a:latin typeface="华文中宋" panose="02010600040101010101" pitchFamily="2" charset="-122"/>
                          <a:ea typeface="华文中宋" panose="02010600040101010101" pitchFamily="2" charset="-122"/>
                          <a:cs typeface="Times New Roman" panose="02020603050405020304"/>
                        </a:rPr>
                        <a:t>1</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1</a:t>
                      </a:r>
                      <a:r>
                        <a:rPr lang="en-US" sz="2000" kern="100" dirty="0">
                          <a:latin typeface="华文中宋" panose="02010600040101010101" pitchFamily="2" charset="-122"/>
                          <a:ea typeface="华文中宋" panose="02010600040101010101" pitchFamily="2" charset="-122"/>
                          <a:cs typeface="Times New Roman" panose="02020603050405020304"/>
                        </a:rPr>
                        <a:t>,α</a:t>
                      </a:r>
                      <a:r>
                        <a:rPr lang="en-US" sz="2000" kern="100" baseline="-25000" dirty="0">
                          <a:latin typeface="华文中宋" panose="02010600040101010101" pitchFamily="2" charset="-122"/>
                          <a:ea typeface="华文中宋" panose="02010600040101010101" pitchFamily="2" charset="-122"/>
                          <a:cs typeface="Times New Roman" panose="02020603050405020304"/>
                        </a:rPr>
                        <a:t>2</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2</a:t>
                      </a:r>
                      <a:r>
                        <a:rPr lang="en-US" sz="2000" kern="100" dirty="0">
                          <a:latin typeface="华文中宋" panose="02010600040101010101" pitchFamily="2" charset="-122"/>
                          <a:ea typeface="华文中宋" panose="02010600040101010101" pitchFamily="2" charset="-122"/>
                          <a:cs typeface="Times New Roman" panose="02020603050405020304"/>
                        </a:rPr>
                        <a:t>, α</a:t>
                      </a:r>
                      <a:r>
                        <a:rPr lang="en-US" sz="2000" kern="100" baseline="-25000" dirty="0">
                          <a:latin typeface="华文中宋" panose="02010600040101010101" pitchFamily="2" charset="-122"/>
                          <a:ea typeface="华文中宋" panose="02010600040101010101" pitchFamily="2" charset="-122"/>
                          <a:cs typeface="Times New Roman" panose="02020603050405020304"/>
                        </a:rPr>
                        <a:t>3</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3</a:t>
                      </a:r>
                      <a:r>
                        <a:rPr lang="en-US" sz="2000" kern="100" dirty="0">
                          <a:latin typeface="华文中宋" panose="02010600040101010101" pitchFamily="2" charset="-122"/>
                          <a:ea typeface="华文中宋" panose="02010600040101010101" pitchFamily="2" charset="-122"/>
                          <a:cs typeface="Times New Roman" panose="02020603050405020304"/>
                        </a:rPr>
                        <a:t>&gt;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2000" kern="100" dirty="0">
                          <a:latin typeface="华文中宋" panose="02010600040101010101" pitchFamily="2" charset="-122"/>
                          <a:ea typeface="华文中宋" panose="02010600040101010101" pitchFamily="2" charset="-122"/>
                          <a:cs typeface="Times New Roman" panose="02020603050405020304"/>
                        </a:rPr>
                        <a:t>交叠执行，</a:t>
                      </a:r>
                      <a:r>
                        <a:rPr lang="en-US" sz="2000" kern="100" dirty="0">
                          <a:latin typeface="华文中宋" panose="02010600040101010101" pitchFamily="2" charset="-122"/>
                          <a:ea typeface="华文中宋" panose="02010600040101010101" pitchFamily="2" charset="-122"/>
                          <a:cs typeface="Times New Roman" panose="02020603050405020304"/>
                        </a:rPr>
                        <a:t>&lt;β</a:t>
                      </a:r>
                      <a:r>
                        <a:rPr lang="en-US" sz="2000" kern="100" baseline="-25000" dirty="0">
                          <a:latin typeface="华文中宋" panose="02010600040101010101" pitchFamily="2" charset="-122"/>
                          <a:ea typeface="华文中宋" panose="02010600040101010101" pitchFamily="2" charset="-122"/>
                          <a:cs typeface="Times New Roman" panose="02020603050405020304"/>
                        </a:rPr>
                        <a:t>1</a:t>
                      </a:r>
                      <a:r>
                        <a:rPr lang="en-US" sz="2000" kern="100" dirty="0">
                          <a:latin typeface="华文中宋" panose="02010600040101010101" pitchFamily="2" charset="-122"/>
                          <a:ea typeface="华文中宋" panose="02010600040101010101" pitchFamily="2" charset="-122"/>
                          <a:cs typeface="Times New Roman" panose="02020603050405020304"/>
                        </a:rPr>
                        <a:t>, α</a:t>
                      </a:r>
                      <a:r>
                        <a:rPr lang="en-US" sz="2000" kern="100" baseline="-25000" dirty="0">
                          <a:latin typeface="华文中宋" panose="02010600040101010101" pitchFamily="2" charset="-122"/>
                          <a:ea typeface="华文中宋" panose="02010600040101010101" pitchFamily="2" charset="-122"/>
                          <a:cs typeface="Times New Roman" panose="02020603050405020304"/>
                        </a:rPr>
                        <a:t>1</a:t>
                      </a:r>
                      <a:r>
                        <a:rPr lang="en-US" sz="2000" kern="100" dirty="0">
                          <a:latin typeface="华文中宋" panose="02010600040101010101" pitchFamily="2" charset="-122"/>
                          <a:ea typeface="华文中宋" panose="02010600040101010101" pitchFamily="2" charset="-122"/>
                          <a:cs typeface="Times New Roman" panose="02020603050405020304"/>
                        </a:rPr>
                        <a:t>, α</a:t>
                      </a:r>
                      <a:r>
                        <a:rPr lang="en-US" sz="2000" kern="100" baseline="-25000" dirty="0">
                          <a:latin typeface="华文中宋" panose="02010600040101010101" pitchFamily="2" charset="-122"/>
                          <a:ea typeface="华文中宋" panose="02010600040101010101" pitchFamily="2" charset="-122"/>
                          <a:cs typeface="Times New Roman" panose="02020603050405020304"/>
                        </a:rPr>
                        <a:t>2</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2</a:t>
                      </a:r>
                      <a:r>
                        <a:rPr lang="en-US" sz="2000" kern="100" dirty="0">
                          <a:latin typeface="华文中宋" panose="02010600040101010101" pitchFamily="2" charset="-122"/>
                          <a:ea typeface="华文中宋" panose="02010600040101010101" pitchFamily="2" charset="-122"/>
                          <a:cs typeface="Times New Roman" panose="02020603050405020304"/>
                        </a:rPr>
                        <a:t>, β</a:t>
                      </a:r>
                      <a:r>
                        <a:rPr lang="en-US" sz="2000" kern="100" baseline="-25000" dirty="0">
                          <a:latin typeface="华文中宋" panose="02010600040101010101" pitchFamily="2" charset="-122"/>
                          <a:ea typeface="华文中宋" panose="02010600040101010101" pitchFamily="2" charset="-122"/>
                          <a:cs typeface="Times New Roman" panose="02020603050405020304"/>
                        </a:rPr>
                        <a:t>3</a:t>
                      </a:r>
                      <a:r>
                        <a:rPr lang="en-US" sz="2000" kern="100" dirty="0">
                          <a:latin typeface="华文中宋" panose="02010600040101010101" pitchFamily="2" charset="-122"/>
                          <a:ea typeface="华文中宋" panose="02010600040101010101" pitchFamily="2" charset="-122"/>
                          <a:cs typeface="Times New Roman" panose="02020603050405020304"/>
                        </a:rPr>
                        <a:t>,α</a:t>
                      </a:r>
                      <a:r>
                        <a:rPr lang="en-US" sz="2000" kern="100" baseline="-25000" dirty="0">
                          <a:latin typeface="华文中宋" panose="02010600040101010101" pitchFamily="2" charset="-122"/>
                          <a:ea typeface="华文中宋" panose="02010600040101010101" pitchFamily="2" charset="-122"/>
                          <a:cs typeface="Times New Roman" panose="02020603050405020304"/>
                        </a:rPr>
                        <a:t>3</a:t>
                      </a:r>
                      <a:r>
                        <a:rPr lang="en-US" sz="2000" kern="100" dirty="0">
                          <a:latin typeface="华文中宋" panose="02010600040101010101" pitchFamily="2" charset="-122"/>
                          <a:ea typeface="华文中宋" panose="02010600040101010101" pitchFamily="2" charset="-122"/>
                          <a:cs typeface="Times New Roman" panose="02020603050405020304"/>
                        </a:rPr>
                        <a:t>&gt;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spcAft>
                          <a:spcPts val="0"/>
                        </a:spcAft>
                        <a:buFont typeface="Wingdings" panose="05000000000000000000"/>
                        <a:buChar char=""/>
                      </a:pPr>
                      <a:r>
                        <a:rPr lang="en-US" sz="2000" kern="100" dirty="0">
                          <a:latin typeface="Times New Roman" panose="02020603050405020304"/>
                          <a:ea typeface="宋体" panose="02010600030101010101" pitchFamily="2"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67937" name="Rectangle 1"/>
          <p:cNvSpPr>
            <a:spLocks noChangeArrowheads="1"/>
          </p:cNvSpPr>
          <p:nvPr/>
        </p:nvSpPr>
        <p:spPr bwMode="auto">
          <a:xfrm>
            <a:off x="428596" y="1428736"/>
            <a:ext cx="8429683" cy="1892826"/>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比如，两个进程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B</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顺序执行操作</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&lt;</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α</a:t>
            </a:r>
            <a:r>
              <a:rPr kumimoji="0" lang="en-US" altLang="zh-CN" sz="2000" b="0" i="0" u="none" strike="noStrike" cap="none" normalizeH="0" baseline="-3000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α</a:t>
            </a:r>
            <a:r>
              <a:rPr kumimoji="0" lang="en-US" altLang="zh-CN" sz="2000" b="0" i="0" u="none" strike="noStrike" cap="none" normalizeH="0" baseline="-3000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2</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α</a:t>
            </a:r>
            <a:r>
              <a:rPr kumimoji="0" lang="en-US" altLang="zh-CN" sz="2000" b="0" i="0" u="none" strike="noStrike" cap="none" normalizeH="0" baseline="-3000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3</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&gt;</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B</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顺序执行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&lt;</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β</a:t>
            </a:r>
            <a:r>
              <a:rPr kumimoji="0" lang="en-US" altLang="zh-CN" sz="2000" b="0" i="0" u="none" strike="noStrike" cap="none" normalizeH="0" baseline="-3000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β</a:t>
            </a:r>
            <a:r>
              <a:rPr kumimoji="0" lang="en-US" altLang="zh-CN" sz="2000" b="0" i="0" u="none" strike="noStrike" cap="none" normalizeH="0" baseline="-3000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2</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000"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β</a:t>
            </a:r>
            <a:r>
              <a:rPr kumimoji="0" lang="en-US" altLang="zh-CN" sz="2000" b="0" i="0" u="none" strike="noStrike" cap="none" normalizeH="0" baseline="-3000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3&gt;</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。如果这两个进程在单处理器上并发执行，那么可能的交叠执行序列就有很多种：</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51520" y="1334235"/>
            <a:ext cx="8572560" cy="5124480"/>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a:lnSpc>
                <a:spcPct val="150000"/>
              </a:lnSpc>
            </a:pPr>
            <a:r>
              <a:rPr lang="zh-CN" altLang="en-US" sz="2000" dirty="0">
                <a:latin typeface="华文中宋" panose="02010600040101010101" pitchFamily="2" charset="-122"/>
                <a:ea typeface="华文中宋" panose="02010600040101010101" pitchFamily="2" charset="-122"/>
              </a:rPr>
              <a:t>       当多个进程并发执行时，会不会影响每个进程的执行结果呢？或者说，如何判断每个交叠执行的结果是正确的、一致的？我们分两种情况来考虑：</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如果并发的进程是</a:t>
            </a:r>
            <a:r>
              <a:rPr lang="zh-CN" altLang="en-US" sz="2000" b="1" dirty="0">
                <a:solidFill>
                  <a:srgbClr val="FF0000"/>
                </a:solidFill>
                <a:latin typeface="华文中宋" panose="02010600040101010101" pitchFamily="2" charset="-122"/>
                <a:ea typeface="华文中宋" panose="02010600040101010101" pitchFamily="2" charset="-122"/>
              </a:rPr>
              <a:t>无关的</a:t>
            </a:r>
            <a:r>
              <a:rPr lang="zh-CN" altLang="en-US" sz="2000" dirty="0">
                <a:latin typeface="华文中宋" panose="02010600040101010101" pitchFamily="2" charset="-122"/>
                <a:ea typeface="华文中宋" panose="02010600040101010101" pitchFamily="2" charset="-122"/>
              </a:rPr>
              <a:t>，即每个进程分别在不同的变量集合上操作，那么一个进程的执行与其它进程的执行无关，这种情况下，任意交叠执行的结果都是一致的、正确的；</a:t>
            </a:r>
            <a:endParaRPr lang="zh-CN" altLang="en-US" sz="20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如果并发的进程是</a:t>
            </a:r>
            <a:r>
              <a:rPr lang="zh-CN" altLang="en-US" sz="2000" b="1" dirty="0">
                <a:solidFill>
                  <a:srgbClr val="FF0000"/>
                </a:solidFill>
                <a:latin typeface="华文中宋" panose="02010600040101010101" pitchFamily="2" charset="-122"/>
                <a:ea typeface="华文中宋" panose="02010600040101010101" pitchFamily="2" charset="-122"/>
              </a:rPr>
              <a:t>交互的</a:t>
            </a:r>
            <a:r>
              <a:rPr lang="zh-CN" altLang="en-US" sz="2000" dirty="0">
                <a:latin typeface="华文中宋" panose="02010600040101010101" pitchFamily="2" charset="-122"/>
                <a:ea typeface="华文中宋" panose="02010600040101010101" pitchFamily="2" charset="-122"/>
              </a:rPr>
              <a:t>，即它们共享某些变量或资源，或者它们的某些操作之间具有特定的顺序关系约束，那么一个进程的执行可能影响其它进程的执行，使得某些交叠执行是一致的、正确的，而另一些交叠执行是错误的、不可接受</a:t>
            </a:r>
            <a:r>
              <a:rPr lang="zh-CN" altLang="en-US" sz="2000">
                <a:latin typeface="华文中宋" panose="02010600040101010101" pitchFamily="2" charset="-122"/>
                <a:ea typeface="华文中宋" panose="02010600040101010101" pitchFamily="2" charset="-122"/>
              </a:rPr>
              <a:t>的</a:t>
            </a:r>
            <a:r>
              <a:rPr lang="zh-CN" altLang="en-US" sz="2000" smtClean="0">
                <a:latin typeface="华文中宋" panose="02010600040101010101" pitchFamily="2" charset="-122"/>
                <a:ea typeface="华文中宋" panose="02010600040101010101" pitchFamily="2" charset="-122"/>
              </a:rPr>
              <a:t>。</a:t>
            </a:r>
            <a:endParaRPr lang="en-US" altLang="zh-CN" sz="2000" smtClean="0">
              <a:latin typeface="华文中宋" panose="02010600040101010101" pitchFamily="2" charset="-122"/>
              <a:ea typeface="华文中宋" panose="02010600040101010101" pitchFamily="2" charset="-122"/>
            </a:endParaRPr>
          </a:p>
          <a:p>
            <a:pPr>
              <a:lnSpc>
                <a:spcPct val="150000"/>
              </a:lnSpc>
            </a:pPr>
            <a:endParaRPr lang="en-US" altLang="zh-CN"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矩形 5"/>
          <p:cNvSpPr/>
          <p:nvPr/>
        </p:nvSpPr>
        <p:spPr>
          <a:xfrm>
            <a:off x="214282" y="1357298"/>
            <a:ext cx="8715436" cy="14228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000" dirty="0">
                <a:latin typeface="华文中宋" panose="02010600040101010101" pitchFamily="2" charset="-122"/>
                <a:ea typeface="华文中宋" panose="02010600040101010101" pitchFamily="2" charset="-122"/>
              </a:rPr>
              <a:t>       对于发生交互关系的并发进程，需要对并发进程的操作执行顺序加以合理的控制，否则会出现不正确的结果。我们把这一问题称为交互进程的</a:t>
            </a:r>
            <a:r>
              <a:rPr lang="zh-CN" altLang="en-US" sz="2000" b="1" dirty="0">
                <a:solidFill>
                  <a:srgbClr val="FF0000"/>
                </a:solidFill>
                <a:latin typeface="华文中宋" panose="02010600040101010101" pitchFamily="2" charset="-122"/>
                <a:ea typeface="华文中宋" panose="02010600040101010101" pitchFamily="2" charset="-122"/>
              </a:rPr>
              <a:t>并发控制问题</a:t>
            </a:r>
            <a:r>
              <a:rPr lang="zh-CN" altLang="en-US" sz="2000" dirty="0">
                <a:latin typeface="华文中宋" panose="02010600040101010101" pitchFamily="2" charset="-122"/>
                <a:ea typeface="华文中宋" panose="02010600040101010101" pitchFamily="2" charset="-122"/>
              </a:rPr>
              <a:t>。进程之间交互的方式可以分为三类：</a:t>
            </a:r>
            <a:endParaRPr lang="zh-CN" altLang="en-US" sz="2000" dirty="0">
              <a:latin typeface="华文中宋" panose="02010600040101010101" pitchFamily="2" charset="-122"/>
              <a:ea typeface="华文中宋" panose="02010600040101010101" pitchFamily="2" charset="-122"/>
            </a:endParaRPr>
          </a:p>
        </p:txBody>
      </p:sp>
      <p:graphicFrame>
        <p:nvGraphicFramePr>
          <p:cNvPr id="5" name="表格 4"/>
          <p:cNvGraphicFramePr>
            <a:graphicFrameLocks noGrp="1"/>
          </p:cNvGraphicFramePr>
          <p:nvPr/>
        </p:nvGraphicFramePr>
        <p:xfrm>
          <a:off x="357158" y="2928934"/>
          <a:ext cx="8501122" cy="3514692"/>
        </p:xfrm>
        <a:graphic>
          <a:graphicData uri="http://schemas.openxmlformats.org/drawingml/2006/table">
            <a:tbl>
              <a:tblPr/>
              <a:tblGrid>
                <a:gridCol w="2344994"/>
                <a:gridCol w="6156128"/>
              </a:tblGrid>
              <a:tr h="752162">
                <a:tc>
                  <a:txBody>
                    <a:bodyPr/>
                    <a:lstStyle/>
                    <a:p>
                      <a:pPr algn="ctr">
                        <a:lnSpc>
                          <a:spcPct val="150000"/>
                        </a:lnSpc>
                        <a:spcAft>
                          <a:spcPts val="0"/>
                        </a:spcAft>
                      </a:pPr>
                      <a:r>
                        <a:rPr lang="zh-CN" sz="1800" b="1" kern="100" dirty="0">
                          <a:latin typeface="华文中宋" panose="02010600040101010101" pitchFamily="2" charset="-122"/>
                          <a:ea typeface="华文中宋" panose="02010600040101010101" pitchFamily="2" charset="-122"/>
                          <a:cs typeface="Times New Roman" panose="02020603050405020304"/>
                        </a:rPr>
                        <a:t>交互方式</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1" kern="100" dirty="0">
                          <a:latin typeface="华文中宋" panose="02010600040101010101" pitchFamily="2" charset="-122"/>
                          <a:ea typeface="华文中宋" panose="02010600040101010101" pitchFamily="2" charset="-122"/>
                          <a:cs typeface="Times New Roman" panose="02020603050405020304"/>
                        </a:rPr>
                        <a:t>特点</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16610">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进程之间的资源竞争</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这些进程通常独立工作，不知道其它进程的存在，进程间没有任何信息交换，不会相互合作，但是它们通过使用相同的资源，从而发生相互作用。我们把进程间的这种交互关系称为</a:t>
                      </a:r>
                      <a:r>
                        <a:rPr lang="zh-CN" sz="1800" b="1" kern="100" dirty="0">
                          <a:latin typeface="华文中宋" panose="02010600040101010101" pitchFamily="2" charset="-122"/>
                          <a:ea typeface="华文中宋" panose="02010600040101010101" pitchFamily="2" charset="-122"/>
                          <a:cs typeface="Times New Roman" panose="02020603050405020304"/>
                        </a:rPr>
                        <a:t>资源竞争</a:t>
                      </a:r>
                      <a:r>
                        <a:rPr lang="zh-CN" sz="1800" kern="100" dirty="0">
                          <a:latin typeface="华文中宋" panose="02010600040101010101" pitchFamily="2" charset="-122"/>
                          <a:ea typeface="华文中宋" panose="02010600040101010101" pitchFamily="2" charset="-122"/>
                          <a:cs typeface="Times New Roman" panose="02020603050405020304"/>
                        </a:rPr>
                        <a:t>或</a:t>
                      </a:r>
                      <a:r>
                        <a:rPr lang="zh-CN" sz="1800" b="1" kern="100" dirty="0">
                          <a:latin typeface="华文中宋" panose="02010600040101010101" pitchFamily="2" charset="-122"/>
                          <a:ea typeface="华文中宋" panose="02010600040101010101" pitchFamily="2" charset="-122"/>
                          <a:cs typeface="Times New Roman" panose="02020603050405020304"/>
                        </a:rPr>
                        <a:t>竞争条件</a:t>
                      </a:r>
                      <a:r>
                        <a:rPr lang="zh-CN"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44407">
                <a:tc>
                  <a:txBody>
                    <a:bodyPr/>
                    <a:lstStyle/>
                    <a:p>
                      <a:pPr algn="just">
                        <a:spcAft>
                          <a:spcPts val="0"/>
                        </a:spcAft>
                      </a:pPr>
                      <a:r>
                        <a:rPr lang="zh-CN" sz="1800" kern="100">
                          <a:latin typeface="华文中宋" panose="02010600040101010101" pitchFamily="2" charset="-122"/>
                          <a:ea typeface="华文中宋" panose="02010600040101010101" pitchFamily="2" charset="-122"/>
                          <a:cs typeface="Times New Roman" panose="02020603050405020304"/>
                        </a:rPr>
                        <a:t>进程之间通过共享对象合作</a:t>
                      </a:r>
                      <a:endParaRPr lang="zh-CN" sz="18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这些进程并不需要确切的知道对方进程的</a:t>
                      </a:r>
                      <a:r>
                        <a:rPr lang="en-US" sz="1800" kern="100" dirty="0">
                          <a:latin typeface="华文中宋" panose="02010600040101010101" pitchFamily="2" charset="-122"/>
                          <a:ea typeface="华文中宋" panose="02010600040101010101" pitchFamily="2" charset="-122"/>
                          <a:cs typeface="Times New Roman" panose="02020603050405020304"/>
                        </a:rPr>
                        <a:t>ID</a:t>
                      </a:r>
                      <a:r>
                        <a:rPr lang="zh-CN" sz="1800" kern="100" dirty="0">
                          <a:latin typeface="华文中宋" panose="02010600040101010101" pitchFamily="2" charset="-122"/>
                          <a:ea typeface="华文中宋" panose="02010600040101010101" pitchFamily="2" charset="-122"/>
                          <a:cs typeface="Times New Roman" panose="02020603050405020304"/>
                        </a:rPr>
                        <a:t>，但它们通过共享某些对象，如</a:t>
                      </a:r>
                      <a:r>
                        <a:rPr lang="en-US" sz="1800" kern="100" dirty="0">
                          <a:latin typeface="华文中宋" panose="02010600040101010101" pitchFamily="2" charset="-122"/>
                          <a:ea typeface="华文中宋" panose="02010600040101010101" pitchFamily="2" charset="-122"/>
                          <a:cs typeface="Times New Roman" panose="02020603050405020304"/>
                        </a:rPr>
                        <a:t>I/O</a:t>
                      </a:r>
                      <a:r>
                        <a:rPr lang="zh-CN" sz="1800" kern="100" dirty="0">
                          <a:latin typeface="华文中宋" panose="02010600040101010101" pitchFamily="2" charset="-122"/>
                          <a:ea typeface="华文中宋" panose="02010600040101010101" pitchFamily="2" charset="-122"/>
                          <a:cs typeface="Times New Roman" panose="02020603050405020304"/>
                        </a:rPr>
                        <a:t>缓冲区，从而发生相互合作，比如生产者</a:t>
                      </a:r>
                      <a:r>
                        <a:rPr lang="en-US" sz="1800" kern="100" dirty="0">
                          <a:latin typeface="华文中宋" panose="02010600040101010101" pitchFamily="2" charset="-122"/>
                          <a:ea typeface="华文中宋" panose="02010600040101010101" pitchFamily="2" charset="-122"/>
                          <a:cs typeface="Times New Roman" panose="02020603050405020304"/>
                        </a:rPr>
                        <a:t>-</a:t>
                      </a:r>
                      <a:r>
                        <a:rPr lang="zh-CN" sz="1800" kern="100" dirty="0">
                          <a:latin typeface="华文中宋" panose="02010600040101010101" pitchFamily="2" charset="-122"/>
                          <a:ea typeface="华文中宋" panose="02010600040101010101" pitchFamily="2" charset="-122"/>
                          <a:cs typeface="Times New Roman" panose="02020603050405020304"/>
                        </a:rPr>
                        <a:t>消费者问题。</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44407">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进程之间相互通信</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对于点对点通信，一个进程知道另一个进程的</a:t>
                      </a:r>
                      <a:r>
                        <a:rPr lang="en-US" sz="1800" kern="100" dirty="0">
                          <a:latin typeface="华文中宋" panose="02010600040101010101" pitchFamily="2" charset="-122"/>
                          <a:ea typeface="华文中宋" panose="02010600040101010101" pitchFamily="2" charset="-122"/>
                          <a:cs typeface="Times New Roman" panose="02020603050405020304"/>
                        </a:rPr>
                        <a:t>ID</a:t>
                      </a:r>
                      <a:r>
                        <a:rPr lang="zh-CN" sz="1800" kern="100" dirty="0">
                          <a:latin typeface="华文中宋" panose="02010600040101010101" pitchFamily="2" charset="-122"/>
                          <a:ea typeface="华文中宋" panose="02010600040101010101" pitchFamily="2" charset="-122"/>
                          <a:cs typeface="Times New Roman" panose="02020603050405020304"/>
                        </a:rPr>
                        <a:t>，对于广播通信，接收进程通常知道发送进程的</a:t>
                      </a:r>
                      <a:r>
                        <a:rPr lang="en-US" sz="1800" kern="100" dirty="0">
                          <a:latin typeface="华文中宋" panose="02010600040101010101" pitchFamily="2" charset="-122"/>
                          <a:ea typeface="华文中宋" panose="02010600040101010101" pitchFamily="2" charset="-122"/>
                          <a:cs typeface="Times New Roman" panose="02020603050405020304"/>
                        </a:rPr>
                        <a:t>ID</a:t>
                      </a:r>
                      <a:r>
                        <a:rPr lang="zh-CN" sz="1800" kern="100" dirty="0">
                          <a:latin typeface="华文中宋" panose="02010600040101010101" pitchFamily="2" charset="-122"/>
                          <a:ea typeface="华文中宋" panose="02010600040101010101" pitchFamily="2" charset="-122"/>
                          <a:cs typeface="Times New Roman" panose="02020603050405020304"/>
                        </a:rPr>
                        <a:t>。它们通过消息通信从而发生相互作用。</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0"/>
            <a:ext cx="8229600" cy="1143000"/>
          </a:xfrm>
        </p:spPr>
        <p:txBody>
          <a:bodyPr/>
          <a:lstStyle/>
          <a:p>
            <a:r>
              <a:rPr lang="en-US" altLang="zh-CN" dirty="0">
                <a:latin typeface="华文中宋" panose="02010600040101010101" pitchFamily="2" charset="-122"/>
                <a:ea typeface="华文中宋" panose="02010600040101010101" pitchFamily="2" charset="-122"/>
              </a:rPr>
              <a:t>4.2 </a:t>
            </a:r>
            <a:r>
              <a:rPr lang="zh-CN" altLang="en-US" dirty="0">
                <a:latin typeface="华文中宋" panose="02010600040101010101" pitchFamily="2" charset="-122"/>
                <a:ea typeface="华文中宋" panose="02010600040101010101" pitchFamily="2" charset="-122"/>
              </a:rPr>
              <a:t>进程的互斥</a:t>
            </a:r>
            <a:endParaRPr lang="zh-CN" altLang="en-US" dirty="0">
              <a:latin typeface="华文中宋" panose="02010600040101010101" pitchFamily="2" charset="-122"/>
              <a:ea typeface="华文中宋" panose="02010600040101010101" pitchFamily="2" charset="-122"/>
            </a:endParaRPr>
          </a:p>
        </p:txBody>
      </p:sp>
      <p:sp>
        <p:nvSpPr>
          <p:cNvPr id="5" name="矩形 4"/>
          <p:cNvSpPr/>
          <p:nvPr/>
        </p:nvSpPr>
        <p:spPr>
          <a:xfrm>
            <a:off x="428596" y="1357298"/>
            <a:ext cx="8215370" cy="1015663"/>
          </a:xfrm>
          <a:prstGeom prst="rect">
            <a:avLst/>
          </a:prstGeom>
        </p:spPr>
        <p:txBody>
          <a:bodyPr wrap="square">
            <a:spAutoFit/>
          </a:bodyPr>
          <a:lstStyle/>
          <a:p>
            <a:pPr>
              <a:lnSpc>
                <a:spcPct val="150000"/>
              </a:lnSpc>
            </a:pPr>
            <a:r>
              <a:rPr lang="en-US" altLang="zh-CN" sz="2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例</a:t>
            </a:r>
            <a:r>
              <a:rPr lang="en-US" sz="2000" dirty="0">
                <a:latin typeface="华文中宋" panose="02010600040101010101" pitchFamily="2" charset="-122"/>
                <a:ea typeface="华文中宋" panose="02010600040101010101" pitchFamily="2" charset="-122"/>
              </a:rPr>
              <a:t>4-1</a:t>
            </a:r>
            <a:r>
              <a:rPr lang="en-US" altLang="zh-CN" sz="2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假设一个飞机订票系统有两个终端，在每个终端上分别运行订票业务进程</a:t>
            </a:r>
            <a:r>
              <a:rPr lang="en-US" sz="2000" dirty="0">
                <a:latin typeface="华文中宋" panose="02010600040101010101" pitchFamily="2" charset="-122"/>
                <a:ea typeface="华文中宋" panose="02010600040101010101" pitchFamily="2" charset="-122"/>
              </a:rPr>
              <a:t>P1</a:t>
            </a:r>
            <a:r>
              <a:rPr lang="zh-CN" altLang="en-US" sz="2000" dirty="0">
                <a:latin typeface="华文中宋" panose="02010600040101010101" pitchFamily="2" charset="-122"/>
                <a:ea typeface="华文中宋" panose="02010600040101010101" pitchFamily="2" charset="-122"/>
              </a:rPr>
              <a:t>和</a:t>
            </a:r>
            <a:r>
              <a:rPr lang="en-US" sz="2000" dirty="0">
                <a:latin typeface="华文中宋" panose="02010600040101010101" pitchFamily="2" charset="-122"/>
                <a:ea typeface="华文中宋" panose="02010600040101010101" pitchFamily="2" charset="-122"/>
              </a:rPr>
              <a:t>P2</a:t>
            </a:r>
            <a:r>
              <a:rPr lang="zh-CN" altLang="en-US" sz="2000" dirty="0">
                <a:latin typeface="华文中宋" panose="02010600040101010101" pitchFamily="2" charset="-122"/>
                <a:ea typeface="华文中宋" panose="02010600040101010101" pitchFamily="2" charset="-122"/>
              </a:rPr>
              <a:t>。</a:t>
            </a:r>
            <a:endParaRPr lang="zh-CN" altLang="en-US" sz="2000" dirty="0">
              <a:latin typeface="华文中宋" panose="02010600040101010101" pitchFamily="2" charset="-122"/>
              <a:ea typeface="华文中宋" panose="02010600040101010101" pitchFamily="2" charset="-122"/>
            </a:endParaRPr>
          </a:p>
        </p:txBody>
      </p:sp>
      <p:graphicFrame>
        <p:nvGraphicFramePr>
          <p:cNvPr id="6" name="表格 5"/>
          <p:cNvGraphicFramePr>
            <a:graphicFrameLocks noGrp="1"/>
          </p:cNvGraphicFramePr>
          <p:nvPr/>
        </p:nvGraphicFramePr>
        <p:xfrm>
          <a:off x="857224" y="2571744"/>
          <a:ext cx="7500990" cy="3200400"/>
        </p:xfrm>
        <a:graphic>
          <a:graphicData uri="http://schemas.openxmlformats.org/drawingml/2006/table">
            <a:tbl>
              <a:tblPr/>
              <a:tblGrid>
                <a:gridCol w="3362765"/>
                <a:gridCol w="4138225"/>
              </a:tblGrid>
              <a:tr h="0">
                <a:tc>
                  <a:txBody>
                    <a:bodyPr/>
                    <a:lstStyle/>
                    <a:p>
                      <a:pPr algn="just">
                        <a:lnSpc>
                          <a:spcPct val="150000"/>
                        </a:lnSpc>
                        <a:spcAft>
                          <a:spcPts val="0"/>
                        </a:spcAft>
                      </a:pPr>
                      <a:r>
                        <a:rPr lang="en-US" sz="2000" kern="100" dirty="0" err="1">
                          <a:latin typeface="华文中宋" panose="02010600040101010101" pitchFamily="2" charset="-122"/>
                          <a:ea typeface="华文中宋" panose="02010600040101010101" pitchFamily="2" charset="-122"/>
                          <a:cs typeface="Times New Roman" panose="02020603050405020304"/>
                        </a:rPr>
                        <a:t>cobegin</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   P (1) || P(2)</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err="1">
                          <a:latin typeface="华文中宋" panose="02010600040101010101" pitchFamily="2" charset="-122"/>
                          <a:ea typeface="华文中宋" panose="02010600040101010101" pitchFamily="2" charset="-122"/>
                          <a:cs typeface="Times New Roman" panose="02020603050405020304"/>
                        </a:rPr>
                        <a:t>coend</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process P (</a:t>
                      </a:r>
                      <a:r>
                        <a:rPr lang="en-US" sz="2000" kern="100" dirty="0" err="1">
                          <a:latin typeface="华文中宋" panose="02010600040101010101" pitchFamily="2" charset="-122"/>
                          <a:ea typeface="华文中宋" panose="02010600040101010101" pitchFamily="2" charset="-122"/>
                          <a:cs typeface="Times New Roman" panose="02020603050405020304"/>
                        </a:rPr>
                        <a:t>int</a:t>
                      </a:r>
                      <a:r>
                        <a:rPr lang="en-US" sz="2000" kern="100" dirty="0">
                          <a:latin typeface="华文中宋" panose="02010600040101010101" pitchFamily="2" charset="-122"/>
                          <a:ea typeface="华文中宋" panose="02010600040101010101" pitchFamily="2" charset="-122"/>
                          <a:cs typeface="Times New Roman" panose="02020603050405020304"/>
                        </a:rPr>
                        <a:t> </a:t>
                      </a:r>
                      <a:r>
                        <a:rPr lang="en-US" altLang="zh-CN" sz="2000" kern="100" dirty="0" err="1">
                          <a:latin typeface="华文中宋" panose="02010600040101010101" pitchFamily="2" charset="-122"/>
                          <a:ea typeface="华文中宋" panose="02010600040101010101" pitchFamily="2" charset="-122"/>
                          <a:cs typeface="Times New Roman" panose="02020603050405020304"/>
                        </a:rPr>
                        <a:t>i</a:t>
                      </a:r>
                      <a:r>
                        <a:rPr lang="en-US" sz="2000" i="1" kern="100" dirty="0">
                          <a:latin typeface="华文中宋" panose="02010600040101010101" pitchFamily="2" charset="-122"/>
                          <a:ea typeface="华文中宋" panose="02010600040101010101" pitchFamily="2" charset="-122"/>
                          <a:cs typeface="Times New Roman" panose="02020603050405020304"/>
                        </a:rPr>
                        <a:t> </a:t>
                      </a:r>
                      <a:r>
                        <a:rPr lang="en-US" sz="2000" kern="100" dirty="0">
                          <a:latin typeface="华文中宋" panose="02010600040101010101" pitchFamily="2" charset="-122"/>
                          <a:ea typeface="华文中宋" panose="02010600040101010101" pitchFamily="2" charset="-122"/>
                          <a:cs typeface="Times New Roman" panose="02020603050405020304"/>
                        </a:rPr>
                        <a:t>)   (</a:t>
                      </a:r>
                      <a:r>
                        <a:rPr lang="en-US" altLang="zh-CN" sz="2000" i="1" kern="100" dirty="0" err="1">
                          <a:latin typeface="华文中宋" panose="02010600040101010101" pitchFamily="2" charset="-122"/>
                          <a:ea typeface="华文中宋" panose="02010600040101010101" pitchFamily="2" charset="-122"/>
                          <a:cs typeface="Times New Roman" panose="02020603050405020304"/>
                        </a:rPr>
                        <a:t>i</a:t>
                      </a:r>
                      <a:r>
                        <a:rPr lang="en-US" sz="2000" kern="100" dirty="0">
                          <a:latin typeface="华文中宋" panose="02010600040101010101" pitchFamily="2" charset="-122"/>
                          <a:ea typeface="华文中宋" panose="02010600040101010101" pitchFamily="2" charset="-122"/>
                          <a:cs typeface="Times New Roman" panose="02020603050405020304"/>
                        </a:rPr>
                        <a:t>=1,2)</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err="1">
                          <a:latin typeface="华文中宋" panose="02010600040101010101" pitchFamily="2" charset="-122"/>
                          <a:ea typeface="华文中宋" panose="02010600040101010101" pitchFamily="2" charset="-122"/>
                          <a:cs typeface="Times New Roman" panose="02020603050405020304"/>
                        </a:rPr>
                        <a:t>int</a:t>
                      </a:r>
                      <a:r>
                        <a:rPr lang="en-US" sz="2000" kern="100" dirty="0">
                          <a:latin typeface="华文中宋" panose="02010600040101010101" pitchFamily="2" charset="-122"/>
                          <a:ea typeface="华文中宋" panose="02010600040101010101" pitchFamily="2" charset="-122"/>
                          <a:cs typeface="Times New Roman" panose="02020603050405020304"/>
                        </a:rPr>
                        <a:t> </a:t>
                      </a:r>
                      <a:r>
                        <a:rPr lang="en-US" sz="2000" i="1" kern="100" dirty="0">
                          <a:latin typeface="华文中宋" panose="02010600040101010101" pitchFamily="2" charset="-122"/>
                          <a:ea typeface="华文中宋" panose="02010600040101010101" pitchFamily="2" charset="-122"/>
                          <a:cs typeface="Times New Roman" panose="02020603050405020304"/>
                        </a:rPr>
                        <a:t>x</a:t>
                      </a:r>
                      <a:r>
                        <a:rPr lang="en-US"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begin </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      </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read </a:t>
                      </a:r>
                      <a:r>
                        <a:rPr lang="en-US" sz="2000" i="1" kern="100" dirty="0">
                          <a:highlight>
                            <a:srgbClr val="C0C0C0"/>
                          </a:highlight>
                          <a:latin typeface="华文中宋" panose="02010600040101010101" pitchFamily="2" charset="-122"/>
                          <a:ea typeface="华文中宋" panose="02010600040101010101" pitchFamily="2" charset="-122"/>
                          <a:cs typeface="Times New Roman" panose="02020603050405020304"/>
                        </a:rPr>
                        <a:t>record</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 to </a:t>
                      </a:r>
                      <a:r>
                        <a:rPr lang="en-US" sz="2000" i="1" kern="100" dirty="0">
                          <a:highlight>
                            <a:srgbClr val="C0C0C0"/>
                          </a:highlight>
                          <a:latin typeface="华文中宋" panose="02010600040101010101" pitchFamily="2" charset="-122"/>
                          <a:ea typeface="华文中宋" panose="02010600040101010101" pitchFamily="2" charset="-122"/>
                          <a:cs typeface="Times New Roman" panose="02020603050405020304"/>
                        </a:rPr>
                        <a:t>x</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      </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if </a:t>
                      </a:r>
                      <a:r>
                        <a:rPr lang="en-US" sz="2000" i="1" kern="100" dirty="0">
                          <a:highlight>
                            <a:srgbClr val="C0C0C0"/>
                          </a:highlight>
                          <a:latin typeface="华文中宋" panose="02010600040101010101" pitchFamily="2" charset="-122"/>
                          <a:ea typeface="华文中宋" panose="02010600040101010101" pitchFamily="2" charset="-122"/>
                          <a:cs typeface="Times New Roman" panose="02020603050405020304"/>
                        </a:rPr>
                        <a:t>x</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 ≥1 then </a:t>
                      </a:r>
                      <a:r>
                        <a:rPr lang="en-US" sz="2000" i="1" kern="100" dirty="0">
                          <a:highlight>
                            <a:srgbClr val="C0C0C0"/>
                          </a:highlight>
                          <a:latin typeface="华文中宋" panose="02010600040101010101" pitchFamily="2" charset="-122"/>
                          <a:ea typeface="华文中宋" panose="02010600040101010101" pitchFamily="2" charset="-122"/>
                          <a:cs typeface="Times New Roman" panose="02020603050405020304"/>
                        </a:rPr>
                        <a:t>x </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a:t>
                      </a:r>
                      <a:r>
                        <a:rPr lang="en-US" sz="2000" i="1" kern="100" dirty="0">
                          <a:highlight>
                            <a:srgbClr val="C0C0C0"/>
                          </a:highlight>
                          <a:latin typeface="华文中宋" panose="02010600040101010101" pitchFamily="2" charset="-122"/>
                          <a:ea typeface="华文中宋" panose="02010600040101010101" pitchFamily="2" charset="-122"/>
                          <a:cs typeface="Times New Roman" panose="02020603050405020304"/>
                        </a:rPr>
                        <a:t>x</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-1;</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      </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write </a:t>
                      </a:r>
                      <a:r>
                        <a:rPr lang="en-US" sz="2000" i="1" kern="100" dirty="0">
                          <a:highlight>
                            <a:srgbClr val="C0C0C0"/>
                          </a:highlight>
                          <a:latin typeface="华文中宋" panose="02010600040101010101" pitchFamily="2" charset="-122"/>
                          <a:ea typeface="华文中宋" panose="02010600040101010101" pitchFamily="2" charset="-122"/>
                          <a:cs typeface="Times New Roman" panose="02020603050405020304"/>
                        </a:rPr>
                        <a:t>x</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 to </a:t>
                      </a:r>
                      <a:r>
                        <a:rPr lang="en-US" sz="2000" i="1" kern="100" dirty="0">
                          <a:highlight>
                            <a:srgbClr val="C0C0C0"/>
                          </a:highlight>
                          <a:latin typeface="华文中宋" panose="02010600040101010101" pitchFamily="2" charset="-122"/>
                          <a:ea typeface="华文中宋" panose="02010600040101010101" pitchFamily="2" charset="-122"/>
                          <a:cs typeface="Times New Roman" panose="02020603050405020304"/>
                        </a:rPr>
                        <a:t>record</a:t>
                      </a:r>
                      <a:r>
                        <a:rPr lang="en-US" sz="2000" kern="100" dirty="0">
                          <a:highlight>
                            <a:srgbClr val="C0C0C0"/>
                          </a:highlight>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end</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线形标注 2 6"/>
          <p:cNvSpPr/>
          <p:nvPr/>
        </p:nvSpPr>
        <p:spPr>
          <a:xfrm>
            <a:off x="7500958" y="3286124"/>
            <a:ext cx="1428760" cy="612648"/>
          </a:xfrm>
          <a:prstGeom prst="borderCallout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latin typeface="华文中宋" panose="02010600040101010101" pitchFamily="2" charset="-122"/>
                <a:ea typeface="华文中宋" panose="02010600040101010101" pitchFamily="2" charset="-122"/>
              </a:rPr>
              <a:t>临界区</a:t>
            </a:r>
            <a:endParaRPr lang="zh-CN" altLang="en-US" b="1"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2254564" y="244180"/>
          <a:ext cx="4746328" cy="6446520"/>
        </p:xfrm>
        <a:graphic>
          <a:graphicData uri="http://schemas.openxmlformats.org/drawingml/2006/table">
            <a:tbl>
              <a:tblPr/>
              <a:tblGrid>
                <a:gridCol w="2503348"/>
                <a:gridCol w="2242980"/>
              </a:tblGrid>
              <a:tr h="223041">
                <a:tc>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序列</a:t>
                      </a:r>
                      <a:r>
                        <a:rPr lang="en-US" sz="1800" kern="100" dirty="0">
                          <a:latin typeface="Times New Roman" panose="02020603050405020304"/>
                          <a:ea typeface="宋体" panose="02010600030101010101" pitchFamily="2" charset="-122"/>
                          <a:cs typeface="Times New Roman" panose="02020603050405020304"/>
                        </a:rPr>
                        <a:t>1</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序列</a:t>
                      </a:r>
                      <a:r>
                        <a:rPr lang="en-US" sz="1800" kern="100" dirty="0">
                          <a:latin typeface="Times New Roman" panose="02020603050405020304"/>
                          <a:ea typeface="宋体" panose="02010600030101010101" pitchFamily="2" charset="-122"/>
                          <a:cs typeface="Times New Roman" panose="02020603050405020304"/>
                        </a:rPr>
                        <a:t>2</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3903209">
                <a:tc>
                  <a:txBody>
                    <a:bodyPr/>
                    <a:lstStyle/>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record</a:t>
                      </a:r>
                      <a:r>
                        <a:rPr lang="en-US" sz="1800" kern="100" dirty="0">
                          <a:latin typeface="Times New Roman" panose="02020603050405020304"/>
                          <a:ea typeface="宋体" panose="02010600030101010101" pitchFamily="2" charset="-122"/>
                          <a:cs typeface="Times New Roman" panose="02020603050405020304"/>
                        </a:rPr>
                        <a:t>=1}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P1::read </a:t>
                      </a:r>
                      <a:r>
                        <a:rPr lang="en-US" sz="1800" i="1" kern="100" dirty="0">
                          <a:latin typeface="Times New Roman" panose="02020603050405020304"/>
                          <a:ea typeface="宋体" panose="02010600030101010101" pitchFamily="2" charset="-122"/>
                          <a:cs typeface="Times New Roman" panose="02020603050405020304"/>
                        </a:rPr>
                        <a:t>record</a:t>
                      </a:r>
                      <a:r>
                        <a:rPr lang="en-US" sz="1800" kern="100" dirty="0">
                          <a:latin typeface="Times New Roman" panose="02020603050405020304"/>
                          <a:ea typeface="宋体" panose="02010600030101010101" pitchFamily="2" charset="-122"/>
                          <a:cs typeface="Times New Roman" panose="02020603050405020304"/>
                        </a:rPr>
                        <a:t> to </a:t>
                      </a:r>
                      <a:r>
                        <a:rPr lang="en-US" sz="1800" i="1" kern="100" dirty="0">
                          <a:latin typeface="Times New Roman" panose="02020603050405020304"/>
                          <a:ea typeface="宋体" panose="02010600030101010101" pitchFamily="2" charset="-122"/>
                          <a:cs typeface="Times New Roman" panose="02020603050405020304"/>
                        </a:rPr>
                        <a:t>x</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P1::write </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 to </a:t>
                      </a:r>
                      <a:r>
                        <a:rPr lang="en-US" sz="1800" i="1" kern="100" dirty="0">
                          <a:latin typeface="Times New Roman" panose="02020603050405020304"/>
                          <a:ea typeface="宋体" panose="02010600030101010101" pitchFamily="2" charset="-122"/>
                          <a:cs typeface="Times New Roman" panose="02020603050405020304"/>
                        </a:rPr>
                        <a:t>record</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record</a:t>
                      </a:r>
                      <a:r>
                        <a:rPr lang="en-US" sz="1800" kern="100" dirty="0">
                          <a:latin typeface="Times New Roman" panose="02020603050405020304"/>
                          <a:ea typeface="宋体" panose="02010600030101010101" pitchFamily="2" charset="-122"/>
                          <a:cs typeface="Times New Roman" panose="02020603050405020304"/>
                        </a:rPr>
                        <a:t>=0}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zh-CN" sz="1800" kern="100" dirty="0">
                          <a:latin typeface="Times New Roman" panose="02020603050405020304"/>
                          <a:ea typeface="宋体" panose="02010600030101010101" pitchFamily="2" charset="-122"/>
                          <a:cs typeface="Times New Roman" panose="02020603050405020304"/>
                        </a:rPr>
                        <a:t>订到票</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P2::read</a:t>
                      </a:r>
                      <a:r>
                        <a:rPr lang="en-US" sz="1800" i="1" kern="100" dirty="0">
                          <a:latin typeface="Times New Roman" panose="02020603050405020304"/>
                          <a:ea typeface="宋体" panose="02010600030101010101" pitchFamily="2" charset="-122"/>
                          <a:cs typeface="Times New Roman" panose="02020603050405020304"/>
                        </a:rPr>
                        <a:t> record</a:t>
                      </a:r>
                      <a:r>
                        <a:rPr lang="en-US" sz="1800" kern="100" dirty="0">
                          <a:latin typeface="Times New Roman" panose="02020603050405020304"/>
                          <a:ea typeface="宋体" panose="02010600030101010101" pitchFamily="2" charset="-122"/>
                          <a:cs typeface="Times New Roman" panose="02020603050405020304"/>
                        </a:rPr>
                        <a:t> to </a:t>
                      </a:r>
                      <a:r>
                        <a:rPr lang="en-US" sz="1800" i="1" kern="100" dirty="0">
                          <a:latin typeface="Times New Roman" panose="02020603050405020304"/>
                          <a:ea typeface="宋体" panose="02010600030101010101" pitchFamily="2" charset="-122"/>
                          <a:cs typeface="Times New Roman" panose="02020603050405020304"/>
                        </a:rPr>
                        <a:t>x</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P2::write </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 to </a:t>
                      </a:r>
                      <a:r>
                        <a:rPr lang="en-US" sz="1800" i="1" kern="100" dirty="0">
                          <a:latin typeface="Times New Roman" panose="02020603050405020304"/>
                          <a:ea typeface="宋体" panose="02010600030101010101" pitchFamily="2" charset="-122"/>
                          <a:cs typeface="Times New Roman" panose="02020603050405020304"/>
                        </a:rPr>
                        <a:t>record</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record</a:t>
                      </a:r>
                      <a:r>
                        <a:rPr lang="en-US" sz="1800" kern="100" dirty="0">
                          <a:latin typeface="Times New Roman" panose="02020603050405020304"/>
                          <a:ea typeface="宋体" panose="02010600030101010101" pitchFamily="2" charset="-122"/>
                          <a:cs typeface="Times New Roman" panose="02020603050405020304"/>
                        </a:rPr>
                        <a:t>=0}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a:t>
                      </a:r>
                      <a:r>
                        <a:rPr lang="zh-CN" sz="1800" kern="100" dirty="0">
                          <a:latin typeface="Times New Roman" panose="02020603050405020304"/>
                          <a:ea typeface="宋体" panose="02010600030101010101" pitchFamily="2" charset="-122"/>
                          <a:cs typeface="Times New Roman" panose="02020603050405020304"/>
                        </a:rPr>
                        <a:t>未订到票</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record</a:t>
                      </a:r>
                      <a:r>
                        <a:rPr lang="en-US" sz="1800" kern="100" dirty="0">
                          <a:latin typeface="Times New Roman" panose="02020603050405020304"/>
                          <a:ea typeface="宋体" panose="02010600030101010101" pitchFamily="2" charset="-122"/>
                          <a:cs typeface="Times New Roman" panose="02020603050405020304"/>
                        </a:rPr>
                        <a:t>=1}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 read </a:t>
                      </a:r>
                      <a:r>
                        <a:rPr lang="en-US" sz="1800" i="1" kern="100" dirty="0">
                          <a:latin typeface="Times New Roman" panose="02020603050405020304"/>
                          <a:ea typeface="宋体" panose="02010600030101010101" pitchFamily="2" charset="-122"/>
                          <a:cs typeface="Times New Roman" panose="02020603050405020304"/>
                        </a:rPr>
                        <a:t>record</a:t>
                      </a:r>
                      <a:r>
                        <a:rPr lang="en-US" sz="1800" kern="100" dirty="0">
                          <a:latin typeface="Times New Roman" panose="02020603050405020304"/>
                          <a:ea typeface="宋体" panose="02010600030101010101" pitchFamily="2" charset="-122"/>
                          <a:cs typeface="Times New Roman" panose="02020603050405020304"/>
                        </a:rPr>
                        <a:t> to </a:t>
                      </a:r>
                      <a:r>
                        <a:rPr lang="en-US" sz="1800" i="1" kern="100" dirty="0">
                          <a:latin typeface="Times New Roman" panose="02020603050405020304"/>
                          <a:ea typeface="宋体" panose="02010600030101010101" pitchFamily="2" charset="-122"/>
                          <a:cs typeface="Times New Roman" panose="02020603050405020304"/>
                        </a:rPr>
                        <a:t>x</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 read </a:t>
                      </a:r>
                      <a:r>
                        <a:rPr lang="en-US" sz="1800" i="1" kern="100" dirty="0">
                          <a:latin typeface="Times New Roman" panose="02020603050405020304"/>
                          <a:ea typeface="宋体" panose="02010600030101010101" pitchFamily="2" charset="-122"/>
                          <a:cs typeface="Times New Roman" panose="02020603050405020304"/>
                        </a:rPr>
                        <a:t>record</a:t>
                      </a:r>
                      <a:r>
                        <a:rPr lang="en-US" sz="1800" kern="100" dirty="0">
                          <a:latin typeface="Times New Roman" panose="02020603050405020304"/>
                          <a:ea typeface="宋体" panose="02010600030101010101" pitchFamily="2" charset="-122"/>
                          <a:cs typeface="Times New Roman" panose="02020603050405020304"/>
                        </a:rPr>
                        <a:t> to </a:t>
                      </a:r>
                      <a:r>
                        <a:rPr lang="en-US" sz="1800" i="1" kern="100" dirty="0">
                          <a:latin typeface="Times New Roman" panose="02020603050405020304"/>
                          <a:ea typeface="宋体" panose="02010600030101010101" pitchFamily="2" charset="-122"/>
                          <a:cs typeface="Times New Roman" panose="02020603050405020304"/>
                        </a:rPr>
                        <a:t>x</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 write </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 to </a:t>
                      </a:r>
                      <a:r>
                        <a:rPr lang="en-US" sz="1800" i="1" kern="100" dirty="0">
                          <a:latin typeface="Times New Roman" panose="02020603050405020304"/>
                          <a:ea typeface="宋体" panose="02010600030101010101" pitchFamily="2" charset="-122"/>
                          <a:cs typeface="Times New Roman" panose="02020603050405020304"/>
                        </a:rPr>
                        <a:t>record</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record</a:t>
                      </a:r>
                      <a:r>
                        <a:rPr lang="en-US" sz="1800" kern="100" dirty="0">
                          <a:latin typeface="Times New Roman" panose="02020603050405020304"/>
                          <a:ea typeface="宋体" panose="02010600030101010101" pitchFamily="2" charset="-122"/>
                          <a:cs typeface="Times New Roman" panose="02020603050405020304"/>
                        </a:rPr>
                        <a:t>=0}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zh-CN" sz="1800" kern="100" dirty="0">
                          <a:latin typeface="Times New Roman" panose="02020603050405020304"/>
                          <a:ea typeface="宋体" panose="02010600030101010101" pitchFamily="2" charset="-122"/>
                          <a:cs typeface="Times New Roman" panose="02020603050405020304"/>
                        </a:rPr>
                        <a:t>订到票</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 write </a:t>
                      </a:r>
                      <a:r>
                        <a:rPr lang="en-US" sz="1800" i="1" kern="100" dirty="0">
                          <a:latin typeface="Times New Roman" panose="02020603050405020304"/>
                          <a:ea typeface="宋体" panose="02010600030101010101" pitchFamily="2" charset="-122"/>
                          <a:cs typeface="Times New Roman" panose="02020603050405020304"/>
                        </a:rPr>
                        <a:t>x</a:t>
                      </a:r>
                      <a:r>
                        <a:rPr lang="en-US" sz="1800" kern="100" dirty="0">
                          <a:latin typeface="Times New Roman" panose="02020603050405020304"/>
                          <a:ea typeface="宋体" panose="02010600030101010101" pitchFamily="2" charset="-122"/>
                          <a:cs typeface="Times New Roman" panose="02020603050405020304"/>
                        </a:rPr>
                        <a:t> to </a:t>
                      </a:r>
                      <a:r>
                        <a:rPr lang="en-US" sz="1800" i="1" kern="100" dirty="0">
                          <a:latin typeface="Times New Roman" panose="02020603050405020304"/>
                          <a:ea typeface="宋体" panose="02010600030101010101" pitchFamily="2" charset="-122"/>
                          <a:cs typeface="Times New Roman" panose="02020603050405020304"/>
                        </a:rPr>
                        <a:t>record</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record</a:t>
                      </a:r>
                      <a:r>
                        <a:rPr lang="en-US" sz="1800" kern="100" dirty="0">
                          <a:latin typeface="Times New Roman" panose="02020603050405020304"/>
                          <a:ea typeface="宋体" panose="02010600030101010101" pitchFamily="2" charset="-122"/>
                          <a:cs typeface="Times New Roman" panose="02020603050405020304"/>
                        </a:rPr>
                        <a:t>=0}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a:t>
                      </a:r>
                      <a:r>
                        <a:rPr lang="zh-CN" sz="1800" kern="100" dirty="0">
                          <a:latin typeface="Times New Roman" panose="02020603050405020304"/>
                          <a:ea typeface="宋体" panose="02010600030101010101" pitchFamily="2" charset="-122"/>
                          <a:cs typeface="Times New Roman" panose="02020603050405020304"/>
                        </a:rPr>
                        <a:t>订到票</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642910" y="2143116"/>
          <a:ext cx="7715304" cy="3291840"/>
        </p:xfrm>
        <a:graphic>
          <a:graphicData uri="http://schemas.openxmlformats.org/drawingml/2006/table">
            <a:tbl>
              <a:tblPr/>
              <a:tblGrid>
                <a:gridCol w="7715304"/>
              </a:tblGrid>
              <a:tr h="0">
                <a:tc>
                  <a:txBody>
                    <a:bodyPr/>
                    <a:lstStyle/>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一次至多一个进程能够在临界区内；</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一个在非临界区终止的进程不能影响其它进程；</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一个进程留在临界区中的时间必须是有限的；</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不能强迫一个进程无限的等待进入它的临界区。特别的，进入临界区的任一进程不能妨碍正等待进入的其它进程；</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当没有进程在临界区中时，任何需要进入临界区的进程必须能够立即进入；</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Wingdings" panose="05000000000000000000"/>
                        <a:buChar char=""/>
                      </a:pPr>
                      <a:r>
                        <a:rPr lang="zh-CN" sz="1800" kern="100" dirty="0">
                          <a:latin typeface="华文中宋" panose="02010600040101010101" pitchFamily="2" charset="-122"/>
                          <a:ea typeface="华文中宋" panose="02010600040101010101" pitchFamily="2" charset="-122"/>
                          <a:cs typeface="Times New Roman" panose="02020603050405020304"/>
                        </a:rPr>
                        <a:t>对相关进程的执行速度和处理器的数目没有任何要求和限制。</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61121" name="Rectangle 1"/>
          <p:cNvSpPr>
            <a:spLocks noChangeArrowheads="1"/>
          </p:cNvSpPr>
          <p:nvPr/>
        </p:nvSpPr>
        <p:spPr bwMode="auto">
          <a:xfrm>
            <a:off x="357158" y="1500174"/>
            <a:ext cx="7378943" cy="40011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通过上面例子，可以总结出互斥并发控制问题应满足的条件：</a:t>
            </a:r>
            <a:endPar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4" name="矩形 3"/>
          <p:cNvSpPr/>
          <p:nvPr/>
        </p:nvSpPr>
        <p:spPr>
          <a:xfrm>
            <a:off x="571472" y="1443841"/>
            <a:ext cx="8001056" cy="424731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rPr>
              <a:t>解决互斥问题有三类方法：</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第一类是</a:t>
            </a:r>
            <a:r>
              <a:rPr lang="zh-CN" altLang="en-US" dirty="0">
                <a:solidFill>
                  <a:srgbClr val="FF0000"/>
                </a:solidFill>
                <a:latin typeface="华文中宋" panose="02010600040101010101" pitchFamily="2" charset="-122"/>
                <a:ea typeface="华文中宋" panose="02010600040101010101" pitchFamily="2" charset="-122"/>
              </a:rPr>
              <a:t>软件方法</a:t>
            </a:r>
            <a:r>
              <a:rPr lang="zh-CN" altLang="en-US" dirty="0">
                <a:latin typeface="华文中宋" panose="02010600040101010101" pitchFamily="2" charset="-122"/>
                <a:ea typeface="华文中宋" panose="02010600040101010101" pitchFamily="2" charset="-122"/>
              </a:rPr>
              <a:t>，即不需要程序设计语言或操作系统提供任何支持来实施互斥，完全由并发执行的进程通过相互合作来实施互斥。这类方法会增加开销，并存在缺陷，或者说无法真正实现进程的互斥。但是，通过对这些方法的分析，可以更好的理解并发控制的复杂性；</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第二类方法是通过</a:t>
            </a:r>
            <a:r>
              <a:rPr lang="zh-CN" altLang="en-US" dirty="0">
                <a:solidFill>
                  <a:srgbClr val="FF0000"/>
                </a:solidFill>
                <a:latin typeface="华文中宋" panose="02010600040101010101" pitchFamily="2" charset="-122"/>
                <a:ea typeface="华文中宋" panose="02010600040101010101" pitchFamily="2" charset="-122"/>
              </a:rPr>
              <a:t>硬件</a:t>
            </a:r>
            <a:r>
              <a:rPr lang="zh-CN" altLang="en-US" dirty="0">
                <a:latin typeface="华文中宋" panose="02010600040101010101" pitchFamily="2" charset="-122"/>
                <a:ea typeface="华文中宋" panose="02010600040101010101" pitchFamily="2" charset="-122"/>
              </a:rPr>
              <a:t>的支持来实现互斥，涉及到中断禁用、专用机器指令等。该方法的优点是开销小，但是由于其依赖于硬件，因此抽象层次较低，通用性较差；</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 第三类方法是在</a:t>
            </a:r>
            <a:r>
              <a:rPr lang="zh-CN" altLang="en-US" dirty="0">
                <a:solidFill>
                  <a:srgbClr val="FF0000"/>
                </a:solidFill>
                <a:latin typeface="华文中宋" panose="02010600040101010101" pitchFamily="2" charset="-122"/>
                <a:ea typeface="华文中宋" panose="02010600040101010101" pitchFamily="2" charset="-122"/>
              </a:rPr>
              <a:t>操作系统或程序设计语言层次，提供相应的支持</a:t>
            </a:r>
            <a:r>
              <a:rPr lang="zh-CN" altLang="en-US" dirty="0">
                <a:latin typeface="华文中宋" panose="02010600040101010101" pitchFamily="2" charset="-122"/>
                <a:ea typeface="华文中宋" panose="02010600040101010101" pitchFamily="2" charset="-122"/>
              </a:rPr>
              <a:t>。这是最常用的实现互斥的方法。下面我们依次介绍这些方法，重点是第三类方法。</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0" y="1928802"/>
          <a:ext cx="9144032" cy="2468880"/>
        </p:xfrm>
        <a:graphic>
          <a:graphicData uri="http://schemas.openxmlformats.org/drawingml/2006/table">
            <a:tbl>
              <a:tblPr/>
              <a:tblGrid>
                <a:gridCol w="4618726"/>
                <a:gridCol w="4525306"/>
              </a:tblGrid>
              <a:tr h="0">
                <a:tc>
                  <a:txBody>
                    <a:bodyPr/>
                    <a:lstStyle/>
                    <a:p>
                      <a:pPr algn="ctr">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while(turn !=0)  skip;</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/*critical section*/</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turn:=1;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while(turn !=1)  skip;</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/*critical section*/</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turn:=0;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
        <p:nvSpPr>
          <p:cNvPr id="6" name="TextBox 5"/>
          <p:cNvSpPr txBox="1"/>
          <p:nvPr/>
        </p:nvSpPr>
        <p:spPr>
          <a:xfrm>
            <a:off x="4143372" y="1357298"/>
            <a:ext cx="788999" cy="369332"/>
          </a:xfrm>
          <a:prstGeom prst="rect">
            <a:avLst/>
          </a:prstGeom>
          <a:noFill/>
        </p:spPr>
        <p:txBody>
          <a:bodyPr wrap="none" rtlCol="0">
            <a:spAutoFit/>
          </a:bodyPr>
          <a:lstStyle/>
          <a:p>
            <a:r>
              <a:rPr lang="zh-CN" altLang="en-US" dirty="0">
                <a:latin typeface="华文中宋" panose="02010600040101010101" pitchFamily="2" charset="-122"/>
                <a:ea typeface="华文中宋" panose="02010600040101010101" pitchFamily="2" charset="-122"/>
              </a:rPr>
              <a:t>算法</a:t>
            </a:r>
            <a:r>
              <a:rPr lang="en-US" altLang="zh-CN" dirty="0">
                <a:latin typeface="华文中宋" panose="02010600040101010101" pitchFamily="2" charset="-122"/>
                <a:ea typeface="华文中宋" panose="02010600040101010101" pitchFamily="2" charset="-122"/>
              </a:rPr>
              <a:t>1</a:t>
            </a:r>
            <a:endParaRPr lang="zh-CN" altLang="en-US" dirty="0">
              <a:latin typeface="华文中宋" panose="02010600040101010101" pitchFamily="2" charset="-122"/>
              <a:ea typeface="华文中宋" panose="02010600040101010101" pitchFamily="2" charset="-122"/>
            </a:endParaRPr>
          </a:p>
        </p:txBody>
      </p:sp>
      <p:sp>
        <p:nvSpPr>
          <p:cNvPr id="5" name="TextBox 4"/>
          <p:cNvSpPr txBox="1"/>
          <p:nvPr/>
        </p:nvSpPr>
        <p:spPr>
          <a:xfrm>
            <a:off x="500034" y="4714884"/>
            <a:ext cx="7869462" cy="175432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算法</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存在的问题是：</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一个进程依赖于另一个进程对</a:t>
            </a:r>
            <a:r>
              <a:rPr lang="en-US" altLang="zh-CN" dirty="0">
                <a:latin typeface="华文中宋" panose="02010600040101010101" pitchFamily="2" charset="-122"/>
                <a:ea typeface="华文中宋" panose="02010600040101010101" pitchFamily="2" charset="-122"/>
              </a:rPr>
              <a:t>turn</a:t>
            </a:r>
            <a:r>
              <a:rPr lang="zh-CN" altLang="en-US" dirty="0">
                <a:latin typeface="华文中宋" panose="02010600040101010101" pitchFamily="2" charset="-122"/>
                <a:ea typeface="华文中宋" panose="02010600040101010101" pitchFamily="2" charset="-122"/>
              </a:rPr>
              <a:t>变量的设置，因此</a:t>
            </a:r>
            <a:r>
              <a:rPr lang="en-US" altLang="zh-CN" dirty="0">
                <a:latin typeface="华文中宋" panose="02010600040101010101" pitchFamily="2" charset="-122"/>
                <a:ea typeface="华文中宋" panose="02010600040101010101" pitchFamily="2" charset="-122"/>
              </a:rPr>
              <a:t>P0</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P1</a:t>
            </a:r>
            <a:r>
              <a:rPr lang="zh-CN" altLang="en-US" dirty="0">
                <a:latin typeface="华文中宋" panose="02010600040101010101" pitchFamily="2" charset="-122"/>
                <a:ea typeface="华文中宋" panose="02010600040101010101" pitchFamily="2" charset="-122"/>
              </a:rPr>
              <a:t>之间产生了</a:t>
            </a:r>
            <a:endParaRPr lang="en-US" altLang="zh-CN" dirty="0">
              <a:latin typeface="华文中宋" panose="02010600040101010101" pitchFamily="2" charset="-122"/>
              <a:ea typeface="华文中宋" panose="02010600040101010101" pitchFamily="2" charset="-122"/>
            </a:endParaRPr>
          </a:p>
          <a:p>
            <a:pPr>
              <a:lnSpc>
                <a:spcPct val="150000"/>
              </a:lnSpc>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交替执行，即要求</a:t>
            </a:r>
            <a:r>
              <a:rPr lang="en-US" altLang="zh-CN" dirty="0">
                <a:latin typeface="华文中宋" panose="02010600040101010101" pitchFamily="2" charset="-122"/>
                <a:ea typeface="华文中宋" panose="02010600040101010101" pitchFamily="2" charset="-122"/>
              </a:rPr>
              <a:t>(P0;P1)*</a:t>
            </a:r>
            <a:r>
              <a:rPr lang="zh-CN" altLang="en-US" dirty="0">
                <a:latin typeface="华文中宋" panose="02010600040101010101" pitchFamily="2" charset="-122"/>
                <a:ea typeface="华文中宋" panose="02010600040101010101" pitchFamily="2" charset="-122"/>
              </a:rPr>
              <a:t>或</a:t>
            </a:r>
            <a:r>
              <a:rPr lang="en-US" altLang="zh-CN" dirty="0">
                <a:latin typeface="华文中宋" panose="02010600040101010101" pitchFamily="2" charset="-122"/>
                <a:ea typeface="华文中宋" panose="02010600040101010101" pitchFamily="2" charset="-122"/>
              </a:rPr>
              <a:t>(P1;P0)*</a:t>
            </a:r>
            <a:r>
              <a:rPr lang="zh-CN" altLang="en-US" dirty="0">
                <a:latin typeface="华文中宋" panose="02010600040101010101" pitchFamily="2" charset="-122"/>
                <a:ea typeface="华文中宋" panose="02010600040101010101" pitchFamily="2" charset="-122"/>
              </a:rPr>
              <a:t>，这显然不满足互斥要求，使得一个</a:t>
            </a:r>
            <a:endParaRPr lang="en-US" altLang="zh-CN" dirty="0">
              <a:latin typeface="华文中宋" panose="02010600040101010101" pitchFamily="2" charset="-122"/>
              <a:ea typeface="华文中宋" panose="02010600040101010101" pitchFamily="2" charset="-122"/>
            </a:endParaRPr>
          </a:p>
          <a:p>
            <a:pPr>
              <a:lnSpc>
                <a:spcPct val="150000"/>
              </a:lnSpc>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进程不能再次进入临界区。</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571472" y="3154680"/>
          <a:ext cx="7286676" cy="3703320"/>
        </p:xfrm>
        <a:graphic>
          <a:graphicData uri="http://schemas.openxmlformats.org/drawingml/2006/table">
            <a:tbl>
              <a:tblPr/>
              <a:tblGrid>
                <a:gridCol w="7286676"/>
              </a:tblGrid>
              <a:tr h="2911792">
                <a:tc>
                  <a:txBody>
                    <a:bodyPr/>
                    <a:lstStyle/>
                    <a:p>
                      <a:pPr indent="228600"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{flag[0]= 0,flag[1]=0}</a:t>
                      </a:r>
                      <a:endParaRPr lang="zh-CN" sz="1800" kern="100" dirty="0">
                        <a:latin typeface="Calibri" panose="020F0502020204030204"/>
                        <a:ea typeface="宋体" panose="02010600030101010101" pitchFamily="2" charset="-122"/>
                        <a:cs typeface="Times New Roman" panose="02020603050405020304"/>
                      </a:endParaRPr>
                    </a:p>
                    <a:p>
                      <a:pPr indent="228600"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P0::test flag[1]</a:t>
                      </a:r>
                      <a:endParaRPr lang="zh-CN" sz="1800" kern="100" dirty="0">
                        <a:latin typeface="Calibri" panose="020F0502020204030204"/>
                        <a:ea typeface="宋体" panose="02010600030101010101" pitchFamily="2" charset="-122"/>
                        <a:cs typeface="Times New Roman" panose="02020603050405020304"/>
                      </a:endParaRPr>
                    </a:p>
                    <a:p>
                      <a:pPr indent="228600"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P1::test flag[0]</a:t>
                      </a:r>
                      <a:endParaRPr lang="zh-CN" sz="1800" kern="100" dirty="0">
                        <a:latin typeface="Calibri" panose="020F0502020204030204"/>
                        <a:ea typeface="宋体" panose="02010600030101010101" pitchFamily="2" charset="-122"/>
                        <a:cs typeface="Times New Roman" panose="02020603050405020304"/>
                      </a:endParaRPr>
                    </a:p>
                    <a:p>
                      <a:pPr indent="228600"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P0::flag[0]:=1;</a:t>
                      </a:r>
                      <a:endParaRPr lang="zh-CN" sz="1800" kern="100" dirty="0">
                        <a:latin typeface="Calibri" panose="020F0502020204030204"/>
                        <a:ea typeface="宋体" panose="02010600030101010101" pitchFamily="2" charset="-122"/>
                        <a:cs typeface="Times New Roman" panose="02020603050405020304"/>
                      </a:endParaRPr>
                    </a:p>
                    <a:p>
                      <a:pPr indent="228600"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P0::enter critical section;</a:t>
                      </a:r>
                      <a:endParaRPr lang="zh-CN" sz="1800" kern="100" dirty="0">
                        <a:latin typeface="Calibri" panose="020F0502020204030204"/>
                        <a:ea typeface="宋体" panose="02010600030101010101" pitchFamily="2" charset="-122"/>
                        <a:cs typeface="Times New Roman" panose="02020603050405020304"/>
                      </a:endParaRPr>
                    </a:p>
                    <a:p>
                      <a:pPr indent="228600"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{flag[0]=1,flag[1]=0}</a:t>
                      </a:r>
                      <a:endParaRPr lang="zh-CN" sz="1800" kern="100" dirty="0">
                        <a:latin typeface="Calibri" panose="020F0502020204030204"/>
                        <a:ea typeface="宋体" panose="02010600030101010101" pitchFamily="2" charset="-122"/>
                        <a:cs typeface="Times New Roman" panose="02020603050405020304"/>
                      </a:endParaRPr>
                    </a:p>
                    <a:p>
                      <a:pPr indent="228600"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P1::flag[1]:=1;</a:t>
                      </a:r>
                      <a:endParaRPr lang="zh-CN" sz="1800" kern="100" dirty="0">
                        <a:latin typeface="Calibri" panose="020F0502020204030204"/>
                        <a:ea typeface="宋体" panose="02010600030101010101" pitchFamily="2" charset="-122"/>
                        <a:cs typeface="Times New Roman" panose="02020603050405020304"/>
                      </a:endParaRPr>
                    </a:p>
                    <a:p>
                      <a:pPr indent="228600"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P1::enter critical section;</a:t>
                      </a:r>
                      <a:endParaRPr lang="zh-CN" sz="1800" kern="100" dirty="0">
                        <a:latin typeface="Calibri" panose="020F0502020204030204"/>
                        <a:ea typeface="宋体" panose="02010600030101010101" pitchFamily="2" charset="-122"/>
                        <a:cs typeface="Times New Roman" panose="02020603050405020304"/>
                      </a:endParaRPr>
                    </a:p>
                    <a:p>
                      <a:pPr indent="200025"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{flag[0]= 1,flag[1]=1}</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表格 4"/>
          <p:cNvGraphicFramePr>
            <a:graphicFrameLocks noGrp="1"/>
          </p:cNvGraphicFramePr>
          <p:nvPr/>
        </p:nvGraphicFramePr>
        <p:xfrm>
          <a:off x="0" y="0"/>
          <a:ext cx="9144000" cy="2880360"/>
        </p:xfrm>
        <a:graphic>
          <a:graphicData uri="http://schemas.openxmlformats.org/drawingml/2006/table">
            <a:tbl>
              <a:tblPr/>
              <a:tblGrid>
                <a:gridCol w="4618709"/>
                <a:gridCol w="4525291"/>
              </a:tblGrid>
              <a:tr h="0">
                <a:tc>
                  <a:txBody>
                    <a:bodyPr/>
                    <a:lstStyle/>
                    <a:p>
                      <a:pPr algn="ctr">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while(flag[1])  skip;</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flag[0]:=1;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/*critical section*/</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flag[0]:=0;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while(flag[0])  skip;</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flag[1]:=1;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/*critical section*/</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flag[1]:=0;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
        <p:nvSpPr>
          <p:cNvPr id="6" name="TextBox 5"/>
          <p:cNvSpPr txBox="1"/>
          <p:nvPr/>
        </p:nvSpPr>
        <p:spPr>
          <a:xfrm>
            <a:off x="4143372" y="0"/>
            <a:ext cx="788999" cy="369332"/>
          </a:xfrm>
          <a:prstGeom prst="rect">
            <a:avLst/>
          </a:prstGeom>
          <a:noFill/>
        </p:spPr>
        <p:txBody>
          <a:bodyPr wrap="none" rtlCol="0">
            <a:spAutoFit/>
          </a:bodyPr>
          <a:lstStyle/>
          <a:p>
            <a:r>
              <a:rPr lang="zh-CN" altLang="en-US" b="1" dirty="0">
                <a:solidFill>
                  <a:srgbClr val="FF0000"/>
                </a:solidFill>
                <a:latin typeface="华文中宋" panose="02010600040101010101" pitchFamily="2" charset="-122"/>
                <a:ea typeface="华文中宋" panose="02010600040101010101" pitchFamily="2" charset="-122"/>
              </a:rPr>
              <a:t>算法</a:t>
            </a:r>
            <a:r>
              <a:rPr lang="en-US" altLang="zh-CN" b="1" dirty="0">
                <a:solidFill>
                  <a:srgbClr val="FF0000"/>
                </a:solidFill>
                <a:latin typeface="华文中宋" panose="02010600040101010101" pitchFamily="2" charset="-122"/>
                <a:ea typeface="华文中宋" panose="02010600040101010101" pitchFamily="2" charset="-122"/>
              </a:rPr>
              <a:t>2</a:t>
            </a:r>
            <a:endParaRPr lang="zh-CN" altLang="en-US" b="1" dirty="0">
              <a:solidFill>
                <a:srgbClr val="FF0000"/>
              </a:solidFill>
              <a:latin typeface="华文中宋" panose="02010600040101010101" pitchFamily="2" charset="-122"/>
              <a:ea typeface="华文中宋" panose="02010600040101010101" pitchFamily="2" charset="-122"/>
            </a:endParaRPr>
          </a:p>
        </p:txBody>
      </p:sp>
      <p:sp>
        <p:nvSpPr>
          <p:cNvPr id="7" name="TextBox 6"/>
          <p:cNvSpPr txBox="1"/>
          <p:nvPr/>
        </p:nvSpPr>
        <p:spPr>
          <a:xfrm>
            <a:off x="3786182" y="3643314"/>
            <a:ext cx="5143504" cy="21698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算法</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的特点：</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一个进程只对自己的标记进行设置，避免了算法</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的问题</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但是由于标记的</a:t>
            </a:r>
            <a:r>
              <a:rPr lang="en-US" altLang="zh-CN" dirty="0">
                <a:latin typeface="华文中宋" panose="02010600040101010101" pitchFamily="2" charset="-122"/>
                <a:ea typeface="华文中宋" panose="02010600040101010101" pitchFamily="2" charset="-122"/>
              </a:rPr>
              <a:t>&lt;</a:t>
            </a:r>
            <a:r>
              <a:rPr lang="zh-CN" altLang="en-US" dirty="0">
                <a:latin typeface="华文中宋" panose="02010600040101010101" pitchFamily="2" charset="-122"/>
                <a:ea typeface="华文中宋" panose="02010600040101010101" pitchFamily="2" charset="-122"/>
              </a:rPr>
              <a:t>测试操作</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设置操作</a:t>
            </a:r>
            <a:r>
              <a:rPr lang="en-US" altLang="zh-CN" dirty="0">
                <a:latin typeface="华文中宋" panose="02010600040101010101" pitchFamily="2" charset="-122"/>
                <a:ea typeface="华文中宋" panose="02010600040101010101" pitchFamily="2" charset="-122"/>
              </a:rPr>
              <a:t>&gt;</a:t>
            </a:r>
            <a:r>
              <a:rPr lang="zh-CN" altLang="en-US" dirty="0">
                <a:latin typeface="华文中宋" panose="02010600040101010101" pitchFamily="2" charset="-122"/>
                <a:ea typeface="华文中宋" panose="02010600040101010101" pitchFamily="2" charset="-122"/>
              </a:rPr>
              <a:t>不是</a:t>
            </a:r>
            <a:r>
              <a:rPr lang="zh-CN" altLang="en-US" dirty="0">
                <a:solidFill>
                  <a:srgbClr val="FF0000"/>
                </a:solidFill>
                <a:latin typeface="华文中宋" panose="02010600040101010101" pitchFamily="2" charset="-122"/>
                <a:ea typeface="华文中宋" panose="02010600040101010101" pitchFamily="2" charset="-122"/>
              </a:rPr>
              <a:t>原子的</a:t>
            </a:r>
            <a:r>
              <a:rPr lang="zh-CN" altLang="en-US" dirty="0">
                <a:latin typeface="华文中宋" panose="02010600040101010101" pitchFamily="2" charset="-122"/>
                <a:ea typeface="华文中宋" panose="02010600040101010101" pitchFamily="2" charset="-122"/>
              </a:rPr>
              <a:t>，因此有可能两个进程都进入临界区</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0" y="1763086"/>
          <a:ext cx="9144000" cy="2880360"/>
        </p:xfrm>
        <a:graphic>
          <a:graphicData uri="http://schemas.openxmlformats.org/drawingml/2006/table">
            <a:tbl>
              <a:tblPr/>
              <a:tblGrid>
                <a:gridCol w="4618709"/>
                <a:gridCol w="4525291"/>
              </a:tblGrid>
              <a:tr h="0">
                <a:tc>
                  <a:txBody>
                    <a:bodyPr/>
                    <a:lstStyle/>
                    <a:p>
                      <a:pPr algn="ctr">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flag[0]:=1;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while(flag[1])  skip;</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/*critical section*/</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flag[0]:=0;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flag[1]:=1;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while(flag[0])  skip;</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/*critical section*/</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flag[1]:=0;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4214810" y="1263020"/>
            <a:ext cx="788999" cy="369332"/>
          </a:xfrm>
          <a:prstGeom prst="rect">
            <a:avLst/>
          </a:prstGeom>
          <a:noFill/>
        </p:spPr>
        <p:txBody>
          <a:bodyPr wrap="none" rtlCol="0">
            <a:spAutoFit/>
          </a:bodyPr>
          <a:lstStyle/>
          <a:p>
            <a:r>
              <a:rPr lang="zh-CN" altLang="en-US" dirty="0">
                <a:solidFill>
                  <a:srgbClr val="FF0000"/>
                </a:solidFill>
                <a:latin typeface="华文中宋" panose="02010600040101010101" pitchFamily="2" charset="-122"/>
                <a:ea typeface="华文中宋" panose="02010600040101010101" pitchFamily="2" charset="-122"/>
              </a:rPr>
              <a:t>算法</a:t>
            </a:r>
            <a:r>
              <a:rPr lang="en-US" altLang="zh-CN" dirty="0">
                <a:solidFill>
                  <a:srgbClr val="FF0000"/>
                </a:solidFill>
                <a:latin typeface="华文中宋" panose="02010600040101010101" pitchFamily="2" charset="-122"/>
                <a:ea typeface="华文中宋" panose="02010600040101010101" pitchFamily="2" charset="-122"/>
              </a:rPr>
              <a:t>3</a:t>
            </a:r>
            <a:endParaRPr lang="zh-CN" altLang="en-US" dirty="0">
              <a:solidFill>
                <a:srgbClr val="FF0000"/>
              </a:solidFill>
              <a:latin typeface="华文中宋" panose="02010600040101010101" pitchFamily="2" charset="-122"/>
              <a:ea typeface="华文中宋" panose="02010600040101010101" pitchFamily="2" charset="-122"/>
            </a:endParaRPr>
          </a:p>
        </p:txBody>
      </p:sp>
      <p:sp>
        <p:nvSpPr>
          <p:cNvPr id="6" name="TextBox 5"/>
          <p:cNvSpPr txBox="1"/>
          <p:nvPr/>
        </p:nvSpPr>
        <p:spPr>
          <a:xfrm>
            <a:off x="928662" y="4929198"/>
            <a:ext cx="785818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算法</a:t>
            </a:r>
            <a:r>
              <a:rPr lang="en-US" altLang="zh-CN"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的问题：</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&lt;</a:t>
            </a:r>
            <a:r>
              <a:rPr lang="zh-CN" altLang="en-US" dirty="0">
                <a:latin typeface="华文中宋" panose="02010600040101010101" pitchFamily="2" charset="-122"/>
                <a:ea typeface="华文中宋" panose="02010600040101010101" pitchFamily="2" charset="-122"/>
              </a:rPr>
              <a:t>设置操作</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测试操作</a:t>
            </a:r>
            <a:r>
              <a:rPr lang="en-US" altLang="zh-CN" dirty="0">
                <a:latin typeface="华文中宋" panose="02010600040101010101" pitchFamily="2" charset="-122"/>
                <a:ea typeface="华文中宋" panose="02010600040101010101" pitchFamily="2" charset="-122"/>
              </a:rPr>
              <a:t>&gt;</a:t>
            </a:r>
            <a:r>
              <a:rPr lang="zh-CN" altLang="en-US" dirty="0">
                <a:latin typeface="华文中宋" panose="02010600040101010101" pitchFamily="2" charset="-122"/>
                <a:ea typeface="华文中宋" panose="02010600040101010101" pitchFamily="2" charset="-122"/>
              </a:rPr>
              <a:t>不是</a:t>
            </a:r>
            <a:r>
              <a:rPr lang="zh-CN" altLang="en-US" dirty="0">
                <a:solidFill>
                  <a:srgbClr val="FF0000"/>
                </a:solidFill>
                <a:latin typeface="华文中宋" panose="02010600040101010101" pitchFamily="2" charset="-122"/>
                <a:ea typeface="华文中宋" panose="02010600040101010101" pitchFamily="2" charset="-122"/>
              </a:rPr>
              <a:t>原子的</a:t>
            </a:r>
            <a:r>
              <a:rPr lang="zh-CN" altLang="en-US" dirty="0">
                <a:latin typeface="华文中宋" panose="02010600040101010101" pitchFamily="2" charset="-122"/>
                <a:ea typeface="华文中宋" panose="02010600040101010101" pitchFamily="2" charset="-122"/>
              </a:rPr>
              <a:t>，因此有可能两个进程都不能进入临界区</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0" y="-24"/>
          <a:ext cx="9144000" cy="4526280"/>
        </p:xfrm>
        <a:graphic>
          <a:graphicData uri="http://schemas.openxmlformats.org/drawingml/2006/table">
            <a:tbl>
              <a:tblPr/>
              <a:tblGrid>
                <a:gridCol w="4618710"/>
                <a:gridCol w="4525290"/>
              </a:tblGrid>
              <a:tr h="0">
                <a:tc>
                  <a:txBody>
                    <a:bodyPr/>
                    <a:lstStyle/>
                    <a:p>
                      <a:pPr algn="ctr">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flag[0]:=1;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while(flag[1]) {</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   flag[0]:=0;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   /*delay*/</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   flag[0]:=1;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/*critical section*/</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flag[0]:=0;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flag[1]:=1;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while(flag[0]) {</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   flag[1]:=0;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   /*delay*/</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   flag[1]:=1;</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/*critical section*/</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flag[1]:=0;</a:t>
                      </a:r>
                      <a:endParaRPr lang="zh-CN" sz="18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
        <p:nvSpPr>
          <p:cNvPr id="5" name="TextBox 4"/>
          <p:cNvSpPr txBox="1"/>
          <p:nvPr/>
        </p:nvSpPr>
        <p:spPr>
          <a:xfrm>
            <a:off x="4214810" y="0"/>
            <a:ext cx="788999" cy="369332"/>
          </a:xfrm>
          <a:prstGeom prst="rect">
            <a:avLst/>
          </a:prstGeom>
          <a:noFill/>
        </p:spPr>
        <p:txBody>
          <a:bodyPr wrap="none" rtlCol="0">
            <a:spAutoFit/>
          </a:bodyPr>
          <a:lstStyle/>
          <a:p>
            <a:r>
              <a:rPr lang="zh-CN" altLang="en-US" dirty="0">
                <a:solidFill>
                  <a:srgbClr val="FF0000"/>
                </a:solidFill>
                <a:latin typeface="华文中宋" panose="02010600040101010101" pitchFamily="2" charset="-122"/>
                <a:ea typeface="华文中宋" panose="02010600040101010101" pitchFamily="2" charset="-122"/>
              </a:rPr>
              <a:t>算法</a:t>
            </a:r>
            <a:r>
              <a:rPr lang="en-US" altLang="zh-CN" dirty="0">
                <a:solidFill>
                  <a:srgbClr val="FF0000"/>
                </a:solidFill>
                <a:latin typeface="华文中宋" panose="02010600040101010101" pitchFamily="2" charset="-122"/>
                <a:ea typeface="华文中宋" panose="02010600040101010101" pitchFamily="2" charset="-122"/>
              </a:rPr>
              <a:t>4</a:t>
            </a:r>
            <a:endParaRPr lang="zh-CN" altLang="en-US" dirty="0">
              <a:solidFill>
                <a:srgbClr val="FF0000"/>
              </a:solidFill>
              <a:latin typeface="华文中宋" panose="02010600040101010101" pitchFamily="2" charset="-122"/>
              <a:ea typeface="华文中宋" panose="02010600040101010101" pitchFamily="2" charset="-122"/>
            </a:endParaRPr>
          </a:p>
        </p:txBody>
      </p:sp>
      <p:sp>
        <p:nvSpPr>
          <p:cNvPr id="6" name="右中括号 5"/>
          <p:cNvSpPr/>
          <p:nvPr/>
        </p:nvSpPr>
        <p:spPr>
          <a:xfrm>
            <a:off x="1357290" y="1728782"/>
            <a:ext cx="142876" cy="1343028"/>
          </a:xfrm>
          <a:prstGeom prst="rightBracket">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TextBox 6"/>
          <p:cNvSpPr txBox="1"/>
          <p:nvPr/>
        </p:nvSpPr>
        <p:spPr>
          <a:xfrm>
            <a:off x="1500166" y="1714488"/>
            <a:ext cx="3070071" cy="1338828"/>
          </a:xfrm>
          <a:prstGeom prst="rect">
            <a:avLst/>
          </a:prstGeom>
          <a:noFill/>
        </p:spPr>
        <p:txBody>
          <a:bodyPr wrap="none" rtlCol="0">
            <a:spAutoFit/>
          </a:bodyPr>
          <a:lstStyle/>
          <a:p>
            <a:pPr>
              <a:lnSpc>
                <a:spcPct val="150000"/>
              </a:lnSpc>
            </a:pPr>
            <a:r>
              <a:rPr lang="zh-CN" altLang="en-US" dirty="0">
                <a:solidFill>
                  <a:srgbClr val="FF0000"/>
                </a:solidFill>
                <a:latin typeface="华文中宋" panose="02010600040101010101" pitchFamily="2" charset="-122"/>
                <a:ea typeface="华文中宋" panose="02010600040101010101" pitchFamily="2" charset="-122"/>
              </a:rPr>
              <a:t>当另一进程在临界区时，</a:t>
            </a:r>
            <a:endParaRPr lang="en-US" altLang="zh-CN" dirty="0">
              <a:solidFill>
                <a:srgbClr val="FF0000"/>
              </a:solidFill>
              <a:latin typeface="华文中宋" panose="02010600040101010101" pitchFamily="2" charset="-122"/>
              <a:ea typeface="华文中宋" panose="02010600040101010101" pitchFamily="2" charset="-122"/>
            </a:endParaRPr>
          </a:p>
          <a:p>
            <a:pPr>
              <a:lnSpc>
                <a:spcPct val="150000"/>
              </a:lnSpc>
            </a:pPr>
            <a:r>
              <a:rPr lang="zh-CN" altLang="en-US" dirty="0">
                <a:solidFill>
                  <a:srgbClr val="FF0000"/>
                </a:solidFill>
                <a:latin typeface="华文中宋" panose="02010600040101010101" pitchFamily="2" charset="-122"/>
                <a:ea typeface="华文中宋" panose="02010600040101010101" pitchFamily="2" charset="-122"/>
              </a:rPr>
              <a:t>当前进程首先礼让，</a:t>
            </a:r>
            <a:r>
              <a:rPr lang="zh-CN" altLang="en-US">
                <a:solidFill>
                  <a:srgbClr val="FF0000"/>
                </a:solidFill>
                <a:latin typeface="华文中宋" panose="02010600040101010101" pitchFamily="2" charset="-122"/>
                <a:ea typeface="华文中宋" panose="02010600040101010101" pitchFamily="2" charset="-122"/>
              </a:rPr>
              <a:t>然</a:t>
            </a:r>
            <a:r>
              <a:rPr lang="zh-CN" altLang="en-US" smtClean="0">
                <a:solidFill>
                  <a:srgbClr val="FF0000"/>
                </a:solidFill>
                <a:latin typeface="华文中宋" panose="02010600040101010101" pitchFamily="2" charset="-122"/>
                <a:ea typeface="华文中宋" panose="02010600040101010101" pitchFamily="2" charset="-122"/>
              </a:rPr>
              <a:t>后再</a:t>
            </a:r>
            <a:endParaRPr lang="en-US" altLang="zh-CN" dirty="0">
              <a:solidFill>
                <a:srgbClr val="FF0000"/>
              </a:solidFill>
              <a:latin typeface="华文中宋" panose="02010600040101010101" pitchFamily="2" charset="-122"/>
              <a:ea typeface="华文中宋" panose="02010600040101010101" pitchFamily="2" charset="-122"/>
            </a:endParaRPr>
          </a:p>
          <a:p>
            <a:pPr>
              <a:lnSpc>
                <a:spcPct val="150000"/>
              </a:lnSpc>
            </a:pPr>
            <a:r>
              <a:rPr lang="zh-CN" altLang="en-US" dirty="0">
                <a:solidFill>
                  <a:srgbClr val="FF0000"/>
                </a:solidFill>
                <a:latin typeface="华文中宋" panose="02010600040101010101" pitchFamily="2" charset="-122"/>
                <a:ea typeface="华文中宋" panose="02010600040101010101" pitchFamily="2" charset="-122"/>
              </a:rPr>
              <a:t>发起进入请求</a:t>
            </a:r>
            <a:endParaRPr lang="zh-CN" altLang="en-US" dirty="0">
              <a:solidFill>
                <a:srgbClr val="FF0000"/>
              </a:solidFill>
              <a:latin typeface="华文中宋" panose="02010600040101010101" pitchFamily="2" charset="-122"/>
              <a:ea typeface="华文中宋" panose="02010600040101010101" pitchFamily="2" charset="-122"/>
            </a:endParaRPr>
          </a:p>
        </p:txBody>
      </p:sp>
      <p:sp>
        <p:nvSpPr>
          <p:cNvPr id="8" name="TextBox 7"/>
          <p:cNvSpPr txBox="1"/>
          <p:nvPr/>
        </p:nvSpPr>
        <p:spPr>
          <a:xfrm>
            <a:off x="1714480" y="4786322"/>
            <a:ext cx="5525872" cy="874278"/>
          </a:xfrm>
          <a:prstGeom prst="rect">
            <a:avLst/>
          </a:prstGeom>
          <a:noFill/>
        </p:spPr>
        <p:txBody>
          <a:bodyPr wrap="non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算法</a:t>
            </a:r>
            <a:r>
              <a:rPr lang="en-US" altLang="zh-CN"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存在的问题：</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 P0</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P1</a:t>
            </a:r>
            <a:r>
              <a:rPr lang="zh-CN" altLang="en-US" dirty="0">
                <a:latin typeface="华文中宋" panose="02010600040101010101" pitchFamily="2" charset="-122"/>
                <a:ea typeface="华文中宋" panose="02010600040101010101" pitchFamily="2" charset="-122"/>
              </a:rPr>
              <a:t>相互谦让，使得两个进程都不能进入临界区</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TextBox 5"/>
          <p:cNvSpPr txBox="1"/>
          <p:nvPr/>
        </p:nvSpPr>
        <p:spPr>
          <a:xfrm>
            <a:off x="3214678" y="642918"/>
            <a:ext cx="2100255" cy="461665"/>
          </a:xfrm>
          <a:prstGeom prst="rect">
            <a:avLst/>
          </a:prstGeom>
          <a:noFill/>
        </p:spPr>
        <p:txBody>
          <a:bodyPr wrap="none" rtlCol="0">
            <a:spAutoFit/>
          </a:bodyPr>
          <a:lstStyle/>
          <a:p>
            <a:r>
              <a:rPr lang="en-US" altLang="zh-CN" sz="2400" dirty="0">
                <a:solidFill>
                  <a:srgbClr val="FF0000"/>
                </a:solidFill>
                <a:latin typeface="华文中宋" panose="02010600040101010101" pitchFamily="2" charset="-122"/>
                <a:ea typeface="华文中宋" panose="02010600040101010101" pitchFamily="2" charset="-122"/>
              </a:rPr>
              <a:t>Peterson</a:t>
            </a:r>
            <a:r>
              <a:rPr lang="zh-CN" altLang="en-US" sz="2400" dirty="0">
                <a:solidFill>
                  <a:srgbClr val="FF0000"/>
                </a:solidFill>
                <a:latin typeface="华文中宋" panose="02010600040101010101" pitchFamily="2" charset="-122"/>
                <a:ea typeface="华文中宋" panose="02010600040101010101" pitchFamily="2" charset="-122"/>
              </a:rPr>
              <a:t>算法</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208897" name="Rectangle 1"/>
          <p:cNvSpPr>
            <a:spLocks noChangeArrowheads="1"/>
          </p:cNvSpPr>
          <p:nvPr/>
        </p:nvSpPr>
        <p:spPr bwMode="auto">
          <a:xfrm>
            <a:off x="785786" y="1428736"/>
            <a:ext cx="2428892" cy="646331"/>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flag[2];</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turn;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7" name="TextBox 6"/>
          <p:cNvSpPr txBox="1"/>
          <p:nvPr/>
        </p:nvSpPr>
        <p:spPr>
          <a:xfrm>
            <a:off x="285720" y="2610683"/>
            <a:ext cx="3954929" cy="424731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lang="en-US" dirty="0">
                <a:latin typeface="华文中宋" panose="02010600040101010101" pitchFamily="2" charset="-122"/>
                <a:ea typeface="华文中宋" panose="02010600040101010101" pitchFamily="2" charset="-122"/>
              </a:rPr>
              <a:t>void P0( ){</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while(1){</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flag[0]:=1;</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turn:=1;</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while(flag[1] &amp;&amp; turn=1) skip;</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/*critical region*/</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flag[0]:=0;</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208898" name="Rectangle 2"/>
          <p:cNvSpPr>
            <a:spLocks noChangeArrowheads="1"/>
          </p:cNvSpPr>
          <p:nvPr/>
        </p:nvSpPr>
        <p:spPr bwMode="auto">
          <a:xfrm>
            <a:off x="4500562" y="2610683"/>
            <a:ext cx="4371710" cy="4247317"/>
          </a:xfrm>
          <a:prstGeom prst="rect">
            <a:avLst/>
          </a:prstGeom>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P1(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flag[1]:=1;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turn:=0;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while(flag[0] &amp;&amp; turn=0) skip;</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/*critical region*/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flag[1]:=0;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08899" name="Rectangle 3"/>
          <p:cNvSpPr>
            <a:spLocks noChangeArrowheads="1"/>
          </p:cNvSpPr>
          <p:nvPr/>
        </p:nvSpPr>
        <p:spPr bwMode="auto">
          <a:xfrm>
            <a:off x="3118520" y="1142984"/>
            <a:ext cx="2525050" cy="1477328"/>
          </a:xfrm>
          <a:prstGeom prst="rect">
            <a:avLst/>
          </a:prstGeom>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spAutoFit/>
          </a:bodyPr>
          <a:lstStyle/>
          <a:p>
            <a:pPr marL="0" marR="0" lvl="0" indent="200025"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main(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00025"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flag[0]:=0;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00025"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flag[1]:=0;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00025"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parbegin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(P0, P1);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00025"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en-US" altLang="zh-CN" dirty="0"/>
              <a:t>Peterson</a:t>
            </a:r>
            <a:r>
              <a:rPr lang="zh-CN" altLang="en-US" dirty="0"/>
              <a:t>算法的正确性证明：</a:t>
            </a:r>
            <a:endParaRPr lang="en-US" altLang="zh-CN" dirty="0"/>
          </a:p>
          <a:p>
            <a:pPr>
              <a:lnSpc>
                <a:spcPct val="150000"/>
              </a:lnSpc>
            </a:pPr>
            <a:r>
              <a:rPr lang="zh-CN" altLang="en-US" sz="2000" dirty="0">
                <a:solidFill>
                  <a:srgbClr val="FF0000"/>
                </a:solidFill>
              </a:rPr>
              <a:t>可重复进入</a:t>
            </a:r>
            <a:r>
              <a:rPr lang="zh-CN" altLang="en-US" sz="2000" dirty="0"/>
              <a:t>：当一个进程没有进入临界区时的企图时，另一个进程可以多次重复进入，克服了算法</a:t>
            </a:r>
            <a:r>
              <a:rPr lang="en-US" altLang="zh-CN" sz="2000" dirty="0"/>
              <a:t>1</a:t>
            </a:r>
            <a:r>
              <a:rPr lang="zh-CN" altLang="en-US" sz="2000" dirty="0"/>
              <a:t>存在的问题；</a:t>
            </a:r>
            <a:endParaRPr lang="en-US" altLang="zh-CN" sz="2000" dirty="0"/>
          </a:p>
          <a:p>
            <a:pPr>
              <a:lnSpc>
                <a:spcPct val="150000"/>
              </a:lnSpc>
            </a:pPr>
            <a:r>
              <a:rPr lang="zh-CN" altLang="en-US" sz="2000" dirty="0">
                <a:solidFill>
                  <a:srgbClr val="FF0000"/>
                </a:solidFill>
              </a:rPr>
              <a:t>互斥</a:t>
            </a:r>
            <a:r>
              <a:rPr lang="zh-CN" altLang="en-US" sz="2000" dirty="0"/>
              <a:t>：当一个进程正在临界区时，另一个进程不能进入临界区；克服算法</a:t>
            </a:r>
            <a:r>
              <a:rPr lang="en-US" altLang="zh-CN" sz="2000" dirty="0"/>
              <a:t>3</a:t>
            </a:r>
            <a:r>
              <a:rPr lang="zh-CN" altLang="en-US" sz="2000" dirty="0"/>
              <a:t>存在的问题；</a:t>
            </a:r>
            <a:endParaRPr lang="en-US" altLang="zh-CN" sz="2000" dirty="0"/>
          </a:p>
          <a:p>
            <a:pPr>
              <a:lnSpc>
                <a:spcPct val="150000"/>
              </a:lnSpc>
            </a:pPr>
            <a:r>
              <a:rPr lang="zh-CN" altLang="en-US" sz="2000" dirty="0">
                <a:solidFill>
                  <a:srgbClr val="FF0000"/>
                </a:solidFill>
              </a:rPr>
              <a:t>不存在相互谦让问题</a:t>
            </a:r>
            <a:r>
              <a:rPr lang="zh-CN" altLang="en-US" sz="2000" dirty="0"/>
              <a:t>；克服算法</a:t>
            </a:r>
            <a:r>
              <a:rPr lang="en-US" altLang="zh-CN" sz="2000" dirty="0"/>
              <a:t>4</a:t>
            </a:r>
            <a:r>
              <a:rPr lang="zh-CN" altLang="en-US" sz="2000" dirty="0"/>
              <a:t>的问题；</a:t>
            </a:r>
            <a:endParaRPr lang="en-US" altLang="zh-CN" sz="2000" dirty="0"/>
          </a:p>
          <a:p>
            <a:pPr>
              <a:lnSpc>
                <a:spcPct val="150000"/>
              </a:lnSpc>
            </a:pPr>
            <a:r>
              <a:rPr lang="zh-CN" altLang="en-US" sz="2000" dirty="0"/>
              <a:t>当两个进程同时竞争进入临界区时，只允许其中一个进入。究竟哪个进程可以进入，取决于操作系统的调度。</a:t>
            </a:r>
            <a:endParaRPr lang="zh-CN"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TextBox 5"/>
          <p:cNvSpPr txBox="1"/>
          <p:nvPr/>
        </p:nvSpPr>
        <p:spPr>
          <a:xfrm>
            <a:off x="3214678" y="642918"/>
            <a:ext cx="2100255" cy="461665"/>
          </a:xfrm>
          <a:prstGeom prst="rect">
            <a:avLst/>
          </a:prstGeom>
          <a:noFill/>
        </p:spPr>
        <p:txBody>
          <a:bodyPr wrap="none" rtlCol="0">
            <a:spAutoFit/>
          </a:bodyPr>
          <a:lstStyle/>
          <a:p>
            <a:r>
              <a:rPr lang="en-US" altLang="zh-CN" sz="2400" dirty="0">
                <a:solidFill>
                  <a:srgbClr val="FF0000"/>
                </a:solidFill>
                <a:latin typeface="华文中宋" panose="02010600040101010101" pitchFamily="2" charset="-122"/>
                <a:ea typeface="华文中宋" panose="02010600040101010101" pitchFamily="2" charset="-122"/>
              </a:rPr>
              <a:t>Peterson</a:t>
            </a:r>
            <a:r>
              <a:rPr lang="zh-CN" altLang="en-US" sz="2400" dirty="0">
                <a:solidFill>
                  <a:srgbClr val="FF0000"/>
                </a:solidFill>
                <a:latin typeface="华文中宋" panose="02010600040101010101" pitchFamily="2" charset="-122"/>
                <a:ea typeface="华文中宋" panose="02010600040101010101" pitchFamily="2" charset="-122"/>
              </a:rPr>
              <a:t>算法</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208897" name="Rectangle 1"/>
          <p:cNvSpPr>
            <a:spLocks noChangeArrowheads="1"/>
          </p:cNvSpPr>
          <p:nvPr/>
        </p:nvSpPr>
        <p:spPr bwMode="auto">
          <a:xfrm>
            <a:off x="785786" y="1428736"/>
            <a:ext cx="2428892" cy="646331"/>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flag[2];</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turn;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7" name="TextBox 6"/>
          <p:cNvSpPr txBox="1"/>
          <p:nvPr/>
        </p:nvSpPr>
        <p:spPr>
          <a:xfrm>
            <a:off x="285720" y="2610683"/>
            <a:ext cx="3954929" cy="424731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lang="en-US" dirty="0">
                <a:latin typeface="华文中宋" panose="02010600040101010101" pitchFamily="2" charset="-122"/>
                <a:ea typeface="华文中宋" panose="02010600040101010101" pitchFamily="2" charset="-122"/>
              </a:rPr>
              <a:t>void P0( ){</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while(1){</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flag[0]:=1;</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turn:=1;</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while(flag[1] &amp;&amp; turn=1) skip;</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/*critical region*/</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flag[0]:=0;</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   }</a:t>
            </a:r>
            <a:endParaRPr lang="zh-CN" altLang="en-US" dirty="0">
              <a:latin typeface="华文中宋" panose="02010600040101010101" pitchFamily="2" charset="-122"/>
              <a:ea typeface="华文中宋" panose="02010600040101010101" pitchFamily="2" charset="-122"/>
            </a:endParaRPr>
          </a:p>
          <a:p>
            <a:pPr>
              <a:lnSpc>
                <a:spcPct val="150000"/>
              </a:lnSpc>
            </a:pPr>
            <a:r>
              <a:rPr lang="en-US"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208898" name="Rectangle 2"/>
          <p:cNvSpPr>
            <a:spLocks noChangeArrowheads="1"/>
          </p:cNvSpPr>
          <p:nvPr/>
        </p:nvSpPr>
        <p:spPr bwMode="auto">
          <a:xfrm>
            <a:off x="4500562" y="2610683"/>
            <a:ext cx="4371710" cy="4247317"/>
          </a:xfrm>
          <a:prstGeom prst="rect">
            <a:avLst/>
          </a:prstGeom>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P1(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flag[1]:=1;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turn:=0;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while(flag[0] &amp;&amp; turn=0) skip;</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/*critical region*/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flag[1]:=0;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08899" name="Rectangle 3"/>
          <p:cNvSpPr>
            <a:spLocks noChangeArrowheads="1"/>
          </p:cNvSpPr>
          <p:nvPr/>
        </p:nvSpPr>
        <p:spPr bwMode="auto">
          <a:xfrm>
            <a:off x="3118520" y="1142984"/>
            <a:ext cx="2525050" cy="1477328"/>
          </a:xfrm>
          <a:prstGeom prst="rect">
            <a:avLst/>
          </a:prstGeom>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spAutoFit/>
          </a:bodyPr>
          <a:lstStyle/>
          <a:p>
            <a:pPr marL="0" marR="0" lvl="0" indent="200025"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main(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00025"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flag[0]:=0;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00025"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flag[1]:=0;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00025"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parbegin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(P0, P1);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00025"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9" name="矩形 8"/>
          <p:cNvSpPr/>
          <p:nvPr/>
        </p:nvSpPr>
        <p:spPr>
          <a:xfrm>
            <a:off x="642910" y="3500438"/>
            <a:ext cx="3500462" cy="12144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286380" y="3500438"/>
            <a:ext cx="3500462" cy="12144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3286116" y="3786190"/>
            <a:ext cx="2031325" cy="369332"/>
          </a:xfrm>
          <a:prstGeom prst="rect">
            <a:avLst/>
          </a:prstGeom>
          <a:noFill/>
        </p:spPr>
        <p:txBody>
          <a:bodyPr wrap="none" rtlCol="0">
            <a:spAutoFit/>
          </a:bodyPr>
          <a:lstStyle/>
          <a:p>
            <a:r>
              <a:rPr lang="zh-CN" altLang="en-US" dirty="0">
                <a:solidFill>
                  <a:srgbClr val="FF0000"/>
                </a:solidFill>
                <a:latin typeface="华文中宋" panose="02010600040101010101" pitchFamily="2" charset="-122"/>
                <a:ea typeface="华文中宋" panose="02010600040101010101" pitchFamily="2" charset="-122"/>
              </a:rPr>
              <a:t>可以发生任意交叠</a:t>
            </a:r>
            <a:endParaRPr lang="zh-CN" altLang="en-US"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1"/>
          <p:cNvSpPr>
            <a:spLocks noChangeArrowheads="1"/>
          </p:cNvSpPr>
          <p:nvPr/>
        </p:nvSpPr>
        <p:spPr bwMode="auto">
          <a:xfrm>
            <a:off x="214282" y="1285860"/>
            <a:ext cx="5266185" cy="918095"/>
          </a:xfrm>
          <a:prstGeom prst="rect">
            <a:avLst/>
          </a:prstGeom>
          <a:noFill/>
          <a:ln w="9525">
            <a:noFill/>
            <a:miter lim="800000"/>
          </a:ln>
          <a:effectLst/>
        </p:spPr>
        <p:txBody>
          <a:bodyPr vert="horz" wrap="none" lIns="91440" tIns="165048" rIns="91440" bIns="165048"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en-US" altLang="zh-CN" sz="200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.2.3 </a:t>
            </a:r>
            <a:r>
              <a:rPr kumimoji="0" lang="zh-CN" altLang="en-US" sz="200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解决互斥问题的硬件方法</a:t>
            </a:r>
            <a:r>
              <a:rPr kumimoji="0" lang="en-US" altLang="zh-CN" sz="200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sz="200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中断禁用</a:t>
            </a:r>
            <a:endParaRPr kumimoji="0" lang="zh-CN" altLang="en-US" sz="200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aphicFrame>
        <p:nvGraphicFramePr>
          <p:cNvPr id="6" name="表格 5"/>
          <p:cNvGraphicFramePr>
            <a:graphicFrameLocks noGrp="1"/>
          </p:cNvGraphicFramePr>
          <p:nvPr/>
        </p:nvGraphicFramePr>
        <p:xfrm>
          <a:off x="1857356" y="3786190"/>
          <a:ext cx="5220970" cy="2880360"/>
        </p:xfrm>
        <a:graphic>
          <a:graphicData uri="http://schemas.openxmlformats.org/drawingml/2006/table">
            <a:tbl>
              <a:tblPr/>
              <a:tblGrid>
                <a:gridCol w="5220970"/>
              </a:tblGrid>
              <a:tr h="0">
                <a:tc>
                  <a:txBody>
                    <a:bodyPr/>
                    <a:lstStyle/>
                    <a:p>
                      <a:pPr lvl="1"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while(1){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lvl="1"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lvl="1"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zh-CN" sz="1800" kern="100" dirty="0">
                          <a:latin typeface="华文中宋" panose="02010600040101010101" pitchFamily="2" charset="-122"/>
                          <a:ea typeface="华文中宋" panose="02010600040101010101" pitchFamily="2" charset="-122"/>
                          <a:cs typeface="Times New Roman" panose="02020603050405020304"/>
                        </a:rPr>
                        <a:t>禁用中断</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lvl="1"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zh-CN" sz="1800" kern="100" dirty="0">
                          <a:latin typeface="华文中宋" panose="02010600040101010101" pitchFamily="2" charset="-122"/>
                          <a:ea typeface="华文中宋" panose="02010600040101010101" pitchFamily="2" charset="-122"/>
                          <a:cs typeface="Times New Roman" panose="02020603050405020304"/>
                        </a:rPr>
                        <a:t>临界区</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lvl="1"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zh-CN" sz="1800" kern="100" dirty="0">
                          <a:latin typeface="华文中宋" panose="02010600040101010101" pitchFamily="2" charset="-122"/>
                          <a:ea typeface="华文中宋" panose="02010600040101010101" pitchFamily="2" charset="-122"/>
                          <a:cs typeface="Times New Roman" panose="02020603050405020304"/>
                        </a:rPr>
                        <a:t>启用中断</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lvl="1"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lvl="1"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23235" name="Rectangle 3"/>
          <p:cNvSpPr>
            <a:spLocks noChangeArrowheads="1"/>
          </p:cNvSpPr>
          <p:nvPr/>
        </p:nvSpPr>
        <p:spPr bwMode="auto">
          <a:xfrm>
            <a:off x="285720" y="1928802"/>
            <a:ext cx="8072462" cy="1705275"/>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进程互斥问题中，如果能够保证一个进程进入临界区后，其执行是原子的，即不能被其它进程所中断，直到该进程退出临界区，那么自然就可以保证进程的互斥执行。这种能力可以通过系统内核启用或禁用中断来实现。一个进程可以通过下面的方法实现互斥：</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2285984" y="1145857"/>
          <a:ext cx="5214974" cy="5760720"/>
        </p:xfrm>
        <a:graphic>
          <a:graphicData uri="http://schemas.openxmlformats.org/drawingml/2006/table">
            <a:tbl>
              <a:tblPr/>
              <a:tblGrid>
                <a:gridCol w="5214974"/>
              </a:tblGrid>
              <a:tr h="2459990">
                <a:tc>
                  <a:txBody>
                    <a:bodyPr/>
                    <a:lstStyle/>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const </a:t>
                      </a:r>
                      <a:r>
                        <a:rPr lang="en-US" sz="1800" kern="100" dirty="0" err="1">
                          <a:latin typeface="华文中宋" panose="02010600040101010101" pitchFamily="2" charset="-122"/>
                          <a:ea typeface="华文中宋" panose="02010600040101010101" pitchFamily="2" charset="-122"/>
                          <a:cs typeface="Times New Roman" panose="02020603050405020304"/>
                        </a:rPr>
                        <a:t>int</a:t>
                      </a:r>
                      <a:r>
                        <a:rPr lang="en-US" sz="1800" kern="100" dirty="0">
                          <a:latin typeface="华文中宋" panose="02010600040101010101" pitchFamily="2" charset="-122"/>
                          <a:ea typeface="华文中宋" panose="02010600040101010101" pitchFamily="2" charset="-122"/>
                          <a:cs typeface="Times New Roman" panose="02020603050405020304"/>
                        </a:rPr>
                        <a:t> n:=/*</a:t>
                      </a:r>
                      <a:r>
                        <a:rPr lang="zh-CN" sz="1800" kern="100" dirty="0">
                          <a:latin typeface="华文中宋" panose="02010600040101010101" pitchFamily="2" charset="-122"/>
                          <a:ea typeface="华文中宋" panose="02010600040101010101" pitchFamily="2" charset="-122"/>
                          <a:cs typeface="Times New Roman" panose="02020603050405020304"/>
                        </a:rPr>
                        <a:t>进程的个数</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err="1">
                          <a:latin typeface="华文中宋" panose="02010600040101010101" pitchFamily="2" charset="-122"/>
                          <a:ea typeface="华文中宋" panose="02010600040101010101" pitchFamily="2" charset="-122"/>
                          <a:cs typeface="Times New Roman" panose="02020603050405020304"/>
                        </a:rPr>
                        <a:t>int</a:t>
                      </a:r>
                      <a:r>
                        <a:rPr lang="en-US" sz="1800" kern="100" dirty="0">
                          <a:latin typeface="华文中宋" panose="02010600040101010101" pitchFamily="2" charset="-122"/>
                          <a:ea typeface="华文中宋" panose="02010600040101010101" pitchFamily="2" charset="-122"/>
                          <a:cs typeface="Times New Roman" panose="02020603050405020304"/>
                        </a:rPr>
                        <a:t> bolt;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void P(</a:t>
                      </a:r>
                      <a:r>
                        <a:rPr lang="en-US" sz="1800" kern="100" dirty="0" err="1">
                          <a:latin typeface="华文中宋" panose="02010600040101010101" pitchFamily="2" charset="-122"/>
                          <a:ea typeface="华文中宋" panose="02010600040101010101" pitchFamily="2" charset="-122"/>
                          <a:cs typeface="Times New Roman" panose="02020603050405020304"/>
                        </a:rPr>
                        <a:t>int</a:t>
                      </a: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i</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while(1){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while(</a:t>
                      </a:r>
                      <a:r>
                        <a:rPr lang="en-US" sz="1800" kern="100" dirty="0" err="1">
                          <a:solidFill>
                            <a:srgbClr val="FF0000"/>
                          </a:solidFill>
                          <a:latin typeface="华文中宋" panose="02010600040101010101" pitchFamily="2" charset="-122"/>
                          <a:ea typeface="华文中宋" panose="02010600040101010101" pitchFamily="2" charset="-122"/>
                          <a:cs typeface="Times New Roman" panose="02020603050405020304"/>
                        </a:rPr>
                        <a:t>compare&amp;swap</a:t>
                      </a:r>
                      <a:r>
                        <a:rPr lang="en-US" sz="1800" kern="100" dirty="0">
                          <a:latin typeface="华文中宋" panose="02010600040101010101" pitchFamily="2" charset="-122"/>
                          <a:ea typeface="华文中宋" panose="02010600040101010101" pitchFamily="2" charset="-122"/>
                          <a:cs typeface="Times New Roman" panose="02020603050405020304"/>
                        </a:rPr>
                        <a:t>(bolt,0,1)=1) skip;</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zh-CN" sz="1800" kern="100" dirty="0">
                          <a:latin typeface="华文中宋" panose="02010600040101010101" pitchFamily="2" charset="-122"/>
                          <a:ea typeface="华文中宋" panose="02010600040101010101" pitchFamily="2" charset="-122"/>
                          <a:cs typeface="Times New Roman" panose="02020603050405020304"/>
                        </a:rPr>
                        <a:t>临界区</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bolt:=0;</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00025"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main(){</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bolt:=0;</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parbegin</a:t>
                      </a:r>
                      <a:r>
                        <a:rPr lang="en-US" sz="1800" kern="100" dirty="0">
                          <a:latin typeface="华文中宋" panose="02010600040101010101" pitchFamily="2" charset="-122"/>
                          <a:ea typeface="华文中宋" panose="02010600040101010101" pitchFamily="2" charset="-122"/>
                          <a:cs typeface="Times New Roman" panose="02020603050405020304"/>
                        </a:rPr>
                        <a:t>(P(1),P(2),…,P(n));</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线形标注 2 4"/>
          <p:cNvSpPr/>
          <p:nvPr/>
        </p:nvSpPr>
        <p:spPr>
          <a:xfrm>
            <a:off x="5072066" y="1928802"/>
            <a:ext cx="1643074" cy="500066"/>
          </a:xfrm>
          <a:prstGeom prst="borderCallout2">
            <a:avLst>
              <a:gd name="adj1" fmla="val 18750"/>
              <a:gd name="adj2" fmla="val -8333"/>
              <a:gd name="adj3" fmla="val 18750"/>
              <a:gd name="adj4" fmla="val -16667"/>
              <a:gd name="adj5" fmla="val 194404"/>
              <a:gd name="adj6" fmla="val -4456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5072066" y="2000240"/>
            <a:ext cx="1569660" cy="369332"/>
          </a:xfrm>
          <a:prstGeom prst="rect">
            <a:avLst/>
          </a:prstGeom>
          <a:noFill/>
        </p:spPr>
        <p:txBody>
          <a:bodyPr wrap="none" rtlCol="0">
            <a:spAutoFit/>
          </a:bodyPr>
          <a:lstStyle/>
          <a:p>
            <a:r>
              <a:rPr lang="zh-CN" altLang="en-US" dirty="0">
                <a:solidFill>
                  <a:srgbClr val="FF0000"/>
                </a:solidFill>
                <a:latin typeface="华文中宋" panose="02010600040101010101" pitchFamily="2" charset="-122"/>
                <a:ea typeface="华文中宋" panose="02010600040101010101" pitchFamily="2" charset="-122"/>
              </a:rPr>
              <a:t>专用机器指令</a:t>
            </a:r>
            <a:endParaRPr lang="zh-CN" altLang="en-US"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27329" name="Rectangle 1"/>
          <p:cNvSpPr>
            <a:spLocks noChangeArrowheads="1"/>
          </p:cNvSpPr>
          <p:nvPr/>
        </p:nvSpPr>
        <p:spPr bwMode="auto">
          <a:xfrm>
            <a:off x="357158" y="1643050"/>
            <a:ext cx="8215370" cy="4247317"/>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软件</a:t>
            </a:r>
            <a:r>
              <a:rPr lang="zh-CN" altLang="en-US"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和硬件方法</a:t>
            </a: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存在</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a:t>
            </a: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缺点：</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使用了忙等待</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Busy waiting</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。因此，当一个进程在等待进入临界区时，它会继续消耗处理器时间；</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可能发生饥饿现象</a:t>
            </a: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。当一个进程离开临界区，并且有多个进程正在等待时，选择哪一个等待进程是任意的，因此，某些进程可能被无限期的拒绝进入。</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可能发生死锁</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。考虑单处理器中的下列情况：进程</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P1</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执行专门指令并进入临界区，然后</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P1</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可能被中断并把处理器让渡给具有更高优先级的</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P2</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P2</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在试图进入临界区前，需要执行专门指令，并忙等在循环上。由于</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P2</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的优先级高于</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P1</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，其执行权不会被</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P1</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所抢占，因此</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P1</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永远不会得到调度执行，而</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P2</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也将永远忙等在循环上，于是死锁就发生了。</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85720" y="1428736"/>
            <a:ext cx="3039615" cy="400110"/>
          </a:xfrm>
          <a:prstGeom prst="rect">
            <a:avLst/>
          </a:prstGeom>
        </p:spPr>
        <p:txBody>
          <a:bodyPr wrap="none">
            <a:spAutoFit/>
          </a:bodyPr>
          <a:lstStyle/>
          <a:p>
            <a:r>
              <a:rPr lang="en-US" sz="2000" dirty="0">
                <a:solidFill>
                  <a:srgbClr val="FF0000"/>
                </a:solidFill>
                <a:latin typeface="华文中宋" panose="02010600040101010101" pitchFamily="2" charset="-122"/>
                <a:ea typeface="华文中宋" panose="02010600040101010101" pitchFamily="2" charset="-122"/>
              </a:rPr>
              <a:t>4.2.4 </a:t>
            </a:r>
            <a:r>
              <a:rPr lang="zh-CN" altLang="en-US" sz="2000" dirty="0">
                <a:solidFill>
                  <a:srgbClr val="FF0000"/>
                </a:solidFill>
                <a:latin typeface="华文中宋" panose="02010600040101010101" pitchFamily="2" charset="-122"/>
                <a:ea typeface="华文中宋" panose="02010600040101010101" pitchFamily="2" charset="-122"/>
              </a:rPr>
              <a:t>信号量和</a:t>
            </a:r>
            <a:r>
              <a:rPr lang="en-US" sz="2000" dirty="0">
                <a:solidFill>
                  <a:srgbClr val="FF0000"/>
                </a:solidFill>
                <a:latin typeface="华文中宋" panose="02010600040101010101" pitchFamily="2" charset="-122"/>
                <a:ea typeface="华文中宋" panose="02010600040101010101" pitchFamily="2" charset="-122"/>
              </a:rPr>
              <a:t>P</a:t>
            </a:r>
            <a:r>
              <a:rPr lang="zh-CN" altLang="en-US" sz="2000" dirty="0">
                <a:solidFill>
                  <a:srgbClr val="FF0000"/>
                </a:solidFill>
                <a:latin typeface="华文中宋" panose="02010600040101010101" pitchFamily="2" charset="-122"/>
                <a:ea typeface="华文中宋" panose="02010600040101010101" pitchFamily="2" charset="-122"/>
              </a:rPr>
              <a:t>、</a:t>
            </a:r>
            <a:r>
              <a:rPr lang="en-US" sz="2000" dirty="0">
                <a:solidFill>
                  <a:srgbClr val="FF0000"/>
                </a:solidFill>
                <a:latin typeface="华文中宋" panose="02010600040101010101" pitchFamily="2" charset="-122"/>
                <a:ea typeface="华文中宋" panose="02010600040101010101" pitchFamily="2" charset="-122"/>
              </a:rPr>
              <a:t>V</a:t>
            </a:r>
            <a:r>
              <a:rPr lang="zh-CN" altLang="en-US" sz="2000" dirty="0">
                <a:solidFill>
                  <a:srgbClr val="FF0000"/>
                </a:solidFill>
                <a:latin typeface="华文中宋" panose="02010600040101010101" pitchFamily="2" charset="-122"/>
                <a:ea typeface="华文中宋" panose="02010600040101010101" pitchFamily="2" charset="-122"/>
              </a:rPr>
              <a:t>操作</a:t>
            </a:r>
            <a:endParaRPr lang="zh-CN" altLang="en-US" sz="2000" dirty="0">
              <a:solidFill>
                <a:srgbClr val="FF0000"/>
              </a:solidFill>
              <a:latin typeface="华文中宋" panose="02010600040101010101" pitchFamily="2" charset="-122"/>
              <a:ea typeface="华文中宋" panose="02010600040101010101" pitchFamily="2" charset="-122"/>
            </a:endParaRPr>
          </a:p>
        </p:txBody>
      </p:sp>
      <p:sp>
        <p:nvSpPr>
          <p:cNvPr id="228353" name="Rectangle 1"/>
          <p:cNvSpPr>
            <a:spLocks noChangeArrowheads="1"/>
          </p:cNvSpPr>
          <p:nvPr/>
        </p:nvSpPr>
        <p:spPr bwMode="auto">
          <a:xfrm>
            <a:off x="642910" y="2071678"/>
            <a:ext cx="7290778" cy="1754326"/>
          </a:xfrm>
          <a:prstGeom prst="rect">
            <a:avLst/>
          </a:prstGeom>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为了支持进程并发，我们希望并发控制机制满足下面三个需求：</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）能够让一个进程阻塞或等待（</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waiting</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）在某个条件上。</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lvl="0" indent="266700" eaLnBrk="0" fontAlgn="base" hangingPunct="0">
              <a:lnSpc>
                <a:spcPct val="150000"/>
              </a:lnSpc>
              <a:spcBef>
                <a:spcPct val="0"/>
              </a:spcBef>
              <a:spcAft>
                <a:spcPct val="0"/>
              </a:spcAft>
            </a:pPr>
            <a:r>
              <a:rPr lang="zh-CN" altLang="en-US" dirty="0">
                <a:latin typeface="华文中宋" panose="02010600040101010101" pitchFamily="2" charset="-122"/>
                <a:ea typeface="华文中宋" panose="02010600040101010101" pitchFamily="2" charset="-122"/>
              </a:rPr>
              <a:t>（</a:t>
            </a:r>
            <a:r>
              <a:rPr lang="en-US"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）当一个进程所等待的条件发生变化时，该进程能够得到通知。</a:t>
            </a:r>
            <a:endParaRPr lang="en-US" altLang="zh-CN" dirty="0">
              <a:latin typeface="华文中宋" panose="02010600040101010101" pitchFamily="2" charset="-122"/>
              <a:ea typeface="华文中宋" panose="02010600040101010101" pitchFamily="2" charset="-122"/>
            </a:endParaRPr>
          </a:p>
          <a:p>
            <a:pPr indent="266700" eaLnBrk="0" fontAlgn="base" hangingPunct="0">
              <a:lnSpc>
                <a:spcPct val="150000"/>
              </a:lnSpc>
              <a:spcBef>
                <a:spcPct val="0"/>
              </a:spcBef>
              <a:spcAft>
                <a:spcPct val="0"/>
              </a:spcAft>
            </a:pPr>
            <a:r>
              <a:rPr lang="zh-CN" altLang="en-US" dirty="0">
                <a:latin typeface="华文中宋" panose="02010600040101010101" pitchFamily="2" charset="-122"/>
                <a:ea typeface="华文中宋" panose="02010600040101010101" pitchFamily="2" charset="-122"/>
              </a:rPr>
              <a:t>（</a:t>
            </a:r>
            <a:r>
              <a:rPr lang="en-US"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）能够被多个进程共享的条件变量。</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6" name="矩形 5"/>
          <p:cNvSpPr/>
          <p:nvPr/>
        </p:nvSpPr>
        <p:spPr>
          <a:xfrm>
            <a:off x="642910" y="4214818"/>
            <a:ext cx="7286676"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dirty="0">
                <a:latin typeface="华文中宋" panose="02010600040101010101" pitchFamily="2" charset="-122"/>
                <a:ea typeface="华文中宋" panose="02010600040101010101" pitchFamily="2" charset="-122"/>
              </a:rPr>
              <a:t>      1965</a:t>
            </a:r>
            <a:r>
              <a:rPr lang="zh-CN" altLang="en-US" dirty="0">
                <a:latin typeface="华文中宋" panose="02010600040101010101" pitchFamily="2" charset="-122"/>
                <a:ea typeface="华文中宋" panose="02010600040101010101" pitchFamily="2" charset="-122"/>
              </a:rPr>
              <a:t>年，荷兰计算机科学家</a:t>
            </a:r>
            <a:r>
              <a:rPr lang="en-US" dirty="0" err="1">
                <a:latin typeface="华文中宋" panose="02010600040101010101" pitchFamily="2" charset="-122"/>
                <a:ea typeface="华文中宋" panose="02010600040101010101" pitchFamily="2" charset="-122"/>
              </a:rPr>
              <a:t>Dijkstra</a:t>
            </a:r>
            <a:r>
              <a:rPr lang="zh-CN" altLang="en-US" dirty="0">
                <a:latin typeface="华文中宋" panose="02010600040101010101" pitchFamily="2" charset="-122"/>
                <a:ea typeface="华文中宋" panose="02010600040101010101" pitchFamily="2" charset="-122"/>
              </a:rPr>
              <a:t>首次提出了一个由操作系统提供的并发控制机制</a:t>
            </a:r>
            <a:r>
              <a:rPr lang="en-US" altLang="zh-CN" dirty="0">
                <a:latin typeface="华文中宋" panose="02010600040101010101" pitchFamily="2" charset="-122"/>
                <a:ea typeface="华文中宋" panose="02010600040101010101" pitchFamily="2" charset="-122"/>
              </a:rPr>
              <a:t>——</a:t>
            </a:r>
            <a:r>
              <a:rPr lang="zh-CN" altLang="en-US" b="1" dirty="0">
                <a:solidFill>
                  <a:srgbClr val="FF0000"/>
                </a:solidFill>
                <a:latin typeface="华文中宋" panose="02010600040101010101" pitchFamily="2" charset="-122"/>
                <a:ea typeface="华文中宋" panose="02010600040101010101" pitchFamily="2" charset="-122"/>
              </a:rPr>
              <a:t>信号量</a:t>
            </a:r>
            <a:r>
              <a:rPr lang="zh-CN" altLang="en-US" dirty="0">
                <a:latin typeface="华文中宋" panose="02010600040101010101" pitchFamily="2" charset="-122"/>
                <a:ea typeface="华文中宋" panose="02010600040101010101" pitchFamily="2" charset="-122"/>
              </a:rPr>
              <a:t>（</a:t>
            </a:r>
            <a:r>
              <a:rPr lang="en-US" dirty="0">
                <a:latin typeface="华文中宋" panose="02010600040101010101" pitchFamily="2" charset="-122"/>
                <a:ea typeface="华文中宋" panose="02010600040101010101" pitchFamily="2" charset="-122"/>
              </a:rPr>
              <a:t>Semaphore</a:t>
            </a:r>
            <a:r>
              <a:rPr lang="zh-CN" altLang="en-US" dirty="0">
                <a:latin typeface="华文中宋" panose="02010600040101010101" pitchFamily="2" charset="-122"/>
                <a:ea typeface="华文中宋" panose="02010600040101010101" pitchFamily="2" charset="-122"/>
              </a:rPr>
              <a:t>）。信号量实际上是一个抽象数据类型，包括一个由操作系统管理和维护的整数变量</a:t>
            </a:r>
            <a:r>
              <a:rPr lang="en-US" dirty="0">
                <a:latin typeface="华文中宋" panose="02010600040101010101" pitchFamily="2" charset="-122"/>
                <a:ea typeface="华文中宋" panose="02010600040101010101" pitchFamily="2" charset="-122"/>
              </a:rPr>
              <a:t>count</a:t>
            </a:r>
            <a:r>
              <a:rPr lang="zh-CN" altLang="en-US" dirty="0">
                <a:latin typeface="华文中宋" panose="02010600040101010101" pitchFamily="2" charset="-122"/>
                <a:ea typeface="华文中宋" panose="02010600040101010101" pitchFamily="2" charset="-122"/>
              </a:rPr>
              <a:t>、一个阻塞进程队列</a:t>
            </a:r>
            <a:r>
              <a:rPr lang="en-US" dirty="0">
                <a:latin typeface="华文中宋" panose="02010600040101010101" pitchFamily="2" charset="-122"/>
                <a:ea typeface="华文中宋" panose="02010600040101010101" pitchFamily="2" charset="-122"/>
              </a:rPr>
              <a:t>queue</a:t>
            </a:r>
            <a:r>
              <a:rPr lang="zh-CN" altLang="en-US" dirty="0">
                <a:latin typeface="华文中宋" panose="02010600040101010101" pitchFamily="2" charset="-122"/>
                <a:ea typeface="华文中宋" panose="02010600040101010101" pitchFamily="2" charset="-122"/>
              </a:rPr>
              <a:t>，以及作用在信号量上的一组操作。</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214282" y="1785926"/>
          <a:ext cx="4860290" cy="4937760"/>
        </p:xfrm>
        <a:graphic>
          <a:graphicData uri="http://schemas.openxmlformats.org/drawingml/2006/table">
            <a:tbl>
              <a:tblPr/>
              <a:tblGrid>
                <a:gridCol w="4860290"/>
              </a:tblGrid>
              <a:tr h="0">
                <a:tc>
                  <a:txBody>
                    <a:bodyPr/>
                    <a:lstStyle/>
                    <a:p>
                      <a:pPr algn="just">
                        <a:lnSpc>
                          <a:spcPct val="150000"/>
                        </a:lnSpc>
                        <a:spcAft>
                          <a:spcPts val="0"/>
                        </a:spcAft>
                      </a:pPr>
                      <a:r>
                        <a:rPr lang="en-US" sz="1800" kern="100" dirty="0" err="1">
                          <a:latin typeface="华文中宋" panose="02010600040101010101" pitchFamily="2" charset="-122"/>
                          <a:ea typeface="华文中宋" panose="02010600040101010101" pitchFamily="2" charset="-122"/>
                          <a:cs typeface="Times New Roman" panose="02020603050405020304"/>
                        </a:rPr>
                        <a:t>struct</a:t>
                      </a: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a:solidFill>
                            <a:srgbClr val="FF0000"/>
                          </a:solidFill>
                          <a:latin typeface="华文中宋" panose="02010600040101010101" pitchFamily="2" charset="-122"/>
                          <a:ea typeface="华文中宋" panose="02010600040101010101" pitchFamily="2" charset="-122"/>
                          <a:cs typeface="Times New Roman" panose="02020603050405020304"/>
                        </a:rPr>
                        <a:t>semaphore</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int</a:t>
                      </a:r>
                      <a:r>
                        <a:rPr lang="en-US" sz="1800" kern="100" dirty="0">
                          <a:latin typeface="华文中宋" panose="02010600040101010101" pitchFamily="2" charset="-122"/>
                          <a:ea typeface="华文中宋" panose="02010600040101010101" pitchFamily="2" charset="-122"/>
                          <a:cs typeface="Times New Roman" panose="02020603050405020304"/>
                        </a:rPr>
                        <a:t> count;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queuetype</a:t>
                      </a:r>
                      <a:r>
                        <a:rPr lang="en-US" sz="1800" kern="100" dirty="0">
                          <a:latin typeface="华文中宋" panose="02010600040101010101" pitchFamily="2" charset="-122"/>
                          <a:ea typeface="华文中宋" panose="02010600040101010101" pitchFamily="2" charset="-122"/>
                          <a:cs typeface="Times New Roman" panose="02020603050405020304"/>
                        </a:rPr>
                        <a:t> queue;</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Procedure </a:t>
                      </a:r>
                      <a:r>
                        <a:rPr lang="en-US"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P</a:t>
                      </a:r>
                      <a:r>
                        <a:rPr lang="en-US" sz="1800" kern="100" dirty="0">
                          <a:latin typeface="华文中宋" panose="02010600040101010101" pitchFamily="2" charset="-122"/>
                          <a:ea typeface="华文中宋" panose="02010600040101010101" pitchFamily="2" charset="-122"/>
                          <a:cs typeface="Times New Roman" panose="02020603050405020304"/>
                        </a:rPr>
                        <a:t>(semaphore s){</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s.count</a:t>
                      </a:r>
                      <a:r>
                        <a:rPr lang="en-US" sz="1800" kern="100" dirty="0">
                          <a:latin typeface="华文中宋" panose="02010600040101010101" pitchFamily="2" charset="-122"/>
                          <a:ea typeface="华文中宋" panose="02010600040101010101" pitchFamily="2" charset="-122"/>
                          <a:cs typeface="Times New Roman" panose="02020603050405020304"/>
                        </a:rPr>
                        <a:t>:=s.count-1;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00025"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if(</a:t>
                      </a:r>
                      <a:r>
                        <a:rPr lang="en-US" sz="1800" kern="100" dirty="0" err="1">
                          <a:latin typeface="华文中宋" panose="02010600040101010101" pitchFamily="2" charset="-122"/>
                          <a:ea typeface="华文中宋" panose="02010600040101010101" pitchFamily="2" charset="-122"/>
                          <a:cs typeface="Times New Roman" panose="02020603050405020304"/>
                        </a:rPr>
                        <a:t>s.count</a:t>
                      </a:r>
                      <a:r>
                        <a:rPr lang="en-US" sz="1800" kern="100" dirty="0">
                          <a:latin typeface="华文中宋" panose="02010600040101010101" pitchFamily="2" charset="-122"/>
                          <a:ea typeface="华文中宋" panose="02010600040101010101" pitchFamily="2" charset="-122"/>
                          <a:cs typeface="Times New Roman" panose="02020603050405020304"/>
                        </a:rPr>
                        <a:t>&lt;0) </a:t>
                      </a:r>
                      <a:r>
                        <a:rPr lang="en-US" sz="1800" b="1" kern="100" dirty="0">
                          <a:latin typeface="华文中宋" panose="02010600040101010101" pitchFamily="2" charset="-122"/>
                          <a:ea typeface="华文中宋" panose="02010600040101010101" pitchFamily="2" charset="-122"/>
                          <a:cs typeface="Times New Roman" panose="02020603050405020304"/>
                        </a:rPr>
                        <a:t>Wait</a:t>
                      </a:r>
                      <a:r>
                        <a:rPr lang="en-US" sz="1800" kern="100" dirty="0">
                          <a:latin typeface="华文中宋" panose="02010600040101010101" pitchFamily="2" charset="-122"/>
                          <a:ea typeface="华文中宋" panose="02010600040101010101" pitchFamily="2" charset="-122"/>
                          <a:cs typeface="Times New Roman" panose="02020603050405020304"/>
                        </a:rPr>
                        <a:t>(s);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Procedure </a:t>
                      </a:r>
                      <a:r>
                        <a:rPr lang="en-US"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V</a:t>
                      </a:r>
                      <a:r>
                        <a:rPr lang="en-US" sz="1800" kern="100" dirty="0">
                          <a:latin typeface="华文中宋" panose="02010600040101010101" pitchFamily="2" charset="-122"/>
                          <a:ea typeface="华文中宋" panose="02010600040101010101" pitchFamily="2" charset="-122"/>
                          <a:cs typeface="Times New Roman" panose="02020603050405020304"/>
                        </a:rPr>
                        <a:t>(semaphore s){</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s.count</a:t>
                      </a:r>
                      <a:r>
                        <a:rPr lang="en-US" sz="1800" kern="100" dirty="0">
                          <a:latin typeface="华文中宋" panose="02010600040101010101" pitchFamily="2" charset="-122"/>
                          <a:ea typeface="华文中宋" panose="02010600040101010101" pitchFamily="2" charset="-122"/>
                          <a:cs typeface="Times New Roman" panose="02020603050405020304"/>
                        </a:rPr>
                        <a:t>:=s.count+1;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if(s.count≤0) </a:t>
                      </a:r>
                      <a:r>
                        <a:rPr lang="en-US" sz="1800" b="1" kern="100" dirty="0">
                          <a:latin typeface="华文中宋" panose="02010600040101010101" pitchFamily="2" charset="-122"/>
                          <a:ea typeface="华文中宋" panose="02010600040101010101" pitchFamily="2" charset="-122"/>
                          <a:cs typeface="Times New Roman" panose="02020603050405020304"/>
                        </a:rPr>
                        <a:t>Release</a:t>
                      </a:r>
                      <a:r>
                        <a:rPr lang="en-US" sz="1800" kern="100" dirty="0">
                          <a:latin typeface="华文中宋" panose="02010600040101010101" pitchFamily="2" charset="-122"/>
                          <a:ea typeface="华文中宋" panose="02010600040101010101" pitchFamily="2" charset="-122"/>
                          <a:cs typeface="Times New Roman" panose="02020603050405020304"/>
                        </a:rPr>
                        <a:t>(s);</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29377" name="Rectangle 1"/>
          <p:cNvSpPr>
            <a:spLocks noChangeArrowheads="1"/>
          </p:cNvSpPr>
          <p:nvPr/>
        </p:nvSpPr>
        <p:spPr bwMode="auto">
          <a:xfrm>
            <a:off x="142844" y="1357298"/>
            <a:ext cx="4455066" cy="369332"/>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操作和</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操作可表示为如下两个过程：</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29378" name="Rectangle 2"/>
          <p:cNvSpPr>
            <a:spLocks noChangeArrowheads="1"/>
          </p:cNvSpPr>
          <p:nvPr/>
        </p:nvSpPr>
        <p:spPr bwMode="auto">
          <a:xfrm>
            <a:off x="4286248" y="1928802"/>
            <a:ext cx="4786346" cy="4194738"/>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其中，</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Wait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Release</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是由操作系统提供的两个原语。</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Wait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：操作系统把调用</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的进程设置为阻塞态，并把它加入到信号量</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的阻塞队列</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s.queue</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中，然后退出。</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Release</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：操作系统从信号量</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的阻塞队列</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s.queue</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中，按照某种策略挑选一个进程，把它从队列中移出，并把它从阻塞态变换为就绪态，加入就绪队列，然后退出；</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s.count</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的初值可以是任意整数值。</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30401" name="Rectangle 1"/>
          <p:cNvSpPr>
            <a:spLocks noChangeArrowheads="1"/>
          </p:cNvSpPr>
          <p:nvPr/>
        </p:nvSpPr>
        <p:spPr bwMode="auto">
          <a:xfrm>
            <a:off x="357158" y="836580"/>
            <a:ext cx="8572560" cy="5860259"/>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对于信号量，还需要注意如下几点：</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操作必须是</a:t>
            </a:r>
            <a:r>
              <a:rPr kumimoji="0" lang="zh-CN" altLang="en-US"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原子的</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b="1" i="1"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如何保证</a:t>
            </a:r>
            <a:r>
              <a:rPr kumimoji="0" lang="en-US" altLang="zh-CN" b="1" i="1"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zh-CN" altLang="en-US" b="1" i="1"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1" i="1"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zh-CN" altLang="en-US" b="1" i="1"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操作的原子性呢？</a:t>
            </a:r>
            <a:endParaRPr kumimoji="0" lang="zh-CN" altLang="en-US" b="1" i="1"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信号量</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是由操作系统创建、管理和维护的一种</a:t>
            </a:r>
            <a:r>
              <a:rPr kumimoji="0" lang="zh-CN" altLang="en-US"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系统资源</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，并通过</a:t>
            </a:r>
            <a:r>
              <a:rPr kumimoji="0" lang="zh-CN" altLang="en-US"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唯一的</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ID</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进行管理和识别。当一个进程需要对信号量进行操作时，首先必须向操作系统申请获取该信号量。</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调用</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a:t>
            </a:r>
            <a:r>
              <a:rPr kumimoji="0" lang="zh-CN" altLang="en-US"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可能</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使调用进程</a:t>
            </a:r>
            <a:r>
              <a:rPr kumimoji="0" lang="zh-CN" altLang="en-US"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阻塞</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在条件</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s&lt;0</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上。</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调用一次</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a:t>
            </a:r>
            <a:r>
              <a:rPr kumimoji="0" lang="zh-CN" altLang="en-US"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可能</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使阻塞在</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上的一个进程被</a:t>
            </a:r>
            <a:r>
              <a:rPr kumimoji="0" lang="zh-CN" altLang="en-US"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唤醒</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（或被通知），从而进入就绪状态，但不一定能够马上得到调度执行，这取决于调度策略。</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当存在多个进程阻塞在信号量上时，</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操作究竟该选择哪一个进程解除阻塞呢？这取决于操作系统的调度策略。</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zh-CN" altLang="en-US"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信号量必须在互斥的进程（或线程）间共享？线程间共享可以通过信号量句柄（全局变量）来实现，那么进程间如何共享信号量呢？（要通过</a:t>
            </a:r>
            <a:r>
              <a:rPr lang="en-US" altLang="zh-CN"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named semaphore</a:t>
            </a:r>
            <a:r>
              <a:rPr lang="zh-CN" altLang="en-US"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信号量具有安全属性。</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zh-CN" altLang="en-US"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信号量具有内核级别的持久性（</a:t>
            </a:r>
            <a:r>
              <a:rPr lang="en-US" altLang="zh-CN"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kernel-persistence</a:t>
            </a:r>
            <a:r>
              <a:rPr lang="zh-CN" altLang="en-US"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428596" y="1285860"/>
            <a:ext cx="4435830" cy="461665"/>
          </a:xfrm>
          <a:prstGeom prst="rect">
            <a:avLst/>
          </a:prstGeom>
        </p:spPr>
        <p:txBody>
          <a:bodyPr wrap="none">
            <a:spAutoFit/>
          </a:bodyPr>
          <a:lstStyle/>
          <a:p>
            <a:r>
              <a:rPr lang="en-US" sz="2400" dirty="0">
                <a:solidFill>
                  <a:srgbClr val="FF0000"/>
                </a:solidFill>
                <a:latin typeface="华文中宋" panose="02010600040101010101" pitchFamily="2" charset="-122"/>
                <a:ea typeface="华文中宋" panose="02010600040101010101" pitchFamily="2" charset="-122"/>
              </a:rPr>
              <a:t>4.2.5 </a:t>
            </a:r>
            <a:r>
              <a:rPr lang="zh-CN" altLang="en-US" sz="2400" dirty="0">
                <a:solidFill>
                  <a:srgbClr val="FF0000"/>
                </a:solidFill>
                <a:latin typeface="华文中宋" panose="02010600040101010101" pitchFamily="2" charset="-122"/>
                <a:ea typeface="华文中宋" panose="02010600040101010101" pitchFamily="2" charset="-122"/>
              </a:rPr>
              <a:t>使用信号量解决互斥问题</a:t>
            </a:r>
            <a:endParaRPr lang="zh-CN" altLang="en-US" sz="2400" dirty="0">
              <a:solidFill>
                <a:srgbClr val="FF0000"/>
              </a:solidFill>
              <a:latin typeface="华文中宋" panose="02010600040101010101" pitchFamily="2" charset="-122"/>
              <a:ea typeface="华文中宋" panose="02010600040101010101" pitchFamily="2" charset="-122"/>
            </a:endParaRPr>
          </a:p>
        </p:txBody>
      </p:sp>
      <p:graphicFrame>
        <p:nvGraphicFramePr>
          <p:cNvPr id="5" name="表格 4"/>
          <p:cNvGraphicFramePr>
            <a:graphicFrameLocks noGrp="1"/>
          </p:cNvGraphicFramePr>
          <p:nvPr/>
        </p:nvGraphicFramePr>
        <p:xfrm>
          <a:off x="2000232" y="2857496"/>
          <a:ext cx="5130800" cy="3566160"/>
        </p:xfrm>
        <a:graphic>
          <a:graphicData uri="http://schemas.openxmlformats.org/drawingml/2006/table">
            <a:tbl>
              <a:tblPr/>
              <a:tblGrid>
                <a:gridCol w="5130800"/>
              </a:tblGrid>
              <a:tr h="0">
                <a:tc>
                  <a:txBody>
                    <a:bodyPr/>
                    <a:lstStyle/>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const </a:t>
                      </a:r>
                      <a:r>
                        <a:rPr lang="en-US" sz="1800" kern="100" dirty="0" err="1">
                          <a:latin typeface="华文中宋" panose="02010600040101010101" pitchFamily="2" charset="-122"/>
                          <a:ea typeface="华文中宋" panose="02010600040101010101" pitchFamily="2" charset="-122"/>
                          <a:cs typeface="Times New Roman" panose="02020603050405020304"/>
                        </a:rPr>
                        <a:t>int</a:t>
                      </a:r>
                      <a:r>
                        <a:rPr lang="en-US" sz="1800" kern="100" dirty="0">
                          <a:latin typeface="华文中宋" panose="02010600040101010101" pitchFamily="2" charset="-122"/>
                          <a:ea typeface="华文中宋" panose="02010600040101010101" pitchFamily="2" charset="-122"/>
                          <a:cs typeface="Times New Roman" panose="02020603050405020304"/>
                        </a:rPr>
                        <a:t> n:=/*</a:t>
                      </a:r>
                      <a:r>
                        <a:rPr lang="zh-CN" sz="1800" kern="100" dirty="0">
                          <a:latin typeface="华文中宋" panose="02010600040101010101" pitchFamily="2" charset="-122"/>
                          <a:ea typeface="华文中宋" panose="02010600040101010101" pitchFamily="2" charset="-122"/>
                          <a:cs typeface="Times New Roman" panose="02020603050405020304"/>
                        </a:rPr>
                        <a:t>进程数</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semaphore s:=1;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void P(</a:t>
                      </a:r>
                      <a:r>
                        <a:rPr lang="en-US" sz="1800" kern="100" dirty="0" err="1">
                          <a:latin typeface="华文中宋" panose="02010600040101010101" pitchFamily="2" charset="-122"/>
                          <a:ea typeface="华文中宋" panose="02010600040101010101" pitchFamily="2" charset="-122"/>
                          <a:cs typeface="Times New Roman" panose="02020603050405020304"/>
                        </a:rPr>
                        <a:t>int</a:t>
                      </a: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i</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while(1){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b="1" kern="100" dirty="0">
                          <a:highlight>
                            <a:srgbClr val="C0C0C0"/>
                          </a:highlight>
                          <a:latin typeface="华文中宋" panose="02010600040101010101" pitchFamily="2" charset="-122"/>
                          <a:ea typeface="华文中宋" panose="02010600040101010101" pitchFamily="2" charset="-122"/>
                          <a:cs typeface="Times New Roman" panose="02020603050405020304"/>
                        </a:rPr>
                        <a:t>P</a:t>
                      </a:r>
                      <a:r>
                        <a:rPr lang="en-US" sz="1800" kern="100" dirty="0">
                          <a:highlight>
                            <a:srgbClr val="C0C0C0"/>
                          </a:highlight>
                          <a:latin typeface="华文中宋" panose="02010600040101010101" pitchFamily="2" charset="-122"/>
                          <a:ea typeface="华文中宋" panose="02010600040101010101" pitchFamily="2" charset="-122"/>
                          <a:cs typeface="Times New Roman" panose="02020603050405020304"/>
                        </a:rPr>
                        <a:t>(s);</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a:highlight>
                            <a:srgbClr val="C0C0C0"/>
                          </a:highlight>
                          <a:latin typeface="华文中宋" panose="02010600040101010101" pitchFamily="2" charset="-122"/>
                          <a:ea typeface="华文中宋" panose="02010600040101010101" pitchFamily="2" charset="-122"/>
                          <a:cs typeface="Times New Roman" panose="02020603050405020304"/>
                        </a:rPr>
                        <a:t>/*</a:t>
                      </a:r>
                      <a:r>
                        <a:rPr lang="zh-CN" sz="1800" kern="100" dirty="0">
                          <a:highlight>
                            <a:srgbClr val="C0C0C0"/>
                          </a:highlight>
                          <a:latin typeface="华文中宋" panose="02010600040101010101" pitchFamily="2" charset="-122"/>
                          <a:ea typeface="华文中宋" panose="02010600040101010101" pitchFamily="2" charset="-122"/>
                          <a:cs typeface="Times New Roman" panose="02020603050405020304"/>
                        </a:rPr>
                        <a:t>临界区</a:t>
                      </a:r>
                      <a:r>
                        <a:rPr lang="en-US" sz="1800" kern="100" dirty="0">
                          <a:highlight>
                            <a:srgbClr val="C0C0C0"/>
                          </a:highlight>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b="1" kern="100" dirty="0">
                          <a:highlight>
                            <a:srgbClr val="C0C0C0"/>
                          </a:highlight>
                          <a:latin typeface="华文中宋" panose="02010600040101010101" pitchFamily="2" charset="-122"/>
                          <a:ea typeface="华文中宋" panose="02010600040101010101" pitchFamily="2" charset="-122"/>
                          <a:cs typeface="Times New Roman" panose="02020603050405020304"/>
                        </a:rPr>
                        <a:t>V</a:t>
                      </a:r>
                      <a:r>
                        <a:rPr lang="en-US" sz="1800" kern="100" dirty="0">
                          <a:highlight>
                            <a:srgbClr val="C0C0C0"/>
                          </a:highlight>
                          <a:latin typeface="华文中宋" panose="02010600040101010101" pitchFamily="2" charset="-122"/>
                          <a:ea typeface="华文中宋" panose="02010600040101010101" pitchFamily="2" charset="-122"/>
                          <a:cs typeface="Times New Roman" panose="02020603050405020304"/>
                        </a:rPr>
                        <a:t>(s);</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zh-CN" sz="1800" kern="100" dirty="0">
                          <a:latin typeface="华文中宋" panose="02010600040101010101" pitchFamily="2" charset="-122"/>
                          <a:ea typeface="华文中宋" panose="02010600040101010101" pitchFamily="2" charset="-122"/>
                          <a:cs typeface="Times New Roman" panose="02020603050405020304"/>
                        </a:rPr>
                        <a:t>其它代码</a:t>
                      </a: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void main(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parbegin</a:t>
                      </a:r>
                      <a:r>
                        <a:rPr lang="en-US" sz="1800" kern="100" dirty="0">
                          <a:latin typeface="华文中宋" panose="02010600040101010101" pitchFamily="2" charset="-122"/>
                          <a:ea typeface="华文中宋" panose="02010600040101010101" pitchFamily="2" charset="-122"/>
                          <a:cs typeface="Times New Roman" panose="02020603050405020304"/>
                        </a:rPr>
                        <a:t> (P(1), P(2),…, P(n));</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31425" name="Rectangle 1"/>
          <p:cNvSpPr>
            <a:spLocks noChangeArrowheads="1"/>
          </p:cNvSpPr>
          <p:nvPr/>
        </p:nvSpPr>
        <p:spPr bwMode="auto">
          <a:xfrm>
            <a:off x="357158" y="1857364"/>
            <a:ext cx="8143932" cy="92333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设有</a:t>
            </a:r>
            <a:r>
              <a:rPr kumimoji="0" lang="en-US" altLang="zh-CN"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个进程，用</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1"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=1,2,…,</a:t>
            </a:r>
            <a:r>
              <a:rPr kumimoji="0" lang="en-US" altLang="zh-CN"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）来表示。每个进程进入临界区前执行</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操作，退出临界区后执行</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0" y="0"/>
            <a:ext cx="9144000" cy="1338828"/>
          </a:xfrm>
          <a:prstGeom prst="rect">
            <a:avLst/>
          </a:prstGeom>
          <a:solidFill>
            <a:schemeClr val="bg1"/>
          </a:solidFill>
        </p:spPr>
        <p:txBody>
          <a:bodyPr wrap="square">
            <a:spAutoFit/>
          </a:bodyPr>
          <a:lstStyle/>
          <a:p>
            <a:pPr>
              <a:lnSpc>
                <a:spcPct val="150000"/>
              </a:lnSpc>
            </a:pP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例</a:t>
            </a:r>
            <a:r>
              <a:rPr lang="en-US" dirty="0">
                <a:latin typeface="华文中宋" panose="02010600040101010101" pitchFamily="2" charset="-122"/>
                <a:ea typeface="华文中宋" panose="02010600040101010101" pitchFamily="2" charset="-122"/>
              </a:rPr>
              <a:t>4-3</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设一民航航班售票系统有</a:t>
            </a:r>
            <a:r>
              <a:rPr lang="en-US" i="1"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个售票处。每个售票处通过终端访问系统中的票务数据库。假定数据库中一些单元</a:t>
            </a:r>
            <a:r>
              <a:rPr lang="en-US" i="1" dirty="0" err="1">
                <a:latin typeface="华文中宋" panose="02010600040101010101" pitchFamily="2" charset="-122"/>
                <a:ea typeface="华文中宋" panose="02010600040101010101" pitchFamily="2" charset="-122"/>
              </a:rPr>
              <a:t>x</a:t>
            </a:r>
            <a:r>
              <a:rPr lang="en-US" i="1" baseline="-25000" dirty="0" err="1">
                <a:latin typeface="华文中宋" panose="02010600040101010101" pitchFamily="2" charset="-122"/>
                <a:ea typeface="华文中宋" panose="02010600040101010101" pitchFamily="2" charset="-122"/>
              </a:rPr>
              <a:t>k</a:t>
            </a:r>
            <a:r>
              <a:rPr lang="en-US" i="1" baseline="-25000" dirty="0">
                <a:latin typeface="华文中宋" panose="02010600040101010101" pitchFamily="2" charset="-122"/>
                <a:ea typeface="华文中宋" panose="02010600040101010101" pitchFamily="2" charset="-122"/>
              </a:rPr>
              <a:t> </a:t>
            </a:r>
            <a:r>
              <a:rPr lang="en-US" dirty="0">
                <a:latin typeface="华文中宋" panose="02010600040101010101" pitchFamily="2" charset="-122"/>
                <a:ea typeface="华文中宋" panose="02010600040101010101" pitchFamily="2" charset="-122"/>
              </a:rPr>
              <a:t>(</a:t>
            </a:r>
            <a:r>
              <a:rPr lang="en-US" i="1" dirty="0">
                <a:latin typeface="华文中宋" panose="02010600040101010101" pitchFamily="2" charset="-122"/>
                <a:ea typeface="华文中宋" panose="02010600040101010101" pitchFamily="2" charset="-122"/>
              </a:rPr>
              <a:t>k</a:t>
            </a:r>
            <a:r>
              <a:rPr lang="en-US" dirty="0">
                <a:latin typeface="华文中宋" panose="02010600040101010101" pitchFamily="2" charset="-122"/>
                <a:ea typeface="华文中宋" panose="02010600040101010101" pitchFamily="2" charset="-122"/>
              </a:rPr>
              <a:t>=1,2,…)</a:t>
            </a:r>
            <a:r>
              <a:rPr lang="zh-CN" altLang="en-US" dirty="0">
                <a:latin typeface="华文中宋" panose="02010600040101010101" pitchFamily="2" charset="-122"/>
                <a:ea typeface="华文中宋" panose="02010600040101010101" pitchFamily="2" charset="-122"/>
              </a:rPr>
              <a:t>分别存放航班现有票数。设</a:t>
            </a:r>
            <a:r>
              <a:rPr lang="en-US" dirty="0">
                <a:latin typeface="华文中宋" panose="02010600040101010101" pitchFamily="2" charset="-122"/>
                <a:ea typeface="华文中宋" panose="02010600040101010101" pitchFamily="2" charset="-122"/>
              </a:rPr>
              <a:t>P1</a:t>
            </a:r>
            <a:r>
              <a:rPr lang="zh-CN" altLang="en-US" dirty="0">
                <a:latin typeface="华文中宋" panose="02010600040101010101" pitchFamily="2" charset="-122"/>
                <a:ea typeface="华文中宋" panose="02010600040101010101" pitchFamily="2" charset="-122"/>
              </a:rPr>
              <a:t>，</a:t>
            </a:r>
            <a:r>
              <a:rPr lang="en-US" dirty="0">
                <a:latin typeface="华文中宋" panose="02010600040101010101" pitchFamily="2" charset="-122"/>
                <a:ea typeface="华文中宋" panose="02010600040101010101" pitchFamily="2" charset="-122"/>
              </a:rPr>
              <a:t>P2</a:t>
            </a:r>
            <a:r>
              <a:rPr lang="zh-CN" altLang="en-US" dirty="0">
                <a:latin typeface="华文中宋" panose="02010600040101010101" pitchFamily="2" charset="-122"/>
                <a:ea typeface="华文中宋" panose="02010600040101010101" pitchFamily="2" charset="-122"/>
              </a:rPr>
              <a:t>，</a:t>
            </a:r>
            <a:r>
              <a:rPr lang="en-US"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a:t>
            </a:r>
            <a:r>
              <a:rPr lang="en-US" dirty="0" err="1">
                <a:latin typeface="华文中宋" panose="02010600040101010101" pitchFamily="2" charset="-122"/>
                <a:ea typeface="华文中宋" panose="02010600040101010101" pitchFamily="2" charset="-122"/>
              </a:rPr>
              <a:t>Pn</a:t>
            </a:r>
            <a:r>
              <a:rPr lang="zh-CN" altLang="en-US" dirty="0">
                <a:latin typeface="华文中宋" panose="02010600040101010101" pitchFamily="2" charset="-122"/>
                <a:ea typeface="华文中宋" panose="02010600040101010101" pitchFamily="2" charset="-122"/>
              </a:rPr>
              <a:t>分别表示各售票处的处理进程，</a:t>
            </a:r>
            <a:r>
              <a:rPr lang="en-US" dirty="0">
                <a:latin typeface="华文中宋" panose="02010600040101010101" pitchFamily="2" charset="-122"/>
                <a:ea typeface="华文中宋" panose="02010600040101010101" pitchFamily="2" charset="-122"/>
              </a:rPr>
              <a:t>R1</a:t>
            </a:r>
            <a:r>
              <a:rPr lang="zh-CN" altLang="en-US" dirty="0">
                <a:latin typeface="华文中宋" panose="02010600040101010101" pitchFamily="2" charset="-122"/>
                <a:ea typeface="华文中宋" panose="02010600040101010101" pitchFamily="2" charset="-122"/>
              </a:rPr>
              <a:t>，</a:t>
            </a:r>
            <a:r>
              <a:rPr lang="en-US" dirty="0">
                <a:latin typeface="华文中宋" panose="02010600040101010101" pitchFamily="2" charset="-122"/>
                <a:ea typeface="华文中宋" panose="02010600040101010101" pitchFamily="2" charset="-122"/>
              </a:rPr>
              <a:t>R2</a:t>
            </a:r>
            <a:r>
              <a:rPr lang="zh-CN" altLang="en-US" dirty="0">
                <a:latin typeface="华文中宋" panose="02010600040101010101" pitchFamily="2" charset="-122"/>
                <a:ea typeface="华文中宋" panose="02010600040101010101" pitchFamily="2" charset="-122"/>
              </a:rPr>
              <a:t>，</a:t>
            </a:r>
            <a:r>
              <a:rPr lang="en-US"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a:t>
            </a:r>
            <a:r>
              <a:rPr lang="en-US" dirty="0" err="1">
                <a:latin typeface="华文中宋" panose="02010600040101010101" pitchFamily="2" charset="-122"/>
                <a:ea typeface="华文中宋" panose="02010600040101010101" pitchFamily="2" charset="-122"/>
              </a:rPr>
              <a:t>Rn</a:t>
            </a:r>
            <a:r>
              <a:rPr lang="zh-CN" altLang="en-US" dirty="0">
                <a:latin typeface="华文中宋" panose="02010600040101010101" pitchFamily="2" charset="-122"/>
                <a:ea typeface="华文中宋" panose="02010600040101010101" pitchFamily="2" charset="-122"/>
              </a:rPr>
              <a:t>表示各进程执行时所用的工作单元。</a:t>
            </a:r>
            <a:endParaRPr lang="zh-CN" altLang="en-US" dirty="0">
              <a:latin typeface="华文中宋" panose="02010600040101010101" pitchFamily="2" charset="-122"/>
              <a:ea typeface="华文中宋" panose="02010600040101010101" pitchFamily="2" charset="-122"/>
            </a:endParaRPr>
          </a:p>
        </p:txBody>
      </p:sp>
      <p:pic>
        <p:nvPicPr>
          <p:cNvPr id="232450" name="Picture 2"/>
          <p:cNvPicPr>
            <a:picLocks noChangeAspect="1" noChangeArrowheads="1"/>
          </p:cNvPicPr>
          <p:nvPr/>
        </p:nvPicPr>
        <p:blipFill>
          <a:blip r:embed="rId1"/>
          <a:srcRect/>
          <a:stretch>
            <a:fillRect/>
          </a:stretch>
        </p:blipFill>
        <p:spPr bwMode="auto">
          <a:xfrm>
            <a:off x="1357290" y="1214422"/>
            <a:ext cx="6370083" cy="5643578"/>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1357298"/>
            <a:ext cx="8229600" cy="542916"/>
          </a:xfrm>
        </p:spPr>
        <p:txBody>
          <a:bodyPr/>
          <a:lstStyle/>
          <a:p>
            <a:r>
              <a:rPr lang="zh-CN" altLang="en-US" dirty="0"/>
              <a:t>回顾</a:t>
            </a:r>
            <a:endParaRPr lang="zh-CN" altLang="en-US" dirty="0"/>
          </a:p>
        </p:txBody>
      </p:sp>
      <p:sp>
        <p:nvSpPr>
          <p:cNvPr id="4" name="TextBox 3"/>
          <p:cNvSpPr txBox="1"/>
          <p:nvPr/>
        </p:nvSpPr>
        <p:spPr>
          <a:xfrm>
            <a:off x="642910" y="2000240"/>
            <a:ext cx="8143932" cy="37856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en-US" altLang="zh-CN" sz="2000" dirty="0">
                <a:latin typeface="华文中宋" panose="02010600040101010101" pitchFamily="2" charset="-122"/>
                <a:ea typeface="华文中宋" panose="02010600040101010101" pitchFamily="2" charset="-122"/>
              </a:rPr>
              <a:t>1</a:t>
            </a:r>
            <a:r>
              <a:rPr lang="zh-CN" altLang="en-US" sz="2000" dirty="0">
                <a:latin typeface="华文中宋" panose="02010600040101010101" pitchFamily="2" charset="-122"/>
                <a:ea typeface="华文中宋" panose="02010600040101010101" pitchFamily="2" charset="-122"/>
              </a:rPr>
              <a:t>、信号量是一个整数计数值，取值范围可以是任意整数。 </a:t>
            </a:r>
            <a:r>
              <a:rPr lang="en-US" altLang="zh-CN" sz="2000" dirty="0">
                <a:latin typeface="华文中宋" panose="02010600040101010101" pitchFamily="2" charset="-122"/>
                <a:ea typeface="华文中宋" panose="02010600040101010101" pitchFamily="2" charset="-122"/>
              </a:rPr>
              <a:t>T/F</a:t>
            </a:r>
            <a:endParaRPr lang="en-US" altLang="zh-CN" sz="2000" dirty="0">
              <a:latin typeface="华文中宋" panose="02010600040101010101" pitchFamily="2" charset="-122"/>
              <a:ea typeface="华文中宋" panose="02010600040101010101" pitchFamily="2" charset="-122"/>
            </a:endParaRPr>
          </a:p>
          <a:p>
            <a:pPr>
              <a:lnSpc>
                <a:spcPct val="150000"/>
              </a:lnSpc>
            </a:pPr>
            <a:r>
              <a:rPr lang="en-US" altLang="zh-CN" sz="2000" dirty="0">
                <a:latin typeface="华文中宋" panose="02010600040101010101" pitchFamily="2" charset="-122"/>
                <a:ea typeface="华文中宋" panose="02010600040101010101" pitchFamily="2" charset="-122"/>
              </a:rPr>
              <a:t>2</a:t>
            </a:r>
            <a:r>
              <a:rPr lang="zh-CN" altLang="en-US" sz="2000" dirty="0">
                <a:latin typeface="华文中宋" panose="02010600040101010101" pitchFamily="2" charset="-122"/>
                <a:ea typeface="华文中宋" panose="02010600040101010101" pitchFamily="2" charset="-122"/>
              </a:rPr>
              <a:t>、信号量是位于用户空间的一项资源。</a:t>
            </a:r>
            <a:r>
              <a:rPr lang="en-US" altLang="zh-CN" sz="2000" dirty="0">
                <a:latin typeface="华文中宋" panose="02010600040101010101" pitchFamily="2" charset="-122"/>
                <a:ea typeface="华文中宋" panose="02010600040101010101" pitchFamily="2" charset="-122"/>
              </a:rPr>
              <a:t>T/F</a:t>
            </a:r>
            <a:endParaRPr lang="en-US" altLang="zh-CN" sz="2000" dirty="0">
              <a:latin typeface="华文中宋" panose="02010600040101010101" pitchFamily="2" charset="-122"/>
              <a:ea typeface="华文中宋" panose="02010600040101010101" pitchFamily="2" charset="-122"/>
            </a:endParaRPr>
          </a:p>
          <a:p>
            <a:pPr>
              <a:lnSpc>
                <a:spcPct val="150000"/>
              </a:lnSpc>
            </a:pPr>
            <a:r>
              <a:rPr lang="en-US" altLang="zh-CN" sz="2000" dirty="0">
                <a:latin typeface="华文中宋" panose="02010600040101010101" pitchFamily="2" charset="-122"/>
                <a:ea typeface="华文中宋" panose="02010600040101010101" pitchFamily="2" charset="-122"/>
              </a:rPr>
              <a:t>3</a:t>
            </a:r>
            <a:r>
              <a:rPr lang="zh-CN" altLang="en-US" sz="2000" dirty="0">
                <a:latin typeface="华文中宋" panose="02010600040101010101" pitchFamily="2" charset="-122"/>
                <a:ea typeface="华文中宋" panose="02010600040101010101" pitchFamily="2" charset="-122"/>
              </a:rPr>
              <a:t>、</a:t>
            </a:r>
            <a:r>
              <a:rPr lang="en-US" altLang="zh-CN" sz="2000" dirty="0">
                <a:latin typeface="华文中宋" panose="02010600040101010101" pitchFamily="2" charset="-122"/>
                <a:ea typeface="华文中宋" panose="02010600040101010101" pitchFamily="2" charset="-122"/>
              </a:rPr>
              <a:t>P(s)</a:t>
            </a:r>
            <a:r>
              <a:rPr lang="zh-CN" altLang="en-US" sz="2000" dirty="0">
                <a:latin typeface="华文中宋" panose="02010600040101010101" pitchFamily="2" charset="-122"/>
                <a:ea typeface="华文中宋" panose="02010600040101010101" pitchFamily="2" charset="-122"/>
              </a:rPr>
              <a:t>操作一定使调用进程阻塞。</a:t>
            </a:r>
            <a:r>
              <a:rPr lang="en-US" altLang="zh-CN" sz="2000" dirty="0">
                <a:latin typeface="华文中宋" panose="02010600040101010101" pitchFamily="2" charset="-122"/>
                <a:ea typeface="华文中宋" panose="02010600040101010101" pitchFamily="2" charset="-122"/>
              </a:rPr>
              <a:t>T/F</a:t>
            </a:r>
            <a:endParaRPr lang="en-US" altLang="zh-CN" sz="2000" dirty="0">
              <a:latin typeface="华文中宋" panose="02010600040101010101" pitchFamily="2" charset="-122"/>
              <a:ea typeface="华文中宋" panose="02010600040101010101" pitchFamily="2" charset="-122"/>
            </a:endParaRPr>
          </a:p>
          <a:p>
            <a:pPr>
              <a:lnSpc>
                <a:spcPct val="150000"/>
              </a:lnSpc>
            </a:pPr>
            <a:r>
              <a:rPr lang="en-US" altLang="zh-CN" sz="2000" dirty="0">
                <a:latin typeface="华文中宋" panose="02010600040101010101" pitchFamily="2" charset="-122"/>
                <a:ea typeface="华文中宋" panose="02010600040101010101" pitchFamily="2" charset="-122"/>
              </a:rPr>
              <a:t>4</a:t>
            </a:r>
            <a:r>
              <a:rPr lang="zh-CN" altLang="en-US" sz="2000" dirty="0">
                <a:latin typeface="华文中宋" panose="02010600040101010101" pitchFamily="2" charset="-122"/>
                <a:ea typeface="华文中宋" panose="02010600040101010101" pitchFamily="2" charset="-122"/>
              </a:rPr>
              <a:t>、</a:t>
            </a:r>
            <a:r>
              <a:rPr lang="en-US" altLang="zh-CN" sz="2000" dirty="0">
                <a:latin typeface="华文中宋" panose="02010600040101010101" pitchFamily="2" charset="-122"/>
                <a:ea typeface="华文中宋" panose="02010600040101010101" pitchFamily="2" charset="-122"/>
              </a:rPr>
              <a:t>V(s)</a:t>
            </a:r>
            <a:r>
              <a:rPr lang="zh-CN" altLang="en-US" sz="2000" dirty="0">
                <a:latin typeface="华文中宋" panose="02010600040101010101" pitchFamily="2" charset="-122"/>
                <a:ea typeface="华文中宋" panose="02010600040101010101" pitchFamily="2" charset="-122"/>
              </a:rPr>
              <a:t>操作一定会唤醒一个阻塞在</a:t>
            </a:r>
            <a:r>
              <a:rPr lang="en-US" altLang="zh-CN" sz="2000" dirty="0">
                <a:latin typeface="华文中宋" panose="02010600040101010101" pitchFamily="2" charset="-122"/>
                <a:ea typeface="华文中宋" panose="02010600040101010101" pitchFamily="2" charset="-122"/>
              </a:rPr>
              <a:t>s</a:t>
            </a:r>
            <a:r>
              <a:rPr lang="zh-CN" altLang="en-US" sz="2000" dirty="0">
                <a:latin typeface="华文中宋" panose="02010600040101010101" pitchFamily="2" charset="-122"/>
                <a:ea typeface="华文中宋" panose="02010600040101010101" pitchFamily="2" charset="-122"/>
              </a:rPr>
              <a:t>上的进程。</a:t>
            </a:r>
            <a:r>
              <a:rPr lang="en-US" altLang="zh-CN" sz="2000" dirty="0">
                <a:latin typeface="华文中宋" panose="02010600040101010101" pitchFamily="2" charset="-122"/>
                <a:ea typeface="华文中宋" panose="02010600040101010101" pitchFamily="2" charset="-122"/>
              </a:rPr>
              <a:t>T/F</a:t>
            </a:r>
            <a:endParaRPr lang="en-US" altLang="zh-CN" sz="2000" dirty="0">
              <a:latin typeface="华文中宋" panose="02010600040101010101" pitchFamily="2" charset="-122"/>
              <a:ea typeface="华文中宋" panose="02010600040101010101" pitchFamily="2" charset="-122"/>
            </a:endParaRPr>
          </a:p>
          <a:p>
            <a:pPr>
              <a:lnSpc>
                <a:spcPct val="150000"/>
              </a:lnSpc>
            </a:pPr>
            <a:r>
              <a:rPr lang="en-US" altLang="zh-CN" sz="2000" dirty="0">
                <a:latin typeface="华文中宋" panose="02010600040101010101" pitchFamily="2" charset="-122"/>
                <a:ea typeface="华文中宋" panose="02010600040101010101" pitchFamily="2" charset="-122"/>
              </a:rPr>
              <a:t>5</a:t>
            </a:r>
            <a:r>
              <a:rPr lang="zh-CN" altLang="en-US" sz="2000" dirty="0">
                <a:latin typeface="华文中宋" panose="02010600040101010101" pitchFamily="2" charset="-122"/>
                <a:ea typeface="华文中宋" panose="02010600040101010101" pitchFamily="2" charset="-122"/>
              </a:rPr>
              <a:t>、使用忙等实现互斥有可能使系统发生死锁。</a:t>
            </a:r>
            <a:r>
              <a:rPr lang="en-US" altLang="zh-CN" sz="2000" dirty="0">
                <a:latin typeface="华文中宋" panose="02010600040101010101" pitchFamily="2" charset="-122"/>
                <a:ea typeface="华文中宋" panose="02010600040101010101" pitchFamily="2" charset="-122"/>
              </a:rPr>
              <a:t>T/F</a:t>
            </a:r>
            <a:endParaRPr lang="en-US" altLang="zh-CN" sz="2000" dirty="0">
              <a:latin typeface="华文中宋" panose="02010600040101010101" pitchFamily="2" charset="-122"/>
              <a:ea typeface="华文中宋" panose="02010600040101010101" pitchFamily="2" charset="-122"/>
            </a:endParaRPr>
          </a:p>
          <a:p>
            <a:pPr>
              <a:lnSpc>
                <a:spcPct val="150000"/>
              </a:lnSpc>
            </a:pPr>
            <a:r>
              <a:rPr lang="en-US" altLang="zh-CN" sz="2000" dirty="0">
                <a:latin typeface="华文中宋" panose="02010600040101010101" pitchFamily="2" charset="-122"/>
                <a:ea typeface="华文中宋" panose="02010600040101010101" pitchFamily="2" charset="-122"/>
              </a:rPr>
              <a:t>6</a:t>
            </a:r>
            <a:r>
              <a:rPr lang="zh-CN" altLang="en-US" sz="2000" dirty="0">
                <a:latin typeface="华文中宋" panose="02010600040101010101" pitchFamily="2" charset="-122"/>
                <a:ea typeface="华文中宋" panose="02010600040101010101" pitchFamily="2" charset="-122"/>
              </a:rPr>
              <a:t>、使用信号量实现互斥的设计模式是：每个进程在进入临界区之前，调用</a:t>
            </a:r>
            <a:r>
              <a:rPr lang="en-US" altLang="zh-CN" sz="2000" dirty="0">
                <a:latin typeface="华文中宋" panose="02010600040101010101" pitchFamily="2" charset="-122"/>
                <a:ea typeface="华文中宋" panose="02010600040101010101" pitchFamily="2" charset="-122"/>
              </a:rPr>
              <a:t>_____</a:t>
            </a:r>
            <a:r>
              <a:rPr lang="zh-CN" altLang="en-US" sz="2000" dirty="0">
                <a:latin typeface="华文中宋" panose="02010600040101010101" pitchFamily="2" charset="-122"/>
                <a:ea typeface="华文中宋" panose="02010600040101010101" pitchFamily="2" charset="-122"/>
              </a:rPr>
              <a:t>操作，在退出临界区之前调用</a:t>
            </a:r>
            <a:r>
              <a:rPr lang="en-US" altLang="zh-CN" sz="2000" dirty="0">
                <a:latin typeface="华文中宋" panose="02010600040101010101" pitchFamily="2" charset="-122"/>
                <a:ea typeface="华文中宋" panose="02010600040101010101" pitchFamily="2" charset="-122"/>
              </a:rPr>
              <a:t>_______</a:t>
            </a:r>
            <a:r>
              <a:rPr lang="zh-CN" altLang="en-US" sz="2000" dirty="0">
                <a:latin typeface="华文中宋" panose="02010600040101010101" pitchFamily="2" charset="-122"/>
                <a:ea typeface="华文中宋" panose="02010600040101010101" pitchFamily="2" charset="-122"/>
              </a:rPr>
              <a:t>操作，信号量的初值是</a:t>
            </a:r>
            <a:r>
              <a:rPr lang="en-US" altLang="zh-CN" sz="2000" dirty="0">
                <a:latin typeface="华文中宋" panose="02010600040101010101" pitchFamily="2" charset="-122"/>
                <a:ea typeface="华文中宋" panose="02010600040101010101" pitchFamily="2" charset="-122"/>
              </a:rPr>
              <a:t>______</a:t>
            </a:r>
            <a:r>
              <a:rPr lang="zh-CN" altLang="en-US" sz="2000" dirty="0">
                <a:latin typeface="华文中宋" panose="02010600040101010101" pitchFamily="2" charset="-122"/>
                <a:ea typeface="华文中宋" panose="02010600040101010101" pitchFamily="2" charset="-122"/>
              </a:rPr>
              <a:t>。</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72390" name="Picture 6" descr="F:\照片\fujisu\校园雨后秋\DSCF1781_副本.jpg"/>
          <p:cNvPicPr>
            <a:picLocks noChangeAspect="1" noChangeArrowheads="1"/>
          </p:cNvPicPr>
          <p:nvPr/>
        </p:nvPicPr>
        <p:blipFill>
          <a:blip r:embed="rId1" cstate="print"/>
          <a:srcRect/>
          <a:stretch>
            <a:fillRect/>
          </a:stretch>
        </p:blipFill>
        <p:spPr bwMode="auto">
          <a:xfrm>
            <a:off x="0" y="0"/>
            <a:ext cx="9144000" cy="68580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pic>
        <p:nvPicPr>
          <p:cNvPr id="273411" name="Picture 3" descr="F:\照片\fujisu\校园雨后秋\DSCF1665_副本.jpg"/>
          <p:cNvPicPr>
            <a:picLocks noChangeAspect="1" noChangeArrowheads="1"/>
          </p:cNvPicPr>
          <p:nvPr/>
        </p:nvPicPr>
        <p:blipFill>
          <a:blip r:embed="rId1" cstate="print"/>
          <a:srcRect/>
          <a:stretch>
            <a:fillRect/>
          </a:stretch>
        </p:blipFill>
        <p:spPr bwMode="auto">
          <a:xfrm>
            <a:off x="0" y="0"/>
            <a:ext cx="9144000" cy="70009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274434" name="Picture 2" descr="F:\照片\fujisu\校园雨后秋\DSCF1649_副本.jpg"/>
          <p:cNvPicPr>
            <a:picLocks noChangeAspect="1" noChangeArrowheads="1"/>
          </p:cNvPicPr>
          <p:nvPr/>
        </p:nvPicPr>
        <p:blipFill>
          <a:blip r:embed="rId1" cstate="print"/>
          <a:srcRect/>
          <a:stretch>
            <a:fillRect/>
          </a:stretch>
        </p:blipFill>
        <p:spPr bwMode="auto">
          <a:xfrm>
            <a:off x="0" y="0"/>
            <a:ext cx="9215470" cy="6929462"/>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33475" name="Object 3"/>
          <p:cNvGraphicFramePr>
            <a:graphicFrameLocks noChangeAspect="1"/>
          </p:cNvGraphicFramePr>
          <p:nvPr/>
        </p:nvGraphicFramePr>
        <p:xfrm>
          <a:off x="1643042" y="1500174"/>
          <a:ext cx="5522221" cy="4643470"/>
        </p:xfrm>
        <a:graphic>
          <a:graphicData uri="http://schemas.openxmlformats.org/presentationml/2006/ole">
            <mc:AlternateContent xmlns:mc="http://schemas.openxmlformats.org/markup-compatibility/2006">
              <mc:Choice xmlns:v="urn:schemas-microsoft-com:vml" Requires="v">
                <p:oleObj spid="_x0000_s233487" name="Visio" r:id="rId1" imgW="3708400" imgH="3124200" progId="Visio.Drawing.11">
                  <p:embed/>
                </p:oleObj>
              </mc:Choice>
              <mc:Fallback>
                <p:oleObj name="Visio" r:id="rId1" imgW="3708400" imgH="3124200" progId="Visio.Drawing.11">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42" y="1500174"/>
                        <a:ext cx="5522221" cy="46434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5214942" y="285728"/>
            <a:ext cx="3419526" cy="584775"/>
          </a:xfrm>
          <a:prstGeom prst="rect">
            <a:avLst/>
          </a:prstGeom>
        </p:spPr>
        <p:txBody>
          <a:bodyPr wrap="none">
            <a:spAutoFit/>
          </a:bodyPr>
          <a:lstStyle/>
          <a:p>
            <a:r>
              <a:rPr lang="en-US" sz="3200" dirty="0">
                <a:solidFill>
                  <a:srgbClr val="FF0000"/>
                </a:solidFill>
                <a:latin typeface="华文中宋" panose="02010600040101010101" pitchFamily="2" charset="-122"/>
                <a:ea typeface="华文中宋" panose="02010600040101010101" pitchFamily="2" charset="-122"/>
              </a:rPr>
              <a:t>§4.3 </a:t>
            </a:r>
            <a:r>
              <a:rPr lang="zh-CN" altLang="en-US" sz="3200" dirty="0">
                <a:solidFill>
                  <a:srgbClr val="FF0000"/>
                </a:solidFill>
                <a:latin typeface="华文中宋" panose="02010600040101010101" pitchFamily="2" charset="-122"/>
                <a:ea typeface="华文中宋" panose="02010600040101010101" pitchFamily="2" charset="-122"/>
              </a:rPr>
              <a:t>进程的同步</a:t>
            </a:r>
            <a:endParaRPr lang="zh-CN" altLang="en-US" sz="32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071670" y="1785926"/>
          <a:ext cx="4860290" cy="4907280"/>
        </p:xfrm>
        <a:graphic>
          <a:graphicData uri="http://schemas.openxmlformats.org/drawingml/2006/table">
            <a:tbl>
              <a:tblPr/>
              <a:tblGrid>
                <a:gridCol w="4860290"/>
              </a:tblGrid>
              <a:tr h="0">
                <a:tc>
                  <a:txBody>
                    <a:bodyPr/>
                    <a:lstStyle/>
                    <a:p>
                      <a:pPr algn="just">
                        <a:spcAft>
                          <a:spcPts val="0"/>
                        </a:spcAft>
                      </a:pPr>
                      <a:r>
                        <a:rPr lang="en-US" sz="1400" kern="100" dirty="0">
                          <a:latin typeface="Times New Roman" panose="02020603050405020304"/>
                          <a:ea typeface="宋体" panose="02010600030101010101" pitchFamily="2" charset="-122"/>
                          <a:cs typeface="Times New Roman" panose="02020603050405020304"/>
                        </a:rPr>
                        <a:t>semaphore </a:t>
                      </a:r>
                      <a:r>
                        <a:rPr lang="en-US" sz="1400" kern="100" dirty="0" err="1">
                          <a:latin typeface="Times New Roman" panose="02020603050405020304"/>
                          <a:ea typeface="宋体" panose="02010600030101010101" pitchFamily="2" charset="-122"/>
                          <a:cs typeface="Times New Roman" panose="02020603050405020304"/>
                        </a:rPr>
                        <a:t>BusStop</a:t>
                      </a:r>
                      <a:r>
                        <a:rPr lang="en-US" sz="1400" kern="100" dirty="0">
                          <a:latin typeface="Times New Roman" panose="02020603050405020304"/>
                          <a:ea typeface="宋体" panose="02010600030101010101" pitchFamily="2" charset="-122"/>
                          <a:cs typeface="Times New Roman" panose="02020603050405020304"/>
                        </a:rPr>
                        <a:t>:=0;</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Times New Roman" panose="02020603050405020304"/>
                          <a:ea typeface="宋体" panose="02010600030101010101" pitchFamily="2" charset="-122"/>
                          <a:cs typeface="Times New Roman" panose="02020603050405020304"/>
                        </a:rPr>
                        <a:t>semaphore </a:t>
                      </a:r>
                      <a:r>
                        <a:rPr lang="en-US" sz="1400" kern="100" dirty="0" err="1">
                          <a:latin typeface="Times New Roman" panose="02020603050405020304"/>
                          <a:ea typeface="宋体" panose="02010600030101010101" pitchFamily="2" charset="-122"/>
                          <a:cs typeface="Times New Roman" panose="02020603050405020304"/>
                        </a:rPr>
                        <a:t>DoorClose</a:t>
                      </a:r>
                      <a:r>
                        <a:rPr lang="en-US" sz="1400" kern="100" dirty="0">
                          <a:latin typeface="Times New Roman" panose="02020603050405020304"/>
                          <a:ea typeface="宋体" panose="02010600030101010101" pitchFamily="2" charset="-122"/>
                          <a:cs typeface="Times New Roman" panose="02020603050405020304"/>
                        </a:rPr>
                        <a:t>:=0;</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Times New Roman" panose="02020603050405020304"/>
                          <a:ea typeface="宋体" panose="02010600030101010101" pitchFamily="2" charset="-122"/>
                          <a:cs typeface="Times New Roman" panose="02020603050405020304"/>
                        </a:rPr>
                        <a:t>void main( ){</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en-US" sz="1400" kern="100" dirty="0" err="1">
                          <a:latin typeface="Times New Roman" panose="02020603050405020304"/>
                          <a:ea typeface="宋体" panose="02010600030101010101" pitchFamily="2" charset="-122"/>
                          <a:cs typeface="Times New Roman" panose="02020603050405020304"/>
                        </a:rPr>
                        <a:t>parbegin</a:t>
                      </a:r>
                      <a:r>
                        <a:rPr lang="en-US" sz="1400" kern="100" dirty="0">
                          <a:latin typeface="Times New Roman" panose="02020603050405020304"/>
                          <a:ea typeface="宋体" panose="02010600030101010101" pitchFamily="2" charset="-122"/>
                          <a:cs typeface="Times New Roman" panose="02020603050405020304"/>
                        </a:rPr>
                        <a:t> (driver( ), seller( ));</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Times New Roman" panose="02020603050405020304"/>
                          <a:ea typeface="宋体" panose="02010600030101010101" pitchFamily="2" charset="-122"/>
                          <a:cs typeface="Times New Roman" panose="02020603050405020304"/>
                        </a:rPr>
                        <a:t>void driver( ){</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while(1){</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zh-CN" sz="1400" kern="100" dirty="0">
                          <a:latin typeface="Times New Roman" panose="02020603050405020304"/>
                          <a:ea typeface="宋体" panose="02010600030101010101" pitchFamily="2" charset="-122"/>
                          <a:cs typeface="Times New Roman" panose="02020603050405020304"/>
                        </a:rPr>
                        <a:t>正常行车</a:t>
                      </a: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zh-CN" sz="1400" kern="100" dirty="0">
                          <a:latin typeface="Times New Roman" panose="02020603050405020304"/>
                          <a:ea typeface="宋体" panose="02010600030101010101" pitchFamily="2" charset="-122"/>
                          <a:cs typeface="Times New Roman" panose="02020603050405020304"/>
                        </a:rPr>
                        <a:t>到站停车</a:t>
                      </a: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en-US" sz="1400" b="1" kern="100" dirty="0">
                          <a:highlight>
                            <a:srgbClr val="C0C0C0"/>
                          </a:highlight>
                          <a:latin typeface="Times New Roman" panose="02020603050405020304"/>
                          <a:ea typeface="宋体" panose="02010600030101010101" pitchFamily="2" charset="-122"/>
                          <a:cs typeface="Times New Roman" panose="02020603050405020304"/>
                        </a:rPr>
                        <a:t>V</a:t>
                      </a:r>
                      <a:r>
                        <a:rPr lang="en-US" sz="1400" kern="100" dirty="0">
                          <a:highlight>
                            <a:srgbClr val="C0C0C0"/>
                          </a:highlight>
                          <a:latin typeface="Times New Roman" panose="02020603050405020304"/>
                          <a:ea typeface="宋体" panose="02010600030101010101" pitchFamily="2" charset="-122"/>
                          <a:cs typeface="Times New Roman" panose="02020603050405020304"/>
                        </a:rPr>
                        <a:t>(</a:t>
                      </a:r>
                      <a:r>
                        <a:rPr lang="en-US" sz="1400" kern="100" dirty="0" err="1">
                          <a:highlight>
                            <a:srgbClr val="C0C0C0"/>
                          </a:highlight>
                          <a:latin typeface="Times New Roman" panose="02020603050405020304"/>
                          <a:ea typeface="宋体" panose="02010600030101010101" pitchFamily="2" charset="-122"/>
                          <a:cs typeface="Times New Roman" panose="02020603050405020304"/>
                        </a:rPr>
                        <a:t>BusStop</a:t>
                      </a:r>
                      <a:r>
                        <a:rPr lang="en-US" sz="1400" kern="100" dirty="0">
                          <a:highlight>
                            <a:srgbClr val="C0C0C0"/>
                          </a:highlight>
                          <a:latin typeface="Times New Roman" panose="02020603050405020304"/>
                          <a:ea typeface="宋体" panose="02010600030101010101" pitchFamily="2" charset="-122"/>
                          <a:cs typeface="Times New Roman" panose="02020603050405020304"/>
                        </a:rPr>
                        <a:t>);</a:t>
                      </a:r>
                      <a:r>
                        <a:rPr lang="en-US" sz="1400" kern="100" dirty="0">
                          <a:latin typeface="Times New Roman" panose="02020603050405020304"/>
                          <a:ea typeface="宋体" panose="02010600030101010101" pitchFamily="2" charset="-122"/>
                          <a:cs typeface="Times New Roman" panose="02020603050405020304"/>
                        </a:rPr>
                        <a:t>         //signal bus stop</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en-US" sz="1400" b="1" kern="100" dirty="0">
                          <a:highlight>
                            <a:srgbClr val="C0C0C0"/>
                          </a:highlight>
                          <a:latin typeface="Times New Roman" panose="02020603050405020304"/>
                          <a:ea typeface="宋体" panose="02010600030101010101" pitchFamily="2" charset="-122"/>
                          <a:cs typeface="Times New Roman" panose="02020603050405020304"/>
                        </a:rPr>
                        <a:t>P</a:t>
                      </a:r>
                      <a:r>
                        <a:rPr lang="en-US" sz="1400" kern="100" dirty="0">
                          <a:highlight>
                            <a:srgbClr val="C0C0C0"/>
                          </a:highlight>
                          <a:latin typeface="Times New Roman" panose="02020603050405020304"/>
                          <a:ea typeface="宋体" panose="02010600030101010101" pitchFamily="2" charset="-122"/>
                          <a:cs typeface="Times New Roman" panose="02020603050405020304"/>
                        </a:rPr>
                        <a:t>(</a:t>
                      </a:r>
                      <a:r>
                        <a:rPr lang="en-US" sz="1400" kern="100" dirty="0" err="1">
                          <a:highlight>
                            <a:srgbClr val="C0C0C0"/>
                          </a:highlight>
                          <a:latin typeface="Times New Roman" panose="02020603050405020304"/>
                          <a:ea typeface="宋体" panose="02010600030101010101" pitchFamily="2" charset="-122"/>
                          <a:cs typeface="Times New Roman" panose="02020603050405020304"/>
                        </a:rPr>
                        <a:t>DoorClose</a:t>
                      </a:r>
                      <a:r>
                        <a:rPr lang="en-US" sz="1400" kern="100" dirty="0">
                          <a:highlight>
                            <a:srgbClr val="C0C0C0"/>
                          </a:highlight>
                          <a:latin typeface="Times New Roman" panose="02020603050405020304"/>
                          <a:ea typeface="宋体" panose="02010600030101010101" pitchFamily="2" charset="-122"/>
                          <a:cs typeface="Times New Roman" panose="02020603050405020304"/>
                        </a:rPr>
                        <a:t>);</a:t>
                      </a:r>
                      <a:r>
                        <a:rPr lang="en-US" sz="1400" kern="100" dirty="0">
                          <a:latin typeface="Times New Roman" panose="02020603050405020304"/>
                          <a:ea typeface="宋体" panose="02010600030101010101" pitchFamily="2" charset="-122"/>
                          <a:cs typeface="Times New Roman" panose="02020603050405020304"/>
                        </a:rPr>
                        <a:t>       //wait for door close</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zh-CN" sz="1400" kern="100" dirty="0">
                          <a:latin typeface="Times New Roman" panose="02020603050405020304"/>
                          <a:ea typeface="宋体" panose="02010600030101010101" pitchFamily="2" charset="-122"/>
                          <a:cs typeface="Times New Roman" panose="02020603050405020304"/>
                        </a:rPr>
                        <a:t>开车</a:t>
                      </a: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Times New Roman" panose="02020603050405020304"/>
                          <a:ea typeface="宋体" panose="02010600030101010101" pitchFamily="2" charset="-122"/>
                          <a:cs typeface="Times New Roman" panose="02020603050405020304"/>
                        </a:rPr>
                        <a:t>void seller( ){</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while(1){</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zh-CN" sz="1400" kern="100" dirty="0">
                          <a:latin typeface="Times New Roman" panose="02020603050405020304"/>
                          <a:ea typeface="宋体" panose="02010600030101010101" pitchFamily="2" charset="-122"/>
                          <a:cs typeface="Times New Roman" panose="02020603050405020304"/>
                        </a:rPr>
                        <a:t>售票</a:t>
                      </a: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en-US" sz="1400" b="1" kern="100" dirty="0">
                          <a:highlight>
                            <a:srgbClr val="C0C0C0"/>
                          </a:highlight>
                          <a:latin typeface="Times New Roman" panose="02020603050405020304"/>
                          <a:ea typeface="宋体" panose="02010600030101010101" pitchFamily="2" charset="-122"/>
                          <a:cs typeface="Times New Roman" panose="02020603050405020304"/>
                        </a:rPr>
                        <a:t>P</a:t>
                      </a:r>
                      <a:r>
                        <a:rPr lang="en-US" sz="1400" kern="100" dirty="0">
                          <a:highlight>
                            <a:srgbClr val="C0C0C0"/>
                          </a:highlight>
                          <a:latin typeface="Times New Roman" panose="02020603050405020304"/>
                          <a:ea typeface="宋体" panose="02010600030101010101" pitchFamily="2" charset="-122"/>
                          <a:cs typeface="Times New Roman" panose="02020603050405020304"/>
                        </a:rPr>
                        <a:t>(</a:t>
                      </a:r>
                      <a:r>
                        <a:rPr lang="en-US" sz="1400" kern="100" dirty="0" err="1">
                          <a:highlight>
                            <a:srgbClr val="C0C0C0"/>
                          </a:highlight>
                          <a:latin typeface="Times New Roman" panose="02020603050405020304"/>
                          <a:ea typeface="宋体" panose="02010600030101010101" pitchFamily="2" charset="-122"/>
                          <a:cs typeface="Times New Roman" panose="02020603050405020304"/>
                        </a:rPr>
                        <a:t>BusStop</a:t>
                      </a:r>
                      <a:r>
                        <a:rPr lang="en-US" sz="1400" kern="100" dirty="0">
                          <a:highlight>
                            <a:srgbClr val="C0C0C0"/>
                          </a:highlight>
                          <a:latin typeface="Times New Roman" panose="02020603050405020304"/>
                          <a:ea typeface="宋体" panose="02010600030101010101" pitchFamily="2" charset="-122"/>
                          <a:cs typeface="Times New Roman" panose="02020603050405020304"/>
                        </a:rPr>
                        <a:t>);</a:t>
                      </a:r>
                      <a:r>
                        <a:rPr lang="en-US" sz="1400" kern="100" dirty="0">
                          <a:latin typeface="Times New Roman" panose="02020603050405020304"/>
                          <a:ea typeface="宋体" panose="02010600030101010101" pitchFamily="2" charset="-122"/>
                          <a:cs typeface="Times New Roman" panose="02020603050405020304"/>
                        </a:rPr>
                        <a:t>     //wait for bus stop</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zh-CN" sz="1400" kern="100" dirty="0">
                          <a:latin typeface="Times New Roman" panose="02020603050405020304"/>
                          <a:ea typeface="宋体" panose="02010600030101010101" pitchFamily="2" charset="-122"/>
                          <a:cs typeface="Times New Roman" panose="02020603050405020304"/>
                        </a:rPr>
                        <a:t>开车门</a:t>
                      </a: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zh-CN" sz="1400" kern="100" dirty="0">
                          <a:latin typeface="Times New Roman" panose="02020603050405020304"/>
                          <a:ea typeface="宋体" panose="02010600030101010101" pitchFamily="2" charset="-122"/>
                          <a:cs typeface="Times New Roman" panose="02020603050405020304"/>
                        </a:rPr>
                        <a:t>关车门</a:t>
                      </a: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    </a:t>
                      </a:r>
                      <a:r>
                        <a:rPr lang="en-US" sz="1400" b="1" kern="100" dirty="0">
                          <a:highlight>
                            <a:srgbClr val="C0C0C0"/>
                          </a:highlight>
                          <a:latin typeface="Times New Roman" panose="02020603050405020304"/>
                          <a:ea typeface="宋体" panose="02010600030101010101" pitchFamily="2" charset="-122"/>
                          <a:cs typeface="Times New Roman" panose="02020603050405020304"/>
                        </a:rPr>
                        <a:t>V</a:t>
                      </a:r>
                      <a:r>
                        <a:rPr lang="en-US" sz="1400" kern="100" dirty="0">
                          <a:highlight>
                            <a:srgbClr val="C0C0C0"/>
                          </a:highlight>
                          <a:latin typeface="Times New Roman" panose="02020603050405020304"/>
                          <a:ea typeface="宋体" panose="02010600030101010101" pitchFamily="2" charset="-122"/>
                          <a:cs typeface="Times New Roman" panose="02020603050405020304"/>
                        </a:rPr>
                        <a:t>(</a:t>
                      </a:r>
                      <a:r>
                        <a:rPr lang="en-US" sz="1400" kern="100" dirty="0" err="1">
                          <a:highlight>
                            <a:srgbClr val="C0C0C0"/>
                          </a:highlight>
                          <a:latin typeface="Times New Roman" panose="02020603050405020304"/>
                          <a:ea typeface="宋体" panose="02010600030101010101" pitchFamily="2" charset="-122"/>
                          <a:cs typeface="Times New Roman" panose="02020603050405020304"/>
                        </a:rPr>
                        <a:t>DoorClose</a:t>
                      </a:r>
                      <a:r>
                        <a:rPr lang="en-US" sz="1400" kern="100" dirty="0">
                          <a:highlight>
                            <a:srgbClr val="C0C0C0"/>
                          </a:highlight>
                          <a:latin typeface="Times New Roman" panose="02020603050405020304"/>
                          <a:ea typeface="宋体" panose="02010600030101010101" pitchFamily="2" charset="-122"/>
                          <a:cs typeface="Times New Roman" panose="02020603050405020304"/>
                        </a:rPr>
                        <a:t>);</a:t>
                      </a:r>
                      <a:r>
                        <a:rPr lang="en-US" sz="1400" kern="100" dirty="0">
                          <a:latin typeface="Times New Roman" panose="02020603050405020304"/>
                          <a:ea typeface="宋体" panose="02010600030101010101" pitchFamily="2" charset="-122"/>
                          <a:cs typeface="Times New Roman" panose="02020603050405020304"/>
                        </a:rPr>
                        <a:t>   //signal door close</a:t>
                      </a:r>
                      <a:endParaRPr lang="zh-CN" sz="14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Times New Roman" panose="020206030504050203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34497" name="Rectangle 1"/>
          <p:cNvSpPr>
            <a:spLocks noChangeArrowheads="1"/>
          </p:cNvSpPr>
          <p:nvPr/>
        </p:nvSpPr>
        <p:spPr bwMode="auto">
          <a:xfrm>
            <a:off x="357158" y="1357298"/>
            <a:ext cx="6598281" cy="40011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4-4】</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使用信号量实现司机和售票员进程的同步。 </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6" name="TextBox 5"/>
          <p:cNvSpPr txBox="1"/>
          <p:nvPr/>
        </p:nvSpPr>
        <p:spPr>
          <a:xfrm>
            <a:off x="5572132" y="3429000"/>
            <a:ext cx="3401893" cy="1289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有两个同步点：</a:t>
            </a:r>
            <a:endParaRPr lang="en-US" altLang="zh-CN" dirty="0">
              <a:latin typeface="华文中宋" panose="02010600040101010101" pitchFamily="2" charset="-122"/>
              <a:ea typeface="华文中宋" panose="02010600040101010101" pitchFamily="2" charset="-122"/>
            </a:endParaRPr>
          </a:p>
          <a:p>
            <a:pPr>
              <a:lnSpc>
                <a:spcPct val="150000"/>
              </a:lnSpc>
            </a:pP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、“到站停车”</a:t>
            </a:r>
            <a:r>
              <a:rPr lang="en-US" altLang="zh-CN" dirty="0">
                <a:latin typeface="华文中宋" panose="02010600040101010101" pitchFamily="2" charset="-122"/>
                <a:ea typeface="华文中宋" panose="02010600040101010101" pitchFamily="2" charset="-122"/>
              </a:rPr>
              <a:t>-&gt; </a:t>
            </a:r>
            <a:r>
              <a:rPr lang="zh-CN" altLang="en-US" dirty="0">
                <a:latin typeface="华文中宋" panose="02010600040101010101" pitchFamily="2" charset="-122"/>
                <a:ea typeface="华文中宋" panose="02010600040101010101" pitchFamily="2" charset="-122"/>
              </a:rPr>
              <a:t>“开车门”</a:t>
            </a:r>
            <a:endParaRPr lang="en-US" altLang="zh-CN" dirty="0">
              <a:latin typeface="华文中宋" panose="02010600040101010101" pitchFamily="2" charset="-122"/>
              <a:ea typeface="华文中宋" panose="02010600040101010101" pitchFamily="2" charset="-122"/>
            </a:endParaRPr>
          </a:p>
          <a:p>
            <a:pPr>
              <a:lnSpc>
                <a:spcPct val="150000"/>
              </a:lnSpc>
            </a:pP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、“关车门”</a:t>
            </a:r>
            <a:r>
              <a:rPr lang="en-US" altLang="zh-CN" dirty="0">
                <a:latin typeface="华文中宋" panose="02010600040101010101" pitchFamily="2" charset="-122"/>
                <a:ea typeface="华文中宋" panose="02010600040101010101" pitchFamily="2" charset="-122"/>
              </a:rPr>
              <a:t>-&gt;</a:t>
            </a:r>
            <a:r>
              <a:rPr lang="zh-CN" altLang="en-US" dirty="0">
                <a:latin typeface="华文中宋" panose="02010600040101010101" pitchFamily="2" charset="-122"/>
                <a:ea typeface="华文中宋" panose="02010600040101010101" pitchFamily="2" charset="-122"/>
              </a:rPr>
              <a:t>“开车”</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35522" name="Rectangle 2"/>
          <p:cNvSpPr>
            <a:spLocks noChangeArrowheads="1"/>
          </p:cNvSpPr>
          <p:nvPr/>
        </p:nvSpPr>
        <p:spPr bwMode="auto">
          <a:xfrm>
            <a:off x="428596" y="1285860"/>
            <a:ext cx="8358246" cy="2446824"/>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4-5】</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1-bit buffer</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问题）设有一个</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位的缓冲区，每次只能放置一个产品。一个生产者不断生产产品并放入缓冲区，一个消费者不断从缓冲区中取出产品来消费。显然，由于缓冲区一次只能放置一个产品，于是限制了生产和消费的步调，即生产者生产一个产品后必须等待消费者消费之后才能进行下一轮生产，而消费者也必须等待生产者生产一个产品后才能消费。请用</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操作实现这一同步过程。</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aphicFrame>
        <p:nvGraphicFramePr>
          <p:cNvPr id="235521" name="Object 1"/>
          <p:cNvGraphicFramePr>
            <a:graphicFrameLocks noChangeAspect="1"/>
          </p:cNvGraphicFramePr>
          <p:nvPr/>
        </p:nvGraphicFramePr>
        <p:xfrm>
          <a:off x="500034" y="3786190"/>
          <a:ext cx="8429684" cy="1187122"/>
        </p:xfrm>
        <a:graphic>
          <a:graphicData uri="http://schemas.openxmlformats.org/presentationml/2006/ole">
            <mc:AlternateContent xmlns:mc="http://schemas.openxmlformats.org/markup-compatibility/2006">
              <mc:Choice xmlns:v="urn:schemas-microsoft-com:vml" Requires="v">
                <p:oleObj spid="_x0000_s235533" name="Visio" r:id="rId1" imgW="4775200" imgH="685800" progId="Visio.Drawing.11">
                  <p:embed/>
                </p:oleObj>
              </mc:Choice>
              <mc:Fallback>
                <p:oleObj name="Visio" r:id="rId1" imgW="4775200" imgH="6858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34" y="3786190"/>
                        <a:ext cx="8429684" cy="11871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928662" y="-24"/>
          <a:ext cx="7715304" cy="6858000"/>
        </p:xfrm>
        <a:graphic>
          <a:graphicData uri="http://schemas.openxmlformats.org/drawingml/2006/table">
            <a:tbl>
              <a:tblPr/>
              <a:tblGrid>
                <a:gridCol w="793729"/>
                <a:gridCol w="6921575"/>
              </a:tblGrid>
              <a:tr h="0">
                <a:tc>
                  <a:txBody>
                    <a:bodyPr/>
                    <a:lstStyle/>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3</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4</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5</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6</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7</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8</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9</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10</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12</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13</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14</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15</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16</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17</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18</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19</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20</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22</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23</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24</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25</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800" kern="100" dirty="0" err="1">
                          <a:latin typeface="华文中宋" panose="02010600040101010101" pitchFamily="2" charset="-122"/>
                          <a:ea typeface="华文中宋" panose="02010600040101010101" pitchFamily="2" charset="-122"/>
                          <a:cs typeface="Times New Roman" panose="02020603050405020304"/>
                        </a:rPr>
                        <a:t>int</a:t>
                      </a:r>
                      <a:r>
                        <a:rPr lang="en-US" sz="1800" kern="100" dirty="0">
                          <a:latin typeface="华文中宋" panose="02010600040101010101" pitchFamily="2" charset="-122"/>
                          <a:ea typeface="华文中宋" panose="02010600040101010101" pitchFamily="2" charset="-122"/>
                          <a:cs typeface="Times New Roman" panose="02020603050405020304"/>
                        </a:rPr>
                        <a:t> buffer;</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semaphore empty:=1;      //</a:t>
                      </a:r>
                      <a:r>
                        <a:rPr lang="zh-CN" sz="1800" kern="100" dirty="0">
                          <a:latin typeface="华文中宋" panose="02010600040101010101" pitchFamily="2" charset="-122"/>
                          <a:ea typeface="华文中宋" panose="02010600040101010101" pitchFamily="2" charset="-122"/>
                          <a:cs typeface="Times New Roman" panose="02020603050405020304"/>
                        </a:rPr>
                        <a:t>表示缓冲区中空位的个数</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semaphore full:=0;        //</a:t>
                      </a:r>
                      <a:r>
                        <a:rPr lang="zh-CN" sz="1800" kern="100" dirty="0">
                          <a:latin typeface="华文中宋" panose="02010600040101010101" pitchFamily="2" charset="-122"/>
                          <a:ea typeface="华文中宋" panose="02010600040101010101" pitchFamily="2" charset="-122"/>
                          <a:cs typeface="Times New Roman" panose="02020603050405020304"/>
                        </a:rPr>
                        <a:t>表示缓冲区中产品的个数</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void main(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kern="100" dirty="0" err="1">
                          <a:latin typeface="华文中宋" panose="02010600040101010101" pitchFamily="2" charset="-122"/>
                          <a:ea typeface="华文中宋" panose="02010600040101010101" pitchFamily="2" charset="-122"/>
                          <a:cs typeface="Times New Roman" panose="02020603050405020304"/>
                        </a:rPr>
                        <a:t>parbegin</a:t>
                      </a:r>
                      <a:r>
                        <a:rPr lang="en-US" sz="1800" kern="100" dirty="0">
                          <a:latin typeface="华文中宋" panose="02010600040101010101" pitchFamily="2" charset="-122"/>
                          <a:ea typeface="华文中宋" panose="02010600040101010101" pitchFamily="2" charset="-122"/>
                          <a:cs typeface="Times New Roman" panose="02020603050405020304"/>
                        </a:rPr>
                        <a:t> (Producer( ), Consumer(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void Producer(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while(1){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//produce a message m;</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solidFill>
                            <a:srgbClr val="FF0000"/>
                          </a:solidFill>
                          <a:latin typeface="华文中宋" panose="02010600040101010101" pitchFamily="2" charset="-122"/>
                          <a:ea typeface="华文中宋" panose="02010600040101010101" pitchFamily="2" charset="-122"/>
                          <a:cs typeface="Times New Roman" panose="02020603050405020304"/>
                        </a:rPr>
                        <a:t>    </a:t>
                      </a:r>
                      <a:r>
                        <a:rPr lang="en-US"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P</a:t>
                      </a:r>
                      <a:r>
                        <a:rPr lang="en-US" sz="1800" kern="100" dirty="0">
                          <a:latin typeface="华文中宋" panose="02010600040101010101" pitchFamily="2" charset="-122"/>
                          <a:ea typeface="华文中宋" panose="02010600040101010101" pitchFamily="2" charset="-122"/>
                          <a:cs typeface="Times New Roman" panose="02020603050405020304"/>
                        </a:rPr>
                        <a:t>(empty);</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5334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buffer:=m;</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V</a:t>
                      </a:r>
                      <a:r>
                        <a:rPr lang="en-US" sz="1800" kern="100" dirty="0">
                          <a:latin typeface="华文中宋" panose="02010600040101010101" pitchFamily="2" charset="-122"/>
                          <a:ea typeface="华文中宋" panose="02010600040101010101" pitchFamily="2" charset="-122"/>
                          <a:cs typeface="Times New Roman" panose="02020603050405020304"/>
                        </a:rPr>
                        <a:t>(full);</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en-US"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endParaRPr lang="en-US" alt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void Consumer(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while(1){</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P</a:t>
                      </a:r>
                      <a:r>
                        <a:rPr lang="en-US" sz="1800" kern="100" dirty="0">
                          <a:latin typeface="华文中宋" panose="02010600040101010101" pitchFamily="2" charset="-122"/>
                          <a:ea typeface="华文中宋" panose="02010600040101010101" pitchFamily="2" charset="-122"/>
                          <a:cs typeface="Times New Roman" panose="02020603050405020304"/>
                        </a:rPr>
                        <a:t>(full);</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m:=buffer;</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a:t>
                      </a:r>
                      <a:r>
                        <a:rPr lang="en-US" sz="1800" b="1" kern="100" dirty="0">
                          <a:solidFill>
                            <a:srgbClr val="FF0000"/>
                          </a:solidFill>
                          <a:latin typeface="华文中宋" panose="02010600040101010101" pitchFamily="2" charset="-122"/>
                          <a:ea typeface="华文中宋" panose="02010600040101010101" pitchFamily="2" charset="-122"/>
                          <a:cs typeface="Times New Roman" panose="02020603050405020304"/>
                        </a:rPr>
                        <a:t>V</a:t>
                      </a:r>
                      <a:r>
                        <a:rPr lang="en-US" sz="1800" kern="100" dirty="0">
                          <a:latin typeface="华文中宋" panose="02010600040101010101" pitchFamily="2" charset="-122"/>
                          <a:ea typeface="华文中宋" panose="02010600040101010101" pitchFamily="2" charset="-122"/>
                          <a:cs typeface="Times New Roman" panose="02020603050405020304"/>
                        </a:rPr>
                        <a:t>(empty);</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    //consume message m</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indent="266700"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32" y="71422"/>
            <a:ext cx="8229600" cy="1143000"/>
          </a:xfrm>
        </p:spPr>
        <p:txBody>
          <a:bodyPr/>
          <a:lstStyle/>
          <a:p>
            <a:r>
              <a:rPr lang="en-US" dirty="0"/>
              <a:t>               </a:t>
            </a:r>
            <a:r>
              <a:rPr lang="en-US" dirty="0">
                <a:latin typeface="华文中宋" panose="02010600040101010101" pitchFamily="2" charset="-122"/>
                <a:ea typeface="华文中宋" panose="02010600040101010101" pitchFamily="2" charset="-122"/>
              </a:rPr>
              <a:t>§4.4 </a:t>
            </a:r>
            <a:r>
              <a:rPr lang="zh-CN" altLang="en-US" dirty="0">
                <a:latin typeface="华文中宋" panose="02010600040101010101" pitchFamily="2" charset="-122"/>
                <a:ea typeface="华文中宋" panose="02010600040101010101" pitchFamily="2" charset="-122"/>
              </a:rPr>
              <a:t>典型并发设计问题</a:t>
            </a:r>
            <a:endParaRPr lang="zh-CN" altLang="en-US" dirty="0">
              <a:latin typeface="华文中宋" panose="02010600040101010101" pitchFamily="2" charset="-122"/>
              <a:ea typeface="华文中宋" panose="02010600040101010101" pitchFamily="2" charset="-122"/>
            </a:endParaRPr>
          </a:p>
        </p:txBody>
      </p:sp>
      <p:sp>
        <p:nvSpPr>
          <p:cNvPr id="4" name="矩形 3"/>
          <p:cNvSpPr/>
          <p:nvPr/>
        </p:nvSpPr>
        <p:spPr>
          <a:xfrm>
            <a:off x="428596" y="1428736"/>
            <a:ext cx="3538148" cy="461665"/>
          </a:xfrm>
          <a:prstGeom prst="rect">
            <a:avLst/>
          </a:prstGeom>
        </p:spPr>
        <p:txBody>
          <a:bodyPr wrap="none">
            <a:spAutoFit/>
          </a:bodyPr>
          <a:lstStyle/>
          <a:p>
            <a:r>
              <a:rPr lang="en-US" sz="2400" dirty="0">
                <a:solidFill>
                  <a:srgbClr val="FF0000"/>
                </a:solidFill>
                <a:latin typeface="华文中宋" panose="02010600040101010101" pitchFamily="2" charset="-122"/>
                <a:ea typeface="华文中宋" panose="02010600040101010101" pitchFamily="2" charset="-122"/>
              </a:rPr>
              <a:t>4.4.1</a:t>
            </a:r>
            <a:r>
              <a:rPr lang="zh-CN" altLang="en-US" sz="2400" dirty="0">
                <a:solidFill>
                  <a:srgbClr val="FF0000"/>
                </a:solidFill>
                <a:latin typeface="华文中宋" panose="02010600040101010101" pitchFamily="2" charset="-122"/>
                <a:ea typeface="华文中宋" panose="02010600040101010101" pitchFamily="2" charset="-122"/>
              </a:rPr>
              <a:t>生产者</a:t>
            </a:r>
            <a:r>
              <a:rPr lang="en-US" sz="2400" dirty="0">
                <a:solidFill>
                  <a:srgbClr val="FF0000"/>
                </a:solidFill>
                <a:latin typeface="华文中宋" panose="02010600040101010101" pitchFamily="2" charset="-122"/>
                <a:ea typeface="华文中宋" panose="02010600040101010101" pitchFamily="2" charset="-122"/>
              </a:rPr>
              <a:t>-</a:t>
            </a:r>
            <a:r>
              <a:rPr lang="zh-CN" altLang="en-US" sz="2400" dirty="0">
                <a:solidFill>
                  <a:srgbClr val="FF0000"/>
                </a:solidFill>
                <a:latin typeface="华文中宋" panose="02010600040101010101" pitchFamily="2" charset="-122"/>
                <a:ea typeface="华文中宋" panose="02010600040101010101" pitchFamily="2" charset="-122"/>
              </a:rPr>
              <a:t>消费者问题</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261122" name="Rectangle 2"/>
          <p:cNvSpPr>
            <a:spLocks noChangeArrowheads="1"/>
          </p:cNvSpPr>
          <p:nvPr/>
        </p:nvSpPr>
        <p:spPr bwMode="auto">
          <a:xfrm>
            <a:off x="500034" y="2000240"/>
            <a:ext cx="8072494" cy="234615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4-6】</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个生产者</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个消费者的</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n-bit buffer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问题）设有一个</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位的缓冲区，最多只能放置</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个产品。一个生产者不断生产产品并放入缓冲区，一个消费者不断从缓冲区中取出产品来消费。由于缓冲区的容量有限，于是生产者和消费者的速度必须协调。请用信号量实现生产者和消费者的同步过程。</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graphicFrame>
        <p:nvGraphicFramePr>
          <p:cNvPr id="261121" name="Object 1"/>
          <p:cNvGraphicFramePr>
            <a:graphicFrameLocks noChangeAspect="1"/>
          </p:cNvGraphicFramePr>
          <p:nvPr/>
        </p:nvGraphicFramePr>
        <p:xfrm>
          <a:off x="2071670" y="4500570"/>
          <a:ext cx="5227640" cy="2000240"/>
        </p:xfrm>
        <a:graphic>
          <a:graphicData uri="http://schemas.openxmlformats.org/presentationml/2006/ole">
            <mc:AlternateContent xmlns:mc="http://schemas.openxmlformats.org/markup-compatibility/2006">
              <mc:Choice xmlns:v="urn:schemas-microsoft-com:vml" Requires="v">
                <p:oleObj spid="_x0000_s261133" name="Visio" r:id="rId1" imgW="3860800" imgH="1485900" progId="Visio.Drawing.11">
                  <p:embed/>
                </p:oleObj>
              </mc:Choice>
              <mc:Fallback>
                <p:oleObj name="Visio" r:id="rId1" imgW="3860800" imgH="14859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670" y="4500570"/>
                        <a:ext cx="5227640" cy="2000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63169" name="Rectangle 1"/>
          <p:cNvSpPr>
            <a:spLocks noChangeArrowheads="1"/>
          </p:cNvSpPr>
          <p:nvPr/>
        </p:nvSpPr>
        <p:spPr bwMode="auto">
          <a:xfrm>
            <a:off x="642910" y="1500174"/>
            <a:ext cx="7786742" cy="4247317"/>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该问题中涉及互斥和同步并发控制问题：</a:t>
            </a:r>
            <a:endPar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生产者和消费者访问</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buffer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时必须互斥；</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当缓冲区为空时，消费者必须等待生产者；当缓冲区满时，生产者必须等待消费者。</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为了实现互斥，需要一个初值为</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的信号量</a:t>
            </a:r>
            <a:r>
              <a:rPr kumimoji="0" lang="en-US" altLang="zh-CN" sz="2000"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；为了实现同步，需要两个信号量</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empty</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full</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empty</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表示缓冲区中空位的个数，初始值为</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full</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表示缓冲区中产品的个数，初始值为</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pPr>
            <a:r>
              <a:rPr lang="en-US" altLang="zh-CN" sz="2000"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       full&gt;0   </a:t>
            </a:r>
            <a:r>
              <a:rPr lang="en-US" altLang="zh-CN" sz="2000"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sym typeface="Wingdings" panose="05000000000000000000" pitchFamily="2" charset="2"/>
              </a:rPr>
              <a:t>   Consume( )</a:t>
            </a:r>
            <a:endParaRPr lang="en-US" altLang="zh-CN" sz="2000"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sym typeface="Wingdings" panose="05000000000000000000" pitchFamily="2" charset="2"/>
            </a:endParaRPr>
          </a:p>
          <a:p>
            <a:pPr marL="0" marR="0" lvl="0" indent="0" algn="l" defTabSz="914400" rtl="0" eaLnBrk="0" fontAlgn="base" latinLnBrk="0" hangingPunct="0">
              <a:lnSpc>
                <a:spcPct val="150000"/>
              </a:lnSpc>
              <a:spcBef>
                <a:spcPct val="0"/>
              </a:spcBef>
              <a:spcAft>
                <a:spcPct val="0"/>
              </a:spcAft>
              <a:buClrTx/>
              <a:buSzTx/>
              <a:buFontTx/>
              <a:buNone/>
            </a:pPr>
            <a:r>
              <a:rPr lang="en-US" altLang="zh-CN" sz="2000"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sym typeface="Wingdings" panose="05000000000000000000" pitchFamily="2" charset="2"/>
              </a:rPr>
              <a:t>       empty&gt;0   Produce( )</a:t>
            </a:r>
            <a:endParaRPr lang="en-US" altLang="zh-CN" sz="2000"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1"/>
          <p:cNvSpPr>
            <a:spLocks noChangeArrowheads="1"/>
          </p:cNvSpPr>
          <p:nvPr/>
        </p:nvSpPr>
        <p:spPr bwMode="auto">
          <a:xfrm>
            <a:off x="1357290" y="0"/>
            <a:ext cx="6500858" cy="2031325"/>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buffer[n];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empty:=n;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开始时空位个数为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full:=0;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开始时产品个数为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main(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parbegin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(Producer( ), Consumer(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64194" name="Rectangle 2"/>
          <p:cNvSpPr>
            <a:spLocks noChangeArrowheads="1"/>
          </p:cNvSpPr>
          <p:nvPr/>
        </p:nvSpPr>
        <p:spPr bwMode="auto">
          <a:xfrm>
            <a:off x="71406" y="2298696"/>
            <a:ext cx="4143372" cy="3693319"/>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Producer(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produce a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(empty)</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buffer[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:=(pidx+1) mod 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(full)</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64195" name="Rectangle 3"/>
          <p:cNvSpPr>
            <a:spLocks noChangeArrowheads="1"/>
          </p:cNvSpPr>
          <p:nvPr/>
        </p:nvSpPr>
        <p:spPr bwMode="auto">
          <a:xfrm>
            <a:off x="4500530" y="2285992"/>
            <a:ext cx="4500594" cy="3693319"/>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Consumer(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(full)</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product:=buffer[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:=(cidx+1) mod 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(empty)</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consume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1"/>
          <p:cNvSpPr>
            <a:spLocks noChangeArrowheads="1"/>
          </p:cNvSpPr>
          <p:nvPr/>
        </p:nvSpPr>
        <p:spPr bwMode="auto">
          <a:xfrm>
            <a:off x="1357290" y="0"/>
            <a:ext cx="6500858" cy="2031325"/>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buffer[n];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empty:=n;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开始时空位个数为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full:=0;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开始时产品个数为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main(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parbegin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(Producer( ), Consumer(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64194" name="Rectangle 2"/>
          <p:cNvSpPr>
            <a:spLocks noChangeArrowheads="1"/>
          </p:cNvSpPr>
          <p:nvPr/>
        </p:nvSpPr>
        <p:spPr bwMode="auto">
          <a:xfrm>
            <a:off x="71406" y="2298696"/>
            <a:ext cx="4143372" cy="3693319"/>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Producer(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produce a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(empty)</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buffer[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:=(pidx+1) mod 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(full)</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64195" name="Rectangle 3"/>
          <p:cNvSpPr>
            <a:spLocks noChangeArrowheads="1"/>
          </p:cNvSpPr>
          <p:nvPr/>
        </p:nvSpPr>
        <p:spPr bwMode="auto">
          <a:xfrm>
            <a:off x="4500530" y="2285992"/>
            <a:ext cx="4500594" cy="3693319"/>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Consumer(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(full)</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product:=buffer[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:=(cidx+1) mod 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(empty)</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consume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5" name="矩形 4"/>
          <p:cNvSpPr/>
          <p:nvPr/>
        </p:nvSpPr>
        <p:spPr>
          <a:xfrm>
            <a:off x="785786" y="3429000"/>
            <a:ext cx="1428760" cy="5715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357818" y="3429000"/>
            <a:ext cx="1428760" cy="5715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3286116" y="3000372"/>
            <a:ext cx="1800493" cy="369332"/>
          </a:xfrm>
          <a:prstGeom prst="rect">
            <a:avLst/>
          </a:prstGeom>
          <a:noFill/>
        </p:spPr>
        <p:txBody>
          <a:bodyPr wrap="none" rtlCol="0">
            <a:spAutoFit/>
          </a:bodyPr>
          <a:lstStyle/>
          <a:p>
            <a:r>
              <a:rPr lang="zh-CN" altLang="en-US" dirty="0">
                <a:solidFill>
                  <a:srgbClr val="FF0000"/>
                </a:solidFill>
                <a:latin typeface="华文中宋" panose="02010600040101010101" pitchFamily="2" charset="-122"/>
                <a:ea typeface="华文中宋" panose="02010600040101010101" pitchFamily="2" charset="-122"/>
              </a:rPr>
              <a:t>能否交换次序？</a:t>
            </a:r>
            <a:endParaRPr lang="zh-CN" altLang="en-US" dirty="0">
              <a:solidFill>
                <a:srgbClr val="FF0000"/>
              </a:solidFill>
              <a:latin typeface="华文中宋" panose="02010600040101010101" pitchFamily="2" charset="-122"/>
              <a:ea typeface="华文中宋" panose="02010600040101010101" pitchFamily="2" charset="-122"/>
            </a:endParaRPr>
          </a:p>
        </p:txBody>
      </p:sp>
      <p:cxnSp>
        <p:nvCxnSpPr>
          <p:cNvPr id="10" name="肘形连接符 9"/>
          <p:cNvCxnSpPr>
            <a:stCxn id="7" idx="1"/>
          </p:cNvCxnSpPr>
          <p:nvPr/>
        </p:nvCxnSpPr>
        <p:spPr>
          <a:xfrm rot="10800000" flipV="1">
            <a:off x="2214546" y="3185038"/>
            <a:ext cx="1071570" cy="601152"/>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2" name="形状 11"/>
          <p:cNvCxnSpPr>
            <a:stCxn id="7" idx="2"/>
          </p:cNvCxnSpPr>
          <p:nvPr/>
        </p:nvCxnSpPr>
        <p:spPr>
          <a:xfrm rot="16200000" flipH="1">
            <a:off x="4599566" y="2956500"/>
            <a:ext cx="345048" cy="1171455"/>
          </a:xfrm>
          <a:prstGeom prst="bentConnector2">
            <a:avLst/>
          </a:prstGeom>
          <a:ln w="28575">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1"/>
          <p:cNvSpPr>
            <a:spLocks noChangeArrowheads="1"/>
          </p:cNvSpPr>
          <p:nvPr/>
        </p:nvSpPr>
        <p:spPr bwMode="auto">
          <a:xfrm>
            <a:off x="1357290" y="0"/>
            <a:ext cx="6500858" cy="2031325"/>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buffer[n];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empty:=n;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开始时空位个数为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full:=0;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开始时产品个数为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main(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parbegin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(Producer( ), Consumer(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64194" name="Rectangle 2"/>
          <p:cNvSpPr>
            <a:spLocks noChangeArrowheads="1"/>
          </p:cNvSpPr>
          <p:nvPr/>
        </p:nvSpPr>
        <p:spPr bwMode="auto">
          <a:xfrm>
            <a:off x="71406" y="2298696"/>
            <a:ext cx="4143372" cy="3693319"/>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Producer(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produce a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(empty)</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sng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buffer[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:=(pidx+1) mod 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(full)</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sng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64195" name="Rectangle 3"/>
          <p:cNvSpPr>
            <a:spLocks noChangeArrowheads="1"/>
          </p:cNvSpPr>
          <p:nvPr/>
        </p:nvSpPr>
        <p:spPr bwMode="auto">
          <a:xfrm>
            <a:off x="4500530" y="2285992"/>
            <a:ext cx="4500594" cy="3693319"/>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Consumer(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(full)</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sng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product:=buffer[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:=(cidx+1) mod 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(empty)</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sng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sng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sng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consume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5" name="TextBox 4"/>
          <p:cNvSpPr txBox="1"/>
          <p:nvPr/>
        </p:nvSpPr>
        <p:spPr>
          <a:xfrm>
            <a:off x="3071802" y="3500438"/>
            <a:ext cx="2050561" cy="369332"/>
          </a:xfrm>
          <a:prstGeom prst="rect">
            <a:avLst/>
          </a:prstGeom>
          <a:noFill/>
        </p:spPr>
        <p:txBody>
          <a:bodyPr wrap="none" rtlCol="0">
            <a:spAutoFit/>
          </a:bodyPr>
          <a:lstStyle/>
          <a:p>
            <a:r>
              <a:rPr lang="zh-CN" altLang="en-US" dirty="0">
                <a:solidFill>
                  <a:srgbClr val="FF0000"/>
                </a:solidFill>
                <a:latin typeface="华文中宋" panose="02010600040101010101" pitchFamily="2" charset="-122"/>
                <a:ea typeface="华文中宋" panose="02010600040101010101" pitchFamily="2" charset="-122"/>
              </a:rPr>
              <a:t>能否去掉</a:t>
            </a:r>
            <a:r>
              <a:rPr lang="en-US" altLang="zh-CN" dirty="0" err="1">
                <a:solidFill>
                  <a:srgbClr val="FF0000"/>
                </a:solidFill>
                <a:latin typeface="华文中宋" panose="02010600040101010101" pitchFamily="2" charset="-122"/>
                <a:ea typeface="华文中宋" panose="02010600040101010101" pitchFamily="2" charset="-122"/>
              </a:rPr>
              <a:t>mutex</a:t>
            </a:r>
            <a:r>
              <a:rPr lang="zh-CN" altLang="en-US" dirty="0">
                <a:solidFill>
                  <a:srgbClr val="FF0000"/>
                </a:solidFill>
                <a:latin typeface="华文中宋" panose="02010600040101010101" pitchFamily="2" charset="-122"/>
                <a:ea typeface="华文中宋" panose="02010600040101010101" pitchFamily="2" charset="-122"/>
              </a:rPr>
              <a:t>？</a:t>
            </a:r>
            <a:endParaRPr lang="zh-CN" altLang="en-US" dirty="0">
              <a:solidFill>
                <a:srgbClr val="FF0000"/>
              </a:solidFill>
              <a:latin typeface="华文中宋" panose="02010600040101010101" pitchFamily="2" charset="-122"/>
              <a:ea typeface="华文中宋" panose="02010600040101010101" pitchFamily="2" charset="-122"/>
            </a:endParaRPr>
          </a:p>
        </p:txBody>
      </p:sp>
      <p:sp>
        <p:nvSpPr>
          <p:cNvPr id="6" name="TextBox 5"/>
          <p:cNvSpPr txBox="1"/>
          <p:nvPr/>
        </p:nvSpPr>
        <p:spPr>
          <a:xfrm>
            <a:off x="785786" y="6215082"/>
            <a:ext cx="8072494" cy="523220"/>
          </a:xfrm>
          <a:prstGeom prst="rect">
            <a:avLst/>
          </a:prstGeom>
          <a:noFill/>
        </p:spPr>
        <p:txBody>
          <a:bodyPr wrap="square" rtlCol="0">
            <a:spAutoFit/>
          </a:bodyPr>
          <a:lstStyle/>
          <a:p>
            <a:r>
              <a:rPr lang="zh-CN" altLang="en-US" sz="2800" dirty="0">
                <a:solidFill>
                  <a:srgbClr val="FF0000"/>
                </a:solidFill>
                <a:latin typeface="华文中宋" panose="02010600040101010101" pitchFamily="2" charset="-122"/>
                <a:ea typeface="华文中宋" panose="02010600040101010101" pitchFamily="2" charset="-122"/>
              </a:rPr>
              <a:t>为什么</a:t>
            </a:r>
            <a:r>
              <a:rPr lang="en-US" altLang="zh-CN" sz="2800" dirty="0" err="1">
                <a:solidFill>
                  <a:srgbClr val="FF0000"/>
                </a:solidFill>
                <a:latin typeface="华文中宋" panose="02010600040101010101" pitchFamily="2" charset="-122"/>
                <a:ea typeface="华文中宋" panose="02010600040101010101" pitchFamily="2" charset="-122"/>
              </a:rPr>
              <a:t>pidx</a:t>
            </a:r>
            <a:r>
              <a:rPr lang="zh-CN" altLang="en-US" sz="2800" dirty="0">
                <a:solidFill>
                  <a:srgbClr val="FF0000"/>
                </a:solidFill>
                <a:latin typeface="华文中宋" panose="02010600040101010101" pitchFamily="2" charset="-122"/>
                <a:ea typeface="华文中宋" panose="02010600040101010101" pitchFamily="2" charset="-122"/>
              </a:rPr>
              <a:t>和</a:t>
            </a:r>
            <a:r>
              <a:rPr lang="en-US" altLang="zh-CN" sz="2800" dirty="0" err="1">
                <a:solidFill>
                  <a:srgbClr val="FF0000"/>
                </a:solidFill>
                <a:latin typeface="华文中宋" panose="02010600040101010101" pitchFamily="2" charset="-122"/>
                <a:ea typeface="华文中宋" panose="02010600040101010101" pitchFamily="2" charset="-122"/>
              </a:rPr>
              <a:t>cidx</a:t>
            </a:r>
            <a:r>
              <a:rPr lang="zh-CN" altLang="en-US" sz="2800" dirty="0">
                <a:solidFill>
                  <a:srgbClr val="FF0000"/>
                </a:solidFill>
                <a:latin typeface="华文中宋" panose="02010600040101010101" pitchFamily="2" charset="-122"/>
                <a:ea typeface="华文中宋" panose="02010600040101010101" pitchFamily="2" charset="-122"/>
              </a:rPr>
              <a:t>不可能指向同一</a:t>
            </a:r>
            <a:r>
              <a:rPr lang="en-US" altLang="zh-CN" sz="2800" dirty="0">
                <a:solidFill>
                  <a:srgbClr val="FF0000"/>
                </a:solidFill>
                <a:latin typeface="华文中宋" panose="02010600040101010101" pitchFamily="2" charset="-122"/>
                <a:ea typeface="华文中宋" panose="02010600040101010101" pitchFamily="2" charset="-122"/>
              </a:rPr>
              <a:t>buffer</a:t>
            </a:r>
            <a:r>
              <a:rPr lang="zh-CN" altLang="en-US" sz="2800" dirty="0">
                <a:solidFill>
                  <a:srgbClr val="FF0000"/>
                </a:solidFill>
                <a:latin typeface="华文中宋" panose="02010600040101010101" pitchFamily="2" charset="-122"/>
                <a:ea typeface="华文中宋" panose="02010600040101010101" pitchFamily="2" charset="-122"/>
              </a:rPr>
              <a:t>单元呢？</a:t>
            </a:r>
            <a:endParaRPr lang="zh-CN" altLang="en-US" sz="28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67266" name="Rectangle 2"/>
          <p:cNvSpPr>
            <a:spLocks noChangeArrowheads="1"/>
          </p:cNvSpPr>
          <p:nvPr/>
        </p:nvSpPr>
        <p:spPr bwMode="auto">
          <a:xfrm>
            <a:off x="500034" y="1500174"/>
            <a:ext cx="8001056" cy="188449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4-7】</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个生产者</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个消费者</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-n-bit buffer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问题）设有一个</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位的缓冲区，最多只能放置</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个产品。多个生产者不断生产产品并放入缓冲区，多个消费者不断从缓冲区中取出产品来消费。请用信号量实现生产者和消费者的同步过程。</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graphicFrame>
        <p:nvGraphicFramePr>
          <p:cNvPr id="267265" name="Object 1"/>
          <p:cNvGraphicFramePr>
            <a:graphicFrameLocks noChangeAspect="1"/>
          </p:cNvGraphicFramePr>
          <p:nvPr/>
        </p:nvGraphicFramePr>
        <p:xfrm>
          <a:off x="978452" y="3857628"/>
          <a:ext cx="7094010" cy="2071702"/>
        </p:xfrm>
        <a:graphic>
          <a:graphicData uri="http://schemas.openxmlformats.org/presentationml/2006/ole">
            <mc:AlternateContent xmlns:mc="http://schemas.openxmlformats.org/markup-compatibility/2006">
              <mc:Choice xmlns:v="urn:schemas-microsoft-com:vml" Requires="v">
                <p:oleObj spid="_x0000_s267277" name="Visio" r:id="rId1" imgW="5753100" imgH="1689100" progId="Visio.Drawing.11">
                  <p:embed/>
                </p:oleObj>
              </mc:Choice>
              <mc:Fallback>
                <p:oleObj name="Visio" r:id="rId1" imgW="5753100" imgH="16891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452" y="3857628"/>
                        <a:ext cx="7094010" cy="20717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1"/>
          <p:cNvSpPr>
            <a:spLocks noChangeArrowheads="1"/>
          </p:cNvSpPr>
          <p:nvPr/>
        </p:nvSpPr>
        <p:spPr bwMode="auto">
          <a:xfrm>
            <a:off x="0" y="0"/>
            <a:ext cx="9144000" cy="2308324"/>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buffer[n];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empty:=n;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开始时空位个数为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full:=0;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开始时产品个数为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:=0, </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:=0</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main(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parbegin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(Producer(1), …,Producer(k),       Consumer(1), …, Consumer(m));</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68290" name="Rectangle 2"/>
          <p:cNvSpPr>
            <a:spLocks noChangeArrowheads="1"/>
          </p:cNvSpPr>
          <p:nvPr/>
        </p:nvSpPr>
        <p:spPr bwMode="auto">
          <a:xfrm>
            <a:off x="0" y="2786058"/>
            <a:ext cx="4857752" cy="3416320"/>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Producer(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=1,2,…,k*/</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produce a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(empty);    </a:t>
            </a:r>
            <a:endPar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buffer[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:=(pidx+1) mod 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(full); </a:t>
            </a:r>
            <a:endPar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lang="en-US" altLang="zh-CN"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68291" name="Rectangle 3"/>
          <p:cNvSpPr>
            <a:spLocks noChangeArrowheads="1"/>
          </p:cNvSpPr>
          <p:nvPr/>
        </p:nvSpPr>
        <p:spPr bwMode="auto">
          <a:xfrm>
            <a:off x="4714876" y="2786058"/>
            <a:ext cx="4429124" cy="3416320"/>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Consumer(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j){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while(1){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(full);    </a:t>
            </a:r>
            <a:endPar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         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product:=buffer[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:=(cidx+1) mod 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(empty); </a:t>
            </a:r>
            <a:endPar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         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consume product;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57158" y="1285860"/>
            <a:ext cx="3020379" cy="461665"/>
          </a:xfrm>
          <a:prstGeom prst="rect">
            <a:avLst/>
          </a:prstGeom>
        </p:spPr>
        <p:txBody>
          <a:bodyPr wrap="none">
            <a:spAutoFit/>
          </a:bodyPr>
          <a:lstStyle/>
          <a:p>
            <a:r>
              <a:rPr lang="en-US" sz="2400" dirty="0">
                <a:solidFill>
                  <a:srgbClr val="FF0000"/>
                </a:solidFill>
                <a:latin typeface="华文中宋" panose="02010600040101010101" pitchFamily="2" charset="-122"/>
                <a:ea typeface="华文中宋" panose="02010600040101010101" pitchFamily="2" charset="-122"/>
              </a:rPr>
              <a:t>4.4.2 </a:t>
            </a:r>
            <a:r>
              <a:rPr lang="zh-CN" altLang="en-US" sz="2400" dirty="0">
                <a:solidFill>
                  <a:srgbClr val="FF0000"/>
                </a:solidFill>
                <a:latin typeface="华文中宋" panose="02010600040101010101" pitchFamily="2" charset="-122"/>
                <a:ea typeface="华文中宋" panose="02010600040101010101" pitchFamily="2" charset="-122"/>
              </a:rPr>
              <a:t>读者</a:t>
            </a:r>
            <a:r>
              <a:rPr lang="en-US" sz="2400" dirty="0">
                <a:solidFill>
                  <a:srgbClr val="FF0000"/>
                </a:solidFill>
                <a:latin typeface="华文中宋" panose="02010600040101010101" pitchFamily="2" charset="-122"/>
                <a:ea typeface="华文中宋" panose="02010600040101010101" pitchFamily="2" charset="-122"/>
              </a:rPr>
              <a:t>-</a:t>
            </a:r>
            <a:r>
              <a:rPr lang="zh-CN" altLang="en-US" sz="2400" dirty="0">
                <a:solidFill>
                  <a:srgbClr val="FF0000"/>
                </a:solidFill>
                <a:latin typeface="华文中宋" panose="02010600040101010101" pitchFamily="2" charset="-122"/>
                <a:ea typeface="华文中宋" panose="02010600040101010101" pitchFamily="2" charset="-122"/>
              </a:rPr>
              <a:t>写者问题</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269313" name="Rectangle 1"/>
          <p:cNvSpPr>
            <a:spLocks noChangeArrowheads="1"/>
          </p:cNvSpPr>
          <p:nvPr/>
        </p:nvSpPr>
        <p:spPr bwMode="auto">
          <a:xfrm>
            <a:off x="0" y="1857364"/>
            <a:ext cx="9144000" cy="2862322"/>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4-8】</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有一个被多个进程共享的数据区，这个数据区可以是一个文件、一块内存空间或者是一组寄存器。有一些进程（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Reader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）只读取这个数据区中的数据，一些进程（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Writer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）只向数据区中写数据。此外，还必须满足以下条件：</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任意多个读者进程可以同时读这个文件；</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一次只能有一个写者进程可以写文件；</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如果一个写进程正在写文件，禁止任何进程读该文件。</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6" name="矩形 5"/>
          <p:cNvSpPr/>
          <p:nvPr/>
        </p:nvSpPr>
        <p:spPr>
          <a:xfrm>
            <a:off x="1142976" y="4857760"/>
            <a:ext cx="6858048" cy="1338828"/>
          </a:xfrm>
          <a:prstGeom prst="rect">
            <a:avLst/>
          </a:prstGeom>
        </p:spPr>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rPr>
              <a:t>关键是要解决“</a:t>
            </a:r>
            <a:r>
              <a:rPr lang="zh-CN" altLang="en-US" b="1" dirty="0">
                <a:solidFill>
                  <a:srgbClr val="FF0000"/>
                </a:solidFill>
                <a:latin typeface="华文中宋" panose="02010600040101010101" pitchFamily="2" charset="-122"/>
                <a:ea typeface="华文中宋" panose="02010600040101010101" pitchFamily="2" charset="-122"/>
              </a:rPr>
              <a:t>选择性互斥</a:t>
            </a:r>
            <a:r>
              <a:rPr lang="zh-CN" altLang="en-US" dirty="0">
                <a:latin typeface="华文中宋" panose="02010600040101010101" pitchFamily="2" charset="-122"/>
                <a:ea typeface="华文中宋" panose="02010600040101010101" pitchFamily="2" charset="-122"/>
              </a:rPr>
              <a:t>”（</a:t>
            </a:r>
            <a:r>
              <a:rPr lang="en-US" dirty="0">
                <a:latin typeface="华文中宋" panose="02010600040101010101" pitchFamily="2" charset="-122"/>
                <a:ea typeface="华文中宋" panose="02010600040101010101" pitchFamily="2" charset="-122"/>
              </a:rPr>
              <a:t>Selective mutual exclusion</a:t>
            </a:r>
            <a:r>
              <a:rPr lang="zh-CN" altLang="en-US" dirty="0">
                <a:latin typeface="华文中宋" panose="02010600040101010101" pitchFamily="2" charset="-122"/>
                <a:ea typeface="华文中宋" panose="02010600040101010101" pitchFamily="2" charset="-122"/>
              </a:rPr>
              <a:t>）问题，即当存在一个读者进程正在读文件时，只互斥写进程；当存在一个写者进程正在写文件时，互斥所有其它进程。</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70337" name="Rectangle 1"/>
          <p:cNvSpPr>
            <a:spLocks noChangeArrowheads="1"/>
          </p:cNvSpPr>
          <p:nvPr/>
        </p:nvSpPr>
        <p:spPr bwMode="auto">
          <a:xfrm>
            <a:off x="357158" y="1500174"/>
            <a:ext cx="8501122" cy="3323987"/>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为了实现选择性互斥，设计一个初值为</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的变量</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，表示正在读取文件的读者进程的个数。当一个读者进程企图读取文件时，首先将计数</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递增，然后需要判断</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的值：</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如果</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nr &gt;1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，表示已经有若干读者进程正在读取，于是该读者进程允许直接进入读取；</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如果</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nr=1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，说明这是第一个读者进程，但是可能有一个写者进程正在写入，因此读者需要与写者进行互斥。</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1"/>
          <p:cNvSpPr>
            <a:spLocks noChangeArrowheads="1"/>
          </p:cNvSpPr>
          <p:nvPr/>
        </p:nvSpPr>
        <p:spPr bwMode="auto">
          <a:xfrm>
            <a:off x="-32" y="106426"/>
            <a:ext cx="9144032" cy="1938992"/>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rw</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读者与写者互斥，或者写者与写者互斥*</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semaphore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nr:=0;            /*readers’ counter*/</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r>
              <a:rPr lang="en-US" dirty="0">
                <a:latin typeface="华文中宋" panose="02010600040101010101" pitchFamily="2" charset="-122"/>
                <a:ea typeface="华文中宋" panose="02010600040101010101" pitchFamily="2" charset="-122"/>
              </a:rPr>
              <a:t>void main( ){</a:t>
            </a:r>
            <a:endParaRPr lang="zh-CN" altLang="en-US" dirty="0">
              <a:latin typeface="华文中宋" panose="02010600040101010101" pitchFamily="2" charset="-122"/>
              <a:ea typeface="华文中宋" panose="02010600040101010101" pitchFamily="2" charset="-122"/>
            </a:endParaRPr>
          </a:p>
          <a:p>
            <a:r>
              <a:rPr lang="en-US" dirty="0">
                <a:latin typeface="华文中宋" panose="02010600040101010101" pitchFamily="2" charset="-122"/>
                <a:ea typeface="华文中宋" panose="02010600040101010101" pitchFamily="2" charset="-122"/>
              </a:rPr>
              <a:t>    </a:t>
            </a:r>
            <a:r>
              <a:rPr lang="en-US" dirty="0" err="1">
                <a:latin typeface="华文中宋" panose="02010600040101010101" pitchFamily="2" charset="-122"/>
                <a:ea typeface="华文中宋" panose="02010600040101010101" pitchFamily="2" charset="-122"/>
              </a:rPr>
              <a:t>parbegin</a:t>
            </a:r>
            <a:r>
              <a:rPr lang="en-US" dirty="0">
                <a:latin typeface="华文中宋" panose="02010600040101010101" pitchFamily="2" charset="-122"/>
                <a:ea typeface="华文中宋" panose="02010600040101010101" pitchFamily="2" charset="-122"/>
              </a:rPr>
              <a:t>(Reader(1),…,Reader(m), Writer(1),…,Writer(n));</a:t>
            </a:r>
            <a:endParaRPr lang="zh-CN" altLang="en-US" dirty="0">
              <a:latin typeface="华文中宋" panose="02010600040101010101" pitchFamily="2" charset="-122"/>
              <a:ea typeface="华文中宋" panose="02010600040101010101" pitchFamily="2" charset="-122"/>
            </a:endParaRPr>
          </a:p>
          <a:p>
            <a:r>
              <a:rPr lang="en-US" dirty="0">
                <a:latin typeface="华文中宋" panose="02010600040101010101" pitchFamily="2" charset="-122"/>
                <a:ea typeface="华文中宋" panose="02010600040101010101" pitchFamily="2" charset="-122"/>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71362" name="Rectangle 2"/>
          <p:cNvSpPr>
            <a:spLocks noChangeArrowheads="1"/>
          </p:cNvSpPr>
          <p:nvPr/>
        </p:nvSpPr>
        <p:spPr bwMode="auto">
          <a:xfrm>
            <a:off x="214282" y="2195185"/>
            <a:ext cx="4286248" cy="4662815"/>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Reader(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=1,2,…,m*/</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nr++;</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if(nr=1) then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rw</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read file;</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nr--;</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if(nr=0) then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rw</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71363" name="Rectangle 3"/>
          <p:cNvSpPr>
            <a:spLocks noChangeArrowheads="1"/>
          </p:cNvSpPr>
          <p:nvPr/>
        </p:nvSpPr>
        <p:spPr bwMode="auto">
          <a:xfrm>
            <a:off x="4500594" y="2187869"/>
            <a:ext cx="4500562" cy="2169825"/>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57175" algn="l" defTabSz="914400" rtl="0" eaLnBrk="1" fontAlgn="base" latinLnBrk="0" hangingPunct="1">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void Writer(</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int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j){      /*j=1,2,…,n*/</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57175" algn="l" defTabSz="914400" rtl="0" eaLnBrk="0" fontAlgn="base" latinLnBrk="0" hangingPunct="0">
              <a:lnSpc>
                <a:spcPct val="15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rw</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57175"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write file;</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57175" algn="l" defTabSz="914400" rtl="0" eaLnBrk="0" fontAlgn="base" latinLnBrk="0" hangingPunct="0">
              <a:lnSpc>
                <a:spcPct val="150000"/>
              </a:lnSpc>
              <a:spcBef>
                <a:spcPct val="0"/>
              </a:spcBef>
              <a:spcAft>
                <a:spcPct val="0"/>
              </a:spcAft>
              <a:buClrTx/>
              <a:buSzTx/>
              <a:buFontTx/>
              <a:buNone/>
            </a:pP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1"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rw</a:t>
            </a:r>
            <a:r>
              <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en-US" altLang="zh-CN"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57175"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928794" y="2285992"/>
          <a:ext cx="5130800" cy="3659315"/>
        </p:xfrm>
        <a:graphic>
          <a:graphicData uri="http://schemas.openxmlformats.org/drawingml/2006/table">
            <a:tbl>
              <a:tblPr/>
              <a:tblGrid>
                <a:gridCol w="5130800"/>
              </a:tblGrid>
              <a:tr h="0">
                <a:tc>
                  <a:txBody>
                    <a:bodyPr/>
                    <a:lstStyle/>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{nr=0}</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Reader1::nr++;</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{nr=1}</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Reader2::nr++;</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{nr=2}</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Reader1::if (nr=1); </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Reader1::read file; </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Writer1::</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a:t>
                      </a:r>
                      <a:r>
                        <a:rPr lang="en-US" sz="1800" kern="100" dirty="0" err="1">
                          <a:latin typeface="Times New Roman" panose="02020603050405020304"/>
                          <a:ea typeface="宋体" panose="02010600030101010101" pitchFamily="2" charset="-122"/>
                          <a:cs typeface="Times New Roman" panose="02020603050405020304"/>
                        </a:rPr>
                        <a:t>rw</a:t>
                      </a:r>
                      <a:r>
                        <a:rPr lang="en-US" sz="1800" kern="100" dirty="0">
                          <a:latin typeface="Times New Roman" panose="02020603050405020304"/>
                          <a:ea typeface="宋体" panose="02010600030101010101" pitchFamily="2" charset="-122"/>
                          <a:cs typeface="Times New Roman" panose="02020603050405020304"/>
                        </a:rPr>
                        <a:t>); </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Writer1::write file</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72385" name="Rectangle 1"/>
          <p:cNvSpPr>
            <a:spLocks noChangeArrowheads="1"/>
          </p:cNvSpPr>
          <p:nvPr/>
        </p:nvSpPr>
        <p:spPr bwMode="auto">
          <a:xfrm>
            <a:off x="0" y="0"/>
            <a:ext cx="9144000" cy="1938992"/>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由于</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是读者进程的共享变量，因此对</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nr</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进行读写操作时，必须将它作为临界区互斥起来。</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1" fontAlgn="base" latinLnBrk="0" hangingPunct="1">
              <a:lnSpc>
                <a:spcPct val="150000"/>
              </a:lnSpc>
              <a:spcBef>
                <a:spcPct val="0"/>
              </a:spcBef>
              <a:spcAft>
                <a:spcPct val="0"/>
              </a:spcAft>
              <a:buClrTx/>
              <a:buSzTx/>
              <a:buFontTx/>
              <a:buNone/>
            </a:pP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举一个反例。假如没有第</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6</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9</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行的</a:t>
            </a:r>
            <a:r>
              <a:rPr kumimoji="0" lang="en-US" alt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操作，那么有可能出现这种交叠序列，于是就出现了读者和写者同时操作文件的情形，这显然是违背设计要求的。</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500034" y="1714488"/>
            <a:ext cx="8286808"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000" dirty="0">
                <a:latin typeface="华文中宋" panose="02010600040101010101" pitchFamily="2" charset="-122"/>
                <a:ea typeface="华文中宋" panose="02010600040101010101" pitchFamily="2" charset="-122"/>
              </a:rPr>
              <a:t>     容易证明算法满足如下几个性质：</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当</a:t>
            </a:r>
            <a:r>
              <a:rPr lang="en-US" sz="2000" dirty="0">
                <a:latin typeface="华文中宋" panose="02010600040101010101" pitchFamily="2" charset="-122"/>
                <a:ea typeface="华文中宋" panose="02010600040101010101" pitchFamily="2" charset="-122"/>
              </a:rPr>
              <a:t>nr&gt;0</a:t>
            </a:r>
            <a:r>
              <a:rPr lang="zh-CN" altLang="en-US" sz="2000" dirty="0">
                <a:latin typeface="华文中宋" panose="02010600040101010101" pitchFamily="2" charset="-122"/>
                <a:ea typeface="华文中宋" panose="02010600040101010101" pitchFamily="2" charset="-122"/>
              </a:rPr>
              <a:t>时，其它读者进程可以允许直接进入；</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当</a:t>
            </a:r>
            <a:r>
              <a:rPr lang="en-US" sz="2000" dirty="0">
                <a:latin typeface="华文中宋" panose="02010600040101010101" pitchFamily="2" charset="-122"/>
                <a:ea typeface="华文中宋" panose="02010600040101010101" pitchFamily="2" charset="-122"/>
              </a:rPr>
              <a:t>nr&gt;0</a:t>
            </a:r>
            <a:r>
              <a:rPr lang="zh-CN" altLang="en-US" sz="2000" dirty="0">
                <a:latin typeface="华文中宋" panose="02010600040101010101" pitchFamily="2" charset="-122"/>
                <a:ea typeface="华文中宋" panose="02010600040101010101" pitchFamily="2" charset="-122"/>
              </a:rPr>
              <a:t>时，任何一个写者进程都不允许进入；</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当一个写者进程进入并写入文件时，不允许任何读者进程和其它写者进程进入；</a:t>
            </a:r>
            <a:endParaRPr lang="zh-CN" altLang="en-US" sz="20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当一个读者进程等待进入时，其它试图进入的读者进程均需等待进入。</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14282" y="142852"/>
            <a:ext cx="8786874" cy="258532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buFont typeface="Arial" panose="020B0604020202020204" pitchFamily="34" charset="0"/>
              <a:buChar char="•"/>
            </a:pPr>
            <a:r>
              <a:rPr lang="zh-CN" altLang="en-US" dirty="0">
                <a:solidFill>
                  <a:srgbClr val="FF0000"/>
                </a:solidFill>
                <a:latin typeface="华文中宋" panose="02010600040101010101" pitchFamily="2" charset="-122"/>
                <a:ea typeface="华文中宋" panose="02010600040101010101" pitchFamily="2" charset="-122"/>
              </a:rPr>
              <a:t>“读者优先”</a:t>
            </a:r>
            <a:r>
              <a:rPr lang="zh-CN" altLang="en-US" dirty="0">
                <a:latin typeface="华文中宋" panose="02010600040101010101" pitchFamily="2" charset="-122"/>
                <a:ea typeface="华文中宋" panose="02010600040101010101" pitchFamily="2" charset="-122"/>
              </a:rPr>
              <a:t>策略：只要有一个读者进程正在读取文件，其它读者进程可以不加控制的进入读取，使得等待进入的写者进程迟迟不能进入，必须等待所有读者进程都退出之后才能进入。</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 </a:t>
            </a:r>
            <a:r>
              <a:rPr lang="zh-CN" altLang="en-US" dirty="0">
                <a:solidFill>
                  <a:srgbClr val="FF0000"/>
                </a:solidFill>
                <a:latin typeface="华文中宋" panose="02010600040101010101" pitchFamily="2" charset="-122"/>
                <a:ea typeface="华文中宋" panose="02010600040101010101" pitchFamily="2" charset="-122"/>
              </a:rPr>
              <a:t>“写者优先”</a:t>
            </a:r>
            <a:r>
              <a:rPr lang="zh-CN" altLang="en-US" dirty="0">
                <a:latin typeface="华文中宋" panose="02010600040101010101" pitchFamily="2" charset="-122"/>
                <a:ea typeface="华文中宋" panose="02010600040101010101" pitchFamily="2" charset="-122"/>
              </a:rPr>
              <a:t>策略：希望写者优先，即当有读者进程在读取文件时，如果有写者进程请求写入，那么后来的读者进程必须被拒绝进入，待已经进入的读者完成读操作之后，立即让写者进入，只有当无写者工作时，才让读者进入读取。</a:t>
            </a:r>
            <a:endParaRPr lang="zh-CN" altLang="en-US" dirty="0">
              <a:latin typeface="华文中宋" panose="02010600040101010101" pitchFamily="2" charset="-122"/>
              <a:ea typeface="华文中宋" panose="02010600040101010101" pitchFamily="2" charset="-122"/>
            </a:endParaRPr>
          </a:p>
        </p:txBody>
      </p:sp>
      <p:cxnSp>
        <p:nvCxnSpPr>
          <p:cNvPr id="6" name="直接箭头连接符 5"/>
          <p:cNvCxnSpPr/>
          <p:nvPr/>
        </p:nvCxnSpPr>
        <p:spPr>
          <a:xfrm>
            <a:off x="142876" y="4000504"/>
            <a:ext cx="9001156" cy="158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等腰三角形 6"/>
          <p:cNvSpPr/>
          <p:nvPr/>
        </p:nvSpPr>
        <p:spPr>
          <a:xfrm rot="10800000">
            <a:off x="594097" y="3498850"/>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428596" y="3000372"/>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R1</a:t>
            </a:r>
            <a:endParaRPr lang="zh-CN" altLang="en-US" sz="2800" dirty="0">
              <a:latin typeface="华文中宋" panose="02010600040101010101" pitchFamily="2" charset="-122"/>
              <a:ea typeface="华文中宋" panose="02010600040101010101" pitchFamily="2" charset="-122"/>
            </a:endParaRPr>
          </a:p>
        </p:txBody>
      </p:sp>
      <p:sp>
        <p:nvSpPr>
          <p:cNvPr id="9" name="等腰三角形 8"/>
          <p:cNvSpPr/>
          <p:nvPr/>
        </p:nvSpPr>
        <p:spPr>
          <a:xfrm rot="10800000">
            <a:off x="1808543" y="3500438"/>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1643042" y="3050244"/>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R2</a:t>
            </a:r>
            <a:endParaRPr lang="zh-CN" altLang="en-US" sz="2800" dirty="0">
              <a:latin typeface="华文中宋" panose="02010600040101010101" pitchFamily="2" charset="-122"/>
              <a:ea typeface="华文中宋" panose="02010600040101010101" pitchFamily="2" charset="-122"/>
            </a:endParaRPr>
          </a:p>
        </p:txBody>
      </p:sp>
      <p:sp>
        <p:nvSpPr>
          <p:cNvPr id="11" name="等腰三角形 10"/>
          <p:cNvSpPr/>
          <p:nvPr/>
        </p:nvSpPr>
        <p:spPr>
          <a:xfrm rot="10800000">
            <a:off x="3939924" y="3500438"/>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3786182" y="3050244"/>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R3</a:t>
            </a:r>
            <a:endParaRPr lang="zh-CN" altLang="en-US" sz="2800" dirty="0">
              <a:latin typeface="华文中宋" panose="02010600040101010101" pitchFamily="2" charset="-122"/>
              <a:ea typeface="华文中宋" panose="02010600040101010101" pitchFamily="2" charset="-122"/>
            </a:endParaRPr>
          </a:p>
        </p:txBody>
      </p:sp>
      <p:sp>
        <p:nvSpPr>
          <p:cNvPr id="13" name="等腰三角形 12"/>
          <p:cNvSpPr/>
          <p:nvPr/>
        </p:nvSpPr>
        <p:spPr>
          <a:xfrm rot="10800000">
            <a:off x="2665799" y="3500438"/>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2594361" y="3050244"/>
            <a:ext cx="529312"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W</a:t>
            </a:r>
            <a:endParaRPr lang="zh-CN" altLang="en-US" sz="2800" dirty="0">
              <a:latin typeface="华文中宋" panose="02010600040101010101" pitchFamily="2" charset="-122"/>
              <a:ea typeface="华文中宋" panose="02010600040101010101" pitchFamily="2" charset="-122"/>
            </a:endParaRPr>
          </a:p>
        </p:txBody>
      </p:sp>
      <p:sp>
        <p:nvSpPr>
          <p:cNvPr id="18" name="TextBox 17"/>
          <p:cNvSpPr txBox="1"/>
          <p:nvPr/>
        </p:nvSpPr>
        <p:spPr>
          <a:xfrm>
            <a:off x="4714876" y="3071810"/>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R1</a:t>
            </a:r>
            <a:endParaRPr lang="zh-CN" altLang="en-US" sz="2800" dirty="0">
              <a:latin typeface="华文中宋" panose="02010600040101010101" pitchFamily="2" charset="-122"/>
              <a:ea typeface="华文中宋" panose="02010600040101010101" pitchFamily="2" charset="-122"/>
            </a:endParaRPr>
          </a:p>
        </p:txBody>
      </p:sp>
      <p:sp>
        <p:nvSpPr>
          <p:cNvPr id="20" name="TextBox 19"/>
          <p:cNvSpPr txBox="1"/>
          <p:nvPr/>
        </p:nvSpPr>
        <p:spPr>
          <a:xfrm>
            <a:off x="5857884" y="3048656"/>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R2</a:t>
            </a:r>
            <a:endParaRPr lang="zh-CN" altLang="en-US" sz="2800" dirty="0">
              <a:latin typeface="华文中宋" panose="02010600040101010101" pitchFamily="2" charset="-122"/>
              <a:ea typeface="华文中宋" panose="02010600040101010101" pitchFamily="2" charset="-122"/>
            </a:endParaRPr>
          </a:p>
        </p:txBody>
      </p:sp>
      <p:sp>
        <p:nvSpPr>
          <p:cNvPr id="22" name="TextBox 21"/>
          <p:cNvSpPr txBox="1"/>
          <p:nvPr/>
        </p:nvSpPr>
        <p:spPr>
          <a:xfrm>
            <a:off x="6858016" y="3064537"/>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R3</a:t>
            </a:r>
            <a:endParaRPr lang="zh-CN" altLang="en-US" sz="2800" dirty="0">
              <a:latin typeface="华文中宋" panose="02010600040101010101" pitchFamily="2" charset="-122"/>
              <a:ea typeface="华文中宋" panose="02010600040101010101" pitchFamily="2" charset="-122"/>
            </a:endParaRPr>
          </a:p>
        </p:txBody>
      </p:sp>
      <p:sp>
        <p:nvSpPr>
          <p:cNvPr id="23" name="等腰三角形 22"/>
          <p:cNvSpPr/>
          <p:nvPr/>
        </p:nvSpPr>
        <p:spPr>
          <a:xfrm>
            <a:off x="4929190" y="3514732"/>
            <a:ext cx="346324" cy="48577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a:off x="6000760" y="3500438"/>
            <a:ext cx="346324" cy="48577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a:off x="7072330" y="3500438"/>
            <a:ext cx="346324" cy="48577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p:nvSpPr>
        <p:spPr>
          <a:xfrm rot="10800000">
            <a:off x="7257398" y="3500438"/>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7328836" y="3050244"/>
            <a:ext cx="529312"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W</a:t>
            </a:r>
            <a:endParaRPr lang="zh-CN" altLang="en-US" sz="2800" dirty="0">
              <a:latin typeface="华文中宋" panose="02010600040101010101" pitchFamily="2" charset="-122"/>
              <a:ea typeface="华文中宋" panose="02010600040101010101" pitchFamily="2" charset="-122"/>
            </a:endParaRPr>
          </a:p>
        </p:txBody>
      </p:sp>
      <p:sp>
        <p:nvSpPr>
          <p:cNvPr id="30" name="左中括号 29"/>
          <p:cNvSpPr/>
          <p:nvPr/>
        </p:nvSpPr>
        <p:spPr>
          <a:xfrm rot="16200000">
            <a:off x="5072066" y="1928800"/>
            <a:ext cx="142878" cy="4572032"/>
          </a:xfrm>
          <a:prstGeom prst="leftBracket">
            <a:avLst/>
          </a:prstGeom>
          <a:ln w="28575">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TextBox 30"/>
          <p:cNvSpPr txBox="1"/>
          <p:nvPr/>
        </p:nvSpPr>
        <p:spPr>
          <a:xfrm>
            <a:off x="5214942" y="4214818"/>
            <a:ext cx="776175" cy="369332"/>
          </a:xfrm>
          <a:prstGeom prst="rect">
            <a:avLst/>
          </a:prstGeom>
          <a:noFill/>
        </p:spPr>
        <p:txBody>
          <a:bodyPr wrap="none" rtlCol="0">
            <a:spAutoFit/>
          </a:bodyPr>
          <a:lstStyle/>
          <a:p>
            <a:r>
              <a:rPr lang="en-US" altLang="zh-CN" b="1" dirty="0">
                <a:solidFill>
                  <a:srgbClr val="FF0000"/>
                </a:solidFill>
                <a:latin typeface="华文中宋" panose="02010600040101010101" pitchFamily="2" charset="-122"/>
                <a:ea typeface="华文中宋" panose="02010600040101010101" pitchFamily="2" charset="-122"/>
              </a:rPr>
              <a:t>delay</a:t>
            </a:r>
            <a:endParaRPr lang="zh-CN" altLang="en-US" b="1" dirty="0">
              <a:solidFill>
                <a:srgbClr val="FF0000"/>
              </a:solidFill>
              <a:latin typeface="华文中宋" panose="02010600040101010101" pitchFamily="2" charset="-122"/>
              <a:ea typeface="华文中宋" panose="02010600040101010101" pitchFamily="2" charset="-122"/>
            </a:endParaRPr>
          </a:p>
        </p:txBody>
      </p:sp>
      <p:cxnSp>
        <p:nvCxnSpPr>
          <p:cNvPr id="32" name="直接箭头连接符 31"/>
          <p:cNvCxnSpPr/>
          <p:nvPr/>
        </p:nvCxnSpPr>
        <p:spPr>
          <a:xfrm>
            <a:off x="-32" y="5952484"/>
            <a:ext cx="9001156" cy="158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rot="10800000">
            <a:off x="451189" y="5450830"/>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rot="10800000">
            <a:off x="1665635" y="5452418"/>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1500134" y="5002224"/>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R2</a:t>
            </a:r>
            <a:endParaRPr lang="zh-CN" altLang="en-US" sz="2800" dirty="0">
              <a:latin typeface="华文中宋" panose="02010600040101010101" pitchFamily="2" charset="-122"/>
              <a:ea typeface="华文中宋" panose="02010600040101010101" pitchFamily="2" charset="-122"/>
            </a:endParaRPr>
          </a:p>
        </p:txBody>
      </p:sp>
      <p:sp>
        <p:nvSpPr>
          <p:cNvPr id="36" name="等腰三角形 35"/>
          <p:cNvSpPr/>
          <p:nvPr/>
        </p:nvSpPr>
        <p:spPr>
          <a:xfrm rot="10800000">
            <a:off x="3797016" y="5452418"/>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Box 36"/>
          <p:cNvSpPr txBox="1"/>
          <p:nvPr/>
        </p:nvSpPr>
        <p:spPr>
          <a:xfrm>
            <a:off x="3643274" y="5002224"/>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R3</a:t>
            </a:r>
            <a:endParaRPr lang="zh-CN" altLang="en-US" sz="2800" dirty="0">
              <a:latin typeface="华文中宋" panose="02010600040101010101" pitchFamily="2" charset="-122"/>
              <a:ea typeface="华文中宋" panose="02010600040101010101" pitchFamily="2" charset="-122"/>
            </a:endParaRPr>
          </a:p>
        </p:txBody>
      </p:sp>
      <p:sp>
        <p:nvSpPr>
          <p:cNvPr id="38" name="等腰三角形 37"/>
          <p:cNvSpPr/>
          <p:nvPr/>
        </p:nvSpPr>
        <p:spPr>
          <a:xfrm rot="10800000">
            <a:off x="2522891" y="5452418"/>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8"/>
          <p:cNvSpPr txBox="1"/>
          <p:nvPr/>
        </p:nvSpPr>
        <p:spPr>
          <a:xfrm>
            <a:off x="2451453" y="5002224"/>
            <a:ext cx="529312"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W</a:t>
            </a:r>
            <a:endParaRPr lang="zh-CN" altLang="en-US" sz="2800" dirty="0">
              <a:latin typeface="华文中宋" panose="02010600040101010101" pitchFamily="2" charset="-122"/>
              <a:ea typeface="华文中宋" panose="02010600040101010101" pitchFamily="2" charset="-122"/>
            </a:endParaRPr>
          </a:p>
        </p:txBody>
      </p:sp>
      <p:sp>
        <p:nvSpPr>
          <p:cNvPr id="40" name="TextBox 39"/>
          <p:cNvSpPr txBox="1"/>
          <p:nvPr/>
        </p:nvSpPr>
        <p:spPr>
          <a:xfrm>
            <a:off x="4571968" y="5023790"/>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R1</a:t>
            </a:r>
            <a:endParaRPr lang="zh-CN" altLang="en-US" sz="2800" dirty="0">
              <a:latin typeface="华文中宋" panose="02010600040101010101" pitchFamily="2" charset="-122"/>
              <a:ea typeface="华文中宋" panose="02010600040101010101" pitchFamily="2" charset="-122"/>
            </a:endParaRPr>
          </a:p>
        </p:txBody>
      </p:sp>
      <p:sp>
        <p:nvSpPr>
          <p:cNvPr id="41" name="TextBox 40"/>
          <p:cNvSpPr txBox="1"/>
          <p:nvPr/>
        </p:nvSpPr>
        <p:spPr>
          <a:xfrm>
            <a:off x="5429256" y="5000636"/>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R2</a:t>
            </a:r>
            <a:endParaRPr lang="zh-CN" altLang="en-US" sz="2800" dirty="0">
              <a:latin typeface="华文中宋" panose="02010600040101010101" pitchFamily="2" charset="-122"/>
              <a:ea typeface="华文中宋" panose="02010600040101010101" pitchFamily="2" charset="-122"/>
            </a:endParaRPr>
          </a:p>
        </p:txBody>
      </p:sp>
      <p:sp>
        <p:nvSpPr>
          <p:cNvPr id="43" name="等腰三角形 42"/>
          <p:cNvSpPr/>
          <p:nvPr/>
        </p:nvSpPr>
        <p:spPr>
          <a:xfrm>
            <a:off x="4786282" y="5466712"/>
            <a:ext cx="346324" cy="48577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a:off x="5857852" y="5452418"/>
            <a:ext cx="346324" cy="48577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等腰三角形 45"/>
          <p:cNvSpPr/>
          <p:nvPr/>
        </p:nvSpPr>
        <p:spPr>
          <a:xfrm rot="10800000">
            <a:off x="6000761" y="5443557"/>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extBox 46"/>
          <p:cNvSpPr txBox="1"/>
          <p:nvPr/>
        </p:nvSpPr>
        <p:spPr>
          <a:xfrm>
            <a:off x="5929322" y="5002224"/>
            <a:ext cx="529312"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W</a:t>
            </a:r>
            <a:endParaRPr lang="zh-CN" altLang="en-US" sz="2800" dirty="0">
              <a:latin typeface="华文中宋" panose="02010600040101010101" pitchFamily="2" charset="-122"/>
              <a:ea typeface="华文中宋" panose="02010600040101010101" pitchFamily="2" charset="-122"/>
            </a:endParaRPr>
          </a:p>
        </p:txBody>
      </p:sp>
      <p:sp>
        <p:nvSpPr>
          <p:cNvPr id="50" name="TextBox 49"/>
          <p:cNvSpPr txBox="1"/>
          <p:nvPr/>
        </p:nvSpPr>
        <p:spPr>
          <a:xfrm>
            <a:off x="334533" y="5000636"/>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R1</a:t>
            </a:r>
            <a:endParaRPr lang="zh-CN" altLang="en-US" sz="2800" dirty="0">
              <a:latin typeface="华文中宋" panose="02010600040101010101" pitchFamily="2" charset="-122"/>
              <a:ea typeface="华文中宋" panose="02010600040101010101" pitchFamily="2" charset="-122"/>
            </a:endParaRPr>
          </a:p>
        </p:txBody>
      </p:sp>
      <p:sp>
        <p:nvSpPr>
          <p:cNvPr id="51" name="等腰三角形 50"/>
          <p:cNvSpPr/>
          <p:nvPr/>
        </p:nvSpPr>
        <p:spPr>
          <a:xfrm rot="10800000">
            <a:off x="7786711" y="5450830"/>
            <a:ext cx="346324" cy="485772"/>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TextBox 51"/>
          <p:cNvSpPr txBox="1"/>
          <p:nvPr/>
        </p:nvSpPr>
        <p:spPr>
          <a:xfrm>
            <a:off x="7715272" y="5000636"/>
            <a:ext cx="665567"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R3</a:t>
            </a:r>
            <a:endParaRPr lang="zh-CN" altLang="en-US" sz="2800" dirty="0">
              <a:latin typeface="华文中宋" panose="02010600040101010101" pitchFamily="2" charset="-122"/>
              <a:ea typeface="华文中宋" panose="02010600040101010101" pitchFamily="2" charset="-122"/>
            </a:endParaRPr>
          </a:p>
        </p:txBody>
      </p:sp>
      <p:sp>
        <p:nvSpPr>
          <p:cNvPr id="53" name="等腰三角形 52"/>
          <p:cNvSpPr/>
          <p:nvPr/>
        </p:nvSpPr>
        <p:spPr>
          <a:xfrm>
            <a:off x="7614556" y="5450830"/>
            <a:ext cx="346324" cy="48577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TextBox 53"/>
          <p:cNvSpPr txBox="1"/>
          <p:nvPr/>
        </p:nvSpPr>
        <p:spPr>
          <a:xfrm>
            <a:off x="7358082" y="5000636"/>
            <a:ext cx="529312" cy="523220"/>
          </a:xfrm>
          <a:prstGeom prst="rect">
            <a:avLst/>
          </a:prstGeom>
          <a:noFill/>
        </p:spPr>
        <p:txBody>
          <a:bodyPr wrap="none" rtlCol="0">
            <a:spAutoFit/>
          </a:bodyPr>
          <a:lstStyle/>
          <a:p>
            <a:r>
              <a:rPr lang="en-US" altLang="zh-CN" sz="2800" dirty="0">
                <a:latin typeface="华文中宋" panose="02010600040101010101" pitchFamily="2" charset="-122"/>
                <a:ea typeface="华文中宋" panose="02010600040101010101" pitchFamily="2" charset="-122"/>
              </a:rPr>
              <a:t>W</a:t>
            </a:r>
            <a:endParaRPr lang="zh-CN" altLang="en-US" sz="2800" dirty="0">
              <a:latin typeface="华文中宋" panose="02010600040101010101" pitchFamily="2" charset="-122"/>
              <a:ea typeface="华文中宋" panose="02010600040101010101" pitchFamily="2" charset="-122"/>
            </a:endParaRPr>
          </a:p>
        </p:txBody>
      </p:sp>
      <p:sp>
        <p:nvSpPr>
          <p:cNvPr id="55" name="左中括号 54"/>
          <p:cNvSpPr/>
          <p:nvPr/>
        </p:nvSpPr>
        <p:spPr>
          <a:xfrm rot="16200000">
            <a:off x="5893602" y="4036224"/>
            <a:ext cx="214315" cy="4000528"/>
          </a:xfrm>
          <a:prstGeom prst="leftBracket">
            <a:avLst/>
          </a:prstGeom>
          <a:ln w="28575">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TextBox 55"/>
          <p:cNvSpPr txBox="1"/>
          <p:nvPr/>
        </p:nvSpPr>
        <p:spPr>
          <a:xfrm>
            <a:off x="6081841" y="6131502"/>
            <a:ext cx="776175" cy="369332"/>
          </a:xfrm>
          <a:prstGeom prst="rect">
            <a:avLst/>
          </a:prstGeom>
          <a:noFill/>
        </p:spPr>
        <p:txBody>
          <a:bodyPr wrap="none" rtlCol="0">
            <a:spAutoFit/>
          </a:bodyPr>
          <a:lstStyle/>
          <a:p>
            <a:r>
              <a:rPr lang="en-US" altLang="zh-CN" b="1" dirty="0">
                <a:solidFill>
                  <a:srgbClr val="FF0000"/>
                </a:solidFill>
                <a:latin typeface="华文中宋" panose="02010600040101010101" pitchFamily="2" charset="-122"/>
                <a:ea typeface="华文中宋" panose="02010600040101010101" pitchFamily="2" charset="-122"/>
              </a:rPr>
              <a:t>delay</a:t>
            </a:r>
            <a:endParaRPr lang="zh-CN" altLang="en-US" b="1"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3410" name="Picture 2"/>
          <p:cNvPicPr>
            <a:picLocks noChangeAspect="1" noChangeArrowheads="1"/>
          </p:cNvPicPr>
          <p:nvPr/>
        </p:nvPicPr>
        <p:blipFill>
          <a:blip r:embed="rId1"/>
          <a:srcRect/>
          <a:stretch>
            <a:fillRect/>
          </a:stretch>
        </p:blipFill>
        <p:spPr bwMode="auto">
          <a:xfrm>
            <a:off x="142844" y="0"/>
            <a:ext cx="7715250" cy="68580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500034" y="1857364"/>
          <a:ext cx="8358246" cy="1317625"/>
        </p:xfrm>
        <a:graphic>
          <a:graphicData uri="http://schemas.openxmlformats.org/drawingml/2006/table">
            <a:tbl>
              <a:tblPr/>
              <a:tblGrid>
                <a:gridCol w="8358246"/>
              </a:tblGrid>
              <a:tr h="1217301">
                <a:tc>
                  <a:txBody>
                    <a:bodyPr/>
                    <a:lstStyle/>
                    <a:p>
                      <a:pPr indent="266700" algn="just">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当有</a:t>
                      </a:r>
                      <a:r>
                        <a:rPr lang="en-US" sz="2000" i="1" kern="100" dirty="0">
                          <a:latin typeface="华文中宋" panose="02010600040101010101" pitchFamily="2" charset="-122"/>
                          <a:ea typeface="华文中宋" panose="02010600040101010101" pitchFamily="2" charset="-122"/>
                          <a:cs typeface="Times New Roman" panose="02020603050405020304"/>
                        </a:rPr>
                        <a:t>k </a:t>
                      </a:r>
                      <a:r>
                        <a:rPr lang="en-US" sz="2000" kern="100" dirty="0">
                          <a:latin typeface="华文中宋" panose="02010600040101010101" pitchFamily="2" charset="-122"/>
                          <a:ea typeface="华文中宋" panose="02010600040101010101" pitchFamily="2" charset="-122"/>
                          <a:cs typeface="Times New Roman" panose="02020603050405020304"/>
                        </a:rPr>
                        <a:t>(1 ≤</a:t>
                      </a:r>
                      <a:r>
                        <a:rPr lang="en-US" sz="2000" i="1" kern="100" dirty="0">
                          <a:latin typeface="华文中宋" panose="02010600040101010101" pitchFamily="2" charset="-122"/>
                          <a:ea typeface="华文中宋" panose="02010600040101010101" pitchFamily="2" charset="-122"/>
                          <a:cs typeface="Times New Roman" panose="02020603050405020304"/>
                        </a:rPr>
                        <a:t>k ≤ n</a:t>
                      </a:r>
                      <a:r>
                        <a:rPr lang="en-US" sz="2000" kern="100" dirty="0">
                          <a:latin typeface="华文中宋" panose="02010600040101010101" pitchFamily="2" charset="-122"/>
                          <a:ea typeface="华文中宋" panose="02010600040101010101" pitchFamily="2" charset="-122"/>
                          <a:cs typeface="Times New Roman" panose="02020603050405020304"/>
                        </a:rPr>
                        <a:t>)</a:t>
                      </a:r>
                      <a:r>
                        <a:rPr lang="zh-CN" sz="2000" kern="100" dirty="0">
                          <a:latin typeface="华文中宋" panose="02010600040101010101" pitchFamily="2" charset="-122"/>
                          <a:ea typeface="华文中宋" panose="02010600040101010101" pitchFamily="2" charset="-122"/>
                          <a:cs typeface="Times New Roman" panose="02020603050405020304"/>
                        </a:rPr>
                        <a:t>个读者进程正在读取文件时，一个写者进程请求写入文件，那么它必须等待</a:t>
                      </a:r>
                      <a:r>
                        <a:rPr lang="zh-CN" altLang="en-US" sz="2000" kern="100" dirty="0">
                          <a:latin typeface="华文中宋" panose="02010600040101010101" pitchFamily="2" charset="-122"/>
                          <a:ea typeface="华文中宋" panose="02010600040101010101" pitchFamily="2" charset="-122"/>
                          <a:cs typeface="Times New Roman" panose="02020603050405020304"/>
                        </a:rPr>
                        <a:t>这</a:t>
                      </a:r>
                      <a:r>
                        <a:rPr lang="en-US" sz="2000" i="1" kern="100" dirty="0">
                          <a:latin typeface="华文中宋" panose="02010600040101010101" pitchFamily="2" charset="-122"/>
                          <a:ea typeface="华文中宋" panose="02010600040101010101" pitchFamily="2" charset="-122"/>
                          <a:cs typeface="Times New Roman" panose="02020603050405020304"/>
                        </a:rPr>
                        <a:t>k</a:t>
                      </a:r>
                      <a:r>
                        <a:rPr lang="zh-CN" sz="2000" kern="100" dirty="0">
                          <a:latin typeface="华文中宋" panose="02010600040101010101" pitchFamily="2" charset="-122"/>
                          <a:ea typeface="华文中宋" panose="02010600040101010101" pitchFamily="2" charset="-122"/>
                          <a:cs typeface="Times New Roman" panose="02020603050405020304"/>
                        </a:rPr>
                        <a:t>个读者退出后才能进入，而且后续试图进入的读者进程必须等待，直到该写者进程退出。</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74433" name="Rectangle 1"/>
          <p:cNvSpPr>
            <a:spLocks noChangeArrowheads="1"/>
          </p:cNvSpPr>
          <p:nvPr/>
        </p:nvSpPr>
        <p:spPr bwMode="auto">
          <a:xfrm>
            <a:off x="285720" y="3214686"/>
            <a:ext cx="8429652" cy="2862322"/>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下面简要证明这个性质。</a:t>
            </a:r>
            <a:endPar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当有</a:t>
            </a:r>
            <a:r>
              <a:rPr kumimoji="0" lang="en-US" altLang="zh-CN"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个读者进程正在读取文件时，两个信号量的状态为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mutext</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。这时如果一个写者进程请求写入，它将执行第</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14</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行的</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for</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循环，经过</a:t>
            </a:r>
            <a:r>
              <a:rPr kumimoji="0" lang="en-US" altLang="zh-CN"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n-k</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轮循环后，</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，于是写者进程阻塞在第</a:t>
            </a:r>
            <a:r>
              <a:rPr kumimoji="0" lang="en-US" altLang="zh-CN"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轮循环的</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上，直到</a:t>
            </a:r>
            <a:r>
              <a:rPr kumimoji="0" lang="en-US" altLang="zh-CN" b="0"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个读者进程都执行完第</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9</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行的</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之后，</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14</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行的循环才能退出，于是写者进程进入第</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15</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行代码执行文件写入。这时信号量的状态为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=0}</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。从写者进程执行第</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13</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行的</a:t>
            </a:r>
            <a:r>
              <a:rPr kumimoji="0" lang="en-US" alt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操作，一直到写入文件完毕这段时间内，所有试图进入的读者和写者进程均需等待，无法进入，直到第</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16</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行和</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17</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行执行完毕时，</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sn</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的状态恢复为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得到释放为止，这时的信号量状态为</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mutex</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 /\ </a:t>
            </a:r>
            <a:r>
              <a:rPr kumimoji="0" lang="en-US" altLang="zh-CN" b="0" i="0"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sn</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。此状态允许等待的读者或写者进程进入。</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6" name="矩形 5"/>
          <p:cNvSpPr/>
          <p:nvPr/>
        </p:nvSpPr>
        <p:spPr>
          <a:xfrm>
            <a:off x="500034" y="1357298"/>
            <a:ext cx="8143932" cy="369332"/>
          </a:xfrm>
          <a:prstGeom prst="rect">
            <a:avLst/>
          </a:prstGeom>
        </p:spPr>
        <p:txBody>
          <a:bodyPr wrap="square">
            <a:spAutoFit/>
          </a:bodyPr>
          <a:lstStyle/>
          <a:p>
            <a:pPr lvl="0" indent="266700" fontAlgn="base">
              <a:spcBef>
                <a:spcPct val="0"/>
              </a:spcBef>
              <a:spcAft>
                <a:spcPct val="0"/>
              </a:spcAft>
            </a:pPr>
            <a:r>
              <a:rPr lang="zh-CN" altLang="en-US" dirty="0">
                <a:latin typeface="华文中宋" panose="02010600040101010101" pitchFamily="2" charset="-122"/>
                <a:ea typeface="华文中宋" panose="02010600040101010101" pitchFamily="2" charset="-122"/>
                <a:cs typeface="Times New Roman" panose="02020603050405020304" pitchFamily="18" charset="0"/>
              </a:rPr>
              <a:t>理解这段程序的关键是要证明程序满足这样一条性质：</a:t>
            </a:r>
            <a:endParaRPr lang="zh-CN" altLang="en-US" dirty="0">
              <a:latin typeface="华文中宋" panose="02010600040101010101" pitchFamily="2" charset="-122"/>
              <a:ea typeface="华文中宋" panose="02010600040101010101" pitchFamily="2" charset="-122"/>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0"/>
            <a:ext cx="8229600" cy="1143000"/>
          </a:xfrm>
        </p:spPr>
        <p:txBody>
          <a:bodyPr/>
          <a:lstStyle/>
          <a:p>
            <a:r>
              <a:rPr lang="en-US" dirty="0">
                <a:latin typeface="华文中宋" panose="02010600040101010101" pitchFamily="2" charset="-122"/>
                <a:ea typeface="华文中宋" panose="02010600040101010101" pitchFamily="2" charset="-122"/>
              </a:rPr>
              <a:t>§                       4.6 </a:t>
            </a:r>
            <a:r>
              <a:rPr lang="zh-CN" altLang="en-US" dirty="0">
                <a:latin typeface="华文中宋" panose="02010600040101010101" pitchFamily="2" charset="-122"/>
                <a:ea typeface="华文中宋" panose="02010600040101010101" pitchFamily="2" charset="-122"/>
              </a:rPr>
              <a:t>死锁（</a:t>
            </a:r>
            <a:r>
              <a:rPr lang="en-US" dirty="0">
                <a:latin typeface="华文中宋" panose="02010600040101010101" pitchFamily="2" charset="-122"/>
                <a:ea typeface="华文中宋" panose="02010600040101010101" pitchFamily="2" charset="-122"/>
              </a:rPr>
              <a:t>Deadlock</a:t>
            </a:r>
            <a:r>
              <a:rPr lang="zh-CN" altLang="en-US"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4" name="矩形 3"/>
          <p:cNvSpPr/>
          <p:nvPr/>
        </p:nvSpPr>
        <p:spPr>
          <a:xfrm>
            <a:off x="785786" y="1714488"/>
            <a:ext cx="7929618" cy="39703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400" dirty="0">
                <a:latin typeface="华文中宋" panose="02010600040101010101" pitchFamily="2" charset="-122"/>
                <a:ea typeface="华文中宋" panose="02010600040101010101" pitchFamily="2" charset="-122"/>
              </a:rPr>
              <a:t>       死锁是系统中多个进程并发执行时，由于</a:t>
            </a:r>
            <a:r>
              <a:rPr lang="zh-CN" altLang="en-US" sz="2400" dirty="0">
                <a:solidFill>
                  <a:srgbClr val="FF0000"/>
                </a:solidFill>
                <a:latin typeface="华文中宋" panose="02010600040101010101" pitchFamily="2" charset="-122"/>
                <a:ea typeface="华文中宋" panose="02010600040101010101" pitchFamily="2" charset="-122"/>
              </a:rPr>
              <a:t>资源占有和请求</a:t>
            </a:r>
            <a:r>
              <a:rPr lang="zh-CN" altLang="en-US" sz="2400" dirty="0">
                <a:latin typeface="华文中宋" panose="02010600040101010101" pitchFamily="2" charset="-122"/>
                <a:ea typeface="华文中宋" panose="02010600040101010101" pitchFamily="2" charset="-122"/>
              </a:rPr>
              <a:t>所引起的一种进程永远被阻塞的现象。通常认为死锁是由并发设计不当引起的，是设计过程中应当予以避免的一种负面现象。</a:t>
            </a:r>
            <a:endParaRPr lang="en-US" altLang="zh-CN" sz="2400" dirty="0">
              <a:latin typeface="华文中宋" panose="02010600040101010101" pitchFamily="2" charset="-122"/>
              <a:ea typeface="华文中宋" panose="02010600040101010101" pitchFamily="2" charset="-122"/>
            </a:endParaRPr>
          </a:p>
          <a:p>
            <a:pPr>
              <a:lnSpc>
                <a:spcPct val="150000"/>
              </a:lnSpc>
            </a:pPr>
            <a:r>
              <a:rPr lang="en-US" altLang="zh-CN" sz="2400" dirty="0">
                <a:latin typeface="华文中宋" panose="02010600040101010101" pitchFamily="2" charset="-122"/>
                <a:ea typeface="华文中宋" panose="02010600040101010101" pitchFamily="2" charset="-122"/>
              </a:rPr>
              <a:t>       </a:t>
            </a:r>
            <a:r>
              <a:rPr lang="zh-CN" altLang="en-US" sz="2400" dirty="0">
                <a:latin typeface="华文中宋" panose="02010600040101010101" pitchFamily="2" charset="-122"/>
                <a:ea typeface="华文中宋" panose="02010600040101010101" pitchFamily="2" charset="-122"/>
              </a:rPr>
              <a:t>在验证一个并发程序的正确性时，无死锁（</a:t>
            </a:r>
            <a:r>
              <a:rPr lang="en-US" sz="2400" b="1" dirty="0">
                <a:solidFill>
                  <a:srgbClr val="FF0000"/>
                </a:solidFill>
                <a:latin typeface="华文中宋" panose="02010600040101010101" pitchFamily="2" charset="-122"/>
                <a:ea typeface="华文中宋" panose="02010600040101010101" pitchFamily="2" charset="-122"/>
              </a:rPr>
              <a:t>deadlock freedom</a:t>
            </a:r>
            <a:r>
              <a:rPr lang="zh-CN" altLang="en-US" sz="2400" dirty="0">
                <a:latin typeface="华文中宋" panose="02010600040101010101" pitchFamily="2" charset="-122"/>
                <a:ea typeface="华文中宋" panose="02010600040101010101" pitchFamily="2" charset="-122"/>
              </a:rPr>
              <a:t>）通常是程序最基本的安全性需求之一。</a:t>
            </a:r>
            <a:endParaRPr lang="zh-CN" altLang="en-US" sz="2400" dirty="0">
              <a:latin typeface="华文中宋" panose="02010600040101010101" pitchFamily="2" charset="-122"/>
              <a:ea typeface="华文中宋" panose="0201060004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作业</a:t>
            </a:r>
            <a:endParaRPr lang="en-US" altLang="zh-CN" dirty="0"/>
          </a:p>
          <a:p>
            <a:endParaRPr lang="en-US" altLang="zh-CN" dirty="0"/>
          </a:p>
          <a:p>
            <a:pPr marL="0" indent="0">
              <a:buNone/>
            </a:pPr>
            <a:r>
              <a:rPr lang="en-US" altLang="zh-CN" dirty="0"/>
              <a:t>P144    12</a:t>
            </a:r>
            <a:r>
              <a:rPr lang="zh-CN" altLang="en-US" dirty="0"/>
              <a:t>，  </a:t>
            </a:r>
            <a:r>
              <a:rPr lang="en-US" altLang="zh-CN" dirty="0"/>
              <a:t>15</a:t>
            </a:r>
            <a:r>
              <a:rPr lang="zh-CN" altLang="en-US" dirty="0"/>
              <a:t>，</a:t>
            </a:r>
            <a:r>
              <a:rPr lang="en-US" altLang="zh-CN" dirty="0"/>
              <a:t>17</a:t>
            </a:r>
            <a:r>
              <a:rPr lang="zh-CN" altLang="en-US" dirty="0"/>
              <a:t>（</a:t>
            </a:r>
            <a:r>
              <a:rPr lang="en-US" altLang="zh-CN" dirty="0"/>
              <a:t>a</a:t>
            </a:r>
            <a:r>
              <a:rPr lang="zh-CN" altLang="en-US" dirty="0"/>
              <a:t>），</a:t>
            </a:r>
            <a:r>
              <a:rPr lang="en-US" altLang="zh-CN" dirty="0"/>
              <a:t>20</a:t>
            </a:r>
            <a:endParaRPr lang="en-US" altLang="zh-CN" dirty="0"/>
          </a:p>
          <a:p>
            <a:endParaRPr lang="en-US" altLang="zh-CN" dirty="0"/>
          </a:p>
          <a:p>
            <a:pPr marL="0" indent="0">
              <a:buNone/>
            </a:pPr>
            <a:r>
              <a:rPr lang="zh-CN" altLang="en-US" dirty="0"/>
              <a:t>下周四交作业</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1"/>
            <a:ext cx="8229600" cy="542916"/>
          </a:xfrm>
        </p:spPr>
        <p:txBody>
          <a:bodyPr/>
          <a:lstStyle/>
          <a:p>
            <a:r>
              <a:rPr lang="zh-CN" altLang="en-US" dirty="0"/>
              <a:t>练习</a:t>
            </a:r>
            <a:endParaRPr lang="zh-CN" altLang="en-US" dirty="0"/>
          </a:p>
        </p:txBody>
      </p:sp>
      <p:sp>
        <p:nvSpPr>
          <p:cNvPr id="4" name="TextBox 3"/>
          <p:cNvSpPr txBox="1"/>
          <p:nvPr/>
        </p:nvSpPr>
        <p:spPr>
          <a:xfrm>
            <a:off x="357158" y="2285992"/>
            <a:ext cx="8358246" cy="34163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问题描述：</a:t>
            </a:r>
            <a:endParaRPr lang="en-US" altLang="zh-CN" dirty="0">
              <a:latin typeface="华文中宋" panose="02010600040101010101" pitchFamily="2" charset="-122"/>
              <a:ea typeface="华文中宋" panose="02010600040101010101" pitchFamily="2" charset="-122"/>
            </a:endParaRPr>
          </a:p>
          <a:p>
            <a:pPr>
              <a:lnSpc>
                <a:spcPct val="150000"/>
              </a:lnSpc>
            </a:pP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、图书馆阅览室最多能够容纳</a:t>
            </a:r>
            <a:r>
              <a:rPr lang="en-US" altLang="zh-CN" dirty="0">
                <a:latin typeface="华文中宋" panose="02010600040101010101" pitchFamily="2" charset="-122"/>
                <a:ea typeface="华文中宋" panose="02010600040101010101" pitchFamily="2" charset="-122"/>
              </a:rPr>
              <a:t>200</a:t>
            </a:r>
            <a:r>
              <a:rPr lang="zh-CN" altLang="en-US" dirty="0">
                <a:latin typeface="华文中宋" panose="02010600040101010101" pitchFamily="2" charset="-122"/>
                <a:ea typeface="华文中宋" panose="02010600040101010101" pitchFamily="2" charset="-122"/>
              </a:rPr>
              <a:t>名学生，若有更多学生想进入阅览室，必须等到阅览室中有同学退出之后才能进入。</a:t>
            </a:r>
            <a:endParaRPr lang="en-US" altLang="zh-CN" dirty="0">
              <a:latin typeface="华文中宋" panose="02010600040101010101" pitchFamily="2" charset="-122"/>
              <a:ea typeface="华文中宋" panose="02010600040101010101" pitchFamily="2" charset="-122"/>
            </a:endParaRPr>
          </a:p>
          <a:p>
            <a:pPr>
              <a:lnSpc>
                <a:spcPct val="150000"/>
              </a:lnSpc>
            </a:pP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、每个学生在进入阅览室之前要刷卡，在退出阅览室之前也要刷卡，假定刷卡机只有一台，任一时刻只能有一名同学刷卡。</a:t>
            </a:r>
            <a:endParaRPr lang="en-US" altLang="zh-CN" dirty="0">
              <a:latin typeface="华文中宋" panose="02010600040101010101" pitchFamily="2" charset="-122"/>
              <a:ea typeface="华文中宋" panose="02010600040101010101" pitchFamily="2" charset="-122"/>
            </a:endParaRPr>
          </a:p>
          <a:p>
            <a:pPr>
              <a:lnSpc>
                <a:spcPct val="150000"/>
              </a:lnSpc>
            </a:pPr>
            <a:r>
              <a:rPr lang="en-US" altLang="zh-CN"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、阅览室有一名管理员。早到的同学必须等管理员开门之后才能进入，管理员必须等到所有同学都退出之后才能关门。</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请你用信号量实现上述问题。</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1"/>
            <a:ext cx="8229600" cy="542916"/>
          </a:xfrm>
        </p:spPr>
        <p:txBody>
          <a:bodyPr/>
          <a:lstStyle/>
          <a:p>
            <a:r>
              <a:rPr lang="zh-CN" altLang="en-US" dirty="0"/>
              <a:t>问题分析</a:t>
            </a:r>
            <a:endParaRPr lang="en-US" altLang="zh-CN" dirty="0"/>
          </a:p>
        </p:txBody>
      </p:sp>
      <p:sp>
        <p:nvSpPr>
          <p:cNvPr id="4" name="TextBox 3"/>
          <p:cNvSpPr txBox="1"/>
          <p:nvPr/>
        </p:nvSpPr>
        <p:spPr>
          <a:xfrm>
            <a:off x="357158" y="2214554"/>
            <a:ext cx="8643998" cy="25853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互斥问题： </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）阅览室最多只能容纳</a:t>
            </a:r>
            <a:r>
              <a:rPr lang="en-US" altLang="zh-CN" dirty="0">
                <a:latin typeface="华文中宋" panose="02010600040101010101" pitchFamily="2" charset="-122"/>
                <a:ea typeface="华文中宋" panose="02010600040101010101" pitchFamily="2" charset="-122"/>
              </a:rPr>
              <a:t>200</a:t>
            </a:r>
            <a:r>
              <a:rPr lang="zh-CN" altLang="en-US" dirty="0">
                <a:latin typeface="华文中宋" panose="02010600040101010101" pitchFamily="2" charset="-122"/>
                <a:ea typeface="华文中宋" panose="02010600040101010101" pitchFamily="2" charset="-122"/>
              </a:rPr>
              <a:t>名学生，可以看做容量为</a:t>
            </a:r>
            <a:r>
              <a:rPr lang="en-US" altLang="zh-CN" dirty="0">
                <a:latin typeface="华文中宋" panose="02010600040101010101" pitchFamily="2" charset="-122"/>
                <a:ea typeface="华文中宋" panose="02010600040101010101" pitchFamily="2" charset="-122"/>
              </a:rPr>
              <a:t>200</a:t>
            </a:r>
            <a:r>
              <a:rPr lang="zh-CN" altLang="en-US" dirty="0">
                <a:latin typeface="华文中宋" panose="02010600040101010101" pitchFamily="2" charset="-122"/>
                <a:ea typeface="华文中宋" panose="02010600040101010101" pitchFamily="2" charset="-122"/>
              </a:rPr>
              <a:t>的临界区； </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）刷卡机最多只能被一名同学使用，可以看做容量为</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的临界区；</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同步问题：</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）早到的同学要等待管理员开门，发生一次同步；</a:t>
            </a:r>
            <a:endParaRPr lang="en-US" altLang="zh-CN" dirty="0">
              <a:latin typeface="华文中宋" panose="02010600040101010101" pitchFamily="2" charset="-122"/>
              <a:ea typeface="华文中宋" panose="02010600040101010101" pitchFamily="2" charset="-122"/>
            </a:endParaRPr>
          </a:p>
          <a:p>
            <a:pPr>
              <a:lnSpc>
                <a:spcPct val="150000"/>
              </a:lnSpc>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）管理员要等待同学离开才能关门，发生第二次同步。</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1071538" y="1857364"/>
            <a:ext cx="2247731" cy="341632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管理员进程（</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Manager( ){</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openDoor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manage();</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closeDoor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6" name="TextBox 5"/>
          <p:cNvSpPr txBox="1"/>
          <p:nvPr/>
        </p:nvSpPr>
        <p:spPr>
          <a:xfrm>
            <a:off x="4286248" y="1857364"/>
            <a:ext cx="2090637" cy="341632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学生进程（</a:t>
            </a:r>
            <a:r>
              <a:rPr lang="en-US" altLang="zh-CN"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Student(</a:t>
            </a:r>
            <a:r>
              <a:rPr lang="en-US" altLang="zh-CN" dirty="0" err="1">
                <a:latin typeface="华文中宋" panose="02010600040101010101" pitchFamily="2" charset="-122"/>
                <a:ea typeface="华文中宋" panose="02010600040101010101" pitchFamily="2" charset="-122"/>
              </a:rPr>
              <a:t>i</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checkin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reading();</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checkout();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rest();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571472" y="2357430"/>
            <a:ext cx="2247731" cy="369331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管理员进程（</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Manager( ){</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openDoor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manage();</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closeDoor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6" name="TextBox 5"/>
          <p:cNvSpPr txBox="1"/>
          <p:nvPr/>
        </p:nvSpPr>
        <p:spPr>
          <a:xfrm>
            <a:off x="6546011" y="1428736"/>
            <a:ext cx="2026517" cy="507831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学生进程（</a:t>
            </a:r>
            <a:r>
              <a:rPr lang="en-US" altLang="zh-CN"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Student(</a:t>
            </a:r>
            <a:r>
              <a:rPr lang="en-US" altLang="zh-CN" dirty="0" err="1">
                <a:latin typeface="华文中宋" panose="02010600040101010101" pitchFamily="2" charset="-122"/>
                <a:ea typeface="华文中宋" panose="02010600040101010101" pitchFamily="2" charset="-122"/>
              </a:rPr>
              <a:t>i</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P(room)</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checkin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reading();</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checkout();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V(room);</a:t>
            </a:r>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rest();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5" name="TextBox 4"/>
          <p:cNvSpPr txBox="1"/>
          <p:nvPr/>
        </p:nvSpPr>
        <p:spPr>
          <a:xfrm>
            <a:off x="3214678" y="1500174"/>
            <a:ext cx="2906565"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dirty="0">
                <a:latin typeface="华文中宋" panose="02010600040101010101" pitchFamily="2" charset="-122"/>
                <a:ea typeface="华文中宋" panose="02010600040101010101" pitchFamily="2" charset="-122"/>
              </a:rPr>
              <a:t>Semaphore  room:=200;</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checker:=1;</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571472" y="2357430"/>
            <a:ext cx="2247731" cy="443198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管理员进程（</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Manager( ){</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openDoor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V(open)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manage();</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P(close);</a:t>
            </a:r>
            <a:endParaRPr lang="en-US" altLang="zh-CN" sz="2400" b="1" dirty="0">
              <a:solidFill>
                <a:srgbClr val="00B0F0"/>
              </a:solidFill>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closeDoor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6" name="TextBox 5"/>
          <p:cNvSpPr txBox="1"/>
          <p:nvPr/>
        </p:nvSpPr>
        <p:spPr>
          <a:xfrm>
            <a:off x="6500826" y="1318022"/>
            <a:ext cx="2093843" cy="5539978"/>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学生进程（</a:t>
            </a:r>
            <a:r>
              <a:rPr lang="en-US" altLang="zh-CN"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Student(</a:t>
            </a:r>
            <a:r>
              <a:rPr lang="en-US" altLang="zh-CN" dirty="0" err="1">
                <a:latin typeface="华文中宋" panose="02010600040101010101" pitchFamily="2" charset="-122"/>
                <a:ea typeface="华文中宋" panose="02010600040101010101" pitchFamily="2" charset="-122"/>
              </a:rPr>
              <a:t>i</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P(open)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P(room)</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checkin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reading();</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checkout();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V(room);</a:t>
            </a:r>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V(close);</a:t>
            </a:r>
            <a:endParaRPr lang="en-US" altLang="zh-CN" sz="2400" b="1" dirty="0">
              <a:solidFill>
                <a:srgbClr val="00B0F0"/>
              </a:solidFill>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rest();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5" name="TextBox 4"/>
          <p:cNvSpPr txBox="1"/>
          <p:nvPr/>
        </p:nvSpPr>
        <p:spPr>
          <a:xfrm>
            <a:off x="3214678" y="1500174"/>
            <a:ext cx="2906565" cy="120032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dirty="0">
                <a:latin typeface="华文中宋" panose="02010600040101010101" pitchFamily="2" charset="-122"/>
                <a:ea typeface="华文中宋" panose="02010600040101010101" pitchFamily="2" charset="-122"/>
              </a:rPr>
              <a:t>Semaphore  room:=200;</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checker:=1;</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open:=0;</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close:=0;</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571472" y="2357430"/>
            <a:ext cx="2247731" cy="443198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管理员进程（</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Manager( ){</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openDoor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V(open)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manage();</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P(close);</a:t>
            </a:r>
            <a:endParaRPr lang="en-US" altLang="zh-CN" sz="2400" b="1" dirty="0">
              <a:solidFill>
                <a:srgbClr val="00B0F0"/>
              </a:solidFill>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closeDoor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6" name="TextBox 5"/>
          <p:cNvSpPr txBox="1"/>
          <p:nvPr/>
        </p:nvSpPr>
        <p:spPr>
          <a:xfrm>
            <a:off x="6500826" y="210026"/>
            <a:ext cx="2321469" cy="6647974"/>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学生进程（</a:t>
            </a:r>
            <a:r>
              <a:rPr lang="en-US" altLang="zh-CN"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Student(</a:t>
            </a:r>
            <a:r>
              <a:rPr lang="en-US" altLang="zh-CN" dirty="0" err="1">
                <a:latin typeface="华文中宋" panose="02010600040101010101" pitchFamily="2" charset="-122"/>
                <a:ea typeface="华文中宋" panose="02010600040101010101" pitchFamily="2" charset="-122"/>
              </a:rPr>
              <a:t>i</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a:latin typeface="华文中宋" panose="02010600040101010101" pitchFamily="2" charset="-122"/>
                <a:ea typeface="华文中宋" panose="02010600040101010101" pitchFamily="2" charset="-122"/>
              </a:rPr>
              <a:t>if(nr=0)</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P(open)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P(room)</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nr++;</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checkin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reading();</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checkout();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V(room);</a:t>
            </a:r>
            <a:endParaRPr lang="en-US" altLang="zh-CN" dirty="0">
              <a:solidFill>
                <a:srgbClr val="FF0000"/>
              </a:solidFill>
              <a:latin typeface="华文中宋" panose="02010600040101010101" pitchFamily="2" charset="-122"/>
              <a:ea typeface="华文中宋" panose="02010600040101010101" pitchFamily="2" charset="-122"/>
            </a:endParaRPr>
          </a:p>
          <a:p>
            <a:r>
              <a:rPr lang="en-US" altLang="zh-CN" dirty="0">
                <a:solidFill>
                  <a:srgbClr val="FF0000"/>
                </a:solidFill>
                <a:latin typeface="华文中宋" panose="02010600040101010101" pitchFamily="2" charset="-122"/>
                <a:ea typeface="华文中宋" panose="02010600040101010101" pitchFamily="2" charset="-122"/>
              </a:rPr>
              <a:t>         </a:t>
            </a:r>
            <a:r>
              <a:rPr lang="en-US" altLang="zh-CN" dirty="0">
                <a:solidFill>
                  <a:schemeClr val="tx1"/>
                </a:solidFill>
                <a:latin typeface="华文中宋" panose="02010600040101010101" pitchFamily="2" charset="-122"/>
                <a:ea typeface="华文中宋" panose="02010600040101010101" pitchFamily="2" charset="-122"/>
              </a:rPr>
              <a:t>nr--;</a:t>
            </a:r>
            <a:endParaRPr lang="en-US" altLang="zh-CN" dirty="0">
              <a:solidFill>
                <a:schemeClr val="tx1"/>
              </a:solidFill>
              <a:latin typeface="华文中宋" panose="02010600040101010101" pitchFamily="2" charset="-122"/>
              <a:ea typeface="华文中宋" panose="02010600040101010101" pitchFamily="2" charset="-122"/>
            </a:endParaRPr>
          </a:p>
          <a:p>
            <a:r>
              <a:rPr lang="en-US" altLang="zh-CN" dirty="0">
                <a:solidFill>
                  <a:srgbClr val="FF0000"/>
                </a:solidFill>
                <a:latin typeface="华文中宋" panose="02010600040101010101" pitchFamily="2" charset="-122"/>
                <a:ea typeface="华文中宋" panose="02010600040101010101" pitchFamily="2" charset="-122"/>
              </a:rPr>
              <a:t>         </a:t>
            </a:r>
            <a:r>
              <a:rPr lang="en-US" altLang="zh-CN" dirty="0">
                <a:solidFill>
                  <a:srgbClr val="00B0F0"/>
                </a:solidFill>
                <a:latin typeface="华文中宋" panose="02010600040101010101" pitchFamily="2" charset="-122"/>
                <a:ea typeface="华文中宋" panose="02010600040101010101" pitchFamily="2" charset="-122"/>
              </a:rPr>
              <a:t>if (nr=1)</a:t>
            </a:r>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V(close);</a:t>
            </a:r>
            <a:endParaRPr lang="en-US" altLang="zh-CN" sz="2400" b="1" dirty="0">
              <a:solidFill>
                <a:srgbClr val="00B0F0"/>
              </a:solidFill>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rest();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5" name="TextBox 4"/>
          <p:cNvSpPr txBox="1"/>
          <p:nvPr/>
        </p:nvSpPr>
        <p:spPr>
          <a:xfrm>
            <a:off x="3214678" y="1500174"/>
            <a:ext cx="3130985" cy="1477328"/>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dirty="0">
                <a:latin typeface="华文中宋" panose="02010600040101010101" pitchFamily="2" charset="-122"/>
                <a:ea typeface="华文中宋" panose="02010600040101010101" pitchFamily="2" charset="-122"/>
              </a:rPr>
              <a:t>Semaphore  room:=200;</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checker:=1;</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open:=0;</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close:=0;</a:t>
            </a:r>
            <a:endParaRPr lang="en-US" altLang="zh-CN" dirty="0">
              <a:latin typeface="华文中宋" panose="02010600040101010101" pitchFamily="2" charset="-122"/>
              <a:ea typeface="华文中宋" panose="02010600040101010101" pitchFamily="2" charset="-122"/>
            </a:endParaRPr>
          </a:p>
          <a:p>
            <a:r>
              <a:rPr lang="en-US" altLang="zh-CN" dirty="0" err="1">
                <a:latin typeface="华文中宋" panose="02010600040101010101" pitchFamily="2" charset="-122"/>
                <a:ea typeface="华文中宋" panose="02010600040101010101" pitchFamily="2" charset="-122"/>
              </a:rPr>
              <a:t>int</a:t>
            </a:r>
            <a:r>
              <a:rPr lang="en-US" altLang="zh-CN" dirty="0">
                <a:latin typeface="华文中宋" panose="02010600040101010101" pitchFamily="2" charset="-122"/>
                <a:ea typeface="华文中宋" panose="02010600040101010101" pitchFamily="2" charset="-122"/>
              </a:rPr>
              <a:t> nr:=0    //</a:t>
            </a:r>
            <a:r>
              <a:rPr lang="zh-CN" altLang="en-US" dirty="0">
                <a:latin typeface="华文中宋" panose="02010600040101010101" pitchFamily="2" charset="-122"/>
                <a:ea typeface="华文中宋" panose="02010600040101010101" pitchFamily="2" charset="-122"/>
              </a:rPr>
              <a:t>阅览室中人数</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571472" y="2357430"/>
            <a:ext cx="2247731" cy="443198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管理员进程（</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Manager( ){</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openDoor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V(open)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manage();</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P(close);</a:t>
            </a:r>
            <a:endParaRPr lang="en-US" altLang="zh-CN" sz="2400" b="1" dirty="0">
              <a:solidFill>
                <a:srgbClr val="00B0F0"/>
              </a:solidFill>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closeDoor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6" name="TextBox 5"/>
          <p:cNvSpPr txBox="1"/>
          <p:nvPr/>
        </p:nvSpPr>
        <p:spPr>
          <a:xfrm>
            <a:off x="6500826" y="1318022"/>
            <a:ext cx="2318263" cy="692497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latin typeface="华文中宋" panose="02010600040101010101" pitchFamily="2" charset="-122"/>
                <a:ea typeface="华文中宋" panose="02010600040101010101" pitchFamily="2" charset="-122"/>
              </a:rPr>
              <a:t>学生进程（</a:t>
            </a:r>
            <a:r>
              <a:rPr lang="en-US" altLang="zh-CN"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个）</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Student(</a:t>
            </a:r>
            <a:r>
              <a:rPr lang="en-US" altLang="zh-CN" dirty="0" err="1">
                <a:latin typeface="华文中宋" panose="02010600040101010101" pitchFamily="2" charset="-122"/>
                <a:ea typeface="华文中宋" panose="02010600040101010101" pitchFamily="2" charset="-122"/>
              </a:rPr>
              <a:t>i</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while(1){</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00B0F0"/>
                </a:solidFill>
                <a:latin typeface="华文中宋" panose="02010600040101010101" pitchFamily="2" charset="-122"/>
                <a:ea typeface="华文中宋" panose="02010600040101010101" pitchFamily="2" charset="-122"/>
              </a:rPr>
              <a:t>if (nr=0)</a:t>
            </a:r>
            <a:endParaRPr lang="en-US" altLang="zh-CN" dirty="0">
              <a:solidFill>
                <a:srgbClr val="00B0F0"/>
              </a:solidFill>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P(open)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P(room)</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nr++;</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checkin</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reading();</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P(checker)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checkout();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V(checker)</a:t>
            </a: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dirty="0">
                <a:solidFill>
                  <a:srgbClr val="FF0000"/>
                </a:solidFill>
                <a:latin typeface="华文中宋" panose="02010600040101010101" pitchFamily="2" charset="-122"/>
                <a:ea typeface="华文中宋" panose="02010600040101010101" pitchFamily="2" charset="-122"/>
              </a:rPr>
              <a:t>V(room);</a:t>
            </a:r>
            <a:endParaRPr lang="en-US" altLang="zh-CN" dirty="0">
              <a:solidFill>
                <a:srgbClr val="FF0000"/>
              </a:solidFill>
              <a:latin typeface="华文中宋" panose="02010600040101010101" pitchFamily="2" charset="-122"/>
              <a:ea typeface="华文中宋" panose="02010600040101010101" pitchFamily="2" charset="-122"/>
            </a:endParaRPr>
          </a:p>
          <a:p>
            <a:r>
              <a:rPr lang="en-US" altLang="zh-CN" dirty="0">
                <a:solidFill>
                  <a:srgbClr val="FF0000"/>
                </a:solidFill>
                <a:latin typeface="华文中宋" panose="02010600040101010101" pitchFamily="2" charset="-122"/>
                <a:ea typeface="华文中宋" panose="02010600040101010101" pitchFamily="2" charset="-122"/>
              </a:rPr>
              <a:t>         </a:t>
            </a:r>
            <a:r>
              <a:rPr lang="en-US" altLang="zh-CN" dirty="0">
                <a:solidFill>
                  <a:schemeClr val="tx1"/>
                </a:solidFill>
                <a:latin typeface="华文中宋" panose="02010600040101010101" pitchFamily="2" charset="-122"/>
                <a:ea typeface="华文中宋" panose="02010600040101010101" pitchFamily="2" charset="-122"/>
              </a:rPr>
              <a:t>nr--;</a:t>
            </a:r>
            <a:endParaRPr lang="en-US" altLang="zh-CN" dirty="0">
              <a:solidFill>
                <a:schemeClr val="tx1"/>
              </a:solidFill>
              <a:latin typeface="华文中宋" panose="02010600040101010101" pitchFamily="2" charset="-122"/>
              <a:ea typeface="华文中宋" panose="02010600040101010101" pitchFamily="2" charset="-122"/>
            </a:endParaRPr>
          </a:p>
          <a:p>
            <a:r>
              <a:rPr lang="en-US" altLang="zh-CN" dirty="0">
                <a:solidFill>
                  <a:srgbClr val="FF0000"/>
                </a:solidFill>
                <a:latin typeface="华文中宋" panose="02010600040101010101" pitchFamily="2" charset="-122"/>
                <a:ea typeface="华文中宋" panose="02010600040101010101" pitchFamily="2" charset="-122"/>
              </a:rPr>
              <a:t>         </a:t>
            </a:r>
            <a:r>
              <a:rPr lang="en-US" altLang="zh-CN" dirty="0">
                <a:solidFill>
                  <a:srgbClr val="00B0F0"/>
                </a:solidFill>
                <a:latin typeface="华文中宋" panose="02010600040101010101" pitchFamily="2" charset="-122"/>
                <a:ea typeface="华文中宋" panose="02010600040101010101" pitchFamily="2" charset="-122"/>
              </a:rPr>
              <a:t>if (nr=1)</a:t>
            </a:r>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r>
              <a:rPr lang="en-US" altLang="zh-CN" sz="2400" b="1" dirty="0">
                <a:solidFill>
                  <a:srgbClr val="00B0F0"/>
                </a:solidFill>
                <a:latin typeface="华文中宋" panose="02010600040101010101" pitchFamily="2" charset="-122"/>
                <a:ea typeface="华文中宋" panose="02010600040101010101" pitchFamily="2" charset="-122"/>
              </a:rPr>
              <a:t>V(close);</a:t>
            </a:r>
            <a:endParaRPr lang="en-US" altLang="zh-CN" sz="2400" b="1" dirty="0">
              <a:solidFill>
                <a:srgbClr val="00B0F0"/>
              </a:solidFill>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rest();</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   }</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5" name="TextBox 4"/>
          <p:cNvSpPr txBox="1"/>
          <p:nvPr/>
        </p:nvSpPr>
        <p:spPr>
          <a:xfrm>
            <a:off x="3214678" y="1500174"/>
            <a:ext cx="3130985" cy="175432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dirty="0">
                <a:latin typeface="华文中宋" panose="02010600040101010101" pitchFamily="2" charset="-122"/>
                <a:ea typeface="华文中宋" panose="02010600040101010101" pitchFamily="2" charset="-122"/>
              </a:rPr>
              <a:t>Semaphore  room:=200;</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checker:=1;</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open:=0;</a:t>
            </a:r>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Semaphore  close:=0;</a:t>
            </a:r>
            <a:endParaRPr lang="en-US" altLang="zh-CN" dirty="0">
              <a:latin typeface="华文中宋" panose="02010600040101010101" pitchFamily="2" charset="-122"/>
              <a:ea typeface="华文中宋" panose="02010600040101010101" pitchFamily="2" charset="-122"/>
            </a:endParaRPr>
          </a:p>
          <a:p>
            <a:r>
              <a:rPr lang="en-US" altLang="zh-CN" dirty="0" err="1">
                <a:latin typeface="华文中宋" panose="02010600040101010101" pitchFamily="2" charset="-122"/>
                <a:ea typeface="华文中宋" panose="02010600040101010101" pitchFamily="2" charset="-122"/>
              </a:rPr>
              <a:t>int</a:t>
            </a:r>
            <a:r>
              <a:rPr lang="en-US" altLang="zh-CN" dirty="0">
                <a:latin typeface="华文中宋" panose="02010600040101010101" pitchFamily="2" charset="-122"/>
                <a:ea typeface="华文中宋" panose="02010600040101010101" pitchFamily="2" charset="-122"/>
              </a:rPr>
              <a:t> nr:=0    //</a:t>
            </a:r>
            <a:r>
              <a:rPr lang="zh-CN" altLang="en-US" dirty="0">
                <a:latin typeface="华文中宋" panose="02010600040101010101" pitchFamily="2" charset="-122"/>
                <a:ea typeface="华文中宋" panose="02010600040101010101" pitchFamily="2" charset="-122"/>
              </a:rPr>
              <a:t>阅览室中人数</a:t>
            </a:r>
            <a:endParaRPr lang="en-US" altLang="zh-CN" dirty="0">
              <a:latin typeface="华文中宋" panose="02010600040101010101" pitchFamily="2" charset="-122"/>
              <a:ea typeface="华文中宋" panose="02010600040101010101" pitchFamily="2" charset="-122"/>
            </a:endParaRPr>
          </a:p>
          <a:p>
            <a:r>
              <a:rPr lang="en-US" altLang="zh-CN" dirty="0" err="1">
                <a:latin typeface="华文中宋" panose="02010600040101010101" pitchFamily="2" charset="-122"/>
                <a:ea typeface="华文中宋" panose="02010600040101010101" pitchFamily="2" charset="-122"/>
              </a:rPr>
              <a:t>int</a:t>
            </a:r>
            <a:r>
              <a:rPr lang="en-US" altLang="zh-CN" dirty="0">
                <a:latin typeface="华文中宋" panose="02010600040101010101" pitchFamily="2" charset="-122"/>
                <a:ea typeface="华文中宋" panose="02010600040101010101" pitchFamily="2" charset="-122"/>
              </a:rPr>
              <a:t> </a:t>
            </a:r>
            <a:r>
              <a:rPr lang="en-US" altLang="zh-CN" dirty="0" err="1">
                <a:latin typeface="华文中宋" panose="02010600040101010101" pitchFamily="2" charset="-122"/>
                <a:ea typeface="华文中宋" panose="02010600040101010101" pitchFamily="2" charset="-122"/>
              </a:rPr>
              <a:t>wr</a:t>
            </a:r>
            <a:r>
              <a:rPr lang="en-US" altLang="zh-CN" dirty="0">
                <a:latin typeface="华文中宋" panose="02010600040101010101" pitchFamily="2" charset="-122"/>
                <a:ea typeface="华文中宋" panose="02010600040101010101" pitchFamily="2" charset="-122"/>
              </a:rPr>
              <a:t>:=0   //</a:t>
            </a:r>
            <a:r>
              <a:rPr lang="zh-CN" altLang="en-US" dirty="0">
                <a:latin typeface="华文中宋" panose="02010600040101010101" pitchFamily="2" charset="-122"/>
                <a:ea typeface="华文中宋" panose="02010600040101010101" pitchFamily="2" charset="-122"/>
              </a:rPr>
              <a:t>等在门外人数</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000232" y="3214686"/>
          <a:ext cx="5130800" cy="2689225"/>
        </p:xfrm>
        <a:graphic>
          <a:graphicData uri="http://schemas.openxmlformats.org/drawingml/2006/table">
            <a:tbl>
              <a:tblPr/>
              <a:tblGrid>
                <a:gridCol w="2546985"/>
                <a:gridCol w="2583815"/>
              </a:tblGrid>
              <a:tr h="0">
                <a:tc>
                  <a:txBody>
                    <a:bodyPr/>
                    <a:lstStyle/>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进程</a:t>
                      </a:r>
                      <a:r>
                        <a:rPr lang="en-US" sz="2000" kern="100" dirty="0">
                          <a:latin typeface="华文中宋" panose="02010600040101010101" pitchFamily="2" charset="-122"/>
                          <a:ea typeface="华文中宋" panose="02010600040101010101" pitchFamily="2" charset="-122"/>
                          <a:cs typeface="Times New Roman" panose="02020603050405020304"/>
                        </a:rPr>
                        <a:t>P</a:t>
                      </a:r>
                      <a:r>
                        <a:rPr lang="zh-CN"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请求读卡机</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请求打印机</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释放读卡机</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释放打印机</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进程</a:t>
                      </a:r>
                      <a:r>
                        <a:rPr lang="en-US" sz="2000" kern="100" dirty="0">
                          <a:latin typeface="华文中宋" panose="02010600040101010101" pitchFamily="2" charset="-122"/>
                          <a:ea typeface="华文中宋" panose="02010600040101010101" pitchFamily="2" charset="-122"/>
                          <a:cs typeface="Times New Roman" panose="02020603050405020304"/>
                        </a:rPr>
                        <a:t>Q</a:t>
                      </a:r>
                      <a:r>
                        <a:rPr lang="zh-CN"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请求打印机</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请求读卡机</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释放读卡机</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释放打印机</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72385" name="Rectangle 1"/>
          <p:cNvSpPr>
            <a:spLocks noChangeArrowheads="1"/>
          </p:cNvSpPr>
          <p:nvPr/>
        </p:nvSpPr>
        <p:spPr bwMode="auto">
          <a:xfrm>
            <a:off x="0" y="1428736"/>
            <a:ext cx="8572528" cy="1477328"/>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4-12】</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竞争资源产生死锁。</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lang="zh-CN" altLang="en-US" sz="2000" dirty="0">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设系统有打印机、读卡机各一台，它们被进程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Q</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共享。两个进程并发执行，它们按下列次序请求和释放资源：</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6" name="TextBox 5"/>
          <p:cNvSpPr txBox="1"/>
          <p:nvPr/>
        </p:nvSpPr>
        <p:spPr>
          <a:xfrm>
            <a:off x="4929190" y="357166"/>
            <a:ext cx="2994731" cy="523220"/>
          </a:xfrm>
          <a:prstGeom prst="rect">
            <a:avLst/>
          </a:prstGeom>
          <a:noFill/>
        </p:spPr>
        <p:txBody>
          <a:bodyPr wrap="none" rtlCol="0">
            <a:spAutoFit/>
          </a:bodyPr>
          <a:lstStyle/>
          <a:p>
            <a:r>
              <a:rPr lang="en-US" altLang="zh-CN" sz="2800" dirty="0">
                <a:solidFill>
                  <a:srgbClr val="FF0000"/>
                </a:solidFill>
                <a:latin typeface="华文中宋" panose="02010600040101010101" pitchFamily="2" charset="-122"/>
                <a:ea typeface="华文中宋" panose="02010600040101010101" pitchFamily="2" charset="-122"/>
              </a:rPr>
              <a:t>4.6.1 </a:t>
            </a:r>
            <a:r>
              <a:rPr lang="zh-CN" altLang="en-US" sz="2800" dirty="0">
                <a:solidFill>
                  <a:srgbClr val="FF0000"/>
                </a:solidFill>
                <a:latin typeface="华文中宋" panose="02010600040101010101" pitchFamily="2" charset="-122"/>
                <a:ea typeface="华文中宋" panose="02010600040101010101" pitchFamily="2" charset="-122"/>
              </a:rPr>
              <a:t>死锁的定义</a:t>
            </a:r>
            <a:endParaRPr lang="zh-CN" altLang="en-US" sz="28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2214546" y="3286124"/>
          <a:ext cx="4500880" cy="2689225"/>
        </p:xfrm>
        <a:graphic>
          <a:graphicData uri="http://schemas.openxmlformats.org/drawingml/2006/table">
            <a:tbl>
              <a:tblPr/>
              <a:tblGrid>
                <a:gridCol w="2277110"/>
                <a:gridCol w="2223770"/>
              </a:tblGrid>
              <a:tr h="0">
                <a:tc>
                  <a:txBody>
                    <a:bodyPr/>
                    <a:lstStyle/>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进程</a:t>
                      </a:r>
                      <a:r>
                        <a:rPr lang="en-US" sz="2000" kern="100" dirty="0">
                          <a:latin typeface="华文中宋" panose="02010600040101010101" pitchFamily="2" charset="-122"/>
                          <a:ea typeface="华文中宋" panose="02010600040101010101" pitchFamily="2" charset="-122"/>
                          <a:cs typeface="Times New Roman" panose="02020603050405020304"/>
                        </a:rPr>
                        <a:t>P1</a:t>
                      </a:r>
                      <a:r>
                        <a:rPr lang="zh-CN"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2000" b="1" kern="100" dirty="0">
                          <a:latin typeface="华文中宋" panose="02010600040101010101" pitchFamily="2" charset="-122"/>
                          <a:ea typeface="华文中宋" panose="02010600040101010101" pitchFamily="2" charset="-122"/>
                          <a:cs typeface="Times New Roman" panose="02020603050405020304"/>
                        </a:rPr>
                        <a:t>P</a:t>
                      </a:r>
                      <a:r>
                        <a:rPr lang="en-US" sz="2000" kern="100" dirty="0">
                          <a:latin typeface="华文中宋" panose="02010600040101010101" pitchFamily="2" charset="-122"/>
                          <a:ea typeface="华文中宋" panose="02010600040101010101" pitchFamily="2" charset="-122"/>
                          <a:cs typeface="Times New Roman" panose="02020603050405020304"/>
                        </a:rPr>
                        <a:t>(s1);</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2000" b="1" kern="100" dirty="0">
                          <a:latin typeface="华文中宋" panose="02010600040101010101" pitchFamily="2" charset="-122"/>
                          <a:ea typeface="华文中宋" panose="02010600040101010101" pitchFamily="2" charset="-122"/>
                          <a:cs typeface="Times New Roman" panose="02020603050405020304"/>
                        </a:rPr>
                        <a:t>P</a:t>
                      </a:r>
                      <a:r>
                        <a:rPr lang="en-US" sz="2000" kern="100" dirty="0">
                          <a:latin typeface="华文中宋" panose="02010600040101010101" pitchFamily="2" charset="-122"/>
                          <a:ea typeface="华文中宋" panose="02010600040101010101" pitchFamily="2" charset="-122"/>
                          <a:cs typeface="Times New Roman" panose="02020603050405020304"/>
                        </a:rPr>
                        <a:t>(s2);</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使用</a:t>
                      </a:r>
                      <a:r>
                        <a:rPr lang="en-US" sz="2000" kern="100" dirty="0">
                          <a:latin typeface="华文中宋" panose="02010600040101010101" pitchFamily="2" charset="-122"/>
                          <a:ea typeface="华文中宋" panose="02010600040101010101" pitchFamily="2" charset="-122"/>
                          <a:cs typeface="Times New Roman" panose="02020603050405020304"/>
                        </a:rPr>
                        <a:t>r1</a:t>
                      </a:r>
                      <a:r>
                        <a:rPr lang="zh-CN" sz="2000" kern="100" dirty="0">
                          <a:latin typeface="华文中宋" panose="02010600040101010101" pitchFamily="2" charset="-122"/>
                          <a:ea typeface="华文中宋" panose="02010600040101010101" pitchFamily="2" charset="-122"/>
                          <a:cs typeface="Times New Roman" panose="02020603050405020304"/>
                        </a:rPr>
                        <a:t>和</a:t>
                      </a:r>
                      <a:r>
                        <a:rPr lang="en-US" sz="2000" kern="100" dirty="0">
                          <a:latin typeface="华文中宋" panose="02010600040101010101" pitchFamily="2" charset="-122"/>
                          <a:ea typeface="华文中宋" panose="02010600040101010101" pitchFamily="2" charset="-122"/>
                          <a:cs typeface="Times New Roman" panose="02020603050405020304"/>
                        </a:rPr>
                        <a:t>r2</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2000" b="1" kern="100" dirty="0">
                          <a:latin typeface="华文中宋" panose="02010600040101010101" pitchFamily="2" charset="-122"/>
                          <a:ea typeface="华文中宋" panose="02010600040101010101" pitchFamily="2" charset="-122"/>
                          <a:cs typeface="Times New Roman" panose="02020603050405020304"/>
                        </a:rPr>
                        <a:t>V</a:t>
                      </a:r>
                      <a:r>
                        <a:rPr lang="en-US" sz="2000" kern="100" dirty="0">
                          <a:latin typeface="华文中宋" panose="02010600040101010101" pitchFamily="2" charset="-122"/>
                          <a:ea typeface="华文中宋" panose="02010600040101010101" pitchFamily="2" charset="-122"/>
                          <a:cs typeface="Times New Roman" panose="02020603050405020304"/>
                        </a:rPr>
                        <a:t>(s1);</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2000" b="1" kern="100" dirty="0">
                          <a:latin typeface="华文中宋" panose="02010600040101010101" pitchFamily="2" charset="-122"/>
                          <a:ea typeface="华文中宋" panose="02010600040101010101" pitchFamily="2" charset="-122"/>
                          <a:cs typeface="Times New Roman" panose="02020603050405020304"/>
                        </a:rPr>
                        <a:t>V</a:t>
                      </a:r>
                      <a:r>
                        <a:rPr lang="en-US" sz="2000" kern="100" dirty="0">
                          <a:latin typeface="华文中宋" panose="02010600040101010101" pitchFamily="2" charset="-122"/>
                          <a:ea typeface="华文中宋" panose="02010600040101010101" pitchFamily="2" charset="-122"/>
                          <a:cs typeface="Times New Roman" panose="02020603050405020304"/>
                        </a:rPr>
                        <a:t>(s2);</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进程</a:t>
                      </a:r>
                      <a:r>
                        <a:rPr lang="en-US" sz="2000" kern="100" dirty="0">
                          <a:latin typeface="华文中宋" panose="02010600040101010101" pitchFamily="2" charset="-122"/>
                          <a:ea typeface="华文中宋" panose="02010600040101010101" pitchFamily="2" charset="-122"/>
                          <a:cs typeface="Times New Roman" panose="02020603050405020304"/>
                        </a:rPr>
                        <a:t>P2</a:t>
                      </a:r>
                      <a:r>
                        <a:rPr lang="zh-CN" sz="2000" kern="100" dirty="0">
                          <a:latin typeface="华文中宋" panose="02010600040101010101" pitchFamily="2" charset="-122"/>
                          <a:ea typeface="华文中宋" panose="02010600040101010101" pitchFamily="2" charset="-122"/>
                          <a:cs typeface="Times New Roman" panose="02020603050405020304"/>
                        </a:rPr>
                        <a:t>：</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2000" b="1" kern="100" dirty="0">
                          <a:latin typeface="华文中宋" panose="02010600040101010101" pitchFamily="2" charset="-122"/>
                          <a:ea typeface="华文中宋" panose="02010600040101010101" pitchFamily="2" charset="-122"/>
                          <a:cs typeface="Times New Roman" panose="02020603050405020304"/>
                        </a:rPr>
                        <a:t>P</a:t>
                      </a:r>
                      <a:r>
                        <a:rPr lang="en-US" sz="2000" kern="100" dirty="0">
                          <a:latin typeface="华文中宋" panose="02010600040101010101" pitchFamily="2" charset="-122"/>
                          <a:ea typeface="华文中宋" panose="02010600040101010101" pitchFamily="2" charset="-122"/>
                          <a:cs typeface="Times New Roman" panose="02020603050405020304"/>
                        </a:rPr>
                        <a:t>(s2);</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2000" b="1" kern="100" dirty="0">
                          <a:latin typeface="华文中宋" panose="02010600040101010101" pitchFamily="2" charset="-122"/>
                          <a:ea typeface="华文中宋" panose="02010600040101010101" pitchFamily="2" charset="-122"/>
                          <a:cs typeface="Times New Roman" panose="02020603050405020304"/>
                        </a:rPr>
                        <a:t>P</a:t>
                      </a:r>
                      <a:r>
                        <a:rPr lang="en-US" sz="2000" kern="100" dirty="0">
                          <a:latin typeface="华文中宋" panose="02010600040101010101" pitchFamily="2" charset="-122"/>
                          <a:ea typeface="华文中宋" panose="02010600040101010101" pitchFamily="2" charset="-122"/>
                          <a:cs typeface="Times New Roman" panose="02020603050405020304"/>
                        </a:rPr>
                        <a:t>(s1);</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zh-CN" sz="2000" kern="100" dirty="0">
                          <a:latin typeface="华文中宋" panose="02010600040101010101" pitchFamily="2" charset="-122"/>
                          <a:ea typeface="华文中宋" panose="02010600040101010101" pitchFamily="2" charset="-122"/>
                          <a:cs typeface="Times New Roman" panose="02020603050405020304"/>
                        </a:rPr>
                        <a:t>使用</a:t>
                      </a:r>
                      <a:r>
                        <a:rPr lang="en-US" sz="2000" kern="100" dirty="0">
                          <a:latin typeface="华文中宋" panose="02010600040101010101" pitchFamily="2" charset="-122"/>
                          <a:ea typeface="华文中宋" panose="02010600040101010101" pitchFamily="2" charset="-122"/>
                          <a:cs typeface="Times New Roman" panose="02020603050405020304"/>
                        </a:rPr>
                        <a:t>r1</a:t>
                      </a:r>
                      <a:r>
                        <a:rPr lang="zh-CN" sz="2000" kern="100" dirty="0">
                          <a:latin typeface="华文中宋" panose="02010600040101010101" pitchFamily="2" charset="-122"/>
                          <a:ea typeface="华文中宋" panose="02010600040101010101" pitchFamily="2" charset="-122"/>
                          <a:cs typeface="Times New Roman" panose="02020603050405020304"/>
                        </a:rPr>
                        <a:t>和</a:t>
                      </a:r>
                      <a:r>
                        <a:rPr lang="en-US" sz="2000" kern="100" dirty="0">
                          <a:latin typeface="华文中宋" panose="02010600040101010101" pitchFamily="2" charset="-122"/>
                          <a:ea typeface="华文中宋" panose="02010600040101010101" pitchFamily="2" charset="-122"/>
                          <a:cs typeface="Times New Roman" panose="02020603050405020304"/>
                        </a:rPr>
                        <a:t>r2</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tabLst>
                          <a:tab pos="885825" algn="l"/>
                          <a:tab pos="1223010" algn="ctr"/>
                        </a:tabLst>
                      </a:pPr>
                      <a:r>
                        <a:rPr lang="en-US" sz="2000" b="1" kern="100" dirty="0">
                          <a:latin typeface="华文中宋" panose="02010600040101010101" pitchFamily="2" charset="-122"/>
                          <a:ea typeface="华文中宋" panose="02010600040101010101" pitchFamily="2" charset="-122"/>
                          <a:cs typeface="Times New Roman" panose="02020603050405020304"/>
                        </a:rPr>
                        <a:t>V</a:t>
                      </a:r>
                      <a:r>
                        <a:rPr lang="en-US" sz="2000" kern="100" dirty="0">
                          <a:latin typeface="华文中宋" panose="02010600040101010101" pitchFamily="2" charset="-122"/>
                          <a:ea typeface="华文中宋" panose="02010600040101010101" pitchFamily="2" charset="-122"/>
                          <a:cs typeface="Times New Roman" panose="02020603050405020304"/>
                        </a:rPr>
                        <a:t>(s2);</a:t>
                      </a:r>
                      <a:endParaRPr lang="zh-CN" sz="20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2000" b="1" kern="100" dirty="0">
                          <a:latin typeface="华文中宋" panose="02010600040101010101" pitchFamily="2" charset="-122"/>
                          <a:ea typeface="华文中宋" panose="02010600040101010101" pitchFamily="2" charset="-122"/>
                          <a:cs typeface="Times New Roman" panose="02020603050405020304"/>
                        </a:rPr>
                        <a:t>V</a:t>
                      </a:r>
                      <a:r>
                        <a:rPr lang="en-US" sz="2000" kern="100" dirty="0">
                          <a:latin typeface="华文中宋" panose="02010600040101010101" pitchFamily="2" charset="-122"/>
                          <a:ea typeface="华文中宋" panose="02010600040101010101" pitchFamily="2" charset="-122"/>
                          <a:cs typeface="Times New Roman" panose="02020603050405020304"/>
                        </a:rPr>
                        <a:t>(s1);</a:t>
                      </a:r>
                      <a:endParaRPr lang="zh-CN" sz="20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83649" name="Rectangle 1"/>
          <p:cNvSpPr>
            <a:spLocks noChangeArrowheads="1"/>
          </p:cNvSpPr>
          <p:nvPr/>
        </p:nvSpPr>
        <p:spPr bwMode="auto">
          <a:xfrm>
            <a:off x="142844" y="1285860"/>
            <a:ext cx="8429652" cy="1477328"/>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tabLst>
                <a:tab pos="885825" algn="l"/>
                <a:tab pos="1222375" algn="ctr"/>
              </a:tabLst>
            </a:pPr>
            <a:r>
              <a:rPr kumimoji="0" lang="zh-CN"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4-13】</a:t>
            </a:r>
            <a:r>
              <a:rPr kumimoji="0" lang="en-US" alt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V</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操作使用不当产生死锁。</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tabLst>
                <a:tab pos="885825" algn="l"/>
                <a:tab pos="1222375" algn="ctr"/>
              </a:tabLst>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设进程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P2</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共享两个资源</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r2</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。信号量</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s2</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分别用来控制资源</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r2</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的互斥访问。假定两个进程使用资源的方式如下：</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dirty="0"/>
              <a:t>死锁：</a:t>
            </a:r>
            <a:r>
              <a:rPr lang="zh-CN" altLang="en-US" sz="2400" dirty="0"/>
              <a:t>一组进程处于</a:t>
            </a:r>
            <a:r>
              <a:rPr lang="zh-CN" altLang="en-US" sz="2400" b="1" dirty="0"/>
              <a:t>死锁状态</a:t>
            </a:r>
            <a:r>
              <a:rPr lang="zh-CN" altLang="en-US" sz="2400" dirty="0"/>
              <a:t>是指：该组中每一个进程都在等待被另一个进程所占有的、不能抢占的资源。</a:t>
            </a:r>
            <a:endParaRPr lang="en-US" altLang="zh-CN" sz="2400" dirty="0"/>
          </a:p>
          <a:p>
            <a:pPr>
              <a:lnSpc>
                <a:spcPct val="150000"/>
              </a:lnSpc>
            </a:pPr>
            <a:r>
              <a:rPr lang="zh-CN" altLang="en-US" sz="2400" dirty="0"/>
              <a:t>注意：</a:t>
            </a:r>
            <a:endParaRPr lang="en-US" altLang="zh-CN" sz="2400" dirty="0"/>
          </a:p>
          <a:p>
            <a:pPr lvl="1">
              <a:lnSpc>
                <a:spcPct val="150000"/>
              </a:lnSpc>
            </a:pPr>
            <a:r>
              <a:rPr lang="zh-CN" altLang="en-US" sz="2000" dirty="0"/>
              <a:t>死锁是</a:t>
            </a:r>
            <a:r>
              <a:rPr lang="zh-CN" altLang="en-US" sz="2000" dirty="0">
                <a:solidFill>
                  <a:srgbClr val="FF0000"/>
                </a:solidFill>
              </a:rPr>
              <a:t>系统</a:t>
            </a:r>
            <a:r>
              <a:rPr lang="zh-CN" altLang="en-US" sz="2000" dirty="0"/>
              <a:t>的一个状态而</a:t>
            </a:r>
            <a:r>
              <a:rPr lang="zh-CN" altLang="en-US" sz="2000" dirty="0">
                <a:solidFill>
                  <a:srgbClr val="FF0000"/>
                </a:solidFill>
              </a:rPr>
              <a:t>不是进程</a:t>
            </a:r>
            <a:r>
              <a:rPr lang="zh-CN" altLang="en-US" sz="2000" dirty="0"/>
              <a:t>的状态。进程只具有就绪、运行和阻塞等基本状态，死锁状态与进程的阻塞状态有关，但不等同于阻塞状态。</a:t>
            </a:r>
            <a:endParaRPr lang="en-US" altLang="zh-CN" sz="2000" dirty="0"/>
          </a:p>
          <a:p>
            <a:pPr lvl="1">
              <a:lnSpc>
                <a:spcPct val="150000"/>
              </a:lnSpc>
            </a:pPr>
            <a:r>
              <a:rPr lang="zh-CN" altLang="en-US" sz="2000" dirty="0"/>
              <a:t>有时，系统中的进程能够运行（即处于运行态），但仍然会发生死锁。</a:t>
            </a:r>
            <a:endParaRPr lang="en-US" altLang="zh-CN" sz="2000" dirty="0"/>
          </a:p>
          <a:p>
            <a:pPr lvl="1">
              <a:lnSpc>
                <a:spcPct val="150000"/>
              </a:lnSpc>
            </a:pPr>
            <a:r>
              <a:rPr lang="zh-CN" altLang="en-US" sz="2000" dirty="0"/>
              <a:t>死锁的发生通常是有条件的。通常情况下，死锁只有在某些条件下才会发生，因此死锁的发现、再现和检测通常较为困难。</a:t>
            </a:r>
            <a:endParaRPr lang="zh-CN" alt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84673" name="Rectangle 1"/>
          <p:cNvSpPr>
            <a:spLocks noChangeArrowheads="1"/>
          </p:cNvSpPr>
          <p:nvPr/>
        </p:nvSpPr>
        <p:spPr bwMode="auto">
          <a:xfrm>
            <a:off x="357158" y="1285860"/>
            <a:ext cx="8501122" cy="5493812"/>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死锁是由并发执行的进程对共享资源的占有和请求所造成的，因此在讨论死锁问题时，我们首先对资源的占有和请求方式，以及程序的特性做一定假设，在此基础上才能准确的理解死锁现象：</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任意一个进程要求资源的最大数量不超过系统能提供的最大量。</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如果一个进程在执行中所提出的资源要求能够得到满足，那么它一定能在有限的时间内结束。</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一个资源在任何时刻最多只为一个进程所占有。</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一个进程一次申请一个资源，且只在申请资源得不到满足时才处于等待状态。换言之，其它一些等待状态，如人工干预、等待外围设备传输结束等，在没有故障的条件下，可以在有限长的时间内结束，不会产生死锁。因此，这里不考虑这种等待。</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一个进程结束时，释放它占有的全部资源。</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系统具有有限个进程和资源。</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0"/>
            <a:ext cx="8229600" cy="1143000"/>
          </a:xfrm>
        </p:spPr>
        <p:txBody>
          <a:bodyPr/>
          <a:lstStyle/>
          <a:p>
            <a:r>
              <a:rPr lang="en-US" altLang="zh-CN" sz="2800" dirty="0"/>
              <a:t>                </a:t>
            </a:r>
            <a:r>
              <a:rPr lang="en-US" altLang="zh-CN" sz="2800" dirty="0">
                <a:latin typeface="华文中宋" panose="02010600040101010101" pitchFamily="2" charset="-122"/>
                <a:ea typeface="华文中宋" panose="02010600040101010101" pitchFamily="2" charset="-122"/>
              </a:rPr>
              <a:t>4.6.2 </a:t>
            </a:r>
            <a:r>
              <a:rPr lang="zh-CN" altLang="en-US" sz="2800" dirty="0">
                <a:latin typeface="华文中宋" panose="02010600040101010101" pitchFamily="2" charset="-122"/>
                <a:ea typeface="华文中宋" panose="02010600040101010101" pitchFamily="2" charset="-122"/>
              </a:rPr>
              <a:t>哲学家就餐问题</a:t>
            </a:r>
            <a:endParaRPr lang="zh-CN" altLang="en-US" sz="2800" dirty="0">
              <a:latin typeface="华文中宋" panose="02010600040101010101" pitchFamily="2" charset="-122"/>
              <a:ea typeface="华文中宋" panose="02010600040101010101" pitchFamily="2" charset="-122"/>
            </a:endParaRPr>
          </a:p>
        </p:txBody>
      </p:sp>
      <p:sp>
        <p:nvSpPr>
          <p:cNvPr id="28569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85697" name="Object 1"/>
          <p:cNvGraphicFramePr>
            <a:graphicFrameLocks noChangeAspect="1"/>
          </p:cNvGraphicFramePr>
          <p:nvPr/>
        </p:nvGraphicFramePr>
        <p:xfrm>
          <a:off x="2143108" y="1500174"/>
          <a:ext cx="4929222" cy="4883526"/>
        </p:xfrm>
        <a:graphic>
          <a:graphicData uri="http://schemas.openxmlformats.org/presentationml/2006/ole">
            <mc:AlternateContent xmlns:mc="http://schemas.openxmlformats.org/markup-compatibility/2006">
              <mc:Choice xmlns:v="urn:schemas-microsoft-com:vml" Requires="v">
                <p:oleObj spid="_x0000_s285709" name="Visio" r:id="rId1" imgW="4305300" imgH="4254500" progId="Visio.Drawing.11">
                  <p:embed/>
                </p:oleObj>
              </mc:Choice>
              <mc:Fallback>
                <p:oleObj name="Visio" r:id="rId1" imgW="4305300" imgH="42545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08" y="1500174"/>
                        <a:ext cx="4929222" cy="48835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287746" name="Picture 2"/>
          <p:cNvPicPr>
            <a:picLocks noChangeAspect="1" noChangeArrowheads="1"/>
          </p:cNvPicPr>
          <p:nvPr/>
        </p:nvPicPr>
        <p:blipFill>
          <a:blip r:embed="rId1"/>
          <a:srcRect/>
          <a:stretch>
            <a:fillRect/>
          </a:stretch>
        </p:blipFill>
        <p:spPr bwMode="auto">
          <a:xfrm>
            <a:off x="142843" y="142852"/>
            <a:ext cx="8753971" cy="6572296"/>
          </a:xfrm>
          <a:prstGeom prst="rect">
            <a:avLst/>
          </a:prstGeom>
          <a:noFill/>
          <a:ln w="9525">
            <a:noFill/>
            <a:miter lim="800000"/>
            <a:headEnd/>
            <a:tailEnd/>
          </a:ln>
          <a:effectLst/>
        </p:spPr>
      </p:pic>
      <p:graphicFrame>
        <p:nvGraphicFramePr>
          <p:cNvPr id="5" name="表格 4"/>
          <p:cNvGraphicFramePr>
            <a:graphicFrameLocks noGrp="1"/>
          </p:cNvGraphicFramePr>
          <p:nvPr/>
        </p:nvGraphicFramePr>
        <p:xfrm>
          <a:off x="5500694" y="274320"/>
          <a:ext cx="3643338" cy="6536690"/>
        </p:xfrm>
        <a:graphic>
          <a:graphicData uri="http://schemas.openxmlformats.org/drawingml/2006/table">
            <a:tbl>
              <a:tblPr/>
              <a:tblGrid>
                <a:gridCol w="3643338"/>
              </a:tblGrid>
              <a:tr h="0">
                <a:tc>
                  <a:txBody>
                    <a:bodyPr/>
                    <a:lstStyle/>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(fork[1]);pick up f[1];</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(fork[2]);pick up f[2];</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P3::</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(fork[3]);pick up f[3];</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P4::</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(fork[4]);pick up f[4];</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P5::</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(fork[5]);pick up f[5];</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(fork[2]); </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{P1</a:t>
                      </a:r>
                      <a:r>
                        <a:rPr lang="zh-CN" sz="1800" kern="100" dirty="0">
                          <a:latin typeface="Times New Roman" panose="02020603050405020304"/>
                          <a:ea typeface="宋体" panose="02010600030101010101" pitchFamily="2" charset="-122"/>
                          <a:cs typeface="Times New Roman" panose="02020603050405020304"/>
                        </a:rPr>
                        <a:t>阻塞</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(fork[3]); </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{P2</a:t>
                      </a:r>
                      <a:r>
                        <a:rPr lang="zh-CN" sz="1800" kern="100" dirty="0">
                          <a:latin typeface="Times New Roman" panose="02020603050405020304"/>
                          <a:ea typeface="宋体" panose="02010600030101010101" pitchFamily="2" charset="-122"/>
                          <a:cs typeface="Times New Roman" panose="02020603050405020304"/>
                        </a:rPr>
                        <a:t>阻塞</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P3::</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(fork[4]); </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{P3</a:t>
                      </a:r>
                      <a:r>
                        <a:rPr lang="zh-CN" sz="1800" kern="100" dirty="0">
                          <a:latin typeface="Times New Roman" panose="02020603050405020304"/>
                          <a:ea typeface="宋体" panose="02010600030101010101" pitchFamily="2" charset="-122"/>
                          <a:cs typeface="Times New Roman" panose="02020603050405020304"/>
                        </a:rPr>
                        <a:t>阻塞</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P4::</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(fork[5]); </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{P4</a:t>
                      </a:r>
                      <a:r>
                        <a:rPr lang="zh-CN" sz="1800" kern="100" dirty="0">
                          <a:latin typeface="Times New Roman" panose="02020603050405020304"/>
                          <a:ea typeface="宋体" panose="02010600030101010101" pitchFamily="2" charset="-122"/>
                          <a:cs typeface="Times New Roman" panose="02020603050405020304"/>
                        </a:rPr>
                        <a:t>阻塞</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P5::</a:t>
                      </a:r>
                      <a:r>
                        <a:rPr lang="en-US" sz="1800" b="1" kern="100" dirty="0">
                          <a:latin typeface="Times New Roman" panose="02020603050405020304"/>
                          <a:ea typeface="宋体" panose="02010600030101010101" pitchFamily="2" charset="-122"/>
                          <a:cs typeface="Times New Roman" panose="02020603050405020304"/>
                        </a:rPr>
                        <a:t>P</a:t>
                      </a:r>
                      <a:r>
                        <a:rPr lang="en-US" sz="1800" kern="100" dirty="0">
                          <a:latin typeface="Times New Roman" panose="02020603050405020304"/>
                          <a:ea typeface="宋体" panose="02010600030101010101" pitchFamily="2" charset="-122"/>
                          <a:cs typeface="Times New Roman" panose="02020603050405020304"/>
                        </a:rPr>
                        <a:t>(fork[1]); </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{P5</a:t>
                      </a:r>
                      <a:r>
                        <a:rPr lang="zh-CN" sz="1800" kern="100" dirty="0">
                          <a:latin typeface="Times New Roman" panose="02020603050405020304"/>
                          <a:ea typeface="宋体" panose="02010600030101010101" pitchFamily="2" charset="-122"/>
                          <a:cs typeface="Times New Roman" panose="02020603050405020304"/>
                        </a:rPr>
                        <a:t>阻塞</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algn="l">
                        <a:lnSpc>
                          <a:spcPct val="150000"/>
                        </a:lnSpc>
                        <a:spcAft>
                          <a:spcPts val="0"/>
                        </a:spcAft>
                      </a:pPr>
                      <a:r>
                        <a:rPr 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系统死锁</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3" name="Rectangle 1"/>
          <p:cNvSpPr>
            <a:spLocks noChangeArrowheads="1"/>
          </p:cNvSpPr>
          <p:nvPr/>
        </p:nvSpPr>
        <p:spPr bwMode="auto">
          <a:xfrm>
            <a:off x="214282" y="1428736"/>
            <a:ext cx="8643998" cy="2400657"/>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为了确保任何调度情况下都不会发生死锁，</a:t>
            </a:r>
            <a:endPar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问题</a:t>
            </a:r>
            <a:r>
              <a:rPr kumimoji="0" lang="en-US" alt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：在进程数和每个进程所需资源数一定的情况下，系统需要提供最少多少个资源？</a:t>
            </a:r>
            <a:endParaRPr kumimoji="0" lang="zh-CN" altLang="en-US"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问题</a:t>
            </a:r>
            <a:r>
              <a:rPr kumimoji="0" lang="en-US" altLang="zh-CN" sz="20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2</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：在系统资源总数和每个进程所需资源数一定的情况下，最多允许的进程个数为多少？</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graphicFrame>
        <p:nvGraphicFramePr>
          <p:cNvPr id="5" name="表格 4"/>
          <p:cNvGraphicFramePr>
            <a:graphicFrameLocks noGrp="1"/>
          </p:cNvGraphicFramePr>
          <p:nvPr/>
        </p:nvGraphicFramePr>
        <p:xfrm>
          <a:off x="500034" y="4214818"/>
          <a:ext cx="8358246" cy="1931672"/>
        </p:xfrm>
        <a:graphic>
          <a:graphicData uri="http://schemas.openxmlformats.org/drawingml/2006/table">
            <a:tbl>
              <a:tblPr/>
              <a:tblGrid>
                <a:gridCol w="8358246"/>
              </a:tblGrid>
              <a:tr h="1931672">
                <a:tc>
                  <a:txBody>
                    <a:bodyPr/>
                    <a:lstStyle/>
                    <a:p>
                      <a:pPr indent="266700" algn="just">
                        <a:lnSpc>
                          <a:spcPct val="150000"/>
                        </a:lnSpc>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设系统中同类资源的个数为</a:t>
                      </a:r>
                      <a:r>
                        <a:rPr lang="en-US" sz="1800" i="1" kern="100" dirty="0">
                          <a:latin typeface="华文中宋" panose="02010600040101010101" pitchFamily="2" charset="-122"/>
                          <a:ea typeface="华文中宋" panose="02010600040101010101" pitchFamily="2" charset="-122"/>
                          <a:cs typeface="Times New Roman" panose="02020603050405020304"/>
                        </a:rPr>
                        <a:t>m</a:t>
                      </a:r>
                      <a:r>
                        <a:rPr lang="zh-CN" sz="1800" kern="100" dirty="0">
                          <a:latin typeface="华文中宋" panose="02010600040101010101" pitchFamily="2" charset="-122"/>
                          <a:ea typeface="华文中宋" panose="02010600040101010101" pitchFamily="2" charset="-122"/>
                          <a:cs typeface="Times New Roman" panose="02020603050405020304"/>
                        </a:rPr>
                        <a:t>，由</a:t>
                      </a:r>
                      <a:r>
                        <a:rPr lang="en-US" sz="1800" i="1" kern="100" dirty="0">
                          <a:latin typeface="华文中宋" panose="02010600040101010101" pitchFamily="2" charset="-122"/>
                          <a:ea typeface="华文中宋" panose="02010600040101010101" pitchFamily="2" charset="-122"/>
                          <a:cs typeface="Times New Roman" panose="02020603050405020304"/>
                        </a:rPr>
                        <a:t>n</a:t>
                      </a:r>
                      <a:r>
                        <a:rPr lang="zh-CN" sz="1800" kern="100" dirty="0">
                          <a:latin typeface="华文中宋" panose="02010600040101010101" pitchFamily="2" charset="-122"/>
                          <a:ea typeface="华文中宋" panose="02010600040101010101" pitchFamily="2" charset="-122"/>
                          <a:cs typeface="Times New Roman" panose="02020603050405020304"/>
                        </a:rPr>
                        <a:t>个进程互斥使用，每个进程对该类资源的最大需求量为</a:t>
                      </a:r>
                      <a:r>
                        <a:rPr lang="en-US" sz="1800" i="1" kern="100" dirty="0">
                          <a:latin typeface="华文中宋" panose="02010600040101010101" pitchFamily="2" charset="-122"/>
                          <a:ea typeface="华文中宋" panose="02010600040101010101" pitchFamily="2" charset="-122"/>
                          <a:cs typeface="Times New Roman" panose="02020603050405020304"/>
                        </a:rPr>
                        <a:t>k</a:t>
                      </a:r>
                      <a:r>
                        <a:rPr lang="zh-CN" sz="1800" kern="100" dirty="0">
                          <a:latin typeface="华文中宋" panose="02010600040101010101" pitchFamily="2" charset="-122"/>
                          <a:ea typeface="华文中宋" panose="02010600040101010101" pitchFamily="2" charset="-122"/>
                          <a:cs typeface="Times New Roman" panose="02020603050405020304"/>
                        </a:rPr>
                        <a:t>。为了保证在任何调度情况下，系统都不会发生死锁，那么</a:t>
                      </a:r>
                      <a:r>
                        <a:rPr lang="en-US" sz="1800" i="1" kern="100" dirty="0">
                          <a:latin typeface="华文中宋" panose="02010600040101010101" pitchFamily="2" charset="-122"/>
                          <a:ea typeface="华文中宋" panose="02010600040101010101" pitchFamily="2" charset="-122"/>
                          <a:cs typeface="Times New Roman" panose="02020603050405020304"/>
                        </a:rPr>
                        <a:t>m</a:t>
                      </a:r>
                      <a:r>
                        <a:rPr lang="zh-CN" sz="1800" kern="100" dirty="0">
                          <a:latin typeface="华文中宋" panose="02010600040101010101" pitchFamily="2" charset="-122"/>
                          <a:ea typeface="华文中宋" panose="02010600040101010101" pitchFamily="2" charset="-122"/>
                          <a:cs typeface="Times New Roman" panose="02020603050405020304"/>
                        </a:rPr>
                        <a:t>、</a:t>
                      </a:r>
                      <a:r>
                        <a:rPr lang="en-US" sz="1800" i="1" kern="100" dirty="0">
                          <a:latin typeface="华文中宋" panose="02010600040101010101" pitchFamily="2" charset="-122"/>
                          <a:ea typeface="华文中宋" panose="02010600040101010101" pitchFamily="2" charset="-122"/>
                          <a:cs typeface="Times New Roman" panose="02020603050405020304"/>
                        </a:rPr>
                        <a:t>n</a:t>
                      </a:r>
                      <a:r>
                        <a:rPr lang="zh-CN" sz="1800" kern="100" dirty="0">
                          <a:latin typeface="华文中宋" panose="02010600040101010101" pitchFamily="2" charset="-122"/>
                          <a:ea typeface="华文中宋" panose="02010600040101010101" pitchFamily="2" charset="-122"/>
                          <a:cs typeface="Times New Roman" panose="02020603050405020304"/>
                        </a:rPr>
                        <a:t>和</a:t>
                      </a:r>
                      <a:r>
                        <a:rPr lang="en-US" sz="1800" i="1" kern="100" dirty="0">
                          <a:latin typeface="华文中宋" panose="02010600040101010101" pitchFamily="2" charset="-122"/>
                          <a:ea typeface="华文中宋" panose="02010600040101010101" pitchFamily="2" charset="-122"/>
                          <a:cs typeface="Times New Roman" panose="02020603050405020304"/>
                        </a:rPr>
                        <a:t>k</a:t>
                      </a:r>
                      <a:r>
                        <a:rPr lang="zh-CN" sz="1800" kern="100" dirty="0">
                          <a:latin typeface="华文中宋" panose="02010600040101010101" pitchFamily="2" charset="-122"/>
                          <a:ea typeface="华文中宋" panose="02010600040101010101" pitchFamily="2" charset="-122"/>
                          <a:cs typeface="Times New Roman" panose="02020603050405020304"/>
                        </a:rPr>
                        <a:t>必须满足如下条件： </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ctr">
                        <a:lnSpc>
                          <a:spcPct val="150000"/>
                        </a:lnSpc>
                        <a:spcAft>
                          <a:spcPts val="0"/>
                        </a:spcAft>
                      </a:pPr>
                      <a:r>
                        <a:rPr lang="en-US" sz="1800" i="1" kern="100" dirty="0">
                          <a:latin typeface="华文中宋" panose="02010600040101010101" pitchFamily="2" charset="-122"/>
                          <a:ea typeface="华文中宋" panose="02010600040101010101" pitchFamily="2" charset="-122"/>
                          <a:cs typeface="Times New Roman" panose="02020603050405020304"/>
                        </a:rPr>
                        <a:t>n</a:t>
                      </a:r>
                      <a:r>
                        <a:rPr lang="en-US" sz="1800" kern="100" dirty="0">
                          <a:latin typeface="华文中宋" panose="02010600040101010101" pitchFamily="2" charset="-122"/>
                          <a:ea typeface="华文中宋" panose="02010600040101010101" pitchFamily="2" charset="-122"/>
                          <a:cs typeface="Times New Roman" panose="02020603050405020304"/>
                          <a:sym typeface="Symbol" panose="05050102010706020507"/>
                        </a:rPr>
                        <a:t></a:t>
                      </a:r>
                      <a:r>
                        <a:rPr lang="en-US" sz="1800" kern="100" dirty="0">
                          <a:latin typeface="华文中宋" panose="02010600040101010101" pitchFamily="2" charset="-122"/>
                          <a:ea typeface="华文中宋" panose="02010600040101010101" pitchFamily="2" charset="-122"/>
                          <a:cs typeface="Times New Roman" panose="02020603050405020304"/>
                        </a:rPr>
                        <a:t>(</a:t>
                      </a:r>
                      <a:r>
                        <a:rPr lang="en-US" sz="1800" i="1" kern="100" dirty="0">
                          <a:latin typeface="华文中宋" panose="02010600040101010101" pitchFamily="2" charset="-122"/>
                          <a:ea typeface="华文中宋" panose="02010600040101010101" pitchFamily="2" charset="-122"/>
                          <a:cs typeface="Times New Roman" panose="02020603050405020304"/>
                        </a:rPr>
                        <a:t>k</a:t>
                      </a:r>
                      <a:r>
                        <a:rPr lang="en-US" sz="1800" kern="100" dirty="0">
                          <a:latin typeface="华文中宋" panose="02010600040101010101" pitchFamily="2" charset="-122"/>
                          <a:ea typeface="华文中宋" panose="02010600040101010101" pitchFamily="2" charset="-122"/>
                          <a:cs typeface="Times New Roman" panose="02020603050405020304"/>
                        </a:rPr>
                        <a:t>-1)+1≤</a:t>
                      </a:r>
                      <a:r>
                        <a:rPr lang="en-US" sz="1800" i="1" kern="100" dirty="0">
                          <a:latin typeface="华文中宋" panose="02010600040101010101" pitchFamily="2" charset="-122"/>
                          <a:ea typeface="华文中宋" panose="02010600040101010101" pitchFamily="2" charset="-122"/>
                          <a:cs typeface="Times New Roman" panose="02020603050405020304"/>
                        </a:rPr>
                        <a:t>m</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214290"/>
            <a:ext cx="8229600" cy="642934"/>
          </a:xfrm>
        </p:spPr>
        <p:txBody>
          <a:bodyPr>
            <a:normAutofit fontScale="90000"/>
          </a:bodyPr>
          <a:lstStyle/>
          <a:p>
            <a:r>
              <a:rPr lang="en-US" altLang="zh-CN" sz="2800" dirty="0">
                <a:latin typeface="华文中宋" panose="02010600040101010101" pitchFamily="2" charset="-122"/>
                <a:ea typeface="华文中宋" panose="02010600040101010101" pitchFamily="2" charset="-122"/>
              </a:rPr>
              <a:t>                                          4.6.3 </a:t>
            </a:r>
            <a:r>
              <a:rPr lang="zh-CN" altLang="en-US" sz="2800" dirty="0">
                <a:latin typeface="华文中宋" panose="02010600040101010101" pitchFamily="2" charset="-122"/>
                <a:ea typeface="华文中宋" panose="02010600040101010101" pitchFamily="2" charset="-122"/>
              </a:rPr>
              <a:t>死锁的描述</a:t>
            </a:r>
            <a:endParaRPr lang="zh-CN" altLang="en-US" sz="2800" dirty="0">
              <a:latin typeface="华文中宋" panose="02010600040101010101" pitchFamily="2" charset="-122"/>
              <a:ea typeface="华文中宋" panose="02010600040101010101" pitchFamily="2" charset="-122"/>
            </a:endParaRPr>
          </a:p>
        </p:txBody>
      </p:sp>
      <p:sp>
        <p:nvSpPr>
          <p:cNvPr id="290817" name="Rectangle 1"/>
          <p:cNvSpPr>
            <a:spLocks noChangeArrowheads="1"/>
          </p:cNvSpPr>
          <p:nvPr/>
        </p:nvSpPr>
        <p:spPr bwMode="auto">
          <a:xfrm>
            <a:off x="428596" y="1285860"/>
            <a:ext cx="8215370" cy="234615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用</a:t>
            </a: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资源分配图（</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resource allocation graph</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描述系统资源和进程的关系，每个资源和进程用节点来表示。资源节点中，一个圆点表示资源的一个实例。从进程节点指向资源节点的边表示进程请求该资源，但是还没有得到授权。从资源节点中的一个圆点到进程的边表示资源请求已经被授权，或者该资源已经被进程所占有。</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9184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91841" name="Object 1"/>
          <p:cNvGraphicFramePr>
            <a:graphicFrameLocks noChangeAspect="1"/>
          </p:cNvGraphicFramePr>
          <p:nvPr/>
        </p:nvGraphicFramePr>
        <p:xfrm>
          <a:off x="285720" y="1643050"/>
          <a:ext cx="8738031" cy="3143272"/>
        </p:xfrm>
        <a:graphic>
          <a:graphicData uri="http://schemas.openxmlformats.org/presentationml/2006/ole">
            <mc:AlternateContent xmlns:mc="http://schemas.openxmlformats.org/markup-compatibility/2006">
              <mc:Choice xmlns:v="urn:schemas-microsoft-com:vml" Requires="v">
                <p:oleObj spid="_x0000_s291853" name="Visio" r:id="rId1" imgW="7594600" imgH="2743200" progId="Visio.Drawing.11">
                  <p:embed/>
                </p:oleObj>
              </mc:Choice>
              <mc:Fallback>
                <p:oleObj name="Visio" r:id="rId1" imgW="7594600" imgH="27432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20" y="1643050"/>
                        <a:ext cx="8738031" cy="3143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p:cNvSpPr/>
          <p:nvPr/>
        </p:nvSpPr>
        <p:spPr>
          <a:xfrm>
            <a:off x="1071538" y="5072074"/>
            <a:ext cx="7215238"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rPr>
              <a:t>如果资源分配图中不存在环路，那么系统一定无死锁；如果资源分配图中存在环路，那么系统</a:t>
            </a:r>
            <a:r>
              <a:rPr lang="zh-CN" altLang="en-US" b="1" dirty="0">
                <a:solidFill>
                  <a:srgbClr val="FF0000"/>
                </a:solidFill>
                <a:latin typeface="华文中宋" panose="02010600040101010101" pitchFamily="2" charset="-122"/>
                <a:ea typeface="华文中宋" panose="02010600040101010101" pitchFamily="2" charset="-122"/>
              </a:rPr>
              <a:t>可能</a:t>
            </a:r>
            <a:r>
              <a:rPr lang="zh-CN" altLang="en-US" dirty="0">
                <a:latin typeface="华文中宋" panose="02010600040101010101" pitchFamily="2" charset="-122"/>
                <a:ea typeface="华文中宋" panose="02010600040101010101" pitchFamily="2" charset="-122"/>
              </a:rPr>
              <a:t>死锁。</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9286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92865" name="Object 1"/>
          <p:cNvGraphicFramePr>
            <a:graphicFrameLocks noChangeAspect="1"/>
          </p:cNvGraphicFramePr>
          <p:nvPr/>
        </p:nvGraphicFramePr>
        <p:xfrm>
          <a:off x="285720" y="1928802"/>
          <a:ext cx="8649987" cy="3286148"/>
        </p:xfrm>
        <a:graphic>
          <a:graphicData uri="http://schemas.openxmlformats.org/presentationml/2006/ole">
            <mc:AlternateContent xmlns:mc="http://schemas.openxmlformats.org/markup-compatibility/2006">
              <mc:Choice xmlns:v="urn:schemas-microsoft-com:vml" Requires="v">
                <p:oleObj spid="_x0000_s292877" name="Visio" r:id="rId1" imgW="6057900" imgH="2311400" progId="Visio.Drawing.11">
                  <p:embed/>
                </p:oleObj>
              </mc:Choice>
              <mc:Fallback>
                <p:oleObj name="Visio" r:id="rId1" imgW="6057900" imgH="23114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20" y="1928802"/>
                        <a:ext cx="8649987" cy="32861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表格 5"/>
          <p:cNvGraphicFramePr>
            <a:graphicFrameLocks noGrp="1"/>
          </p:cNvGraphicFramePr>
          <p:nvPr/>
        </p:nvGraphicFramePr>
        <p:xfrm>
          <a:off x="285720" y="5357826"/>
          <a:ext cx="8429684" cy="1185863"/>
        </p:xfrm>
        <a:graphic>
          <a:graphicData uri="http://schemas.openxmlformats.org/drawingml/2006/table">
            <a:tbl>
              <a:tblPr/>
              <a:tblGrid>
                <a:gridCol w="8429684"/>
              </a:tblGrid>
              <a:tr h="0">
                <a:tc>
                  <a:txBody>
                    <a:bodyPr/>
                    <a:lstStyle/>
                    <a:p>
                      <a:pPr indent="266700" algn="just">
                        <a:lnSpc>
                          <a:spcPct val="150000"/>
                        </a:lnSpc>
                        <a:spcAft>
                          <a:spcPts val="0"/>
                        </a:spcAft>
                      </a:pPr>
                      <a:r>
                        <a:rPr lang="zh-CN" sz="1800" kern="100" dirty="0">
                          <a:latin typeface="华文中宋" panose="02010600040101010101" pitchFamily="2" charset="-122"/>
                          <a:ea typeface="华文中宋" panose="02010600040101010101" pitchFamily="2" charset="-122"/>
                          <a:cs typeface="Times New Roman" panose="02020603050405020304"/>
                        </a:rPr>
                        <a:t>资源分配图中存在环路是死锁的</a:t>
                      </a:r>
                      <a:r>
                        <a:rPr lang="zh-CN" sz="1800" b="1" kern="100" dirty="0">
                          <a:latin typeface="华文中宋" panose="02010600040101010101" pitchFamily="2" charset="-122"/>
                          <a:ea typeface="华文中宋" panose="02010600040101010101" pitchFamily="2" charset="-122"/>
                          <a:cs typeface="Times New Roman" panose="02020603050405020304"/>
                        </a:rPr>
                        <a:t>必要条件</a:t>
                      </a:r>
                      <a:r>
                        <a:rPr lang="zh-CN" sz="1800" kern="100" dirty="0">
                          <a:latin typeface="华文中宋" panose="02010600040101010101" pitchFamily="2" charset="-122"/>
                          <a:ea typeface="华文中宋" panose="02010600040101010101" pitchFamily="2" charset="-122"/>
                          <a:cs typeface="Times New Roman" panose="02020603050405020304"/>
                        </a:rPr>
                        <a:t>，即如果系统发生了死锁，那么资源分配图中一定存在环路，或者说，如果资源分配图中不存在环路，那么系统一定无死锁。但是如果资源分配图中存在环路，那么不能保证系统一定死锁。</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graphicFrame>
        <p:nvGraphicFramePr>
          <p:cNvPr id="4" name="表格 3"/>
          <p:cNvGraphicFramePr>
            <a:graphicFrameLocks noGrp="1"/>
          </p:cNvGraphicFramePr>
          <p:nvPr/>
        </p:nvGraphicFramePr>
        <p:xfrm>
          <a:off x="571472" y="2214554"/>
          <a:ext cx="8072494" cy="2831783"/>
        </p:xfrm>
        <a:graphic>
          <a:graphicData uri="http://schemas.openxmlformats.org/drawingml/2006/table">
            <a:tbl>
              <a:tblPr/>
              <a:tblGrid>
                <a:gridCol w="8072494"/>
              </a:tblGrid>
              <a:tr h="0">
                <a:tc>
                  <a:txBody>
                    <a:bodyPr/>
                    <a:lstStyle/>
                    <a:p>
                      <a:pPr marL="342900" lvl="0" indent="-342900" algn="just">
                        <a:lnSpc>
                          <a:spcPct val="150000"/>
                        </a:lnSpc>
                        <a:spcAft>
                          <a:spcPts val="0"/>
                        </a:spcAft>
                        <a:buFont typeface="+mj-lt"/>
                        <a:buAutoNum type="arabicPeriod"/>
                      </a:pPr>
                      <a:r>
                        <a:rPr lang="zh-CN" sz="1800" b="1" kern="100" dirty="0">
                          <a:latin typeface="华文中宋" panose="02010600040101010101" pitchFamily="2" charset="-122"/>
                          <a:ea typeface="华文中宋" panose="02010600040101010101" pitchFamily="2" charset="-122"/>
                          <a:cs typeface="Times New Roman" panose="02020603050405020304"/>
                        </a:rPr>
                        <a:t>互斥</a:t>
                      </a:r>
                      <a:r>
                        <a:rPr lang="zh-CN" sz="1800" kern="100" dirty="0">
                          <a:latin typeface="华文中宋" panose="02010600040101010101" pitchFamily="2" charset="-122"/>
                          <a:ea typeface="华文中宋" panose="02010600040101010101" pitchFamily="2" charset="-122"/>
                          <a:cs typeface="Times New Roman" panose="02020603050405020304"/>
                        </a:rPr>
                        <a:t>。一个资源一次只能被一个进程所使用，如果有其它进程请求该资源，那么请求进程必须等待，直到该资源被释放。</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mj-lt"/>
                        <a:buAutoNum type="arabicPeriod"/>
                      </a:pPr>
                      <a:r>
                        <a:rPr lang="zh-CN" sz="1800" b="1" kern="100" dirty="0">
                          <a:latin typeface="华文中宋" panose="02010600040101010101" pitchFamily="2" charset="-122"/>
                          <a:ea typeface="华文中宋" panose="02010600040101010101" pitchFamily="2" charset="-122"/>
                          <a:cs typeface="Times New Roman" panose="02020603050405020304"/>
                        </a:rPr>
                        <a:t>占有且等待</a:t>
                      </a:r>
                      <a:r>
                        <a:rPr lang="zh-CN" sz="1800" kern="100" dirty="0">
                          <a:latin typeface="华文中宋" panose="02010600040101010101" pitchFamily="2" charset="-122"/>
                          <a:ea typeface="华文中宋" panose="02010600040101010101" pitchFamily="2" charset="-122"/>
                          <a:cs typeface="Times New Roman" panose="02020603050405020304"/>
                        </a:rPr>
                        <a:t>。一个进程请求资源得不到满足而等待时，不释放已占有的资源。</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marL="342900" lvl="0" indent="-342900" algn="just">
                        <a:lnSpc>
                          <a:spcPct val="150000"/>
                        </a:lnSpc>
                        <a:spcAft>
                          <a:spcPts val="0"/>
                        </a:spcAft>
                        <a:buFont typeface="+mj-lt"/>
                        <a:buAutoNum type="arabicPeriod"/>
                      </a:pPr>
                      <a:r>
                        <a:rPr lang="zh-CN" sz="1800" b="1" kern="100" dirty="0">
                          <a:latin typeface="华文中宋" panose="02010600040101010101" pitchFamily="2" charset="-122"/>
                          <a:ea typeface="华文中宋" panose="02010600040101010101" pitchFamily="2" charset="-122"/>
                          <a:cs typeface="Times New Roman" panose="02020603050405020304"/>
                        </a:rPr>
                        <a:t>不可抢占</a:t>
                      </a:r>
                      <a:r>
                        <a:rPr lang="zh-CN" sz="1800" kern="100" dirty="0">
                          <a:latin typeface="华文中宋" panose="02010600040101010101" pitchFamily="2" charset="-122"/>
                          <a:ea typeface="华文中宋" panose="02010600040101010101" pitchFamily="2" charset="-122"/>
                          <a:cs typeface="Times New Roman" panose="02020603050405020304"/>
                        </a:rPr>
                        <a:t>。一个进程不能强行从另一个进程那里抢夺资源，即已被占用的资源，只能由占用进程自己来释放。</a:t>
                      </a:r>
                      <a:endParaRPr lang="zh-CN" sz="1800" kern="100" dirty="0">
                        <a:latin typeface="华文中宋" panose="02010600040101010101" pitchFamily="2" charset="-122"/>
                        <a:ea typeface="华文中宋" panose="02010600040101010101" pitchFamily="2" charset="-122"/>
                        <a:cs typeface="Times New Roman" panose="02020603050405020304"/>
                      </a:endParaRPr>
                    </a:p>
                    <a:p>
                      <a:pPr algn="just">
                        <a:lnSpc>
                          <a:spcPct val="150000"/>
                        </a:lnSpc>
                        <a:spcAft>
                          <a:spcPts val="0"/>
                        </a:spcAft>
                      </a:pPr>
                      <a:r>
                        <a:rPr lang="en-US" sz="1800" kern="100" dirty="0">
                          <a:latin typeface="华文中宋" panose="02010600040101010101" pitchFamily="2" charset="-122"/>
                          <a:ea typeface="华文中宋" panose="02010600040101010101" pitchFamily="2" charset="-122"/>
                          <a:cs typeface="Times New Roman" panose="02020603050405020304"/>
                        </a:rPr>
                        <a:t>4</a:t>
                      </a:r>
                      <a:r>
                        <a:rPr lang="zh-CN" sz="1800" kern="100" dirty="0">
                          <a:latin typeface="华文中宋" panose="02010600040101010101" pitchFamily="2" charset="-122"/>
                          <a:ea typeface="华文中宋" panose="02010600040101010101" pitchFamily="2" charset="-122"/>
                          <a:cs typeface="Times New Roman" panose="02020603050405020304"/>
                        </a:rPr>
                        <a:t>、</a:t>
                      </a:r>
                      <a:r>
                        <a:rPr lang="zh-CN" sz="1800" b="1" kern="100" dirty="0">
                          <a:latin typeface="华文中宋" panose="02010600040101010101" pitchFamily="2" charset="-122"/>
                          <a:ea typeface="华文中宋" panose="02010600040101010101" pitchFamily="2" charset="-122"/>
                          <a:cs typeface="Times New Roman" panose="02020603050405020304"/>
                        </a:rPr>
                        <a:t>循环等待</a:t>
                      </a:r>
                      <a:r>
                        <a:rPr lang="zh-CN" sz="1800" kern="100" dirty="0">
                          <a:latin typeface="华文中宋" panose="02010600040101010101" pitchFamily="2" charset="-122"/>
                          <a:ea typeface="华文中宋" panose="02010600040101010101" pitchFamily="2" charset="-122"/>
                          <a:cs typeface="Times New Roman" panose="02020603050405020304"/>
                        </a:rPr>
                        <a:t>。在资源分配图中，存在一个循环等待链，其中每一个进程分别等待它的前一个进程所持有的资源。</a:t>
                      </a:r>
                      <a:endParaRPr lang="zh-CN" sz="18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93889" name="Rectangle 1"/>
          <p:cNvSpPr>
            <a:spLocks noChangeArrowheads="1"/>
          </p:cNvSpPr>
          <p:nvPr/>
        </p:nvSpPr>
        <p:spPr bwMode="auto">
          <a:xfrm>
            <a:off x="0" y="1357298"/>
            <a:ext cx="4461478" cy="461665"/>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zh-CN" sz="24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死锁的发生有如下</a:t>
            </a:r>
            <a:r>
              <a:rPr kumimoji="0" lang="zh-CN" sz="24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必要条件</a:t>
            </a:r>
            <a:r>
              <a:rPr kumimoji="0" lang="zh-CN" sz="24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endParaRPr kumimoji="0" lang="zh-CN" sz="24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0"/>
            <a:ext cx="8229600" cy="1143000"/>
          </a:xfrm>
        </p:spPr>
        <p:txBody>
          <a:bodyPr/>
          <a:lstStyle/>
          <a:p>
            <a:r>
              <a:rPr lang="en-US" altLang="zh-CN" sz="2800" dirty="0">
                <a:latin typeface="华文中宋" panose="02010600040101010101" pitchFamily="2" charset="-122"/>
                <a:ea typeface="华文中宋" panose="02010600040101010101" pitchFamily="2" charset="-122"/>
              </a:rPr>
              <a:t>                                       4.7 </a:t>
            </a:r>
            <a:r>
              <a:rPr lang="zh-CN" altLang="en-US" sz="2800" dirty="0">
                <a:latin typeface="华文中宋" panose="02010600040101010101" pitchFamily="2" charset="-122"/>
                <a:ea typeface="华文中宋" panose="02010600040101010101" pitchFamily="2" charset="-122"/>
              </a:rPr>
              <a:t>死锁的处理</a:t>
            </a:r>
            <a:endParaRPr lang="zh-CN" altLang="en-US" sz="2800" dirty="0">
              <a:latin typeface="华文中宋" panose="02010600040101010101" pitchFamily="2" charset="-122"/>
              <a:ea typeface="华文中宋" panose="02010600040101010101" pitchFamily="2" charset="-122"/>
            </a:endParaRPr>
          </a:p>
        </p:txBody>
      </p:sp>
      <p:sp>
        <p:nvSpPr>
          <p:cNvPr id="4" name="矩形 3"/>
          <p:cNvSpPr/>
          <p:nvPr/>
        </p:nvSpPr>
        <p:spPr>
          <a:xfrm>
            <a:off x="357158" y="1214422"/>
            <a:ext cx="8429684" cy="563231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2000" dirty="0">
                <a:latin typeface="华文中宋" panose="02010600040101010101" pitchFamily="2" charset="-122"/>
                <a:ea typeface="华文中宋" panose="02010600040101010101" pitchFamily="2" charset="-122"/>
              </a:rPr>
              <a:t>       死锁是一种不期望发生的系统状态，应当予以必要的处理。处理死锁的方法有三个层次：</a:t>
            </a:r>
            <a:r>
              <a:rPr lang="zh-CN" altLang="en-US" sz="2000" dirty="0">
                <a:solidFill>
                  <a:srgbClr val="FF0000"/>
                </a:solidFill>
                <a:latin typeface="华文中宋" panose="02010600040101010101" pitchFamily="2" charset="-122"/>
                <a:ea typeface="华文中宋" panose="02010600040101010101" pitchFamily="2" charset="-122"/>
              </a:rPr>
              <a:t>预防、避免和检测</a:t>
            </a:r>
            <a:r>
              <a:rPr lang="zh-CN" altLang="en-US" sz="2000" dirty="0">
                <a:latin typeface="华文中宋" panose="02010600040101010101" pitchFamily="2" charset="-122"/>
                <a:ea typeface="华文中宋" panose="02010600040101010101" pitchFamily="2" charset="-122"/>
              </a:rPr>
              <a:t>。</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a:t>
            </a:r>
            <a:r>
              <a:rPr lang="zh-CN" altLang="en-US" sz="2000" dirty="0">
                <a:solidFill>
                  <a:srgbClr val="FF0000"/>
                </a:solidFill>
                <a:latin typeface="华文中宋" panose="02010600040101010101" pitchFamily="2" charset="-122"/>
                <a:ea typeface="华文中宋" panose="02010600040101010101" pitchFamily="2" charset="-122"/>
              </a:rPr>
              <a:t>死锁预防</a:t>
            </a:r>
            <a:r>
              <a:rPr lang="zh-CN" altLang="en-US" sz="2000" dirty="0">
                <a:latin typeface="华文中宋" panose="02010600040101010101" pitchFamily="2" charset="-122"/>
                <a:ea typeface="华文中宋" panose="02010600040101010101" pitchFamily="2" charset="-122"/>
              </a:rPr>
              <a:t>（</a:t>
            </a:r>
            <a:r>
              <a:rPr lang="en-US" sz="2000" dirty="0">
                <a:latin typeface="华文中宋" panose="02010600040101010101" pitchFamily="2" charset="-122"/>
                <a:ea typeface="华文中宋" panose="02010600040101010101" pitchFamily="2" charset="-122"/>
              </a:rPr>
              <a:t>deadlock prevention</a:t>
            </a:r>
            <a:r>
              <a:rPr lang="zh-CN" altLang="en-US" sz="2000" dirty="0">
                <a:latin typeface="华文中宋" panose="02010600040101010101" pitchFamily="2" charset="-122"/>
                <a:ea typeface="华文中宋" panose="02010600040101010101" pitchFamily="2" charset="-122"/>
              </a:rPr>
              <a:t>）是指采用某种策略来消除条件</a:t>
            </a:r>
            <a:r>
              <a:rPr lang="en-US" sz="2000" dirty="0">
                <a:latin typeface="华文中宋" panose="02010600040101010101" pitchFamily="2" charset="-122"/>
                <a:ea typeface="华文中宋" panose="02010600040101010101" pitchFamily="2" charset="-122"/>
              </a:rPr>
              <a:t>1</a:t>
            </a:r>
            <a:r>
              <a:rPr lang="zh-CN" altLang="en-US" sz="2000" dirty="0">
                <a:latin typeface="华文中宋" panose="02010600040101010101" pitchFamily="2" charset="-122"/>
                <a:ea typeface="华文中宋" panose="02010600040101010101" pitchFamily="2" charset="-122"/>
              </a:rPr>
              <a:t>至条件</a:t>
            </a:r>
            <a:r>
              <a:rPr lang="en-US" sz="2000" dirty="0">
                <a:latin typeface="华文中宋" panose="02010600040101010101" pitchFamily="2" charset="-122"/>
                <a:ea typeface="华文中宋" panose="02010600040101010101" pitchFamily="2" charset="-122"/>
              </a:rPr>
              <a:t>4</a:t>
            </a:r>
            <a:r>
              <a:rPr lang="zh-CN" altLang="en-US" sz="2000" dirty="0">
                <a:latin typeface="华文中宋" panose="02010600040101010101" pitchFamily="2" charset="-122"/>
                <a:ea typeface="华文中宋" panose="02010600040101010101" pitchFamily="2" charset="-122"/>
              </a:rPr>
              <a:t>中的一个条件的出现，使得死锁的条件不再成立，从而保证死锁不会发生；</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a:t>
            </a:r>
            <a:r>
              <a:rPr lang="zh-CN" altLang="en-US" sz="2000" dirty="0">
                <a:solidFill>
                  <a:srgbClr val="FF0000"/>
                </a:solidFill>
                <a:latin typeface="华文中宋" panose="02010600040101010101" pitchFamily="2" charset="-122"/>
                <a:ea typeface="华文中宋" panose="02010600040101010101" pitchFamily="2" charset="-122"/>
              </a:rPr>
              <a:t>死锁避免</a:t>
            </a:r>
            <a:r>
              <a:rPr lang="zh-CN" altLang="en-US" sz="2000" dirty="0">
                <a:latin typeface="华文中宋" panose="02010600040101010101" pitchFamily="2" charset="-122"/>
                <a:ea typeface="华文中宋" panose="02010600040101010101" pitchFamily="2" charset="-122"/>
              </a:rPr>
              <a:t>（</a:t>
            </a:r>
            <a:r>
              <a:rPr lang="en-US" sz="2000" dirty="0">
                <a:latin typeface="华文中宋" panose="02010600040101010101" pitchFamily="2" charset="-122"/>
                <a:ea typeface="华文中宋" panose="02010600040101010101" pitchFamily="2" charset="-122"/>
              </a:rPr>
              <a:t>deadlock avoidance</a:t>
            </a:r>
            <a:r>
              <a:rPr lang="zh-CN" altLang="en-US" sz="2000" dirty="0">
                <a:latin typeface="华文中宋" panose="02010600040101010101" pitchFamily="2" charset="-122"/>
                <a:ea typeface="华文中宋" panose="02010600040101010101" pitchFamily="2" charset="-122"/>
              </a:rPr>
              <a:t>）允许前三个必要条件，但是基于当前的资源分配状态，选择接受或拒绝当前资源分配请求，确保系统状态不会到达死锁点；</a:t>
            </a:r>
            <a:endParaRPr lang="zh-CN" altLang="en-US" sz="20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a:t>
            </a:r>
            <a:r>
              <a:rPr lang="zh-CN" altLang="en-US" sz="2000" dirty="0">
                <a:solidFill>
                  <a:srgbClr val="FF0000"/>
                </a:solidFill>
                <a:latin typeface="华文中宋" panose="02010600040101010101" pitchFamily="2" charset="-122"/>
                <a:ea typeface="华文中宋" panose="02010600040101010101" pitchFamily="2" charset="-122"/>
              </a:rPr>
              <a:t>死锁检测</a:t>
            </a:r>
            <a:r>
              <a:rPr lang="zh-CN" altLang="en-US" sz="2000" dirty="0">
                <a:latin typeface="华文中宋" panose="02010600040101010101" pitchFamily="2" charset="-122"/>
                <a:ea typeface="华文中宋" panose="02010600040101010101" pitchFamily="2" charset="-122"/>
              </a:rPr>
              <a:t>（</a:t>
            </a:r>
            <a:r>
              <a:rPr lang="en-US" sz="2000" dirty="0">
                <a:latin typeface="华文中宋" panose="02010600040101010101" pitchFamily="2" charset="-122"/>
                <a:ea typeface="华文中宋" panose="02010600040101010101" pitchFamily="2" charset="-122"/>
              </a:rPr>
              <a:t>deadlock detection</a:t>
            </a:r>
            <a:r>
              <a:rPr lang="zh-CN" altLang="en-US" sz="2000" dirty="0">
                <a:latin typeface="华文中宋" panose="02010600040101010101" pitchFamily="2" charset="-122"/>
                <a:ea typeface="华文中宋" panose="02010600040101010101" pitchFamily="2" charset="-122"/>
              </a:rPr>
              <a:t>）则不限制资源访问或约束进程行为，只要有可能，尽量授予进程请求的资源。操作系统周期性地执行一个算法检测死锁发生，若发生死锁，则把系统状态恢复到死锁前某个一致或正确的状态上。</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0"/>
            <a:ext cx="8229600" cy="1143000"/>
          </a:xfrm>
        </p:spPr>
        <p:txBody>
          <a:bodyPr/>
          <a:lstStyle/>
          <a:p>
            <a:r>
              <a:rPr lang="en-US" altLang="zh-CN" sz="2800" dirty="0">
                <a:latin typeface="华文中宋" panose="02010600040101010101" pitchFamily="2" charset="-122"/>
                <a:ea typeface="华文中宋" panose="02010600040101010101" pitchFamily="2" charset="-122"/>
              </a:rPr>
              <a:t>4.7.1 </a:t>
            </a:r>
            <a:r>
              <a:rPr lang="zh-CN" altLang="en-US" sz="2800" dirty="0">
                <a:latin typeface="华文中宋" panose="02010600040101010101" pitchFamily="2" charset="-122"/>
                <a:ea typeface="华文中宋" panose="02010600040101010101" pitchFamily="2" charset="-122"/>
              </a:rPr>
              <a:t>死锁预防</a:t>
            </a:r>
            <a:endParaRPr lang="zh-CN" altLang="en-US" sz="2800" dirty="0">
              <a:latin typeface="华文中宋" panose="02010600040101010101" pitchFamily="2" charset="-122"/>
              <a:ea typeface="华文中宋" panose="02010600040101010101" pitchFamily="2" charset="-122"/>
            </a:endParaRPr>
          </a:p>
        </p:txBody>
      </p:sp>
      <p:sp>
        <p:nvSpPr>
          <p:cNvPr id="294913" name="Rectangle 1"/>
          <p:cNvSpPr>
            <a:spLocks noChangeArrowheads="1"/>
          </p:cNvSpPr>
          <p:nvPr/>
        </p:nvSpPr>
        <p:spPr bwMode="auto">
          <a:xfrm>
            <a:off x="285720" y="1357298"/>
            <a:ext cx="8572528" cy="2576988"/>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静态分配（预分配）</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r>
              <a:rPr lang="zh-CN" altLang="en-US" dirty="0">
                <a:latin typeface="华文中宋" panose="02010600040101010101" pitchFamily="2" charset="-122"/>
                <a:ea typeface="华文中宋" panose="02010600040101010101" pitchFamily="2" charset="-122"/>
                <a:cs typeface="Calibri" panose="020F0502020204030204" pitchFamily="34" charset="0"/>
              </a:rPr>
              <a:t>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所谓静态分配是指一个进程必须在执行前就申请到它所需全部资源，并且直到它所要的资源都得到满足之后才开始执行。采用静态分配后，进程在执行中不再申请资源，因而不会出现占有了某些资源同时等待另一些资源的情况，即破坏了第二个条件的出现。静态分配策略实现简单，因而被许多操作系统采用，例如</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OS/360</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
        <p:nvSpPr>
          <p:cNvPr id="294914" name="Rectangle 2"/>
          <p:cNvSpPr>
            <a:spLocks noChangeArrowheads="1"/>
          </p:cNvSpPr>
          <p:nvPr/>
        </p:nvSpPr>
        <p:spPr bwMode="auto">
          <a:xfrm>
            <a:off x="214282" y="4143380"/>
            <a:ext cx="8572528" cy="1754326"/>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顺序分配策略</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r>
              <a:rPr lang="zh-CN" altLang="en-US" dirty="0">
                <a:latin typeface="华文中宋" panose="02010600040101010101" pitchFamily="2" charset="-122"/>
                <a:ea typeface="华文中宋" panose="02010600040101010101" pitchFamily="2" charset="-122"/>
                <a:cs typeface="Calibri" panose="020F0502020204030204" pitchFamily="34" charset="0"/>
              </a:rPr>
              <a:t>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循环等待条件可以通过定义申请资源的顺序来消除。该方法的基本思想是对系统的全部资源加以全局编号，然后规定进程申请资源时，必须按照编号的特定顺序来申请。</a:t>
            </a:r>
            <a:r>
              <a:rPr kumimoji="0" lang="zh-CN" altLang="en-US" sz="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0"/>
            <a:ext cx="8229600" cy="1143000"/>
          </a:xfrm>
        </p:spPr>
        <p:txBody>
          <a:bodyPr/>
          <a:lstStyle/>
          <a:p>
            <a:r>
              <a:rPr lang="en-US" altLang="zh-CN" sz="2800" dirty="0">
                <a:latin typeface="华文中宋" panose="02010600040101010101" pitchFamily="2" charset="-122"/>
                <a:ea typeface="华文中宋" panose="02010600040101010101" pitchFamily="2" charset="-122"/>
              </a:rPr>
              <a:t>                                           4.7.2 </a:t>
            </a:r>
            <a:r>
              <a:rPr lang="zh-CN" altLang="en-US" sz="2800" dirty="0">
                <a:latin typeface="华文中宋" panose="02010600040101010101" pitchFamily="2" charset="-122"/>
                <a:ea typeface="华文中宋" panose="02010600040101010101" pitchFamily="2" charset="-122"/>
              </a:rPr>
              <a:t>死锁避免</a:t>
            </a:r>
            <a:endParaRPr lang="zh-CN" altLang="en-US" sz="2800" dirty="0">
              <a:latin typeface="华文中宋" panose="02010600040101010101" pitchFamily="2" charset="-122"/>
              <a:ea typeface="华文中宋" panose="02010600040101010101" pitchFamily="2" charset="-122"/>
            </a:endParaRPr>
          </a:p>
        </p:txBody>
      </p:sp>
      <p:sp>
        <p:nvSpPr>
          <p:cNvPr id="4" name="矩形 3"/>
          <p:cNvSpPr/>
          <p:nvPr/>
        </p:nvSpPr>
        <p:spPr>
          <a:xfrm>
            <a:off x="500034" y="1428736"/>
            <a:ext cx="8429684" cy="258532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rPr>
              <a:t>       一个死锁避免方法是</a:t>
            </a:r>
            <a:r>
              <a:rPr lang="zh-CN" altLang="en-US" b="1" dirty="0">
                <a:latin typeface="华文中宋" panose="02010600040101010101" pitchFamily="2" charset="-122"/>
                <a:ea typeface="华文中宋" panose="02010600040101010101" pitchFamily="2" charset="-122"/>
              </a:rPr>
              <a:t>银行家算法</a:t>
            </a:r>
            <a:r>
              <a:rPr lang="zh-CN" altLang="en-US" dirty="0">
                <a:latin typeface="华文中宋" panose="02010600040101010101" pitchFamily="2" charset="-122"/>
                <a:ea typeface="华文中宋" panose="02010600040101010101" pitchFamily="2" charset="-122"/>
              </a:rPr>
              <a:t>，最初是由</a:t>
            </a:r>
            <a:r>
              <a:rPr lang="en-US" dirty="0" err="1">
                <a:latin typeface="华文中宋" panose="02010600040101010101" pitchFamily="2" charset="-122"/>
                <a:ea typeface="华文中宋" panose="02010600040101010101" pitchFamily="2" charset="-122"/>
              </a:rPr>
              <a:t>Dijkstra</a:t>
            </a:r>
            <a:r>
              <a:rPr lang="zh-CN" altLang="en-US" dirty="0">
                <a:latin typeface="华文中宋" panose="02010600040101010101" pitchFamily="2" charset="-122"/>
                <a:ea typeface="华文中宋" panose="02010600040101010101" pitchFamily="2" charset="-122"/>
              </a:rPr>
              <a:t>在</a:t>
            </a:r>
            <a:r>
              <a:rPr lang="en-US" dirty="0">
                <a:latin typeface="华文中宋" panose="02010600040101010101" pitchFamily="2" charset="-122"/>
                <a:ea typeface="华文中宋" panose="02010600040101010101" pitchFamily="2" charset="-122"/>
              </a:rPr>
              <a:t>1965</a:t>
            </a:r>
            <a:r>
              <a:rPr lang="zh-CN" altLang="en-US" dirty="0">
                <a:latin typeface="华文中宋" panose="02010600040101010101" pitchFamily="2" charset="-122"/>
                <a:ea typeface="华文中宋" panose="02010600040101010101" pitchFamily="2" charset="-122"/>
              </a:rPr>
              <a:t>年提出的。</a:t>
            </a:r>
            <a:r>
              <a:rPr lang="en-US" dirty="0" err="1">
                <a:latin typeface="华文中宋" panose="02010600040101010101" pitchFamily="2" charset="-122"/>
                <a:ea typeface="华文中宋" panose="02010600040101010101" pitchFamily="2" charset="-122"/>
              </a:rPr>
              <a:t>Dijkstra</a:t>
            </a:r>
            <a:r>
              <a:rPr lang="zh-CN" altLang="en-US" dirty="0">
                <a:latin typeface="华文中宋" panose="02010600040101010101" pitchFamily="2" charset="-122"/>
                <a:ea typeface="华文中宋" panose="02010600040101010101" pitchFamily="2" charset="-122"/>
              </a:rPr>
              <a:t>把系统比作一个银行家，它占有有限资金（资源）。银行家不可能满足所有借款人（进程）的最大需求量总和，但可以满足一部分借款人的借款需求。待这些人的借款归还后，又可把这笔资金借给他人。这样，当一借款人提出借款要求时，银行家就要进行计算，以决定是否借给他，看是否会造成银行家的资金被借光而使资金无法周转（死锁）。</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8" name="矩形 7"/>
          <p:cNvSpPr/>
          <p:nvPr/>
        </p:nvSpPr>
        <p:spPr>
          <a:xfrm>
            <a:off x="357158" y="1428736"/>
            <a:ext cx="8429684" cy="923330"/>
          </a:xfrm>
          <a:prstGeom prst="rect">
            <a:avLst/>
          </a:prstGeom>
        </p:spPr>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rPr>
              <a:t>      考虑一个具有</a:t>
            </a:r>
            <a:r>
              <a:rPr lang="en-US" i="1"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个进程和</a:t>
            </a:r>
            <a:r>
              <a:rPr lang="en-US" i="1" dirty="0">
                <a:latin typeface="华文中宋" panose="02010600040101010101" pitchFamily="2" charset="-122"/>
                <a:ea typeface="华文中宋" panose="02010600040101010101" pitchFamily="2" charset="-122"/>
              </a:rPr>
              <a:t>m</a:t>
            </a:r>
            <a:r>
              <a:rPr lang="zh-CN" altLang="en-US" dirty="0">
                <a:latin typeface="华文中宋" panose="02010600040101010101" pitchFamily="2" charset="-122"/>
                <a:ea typeface="华文中宋" panose="02010600040101010101" pitchFamily="2" charset="-122"/>
              </a:rPr>
              <a:t>种不同类型资源的系统。为了描述系统的资源分配状态，需要引入如下几个向量和矩阵。</a:t>
            </a:r>
            <a:endParaRPr lang="zh-CN" altLang="en-US" dirty="0">
              <a:latin typeface="华文中宋" panose="02010600040101010101" pitchFamily="2" charset="-122"/>
              <a:ea typeface="华文中宋" panose="02010600040101010101" pitchFamily="2" charset="-122"/>
            </a:endParaRPr>
          </a:p>
        </p:txBody>
      </p:sp>
      <p:pic>
        <p:nvPicPr>
          <p:cNvPr id="296964" name="Picture 4"/>
          <p:cNvPicPr>
            <a:picLocks noChangeAspect="1" noChangeArrowheads="1"/>
          </p:cNvPicPr>
          <p:nvPr/>
        </p:nvPicPr>
        <p:blipFill>
          <a:blip r:embed="rId1"/>
          <a:srcRect/>
          <a:stretch>
            <a:fillRect/>
          </a:stretch>
        </p:blipFill>
        <p:spPr bwMode="auto">
          <a:xfrm>
            <a:off x="785785" y="2285992"/>
            <a:ext cx="7977687" cy="4572008"/>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99010" name="Rectangle 2"/>
          <p:cNvSpPr>
            <a:spLocks noChangeArrowheads="1"/>
          </p:cNvSpPr>
          <p:nvPr/>
        </p:nvSpPr>
        <p:spPr bwMode="auto">
          <a:xfrm>
            <a:off x="285720" y="1285860"/>
            <a:ext cx="6914072" cy="1938992"/>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200000"/>
              </a:lnSpc>
              <a:spcBef>
                <a:spcPct val="0"/>
              </a:spcBef>
              <a:spcAft>
                <a:spcPct val="0"/>
              </a:spcAft>
              <a:buClrTx/>
              <a:buSzTx/>
              <a:buFontTx/>
              <a:buNone/>
            </a:pPr>
            <a:r>
              <a:rPr kumimoji="0" 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假设系统中有</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个进程（</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P1</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P2</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P3</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P4</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3</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类资源。</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1" fontAlgn="base" latinLnBrk="0" hangingPunct="1">
              <a:lnSpc>
                <a:spcPct val="2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设</a:t>
            </a:r>
            <a:r>
              <a:rPr kumimoji="0" lang="en-US" altLang="zh-CN" sz="2000" b="1" i="1"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Resouce</a:t>
            </a:r>
            <a:r>
              <a:rPr kumimoji="0" lang="en-US" altLang="zh-CN" sz="2000" b="1"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和</a:t>
            </a:r>
            <a:r>
              <a:rPr kumimoji="0" lang="en-US" altLang="zh-CN" sz="2000" b="1"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Claim </a:t>
            </a:r>
            <a:r>
              <a:rPr kumimoji="0" lang="zh-CN" altLang="en-US"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为：</a:t>
            </a:r>
            <a:endParaRPr kumimoji="0" lang="zh-CN" altLang="en-US" sz="2000" b="1"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200000"/>
              </a:lnSpc>
              <a:spcBef>
                <a:spcPct val="0"/>
              </a:spcBef>
              <a:spcAft>
                <a:spcPct val="0"/>
              </a:spcAft>
              <a:buClrTx/>
              <a:buSzTx/>
              <a:buFontTx/>
              <a:buNone/>
            </a:pPr>
            <a:r>
              <a:rPr kumimoji="0" lang="en-US" altLang="zh-CN" sz="2000" b="1"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Resource</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=(9, 3, 6)   </a:t>
            </a:r>
            <a:r>
              <a:rPr kumimoji="0" lang="en-US" altLang="zh-CN" sz="2000" b="1"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Claim </a:t>
            </a:r>
            <a:r>
              <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Calibri" panose="020F0502020204030204" pitchFamily="34" charset="0"/>
              </a:rPr>
              <a:t>=</a:t>
            </a:r>
            <a:endParaRPr kumimoji="0" lang="en-US" altLang="zh-CN" sz="20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graphicFrame>
        <p:nvGraphicFramePr>
          <p:cNvPr id="299009" name="Object 1"/>
          <p:cNvGraphicFramePr>
            <a:graphicFrameLocks noChangeAspect="1"/>
          </p:cNvGraphicFramePr>
          <p:nvPr/>
        </p:nvGraphicFramePr>
        <p:xfrm>
          <a:off x="4071934" y="2357430"/>
          <a:ext cx="1285884" cy="1694894"/>
        </p:xfrm>
        <a:graphic>
          <a:graphicData uri="http://schemas.openxmlformats.org/presentationml/2006/ole">
            <mc:AlternateContent xmlns:mc="http://schemas.openxmlformats.org/markup-compatibility/2006">
              <mc:Choice xmlns:v="urn:schemas-microsoft-com:vml" Requires="v">
                <p:oleObj spid="_x0000_s299021" name="公式" r:id="rId1" imgW="16764000" imgH="21945600" progId="Equation.3">
                  <p:embed/>
                </p:oleObj>
              </mc:Choice>
              <mc:Fallback>
                <p:oleObj name="公式" r:id="rId1" imgW="16764000" imgH="21945600" progId="Equation.3">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1934" y="2357430"/>
                        <a:ext cx="1285884" cy="16948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9011" name="Rectangle 3"/>
          <p:cNvSpPr>
            <a:spLocks noChangeArrowheads="1"/>
          </p:cNvSpPr>
          <p:nvPr/>
        </p:nvSpPr>
        <p:spPr bwMode="auto">
          <a:xfrm>
            <a:off x="0" y="1371600"/>
            <a:ext cx="9144000"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r>
              <a:rPr kumimoji="0" lang="zh-CN" altLang="en-US" sz="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矩形 6"/>
          <p:cNvSpPr/>
          <p:nvPr/>
        </p:nvSpPr>
        <p:spPr>
          <a:xfrm>
            <a:off x="571472" y="4214818"/>
            <a:ext cx="6357982" cy="369332"/>
          </a:xfrm>
          <a:prstGeom prst="rect">
            <a:avLst/>
          </a:prstGeom>
        </p:spPr>
        <p:txBody>
          <a:bodyPr wrap="square">
            <a:spAutoFit/>
          </a:bodyPr>
          <a:lstStyle/>
          <a:p>
            <a:r>
              <a:rPr lang="zh-CN" altLang="en-US" dirty="0">
                <a:latin typeface="华文中宋" panose="02010600040101010101" pitchFamily="2" charset="-122"/>
                <a:ea typeface="华文中宋" panose="02010600040101010101" pitchFamily="2" charset="-122"/>
              </a:rPr>
              <a:t>假设系统运行到一定阶段时，资源分配状态为：</a:t>
            </a:r>
            <a:endParaRPr lang="zh-CN" altLang="en-US" dirty="0">
              <a:latin typeface="华文中宋" panose="02010600040101010101" pitchFamily="2" charset="-122"/>
              <a:ea typeface="华文中宋" panose="02010600040101010101" pitchFamily="2" charset="-122"/>
            </a:endParaRPr>
          </a:p>
        </p:txBody>
      </p:sp>
      <p:pic>
        <p:nvPicPr>
          <p:cNvPr id="299012" name="Picture 4"/>
          <p:cNvPicPr>
            <a:picLocks noChangeAspect="1" noChangeArrowheads="1"/>
          </p:cNvPicPr>
          <p:nvPr/>
        </p:nvPicPr>
        <p:blipFill>
          <a:blip r:embed="rId3"/>
          <a:srcRect/>
          <a:stretch>
            <a:fillRect/>
          </a:stretch>
        </p:blipFill>
        <p:spPr bwMode="auto">
          <a:xfrm>
            <a:off x="642910" y="4800618"/>
            <a:ext cx="7549257" cy="1628778"/>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57158" y="1500174"/>
            <a:ext cx="8358246" cy="874278"/>
          </a:xfrm>
          <a:prstGeom prst="rect">
            <a:avLst/>
          </a:prstGeom>
        </p:spPr>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rPr>
              <a:t>假设在此状态下，</a:t>
            </a:r>
            <a:r>
              <a:rPr lang="en-US" dirty="0">
                <a:latin typeface="华文中宋" panose="02010600040101010101" pitchFamily="2" charset="-122"/>
                <a:ea typeface="华文中宋" panose="02010600040101010101" pitchFamily="2" charset="-122"/>
              </a:rPr>
              <a:t>P2</a:t>
            </a:r>
            <a:r>
              <a:rPr lang="zh-CN" altLang="en-US" dirty="0">
                <a:latin typeface="华文中宋" panose="02010600040101010101" pitchFamily="2" charset="-122"/>
                <a:ea typeface="华文中宋" panose="02010600040101010101" pitchFamily="2" charset="-122"/>
              </a:rPr>
              <a:t>请求一个</a:t>
            </a:r>
            <a:r>
              <a:rPr lang="en-US" dirty="0">
                <a:latin typeface="华文中宋" panose="02010600040101010101" pitchFamily="2" charset="-122"/>
                <a:ea typeface="华文中宋" panose="02010600040101010101" pitchFamily="2" charset="-122"/>
              </a:rPr>
              <a:t>R1</a:t>
            </a:r>
            <a:r>
              <a:rPr lang="zh-CN" altLang="en-US" dirty="0">
                <a:latin typeface="华文中宋" panose="02010600040101010101" pitchFamily="2" charset="-122"/>
                <a:ea typeface="华文中宋" panose="02010600040101010101" pitchFamily="2" charset="-122"/>
              </a:rPr>
              <a:t>资源和一个</a:t>
            </a:r>
            <a:r>
              <a:rPr lang="en-US" dirty="0">
                <a:latin typeface="华文中宋" panose="02010600040101010101" pitchFamily="2" charset="-122"/>
                <a:ea typeface="华文中宋" panose="02010600040101010101" pitchFamily="2" charset="-122"/>
              </a:rPr>
              <a:t>R3</a:t>
            </a:r>
            <a:r>
              <a:rPr lang="zh-CN" altLang="en-US" dirty="0">
                <a:latin typeface="华文中宋" panose="02010600040101010101" pitchFamily="2" charset="-122"/>
                <a:ea typeface="华文中宋" panose="02010600040101010101" pitchFamily="2" charset="-122"/>
              </a:rPr>
              <a:t>资源，即</a:t>
            </a:r>
            <a:r>
              <a:rPr lang="en-US" b="1" i="1" dirty="0">
                <a:latin typeface="华文中宋" panose="02010600040101010101" pitchFamily="2" charset="-122"/>
                <a:ea typeface="华文中宋" panose="02010600040101010101" pitchFamily="2" charset="-122"/>
              </a:rPr>
              <a:t>Request</a:t>
            </a:r>
            <a:r>
              <a:rPr lang="en-US" dirty="0">
                <a:latin typeface="华文中宋" panose="02010600040101010101" pitchFamily="2" charset="-122"/>
                <a:ea typeface="华文中宋" panose="02010600040101010101" pitchFamily="2" charset="-122"/>
              </a:rPr>
              <a:t>=(1, 0, 1)</a:t>
            </a:r>
            <a:r>
              <a:rPr lang="zh-CN" altLang="en-US" dirty="0">
                <a:latin typeface="华文中宋" panose="02010600040101010101" pitchFamily="2" charset="-122"/>
                <a:ea typeface="华文中宋" panose="02010600040101010101" pitchFamily="2" charset="-122"/>
              </a:rPr>
              <a:t>。如果假定同意该请求，则资源分配状态变为：</a:t>
            </a:r>
            <a:endParaRPr lang="zh-CN" altLang="en-US" dirty="0">
              <a:latin typeface="华文中宋" panose="02010600040101010101" pitchFamily="2" charset="-122"/>
              <a:ea typeface="华文中宋" panose="02010600040101010101" pitchFamily="2" charset="-122"/>
            </a:endParaRPr>
          </a:p>
        </p:txBody>
      </p:sp>
      <p:pic>
        <p:nvPicPr>
          <p:cNvPr id="300034" name="Picture 2"/>
          <p:cNvPicPr>
            <a:picLocks noChangeAspect="1" noChangeArrowheads="1"/>
          </p:cNvPicPr>
          <p:nvPr/>
        </p:nvPicPr>
        <p:blipFill>
          <a:blip r:embed="rId1"/>
          <a:srcRect/>
          <a:stretch>
            <a:fillRect/>
          </a:stretch>
        </p:blipFill>
        <p:spPr bwMode="auto">
          <a:xfrm>
            <a:off x="928662" y="2428868"/>
            <a:ext cx="6682995" cy="1562106"/>
          </a:xfrm>
          <a:prstGeom prst="rect">
            <a:avLst/>
          </a:prstGeom>
          <a:noFill/>
          <a:ln w="9525">
            <a:noFill/>
            <a:miter lim="800000"/>
            <a:headEnd/>
            <a:tailEnd/>
          </a:ln>
          <a:effectLst/>
        </p:spPr>
      </p:pic>
      <p:sp>
        <p:nvSpPr>
          <p:cNvPr id="6" name="矩形 5"/>
          <p:cNvSpPr/>
          <p:nvPr/>
        </p:nvSpPr>
        <p:spPr>
          <a:xfrm>
            <a:off x="571472" y="4000504"/>
            <a:ext cx="8001056" cy="1338828"/>
          </a:xfrm>
          <a:prstGeom prst="rect">
            <a:avLst/>
          </a:prstGeom>
        </p:spPr>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rPr>
              <a:t>     如果</a:t>
            </a:r>
            <a:r>
              <a:rPr lang="en-US" altLang="zh-CN" dirty="0">
                <a:latin typeface="华文中宋" panose="02010600040101010101" pitchFamily="2" charset="-122"/>
                <a:ea typeface="华文中宋" panose="02010600040101010101" pitchFamily="2" charset="-122"/>
              </a:rPr>
              <a:t>State2</a:t>
            </a:r>
            <a:r>
              <a:rPr lang="zh-CN" altLang="en-US" dirty="0">
                <a:latin typeface="华文中宋" panose="02010600040101010101" pitchFamily="2" charset="-122"/>
                <a:ea typeface="华文中宋" panose="02010600040101010101" pitchFamily="2" charset="-122"/>
              </a:rPr>
              <a:t>是安全的，则接受该请求，如果不是安全的，则拒绝该请求。那么下面就来考察</a:t>
            </a:r>
            <a:r>
              <a:rPr lang="en-US" b="1" dirty="0">
                <a:latin typeface="华文中宋" panose="02010600040101010101" pitchFamily="2" charset="-122"/>
                <a:ea typeface="华文中宋" panose="02010600040101010101" pitchFamily="2" charset="-122"/>
              </a:rPr>
              <a:t>State2</a:t>
            </a:r>
            <a:r>
              <a:rPr lang="zh-CN" altLang="en-US" dirty="0">
                <a:latin typeface="华文中宋" panose="02010600040101010101" pitchFamily="2" charset="-122"/>
                <a:ea typeface="华文中宋" panose="02010600040101010101" pitchFamily="2" charset="-122"/>
              </a:rPr>
              <a:t>是否安全，即</a:t>
            </a:r>
            <a:r>
              <a:rPr lang="zh-CN" altLang="en-US" dirty="0">
                <a:solidFill>
                  <a:srgbClr val="FF0000"/>
                </a:solidFill>
                <a:latin typeface="华文中宋" panose="02010600040101010101" pitchFamily="2" charset="-122"/>
                <a:ea typeface="华文中宋" panose="02010600040101010101" pitchFamily="2" charset="-122"/>
              </a:rPr>
              <a:t>考察从该状态出发，是否存在一个资源分配序列使系统中的所有进程资源需求都能满足，进而运转下去</a:t>
            </a:r>
            <a:r>
              <a:rPr lang="zh-CN" altLang="en-US"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pic>
        <p:nvPicPr>
          <p:cNvPr id="301058" name="Picture 2"/>
          <p:cNvPicPr>
            <a:picLocks noChangeAspect="1" noChangeArrowheads="1"/>
          </p:cNvPicPr>
          <p:nvPr/>
        </p:nvPicPr>
        <p:blipFill>
          <a:blip r:embed="rId1"/>
          <a:srcRect/>
          <a:stretch>
            <a:fillRect/>
          </a:stretch>
        </p:blipFill>
        <p:spPr bwMode="auto">
          <a:xfrm>
            <a:off x="866179" y="0"/>
            <a:ext cx="7134845" cy="6715148"/>
          </a:xfrm>
          <a:prstGeom prst="rect">
            <a:avLst/>
          </a:prstGeom>
          <a:noFill/>
          <a:ln w="9525">
            <a:noFill/>
            <a:miter lim="800000"/>
            <a:headEnd/>
            <a:tailEnd/>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pic>
        <p:nvPicPr>
          <p:cNvPr id="302082" name="Picture 2"/>
          <p:cNvPicPr>
            <a:picLocks noChangeAspect="1" noChangeArrowheads="1"/>
          </p:cNvPicPr>
          <p:nvPr/>
        </p:nvPicPr>
        <p:blipFill>
          <a:blip r:embed="rId1"/>
          <a:srcRect/>
          <a:stretch>
            <a:fillRect/>
          </a:stretch>
        </p:blipFill>
        <p:spPr bwMode="auto">
          <a:xfrm>
            <a:off x="0" y="0"/>
            <a:ext cx="9163842" cy="5072074"/>
          </a:xfrm>
          <a:prstGeom prst="rect">
            <a:avLst/>
          </a:prstGeom>
          <a:noFill/>
          <a:ln w="9525">
            <a:noFill/>
            <a:miter lim="800000"/>
            <a:headEnd/>
            <a:tailEnd/>
          </a:ln>
          <a:effectLst/>
        </p:spPr>
      </p:pic>
      <p:cxnSp>
        <p:nvCxnSpPr>
          <p:cNvPr id="5" name="直接连接符 4"/>
          <p:cNvCxnSpPr/>
          <p:nvPr/>
        </p:nvCxnSpPr>
        <p:spPr>
          <a:xfrm>
            <a:off x="5580112" y="4941168"/>
            <a:ext cx="331236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323528" y="1484784"/>
          <a:ext cx="8568952" cy="4680520"/>
        </p:xfrm>
        <a:graphic>
          <a:graphicData uri="http://schemas.openxmlformats.org/drawingml/2006/table">
            <a:tbl>
              <a:tblPr/>
              <a:tblGrid>
                <a:gridCol w="8568952"/>
              </a:tblGrid>
              <a:tr h="4680520">
                <a:tc>
                  <a:txBody>
                    <a:bodyPr/>
                    <a:lstStyle/>
                    <a:p>
                      <a:pPr marL="342900" lvl="0" indent="-342900" algn="just">
                        <a:lnSpc>
                          <a:spcPct val="115000"/>
                        </a:lnSpc>
                        <a:spcAft>
                          <a:spcPts val="0"/>
                        </a:spcAft>
                        <a:buFont typeface="+mj-lt"/>
                        <a:buNone/>
                      </a:pPr>
                      <a:r>
                        <a:rPr lang="zh-CN" altLang="en-US" sz="1800" kern="100" dirty="0">
                          <a:latin typeface="Times New Roman" panose="02020603050405020304"/>
                          <a:ea typeface="宋体" panose="02010600030101010101" pitchFamily="2" charset="-122"/>
                          <a:cs typeface="Times New Roman" panose="02020603050405020304"/>
                        </a:rPr>
                        <a:t>（</a:t>
                      </a:r>
                      <a:r>
                        <a:rPr lang="en-US" altLang="zh-CN" sz="1800" kern="100" dirty="0">
                          <a:latin typeface="Times New Roman" panose="02020603050405020304"/>
                          <a:ea typeface="宋体" panose="02010600030101010101" pitchFamily="2" charset="-122"/>
                          <a:cs typeface="Times New Roman" panose="02020603050405020304"/>
                        </a:rPr>
                        <a:t>1</a:t>
                      </a:r>
                      <a:r>
                        <a:rPr lang="zh-CN" alt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设</a:t>
                      </a:r>
                      <a:r>
                        <a:rPr lang="en-US" sz="1800" b="1" i="1" kern="100" dirty="0">
                          <a:latin typeface="Times New Roman" panose="02020603050405020304"/>
                          <a:ea typeface="宋体" panose="02010600030101010101" pitchFamily="2" charset="-122"/>
                          <a:cs typeface="Times New Roman" panose="02020603050405020304"/>
                        </a:rPr>
                        <a:t>Work</a:t>
                      </a: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m</a:t>
                      </a:r>
                      <a:r>
                        <a:rPr 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和</a:t>
                      </a:r>
                      <a:r>
                        <a:rPr lang="en-US" sz="1800" b="1" i="1" kern="100" dirty="0">
                          <a:latin typeface="Times New Roman" panose="02020603050405020304"/>
                          <a:ea typeface="宋体" panose="02010600030101010101" pitchFamily="2" charset="-122"/>
                          <a:cs typeface="Times New Roman" panose="02020603050405020304"/>
                        </a:rPr>
                        <a:t>Finish</a:t>
                      </a:r>
                      <a:r>
                        <a:rPr lang="en-US" sz="1800" kern="100" dirty="0">
                          <a:latin typeface="Times New Roman" panose="02020603050405020304"/>
                          <a:ea typeface="宋体" panose="02010600030101010101" pitchFamily="2" charset="-122"/>
                          <a:cs typeface="Times New Roman" panose="02020603050405020304"/>
                        </a:rPr>
                        <a:t>[</a:t>
                      </a:r>
                      <a:r>
                        <a:rPr lang="en-US" sz="1800" i="1" kern="100" dirty="0">
                          <a:latin typeface="Times New Roman" panose="02020603050405020304"/>
                          <a:ea typeface="宋体" panose="02010600030101010101" pitchFamily="2" charset="-122"/>
                          <a:cs typeface="Times New Roman" panose="02020603050405020304"/>
                        </a:rPr>
                        <a:t>n</a:t>
                      </a:r>
                      <a:r>
                        <a:rPr 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分别是长度为</a:t>
                      </a:r>
                      <a:r>
                        <a:rPr lang="en-US" sz="1800" i="1" kern="100" dirty="0">
                          <a:latin typeface="Times New Roman" panose="02020603050405020304"/>
                          <a:ea typeface="宋体" panose="02010600030101010101" pitchFamily="2" charset="-122"/>
                          <a:cs typeface="Times New Roman" panose="02020603050405020304"/>
                        </a:rPr>
                        <a:t>m</a:t>
                      </a:r>
                      <a:r>
                        <a:rPr lang="zh-CN" sz="1800" kern="100" dirty="0">
                          <a:latin typeface="Times New Roman" panose="02020603050405020304"/>
                          <a:ea typeface="宋体" panose="02010600030101010101" pitchFamily="2" charset="-122"/>
                          <a:cs typeface="Times New Roman" panose="02020603050405020304"/>
                        </a:rPr>
                        <a:t>和</a:t>
                      </a:r>
                      <a:r>
                        <a:rPr lang="en-US" sz="1800" i="1" kern="100" dirty="0">
                          <a:latin typeface="Times New Roman" panose="02020603050405020304"/>
                          <a:ea typeface="宋体" panose="02010600030101010101" pitchFamily="2" charset="-122"/>
                          <a:cs typeface="Times New Roman" panose="02020603050405020304"/>
                        </a:rPr>
                        <a:t>n</a:t>
                      </a:r>
                      <a:r>
                        <a:rPr lang="zh-CN" sz="1800" kern="100" dirty="0">
                          <a:latin typeface="Times New Roman" panose="02020603050405020304"/>
                          <a:ea typeface="宋体" panose="02010600030101010101" pitchFamily="2" charset="-122"/>
                          <a:cs typeface="Times New Roman" panose="02020603050405020304"/>
                        </a:rPr>
                        <a:t>的向量。开始时，</a:t>
                      </a:r>
                      <a:endParaRPr lang="zh-CN" sz="1800" kern="100" dirty="0">
                        <a:latin typeface="Calibri" panose="020F0502020204030204"/>
                        <a:ea typeface="宋体" panose="02010600030101010101" pitchFamily="2" charset="-122"/>
                        <a:cs typeface="Times New Roman" panose="02020603050405020304"/>
                      </a:endParaRPr>
                    </a:p>
                    <a:p>
                      <a:pPr marL="228600" indent="266700" algn="just">
                        <a:lnSpc>
                          <a:spcPct val="115000"/>
                        </a:lnSpc>
                        <a:spcAft>
                          <a:spcPts val="0"/>
                        </a:spcAft>
                      </a:pPr>
                      <a:r>
                        <a:rPr lang="en-US" sz="1800" b="1" i="1" kern="100" dirty="0">
                          <a:latin typeface="Times New Roman" panose="02020603050405020304"/>
                          <a:ea typeface="宋体" panose="02010600030101010101" pitchFamily="2" charset="-122"/>
                          <a:cs typeface="Times New Roman" panose="02020603050405020304"/>
                        </a:rPr>
                        <a:t>Work </a:t>
                      </a:r>
                      <a:r>
                        <a:rPr lang="en-US" sz="1800" kern="100" dirty="0">
                          <a:latin typeface="Times New Roman" panose="02020603050405020304"/>
                          <a:ea typeface="宋体" panose="02010600030101010101" pitchFamily="2" charset="-122"/>
                          <a:cs typeface="Times New Roman" panose="02020603050405020304"/>
                        </a:rPr>
                        <a:t>:=</a:t>
                      </a:r>
                      <a:r>
                        <a:rPr lang="en-US" sz="1800" b="1" i="1" kern="100" dirty="0">
                          <a:latin typeface="Times New Roman" panose="02020603050405020304"/>
                          <a:ea typeface="宋体" panose="02010600030101010101" pitchFamily="2" charset="-122"/>
                          <a:cs typeface="Times New Roman" panose="02020603050405020304"/>
                        </a:rPr>
                        <a:t>Available</a:t>
                      </a:r>
                      <a:r>
                        <a:rPr lang="zh-CN" sz="1800" kern="100" dirty="0">
                          <a:latin typeface="Times New Roman" panose="02020603050405020304"/>
                          <a:ea typeface="宋体" panose="02010600030101010101" pitchFamily="2" charset="-122"/>
                          <a:cs typeface="Times New Roman" panose="02020603050405020304"/>
                        </a:rPr>
                        <a:t>，</a:t>
                      </a:r>
                      <a:r>
                        <a:rPr lang="en-US" sz="1800" b="1" i="1" kern="100" dirty="0">
                          <a:latin typeface="Times New Roman" panose="02020603050405020304"/>
                          <a:ea typeface="宋体" panose="02010600030101010101" pitchFamily="2" charset="-122"/>
                          <a:cs typeface="Times New Roman" panose="02020603050405020304"/>
                        </a:rPr>
                        <a:t>Finish</a:t>
                      </a:r>
                      <a:r>
                        <a:rPr lang="en-US" sz="1800" kern="100" dirty="0">
                          <a:latin typeface="Times New Roman" panose="02020603050405020304"/>
                          <a:ea typeface="宋体" panose="02010600030101010101" pitchFamily="2" charset="-122"/>
                          <a:cs typeface="Times New Roman" panose="02020603050405020304"/>
                        </a:rPr>
                        <a:t>[</a:t>
                      </a:r>
                      <a:r>
                        <a:rPr lang="en-US" sz="1800" i="1" kern="100" dirty="0" err="1">
                          <a:latin typeface="Times New Roman" panose="02020603050405020304"/>
                          <a:ea typeface="宋体" panose="02010600030101010101" pitchFamily="2" charset="-122"/>
                          <a:cs typeface="Times New Roman" panose="02020603050405020304"/>
                        </a:rPr>
                        <a:t>i</a:t>
                      </a:r>
                      <a:r>
                        <a:rPr lang="en-US" sz="1800" kern="100" dirty="0">
                          <a:latin typeface="Times New Roman" panose="02020603050405020304"/>
                          <a:ea typeface="宋体" panose="02010600030101010101" pitchFamily="2" charset="-122"/>
                          <a:cs typeface="Times New Roman" panose="02020603050405020304"/>
                        </a:rPr>
                        <a:t>] :=false</a:t>
                      </a:r>
                      <a:r>
                        <a:rPr lang="zh-CN" sz="1800" kern="100" dirty="0">
                          <a:latin typeface="Times New Roman" panose="02020603050405020304"/>
                          <a:ea typeface="宋体" panose="02010600030101010101" pitchFamily="2" charset="-122"/>
                          <a:cs typeface="Times New Roman" panose="02020603050405020304"/>
                        </a:rPr>
                        <a:t>，</a:t>
                      </a:r>
                      <a:r>
                        <a:rPr lang="en-US" sz="1800" i="1" kern="100" dirty="0" err="1">
                          <a:latin typeface="Times New Roman" panose="02020603050405020304"/>
                          <a:ea typeface="宋体" panose="02010600030101010101" pitchFamily="2" charset="-122"/>
                          <a:cs typeface="Times New Roman" panose="02020603050405020304"/>
                        </a:rPr>
                        <a:t>i</a:t>
                      </a:r>
                      <a:r>
                        <a:rPr lang="en-US" sz="1800" kern="100" dirty="0">
                          <a:latin typeface="Times New Roman" panose="02020603050405020304"/>
                          <a:ea typeface="宋体" panose="02010600030101010101" pitchFamily="2" charset="-122"/>
                          <a:cs typeface="Times New Roman" panose="02020603050405020304"/>
                        </a:rPr>
                        <a:t>=1,2,…,</a:t>
                      </a:r>
                      <a:r>
                        <a:rPr lang="en-US" sz="1800" i="1" kern="100" dirty="0">
                          <a:latin typeface="Times New Roman" panose="02020603050405020304"/>
                          <a:ea typeface="宋体" panose="02010600030101010101" pitchFamily="2" charset="-122"/>
                          <a:cs typeface="Times New Roman" panose="02020603050405020304"/>
                        </a:rPr>
                        <a:t>n</a:t>
                      </a:r>
                      <a:r>
                        <a:rPr lang="zh-CN"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lnSpc>
                          <a:spcPct val="115000"/>
                        </a:lnSpc>
                        <a:spcAft>
                          <a:spcPts val="0"/>
                        </a:spcAft>
                        <a:buFont typeface="+mj-lt"/>
                        <a:buNone/>
                      </a:pPr>
                      <a:r>
                        <a:rPr lang="zh-CN" altLang="en-US" sz="1800" kern="100" dirty="0">
                          <a:latin typeface="Times New Roman" panose="02020603050405020304"/>
                          <a:ea typeface="宋体" panose="02010600030101010101" pitchFamily="2" charset="-122"/>
                          <a:cs typeface="Times New Roman" panose="02020603050405020304"/>
                        </a:rPr>
                        <a:t>（</a:t>
                      </a:r>
                      <a:r>
                        <a:rPr lang="en-US" altLang="zh-CN" sz="1800" kern="100" dirty="0">
                          <a:latin typeface="Times New Roman" panose="02020603050405020304"/>
                          <a:ea typeface="宋体" panose="02010600030101010101" pitchFamily="2" charset="-122"/>
                          <a:cs typeface="Times New Roman" panose="02020603050405020304"/>
                        </a:rPr>
                        <a:t>2</a:t>
                      </a:r>
                      <a:r>
                        <a:rPr lang="zh-CN" alt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在</a:t>
                      </a:r>
                      <a:r>
                        <a:rPr lang="en-US" sz="1800" b="1" i="1" kern="100" dirty="0">
                          <a:latin typeface="Times New Roman" panose="02020603050405020304"/>
                          <a:ea typeface="宋体" panose="02010600030101010101" pitchFamily="2" charset="-122"/>
                          <a:cs typeface="Times New Roman" panose="02020603050405020304"/>
                        </a:rPr>
                        <a:t>Need</a:t>
                      </a:r>
                      <a:r>
                        <a:rPr lang="zh-CN" sz="1800" kern="100" dirty="0">
                          <a:latin typeface="Times New Roman" panose="02020603050405020304"/>
                          <a:ea typeface="宋体" panose="02010600030101010101" pitchFamily="2" charset="-122"/>
                          <a:cs typeface="Times New Roman" panose="02020603050405020304"/>
                        </a:rPr>
                        <a:t>矩阵中找一个</a:t>
                      </a:r>
                      <a:r>
                        <a:rPr lang="en-US" sz="1800" i="1" kern="100" dirty="0" err="1">
                          <a:latin typeface="Times New Roman" panose="02020603050405020304"/>
                          <a:ea typeface="宋体" panose="02010600030101010101" pitchFamily="2" charset="-122"/>
                          <a:cs typeface="Times New Roman" panose="02020603050405020304"/>
                        </a:rPr>
                        <a:t>i</a:t>
                      </a:r>
                      <a:r>
                        <a:rPr lang="zh-CN" sz="1800" kern="100" dirty="0">
                          <a:latin typeface="Times New Roman" panose="02020603050405020304"/>
                          <a:ea typeface="宋体" panose="02010600030101010101" pitchFamily="2" charset="-122"/>
                          <a:cs typeface="Times New Roman" panose="02020603050405020304"/>
                        </a:rPr>
                        <a:t>，使得</a:t>
                      </a:r>
                      <a:endParaRPr lang="zh-CN" sz="1800" kern="100" dirty="0">
                        <a:latin typeface="Calibri" panose="020F0502020204030204"/>
                        <a:ea typeface="宋体" panose="02010600030101010101" pitchFamily="2" charset="-122"/>
                        <a:cs typeface="Times New Roman" panose="02020603050405020304"/>
                      </a:endParaRPr>
                    </a:p>
                    <a:p>
                      <a:pPr marL="228600" indent="266700" algn="ctr">
                        <a:lnSpc>
                          <a:spcPct val="115000"/>
                        </a:lnSpc>
                        <a:spcAft>
                          <a:spcPts val="0"/>
                        </a:spcAft>
                      </a:pPr>
                      <a:r>
                        <a:rPr lang="en-US" sz="1800" b="1" i="1" kern="100" dirty="0">
                          <a:latin typeface="Times New Roman" panose="02020603050405020304"/>
                          <a:ea typeface="宋体" panose="02010600030101010101" pitchFamily="2" charset="-122"/>
                          <a:cs typeface="Times New Roman" panose="02020603050405020304"/>
                        </a:rPr>
                        <a:t>Finish</a:t>
                      </a:r>
                      <a:r>
                        <a:rPr lang="en-US" sz="1800" kern="100" dirty="0">
                          <a:latin typeface="Times New Roman" panose="02020603050405020304"/>
                          <a:ea typeface="宋体" panose="02010600030101010101" pitchFamily="2" charset="-122"/>
                          <a:cs typeface="Times New Roman" panose="02020603050405020304"/>
                        </a:rPr>
                        <a:t>[</a:t>
                      </a:r>
                      <a:r>
                        <a:rPr lang="en-US" sz="1800" i="1" kern="100" dirty="0" err="1">
                          <a:latin typeface="Times New Roman" panose="02020603050405020304"/>
                          <a:ea typeface="宋体" panose="02010600030101010101" pitchFamily="2" charset="-122"/>
                          <a:cs typeface="Times New Roman" panose="02020603050405020304"/>
                        </a:rPr>
                        <a:t>i</a:t>
                      </a:r>
                      <a:r>
                        <a:rPr lang="en-US" sz="1800" kern="100" dirty="0">
                          <a:latin typeface="Times New Roman" panose="02020603050405020304"/>
                          <a:ea typeface="宋体" panose="02010600030101010101" pitchFamily="2" charset="-122"/>
                          <a:cs typeface="Times New Roman" panose="02020603050405020304"/>
                        </a:rPr>
                        <a:t>]=false /\ </a:t>
                      </a:r>
                      <a:r>
                        <a:rPr lang="en-US" sz="1800" b="1" i="1" kern="100" dirty="0" err="1">
                          <a:latin typeface="Times New Roman" panose="02020603050405020304"/>
                          <a:ea typeface="宋体" panose="02010600030101010101" pitchFamily="2" charset="-122"/>
                          <a:cs typeface="Times New Roman" panose="02020603050405020304"/>
                        </a:rPr>
                        <a:t>Need</a:t>
                      </a:r>
                      <a:r>
                        <a:rPr lang="en-US" sz="1800" i="1" kern="100" baseline="-25000" dirty="0" err="1">
                          <a:latin typeface="Times New Roman" panose="02020603050405020304"/>
                          <a:ea typeface="宋体" panose="02010600030101010101" pitchFamily="2" charset="-122"/>
                          <a:cs typeface="Times New Roman" panose="02020603050405020304"/>
                        </a:rPr>
                        <a:t>i</a:t>
                      </a:r>
                      <a:r>
                        <a:rPr lang="en-US" sz="1800" i="1" kern="100" baseline="-25000" dirty="0">
                          <a:latin typeface="Times New Roman" panose="02020603050405020304"/>
                          <a:ea typeface="宋体" panose="02010600030101010101" pitchFamily="2" charset="-122"/>
                          <a:cs typeface="Times New Roman" panose="02020603050405020304"/>
                        </a:rPr>
                        <a:t> </a:t>
                      </a:r>
                      <a:r>
                        <a:rPr lang="en-US" sz="1800" kern="100" dirty="0">
                          <a:latin typeface="Times New Roman" panose="02020603050405020304"/>
                          <a:ea typeface="宋体" panose="02010600030101010101" pitchFamily="2" charset="-122"/>
                          <a:cs typeface="Times New Roman" panose="02020603050405020304"/>
                        </a:rPr>
                        <a:t>≤ </a:t>
                      </a:r>
                      <a:r>
                        <a:rPr lang="en-US" sz="1800" b="1" i="1" kern="100" dirty="0">
                          <a:latin typeface="Times New Roman" panose="02020603050405020304"/>
                          <a:ea typeface="宋体" panose="02010600030101010101" pitchFamily="2" charset="-122"/>
                          <a:cs typeface="Times New Roman" panose="02020603050405020304"/>
                        </a:rPr>
                        <a:t>Work</a:t>
                      </a:r>
                      <a:endParaRPr lang="zh-CN" sz="1800" kern="100" dirty="0">
                        <a:latin typeface="Calibri" panose="020F0502020204030204"/>
                        <a:ea typeface="宋体" panose="02010600030101010101" pitchFamily="2" charset="-122"/>
                        <a:cs typeface="Times New Roman" panose="02020603050405020304"/>
                      </a:endParaRPr>
                    </a:p>
                    <a:p>
                      <a:pPr marL="228600" indent="266700" algn="just">
                        <a:lnSpc>
                          <a:spcPct val="115000"/>
                        </a:lnSpc>
                        <a:spcAft>
                          <a:spcPts val="0"/>
                        </a:spcAft>
                      </a:pPr>
                      <a:r>
                        <a:rPr lang="zh-CN" sz="1800" kern="100" dirty="0">
                          <a:latin typeface="Times New Roman" panose="02020603050405020304"/>
                          <a:ea typeface="宋体" panose="02010600030101010101" pitchFamily="2" charset="-122"/>
                          <a:cs typeface="Times New Roman" panose="02020603050405020304"/>
                        </a:rPr>
                        <a:t>如果这样的</a:t>
                      </a:r>
                      <a:r>
                        <a:rPr lang="en-US" sz="1800" i="1" kern="100" dirty="0" err="1">
                          <a:latin typeface="Times New Roman" panose="02020603050405020304"/>
                          <a:ea typeface="宋体" panose="02010600030101010101" pitchFamily="2" charset="-122"/>
                          <a:cs typeface="Times New Roman" panose="02020603050405020304"/>
                        </a:rPr>
                        <a:t>i</a:t>
                      </a:r>
                      <a:r>
                        <a:rPr lang="zh-CN" sz="1800" kern="100" dirty="0">
                          <a:latin typeface="Times New Roman" panose="02020603050405020304"/>
                          <a:ea typeface="宋体" panose="02010600030101010101" pitchFamily="2" charset="-122"/>
                          <a:cs typeface="Times New Roman" panose="02020603050405020304"/>
                        </a:rPr>
                        <a:t>不存在，执行步骤</a:t>
                      </a:r>
                      <a:r>
                        <a:rPr lang="en-US" sz="1800" kern="100" dirty="0">
                          <a:latin typeface="Times New Roman" panose="02020603050405020304"/>
                          <a:ea typeface="宋体" panose="02010600030101010101" pitchFamily="2" charset="-122"/>
                          <a:cs typeface="Times New Roman" panose="02020603050405020304"/>
                        </a:rPr>
                        <a:t>4</a:t>
                      </a:r>
                      <a:r>
                        <a:rPr lang="zh-CN"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lnSpc>
                          <a:spcPct val="115000"/>
                        </a:lnSpc>
                        <a:spcAft>
                          <a:spcPts val="0"/>
                        </a:spcAft>
                        <a:buFont typeface="+mj-lt"/>
                        <a:buNone/>
                      </a:pPr>
                      <a:r>
                        <a:rPr lang="zh-CN" altLang="en-US" sz="1800" b="0" i="0" kern="100" dirty="0">
                          <a:latin typeface="Times New Roman" panose="02020603050405020304"/>
                          <a:ea typeface="宋体" panose="02010600030101010101" pitchFamily="2" charset="-122"/>
                          <a:cs typeface="Times New Roman" panose="02020603050405020304"/>
                        </a:rPr>
                        <a:t>（</a:t>
                      </a:r>
                      <a:r>
                        <a:rPr lang="en-US" altLang="zh-CN" sz="1800" b="0" i="0" kern="100" dirty="0">
                          <a:latin typeface="Times New Roman" panose="02020603050405020304"/>
                          <a:ea typeface="宋体" panose="02010600030101010101" pitchFamily="2" charset="-122"/>
                          <a:cs typeface="Times New Roman" panose="02020603050405020304"/>
                        </a:rPr>
                        <a:t>3</a:t>
                      </a:r>
                      <a:r>
                        <a:rPr lang="zh-CN" altLang="en-US" sz="1800" b="0" i="0" kern="100" dirty="0">
                          <a:latin typeface="Times New Roman" panose="02020603050405020304"/>
                          <a:ea typeface="宋体" panose="02010600030101010101" pitchFamily="2" charset="-122"/>
                          <a:cs typeface="Times New Roman" panose="02020603050405020304"/>
                        </a:rPr>
                        <a:t>）</a:t>
                      </a:r>
                      <a:r>
                        <a:rPr lang="en-US" sz="1800" b="1" i="1" kern="100" dirty="0">
                          <a:latin typeface="Times New Roman" panose="02020603050405020304"/>
                          <a:ea typeface="宋体" panose="02010600030101010101" pitchFamily="2" charset="-122"/>
                          <a:cs typeface="Times New Roman" panose="02020603050405020304"/>
                        </a:rPr>
                        <a:t>Work </a:t>
                      </a:r>
                      <a:r>
                        <a:rPr lang="en-US" sz="1800" kern="100" dirty="0">
                          <a:latin typeface="Times New Roman" panose="02020603050405020304"/>
                          <a:ea typeface="宋体" panose="02010600030101010101" pitchFamily="2" charset="-122"/>
                          <a:cs typeface="Times New Roman" panose="02020603050405020304"/>
                        </a:rPr>
                        <a:t>:= </a:t>
                      </a:r>
                      <a:r>
                        <a:rPr lang="en-US" sz="1800" b="1" i="1" kern="100" dirty="0" err="1">
                          <a:latin typeface="Times New Roman" panose="02020603050405020304"/>
                          <a:ea typeface="宋体" panose="02010600030101010101" pitchFamily="2" charset="-122"/>
                          <a:cs typeface="Times New Roman" panose="02020603050405020304"/>
                        </a:rPr>
                        <a:t>Work</a:t>
                      </a:r>
                      <a:r>
                        <a:rPr lang="en-US" sz="1800" kern="100" dirty="0" err="1">
                          <a:latin typeface="Times New Roman" panose="02020603050405020304"/>
                          <a:ea typeface="宋体" panose="02010600030101010101" pitchFamily="2" charset="-122"/>
                          <a:cs typeface="Times New Roman" panose="02020603050405020304"/>
                        </a:rPr>
                        <a:t>+</a:t>
                      </a:r>
                      <a:r>
                        <a:rPr lang="en-US" sz="1800" b="1" i="1" kern="100" dirty="0" err="1">
                          <a:latin typeface="Times New Roman" panose="02020603050405020304"/>
                          <a:ea typeface="宋体" panose="02010600030101010101" pitchFamily="2" charset="-122"/>
                          <a:cs typeface="Times New Roman" panose="02020603050405020304"/>
                        </a:rPr>
                        <a:t>Allocate</a:t>
                      </a:r>
                      <a:r>
                        <a:rPr lang="en-US" sz="1800" i="1" kern="100" baseline="-25000" dirty="0" err="1">
                          <a:latin typeface="Times New Roman" panose="02020603050405020304"/>
                          <a:ea typeface="宋体" panose="02010600030101010101" pitchFamily="2" charset="-122"/>
                          <a:cs typeface="Times New Roman" panose="02020603050405020304"/>
                        </a:rPr>
                        <a:t>i</a:t>
                      </a:r>
                      <a:endParaRPr lang="zh-CN" sz="1800" kern="100" dirty="0">
                        <a:latin typeface="Calibri" panose="020F0502020204030204"/>
                        <a:ea typeface="宋体" panose="02010600030101010101" pitchFamily="2" charset="-122"/>
                        <a:cs typeface="Times New Roman" panose="02020603050405020304"/>
                      </a:endParaRPr>
                    </a:p>
                    <a:p>
                      <a:pPr marL="228600" indent="266700" algn="just">
                        <a:lnSpc>
                          <a:spcPct val="115000"/>
                        </a:lnSpc>
                        <a:spcAft>
                          <a:spcPts val="0"/>
                        </a:spcAft>
                      </a:pPr>
                      <a:r>
                        <a:rPr lang="en-US" sz="1800" b="1" i="1" kern="100" dirty="0">
                          <a:latin typeface="Times New Roman" panose="02020603050405020304"/>
                          <a:ea typeface="宋体" panose="02010600030101010101" pitchFamily="2" charset="-122"/>
                          <a:cs typeface="Times New Roman" panose="02020603050405020304"/>
                        </a:rPr>
                        <a:t>Finish</a:t>
                      </a:r>
                      <a:r>
                        <a:rPr lang="en-US" sz="1800" kern="100" dirty="0">
                          <a:latin typeface="Times New Roman" panose="02020603050405020304"/>
                          <a:ea typeface="宋体" panose="02010600030101010101" pitchFamily="2" charset="-122"/>
                          <a:cs typeface="Times New Roman" panose="02020603050405020304"/>
                        </a:rPr>
                        <a:t>[</a:t>
                      </a:r>
                      <a:r>
                        <a:rPr lang="en-US" sz="1800" i="1" kern="100" dirty="0" err="1">
                          <a:latin typeface="Times New Roman" panose="02020603050405020304"/>
                          <a:ea typeface="宋体" panose="02010600030101010101" pitchFamily="2" charset="-122"/>
                          <a:cs typeface="Times New Roman" panose="02020603050405020304"/>
                        </a:rPr>
                        <a:t>i</a:t>
                      </a:r>
                      <a:r>
                        <a:rPr lang="en-US" sz="1800" kern="100" dirty="0">
                          <a:latin typeface="Times New Roman" panose="02020603050405020304"/>
                          <a:ea typeface="宋体" panose="02010600030101010101" pitchFamily="2" charset="-122"/>
                          <a:cs typeface="Times New Roman" panose="02020603050405020304"/>
                        </a:rPr>
                        <a:t>] :=true</a:t>
                      </a:r>
                      <a:endParaRPr lang="zh-CN" sz="1800" kern="100" dirty="0">
                        <a:latin typeface="Calibri" panose="020F0502020204030204"/>
                        <a:ea typeface="宋体" panose="02010600030101010101" pitchFamily="2" charset="-122"/>
                        <a:cs typeface="Times New Roman" panose="02020603050405020304"/>
                      </a:endParaRPr>
                    </a:p>
                    <a:p>
                      <a:pPr marL="228600" indent="266700" algn="just">
                        <a:lnSpc>
                          <a:spcPct val="115000"/>
                        </a:lnSpc>
                        <a:spcAft>
                          <a:spcPts val="0"/>
                        </a:spcAft>
                      </a:pPr>
                      <a:r>
                        <a:rPr lang="zh-CN" sz="1800" kern="100" dirty="0">
                          <a:latin typeface="Times New Roman" panose="02020603050405020304"/>
                          <a:ea typeface="宋体" panose="02010600030101010101" pitchFamily="2" charset="-122"/>
                          <a:cs typeface="Times New Roman" panose="02020603050405020304"/>
                        </a:rPr>
                        <a:t>返回步骤</a:t>
                      </a:r>
                      <a:r>
                        <a:rPr lang="en-US" sz="1800" kern="100" dirty="0">
                          <a:latin typeface="Times New Roman" panose="02020603050405020304"/>
                          <a:ea typeface="宋体" panose="02010600030101010101" pitchFamily="2" charset="-122"/>
                          <a:cs typeface="Times New Roman" panose="02020603050405020304"/>
                        </a:rPr>
                        <a:t>2</a:t>
                      </a:r>
                      <a:r>
                        <a:rPr lang="zh-CN" sz="1800" kern="100" dirty="0">
                          <a:latin typeface="Times New Roman" panose="02020603050405020304"/>
                          <a:ea typeface="宋体" panose="02010600030101010101" pitchFamily="2" charset="-122"/>
                          <a:cs typeface="Times New Roman" panose="02020603050405020304"/>
                        </a:rPr>
                        <a:t>。</a:t>
                      </a:r>
                      <a:endParaRPr lang="zh-CN" sz="1800" kern="100" dirty="0">
                        <a:latin typeface="Calibri" panose="020F0502020204030204"/>
                        <a:ea typeface="宋体" panose="02010600030101010101" pitchFamily="2" charset="-122"/>
                        <a:cs typeface="Times New Roman" panose="02020603050405020304"/>
                      </a:endParaRPr>
                    </a:p>
                    <a:p>
                      <a:pPr marL="342900" lvl="0" indent="-342900" algn="just">
                        <a:lnSpc>
                          <a:spcPct val="115000"/>
                        </a:lnSpc>
                        <a:spcAft>
                          <a:spcPts val="0"/>
                        </a:spcAft>
                        <a:buFont typeface="+mj-lt"/>
                        <a:buNone/>
                      </a:pPr>
                      <a:r>
                        <a:rPr lang="zh-CN" altLang="en-US" sz="1800" kern="100" dirty="0">
                          <a:latin typeface="Times New Roman" panose="02020603050405020304"/>
                          <a:ea typeface="宋体" panose="02010600030101010101" pitchFamily="2" charset="-122"/>
                          <a:cs typeface="Times New Roman" panose="02020603050405020304"/>
                        </a:rPr>
                        <a:t>（</a:t>
                      </a:r>
                      <a:r>
                        <a:rPr lang="en-US" altLang="zh-CN" sz="1800" kern="100" dirty="0">
                          <a:latin typeface="Times New Roman" panose="02020603050405020304"/>
                          <a:ea typeface="宋体" panose="02010600030101010101" pitchFamily="2" charset="-122"/>
                          <a:cs typeface="Times New Roman" panose="02020603050405020304"/>
                        </a:rPr>
                        <a:t>4</a:t>
                      </a:r>
                      <a:r>
                        <a:rPr lang="zh-CN" alt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如果对于所有的</a:t>
                      </a:r>
                      <a:r>
                        <a:rPr lang="en-US" sz="1800" i="1" kern="100" dirty="0" err="1">
                          <a:latin typeface="Times New Roman" panose="02020603050405020304"/>
                          <a:ea typeface="宋体" panose="02010600030101010101" pitchFamily="2" charset="-122"/>
                          <a:cs typeface="Times New Roman" panose="02020603050405020304"/>
                        </a:rPr>
                        <a:t>i</a:t>
                      </a:r>
                      <a:r>
                        <a:rPr lang="en-US" sz="1800" kern="100" dirty="0">
                          <a:latin typeface="Times New Roman" panose="02020603050405020304"/>
                          <a:ea typeface="宋体" panose="02010600030101010101" pitchFamily="2" charset="-122"/>
                          <a:cs typeface="Times New Roman" panose="02020603050405020304"/>
                        </a:rPr>
                        <a:t>=1,2,…,</a:t>
                      </a:r>
                      <a:r>
                        <a:rPr lang="en-US" sz="1800" i="1" kern="100" dirty="0">
                          <a:latin typeface="Times New Roman" panose="02020603050405020304"/>
                          <a:ea typeface="宋体" panose="02010600030101010101" pitchFamily="2" charset="-122"/>
                          <a:cs typeface="Times New Roman" panose="02020603050405020304"/>
                        </a:rPr>
                        <a:t>n</a:t>
                      </a:r>
                      <a:r>
                        <a:rPr lang="zh-CN" sz="1800" kern="100" dirty="0">
                          <a:latin typeface="Times New Roman" panose="02020603050405020304"/>
                          <a:ea typeface="宋体" panose="02010600030101010101" pitchFamily="2" charset="-122"/>
                          <a:cs typeface="Times New Roman" panose="02020603050405020304"/>
                        </a:rPr>
                        <a:t>，都有</a:t>
                      </a:r>
                      <a:r>
                        <a:rPr lang="en-US" sz="1800" b="1" i="1" kern="100" dirty="0">
                          <a:latin typeface="Times New Roman" panose="02020603050405020304"/>
                          <a:ea typeface="宋体" panose="02010600030101010101" pitchFamily="2" charset="-122"/>
                          <a:cs typeface="Times New Roman" panose="02020603050405020304"/>
                        </a:rPr>
                        <a:t>Finish</a:t>
                      </a:r>
                      <a:r>
                        <a:rPr lang="en-US" sz="1800" kern="100" dirty="0">
                          <a:latin typeface="Times New Roman" panose="02020603050405020304"/>
                          <a:ea typeface="宋体" panose="02010600030101010101" pitchFamily="2" charset="-122"/>
                          <a:cs typeface="Times New Roman" panose="02020603050405020304"/>
                        </a:rPr>
                        <a:t>[</a:t>
                      </a:r>
                      <a:r>
                        <a:rPr lang="en-US" sz="1800" i="1" kern="100" dirty="0" err="1">
                          <a:latin typeface="Times New Roman" panose="02020603050405020304"/>
                          <a:ea typeface="宋体" panose="02010600030101010101" pitchFamily="2" charset="-122"/>
                          <a:cs typeface="Times New Roman" panose="02020603050405020304"/>
                        </a:rPr>
                        <a:t>i</a:t>
                      </a:r>
                      <a:r>
                        <a:rPr lang="en-US" sz="1800" kern="100" dirty="0">
                          <a:latin typeface="Times New Roman" panose="02020603050405020304"/>
                          <a:ea typeface="宋体" panose="02010600030101010101" pitchFamily="2" charset="-122"/>
                          <a:cs typeface="Times New Roman" panose="02020603050405020304"/>
                        </a:rPr>
                        <a:t>]=true</a:t>
                      </a:r>
                      <a:r>
                        <a:rPr lang="zh-CN" sz="1800" kern="100" dirty="0">
                          <a:latin typeface="Times New Roman" panose="02020603050405020304"/>
                          <a:ea typeface="宋体" panose="02010600030101010101" pitchFamily="2" charset="-122"/>
                          <a:cs typeface="Times New Roman" panose="02020603050405020304"/>
                        </a:rPr>
                        <a:t>，说明在状态</a:t>
                      </a:r>
                      <a:r>
                        <a:rPr lang="en-US" sz="1800" b="1" i="1" kern="100" dirty="0">
                          <a:latin typeface="Times New Roman" panose="02020603050405020304"/>
                          <a:ea typeface="宋体" panose="02010600030101010101" pitchFamily="2" charset="-122"/>
                          <a:cs typeface="Times New Roman" panose="02020603050405020304"/>
                        </a:rPr>
                        <a:t>Allocate</a:t>
                      </a:r>
                      <a:r>
                        <a:rPr lang="zh-CN" sz="1800" kern="100" dirty="0">
                          <a:latin typeface="Times New Roman" panose="02020603050405020304"/>
                          <a:ea typeface="宋体" panose="02010600030101010101" pitchFamily="2" charset="-122"/>
                          <a:cs typeface="Times New Roman" panose="02020603050405020304"/>
                        </a:rPr>
                        <a:t>下，存在一条资源分配序列，使系统运行完毕，则状态</a:t>
                      </a:r>
                      <a:r>
                        <a:rPr lang="en-US" sz="1800" b="1" i="1" kern="100" dirty="0">
                          <a:latin typeface="Times New Roman" panose="02020603050405020304"/>
                          <a:ea typeface="宋体" panose="02010600030101010101" pitchFamily="2" charset="-122"/>
                          <a:cs typeface="Times New Roman" panose="02020603050405020304"/>
                        </a:rPr>
                        <a:t>Allocate</a:t>
                      </a:r>
                      <a:r>
                        <a:rPr lang="zh-CN" sz="1800" kern="100" dirty="0">
                          <a:latin typeface="Times New Roman" panose="02020603050405020304"/>
                          <a:ea typeface="宋体" panose="02010600030101010101" pitchFamily="2" charset="-122"/>
                          <a:cs typeface="Times New Roman" panose="02020603050405020304"/>
                        </a:rPr>
                        <a:t>是安全状态；否则，</a:t>
                      </a:r>
                      <a:r>
                        <a:rPr lang="en-US" sz="1800" b="1" i="1" kern="100" dirty="0">
                          <a:latin typeface="Times New Roman" panose="02020603050405020304"/>
                          <a:ea typeface="宋体" panose="02010600030101010101" pitchFamily="2" charset="-122"/>
                          <a:cs typeface="Times New Roman" panose="02020603050405020304"/>
                        </a:rPr>
                        <a:t>Allocate</a:t>
                      </a:r>
                      <a:r>
                        <a:rPr lang="zh-CN" sz="1800" kern="100" dirty="0">
                          <a:latin typeface="Times New Roman" panose="02020603050405020304"/>
                          <a:ea typeface="宋体" panose="02010600030101010101" pitchFamily="2" charset="-122"/>
                          <a:cs typeface="Times New Roman" panose="02020603050405020304"/>
                        </a:rPr>
                        <a:t>状态是不安全状态。</a:t>
                      </a:r>
                      <a:endParaRPr lang="en-US" altLang="zh-CN" sz="1800" kern="100" dirty="0">
                        <a:latin typeface="Calibri" panose="020F0502020204030204"/>
                        <a:ea typeface="宋体" panose="02010600030101010101" pitchFamily="2" charset="-122"/>
                        <a:cs typeface="Times New Roman" panose="02020603050405020304"/>
                      </a:endParaRPr>
                    </a:p>
                    <a:p>
                      <a:pPr marL="342900" lvl="0" indent="-342900" algn="just">
                        <a:lnSpc>
                          <a:spcPct val="115000"/>
                        </a:lnSpc>
                        <a:spcAft>
                          <a:spcPts val="0"/>
                        </a:spcAft>
                        <a:buFont typeface="+mj-lt"/>
                        <a:buNone/>
                      </a:pPr>
                      <a:r>
                        <a:rPr lang="zh-CN" altLang="en-US" sz="1800" kern="100" dirty="0">
                          <a:latin typeface="Calibri" panose="020F0502020204030204"/>
                          <a:ea typeface="宋体" panose="02010600030101010101" pitchFamily="2" charset="-122"/>
                          <a:cs typeface="Times New Roman" panose="02020603050405020304"/>
                        </a:rPr>
                        <a:t>（</a:t>
                      </a:r>
                      <a:r>
                        <a:rPr lang="en-US" altLang="zh-CN" sz="1800" kern="100" dirty="0">
                          <a:latin typeface="Calibri" panose="020F0502020204030204"/>
                          <a:ea typeface="宋体" panose="02010600030101010101" pitchFamily="2" charset="-122"/>
                          <a:cs typeface="Times New Roman" panose="02020603050405020304"/>
                        </a:rPr>
                        <a:t>5</a:t>
                      </a:r>
                      <a:r>
                        <a:rPr lang="zh-CN" altLang="en-US" sz="1800" kern="100" dirty="0">
                          <a:latin typeface="Calibri" panose="020F05020202040302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如果在第</a:t>
                      </a:r>
                      <a:r>
                        <a:rPr lang="en-US" sz="1800" kern="100" dirty="0">
                          <a:latin typeface="Times New Roman" panose="02020603050405020304"/>
                          <a:ea typeface="宋体" panose="02010600030101010101" pitchFamily="2" charset="-122"/>
                          <a:cs typeface="Times New Roman" panose="02020603050405020304"/>
                        </a:rPr>
                        <a:t>2</a:t>
                      </a:r>
                      <a:r>
                        <a:rPr lang="zh-CN" sz="1800" kern="100" dirty="0">
                          <a:latin typeface="Times New Roman" panose="02020603050405020304"/>
                          <a:ea typeface="宋体" panose="02010600030101010101" pitchFamily="2" charset="-122"/>
                          <a:cs typeface="Times New Roman" panose="02020603050405020304"/>
                        </a:rPr>
                        <a:t>步中，存在多个</a:t>
                      </a:r>
                      <a:r>
                        <a:rPr lang="en-US" sz="1800" i="1" kern="100" dirty="0" err="1">
                          <a:latin typeface="Times New Roman" panose="02020603050405020304"/>
                          <a:ea typeface="宋体" panose="02010600030101010101" pitchFamily="2" charset="-122"/>
                          <a:cs typeface="Times New Roman" panose="02020603050405020304"/>
                        </a:rPr>
                        <a:t>i</a:t>
                      </a:r>
                      <a:r>
                        <a:rPr lang="zh-CN" sz="1800" kern="100" dirty="0">
                          <a:latin typeface="Times New Roman" panose="02020603050405020304"/>
                          <a:ea typeface="宋体" panose="02010600030101010101" pitchFamily="2" charset="-122"/>
                          <a:cs typeface="Times New Roman" panose="02020603050405020304"/>
                        </a:rPr>
                        <a:t>满足条件，无论选择哪一个都不会影响判断结果。换句话说，该算法在状态树上搜索时，选择的任意一条路径都会得到同样的结果，不需要回溯。</a:t>
                      </a:r>
                      <a:endParaRPr lang="zh-CN" sz="18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评价：</a:t>
            </a:r>
            <a:endParaRPr lang="en-US" altLang="zh-CN" dirty="0"/>
          </a:p>
          <a:p>
            <a:pPr>
              <a:buNone/>
            </a:pPr>
            <a:r>
              <a:rPr lang="en-US" altLang="zh-CN" dirty="0"/>
              <a:t>   </a:t>
            </a:r>
            <a:r>
              <a:rPr lang="zh-CN" altLang="en-US" sz="2000" dirty="0"/>
              <a:t>银行家算法比起资源静态分配法，资源利用率提高了，又避免了死锁。但它有这样几个不足：</a:t>
            </a:r>
            <a:endParaRPr lang="en-US" altLang="zh-CN" sz="2000" dirty="0"/>
          </a:p>
          <a:p>
            <a:pPr lvl="1"/>
            <a:r>
              <a:rPr lang="zh-CN" altLang="en-US" sz="2000" dirty="0"/>
              <a:t>对资源分配过于保守，没有考虑到进程获得资源后，虽然未达到其最大需求量，也可能把它释放；</a:t>
            </a:r>
            <a:endParaRPr lang="en-US" altLang="zh-CN" sz="2000" dirty="0"/>
          </a:p>
          <a:p>
            <a:pPr lvl="1"/>
            <a:r>
              <a:rPr lang="zh-CN" altLang="en-US" sz="2000" dirty="0"/>
              <a:t>算法计算量较大。每次申请都要经过计算已决定是否同意分配；</a:t>
            </a:r>
            <a:endParaRPr lang="en-US" altLang="zh-CN" sz="2000" dirty="0"/>
          </a:p>
          <a:p>
            <a:pPr lvl="1"/>
            <a:r>
              <a:rPr lang="zh-CN" altLang="en-US" sz="2000" dirty="0"/>
              <a:t>必须事先知道进程对资源的最大需求量，这往往是不实际的。</a:t>
            </a:r>
            <a:endParaRPr lang="zh-CN" alt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0"/>
            <a:ext cx="8229600" cy="1143000"/>
          </a:xfrm>
        </p:spPr>
        <p:txBody>
          <a:bodyPr/>
          <a:lstStyle/>
          <a:p>
            <a:r>
              <a:rPr lang="en-US" sz="2800" dirty="0">
                <a:latin typeface="华文中宋" panose="02010600040101010101" pitchFamily="2" charset="-122"/>
                <a:ea typeface="华文中宋" panose="02010600040101010101" pitchFamily="2" charset="-122"/>
              </a:rPr>
              <a:t>                               </a:t>
            </a:r>
            <a:r>
              <a:rPr lang="en-US" sz="2400" dirty="0">
                <a:latin typeface="华文中宋" panose="02010600040101010101" pitchFamily="2" charset="-122"/>
                <a:ea typeface="华文中宋" panose="02010600040101010101" pitchFamily="2" charset="-122"/>
              </a:rPr>
              <a:t>4.7.3 </a:t>
            </a:r>
            <a:r>
              <a:rPr lang="zh-CN" altLang="en-US" sz="2400" dirty="0">
                <a:latin typeface="华文中宋" panose="02010600040101010101" pitchFamily="2" charset="-122"/>
                <a:ea typeface="华文中宋" panose="02010600040101010101" pitchFamily="2" charset="-122"/>
              </a:rPr>
              <a:t>死锁检测</a:t>
            </a:r>
            <a:endParaRPr lang="zh-CN" altLang="en-US" sz="2400" dirty="0">
              <a:latin typeface="华文中宋" panose="02010600040101010101" pitchFamily="2" charset="-122"/>
              <a:ea typeface="华文中宋" panose="02010600040101010101" pitchFamily="2" charset="-122"/>
            </a:endParaRPr>
          </a:p>
        </p:txBody>
      </p:sp>
      <p:sp>
        <p:nvSpPr>
          <p:cNvPr id="320513" name="Rectangle 1"/>
          <p:cNvSpPr>
            <a:spLocks noChangeArrowheads="1"/>
          </p:cNvSpPr>
          <p:nvPr/>
        </p:nvSpPr>
        <p:spPr bwMode="auto">
          <a:xfrm>
            <a:off x="285720" y="1428736"/>
            <a:ext cx="8501122" cy="341632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死锁检测的基本思想是，不限制资源访问请求或约束进程行为，只要有可能，请求的资源就被授予给进程。操作系统周期性的执行一个算法检测死锁是否发生。若检测到死锁，则设法加以解除。</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死锁检测算法</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266700" algn="l" defTabSz="914400" rtl="0" eaLnBrk="0" fontAlgn="base" latinLnBrk="0" hangingPunct="0">
              <a:lnSpc>
                <a:spcPct val="15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下面描述一个常见的死锁检测算法，它使用了上一节介绍的资源分配矩阵</a:t>
            </a:r>
            <a:r>
              <a:rPr kumimoji="0" lang="en-US" altLang="zh-CN" b="1"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Allocate</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，未分配的资源向量</a:t>
            </a:r>
            <a:r>
              <a:rPr kumimoji="0" lang="en-US" altLang="zh-CN" b="1"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Available</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，此外还需要定义一个资源请求矩阵</a:t>
            </a:r>
            <a:r>
              <a:rPr kumimoji="0" lang="en-US" altLang="zh-CN" b="1" i="1"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Request</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，其中</a:t>
            </a:r>
            <a:r>
              <a:rPr kumimoji="0" lang="en-US" altLang="zh-CN" b="1" i="1" u="none" strike="noStrike" cap="none" normalizeH="0" baseline="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Request</a:t>
            </a:r>
            <a:r>
              <a:rPr kumimoji="0" lang="en-US" altLang="zh-CN" b="1" i="1" u="none" strike="noStrike" cap="none" normalizeH="0" baseline="-3000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ij</a:t>
            </a:r>
            <a:r>
              <a:rPr kumimoji="0" lang="en-US" altLang="zh-CN" b="1" i="1" u="none" strike="noStrike" cap="none" normalizeH="0" baseline="-3000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表示进程</a:t>
            </a:r>
            <a:r>
              <a:rPr kumimoji="0" lang="zh-CN" altLang="en-US" b="0" i="0" u="none" strike="noStrike" cap="none" normalizeH="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b="0" i="0" u="none" strike="noStrike" cap="none" normalizeH="0" dirty="0" err="1">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b="0" i="0" u="none" strike="noStrike" cap="none" normalizeH="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请求资源</a:t>
            </a:r>
            <a:r>
              <a:rPr lang="en-US" altLang="zh-CN" b="1" i="1" dirty="0">
                <a:latin typeface="华文中宋" panose="02010600040101010101" pitchFamily="2" charset="-122"/>
                <a:ea typeface="华文中宋" panose="02010600040101010101" pitchFamily="2" charset="-122"/>
                <a:cs typeface="Times New Roman" panose="02020603050405020304" pitchFamily="18" charset="0"/>
              </a:rPr>
              <a:t>j</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的数量。算法的工作过程与前面的银行家算法有些类似，但是其目的是要检测当前状态是否会导致死锁。</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26658" name="Picture 2"/>
          <p:cNvPicPr>
            <a:picLocks noChangeAspect="1" noChangeArrowheads="1"/>
          </p:cNvPicPr>
          <p:nvPr/>
        </p:nvPicPr>
        <p:blipFill>
          <a:blip r:embed="rId1"/>
          <a:srcRect/>
          <a:stretch>
            <a:fillRect/>
          </a:stretch>
        </p:blipFill>
        <p:spPr bwMode="auto">
          <a:xfrm>
            <a:off x="1000100" y="1357298"/>
            <a:ext cx="6800850" cy="1524000"/>
          </a:xfrm>
          <a:prstGeom prst="rect">
            <a:avLst/>
          </a:prstGeom>
          <a:noFill/>
          <a:ln w="9525">
            <a:noFill/>
            <a:miter lim="800000"/>
            <a:headEnd/>
            <a:tailEnd/>
          </a:ln>
          <a:effectLst/>
        </p:spPr>
      </p:pic>
      <p:pic>
        <p:nvPicPr>
          <p:cNvPr id="326659" name="Picture 3"/>
          <p:cNvPicPr>
            <a:picLocks noChangeAspect="1" noChangeArrowheads="1"/>
          </p:cNvPicPr>
          <p:nvPr/>
        </p:nvPicPr>
        <p:blipFill>
          <a:blip r:embed="rId2"/>
          <a:srcRect/>
          <a:stretch>
            <a:fillRect/>
          </a:stretch>
        </p:blipFill>
        <p:spPr bwMode="auto">
          <a:xfrm>
            <a:off x="1038247" y="2857496"/>
            <a:ext cx="6677025" cy="2019300"/>
          </a:xfrm>
          <a:prstGeom prst="rect">
            <a:avLst/>
          </a:prstGeom>
          <a:noFill/>
          <a:ln w="9525">
            <a:noFill/>
            <a:miter lim="800000"/>
            <a:headEnd/>
            <a:tailEnd/>
          </a:ln>
          <a:effec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4"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27683" name="Object 3"/>
          <p:cNvGraphicFramePr>
            <a:graphicFrameLocks noChangeAspect="1"/>
          </p:cNvGraphicFramePr>
          <p:nvPr/>
        </p:nvGraphicFramePr>
        <p:xfrm>
          <a:off x="-32" y="0"/>
          <a:ext cx="5498180" cy="2000240"/>
        </p:xfrm>
        <a:graphic>
          <a:graphicData uri="http://schemas.openxmlformats.org/presentationml/2006/ole">
            <mc:AlternateContent xmlns:mc="http://schemas.openxmlformats.org/markup-compatibility/2006">
              <mc:Choice xmlns:v="urn:schemas-microsoft-com:vml" Requires="v">
                <p:oleObj spid="_x0000_s327695" name="Visio" r:id="rId1" imgW="7493000" imgH="2743200" progId="Visio.Drawing.11">
                  <p:embed/>
                </p:oleObj>
              </mc:Choice>
              <mc:Fallback>
                <p:oleObj name="Visio" r:id="rId1" imgW="7493000" imgH="2743200" progId="Visio.Drawing.11">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 y="0"/>
                        <a:ext cx="5498180" cy="2000240"/>
                      </a:xfrm>
                      <a:prstGeom prst="rect">
                        <a:avLst/>
                      </a:prstGeom>
                      <a:solidFill>
                        <a:schemeClr val="bg1"/>
                      </a:solidFill>
                    </p:spPr>
                  </p:pic>
                </p:oleObj>
              </mc:Fallback>
            </mc:AlternateContent>
          </a:graphicData>
        </a:graphic>
      </p:graphicFrame>
      <p:pic>
        <p:nvPicPr>
          <p:cNvPr id="327685" name="Picture 5"/>
          <p:cNvPicPr>
            <a:picLocks noChangeAspect="1" noChangeArrowheads="1"/>
          </p:cNvPicPr>
          <p:nvPr/>
        </p:nvPicPr>
        <p:blipFill>
          <a:blip r:embed="rId3"/>
          <a:srcRect/>
          <a:stretch>
            <a:fillRect/>
          </a:stretch>
        </p:blipFill>
        <p:spPr bwMode="auto">
          <a:xfrm>
            <a:off x="571472" y="2143116"/>
            <a:ext cx="7519283" cy="3929090"/>
          </a:xfrm>
          <a:prstGeom prst="rect">
            <a:avLst/>
          </a:prstGeom>
          <a:noFill/>
          <a:ln w="9525">
            <a:noFill/>
            <a:miter lim="800000"/>
            <a:headEnd/>
            <a:tailEnd/>
          </a:ln>
          <a:effec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28705" name="Rectangle 1"/>
          <p:cNvSpPr>
            <a:spLocks noChangeArrowheads="1"/>
          </p:cNvSpPr>
          <p:nvPr/>
        </p:nvSpPr>
        <p:spPr bwMode="auto">
          <a:xfrm>
            <a:off x="214282" y="1413240"/>
            <a:ext cx="8429652" cy="5444760"/>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死锁的恢复</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一旦检测到死锁，就需要某种策略把系统恢复到死锁前的一个正确状态上去。下面按复杂度递增的顺序列出可能的方法：</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取消所有的死锁进程，这是操作系统最常用的方法；</a:t>
            </a:r>
            <a:endPar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把每个死锁进程回滚到前面定义的某些检查点（</a:t>
            </a:r>
            <a:r>
              <a:rPr kumimoji="0" lang="en-US" altLang="zh-CN"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Checkpoint</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），并且从这些检查点重新执行所有进程。这要求在系统中构造回滚和重启机制。该方法的风险是原来的死锁可能再次发生。但是，并发进程的不确定性通常能够保证不会发生这种情况；</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连续取消死锁进程，直到不再存在死锁。选择取消进程的顺序基于某种最小代价原则。在每次取消后，必须重新调用检测算法，以测试是否仍存在死锁；</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连续抢占资源，直到不再存在死锁。和前面取消进程的策略一样，需要使用一种基于代价的选择方法，并且需要在每次抢占后重新调用检测算法。一个资源被抢占的进程，必须回滚到获得这个资源之前的某一状态。</a:t>
            </a:r>
            <a:r>
              <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zh-CN" altLang="en-US"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习题</a:t>
            </a:r>
            <a:endParaRPr lang="en-US" altLang="zh-CN" dirty="0"/>
          </a:p>
          <a:p>
            <a:endParaRPr lang="en-US" altLang="zh-CN" dirty="0"/>
          </a:p>
          <a:p>
            <a:pPr>
              <a:buNone/>
            </a:pPr>
            <a:r>
              <a:rPr lang="en-US" altLang="zh-CN" dirty="0"/>
              <a:t>P143    2</a:t>
            </a:r>
            <a:r>
              <a:rPr lang="zh-CN" altLang="en-US" dirty="0"/>
              <a:t>、</a:t>
            </a:r>
            <a:r>
              <a:rPr lang="en-US" altLang="zh-CN" dirty="0"/>
              <a:t>12</a:t>
            </a:r>
            <a:r>
              <a:rPr lang="zh-CN" altLang="en-US" dirty="0"/>
              <a:t>、</a:t>
            </a:r>
            <a:r>
              <a:rPr lang="en-US" altLang="zh-CN" dirty="0"/>
              <a:t>17</a:t>
            </a:r>
            <a:r>
              <a:rPr lang="zh-CN" altLang="en-US" dirty="0"/>
              <a:t>（</a:t>
            </a:r>
            <a:r>
              <a:rPr lang="en-US" altLang="zh-CN" dirty="0"/>
              <a:t>b</a:t>
            </a:r>
            <a:r>
              <a:rPr lang="zh-CN" altLang="en-US" dirty="0"/>
              <a:t>）、</a:t>
            </a:r>
            <a:r>
              <a:rPr lang="en-US" altLang="zh-CN" dirty="0"/>
              <a:t>19</a:t>
            </a:r>
            <a:endParaRPr lang="zh-CN" altLang="en-US" dirty="0"/>
          </a:p>
        </p:txBody>
      </p:sp>
    </p:spTree>
  </p:cSld>
  <p:clrMapOvr>
    <a:masterClrMapping/>
  </p:clrMapOvr>
</p:sld>
</file>

<file path=ppt/tags/tag1.xml><?xml version="1.0" encoding="utf-8"?>
<p:tagLst xmlns:p="http://schemas.openxmlformats.org/presentationml/2006/main">
  <p:tag name="KSO_WPP_MARK_KEY" val="b86395ea-c355-4af3-a5ca-e4d0c68df1e1"/>
  <p:tag name="COMMONDATA" val="eyJoZGlkIjoiMTdlMGY2ZWU1ZTdkNjY2Nzc5OTEzOTExMmU2NDk1Nz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19815</Words>
  <Application>WPS 演示</Application>
  <PresentationFormat>全屏显示(4:3)</PresentationFormat>
  <Paragraphs>1143</Paragraphs>
  <Slides>85</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10</vt:i4>
      </vt:variant>
      <vt:variant>
        <vt:lpstr>幻灯片标题</vt:lpstr>
      </vt:variant>
      <vt:variant>
        <vt:i4>85</vt:i4>
      </vt:variant>
    </vt:vector>
  </HeadingPairs>
  <TitlesOfParts>
    <vt:vector size="109" baseType="lpstr">
      <vt:lpstr>Arial</vt:lpstr>
      <vt:lpstr>宋体</vt:lpstr>
      <vt:lpstr>Wingdings</vt:lpstr>
      <vt:lpstr>黑体</vt:lpstr>
      <vt:lpstr>华文中宋</vt:lpstr>
      <vt:lpstr>Wingdings</vt:lpstr>
      <vt:lpstr>Times New Roman</vt:lpstr>
      <vt:lpstr>Calibri</vt:lpstr>
      <vt:lpstr>Times New Roman</vt:lpstr>
      <vt:lpstr>微软雅黑</vt:lpstr>
      <vt:lpstr>Arial Unicode MS</vt:lpstr>
      <vt:lpstr>Symbol</vt:lpstr>
      <vt:lpstr>Calibri</vt:lpstr>
      <vt:lpstr>Office 主题</vt:lpstr>
      <vt:lpstr>Visio.Drawing.11</vt:lpstr>
      <vt:lpstr>Visio.Drawing.11</vt:lpstr>
      <vt:lpstr>Visio.Drawing.11</vt:lpstr>
      <vt:lpstr>Visio.Drawing.11</vt:lpstr>
      <vt:lpstr>Visio.Drawing.11</vt:lpstr>
      <vt:lpstr>Visio.Drawing.11</vt:lpstr>
      <vt:lpstr>Visio.Drawing.11</vt:lpstr>
      <vt:lpstr>Visio.Drawing.11</vt:lpstr>
      <vt:lpstr>Visio.Drawing.11</vt:lpstr>
      <vt:lpstr>Equation.3</vt:lpstr>
      <vt:lpstr>第四章 进程的并发和死锁</vt:lpstr>
      <vt:lpstr>PowerPoint 演示文稿</vt:lpstr>
      <vt:lpstr>4.1 并发问题</vt:lpstr>
      <vt:lpstr>PowerPoint 演示文稿</vt:lpstr>
      <vt:lpstr>PowerPoint 演示文稿</vt:lpstr>
      <vt:lpstr>PowerPoint 演示文稿</vt:lpstr>
      <vt:lpstr>PowerPoint 演示文稿</vt:lpstr>
      <vt:lpstr>4.2 进程的互斥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§4.4 典型并发设计问题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4.6 死锁（Deadlock）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4.6.2 哲学家就餐问题</vt:lpstr>
      <vt:lpstr>PowerPoint 演示文稿</vt:lpstr>
      <vt:lpstr>PowerPoint 演示文稿</vt:lpstr>
      <vt:lpstr>                                          4.6.3 死锁的描述</vt:lpstr>
      <vt:lpstr>PowerPoint 演示文稿</vt:lpstr>
      <vt:lpstr>PowerPoint 演示文稿</vt:lpstr>
      <vt:lpstr>PowerPoint 演示文稿</vt:lpstr>
      <vt:lpstr>                                       4.7 死锁的处理</vt:lpstr>
      <vt:lpstr>4.7.1 死锁预防</vt:lpstr>
      <vt:lpstr>                                           4.7.2 死锁避免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4.7.3 死锁检测</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操作系统教程</dc:title>
  <dc:creator>think</dc:creator>
  <cp:lastModifiedBy>WPS_1606829141</cp:lastModifiedBy>
  <cp:revision>381</cp:revision>
  <dcterms:created xsi:type="dcterms:W3CDTF">2016-08-31T08:35:00Z</dcterms:created>
  <dcterms:modified xsi:type="dcterms:W3CDTF">2023-03-02T03:04:41Z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ED36DB6118044F9A8D2455AB5AB5050E</vt:lpwstr>
  </property>
  <property fmtid="{D5CDD505-2E9C-101B-9397-08002B2CF9AE}" pid="3" name="KSOProductBuildVer">
    <vt:lpwstr>2052-11.1.0.13703</vt:lpwstr>
  </property>
</Properties>
</file>