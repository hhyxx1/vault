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3.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427" r:id="rId2"/>
    <p:sldId id="667" r:id="rId3"/>
    <p:sldId id="880" r:id="rId4"/>
    <p:sldId id="669" r:id="rId5"/>
    <p:sldId id="815" r:id="rId6"/>
    <p:sldId id="816" r:id="rId7"/>
    <p:sldId id="882" r:id="rId8"/>
    <p:sldId id="817" r:id="rId9"/>
    <p:sldId id="818" r:id="rId10"/>
    <p:sldId id="819" r:id="rId11"/>
    <p:sldId id="872" r:id="rId12"/>
    <p:sldId id="820" r:id="rId13"/>
    <p:sldId id="870" r:id="rId14"/>
    <p:sldId id="827" r:id="rId15"/>
    <p:sldId id="879" r:id="rId16"/>
    <p:sldId id="837" r:id="rId17"/>
    <p:sldId id="830" r:id="rId18"/>
    <p:sldId id="838" r:id="rId19"/>
    <p:sldId id="831" r:id="rId20"/>
    <p:sldId id="832" r:id="rId21"/>
    <p:sldId id="874" r:id="rId22"/>
    <p:sldId id="833" r:id="rId23"/>
    <p:sldId id="839" r:id="rId24"/>
    <p:sldId id="841" r:id="rId25"/>
    <p:sldId id="842" r:id="rId26"/>
    <p:sldId id="843" r:id="rId27"/>
    <p:sldId id="845" r:id="rId28"/>
    <p:sldId id="846" r:id="rId29"/>
    <p:sldId id="847" r:id="rId30"/>
    <p:sldId id="853" r:id="rId31"/>
    <p:sldId id="848" r:id="rId32"/>
    <p:sldId id="849" r:id="rId33"/>
    <p:sldId id="850" r:id="rId34"/>
    <p:sldId id="851" r:id="rId35"/>
    <p:sldId id="855" r:id="rId36"/>
    <p:sldId id="856" r:id="rId37"/>
    <p:sldId id="854" r:id="rId38"/>
    <p:sldId id="862" r:id="rId39"/>
    <p:sldId id="881" r:id="rId40"/>
    <p:sldId id="883" r:id="rId41"/>
    <p:sldId id="825" r:id="rId42"/>
    <p:sldId id="829" r:id="rId43"/>
    <p:sldId id="859" r:id="rId44"/>
    <p:sldId id="863" r:id="rId45"/>
    <p:sldId id="861" r:id="rId46"/>
    <p:sldId id="876" r:id="rId47"/>
    <p:sldId id="864" r:id="rId48"/>
    <p:sldId id="865" r:id="rId49"/>
    <p:sldId id="875" r:id="rId50"/>
    <p:sldId id="878" r:id="rId51"/>
    <p:sldId id="867" r:id="rId52"/>
    <p:sldId id="868" r:id="rId53"/>
    <p:sldId id="869"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F46C8"/>
    <a:srgbClr val="692B99"/>
    <a:srgbClr val="C8A1E5"/>
    <a:srgbClr val="FFFFFF"/>
    <a:srgbClr val="DE8300"/>
    <a:srgbClr val="9956CC"/>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9060" autoAdjust="0"/>
  </p:normalViewPr>
  <p:slideViewPr>
    <p:cSldViewPr snapToGrid="0">
      <p:cViewPr varScale="1">
        <p:scale>
          <a:sx n="54" d="100"/>
          <a:sy n="54" d="100"/>
        </p:scale>
        <p:origin x="1124" y="44"/>
      </p:cViewPr>
      <p:guideLst>
        <p:guide orient="horz" pos="2024"/>
        <p:guide pos="3838"/>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72631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答案是否定的。</a:t>
            </a:r>
          </a:p>
          <a:p>
            <a:r>
              <a:rPr lang="zh-CN" altLang="en-US" sz="1200" dirty="0"/>
              <a:t>虽然并非所有不安全状态都是死锁状态，但是</a:t>
            </a:r>
            <a:r>
              <a:rPr lang="zh-CN" altLang="en-US" sz="1200" dirty="0">
                <a:solidFill>
                  <a:srgbClr val="0000FF"/>
                </a:solidFill>
              </a:rPr>
              <a:t>进入不安全状态后就</a:t>
            </a:r>
            <a:r>
              <a:rPr lang="zh-CN" altLang="en-US" sz="1200" dirty="0">
                <a:solidFill>
                  <a:srgbClr val="FF0000"/>
                </a:solidFill>
              </a:rPr>
              <a:t>可能</a:t>
            </a:r>
            <a:r>
              <a:rPr lang="zh-CN" altLang="en-US" sz="1200" dirty="0">
                <a:solidFill>
                  <a:srgbClr val="0000FF"/>
                </a:solidFill>
              </a:rPr>
              <a:t>进入死锁状态</a:t>
            </a:r>
            <a:r>
              <a:rPr lang="zh-CN" altLang="en-US" sz="1200" dirty="0"/>
              <a:t>。反之，系统只要处于安全状态，就一定可以避免死锁。</a:t>
            </a:r>
          </a:p>
          <a:p>
            <a:r>
              <a:rPr lang="zh-CN" altLang="en-US" sz="1200" dirty="0"/>
              <a:t>由此，通过确保系统总是处于安全状态而避免死锁。</a:t>
            </a:r>
            <a:endParaRPr lang="en-US" altLang="zh-CN" sz="1200" dirty="0"/>
          </a:p>
          <a:p>
            <a:endParaRPr lang="en-US" altLang="zh-CN" sz="1200" dirty="0"/>
          </a:p>
          <a:p>
            <a:r>
              <a:rPr lang="zh-CN" altLang="en-US" sz="1200" b="1" dirty="0"/>
              <a:t>为什么不安全状态未必导致死锁？</a:t>
            </a:r>
          </a:p>
          <a:p>
            <a:r>
              <a:rPr lang="zh-CN" altLang="en-US" sz="1200" dirty="0"/>
              <a:t>寻找安全序列是根据每个进程接下来所需资源的最大需求进行判断的。而实际执行时，</a:t>
            </a:r>
            <a:r>
              <a:rPr lang="zh-CN" altLang="en-US" sz="1200" dirty="0">
                <a:solidFill>
                  <a:srgbClr val="0000FF"/>
                </a:solidFill>
              </a:rPr>
              <a:t>进程申请的资源数目不一定达到其最大需求量</a:t>
            </a:r>
            <a:r>
              <a:rPr lang="zh-CN" altLang="en-US" sz="1200" dirty="0"/>
              <a:t>。 </a:t>
            </a:r>
          </a:p>
          <a:p>
            <a:pPr marL="0" indent="0">
              <a:buNone/>
            </a:pPr>
            <a:r>
              <a:rPr lang="zh-CN" altLang="en-US" sz="1200" dirty="0"/>
              <a:t>  因而，不安全状态未必产生死锁。</a:t>
            </a:r>
          </a:p>
          <a:p>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2318044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227455"/>
            <a:ext cx="10968990" cy="502221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pic>
        <p:nvPicPr>
          <p:cNvPr id="5" name="图片 4" descr="TK5CG72_)U3`D_PXLQ1U9PP"/>
          <p:cNvPicPr>
            <a:picLocks noChangeAspect="1"/>
          </p:cNvPicPr>
          <p:nvPr userDrawn="1"/>
        </p:nvPicPr>
        <p:blipFill>
          <a:blip r:embed="rId5"/>
          <a:stretch>
            <a:fillRect/>
          </a:stretch>
        </p:blipFill>
        <p:spPr>
          <a:xfrm>
            <a:off x="11351895" y="73660"/>
            <a:ext cx="715645" cy="785495"/>
          </a:xfrm>
          <a:prstGeom prst="rect">
            <a:avLst/>
          </a:prstGeom>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2025/10/26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2025/10/26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2025/10/26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2025/10/26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2025/10/26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2025/10/26</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random/>
      </p:transition>
    </mc:Choice>
    <mc:Fallback xmlns="">
      <p:transition>
        <p:random/>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8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pPr algn="l"/>
            <a:r>
              <a:rPr lang="zh-CN" altLang="zh-CN" sz="5400" dirty="0">
                <a:solidFill>
                  <a:schemeClr val="accent1">
                    <a:lumMod val="75000"/>
                  </a:schemeClr>
                </a:solidFill>
              </a:rPr>
              <a:t>第</a:t>
            </a:r>
            <a:r>
              <a:rPr lang="en-US" altLang="zh-CN" sz="5400" dirty="0">
                <a:solidFill>
                  <a:schemeClr val="accent1">
                    <a:lumMod val="75000"/>
                  </a:schemeClr>
                </a:solidFill>
              </a:rPr>
              <a:t>4</a:t>
            </a:r>
            <a:r>
              <a:rPr lang="zh-CN" altLang="zh-CN" sz="5400" dirty="0">
                <a:solidFill>
                  <a:schemeClr val="accent1">
                    <a:lumMod val="75000"/>
                  </a:schemeClr>
                </a:solidFill>
              </a:rPr>
              <a:t>章  死锁与饥饿</a:t>
            </a: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4563745" y="4072256"/>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5306695" y="4072256"/>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4"/>
          <a:stretch>
            <a:fillRect/>
          </a:stretch>
        </p:blipFill>
        <p:spPr>
          <a:xfrm>
            <a:off x="1272540" y="1724660"/>
            <a:ext cx="1560195" cy="171196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zh-CN" altLang="en-US" sz="4000" dirty="0"/>
              <a:t>本章目录</a:t>
            </a:r>
          </a:p>
        </p:txBody>
      </p:sp>
      <p:sp>
        <p:nvSpPr>
          <p:cNvPr id="3" name="内容占位符 2"/>
          <p:cNvSpPr>
            <a:spLocks noGrp="1"/>
          </p:cNvSpPr>
          <p:nvPr>
            <p:ph idx="1"/>
          </p:nvPr>
        </p:nvSpPr>
        <p:spPr>
          <a:xfrm>
            <a:off x="2912426" y="1743608"/>
            <a:ext cx="8023303" cy="4363720"/>
          </a:xfrm>
        </p:spPr>
        <p:txBody>
          <a:bodyPr>
            <a:normAutofit fontScale="92500" lnSpcReduction="10000"/>
          </a:bodyPr>
          <a:lstStyle/>
          <a:p>
            <a:pPr>
              <a:buBlip>
                <a:blip r:embed="rId3"/>
              </a:buBlip>
            </a:pPr>
            <a:r>
              <a:rPr lang="en-US" altLang="zh-CN" sz="3600" dirty="0"/>
              <a:t> </a:t>
            </a:r>
            <a:r>
              <a:rPr lang="en-US" altLang="zh-CN" sz="3600" u="dottedHeavy" dirty="0">
                <a:solidFill>
                  <a:schemeClr val="tx1"/>
                </a:solidFill>
                <a:uFillTx/>
              </a:rPr>
              <a:t>4.1  </a:t>
            </a:r>
            <a:r>
              <a:rPr sz="3600" u="dottedHeavy" dirty="0">
                <a:solidFill>
                  <a:schemeClr val="tx1"/>
                </a:solidFill>
                <a:uFillTx/>
              </a:rPr>
              <a:t>死锁</a:t>
            </a:r>
            <a:r>
              <a:rPr lang="zh-CN" altLang="en-US" sz="3600" u="dottedHeavy" dirty="0">
                <a:solidFill>
                  <a:schemeClr val="tx1"/>
                </a:solidFill>
                <a:uFillTx/>
              </a:rPr>
              <a:t>的概念、原因、必要条件</a:t>
            </a:r>
            <a:endParaRPr sz="3600" u="dottedHeavy" dirty="0">
              <a:solidFill>
                <a:schemeClr val="tx1"/>
              </a:solidFill>
              <a:uFillTx/>
            </a:endParaRPr>
          </a:p>
          <a:p>
            <a:pPr>
              <a:buBlip>
                <a:blip r:embed="rId3"/>
              </a:buBlip>
            </a:pPr>
            <a:r>
              <a:rPr sz="3600" dirty="0"/>
              <a:t> </a:t>
            </a:r>
            <a:r>
              <a:rPr lang="en-US" altLang="zh-CN" sz="3600" u="dottedHeavy" dirty="0"/>
              <a:t>4.2  </a:t>
            </a:r>
            <a:r>
              <a:rPr sz="3600" u="dottedHeavy" dirty="0"/>
              <a:t>死锁的预防</a:t>
            </a:r>
            <a:r>
              <a:rPr lang="en-US" altLang="zh-CN" sz="3600" u="dottedHeavy" dirty="0"/>
              <a:t>                  </a:t>
            </a:r>
          </a:p>
          <a:p>
            <a:pPr>
              <a:buBlip>
                <a:blip r:embed="rId3"/>
              </a:buBlip>
            </a:pPr>
            <a:r>
              <a:rPr sz="3600" dirty="0"/>
              <a:t> </a:t>
            </a:r>
            <a:r>
              <a:rPr lang="en-US" altLang="zh-CN" sz="3600" u="dottedHeavy" dirty="0"/>
              <a:t>4.3  </a:t>
            </a:r>
            <a:r>
              <a:rPr sz="3600" u="dottedHeavy" dirty="0"/>
              <a:t>死锁的避免</a:t>
            </a:r>
            <a:endParaRPr lang="en-US" altLang="zh-CN" sz="3600" dirty="0"/>
          </a:p>
          <a:p>
            <a:pPr>
              <a:buBlip>
                <a:blip r:embed="rId3"/>
              </a:buBlip>
            </a:pPr>
            <a:r>
              <a:rPr sz="3600" dirty="0"/>
              <a:t> </a:t>
            </a:r>
            <a:r>
              <a:rPr lang="en-US" altLang="zh-CN" sz="3600" u="dottedHeavy" dirty="0"/>
              <a:t>4.4  </a:t>
            </a:r>
            <a:r>
              <a:rPr sz="3600" u="dottedHeavy" dirty="0"/>
              <a:t>死锁的检测与解除</a:t>
            </a:r>
            <a:endParaRPr lang="en-US" altLang="zh-CN" sz="3600" u="dottedHeavy" dirty="0"/>
          </a:p>
          <a:p>
            <a:pPr>
              <a:buBlip>
                <a:blip r:embed="rId3"/>
              </a:buBlip>
            </a:pPr>
            <a:r>
              <a:rPr sz="3600" dirty="0"/>
              <a:t> </a:t>
            </a:r>
            <a:r>
              <a:rPr lang="en-US" altLang="zh-CN" sz="3600" u="dottedHeavy" dirty="0"/>
              <a:t>4.5  </a:t>
            </a:r>
            <a:r>
              <a:rPr sz="3600" u="dottedHeavy" dirty="0"/>
              <a:t>死锁的忽略</a:t>
            </a:r>
            <a:endParaRPr lang="en-US" altLang="zh-CN" sz="3600" u="dottedHeavy" dirty="0"/>
          </a:p>
          <a:p>
            <a:pPr>
              <a:buBlip>
                <a:blip r:embed="rId3"/>
              </a:buBlip>
            </a:pPr>
            <a:r>
              <a:rPr sz="3600" dirty="0"/>
              <a:t> </a:t>
            </a:r>
            <a:r>
              <a:rPr lang="en-US" altLang="zh-CN" sz="3600" u="dottedHeavy" dirty="0"/>
              <a:t>4.6  </a:t>
            </a:r>
            <a:r>
              <a:rPr sz="3600" u="dottedHeavy" dirty="0"/>
              <a:t>饥饿</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10;&#10;描述已自动生成">
            <a:extLst>
              <a:ext uri="{FF2B5EF4-FFF2-40B4-BE49-F238E27FC236}">
                <a16:creationId xmlns:a16="http://schemas.microsoft.com/office/drawing/2014/main" id="{427EC6EC-1A1E-3DDA-ECC8-BF71D8A3F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99" y="128792"/>
            <a:ext cx="11645521" cy="6119608"/>
          </a:xfrm>
          <a:prstGeom prst="rect">
            <a:avLst/>
          </a:prstGeom>
        </p:spPr>
      </p:pic>
    </p:spTree>
    <p:extLst>
      <p:ext uri="{BB962C8B-B14F-4D97-AF65-F5344CB8AC3E}">
        <p14:creationId xmlns:p14="http://schemas.microsoft.com/office/powerpoint/2010/main" val="371284300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fontScale="90000"/>
          </a:bodyPr>
          <a:lstStyle/>
          <a:p>
            <a:pPr algn="ctr"/>
            <a:r>
              <a:rPr lang="en-US" altLang="zh-CN" sz="4400" dirty="0"/>
              <a:t>4.1  </a:t>
            </a:r>
            <a:r>
              <a:rPr sz="4400" dirty="0"/>
              <a:t>死锁</a:t>
            </a:r>
          </a:p>
        </p:txBody>
      </p:sp>
      <p:sp>
        <p:nvSpPr>
          <p:cNvPr id="3" name="内容占位符 2"/>
          <p:cNvSpPr>
            <a:spLocks noGrp="1"/>
          </p:cNvSpPr>
          <p:nvPr>
            <p:ph idx="1"/>
          </p:nvPr>
        </p:nvSpPr>
        <p:spPr>
          <a:xfrm>
            <a:off x="2809240" y="1601470"/>
            <a:ext cx="6890814" cy="3946714"/>
          </a:xfrm>
        </p:spPr>
        <p:txBody>
          <a:bodyPr>
            <a:normAutofit/>
          </a:bodyPr>
          <a:lstStyle/>
          <a:p>
            <a:pPr>
              <a:buBlip>
                <a:blip r:embed="rId3"/>
              </a:buBlip>
            </a:pPr>
            <a:r>
              <a:rPr lang="en-US" altLang="zh-CN" sz="3600" dirty="0"/>
              <a:t> </a:t>
            </a:r>
            <a:r>
              <a:rPr lang="en-US" altLang="zh-CN" sz="3600" u="dottedHeavy" dirty="0">
                <a:uFillTx/>
              </a:rPr>
              <a:t>4.1.1  </a:t>
            </a:r>
            <a:r>
              <a:rPr sz="3600" u="dottedHeavy" dirty="0">
                <a:uFillTx/>
              </a:rPr>
              <a:t>死锁的概念</a:t>
            </a:r>
          </a:p>
          <a:p>
            <a:pPr>
              <a:buBlip>
                <a:blip r:embed="rId3"/>
              </a:buBlip>
            </a:pPr>
            <a:r>
              <a:rPr sz="3600" dirty="0"/>
              <a:t> </a:t>
            </a:r>
            <a:r>
              <a:rPr lang="en-US" altLang="zh-CN" sz="3600" u="dottedHeavy" dirty="0"/>
              <a:t>4.1.2  </a:t>
            </a:r>
            <a:r>
              <a:rPr sz="3600" u="dottedHeavy" dirty="0"/>
              <a:t>产生死锁的原因</a:t>
            </a:r>
          </a:p>
          <a:p>
            <a:pPr>
              <a:buBlip>
                <a:blip r:embed="rId3"/>
              </a:buBlip>
            </a:pPr>
            <a:r>
              <a:rPr sz="3600" dirty="0"/>
              <a:t> </a:t>
            </a:r>
            <a:r>
              <a:rPr lang="en-US" altLang="zh-CN" sz="3600" u="dottedHeavy" dirty="0"/>
              <a:t>4.1.3  </a:t>
            </a:r>
            <a:r>
              <a:rPr sz="3600" u="dottedHeavy" dirty="0"/>
              <a:t>产生死锁的必要条件</a:t>
            </a:r>
          </a:p>
          <a:p>
            <a:pPr>
              <a:buBlip>
                <a:blip r:embed="rId3"/>
              </a:buBlip>
            </a:pPr>
            <a:r>
              <a:rPr sz="3600" dirty="0"/>
              <a:t> </a:t>
            </a:r>
            <a:r>
              <a:rPr lang="en-US" altLang="zh-CN" sz="3600" u="dottedHeavy" dirty="0"/>
              <a:t>4.1.4  </a:t>
            </a:r>
            <a:r>
              <a:rPr sz="3600" u="dottedHeavy" dirty="0"/>
              <a:t>处理死锁的方法</a:t>
            </a:r>
            <a:r>
              <a:rPr lang="en-US" altLang="zh-CN" sz="3600" u="dottedHeavy"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4.1.1 死锁的概念</a:t>
            </a:r>
          </a:p>
        </p:txBody>
      </p:sp>
      <p:sp>
        <p:nvSpPr>
          <p:cNvPr id="3" name="内容占位符 2"/>
          <p:cNvSpPr>
            <a:spLocks noGrp="1"/>
          </p:cNvSpPr>
          <p:nvPr>
            <p:ph idx="1"/>
          </p:nvPr>
        </p:nvSpPr>
        <p:spPr>
          <a:xfrm>
            <a:off x="484762" y="1850093"/>
            <a:ext cx="6758305" cy="721995"/>
          </a:xfrm>
        </p:spPr>
        <p:txBody>
          <a:bodyPr>
            <a:normAutofit/>
          </a:bodyPr>
          <a:lstStyle/>
          <a:p>
            <a:r>
              <a:rPr lang="zh-CN" altLang="en-US" dirty="0"/>
              <a:t>【死锁示例1】交通死锁。</a:t>
            </a:r>
          </a:p>
        </p:txBody>
      </p:sp>
      <p:pic>
        <p:nvPicPr>
          <p:cNvPr id="4" name="图片 3" descr="7QNBVF_7G)B8Z[J1ONS6QPY"/>
          <p:cNvPicPr>
            <a:picLocks noChangeAspect="1"/>
          </p:cNvPicPr>
          <p:nvPr/>
        </p:nvPicPr>
        <p:blipFill>
          <a:blip r:embed="rId3"/>
          <a:stretch>
            <a:fillRect/>
          </a:stretch>
        </p:blipFill>
        <p:spPr>
          <a:xfrm>
            <a:off x="1592029" y="2349666"/>
            <a:ext cx="7354263" cy="4238787"/>
          </a:xfrm>
          <a:prstGeom prst="rect">
            <a:avLst/>
          </a:prstGeom>
        </p:spPr>
      </p:pic>
      <p:sp>
        <p:nvSpPr>
          <p:cNvPr id="5" name="内容占位符 2"/>
          <p:cNvSpPr>
            <a:spLocks noGrp="1"/>
          </p:cNvSpPr>
          <p:nvPr/>
        </p:nvSpPr>
        <p:spPr>
          <a:xfrm>
            <a:off x="484762" y="1154533"/>
            <a:ext cx="10968990" cy="721995"/>
          </a:xfrm>
          <a:prstGeom prst="rect">
            <a:avLst/>
          </a:prstGeom>
        </p:spPr>
        <p:txBody>
          <a:bodyPr vert="horz" lIns="90000" tIns="46800" rIns="90000" bIns="46800" rtlCol="0">
            <a:normAutofit fontScale="92500" lnSpcReduction="10000"/>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800" dirty="0">
                <a:sym typeface="+mn-ea"/>
              </a:rPr>
              <a:t>死锁是由</a:t>
            </a:r>
            <a:r>
              <a:rPr sz="2800" dirty="0">
                <a:solidFill>
                  <a:srgbClr val="FF0000"/>
                </a:solidFill>
                <a:sym typeface="+mn-ea"/>
              </a:rPr>
              <a:t>两个或两个以上的进程</a:t>
            </a:r>
            <a:r>
              <a:rPr sz="2800" dirty="0">
                <a:sym typeface="+mn-ea"/>
              </a:rPr>
              <a:t>因资源需求的冲突而引起的。</a:t>
            </a:r>
            <a:endParaRPr lang="zh-CN" altLang="en-US" sz="2800" dirty="0"/>
          </a:p>
          <a:p>
            <a:pPr marL="0" indent="0">
              <a:buNone/>
            </a:pP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ym typeface="+mn-ea"/>
              </a:rPr>
              <a:t>4.1.1 死锁的概念</a:t>
            </a:r>
            <a:endParaRPr lang="zh-CN" altLang="en-US" dirty="0"/>
          </a:p>
        </p:txBody>
      </p:sp>
      <p:pic>
        <p:nvPicPr>
          <p:cNvPr id="4" name="图片 3" descr="_CI{G$Y]YE)3J`2G0}R5G7N"/>
          <p:cNvPicPr>
            <a:picLocks noChangeAspect="1"/>
          </p:cNvPicPr>
          <p:nvPr/>
        </p:nvPicPr>
        <p:blipFill>
          <a:blip r:embed="rId4"/>
          <a:stretch>
            <a:fillRect/>
          </a:stretch>
        </p:blipFill>
        <p:spPr>
          <a:xfrm>
            <a:off x="750068" y="2029137"/>
            <a:ext cx="10183735" cy="3078462"/>
          </a:xfrm>
          <a:prstGeom prst="rect">
            <a:avLst/>
          </a:prstGeom>
        </p:spPr>
      </p:pic>
      <p:sp>
        <p:nvSpPr>
          <p:cNvPr id="8" name="椭圆 7">
            <a:extLst>
              <a:ext uri="{FF2B5EF4-FFF2-40B4-BE49-F238E27FC236}">
                <a16:creationId xmlns:a16="http://schemas.microsoft.com/office/drawing/2014/main" id="{08A2E44A-3DDB-CD44-5FF8-2CE9998A75DE}"/>
              </a:ext>
            </a:extLst>
          </p:cNvPr>
          <p:cNvSpPr/>
          <p:nvPr/>
        </p:nvSpPr>
        <p:spPr>
          <a:xfrm>
            <a:off x="4071553" y="2284630"/>
            <a:ext cx="572530" cy="36933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a:solidFill>
                  <a:srgbClr val="FF0000"/>
                </a:solidFill>
              </a:rPr>
              <a:t>1</a:t>
            </a:r>
            <a:endParaRPr lang="zh-CN" altLang="en-US" b="1" dirty="0">
              <a:solidFill>
                <a:srgbClr val="FF0000"/>
              </a:solidFill>
            </a:endParaRPr>
          </a:p>
        </p:txBody>
      </p:sp>
      <p:sp>
        <p:nvSpPr>
          <p:cNvPr id="10" name="椭圆 9">
            <a:extLst>
              <a:ext uri="{FF2B5EF4-FFF2-40B4-BE49-F238E27FC236}">
                <a16:creationId xmlns:a16="http://schemas.microsoft.com/office/drawing/2014/main" id="{F16EFEAF-8942-8E41-6E52-0B40B1186E47}"/>
              </a:ext>
            </a:extLst>
          </p:cNvPr>
          <p:cNvSpPr/>
          <p:nvPr/>
        </p:nvSpPr>
        <p:spPr>
          <a:xfrm>
            <a:off x="9995653" y="2284630"/>
            <a:ext cx="572530" cy="36933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a:solidFill>
                  <a:srgbClr val="FF0000"/>
                </a:solidFill>
              </a:rPr>
              <a:t>2</a:t>
            </a:r>
            <a:endParaRPr lang="zh-CN" altLang="en-US" b="1" dirty="0">
              <a:solidFill>
                <a:srgbClr val="FF0000"/>
              </a:solidFill>
            </a:endParaRPr>
          </a:p>
        </p:txBody>
      </p:sp>
      <p:sp>
        <p:nvSpPr>
          <p:cNvPr id="11" name="椭圆 10">
            <a:extLst>
              <a:ext uri="{FF2B5EF4-FFF2-40B4-BE49-F238E27FC236}">
                <a16:creationId xmlns:a16="http://schemas.microsoft.com/office/drawing/2014/main" id="{5BA19762-DAD2-9014-8C28-56E751891B4C}"/>
              </a:ext>
            </a:extLst>
          </p:cNvPr>
          <p:cNvSpPr/>
          <p:nvPr/>
        </p:nvSpPr>
        <p:spPr>
          <a:xfrm>
            <a:off x="4071553" y="2901847"/>
            <a:ext cx="572530" cy="36933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a:solidFill>
                  <a:srgbClr val="FF0000"/>
                </a:solidFill>
              </a:rPr>
              <a:t>4</a:t>
            </a:r>
            <a:endParaRPr lang="zh-CN" altLang="en-US" b="1" dirty="0">
              <a:solidFill>
                <a:srgbClr val="FF0000"/>
              </a:solidFill>
            </a:endParaRPr>
          </a:p>
        </p:txBody>
      </p:sp>
      <p:sp>
        <p:nvSpPr>
          <p:cNvPr id="12" name="椭圆 11">
            <a:extLst>
              <a:ext uri="{FF2B5EF4-FFF2-40B4-BE49-F238E27FC236}">
                <a16:creationId xmlns:a16="http://schemas.microsoft.com/office/drawing/2014/main" id="{AAE16920-6940-BE0F-93B6-72DAC6B38359}"/>
              </a:ext>
            </a:extLst>
          </p:cNvPr>
          <p:cNvSpPr/>
          <p:nvPr/>
        </p:nvSpPr>
        <p:spPr>
          <a:xfrm>
            <a:off x="9995653" y="2801558"/>
            <a:ext cx="572530" cy="36933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a:solidFill>
                  <a:srgbClr val="FF0000"/>
                </a:solidFill>
              </a:rPr>
              <a:t>3</a:t>
            </a:r>
            <a:endParaRPr lang="zh-CN" altLang="en-US" b="1" dirty="0">
              <a:solidFill>
                <a:srgbClr val="FF0000"/>
              </a:solidFill>
            </a:endParaRPr>
          </a:p>
        </p:txBody>
      </p:sp>
      <p:sp>
        <p:nvSpPr>
          <p:cNvPr id="3" name="内容占位符 2">
            <a:extLst>
              <a:ext uri="{FF2B5EF4-FFF2-40B4-BE49-F238E27FC236}">
                <a16:creationId xmlns:a16="http://schemas.microsoft.com/office/drawing/2014/main" id="{C5233D21-3230-64AA-A6E3-A54009656CB3}"/>
              </a:ext>
            </a:extLst>
          </p:cNvPr>
          <p:cNvSpPr>
            <a:spLocks noGrp="1"/>
          </p:cNvSpPr>
          <p:nvPr>
            <p:ph idx="1"/>
          </p:nvPr>
        </p:nvSpPr>
        <p:spPr>
          <a:xfrm>
            <a:off x="311767" y="1035507"/>
            <a:ext cx="6758305" cy="721995"/>
          </a:xfrm>
        </p:spPr>
        <p:txBody>
          <a:bodyPr>
            <a:normAutofit/>
          </a:bodyPr>
          <a:lstStyle/>
          <a:p>
            <a:r>
              <a:rPr lang="zh-CN" altLang="en-US" sz="2800" dirty="0"/>
              <a:t>【死锁示例</a:t>
            </a:r>
            <a:r>
              <a:rPr lang="en-US" altLang="zh-CN" sz="2800" dirty="0"/>
              <a:t>2</a:t>
            </a:r>
            <a:r>
              <a:rPr lang="zh-CN" altLang="en-US" sz="2800" dirty="0"/>
              <a:t>】申请使用资源</a:t>
            </a:r>
          </a:p>
        </p:txBody>
      </p:sp>
      <p:cxnSp>
        <p:nvCxnSpPr>
          <p:cNvPr id="9" name="直接箭头连接符 8">
            <a:extLst>
              <a:ext uri="{FF2B5EF4-FFF2-40B4-BE49-F238E27FC236}">
                <a16:creationId xmlns:a16="http://schemas.microsoft.com/office/drawing/2014/main" id="{59FFE1F0-B556-F1D9-31FD-41C9574DD3E1}"/>
              </a:ext>
            </a:extLst>
          </p:cNvPr>
          <p:cNvCxnSpPr/>
          <p:nvPr/>
        </p:nvCxnSpPr>
        <p:spPr>
          <a:xfrm flipH="1">
            <a:off x="10628011" y="2970082"/>
            <a:ext cx="611584" cy="16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3F8FA7A-7930-881D-463A-DAF20D9613A8}"/>
              </a:ext>
            </a:extLst>
          </p:cNvPr>
          <p:cNvSpPr txBox="1"/>
          <p:nvPr/>
        </p:nvSpPr>
        <p:spPr>
          <a:xfrm>
            <a:off x="10915590" y="3029507"/>
            <a:ext cx="646331" cy="369332"/>
          </a:xfrm>
          <a:prstGeom prst="rect">
            <a:avLst/>
          </a:prstGeom>
          <a:noFill/>
        </p:spPr>
        <p:txBody>
          <a:bodyPr wrap="none" rtlCol="0">
            <a:spAutoFit/>
          </a:bodyPr>
          <a:lstStyle/>
          <a:p>
            <a:r>
              <a:rPr lang="zh-CN" altLang="en-US" dirty="0">
                <a:solidFill>
                  <a:srgbClr val="FF0000"/>
                </a:solidFill>
              </a:rPr>
              <a:t>阻塞</a:t>
            </a:r>
          </a:p>
        </p:txBody>
      </p:sp>
      <p:sp>
        <p:nvSpPr>
          <p:cNvPr id="14" name="文本框 13">
            <a:extLst>
              <a:ext uri="{FF2B5EF4-FFF2-40B4-BE49-F238E27FC236}">
                <a16:creationId xmlns:a16="http://schemas.microsoft.com/office/drawing/2014/main" id="{5E1D9D39-C3F2-F958-B1EB-F5ADA69B4EE0}"/>
              </a:ext>
            </a:extLst>
          </p:cNvPr>
          <p:cNvSpPr txBox="1"/>
          <p:nvPr/>
        </p:nvSpPr>
        <p:spPr>
          <a:xfrm>
            <a:off x="4703911" y="2901847"/>
            <a:ext cx="646331" cy="369332"/>
          </a:xfrm>
          <a:prstGeom prst="rect">
            <a:avLst/>
          </a:prstGeom>
          <a:noFill/>
        </p:spPr>
        <p:txBody>
          <a:bodyPr wrap="none" rtlCol="0">
            <a:spAutoFit/>
          </a:bodyPr>
          <a:lstStyle/>
          <a:p>
            <a:r>
              <a:rPr lang="zh-CN" altLang="en-US" dirty="0">
                <a:solidFill>
                  <a:srgbClr val="FF0000"/>
                </a:solidFill>
              </a:rPr>
              <a:t>阻塞</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74F5FF-2BE2-CB21-7FEE-F78824D100FE}"/>
              </a:ext>
            </a:extLst>
          </p:cNvPr>
          <p:cNvSpPr>
            <a:spLocks noGrp="1"/>
          </p:cNvSpPr>
          <p:nvPr>
            <p:ph idx="1"/>
          </p:nvPr>
        </p:nvSpPr>
        <p:spPr>
          <a:xfrm>
            <a:off x="608330" y="1781299"/>
            <a:ext cx="10968990" cy="4468371"/>
          </a:xfrm>
        </p:spPr>
        <p:txBody>
          <a:bodyPr/>
          <a:lstStyle/>
          <a:p>
            <a:r>
              <a:rPr lang="zh-CN" altLang="en-US" dirty="0"/>
              <a:t>在 </a:t>
            </a:r>
            <a:r>
              <a:rPr lang="en-US" altLang="zh-CN" dirty="0"/>
              <a:t>MySQL </a:t>
            </a:r>
            <a:r>
              <a:rPr lang="zh-CN" altLang="en-US" dirty="0"/>
              <a:t>的 </a:t>
            </a:r>
            <a:r>
              <a:rPr lang="en-US" altLang="zh-CN" dirty="0" err="1"/>
              <a:t>InnoDB</a:t>
            </a:r>
            <a:r>
              <a:rPr lang="en-US" altLang="zh-CN" dirty="0"/>
              <a:t> </a:t>
            </a:r>
            <a:r>
              <a:rPr lang="zh-CN" altLang="en-US" dirty="0"/>
              <a:t>存储引擎中，曾出现因加锁顺序不一致导致的死锁问题。</a:t>
            </a:r>
            <a:endParaRPr lang="en-US" altLang="zh-CN" dirty="0"/>
          </a:p>
          <a:p>
            <a:r>
              <a:rPr lang="zh-CN" altLang="en-US" dirty="0"/>
              <a:t>例如，有两个用户同时进行投资操作，</a:t>
            </a:r>
            <a:r>
              <a:rPr lang="en-US" altLang="zh-CN" dirty="0"/>
              <a:t>A </a:t>
            </a:r>
            <a:r>
              <a:rPr lang="zh-CN" altLang="en-US" dirty="0"/>
              <a:t>用户将金额随机分为 </a:t>
            </a:r>
            <a:r>
              <a:rPr lang="en-US" altLang="zh-CN" dirty="0"/>
              <a:t>2 </a:t>
            </a:r>
            <a:r>
              <a:rPr lang="zh-CN" altLang="en-US" dirty="0"/>
              <a:t>份，分给借款人 </a:t>
            </a:r>
            <a:r>
              <a:rPr lang="en-US" altLang="zh-CN" dirty="0"/>
              <a:t>1 </a:t>
            </a:r>
            <a:r>
              <a:rPr lang="zh-CN" altLang="en-US" dirty="0"/>
              <a:t>和 </a:t>
            </a:r>
            <a:r>
              <a:rPr lang="en-US" altLang="zh-CN" dirty="0"/>
              <a:t>2</a:t>
            </a:r>
            <a:r>
              <a:rPr lang="zh-CN" altLang="en-US" dirty="0"/>
              <a:t>，</a:t>
            </a:r>
            <a:r>
              <a:rPr lang="en-US" altLang="zh-CN" dirty="0"/>
              <a:t>B </a:t>
            </a:r>
            <a:r>
              <a:rPr lang="zh-CN" altLang="en-US" dirty="0"/>
              <a:t>用户将金额随机分为 </a:t>
            </a:r>
            <a:r>
              <a:rPr lang="en-US" altLang="zh-CN" dirty="0"/>
              <a:t>2 </a:t>
            </a:r>
            <a:r>
              <a:rPr lang="zh-CN" altLang="en-US" dirty="0"/>
              <a:t>份，分给借款人 </a:t>
            </a:r>
            <a:r>
              <a:rPr lang="en-US" altLang="zh-CN" dirty="0"/>
              <a:t>2 </a:t>
            </a:r>
            <a:r>
              <a:rPr lang="zh-CN" altLang="en-US" dirty="0"/>
              <a:t>和 </a:t>
            </a:r>
            <a:r>
              <a:rPr lang="en-US" altLang="zh-CN" dirty="0"/>
              <a:t>1</a:t>
            </a:r>
            <a:r>
              <a:rPr lang="zh-CN" altLang="en-US" dirty="0"/>
              <a:t>，他们分别通过</a:t>
            </a:r>
            <a:r>
              <a:rPr lang="en-US" altLang="zh-CN" dirty="0"/>
              <a:t>select for update</a:t>
            </a:r>
            <a:r>
              <a:rPr lang="zh-CN" altLang="en-US" dirty="0"/>
              <a:t>一条条地更新借款人表的余额。</a:t>
            </a:r>
            <a:endParaRPr lang="en-US" altLang="zh-CN" dirty="0"/>
          </a:p>
          <a:p>
            <a:r>
              <a:rPr lang="zh-CN" altLang="en-US" dirty="0"/>
              <a:t>由于加锁顺序不同，导致死锁。后来改进的方法是，直接把所有分配到的借款人一次性锁住，避免了因加锁顺序不同引发的死锁。</a:t>
            </a:r>
          </a:p>
        </p:txBody>
      </p:sp>
      <p:sp>
        <p:nvSpPr>
          <p:cNvPr id="4" name="内容占位符 2">
            <a:extLst>
              <a:ext uri="{FF2B5EF4-FFF2-40B4-BE49-F238E27FC236}">
                <a16:creationId xmlns:a16="http://schemas.microsoft.com/office/drawing/2014/main" id="{95B2EB02-AB03-7D26-33E4-1C27CB88ECB7}"/>
              </a:ext>
            </a:extLst>
          </p:cNvPr>
          <p:cNvSpPr>
            <a:spLocks noGrp="1"/>
          </p:cNvSpPr>
          <p:nvPr>
            <p:ph type="title"/>
          </p:nvPr>
        </p:nvSpPr>
        <p:spPr>
          <a:xfrm>
            <a:off x="1076325" y="114300"/>
            <a:ext cx="10969625" cy="706438"/>
          </a:xfrm>
        </p:spPr>
        <p:txBody>
          <a:bodyPr>
            <a:normAutofit/>
          </a:bodyPr>
          <a:lstStyle/>
          <a:p>
            <a:r>
              <a:rPr lang="zh-CN" altLang="en-US" sz="2800" dirty="0"/>
              <a:t>【死锁示例</a:t>
            </a:r>
            <a:r>
              <a:rPr lang="en-US" altLang="zh-CN" sz="2800" dirty="0"/>
              <a:t>3</a:t>
            </a:r>
            <a:r>
              <a:rPr lang="zh-CN" altLang="en-US" sz="2800" dirty="0"/>
              <a:t>】申请使用资源</a:t>
            </a:r>
          </a:p>
        </p:txBody>
      </p:sp>
    </p:spTree>
    <p:extLst>
      <p:ext uri="{BB962C8B-B14F-4D97-AF65-F5344CB8AC3E}">
        <p14:creationId xmlns:p14="http://schemas.microsoft.com/office/powerpoint/2010/main" val="400681164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4.1.1 死锁的概念</a:t>
            </a:r>
            <a:endParaRPr lang="zh-CN" altLang="en-US"/>
          </a:p>
        </p:txBody>
      </p:sp>
      <p:sp>
        <p:nvSpPr>
          <p:cNvPr id="3" name="内容占位符 2"/>
          <p:cNvSpPr>
            <a:spLocks noGrp="1"/>
          </p:cNvSpPr>
          <p:nvPr>
            <p:ph idx="1"/>
          </p:nvPr>
        </p:nvSpPr>
        <p:spPr>
          <a:xfrm>
            <a:off x="632081" y="1631217"/>
            <a:ext cx="10613852" cy="2738902"/>
          </a:xfrm>
        </p:spPr>
        <p:txBody>
          <a:bodyPr>
            <a:normAutofit fontScale="77500" lnSpcReduction="20000"/>
          </a:bodyPr>
          <a:lstStyle/>
          <a:p>
            <a:pPr>
              <a:lnSpc>
                <a:spcPct val="150000"/>
              </a:lnSpc>
            </a:pPr>
            <a:r>
              <a:rPr lang="zh-CN" altLang="en-US" sz="3200" dirty="0">
                <a:solidFill>
                  <a:srgbClr val="0000FF"/>
                </a:solidFill>
              </a:rPr>
              <a:t>死锁是指在一个进程集合中的每个进程</a:t>
            </a:r>
            <a:r>
              <a:rPr lang="zh-CN" altLang="en-US" sz="3200" dirty="0"/>
              <a:t>，都在等待只能由该组进程中的其他进程才能引发的事件，从而</a:t>
            </a:r>
            <a:r>
              <a:rPr lang="zh-CN" altLang="en-US" sz="3200" dirty="0">
                <a:solidFill>
                  <a:srgbClr val="0000FF"/>
                </a:solidFill>
              </a:rPr>
              <a:t>无限期僵持</a:t>
            </a:r>
            <a:r>
              <a:rPr lang="zh-CN" altLang="en-US" sz="3200" dirty="0"/>
              <a:t>下去的一种局面。如果没有外力作用，它们都将无法再向前推进。</a:t>
            </a:r>
          </a:p>
          <a:p>
            <a:pPr>
              <a:lnSpc>
                <a:spcPct val="150000"/>
              </a:lnSpc>
            </a:pPr>
            <a:r>
              <a:rPr lang="zh-CN" altLang="en-US" sz="3200" dirty="0"/>
              <a:t>发生了死锁的进程陷入了一种永久性的阻塞态，进程未做任何有益的工作。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4.1.2 产生死锁的原因</a:t>
            </a:r>
          </a:p>
        </p:txBody>
      </p:sp>
      <p:sp>
        <p:nvSpPr>
          <p:cNvPr id="3" name="内容占位符 2"/>
          <p:cNvSpPr>
            <a:spLocks noGrp="1"/>
          </p:cNvSpPr>
          <p:nvPr>
            <p:ph idx="1"/>
          </p:nvPr>
        </p:nvSpPr>
        <p:spPr>
          <a:xfrm>
            <a:off x="608330" y="1227456"/>
            <a:ext cx="10968990" cy="5272198"/>
          </a:xfrm>
        </p:spPr>
        <p:txBody>
          <a:bodyPr>
            <a:normAutofit lnSpcReduction="10000"/>
          </a:bodyPr>
          <a:lstStyle/>
          <a:p>
            <a:pPr>
              <a:lnSpc>
                <a:spcPct val="150000"/>
              </a:lnSpc>
            </a:pPr>
            <a:r>
              <a:rPr lang="zh-CN" altLang="en-US" sz="3200" dirty="0"/>
              <a:t>从上面的例子可以看出，产生死锁的原因可以归结为如下两点。</a:t>
            </a:r>
          </a:p>
          <a:p>
            <a:pPr lvl="1">
              <a:lnSpc>
                <a:spcPct val="150000"/>
              </a:lnSpc>
            </a:pPr>
            <a:r>
              <a:rPr lang="zh-CN" altLang="en-US" sz="3200" dirty="0">
                <a:solidFill>
                  <a:srgbClr val="FF0000"/>
                </a:solidFill>
              </a:rPr>
              <a:t>竞争资源</a:t>
            </a:r>
            <a:r>
              <a:rPr lang="zh-CN" altLang="en-US" sz="3200" dirty="0"/>
              <a:t>。当系统提供的资源数目少于并发进程所要求的该类资源数时，</a:t>
            </a:r>
            <a:r>
              <a:rPr lang="zh-CN" altLang="en-US" sz="3200" dirty="0">
                <a:solidFill>
                  <a:srgbClr val="FF0000"/>
                </a:solidFill>
              </a:rPr>
              <a:t>可能</a:t>
            </a:r>
            <a:r>
              <a:rPr lang="zh-CN" altLang="en-US" sz="3200" dirty="0"/>
              <a:t>会引起进程之间因竞争资源而产生死锁。</a:t>
            </a:r>
          </a:p>
          <a:p>
            <a:pPr lvl="1">
              <a:lnSpc>
                <a:spcPct val="150000"/>
              </a:lnSpc>
            </a:pPr>
            <a:r>
              <a:rPr lang="zh-CN" altLang="en-US" sz="3200" dirty="0">
                <a:solidFill>
                  <a:srgbClr val="FF0000"/>
                </a:solidFill>
              </a:rPr>
              <a:t>进程推进顺序不当</a:t>
            </a:r>
            <a:r>
              <a:rPr lang="zh-CN" altLang="en-US" sz="3200" dirty="0"/>
              <a:t>。进程在运行过程中，请求和释放资源的顺序不当也会导致进程死锁。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4.1.2 产生死锁的原因</a:t>
            </a:r>
            <a:endParaRPr lang="zh-CN" altLang="en-US"/>
          </a:p>
        </p:txBody>
      </p:sp>
      <p:sp>
        <p:nvSpPr>
          <p:cNvPr id="3" name="内容占位符 2"/>
          <p:cNvSpPr>
            <a:spLocks noGrp="1"/>
          </p:cNvSpPr>
          <p:nvPr>
            <p:ph idx="1"/>
          </p:nvPr>
        </p:nvSpPr>
        <p:spPr>
          <a:xfrm>
            <a:off x="608330" y="1126490"/>
            <a:ext cx="10968990" cy="5051888"/>
          </a:xfrm>
        </p:spPr>
        <p:txBody>
          <a:bodyPr>
            <a:normAutofit/>
          </a:bodyPr>
          <a:lstStyle/>
          <a:p>
            <a:pPr marL="0" indent="0">
              <a:lnSpc>
                <a:spcPct val="150000"/>
              </a:lnSpc>
              <a:buNone/>
            </a:pPr>
            <a:r>
              <a:rPr lang="zh-CN" altLang="en-US" sz="2800" b="1" dirty="0"/>
              <a:t>1</a:t>
            </a:r>
            <a:r>
              <a:rPr lang="en-US" altLang="zh-CN" sz="2800" b="1" dirty="0"/>
              <a:t>. </a:t>
            </a:r>
            <a:r>
              <a:rPr lang="zh-CN" altLang="en-US" sz="2800" b="1" dirty="0"/>
              <a:t>竞争资源引起进程死锁</a:t>
            </a:r>
          </a:p>
          <a:p>
            <a:pPr algn="just">
              <a:lnSpc>
                <a:spcPct val="150000"/>
              </a:lnSpc>
            </a:pPr>
            <a:r>
              <a:rPr lang="zh-CN" altLang="en-US" sz="2800" dirty="0"/>
              <a:t> 资源可以分为可抢占性资源和不可抢占性资源。</a:t>
            </a:r>
          </a:p>
          <a:p>
            <a:pPr lvl="1" algn="just">
              <a:lnSpc>
                <a:spcPct val="150000"/>
              </a:lnSpc>
            </a:pPr>
            <a:r>
              <a:rPr lang="zh-CN" altLang="en-US" sz="2800" dirty="0">
                <a:solidFill>
                  <a:srgbClr val="FF0000"/>
                </a:solidFill>
              </a:rPr>
              <a:t>可抢占性资源</a:t>
            </a:r>
            <a:r>
              <a:rPr lang="zh-CN" altLang="en-US" sz="2800" dirty="0"/>
              <a:t>。是指可以从拥有它的进程中剥夺而不会产生任何不良影响的资源，最典型的可抢占性资源是CPU。</a:t>
            </a:r>
          </a:p>
          <a:p>
            <a:pPr lvl="1" algn="just">
              <a:lnSpc>
                <a:spcPct val="150000"/>
              </a:lnSpc>
            </a:pPr>
            <a:r>
              <a:rPr lang="zh-CN" altLang="en-US" sz="2800" dirty="0">
                <a:solidFill>
                  <a:srgbClr val="FF0000"/>
                </a:solidFill>
              </a:rPr>
              <a:t>不可抢占性资源</a:t>
            </a:r>
            <a:r>
              <a:rPr lang="zh-CN" altLang="en-US" sz="2800" dirty="0"/>
              <a:t>。是指拥有它的进程在主动释放前，不能被其他进程或系统强行剥夺。例如，光盘、刻录机、磁带机、扫描仪也都属于不可抢占性资源。</a:t>
            </a:r>
          </a:p>
        </p:txBody>
      </p:sp>
    </p:spTree>
    <p:custDataLst>
      <p:tags r:id="rId1"/>
    </p:custData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1938B-AE5F-41B6-AAD5-6835DD70A8A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69EA92D-6872-4AC9-BE26-D80925C330D5}"/>
              </a:ext>
            </a:extLst>
          </p:cNvPr>
          <p:cNvSpPr>
            <a:spLocks noGrp="1"/>
          </p:cNvSpPr>
          <p:nvPr>
            <p:ph idx="1"/>
          </p:nvPr>
        </p:nvSpPr>
        <p:spPr>
          <a:xfrm>
            <a:off x="694827" y="1112125"/>
            <a:ext cx="6178550" cy="705600"/>
          </a:xfrm>
        </p:spPr>
        <p:txBody>
          <a:bodyPr>
            <a:normAutofit/>
          </a:bodyPr>
          <a:lstStyle/>
          <a:p>
            <a:r>
              <a:rPr lang="zh-CN" altLang="en-US" sz="3200" dirty="0"/>
              <a:t>竞争软件资源引发死锁的例子</a:t>
            </a:r>
          </a:p>
        </p:txBody>
      </p:sp>
      <p:sp>
        <p:nvSpPr>
          <p:cNvPr id="4" name="文本框 3">
            <a:extLst>
              <a:ext uri="{FF2B5EF4-FFF2-40B4-BE49-F238E27FC236}">
                <a16:creationId xmlns:a16="http://schemas.microsoft.com/office/drawing/2014/main" id="{0B01E162-E759-4638-B5D2-3E2266961E8A}"/>
              </a:ext>
            </a:extLst>
          </p:cNvPr>
          <p:cNvSpPr txBox="1"/>
          <p:nvPr/>
        </p:nvSpPr>
        <p:spPr>
          <a:xfrm>
            <a:off x="1542341" y="2025498"/>
            <a:ext cx="3556000" cy="4263539"/>
          </a:xfrm>
          <a:prstGeom prst="rect">
            <a:avLst/>
          </a:prstGeom>
          <a:ln w="28575">
            <a:solidFill>
              <a:srgbClr val="0000FF"/>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zh-CN" altLang="en-US" sz="2800" dirty="0">
                <a:latin typeface="+mn-ea"/>
              </a:rPr>
              <a:t>进程</a:t>
            </a:r>
            <a:r>
              <a:rPr lang="en-US" altLang="zh-CN" sz="2800" dirty="0">
                <a:latin typeface="+mn-ea"/>
              </a:rPr>
              <a:t>P</a:t>
            </a:r>
            <a:r>
              <a:rPr lang="zh-CN" altLang="en-US" sz="2800" dirty="0">
                <a:latin typeface="+mn-ea"/>
              </a:rPr>
              <a:t>：</a:t>
            </a:r>
            <a:endParaRPr lang="en-US" altLang="zh-CN" sz="2800" dirty="0">
              <a:latin typeface="+mn-ea"/>
            </a:endParaRPr>
          </a:p>
          <a:p>
            <a:pPr lvl="1">
              <a:lnSpc>
                <a:spcPct val="150000"/>
              </a:lnSpc>
            </a:pPr>
            <a:r>
              <a:rPr lang="en-US" altLang="zh-CN" sz="2800" dirty="0">
                <a:latin typeface="+mn-ea"/>
              </a:rPr>
              <a:t>	</a:t>
            </a:r>
            <a:r>
              <a:rPr lang="en-US" altLang="zh-CN" sz="3600" dirty="0">
                <a:latin typeface="+mn-ea"/>
              </a:rPr>
              <a:t>……</a:t>
            </a:r>
          </a:p>
          <a:p>
            <a:pPr>
              <a:lnSpc>
                <a:spcPct val="150000"/>
              </a:lnSpc>
            </a:pPr>
            <a:r>
              <a:rPr lang="en-US" altLang="zh-CN" sz="2800" dirty="0">
                <a:latin typeface="+mn-ea"/>
              </a:rPr>
              <a:t>  	</a:t>
            </a:r>
            <a:r>
              <a:rPr lang="en-US" altLang="zh-CN" sz="2800" dirty="0" err="1">
                <a:latin typeface="+mn-ea"/>
              </a:rPr>
              <a:t>Recive</a:t>
            </a:r>
            <a:r>
              <a:rPr lang="zh-CN" altLang="en-US" sz="2800" dirty="0">
                <a:latin typeface="+mn-ea"/>
              </a:rPr>
              <a:t>（</a:t>
            </a:r>
            <a:r>
              <a:rPr lang="en-US" altLang="zh-CN" sz="2800" dirty="0">
                <a:latin typeface="+mn-ea"/>
              </a:rPr>
              <a:t>Q</a:t>
            </a:r>
            <a:r>
              <a:rPr lang="zh-CN" altLang="en-US" sz="2800" dirty="0">
                <a:latin typeface="+mn-ea"/>
              </a:rPr>
              <a:t>）</a:t>
            </a:r>
            <a:endParaRPr lang="en-US" altLang="zh-CN" sz="2800" dirty="0">
              <a:latin typeface="+mn-ea"/>
            </a:endParaRPr>
          </a:p>
          <a:p>
            <a:pPr lvl="1">
              <a:lnSpc>
                <a:spcPct val="150000"/>
              </a:lnSpc>
            </a:pPr>
            <a:r>
              <a:rPr lang="en-US" altLang="zh-CN" sz="2800" dirty="0">
                <a:latin typeface="+mn-ea"/>
              </a:rPr>
              <a:t>   </a:t>
            </a:r>
            <a:r>
              <a:rPr lang="en-US" altLang="zh-CN" sz="3600" dirty="0">
                <a:latin typeface="+mn-ea"/>
              </a:rPr>
              <a:t>	……</a:t>
            </a:r>
          </a:p>
          <a:p>
            <a:pPr>
              <a:lnSpc>
                <a:spcPct val="150000"/>
              </a:lnSpc>
            </a:pPr>
            <a:r>
              <a:rPr lang="en-US" altLang="zh-CN" sz="2800" dirty="0">
                <a:latin typeface="+mn-ea"/>
              </a:rPr>
              <a:t>	Send</a:t>
            </a:r>
            <a:r>
              <a:rPr lang="zh-CN" altLang="en-US" sz="2800" dirty="0">
                <a:latin typeface="+mn-ea"/>
              </a:rPr>
              <a:t>（</a:t>
            </a:r>
            <a:r>
              <a:rPr lang="en-US" altLang="zh-CN" sz="2800" dirty="0">
                <a:latin typeface="+mn-ea"/>
              </a:rPr>
              <a:t>Q</a:t>
            </a:r>
            <a:r>
              <a:rPr lang="zh-CN" altLang="en-US" sz="2800" dirty="0">
                <a:latin typeface="+mn-ea"/>
              </a:rPr>
              <a:t>）</a:t>
            </a:r>
            <a:endParaRPr lang="en-US" altLang="zh-CN" sz="2800" dirty="0">
              <a:latin typeface="+mn-ea"/>
            </a:endParaRPr>
          </a:p>
          <a:p>
            <a:pPr>
              <a:lnSpc>
                <a:spcPct val="150000"/>
              </a:lnSpc>
            </a:pPr>
            <a:r>
              <a:rPr lang="en-US" altLang="zh-CN" sz="2800" dirty="0">
                <a:latin typeface="+mn-ea"/>
              </a:rPr>
              <a:t>	……</a:t>
            </a:r>
          </a:p>
        </p:txBody>
      </p:sp>
      <p:sp>
        <p:nvSpPr>
          <p:cNvPr id="5" name="文本框 4">
            <a:extLst>
              <a:ext uri="{FF2B5EF4-FFF2-40B4-BE49-F238E27FC236}">
                <a16:creationId xmlns:a16="http://schemas.microsoft.com/office/drawing/2014/main" id="{9F04AAD8-DBE1-405D-9A5B-0050CA1E9D67}"/>
              </a:ext>
            </a:extLst>
          </p:cNvPr>
          <p:cNvSpPr txBox="1"/>
          <p:nvPr/>
        </p:nvSpPr>
        <p:spPr>
          <a:xfrm>
            <a:off x="6124501" y="2025498"/>
            <a:ext cx="3556000" cy="4263539"/>
          </a:xfrm>
          <a:prstGeom prst="rect">
            <a:avLst/>
          </a:prstGeom>
          <a:ln w="28575">
            <a:solidFill>
              <a:srgbClr val="0000FF"/>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zh-CN" altLang="en-US" sz="2800" dirty="0">
                <a:latin typeface="+mn-ea"/>
              </a:rPr>
              <a:t>进程</a:t>
            </a:r>
            <a:r>
              <a:rPr lang="en-US" altLang="zh-CN" sz="2800" dirty="0">
                <a:latin typeface="+mn-ea"/>
              </a:rPr>
              <a:t>Q</a:t>
            </a:r>
            <a:r>
              <a:rPr lang="zh-CN" altLang="en-US" sz="2800" dirty="0">
                <a:latin typeface="+mn-ea"/>
              </a:rPr>
              <a:t>：</a:t>
            </a:r>
            <a:endParaRPr lang="en-US" altLang="zh-CN" sz="2800" dirty="0">
              <a:latin typeface="+mn-ea"/>
            </a:endParaRPr>
          </a:p>
          <a:p>
            <a:pPr lvl="1">
              <a:lnSpc>
                <a:spcPct val="150000"/>
              </a:lnSpc>
            </a:pPr>
            <a:r>
              <a:rPr lang="en-US" altLang="zh-CN" sz="2800" dirty="0">
                <a:latin typeface="+mn-ea"/>
              </a:rPr>
              <a:t>	</a:t>
            </a:r>
            <a:r>
              <a:rPr lang="en-US" altLang="zh-CN" sz="3600" dirty="0">
                <a:latin typeface="+mn-ea"/>
              </a:rPr>
              <a:t>……</a:t>
            </a:r>
          </a:p>
          <a:p>
            <a:pPr>
              <a:lnSpc>
                <a:spcPct val="150000"/>
              </a:lnSpc>
            </a:pPr>
            <a:r>
              <a:rPr lang="en-US" altLang="zh-CN" sz="2800" dirty="0">
                <a:latin typeface="+mn-ea"/>
              </a:rPr>
              <a:t>  	</a:t>
            </a:r>
            <a:r>
              <a:rPr lang="en-US" altLang="zh-CN" sz="2800" dirty="0" err="1">
                <a:latin typeface="+mn-ea"/>
              </a:rPr>
              <a:t>Recive</a:t>
            </a:r>
            <a:r>
              <a:rPr lang="zh-CN" altLang="en-US" sz="2800" dirty="0">
                <a:latin typeface="+mn-ea"/>
              </a:rPr>
              <a:t>（</a:t>
            </a:r>
            <a:r>
              <a:rPr lang="en-US" altLang="zh-CN" sz="2800" dirty="0">
                <a:latin typeface="+mn-ea"/>
              </a:rPr>
              <a:t>P</a:t>
            </a:r>
            <a:r>
              <a:rPr lang="zh-CN" altLang="en-US" sz="2800" dirty="0">
                <a:latin typeface="+mn-ea"/>
              </a:rPr>
              <a:t>）</a:t>
            </a:r>
            <a:endParaRPr lang="en-US" altLang="zh-CN" sz="2800" dirty="0">
              <a:latin typeface="+mn-ea"/>
            </a:endParaRPr>
          </a:p>
          <a:p>
            <a:pPr lvl="1">
              <a:lnSpc>
                <a:spcPct val="150000"/>
              </a:lnSpc>
            </a:pPr>
            <a:r>
              <a:rPr lang="en-US" altLang="zh-CN" sz="2800" dirty="0">
                <a:latin typeface="+mn-ea"/>
              </a:rPr>
              <a:t>   </a:t>
            </a:r>
            <a:r>
              <a:rPr lang="en-US" altLang="zh-CN" sz="3600" dirty="0">
                <a:latin typeface="+mn-ea"/>
              </a:rPr>
              <a:t>	……</a:t>
            </a:r>
          </a:p>
          <a:p>
            <a:pPr>
              <a:lnSpc>
                <a:spcPct val="150000"/>
              </a:lnSpc>
            </a:pPr>
            <a:r>
              <a:rPr lang="en-US" altLang="zh-CN" sz="2800" dirty="0">
                <a:latin typeface="+mn-ea"/>
              </a:rPr>
              <a:t>	Send</a:t>
            </a:r>
            <a:r>
              <a:rPr lang="zh-CN" altLang="en-US" sz="2800" dirty="0">
                <a:latin typeface="+mn-ea"/>
              </a:rPr>
              <a:t>（</a:t>
            </a:r>
            <a:r>
              <a:rPr lang="en-US" altLang="zh-CN" sz="2800" dirty="0">
                <a:latin typeface="+mn-ea"/>
              </a:rPr>
              <a:t>P</a:t>
            </a:r>
            <a:r>
              <a:rPr lang="zh-CN" altLang="en-US" sz="2800" dirty="0">
                <a:latin typeface="+mn-ea"/>
              </a:rPr>
              <a:t>）</a:t>
            </a:r>
            <a:endParaRPr lang="en-US" altLang="zh-CN" sz="2800" dirty="0">
              <a:latin typeface="+mn-ea"/>
            </a:endParaRPr>
          </a:p>
          <a:p>
            <a:pPr>
              <a:lnSpc>
                <a:spcPct val="150000"/>
              </a:lnSpc>
            </a:pPr>
            <a:r>
              <a:rPr lang="en-US" altLang="zh-CN" sz="2800" dirty="0">
                <a:latin typeface="+mn-ea"/>
              </a:rPr>
              <a:t>	……</a:t>
            </a:r>
          </a:p>
        </p:txBody>
      </p:sp>
    </p:spTree>
    <p:extLst>
      <p:ext uri="{BB962C8B-B14F-4D97-AF65-F5344CB8AC3E}">
        <p14:creationId xmlns:p14="http://schemas.microsoft.com/office/powerpoint/2010/main" val="390335987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ym typeface="+mn-ea"/>
              </a:rPr>
              <a:t>4.1.2 产生死锁的原因</a:t>
            </a:r>
            <a:endParaRPr lang="zh-CN" altLang="en-US" dirty="0"/>
          </a:p>
        </p:txBody>
      </p:sp>
      <p:sp>
        <p:nvSpPr>
          <p:cNvPr id="3" name="内容占位符 2"/>
          <p:cNvSpPr>
            <a:spLocks noGrp="1"/>
          </p:cNvSpPr>
          <p:nvPr>
            <p:ph idx="1"/>
          </p:nvPr>
        </p:nvSpPr>
        <p:spPr>
          <a:xfrm>
            <a:off x="608330" y="1227455"/>
            <a:ext cx="10968990" cy="1123859"/>
          </a:xfrm>
        </p:spPr>
        <p:txBody>
          <a:bodyPr>
            <a:normAutofit/>
          </a:bodyPr>
          <a:lstStyle/>
          <a:p>
            <a:pPr marL="0" indent="0">
              <a:buNone/>
            </a:pPr>
            <a:r>
              <a:rPr lang="zh-CN" altLang="en-US" sz="3200" b="1" dirty="0"/>
              <a:t>2</a:t>
            </a:r>
            <a:r>
              <a:rPr lang="en-US" altLang="zh-CN" sz="3200" b="1" dirty="0"/>
              <a:t>. </a:t>
            </a:r>
            <a:r>
              <a:rPr lang="zh-CN" altLang="en-US" sz="3200" b="1" dirty="0"/>
              <a:t>进程推进顺序不当引起死锁</a:t>
            </a:r>
          </a:p>
        </p:txBody>
      </p:sp>
      <p:pic>
        <p:nvPicPr>
          <p:cNvPr id="4" name="图片 3" descr="GK5[B{~`]{U}L$R`]S_QH{E"/>
          <p:cNvPicPr>
            <a:picLocks noChangeAspect="1"/>
          </p:cNvPicPr>
          <p:nvPr/>
        </p:nvPicPr>
        <p:blipFill>
          <a:blip r:embed="rId3"/>
          <a:stretch>
            <a:fillRect/>
          </a:stretch>
        </p:blipFill>
        <p:spPr>
          <a:xfrm>
            <a:off x="1454566" y="2189356"/>
            <a:ext cx="4638259" cy="2067801"/>
          </a:xfrm>
          <a:prstGeom prst="rect">
            <a:avLst/>
          </a:prstGeom>
        </p:spPr>
      </p:pic>
      <p:sp>
        <p:nvSpPr>
          <p:cNvPr id="5" name="文本框 4">
            <a:extLst>
              <a:ext uri="{FF2B5EF4-FFF2-40B4-BE49-F238E27FC236}">
                <a16:creationId xmlns:a16="http://schemas.microsoft.com/office/drawing/2014/main" id="{0B27A40B-752F-CDD7-39F8-689AF7B4A44D}"/>
              </a:ext>
            </a:extLst>
          </p:cNvPr>
          <p:cNvSpPr txBox="1"/>
          <p:nvPr/>
        </p:nvSpPr>
        <p:spPr>
          <a:xfrm>
            <a:off x="1282535" y="4957448"/>
            <a:ext cx="8680864" cy="523220"/>
          </a:xfrm>
          <a:prstGeom prst="rect">
            <a:avLst/>
          </a:prstGeom>
          <a:noFill/>
        </p:spPr>
        <p:txBody>
          <a:bodyPr wrap="square" rtlCol="0">
            <a:spAutoFit/>
          </a:bodyPr>
          <a:lstStyle/>
          <a:p>
            <a:r>
              <a:rPr lang="zh-CN" altLang="en-US" sz="2800" dirty="0">
                <a:solidFill>
                  <a:srgbClr val="0000FF"/>
                </a:solidFill>
              </a:rPr>
              <a:t>生产者</a:t>
            </a:r>
            <a:r>
              <a:rPr lang="en-US" altLang="zh-CN" sz="2800" dirty="0">
                <a:solidFill>
                  <a:srgbClr val="0000FF"/>
                </a:solidFill>
              </a:rPr>
              <a:t>-</a:t>
            </a:r>
            <a:r>
              <a:rPr lang="zh-CN" altLang="en-US" sz="2800" dirty="0">
                <a:solidFill>
                  <a:srgbClr val="0000FF"/>
                </a:solidFill>
              </a:rPr>
              <a:t>消费者问题中，如果两个</a:t>
            </a:r>
            <a:r>
              <a:rPr lang="en-US" altLang="zh-CN" sz="2800" dirty="0">
                <a:solidFill>
                  <a:srgbClr val="0000FF"/>
                </a:solidFill>
              </a:rPr>
              <a:t>wait</a:t>
            </a:r>
            <a:r>
              <a:rPr lang="zh-CN" altLang="en-US" sz="2800" dirty="0">
                <a:solidFill>
                  <a:srgbClr val="0000FF"/>
                </a:solidFill>
              </a:rPr>
              <a:t>交换位置</a:t>
            </a:r>
            <a:r>
              <a:rPr lang="en-US" altLang="zh-CN" sz="2800" dirty="0">
                <a:solidFill>
                  <a:srgbClr val="0000FF"/>
                </a:solidFill>
              </a:rPr>
              <a:t>……</a:t>
            </a:r>
            <a:endParaRPr lang="zh-CN" altLang="en-US" sz="2800" dirty="0">
              <a:solidFill>
                <a:srgbClr val="0000FF"/>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8">
            <a:extLst>
              <a:ext uri="{FF2B5EF4-FFF2-40B4-BE49-F238E27FC236}">
                <a16:creationId xmlns:a16="http://schemas.microsoft.com/office/drawing/2014/main" id="{0601421F-470F-4FAA-BC2A-945F0888D6BE}"/>
              </a:ext>
            </a:extLst>
          </p:cNvPr>
          <p:cNvGrpSpPr>
            <a:grpSpLocks/>
          </p:cNvGrpSpPr>
          <p:nvPr/>
        </p:nvGrpSpPr>
        <p:grpSpPr bwMode="auto">
          <a:xfrm>
            <a:off x="3124200" y="1447800"/>
            <a:ext cx="7245350" cy="4310063"/>
            <a:chOff x="624" y="783"/>
            <a:chExt cx="4299" cy="2623"/>
          </a:xfrm>
        </p:grpSpPr>
        <p:sp>
          <p:nvSpPr>
            <p:cNvPr id="5" name="Line 8">
              <a:extLst>
                <a:ext uri="{FF2B5EF4-FFF2-40B4-BE49-F238E27FC236}">
                  <a16:creationId xmlns:a16="http://schemas.microsoft.com/office/drawing/2014/main" id="{BAC5F99F-5DC2-487D-8E7A-F50F8F953333}"/>
                </a:ext>
              </a:extLst>
            </p:cNvPr>
            <p:cNvSpPr>
              <a:spLocks noChangeShapeType="1"/>
            </p:cNvSpPr>
            <p:nvPr/>
          </p:nvSpPr>
          <p:spPr bwMode="auto">
            <a:xfrm>
              <a:off x="1055" y="3117"/>
              <a:ext cx="342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9">
              <a:extLst>
                <a:ext uri="{FF2B5EF4-FFF2-40B4-BE49-F238E27FC236}">
                  <a16:creationId xmlns:a16="http://schemas.microsoft.com/office/drawing/2014/main" id="{A22D96D2-8E40-4055-91A6-8009B48DF7D2}"/>
                </a:ext>
              </a:extLst>
            </p:cNvPr>
            <p:cNvSpPr>
              <a:spLocks noChangeShapeType="1"/>
            </p:cNvSpPr>
            <p:nvPr/>
          </p:nvSpPr>
          <p:spPr bwMode="auto">
            <a:xfrm flipV="1">
              <a:off x="1055" y="852"/>
              <a:ext cx="0" cy="227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10">
              <a:extLst>
                <a:ext uri="{FF2B5EF4-FFF2-40B4-BE49-F238E27FC236}">
                  <a16:creationId xmlns:a16="http://schemas.microsoft.com/office/drawing/2014/main" id="{01917F00-9291-45E9-B69A-1EDB446AACE2}"/>
                </a:ext>
              </a:extLst>
            </p:cNvPr>
            <p:cNvSpPr>
              <a:spLocks noChangeShapeType="1"/>
            </p:cNvSpPr>
            <p:nvPr/>
          </p:nvSpPr>
          <p:spPr bwMode="auto">
            <a:xfrm>
              <a:off x="1055" y="1268"/>
              <a:ext cx="289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1">
              <a:extLst>
                <a:ext uri="{FF2B5EF4-FFF2-40B4-BE49-F238E27FC236}">
                  <a16:creationId xmlns:a16="http://schemas.microsoft.com/office/drawing/2014/main" id="{9AEF24BB-FD23-4772-AB7F-EC586C4E4940}"/>
                </a:ext>
              </a:extLst>
            </p:cNvPr>
            <p:cNvSpPr>
              <a:spLocks noChangeShapeType="1"/>
            </p:cNvSpPr>
            <p:nvPr/>
          </p:nvSpPr>
          <p:spPr bwMode="auto">
            <a:xfrm flipV="1">
              <a:off x="3630" y="1083"/>
              <a:ext cx="0" cy="2037"/>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2">
              <a:extLst>
                <a:ext uri="{FF2B5EF4-FFF2-40B4-BE49-F238E27FC236}">
                  <a16:creationId xmlns:a16="http://schemas.microsoft.com/office/drawing/2014/main" id="{E98E4C04-0DB0-435E-8833-EC7D4E04BB25}"/>
                </a:ext>
              </a:extLst>
            </p:cNvPr>
            <p:cNvSpPr>
              <a:spLocks noChangeShapeType="1"/>
            </p:cNvSpPr>
            <p:nvPr/>
          </p:nvSpPr>
          <p:spPr bwMode="auto">
            <a:xfrm>
              <a:off x="1392" y="1037"/>
              <a:ext cx="278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3">
              <a:extLst>
                <a:ext uri="{FF2B5EF4-FFF2-40B4-BE49-F238E27FC236}">
                  <a16:creationId xmlns:a16="http://schemas.microsoft.com/office/drawing/2014/main" id="{C545BF4E-9626-441F-940D-2A0420FE2B1E}"/>
                </a:ext>
              </a:extLst>
            </p:cNvPr>
            <p:cNvSpPr>
              <a:spLocks noChangeShapeType="1"/>
            </p:cNvSpPr>
            <p:nvPr/>
          </p:nvSpPr>
          <p:spPr bwMode="auto">
            <a:xfrm>
              <a:off x="1348" y="2701"/>
              <a:ext cx="278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4">
              <a:extLst>
                <a:ext uri="{FF2B5EF4-FFF2-40B4-BE49-F238E27FC236}">
                  <a16:creationId xmlns:a16="http://schemas.microsoft.com/office/drawing/2014/main" id="{50764BD4-42BA-44A3-BBAC-DD3B10B0D318}"/>
                </a:ext>
              </a:extLst>
            </p:cNvPr>
            <p:cNvSpPr>
              <a:spLocks noChangeShapeType="1"/>
            </p:cNvSpPr>
            <p:nvPr/>
          </p:nvSpPr>
          <p:spPr bwMode="auto">
            <a:xfrm flipV="1">
              <a:off x="4128" y="1118"/>
              <a:ext cx="0" cy="15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15" descr="浅色上对角线">
              <a:extLst>
                <a:ext uri="{FF2B5EF4-FFF2-40B4-BE49-F238E27FC236}">
                  <a16:creationId xmlns:a16="http://schemas.microsoft.com/office/drawing/2014/main" id="{F2718FA0-E5F9-4DDD-830F-6A6DB99BFF5F}"/>
                </a:ext>
              </a:extLst>
            </p:cNvPr>
            <p:cNvSpPr txBox="1">
              <a:spLocks noChangeArrowheads="1"/>
            </p:cNvSpPr>
            <p:nvPr/>
          </p:nvSpPr>
          <p:spPr bwMode="auto">
            <a:xfrm>
              <a:off x="1640" y="1268"/>
              <a:ext cx="1293" cy="9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endParaRPr kumimoji="1" lang="zh-CN" altLang="zh-CN" sz="1600">
                <a:solidFill>
                  <a:schemeClr val="tx1"/>
                </a:solidFill>
                <a:latin typeface="Times New Roman" panose="02020603050405020304" pitchFamily="18" charset="0"/>
                <a:ea typeface="宋体" panose="02010600030101010101" pitchFamily="2" charset="-122"/>
              </a:endParaRPr>
            </a:p>
          </p:txBody>
        </p:sp>
        <p:sp>
          <p:nvSpPr>
            <p:cNvPr id="13" name="Text Box 16" descr="浅色下对角线">
              <a:extLst>
                <a:ext uri="{FF2B5EF4-FFF2-40B4-BE49-F238E27FC236}">
                  <a16:creationId xmlns:a16="http://schemas.microsoft.com/office/drawing/2014/main" id="{AE347CDD-8A6A-461A-9B29-7363E550F8C6}"/>
                </a:ext>
              </a:extLst>
            </p:cNvPr>
            <p:cNvSpPr txBox="1">
              <a:spLocks noChangeArrowheads="1"/>
            </p:cNvSpPr>
            <p:nvPr/>
          </p:nvSpPr>
          <p:spPr bwMode="auto">
            <a:xfrm>
              <a:off x="2286" y="1731"/>
              <a:ext cx="1344" cy="94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endParaRPr kumimoji="1" lang="zh-CN" altLang="zh-CN" sz="1600">
                <a:solidFill>
                  <a:schemeClr val="tx1"/>
                </a:solidFill>
                <a:latin typeface="Times New Roman" panose="02020603050405020304" pitchFamily="18" charset="0"/>
                <a:ea typeface="宋体" panose="02010600030101010101" pitchFamily="2" charset="-122"/>
              </a:endParaRPr>
            </a:p>
          </p:txBody>
        </p:sp>
        <p:sp>
          <p:nvSpPr>
            <p:cNvPr id="14" name="Text Box 17" descr="大网格">
              <a:extLst>
                <a:ext uri="{FF2B5EF4-FFF2-40B4-BE49-F238E27FC236}">
                  <a16:creationId xmlns:a16="http://schemas.microsoft.com/office/drawing/2014/main" id="{C2D13855-5019-48A7-9FD1-BFFAB9F6F895}"/>
                </a:ext>
              </a:extLst>
            </p:cNvPr>
            <p:cNvSpPr txBox="1">
              <a:spLocks noChangeArrowheads="1"/>
            </p:cNvSpPr>
            <p:nvPr/>
          </p:nvSpPr>
          <p:spPr bwMode="auto">
            <a:xfrm>
              <a:off x="2286" y="1731"/>
              <a:ext cx="647" cy="456"/>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endParaRPr kumimoji="1" lang="zh-CN" altLang="zh-CN" sz="1600">
                <a:solidFill>
                  <a:schemeClr val="tx1"/>
                </a:solidFill>
                <a:latin typeface="Times New Roman" panose="02020603050405020304" pitchFamily="18" charset="0"/>
                <a:ea typeface="宋体" panose="02010600030101010101" pitchFamily="2" charset="-122"/>
              </a:endParaRPr>
            </a:p>
          </p:txBody>
        </p:sp>
        <p:sp>
          <p:nvSpPr>
            <p:cNvPr id="15" name="Text Box 18">
              <a:extLst>
                <a:ext uri="{FF2B5EF4-FFF2-40B4-BE49-F238E27FC236}">
                  <a16:creationId xmlns:a16="http://schemas.microsoft.com/office/drawing/2014/main" id="{943FA8C4-7777-4168-8C45-DA23A9A44403}"/>
                </a:ext>
              </a:extLst>
            </p:cNvPr>
            <p:cNvSpPr txBox="1">
              <a:spLocks noChangeArrowheads="1"/>
            </p:cNvSpPr>
            <p:nvPr/>
          </p:nvSpPr>
          <p:spPr bwMode="auto">
            <a:xfrm>
              <a:off x="2288" y="2054"/>
              <a:ext cx="28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rgbClr val="FF0000"/>
                  </a:solidFill>
                  <a:latin typeface="Times New Roman" panose="02020603050405020304" pitchFamily="18" charset="0"/>
                  <a:ea typeface="宋体" panose="02010600030101010101" pitchFamily="2" charset="-122"/>
                </a:rPr>
                <a:t>N</a:t>
              </a:r>
              <a:endParaRPr kumimoji="1" lang="en-US" altLang="zh-CN" sz="1600">
                <a:solidFill>
                  <a:schemeClr val="tx1"/>
                </a:solidFill>
                <a:latin typeface="Times New Roman" panose="02020603050405020304" pitchFamily="18" charset="0"/>
                <a:ea typeface="宋体" panose="02010600030101010101" pitchFamily="2" charset="-122"/>
              </a:endParaRPr>
            </a:p>
          </p:txBody>
        </p:sp>
        <p:sp>
          <p:nvSpPr>
            <p:cNvPr id="16" name="Line 19">
              <a:extLst>
                <a:ext uri="{FF2B5EF4-FFF2-40B4-BE49-F238E27FC236}">
                  <a16:creationId xmlns:a16="http://schemas.microsoft.com/office/drawing/2014/main" id="{DB287CAA-ED79-4ADF-B63C-228010E9E67C}"/>
                </a:ext>
              </a:extLst>
            </p:cNvPr>
            <p:cNvSpPr>
              <a:spLocks noChangeShapeType="1"/>
            </p:cNvSpPr>
            <p:nvPr/>
          </p:nvSpPr>
          <p:spPr bwMode="auto">
            <a:xfrm flipV="1">
              <a:off x="2933" y="1083"/>
              <a:ext cx="0" cy="2037"/>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0">
              <a:extLst>
                <a:ext uri="{FF2B5EF4-FFF2-40B4-BE49-F238E27FC236}">
                  <a16:creationId xmlns:a16="http://schemas.microsoft.com/office/drawing/2014/main" id="{EF62174C-B2D1-404C-BD1D-8E55D7405E64}"/>
                </a:ext>
              </a:extLst>
            </p:cNvPr>
            <p:cNvSpPr>
              <a:spLocks noChangeShapeType="1"/>
            </p:cNvSpPr>
            <p:nvPr/>
          </p:nvSpPr>
          <p:spPr bwMode="auto">
            <a:xfrm flipV="1">
              <a:off x="2286" y="1083"/>
              <a:ext cx="0" cy="2037"/>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1">
              <a:extLst>
                <a:ext uri="{FF2B5EF4-FFF2-40B4-BE49-F238E27FC236}">
                  <a16:creationId xmlns:a16="http://schemas.microsoft.com/office/drawing/2014/main" id="{112B03F9-F779-4D1B-8587-047D12E22777}"/>
                </a:ext>
              </a:extLst>
            </p:cNvPr>
            <p:cNvSpPr>
              <a:spLocks noChangeShapeType="1"/>
            </p:cNvSpPr>
            <p:nvPr/>
          </p:nvSpPr>
          <p:spPr bwMode="auto">
            <a:xfrm flipV="1">
              <a:off x="1640" y="1081"/>
              <a:ext cx="0" cy="2036"/>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2">
              <a:extLst>
                <a:ext uri="{FF2B5EF4-FFF2-40B4-BE49-F238E27FC236}">
                  <a16:creationId xmlns:a16="http://schemas.microsoft.com/office/drawing/2014/main" id="{EC193C72-BEDA-4008-8B98-83B131141B76}"/>
                </a:ext>
              </a:extLst>
            </p:cNvPr>
            <p:cNvSpPr>
              <a:spLocks noChangeShapeType="1"/>
            </p:cNvSpPr>
            <p:nvPr/>
          </p:nvSpPr>
          <p:spPr bwMode="auto">
            <a:xfrm>
              <a:off x="1066" y="1731"/>
              <a:ext cx="289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3">
              <a:extLst>
                <a:ext uri="{FF2B5EF4-FFF2-40B4-BE49-F238E27FC236}">
                  <a16:creationId xmlns:a16="http://schemas.microsoft.com/office/drawing/2014/main" id="{892CE0B3-5F8E-4691-A8F4-AA55EE7127D8}"/>
                </a:ext>
              </a:extLst>
            </p:cNvPr>
            <p:cNvSpPr>
              <a:spLocks noChangeShapeType="1"/>
            </p:cNvSpPr>
            <p:nvPr/>
          </p:nvSpPr>
          <p:spPr bwMode="auto">
            <a:xfrm>
              <a:off x="1066" y="2193"/>
              <a:ext cx="289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4">
              <a:extLst>
                <a:ext uri="{FF2B5EF4-FFF2-40B4-BE49-F238E27FC236}">
                  <a16:creationId xmlns:a16="http://schemas.microsoft.com/office/drawing/2014/main" id="{2CCA10A6-E215-46F5-A252-7D51EC3CF898}"/>
                </a:ext>
              </a:extLst>
            </p:cNvPr>
            <p:cNvSpPr>
              <a:spLocks noChangeShapeType="1"/>
            </p:cNvSpPr>
            <p:nvPr/>
          </p:nvSpPr>
          <p:spPr bwMode="auto">
            <a:xfrm>
              <a:off x="1066" y="2655"/>
              <a:ext cx="289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5">
              <a:extLst>
                <a:ext uri="{FF2B5EF4-FFF2-40B4-BE49-F238E27FC236}">
                  <a16:creationId xmlns:a16="http://schemas.microsoft.com/office/drawing/2014/main" id="{5354AFC4-133D-4D0A-86EA-24D5A8F8DD71}"/>
                </a:ext>
              </a:extLst>
            </p:cNvPr>
            <p:cNvSpPr>
              <a:spLocks noChangeShapeType="1"/>
            </p:cNvSpPr>
            <p:nvPr/>
          </p:nvSpPr>
          <p:spPr bwMode="auto">
            <a:xfrm flipV="1">
              <a:off x="1441" y="2880"/>
              <a:ext cx="0" cy="241"/>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26">
              <a:extLst>
                <a:ext uri="{FF2B5EF4-FFF2-40B4-BE49-F238E27FC236}">
                  <a16:creationId xmlns:a16="http://schemas.microsoft.com/office/drawing/2014/main" id="{A9B16372-BBE5-47D2-8088-BB698E8265C0}"/>
                </a:ext>
              </a:extLst>
            </p:cNvPr>
            <p:cNvSpPr>
              <a:spLocks noChangeShapeType="1"/>
            </p:cNvSpPr>
            <p:nvPr/>
          </p:nvSpPr>
          <p:spPr bwMode="auto">
            <a:xfrm>
              <a:off x="1441" y="2886"/>
              <a:ext cx="447"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Line 27">
              <a:extLst>
                <a:ext uri="{FF2B5EF4-FFF2-40B4-BE49-F238E27FC236}">
                  <a16:creationId xmlns:a16="http://schemas.microsoft.com/office/drawing/2014/main" id="{7D108676-5AE3-4343-8347-CE7EFA46DB5B}"/>
                </a:ext>
              </a:extLst>
            </p:cNvPr>
            <p:cNvSpPr>
              <a:spLocks noChangeShapeType="1"/>
            </p:cNvSpPr>
            <p:nvPr/>
          </p:nvSpPr>
          <p:spPr bwMode="auto">
            <a:xfrm flipV="1">
              <a:off x="1888" y="2412"/>
              <a:ext cx="0" cy="482"/>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 name="Line 28">
              <a:extLst>
                <a:ext uri="{FF2B5EF4-FFF2-40B4-BE49-F238E27FC236}">
                  <a16:creationId xmlns:a16="http://schemas.microsoft.com/office/drawing/2014/main" id="{CD0040A3-5942-455B-B45C-B392D7A27659}"/>
                </a:ext>
              </a:extLst>
            </p:cNvPr>
            <p:cNvSpPr>
              <a:spLocks noChangeShapeType="1"/>
            </p:cNvSpPr>
            <p:nvPr/>
          </p:nvSpPr>
          <p:spPr bwMode="auto">
            <a:xfrm>
              <a:off x="1888" y="2424"/>
              <a:ext cx="398"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6" name="Line 29">
              <a:extLst>
                <a:ext uri="{FF2B5EF4-FFF2-40B4-BE49-F238E27FC236}">
                  <a16:creationId xmlns:a16="http://schemas.microsoft.com/office/drawing/2014/main" id="{EC766F63-D105-41C9-B745-E6300D6B2A7D}"/>
                </a:ext>
              </a:extLst>
            </p:cNvPr>
            <p:cNvSpPr>
              <a:spLocks noChangeShapeType="1"/>
            </p:cNvSpPr>
            <p:nvPr/>
          </p:nvSpPr>
          <p:spPr bwMode="auto">
            <a:xfrm flipV="1">
              <a:off x="1341" y="2689"/>
              <a:ext cx="0" cy="429"/>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7" name="Line 30">
              <a:extLst>
                <a:ext uri="{FF2B5EF4-FFF2-40B4-BE49-F238E27FC236}">
                  <a16:creationId xmlns:a16="http://schemas.microsoft.com/office/drawing/2014/main" id="{A4533D5D-C370-4603-B067-4B9A70345391}"/>
                </a:ext>
              </a:extLst>
            </p:cNvPr>
            <p:cNvSpPr>
              <a:spLocks noChangeShapeType="1"/>
            </p:cNvSpPr>
            <p:nvPr/>
          </p:nvSpPr>
          <p:spPr bwMode="auto">
            <a:xfrm flipV="1">
              <a:off x="1179" y="2452"/>
              <a:ext cx="0" cy="6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 name="Line 31">
              <a:extLst>
                <a:ext uri="{FF2B5EF4-FFF2-40B4-BE49-F238E27FC236}">
                  <a16:creationId xmlns:a16="http://schemas.microsoft.com/office/drawing/2014/main" id="{6D3E15CC-16FF-4CE3-BDFD-E39D47B1D7F1}"/>
                </a:ext>
              </a:extLst>
            </p:cNvPr>
            <p:cNvSpPr>
              <a:spLocks noChangeShapeType="1"/>
            </p:cNvSpPr>
            <p:nvPr/>
          </p:nvSpPr>
          <p:spPr bwMode="auto">
            <a:xfrm>
              <a:off x="1181" y="2464"/>
              <a:ext cx="21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9" name="Line 32">
              <a:extLst>
                <a:ext uri="{FF2B5EF4-FFF2-40B4-BE49-F238E27FC236}">
                  <a16:creationId xmlns:a16="http://schemas.microsoft.com/office/drawing/2014/main" id="{6705EEBA-E16A-45BA-9712-05B845DB2AE9}"/>
                </a:ext>
              </a:extLst>
            </p:cNvPr>
            <p:cNvSpPr>
              <a:spLocks noChangeShapeType="1"/>
            </p:cNvSpPr>
            <p:nvPr/>
          </p:nvSpPr>
          <p:spPr bwMode="auto">
            <a:xfrm flipV="1">
              <a:off x="1392" y="1025"/>
              <a:ext cx="0" cy="14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0" name="Text Box 33">
              <a:extLst>
                <a:ext uri="{FF2B5EF4-FFF2-40B4-BE49-F238E27FC236}">
                  <a16:creationId xmlns:a16="http://schemas.microsoft.com/office/drawing/2014/main" id="{54569F9E-897F-43BA-8007-DF63C4AD288B}"/>
                </a:ext>
              </a:extLst>
            </p:cNvPr>
            <p:cNvSpPr txBox="1">
              <a:spLocks noChangeArrowheads="1"/>
            </p:cNvSpPr>
            <p:nvPr/>
          </p:nvSpPr>
          <p:spPr bwMode="auto">
            <a:xfrm>
              <a:off x="856" y="3025"/>
              <a:ext cx="28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a:solidFill>
                    <a:schemeClr val="tx1"/>
                  </a:solidFill>
                  <a:latin typeface="Times New Roman" panose="02020603050405020304" pitchFamily="18" charset="0"/>
                  <a:ea typeface="宋体" panose="02010600030101010101" pitchFamily="2" charset="-122"/>
                </a:rPr>
                <a:t>0</a:t>
              </a:r>
            </a:p>
          </p:txBody>
        </p:sp>
        <p:sp>
          <p:nvSpPr>
            <p:cNvPr id="31" name="Text Box 34">
              <a:extLst>
                <a:ext uri="{FF2B5EF4-FFF2-40B4-BE49-F238E27FC236}">
                  <a16:creationId xmlns:a16="http://schemas.microsoft.com/office/drawing/2014/main" id="{EC2422B3-AE65-4489-B2D1-28A4FAC99046}"/>
                </a:ext>
              </a:extLst>
            </p:cNvPr>
            <p:cNvSpPr txBox="1">
              <a:spLocks noChangeArrowheads="1"/>
            </p:cNvSpPr>
            <p:nvPr/>
          </p:nvSpPr>
          <p:spPr bwMode="auto">
            <a:xfrm>
              <a:off x="1491" y="3117"/>
              <a:ext cx="39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A</a:t>
              </a:r>
              <a:r>
                <a:rPr kumimoji="1" lang="en-US" altLang="zh-CN" sz="1600" b="1" baseline="-25000">
                  <a:solidFill>
                    <a:schemeClr val="tx1"/>
                  </a:solidFill>
                  <a:latin typeface="Times New Roman" panose="02020603050405020304" pitchFamily="18" charset="0"/>
                  <a:ea typeface="宋体" panose="02010600030101010101" pitchFamily="2" charset="-122"/>
                </a:rPr>
                <a:t>1</a:t>
              </a:r>
            </a:p>
          </p:txBody>
        </p:sp>
        <p:sp>
          <p:nvSpPr>
            <p:cNvPr id="32" name="Text Box 35">
              <a:extLst>
                <a:ext uri="{FF2B5EF4-FFF2-40B4-BE49-F238E27FC236}">
                  <a16:creationId xmlns:a16="http://schemas.microsoft.com/office/drawing/2014/main" id="{FFE7D760-F866-4E17-BEA6-54839A902087}"/>
                </a:ext>
              </a:extLst>
            </p:cNvPr>
            <p:cNvSpPr txBox="1">
              <a:spLocks noChangeArrowheads="1"/>
            </p:cNvSpPr>
            <p:nvPr/>
          </p:nvSpPr>
          <p:spPr bwMode="auto">
            <a:xfrm>
              <a:off x="2187" y="3117"/>
              <a:ext cx="39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B</a:t>
              </a:r>
              <a:r>
                <a:rPr kumimoji="1" lang="en-US" altLang="zh-CN" sz="1600" b="1" baseline="-25000">
                  <a:solidFill>
                    <a:schemeClr val="tx1"/>
                  </a:solidFill>
                  <a:latin typeface="Times New Roman" panose="02020603050405020304" pitchFamily="18" charset="0"/>
                  <a:ea typeface="宋体" panose="02010600030101010101" pitchFamily="2" charset="-122"/>
                </a:rPr>
                <a:t>1</a:t>
              </a:r>
              <a:endParaRPr kumimoji="1" lang="en-US" altLang="zh-CN" sz="1600">
                <a:solidFill>
                  <a:schemeClr val="tx1"/>
                </a:solidFill>
                <a:latin typeface="Times New Roman" panose="02020603050405020304" pitchFamily="18" charset="0"/>
                <a:ea typeface="宋体" panose="02010600030101010101" pitchFamily="2" charset="-122"/>
              </a:endParaRPr>
            </a:p>
          </p:txBody>
        </p:sp>
        <p:sp>
          <p:nvSpPr>
            <p:cNvPr id="33" name="Text Box 36">
              <a:extLst>
                <a:ext uri="{FF2B5EF4-FFF2-40B4-BE49-F238E27FC236}">
                  <a16:creationId xmlns:a16="http://schemas.microsoft.com/office/drawing/2014/main" id="{F5562B3D-06A8-4DDE-997C-68264DB7A174}"/>
                </a:ext>
              </a:extLst>
            </p:cNvPr>
            <p:cNvSpPr txBox="1">
              <a:spLocks noChangeArrowheads="1"/>
            </p:cNvSpPr>
            <p:nvPr/>
          </p:nvSpPr>
          <p:spPr bwMode="auto">
            <a:xfrm>
              <a:off x="2784" y="3117"/>
              <a:ext cx="39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C</a:t>
              </a:r>
              <a:r>
                <a:rPr kumimoji="1" lang="en-US" altLang="zh-CN" sz="1600" b="1" baseline="-25000">
                  <a:solidFill>
                    <a:schemeClr val="tx1"/>
                  </a:solidFill>
                  <a:latin typeface="Times New Roman" panose="02020603050405020304" pitchFamily="18" charset="0"/>
                  <a:ea typeface="宋体" panose="02010600030101010101" pitchFamily="2" charset="-122"/>
                </a:rPr>
                <a:t>1</a:t>
              </a:r>
              <a:endParaRPr kumimoji="1" lang="en-US" altLang="zh-CN" sz="1600" b="1">
                <a:solidFill>
                  <a:schemeClr val="tx1"/>
                </a:solidFill>
                <a:latin typeface="Times New Roman" panose="02020603050405020304" pitchFamily="18" charset="0"/>
                <a:ea typeface="宋体" panose="02010600030101010101" pitchFamily="2" charset="-122"/>
              </a:endParaRPr>
            </a:p>
          </p:txBody>
        </p:sp>
        <p:sp>
          <p:nvSpPr>
            <p:cNvPr id="34" name="Text Box 37">
              <a:extLst>
                <a:ext uri="{FF2B5EF4-FFF2-40B4-BE49-F238E27FC236}">
                  <a16:creationId xmlns:a16="http://schemas.microsoft.com/office/drawing/2014/main" id="{40B8404B-4BCF-48EA-8526-F4DAC3882112}"/>
                </a:ext>
              </a:extLst>
            </p:cNvPr>
            <p:cNvSpPr txBox="1">
              <a:spLocks noChangeArrowheads="1"/>
            </p:cNvSpPr>
            <p:nvPr/>
          </p:nvSpPr>
          <p:spPr bwMode="auto">
            <a:xfrm>
              <a:off x="3480" y="3117"/>
              <a:ext cx="3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D</a:t>
              </a:r>
              <a:r>
                <a:rPr kumimoji="1" lang="en-US" altLang="zh-CN" sz="1600" b="1" baseline="-25000">
                  <a:solidFill>
                    <a:schemeClr val="tx1"/>
                  </a:solidFill>
                  <a:latin typeface="Times New Roman" panose="02020603050405020304" pitchFamily="18" charset="0"/>
                  <a:ea typeface="宋体" panose="02010600030101010101" pitchFamily="2" charset="-122"/>
                </a:rPr>
                <a:t>1</a:t>
              </a:r>
              <a:endParaRPr kumimoji="1" lang="en-US" altLang="zh-CN" sz="1600" b="1">
                <a:solidFill>
                  <a:schemeClr val="tx1"/>
                </a:solidFill>
                <a:latin typeface="Times New Roman" panose="02020603050405020304" pitchFamily="18" charset="0"/>
                <a:ea typeface="宋体" panose="02010600030101010101" pitchFamily="2" charset="-122"/>
              </a:endParaRPr>
            </a:p>
          </p:txBody>
        </p:sp>
        <p:sp>
          <p:nvSpPr>
            <p:cNvPr id="35" name="Text Box 38">
              <a:extLst>
                <a:ext uri="{FF2B5EF4-FFF2-40B4-BE49-F238E27FC236}">
                  <a16:creationId xmlns:a16="http://schemas.microsoft.com/office/drawing/2014/main" id="{65D3F896-C683-4DCD-92A8-7A9E6F038919}"/>
                </a:ext>
              </a:extLst>
            </p:cNvPr>
            <p:cNvSpPr txBox="1">
              <a:spLocks noChangeArrowheads="1"/>
            </p:cNvSpPr>
            <p:nvPr/>
          </p:nvSpPr>
          <p:spPr bwMode="auto">
            <a:xfrm>
              <a:off x="791" y="2551"/>
              <a:ext cx="291"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A2</a:t>
              </a:r>
              <a:endParaRPr kumimoji="1" lang="en-US" altLang="zh-CN" sz="1600">
                <a:solidFill>
                  <a:schemeClr val="tx1"/>
                </a:solidFill>
                <a:latin typeface="Times New Roman" panose="02020603050405020304" pitchFamily="18" charset="0"/>
                <a:ea typeface="宋体" panose="02010600030101010101" pitchFamily="2" charset="-122"/>
              </a:endParaRPr>
            </a:p>
          </p:txBody>
        </p:sp>
        <p:sp>
          <p:nvSpPr>
            <p:cNvPr id="36" name="Text Box 39">
              <a:extLst>
                <a:ext uri="{FF2B5EF4-FFF2-40B4-BE49-F238E27FC236}">
                  <a16:creationId xmlns:a16="http://schemas.microsoft.com/office/drawing/2014/main" id="{D36D6864-156D-4093-AD25-D4DE7C89D61A}"/>
                </a:ext>
              </a:extLst>
            </p:cNvPr>
            <p:cNvSpPr txBox="1">
              <a:spLocks noChangeArrowheads="1"/>
            </p:cNvSpPr>
            <p:nvPr/>
          </p:nvSpPr>
          <p:spPr bwMode="auto">
            <a:xfrm>
              <a:off x="805" y="2097"/>
              <a:ext cx="29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B2</a:t>
              </a:r>
              <a:endParaRPr kumimoji="1" lang="en-US" altLang="zh-CN" sz="1600">
                <a:solidFill>
                  <a:schemeClr val="tx1"/>
                </a:solidFill>
                <a:latin typeface="Times New Roman" panose="02020603050405020304" pitchFamily="18" charset="0"/>
                <a:ea typeface="宋体" panose="02010600030101010101" pitchFamily="2" charset="-122"/>
              </a:endParaRPr>
            </a:p>
          </p:txBody>
        </p:sp>
        <p:sp>
          <p:nvSpPr>
            <p:cNvPr id="37" name="Text Box 40">
              <a:extLst>
                <a:ext uri="{FF2B5EF4-FFF2-40B4-BE49-F238E27FC236}">
                  <a16:creationId xmlns:a16="http://schemas.microsoft.com/office/drawing/2014/main" id="{0F48CAC7-C856-4A67-9A65-C818888AD70A}"/>
                </a:ext>
              </a:extLst>
            </p:cNvPr>
            <p:cNvSpPr txBox="1">
              <a:spLocks noChangeArrowheads="1"/>
            </p:cNvSpPr>
            <p:nvPr/>
          </p:nvSpPr>
          <p:spPr bwMode="auto">
            <a:xfrm>
              <a:off x="805" y="1618"/>
              <a:ext cx="30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C</a:t>
              </a:r>
              <a:r>
                <a:rPr kumimoji="1" lang="en-US" altLang="zh-CN" sz="1600" b="1" baseline="-25000">
                  <a:solidFill>
                    <a:schemeClr val="tx1"/>
                  </a:solidFill>
                  <a:latin typeface="Times New Roman" panose="02020603050405020304" pitchFamily="18" charset="0"/>
                  <a:ea typeface="宋体" panose="02010600030101010101" pitchFamily="2" charset="-122"/>
                </a:rPr>
                <a:t>2</a:t>
              </a:r>
              <a:endParaRPr kumimoji="1" lang="en-US" altLang="zh-CN" sz="1600" b="1">
                <a:solidFill>
                  <a:schemeClr val="tx1"/>
                </a:solidFill>
                <a:latin typeface="Times New Roman" panose="02020603050405020304" pitchFamily="18" charset="0"/>
                <a:ea typeface="宋体" panose="02010600030101010101" pitchFamily="2" charset="-122"/>
              </a:endParaRPr>
            </a:p>
          </p:txBody>
        </p:sp>
        <p:sp>
          <p:nvSpPr>
            <p:cNvPr id="38" name="Text Box 41">
              <a:extLst>
                <a:ext uri="{FF2B5EF4-FFF2-40B4-BE49-F238E27FC236}">
                  <a16:creationId xmlns:a16="http://schemas.microsoft.com/office/drawing/2014/main" id="{4768DD47-677F-4799-A4B7-9D46F0264634}"/>
                </a:ext>
              </a:extLst>
            </p:cNvPr>
            <p:cNvSpPr txBox="1">
              <a:spLocks noChangeArrowheads="1"/>
            </p:cNvSpPr>
            <p:nvPr/>
          </p:nvSpPr>
          <p:spPr bwMode="auto">
            <a:xfrm>
              <a:off x="814" y="1173"/>
              <a:ext cx="26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D</a:t>
              </a:r>
              <a:r>
                <a:rPr kumimoji="1" lang="en-US" altLang="zh-CN" sz="1600" b="1" baseline="-25000">
                  <a:solidFill>
                    <a:schemeClr val="tx1"/>
                  </a:solidFill>
                  <a:latin typeface="Times New Roman" panose="02020603050405020304" pitchFamily="18" charset="0"/>
                  <a:ea typeface="宋体" panose="02010600030101010101" pitchFamily="2" charset="-122"/>
                </a:rPr>
                <a:t>2</a:t>
              </a:r>
              <a:endParaRPr kumimoji="1" lang="en-US" altLang="zh-CN" sz="1600">
                <a:solidFill>
                  <a:schemeClr val="tx1"/>
                </a:solidFill>
                <a:latin typeface="Times New Roman" panose="02020603050405020304" pitchFamily="18" charset="0"/>
                <a:ea typeface="宋体" panose="02010600030101010101" pitchFamily="2" charset="-122"/>
              </a:endParaRPr>
            </a:p>
          </p:txBody>
        </p:sp>
        <p:sp>
          <p:nvSpPr>
            <p:cNvPr id="39" name="Text Box 42">
              <a:extLst>
                <a:ext uri="{FF2B5EF4-FFF2-40B4-BE49-F238E27FC236}">
                  <a16:creationId xmlns:a16="http://schemas.microsoft.com/office/drawing/2014/main" id="{57697219-90BD-4BDA-A31C-7F5A1B7CAAEE}"/>
                </a:ext>
              </a:extLst>
            </p:cNvPr>
            <p:cNvSpPr txBox="1">
              <a:spLocks noChangeArrowheads="1"/>
            </p:cNvSpPr>
            <p:nvPr/>
          </p:nvSpPr>
          <p:spPr bwMode="auto">
            <a:xfrm>
              <a:off x="4227" y="3117"/>
              <a:ext cx="69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P</a:t>
              </a:r>
              <a:r>
                <a:rPr kumimoji="1" lang="en-US" altLang="zh-CN" sz="1600" b="1" baseline="-25000">
                  <a:solidFill>
                    <a:schemeClr val="tx1"/>
                  </a:solidFill>
                  <a:latin typeface="Times New Roman" panose="02020603050405020304" pitchFamily="18" charset="0"/>
                  <a:ea typeface="宋体" panose="02010600030101010101" pitchFamily="2" charset="-122"/>
                </a:rPr>
                <a:t>1</a:t>
              </a:r>
              <a:r>
                <a:rPr kumimoji="1" lang="zh-CN" altLang="zh-CN" sz="1600" b="1">
                  <a:solidFill>
                    <a:schemeClr val="tx1"/>
                  </a:solidFill>
                  <a:latin typeface="Times New Roman" panose="02020603050405020304" pitchFamily="18" charset="0"/>
                  <a:ea typeface="宋体" panose="02010600030101010101" pitchFamily="2" charset="-122"/>
                </a:rPr>
                <a:t>进程</a:t>
              </a:r>
              <a:endParaRPr kumimoji="1" lang="zh-CN" altLang="en-US" sz="1600" b="1">
                <a:solidFill>
                  <a:schemeClr val="tx1"/>
                </a:solidFill>
                <a:latin typeface="Times New Roman" panose="02020603050405020304" pitchFamily="18" charset="0"/>
                <a:ea typeface="宋体" panose="02010600030101010101" pitchFamily="2" charset="-122"/>
              </a:endParaRPr>
            </a:p>
          </p:txBody>
        </p:sp>
        <p:sp>
          <p:nvSpPr>
            <p:cNvPr id="40" name="Text Box 43">
              <a:extLst>
                <a:ext uri="{FF2B5EF4-FFF2-40B4-BE49-F238E27FC236}">
                  <a16:creationId xmlns:a16="http://schemas.microsoft.com/office/drawing/2014/main" id="{D1F77BBD-4284-47C0-9332-42B000A1D838}"/>
                </a:ext>
              </a:extLst>
            </p:cNvPr>
            <p:cNvSpPr txBox="1">
              <a:spLocks noChangeArrowheads="1"/>
            </p:cNvSpPr>
            <p:nvPr/>
          </p:nvSpPr>
          <p:spPr bwMode="auto">
            <a:xfrm>
              <a:off x="624" y="783"/>
              <a:ext cx="503"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algn="just" eaLnBrk="1" hangingPunct="1">
                <a:lnSpc>
                  <a:spcPct val="100000"/>
                </a:lnSpc>
                <a:spcAft>
                  <a:spcPct val="0"/>
                </a:spcAft>
                <a:buClrTx/>
                <a:buSzTx/>
                <a:buFontTx/>
                <a:buNone/>
              </a:pPr>
              <a:r>
                <a:rPr kumimoji="1" lang="en-US" altLang="zh-CN" sz="1600" b="1">
                  <a:solidFill>
                    <a:schemeClr val="tx1"/>
                  </a:solidFill>
                  <a:latin typeface="Times New Roman" panose="02020603050405020304" pitchFamily="18" charset="0"/>
                  <a:ea typeface="宋体" panose="02010600030101010101" pitchFamily="2" charset="-122"/>
                </a:rPr>
                <a:t>P</a:t>
              </a:r>
              <a:r>
                <a:rPr kumimoji="1" lang="en-US" altLang="zh-CN" sz="1600" b="1" baseline="-25000">
                  <a:solidFill>
                    <a:schemeClr val="tx1"/>
                  </a:solidFill>
                  <a:latin typeface="Times New Roman" panose="02020603050405020304" pitchFamily="18" charset="0"/>
                  <a:ea typeface="宋体" panose="02010600030101010101" pitchFamily="2" charset="-122"/>
                </a:rPr>
                <a:t>2</a:t>
              </a:r>
              <a:r>
                <a:rPr kumimoji="1" lang="zh-CN" altLang="zh-CN" sz="1600" b="1">
                  <a:solidFill>
                    <a:schemeClr val="tx1"/>
                  </a:solidFill>
                  <a:latin typeface="Times New Roman" panose="02020603050405020304" pitchFamily="18" charset="0"/>
                  <a:ea typeface="宋体" panose="02010600030101010101" pitchFamily="2" charset="-122"/>
                </a:rPr>
                <a:t>进程</a:t>
              </a:r>
              <a:endParaRPr kumimoji="1" lang="zh-CN" altLang="en-US" sz="1600" b="1">
                <a:solidFill>
                  <a:schemeClr val="tx1"/>
                </a:solidFill>
                <a:latin typeface="Times New Roman" panose="02020603050405020304" pitchFamily="18" charset="0"/>
                <a:ea typeface="宋体" panose="02010600030101010101" pitchFamily="2" charset="-122"/>
              </a:endParaRPr>
            </a:p>
          </p:txBody>
        </p:sp>
        <p:sp>
          <p:nvSpPr>
            <p:cNvPr id="41" name="Line 44">
              <a:extLst>
                <a:ext uri="{FF2B5EF4-FFF2-40B4-BE49-F238E27FC236}">
                  <a16:creationId xmlns:a16="http://schemas.microsoft.com/office/drawing/2014/main" id="{407354CD-98C0-4B73-8221-E36FB3AA2FCE}"/>
                </a:ext>
              </a:extLst>
            </p:cNvPr>
            <p:cNvSpPr>
              <a:spLocks noChangeShapeType="1"/>
            </p:cNvSpPr>
            <p:nvPr/>
          </p:nvSpPr>
          <p:spPr bwMode="auto">
            <a:xfrm>
              <a:off x="2288" y="2193"/>
              <a:ext cx="0" cy="231"/>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2" name="Text Box 45">
              <a:extLst>
                <a:ext uri="{FF2B5EF4-FFF2-40B4-BE49-F238E27FC236}">
                  <a16:creationId xmlns:a16="http://schemas.microsoft.com/office/drawing/2014/main" id="{A1ACBC59-C863-4879-B3BB-D982C8794862}"/>
                </a:ext>
              </a:extLst>
            </p:cNvPr>
            <p:cNvSpPr txBox="1">
              <a:spLocks noChangeArrowheads="1"/>
            </p:cNvSpPr>
            <p:nvPr/>
          </p:nvSpPr>
          <p:spPr bwMode="auto">
            <a:xfrm>
              <a:off x="2203" y="1605"/>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sz="1600" b="1">
                  <a:solidFill>
                    <a:srgbClr val="FF9900"/>
                  </a:solidFill>
                  <a:latin typeface="Times New Roman" panose="02020603050405020304" pitchFamily="18" charset="0"/>
                  <a:ea typeface="宋体" panose="02010600030101010101" pitchFamily="2" charset="-122"/>
                </a:rPr>
                <a:t>•</a:t>
              </a:r>
            </a:p>
          </p:txBody>
        </p:sp>
      </p:grpSp>
      <p:sp>
        <p:nvSpPr>
          <p:cNvPr id="43" name="Rectangle 47">
            <a:extLst>
              <a:ext uri="{FF2B5EF4-FFF2-40B4-BE49-F238E27FC236}">
                <a16:creationId xmlns:a16="http://schemas.microsoft.com/office/drawing/2014/main" id="{31C8AC5C-C9E5-4DDF-8732-7E9734AA9DD4}"/>
              </a:ext>
            </a:extLst>
          </p:cNvPr>
          <p:cNvSpPr>
            <a:spLocks noChangeArrowheads="1"/>
          </p:cNvSpPr>
          <p:nvPr/>
        </p:nvSpPr>
        <p:spPr bwMode="auto">
          <a:xfrm>
            <a:off x="481915" y="5694363"/>
            <a:ext cx="10795686" cy="94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lnSpc>
                <a:spcPct val="150000"/>
              </a:lnSpc>
              <a:spcAft>
                <a:spcPts val="300"/>
              </a:spcAft>
              <a:buClr>
                <a:srgbClr val="C00000"/>
              </a:buClr>
              <a:buSzPct val="90000"/>
              <a:buFont typeface="Wingdings" panose="05000000000000000000" pitchFamily="2" charset="2"/>
              <a:buChar char="n"/>
              <a:defRPr sz="2400">
                <a:solidFill>
                  <a:srgbClr val="262626"/>
                </a:solidFill>
                <a:latin typeface="Calibri" panose="020F0502020204030204" pitchFamily="34" charset="0"/>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262626"/>
                </a:solidFill>
                <a:latin typeface="Calibri" panose="020F0502020204030204" pitchFamily="34" charset="0"/>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Calibri" panose="020F0502020204030204" pitchFamily="34" charset="0"/>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黑体" panose="02010609060101010101" pitchFamily="49" charset="-122"/>
              </a:defRPr>
            </a:lvl9pPr>
          </a:lstStyle>
          <a:p>
            <a:pPr eaLnBrk="1" hangingPunct="1">
              <a:lnSpc>
                <a:spcPct val="130000"/>
              </a:lnSpc>
              <a:spcBef>
                <a:spcPct val="30000"/>
              </a:spcBef>
              <a:spcAft>
                <a:spcPct val="0"/>
              </a:spcAft>
              <a:buClr>
                <a:schemeClr val="tx2"/>
              </a:buClr>
              <a:buSzPct val="95000"/>
              <a:buFont typeface="Wingdings" panose="05000000000000000000" pitchFamily="2" charset="2"/>
              <a:buBlip>
                <a:blip r:embed="rId5"/>
              </a:buBlip>
            </a:pPr>
            <a:r>
              <a:rPr lang="en-US" altLang="zh-CN" sz="2000" b="1" dirty="0">
                <a:solidFill>
                  <a:schemeClr val="tx1"/>
                </a:solidFill>
                <a:latin typeface="Times New Roman" panose="02020603050405020304" pitchFamily="18" charset="0"/>
                <a:ea typeface="宋体" panose="02010600030101010101" pitchFamily="2" charset="-122"/>
              </a:rPr>
              <a:t>A</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request (r</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B</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request (r</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C</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release (r</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D</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release (r</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a:t>
            </a:r>
          </a:p>
          <a:p>
            <a:pPr eaLnBrk="1" hangingPunct="1">
              <a:lnSpc>
                <a:spcPct val="130000"/>
              </a:lnSpc>
              <a:spcBef>
                <a:spcPct val="30000"/>
              </a:spcBef>
              <a:spcAft>
                <a:spcPct val="0"/>
              </a:spcAft>
              <a:buClr>
                <a:schemeClr val="tx2"/>
              </a:buClr>
              <a:buSzPct val="95000"/>
              <a:buFont typeface="Wingdings" panose="05000000000000000000" pitchFamily="2" charset="2"/>
              <a:buBlip>
                <a:blip r:embed="rId5"/>
              </a:buBlip>
            </a:pPr>
            <a:r>
              <a:rPr lang="en-US" altLang="zh-CN" sz="2000" b="1" dirty="0">
                <a:solidFill>
                  <a:schemeClr val="tx1"/>
                </a:solidFill>
                <a:latin typeface="Times New Roman" panose="02020603050405020304" pitchFamily="18" charset="0"/>
                <a:ea typeface="宋体" panose="02010600030101010101" pitchFamily="2" charset="-122"/>
              </a:rPr>
              <a:t>A</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request (r</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B</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request (r</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      C</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release (r</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D</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zh-CN" altLang="en-US"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Times New Roman" panose="02020603050405020304" pitchFamily="18" charset="0"/>
                <a:ea typeface="宋体" panose="02010600030101010101" pitchFamily="2" charset="-122"/>
              </a:rPr>
              <a:t>p</a:t>
            </a:r>
            <a:r>
              <a:rPr lang="en-US" altLang="zh-CN" sz="2000" b="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 release (r</a:t>
            </a:r>
            <a:r>
              <a:rPr lang="en-US" altLang="zh-CN" sz="2000" b="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a:t>
            </a:r>
          </a:p>
        </p:txBody>
      </p:sp>
      <p:sp>
        <p:nvSpPr>
          <p:cNvPr id="44" name="标题 1">
            <a:extLst>
              <a:ext uri="{FF2B5EF4-FFF2-40B4-BE49-F238E27FC236}">
                <a16:creationId xmlns:a16="http://schemas.microsoft.com/office/drawing/2014/main" id="{1EA48E0C-1F76-4104-86CA-F931E3F61FDE}"/>
              </a:ext>
            </a:extLst>
          </p:cNvPr>
          <p:cNvSpPr>
            <a:spLocks noGrp="1"/>
          </p:cNvSpPr>
          <p:nvPr>
            <p:ph type="title"/>
          </p:nvPr>
        </p:nvSpPr>
        <p:spPr>
          <a:xfrm>
            <a:off x="1076395" y="114370"/>
            <a:ext cx="10969200" cy="705600"/>
          </a:xfrm>
        </p:spPr>
        <p:txBody>
          <a:bodyPr>
            <a:normAutofit/>
          </a:bodyPr>
          <a:lstStyle/>
          <a:p>
            <a:r>
              <a:rPr dirty="0">
                <a:sym typeface="+mn-ea"/>
              </a:rPr>
              <a:t>4.1.2 产生死锁的原因</a:t>
            </a:r>
            <a:endParaRPr lang="zh-CN" altLang="en-US" dirty="0"/>
          </a:p>
        </p:txBody>
      </p:sp>
      <p:sp>
        <p:nvSpPr>
          <p:cNvPr id="45" name="文本框 44">
            <a:extLst>
              <a:ext uri="{FF2B5EF4-FFF2-40B4-BE49-F238E27FC236}">
                <a16:creationId xmlns:a16="http://schemas.microsoft.com/office/drawing/2014/main" id="{E48201C4-1398-4E21-918F-9965929D0786}"/>
              </a:ext>
            </a:extLst>
          </p:cNvPr>
          <p:cNvSpPr txBox="1"/>
          <p:nvPr/>
        </p:nvSpPr>
        <p:spPr>
          <a:xfrm>
            <a:off x="1225273" y="931900"/>
            <a:ext cx="4579859" cy="461665"/>
          </a:xfrm>
          <a:prstGeom prst="rect">
            <a:avLst/>
          </a:prstGeom>
          <a:noFill/>
        </p:spPr>
        <p:txBody>
          <a:bodyPr wrap="square" rtlCol="0">
            <a:spAutoFit/>
          </a:bodyPr>
          <a:lstStyle/>
          <a:p>
            <a:r>
              <a:rPr lang="zh-CN" altLang="en-US" sz="2400" b="1" dirty="0"/>
              <a:t>2</a:t>
            </a:r>
            <a:r>
              <a:rPr lang="en-US" altLang="zh-CN" sz="2400" b="1" dirty="0"/>
              <a:t>. </a:t>
            </a:r>
            <a:r>
              <a:rPr lang="zh-CN" altLang="en-US" sz="2400" b="1" dirty="0"/>
              <a:t>进程推进顺序不当引起死锁</a:t>
            </a:r>
          </a:p>
        </p:txBody>
      </p:sp>
      <p:cxnSp>
        <p:nvCxnSpPr>
          <p:cNvPr id="3" name="直接连接符 2">
            <a:extLst>
              <a:ext uri="{FF2B5EF4-FFF2-40B4-BE49-F238E27FC236}">
                <a16:creationId xmlns:a16="http://schemas.microsoft.com/office/drawing/2014/main" id="{FD0F46C8-EF20-6C31-6922-FC33A93B50B0}"/>
              </a:ext>
            </a:extLst>
          </p:cNvPr>
          <p:cNvCxnSpPr>
            <a:endCxn id="27" idx="0"/>
          </p:cNvCxnSpPr>
          <p:nvPr/>
        </p:nvCxnSpPr>
        <p:spPr>
          <a:xfrm flipV="1">
            <a:off x="3850589" y="5287914"/>
            <a:ext cx="208984" cy="14787"/>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068E4016-EF35-E33B-F5DE-E8E3E02EA5C4}"/>
              </a:ext>
            </a:extLst>
          </p:cNvPr>
          <p:cNvCxnSpPr>
            <a:cxnSpLocks/>
          </p:cNvCxnSpPr>
          <p:nvPr/>
        </p:nvCxnSpPr>
        <p:spPr>
          <a:xfrm>
            <a:off x="3933715" y="5292843"/>
            <a:ext cx="421339" cy="985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1CDB1AC-0024-5F47-4288-1BD0D55CA3E7}"/>
              </a:ext>
            </a:extLst>
          </p:cNvPr>
          <p:cNvCxnSpPr/>
          <p:nvPr/>
        </p:nvCxnSpPr>
        <p:spPr>
          <a:xfrm>
            <a:off x="3802966" y="5295900"/>
            <a:ext cx="749984" cy="0"/>
          </a:xfrm>
          <a:prstGeom prst="line">
            <a:avLst/>
          </a:prstGeom>
          <a:ln w="28575"/>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5787927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ppt_x"/>
                                          </p:val>
                                        </p:tav>
                                        <p:tav tm="100000">
                                          <p:val>
                                            <p:strVal val="#ppt_x"/>
                                          </p:val>
                                        </p:tav>
                                      </p:tavLst>
                                    </p:anim>
                                    <p:anim calcmode="lin" valueType="num">
                                      <p:cBhvr additive="base">
                                        <p:cTn id="1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4.1.3 产生死锁的必要条件</a:t>
            </a:r>
            <a:endParaRPr lang="zh-CN" altLang="en-US"/>
          </a:p>
        </p:txBody>
      </p:sp>
      <p:sp>
        <p:nvSpPr>
          <p:cNvPr id="3" name="内容占位符 2"/>
          <p:cNvSpPr>
            <a:spLocks noGrp="1"/>
          </p:cNvSpPr>
          <p:nvPr>
            <p:ph idx="1"/>
          </p:nvPr>
        </p:nvSpPr>
        <p:spPr>
          <a:xfrm>
            <a:off x="608330" y="1005205"/>
            <a:ext cx="11142946" cy="5738425"/>
          </a:xfrm>
        </p:spPr>
        <p:txBody>
          <a:bodyPr>
            <a:normAutofit fontScale="97500"/>
          </a:bodyPr>
          <a:lstStyle/>
          <a:p>
            <a:pPr>
              <a:lnSpc>
                <a:spcPct val="150000"/>
              </a:lnSpc>
            </a:pPr>
            <a:r>
              <a:rPr lang="zh-CN" altLang="en-US" sz="2800" dirty="0"/>
              <a:t>死锁的发生必须具备以下4 个必要条件：</a:t>
            </a:r>
          </a:p>
          <a:p>
            <a:pPr lvl="1">
              <a:lnSpc>
                <a:spcPct val="150000"/>
              </a:lnSpc>
            </a:pPr>
            <a:r>
              <a:rPr lang="zh-CN" altLang="en-US" sz="2800" b="1" dirty="0">
                <a:solidFill>
                  <a:srgbClr val="FF0000"/>
                </a:solidFill>
              </a:rPr>
              <a:t>互斥条件：</a:t>
            </a:r>
            <a:r>
              <a:rPr lang="zh-CN" altLang="en-US" sz="2800" dirty="0"/>
              <a:t> 资源需要互斥使用</a:t>
            </a:r>
          </a:p>
          <a:p>
            <a:pPr lvl="1">
              <a:lnSpc>
                <a:spcPct val="150000"/>
              </a:lnSpc>
            </a:pPr>
            <a:r>
              <a:rPr lang="zh-CN" altLang="en-US" sz="2800" b="1" dirty="0">
                <a:solidFill>
                  <a:srgbClr val="FF0000"/>
                </a:solidFill>
              </a:rPr>
              <a:t>请求且保持条件</a:t>
            </a:r>
            <a:r>
              <a:rPr lang="zh-CN" altLang="en-US" sz="2800" b="1" dirty="0"/>
              <a:t>，又称为占有且等待条件</a:t>
            </a:r>
            <a:r>
              <a:rPr lang="zh-CN" altLang="en-US" sz="2800" dirty="0"/>
              <a:t>。进程已经保持至少一个资源，但又提出新的资源请求，因未获得资源而阻塞 </a:t>
            </a:r>
          </a:p>
          <a:p>
            <a:pPr lvl="1">
              <a:lnSpc>
                <a:spcPct val="150000"/>
              </a:lnSpc>
            </a:pPr>
            <a:r>
              <a:rPr lang="zh-CN" altLang="en-US" sz="2800" b="1" dirty="0">
                <a:solidFill>
                  <a:srgbClr val="FF0000"/>
                </a:solidFill>
              </a:rPr>
              <a:t>不可抢占条件</a:t>
            </a:r>
            <a:r>
              <a:rPr lang="zh-CN" altLang="en-US" sz="2800" dirty="0">
                <a:solidFill>
                  <a:srgbClr val="FF0000"/>
                </a:solidFill>
              </a:rPr>
              <a:t>  </a:t>
            </a:r>
          </a:p>
          <a:p>
            <a:pPr lvl="1">
              <a:lnSpc>
                <a:spcPct val="150000"/>
              </a:lnSpc>
            </a:pPr>
            <a:r>
              <a:rPr lang="zh-CN" altLang="en-US" sz="2800" b="1" dirty="0">
                <a:solidFill>
                  <a:srgbClr val="FF0000"/>
                </a:solidFill>
              </a:rPr>
              <a:t>循环等待条件</a:t>
            </a:r>
            <a:r>
              <a:rPr lang="zh-CN" altLang="en-US" sz="2800" dirty="0">
                <a:solidFill>
                  <a:srgbClr val="FF0000"/>
                </a:solidFill>
              </a:rPr>
              <a:t> </a:t>
            </a:r>
          </a:p>
          <a:p>
            <a:pPr>
              <a:lnSpc>
                <a:spcPct val="150000"/>
              </a:lnSpc>
            </a:pPr>
            <a:r>
              <a:rPr lang="zh-CN" altLang="en-US" sz="2800" dirty="0"/>
              <a:t>这样，我们只要使上述4 个必要条件中的某一个不满足，死锁就可以解除。</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BDEC9-CE7F-C548-24E0-D99B8EC04D41}"/>
              </a:ext>
            </a:extLst>
          </p:cNvPr>
          <p:cNvSpPr>
            <a:spLocks noGrp="1"/>
          </p:cNvSpPr>
          <p:nvPr>
            <p:ph type="title"/>
          </p:nvPr>
        </p:nvSpPr>
        <p:spPr/>
        <p:txBody>
          <a:bodyPr/>
          <a:lstStyle/>
          <a:p>
            <a:r>
              <a:rPr lang="zh-CN" altLang="en-US"/>
              <a:t>课堂练习</a:t>
            </a:r>
          </a:p>
        </p:txBody>
      </p:sp>
      <p:sp>
        <p:nvSpPr>
          <p:cNvPr id="3" name="内容占位符 2">
            <a:extLst>
              <a:ext uri="{FF2B5EF4-FFF2-40B4-BE49-F238E27FC236}">
                <a16:creationId xmlns:a16="http://schemas.microsoft.com/office/drawing/2014/main" id="{681B7626-363B-F1A9-F83E-769C98B010E3}"/>
              </a:ext>
            </a:extLst>
          </p:cNvPr>
          <p:cNvSpPr>
            <a:spLocks noGrp="1"/>
          </p:cNvSpPr>
          <p:nvPr>
            <p:ph idx="1"/>
          </p:nvPr>
        </p:nvSpPr>
        <p:spPr>
          <a:xfrm>
            <a:off x="608330" y="1227455"/>
            <a:ext cx="10636319" cy="3455756"/>
          </a:xfrm>
        </p:spPr>
        <p:txBody>
          <a:bodyPr>
            <a:noAutofit/>
          </a:bodyPr>
          <a:lstStyle/>
          <a:p>
            <a:pPr marL="0" indent="0">
              <a:buNone/>
            </a:pPr>
            <a:r>
              <a:rPr lang="zh-CN" altLang="en-US" sz="2800" dirty="0"/>
              <a:t>若系统中有 </a:t>
            </a:r>
            <a:r>
              <a:rPr lang="en-US" altLang="zh-CN" sz="2800" dirty="0"/>
              <a:t>n(n&gt;2)</a:t>
            </a:r>
            <a:r>
              <a:rPr lang="zh-CN" altLang="en-US" sz="2800" dirty="0"/>
              <a:t>个进程，每个进程均需要使用某类临界资源</a:t>
            </a:r>
            <a:r>
              <a:rPr lang="en-US" altLang="zh-CN" sz="2800" dirty="0"/>
              <a:t>2</a:t>
            </a:r>
            <a:r>
              <a:rPr lang="zh-CN" altLang="en-US" sz="2800" dirty="0"/>
              <a:t>个，则系统不会发生死锁所需的该类资源总数至少是</a:t>
            </a:r>
            <a:r>
              <a:rPr lang="en-US" altLang="zh-CN" sz="2800" dirty="0"/>
              <a:t>()</a:t>
            </a:r>
            <a:r>
              <a:rPr lang="zh-CN" altLang="en-US" sz="2800" dirty="0"/>
              <a:t>。（</a:t>
            </a:r>
            <a:r>
              <a:rPr lang="en-US" altLang="zh-CN" sz="2800" dirty="0"/>
              <a:t>2021</a:t>
            </a:r>
            <a:r>
              <a:rPr lang="zh-CN" altLang="en-US" sz="2800" dirty="0"/>
              <a:t>年考研）</a:t>
            </a:r>
            <a:endParaRPr lang="en-US" altLang="zh-CN" sz="2800" dirty="0"/>
          </a:p>
          <a:p>
            <a:pPr marL="0" indent="0">
              <a:buNone/>
            </a:pPr>
            <a:endParaRPr lang="en-US" altLang="zh-CN" sz="2800" dirty="0"/>
          </a:p>
          <a:p>
            <a:pPr marL="0" indent="0">
              <a:buNone/>
            </a:pPr>
            <a:r>
              <a:rPr lang="en-US" altLang="zh-CN" sz="2800" dirty="0"/>
              <a:t>A. 2         B. n          C. n+1         D. 2n</a:t>
            </a:r>
            <a:endParaRPr lang="zh-CN" altLang="en-US" sz="2800" dirty="0"/>
          </a:p>
        </p:txBody>
      </p:sp>
    </p:spTree>
    <p:extLst>
      <p:ext uri="{BB962C8B-B14F-4D97-AF65-F5344CB8AC3E}">
        <p14:creationId xmlns:p14="http://schemas.microsoft.com/office/powerpoint/2010/main" val="101833736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4.1.4 处理死锁的方法</a:t>
            </a:r>
          </a:p>
        </p:txBody>
      </p:sp>
      <p:sp>
        <p:nvSpPr>
          <p:cNvPr id="3" name="内容占位符 2"/>
          <p:cNvSpPr>
            <a:spLocks noGrp="1"/>
          </p:cNvSpPr>
          <p:nvPr>
            <p:ph idx="1"/>
          </p:nvPr>
        </p:nvSpPr>
        <p:spPr>
          <a:xfrm>
            <a:off x="611505" y="1196340"/>
            <a:ext cx="10968990" cy="5547290"/>
          </a:xfrm>
        </p:spPr>
        <p:txBody>
          <a:bodyPr>
            <a:normAutofit fontScale="97500"/>
          </a:bodyPr>
          <a:lstStyle/>
          <a:p>
            <a:r>
              <a:rPr lang="zh-CN" altLang="en-US" sz="2800" b="1" dirty="0"/>
              <a:t>预防死锁</a:t>
            </a:r>
            <a:r>
              <a:rPr lang="zh-CN" altLang="en-US" sz="2800" dirty="0"/>
              <a:t>。 事先预防，该方法是通过设置某些限制条件，破坏产生死锁的4 个必要条件的一个或几个条件来预防死锁。</a:t>
            </a:r>
          </a:p>
          <a:p>
            <a:r>
              <a:rPr lang="zh-CN" altLang="en-US" sz="2800" b="1" dirty="0"/>
              <a:t>避免死锁</a:t>
            </a:r>
            <a:r>
              <a:rPr lang="zh-CN" altLang="en-US" sz="2800" dirty="0"/>
              <a:t>。事先预防，在资源的动态分配过程中，用某种方法避免发生死锁。</a:t>
            </a:r>
          </a:p>
          <a:p>
            <a:r>
              <a:rPr lang="zh-CN" altLang="en-US" sz="2800" b="1" dirty="0"/>
              <a:t>检测和解除死锁</a:t>
            </a:r>
            <a:r>
              <a:rPr lang="zh-CN" altLang="en-US" sz="2800" dirty="0"/>
              <a:t>。</a:t>
            </a:r>
          </a:p>
          <a:p>
            <a:r>
              <a:rPr lang="zh-CN" altLang="en-US" sz="2800" b="1" dirty="0"/>
              <a:t>忽略死锁</a:t>
            </a:r>
            <a:r>
              <a:rPr lang="zh-CN" altLang="en-US" sz="2800" dirty="0"/>
              <a:t>。完全忽略死锁问题，好像系统中从来也不会出现死锁。很多操作系统选择忽略死锁，如UNIX、Windows 系统。因为上述几种处理死锁的代价是高昂的，如果认为操作系统发生死锁的可能性很低，则采取忽略它的方法。</a:t>
            </a:r>
            <a:r>
              <a:rPr lang="en-US" altLang="zh-CN" sz="2800" dirty="0"/>
              <a:t>——</a:t>
            </a:r>
            <a:r>
              <a:rPr lang="zh-CN" altLang="en-US" sz="2800" dirty="0">
                <a:sym typeface="+mn-ea"/>
              </a:rPr>
              <a:t>“鸵鸟算法”。</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4.2 死锁的预防</a:t>
            </a:r>
          </a:p>
        </p:txBody>
      </p:sp>
      <p:sp>
        <p:nvSpPr>
          <p:cNvPr id="3" name="内容占位符 2"/>
          <p:cNvSpPr>
            <a:spLocks noGrp="1"/>
          </p:cNvSpPr>
          <p:nvPr>
            <p:ph idx="1"/>
          </p:nvPr>
        </p:nvSpPr>
        <p:spPr>
          <a:xfrm>
            <a:off x="608330" y="1244600"/>
            <a:ext cx="10968990" cy="3095625"/>
          </a:xfrm>
        </p:spPr>
        <p:txBody>
          <a:bodyPr>
            <a:normAutofit/>
          </a:bodyPr>
          <a:lstStyle/>
          <a:p>
            <a:r>
              <a:rPr lang="zh-CN" altLang="en-US" sz="3200" dirty="0"/>
              <a:t>死锁的预防是使该系统能预先排除死锁的可能性。</a:t>
            </a:r>
          </a:p>
          <a:p>
            <a:r>
              <a:rPr lang="zh-CN" altLang="en-US" sz="3200" dirty="0"/>
              <a:t>通常的做法是</a:t>
            </a:r>
            <a:r>
              <a:rPr lang="zh-CN" altLang="en-US" sz="3200" dirty="0">
                <a:solidFill>
                  <a:srgbClr val="FF0000"/>
                </a:solidFill>
              </a:rPr>
              <a:t>破坏后3 个必要条件中的某一个条件发生</a:t>
            </a:r>
            <a:r>
              <a:rPr lang="zh-CN" altLang="en-US" sz="3200" dirty="0"/>
              <a:t>。因为第一个必要条件互斥条件是由设备的固有使用特性所决定的，无法破坏。</a:t>
            </a:r>
          </a:p>
          <a:p>
            <a:pPr marL="0" indent="0">
              <a:buNone/>
            </a:pPr>
            <a:endParaRPr lang="zh-CN" altLang="en-US" sz="32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4.2 死锁的预防</a:t>
            </a:r>
          </a:p>
        </p:txBody>
      </p:sp>
      <p:sp>
        <p:nvSpPr>
          <p:cNvPr id="3" name="内容占位符 2"/>
          <p:cNvSpPr>
            <a:spLocks noGrp="1"/>
          </p:cNvSpPr>
          <p:nvPr>
            <p:ph idx="1"/>
          </p:nvPr>
        </p:nvSpPr>
        <p:spPr>
          <a:xfrm>
            <a:off x="608120" y="1282065"/>
            <a:ext cx="10968990" cy="3642360"/>
          </a:xfrm>
        </p:spPr>
        <p:txBody>
          <a:bodyPr>
            <a:normAutofit/>
          </a:bodyPr>
          <a:lstStyle/>
          <a:p>
            <a:pPr marL="0" indent="0">
              <a:buNone/>
            </a:pPr>
            <a:r>
              <a:rPr lang="en-US" altLang="zh-CN" sz="2800" b="1" dirty="0"/>
              <a:t>1. </a:t>
            </a:r>
            <a:r>
              <a:rPr lang="zh-CN" altLang="en-US" sz="2800" b="1" dirty="0"/>
              <a:t>破坏“请求且保持”条件</a:t>
            </a:r>
          </a:p>
          <a:p>
            <a:r>
              <a:rPr lang="zh-CN" altLang="en-US" sz="2800" dirty="0"/>
              <a:t>要求进程一次性申请到运行所需的</a:t>
            </a:r>
            <a:r>
              <a:rPr lang="zh-CN" altLang="en-US" sz="2800" dirty="0">
                <a:solidFill>
                  <a:srgbClr val="FF0000"/>
                </a:solidFill>
              </a:rPr>
              <a:t>全部资源</a:t>
            </a:r>
            <a:r>
              <a:rPr lang="zh-CN" altLang="en-US" sz="2800" dirty="0"/>
              <a:t>才能开始执行。</a:t>
            </a:r>
          </a:p>
          <a:p>
            <a:r>
              <a:rPr lang="zh-CN" altLang="en-US" sz="2800" dirty="0"/>
              <a:t>优点：简单、易于实施，可以预防死锁。</a:t>
            </a:r>
          </a:p>
          <a:p>
            <a:r>
              <a:rPr lang="zh-CN" altLang="en-US" sz="2800" dirty="0"/>
              <a:t>缺点：这种静态分配方法的效率不高，会造成资源的浪费，可能导致进程迟迟不能运行，影响系统的并发度。</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4.2 死锁的预防</a:t>
            </a:r>
          </a:p>
        </p:txBody>
      </p:sp>
      <p:sp>
        <p:nvSpPr>
          <p:cNvPr id="3" name="内容占位符 2"/>
          <p:cNvSpPr>
            <a:spLocks noGrp="1"/>
          </p:cNvSpPr>
          <p:nvPr>
            <p:ph idx="1"/>
          </p:nvPr>
        </p:nvSpPr>
        <p:spPr>
          <a:xfrm>
            <a:off x="608330" y="1227455"/>
            <a:ext cx="10968990" cy="3839845"/>
          </a:xfrm>
        </p:spPr>
        <p:txBody>
          <a:bodyPr>
            <a:normAutofit/>
          </a:bodyPr>
          <a:lstStyle/>
          <a:p>
            <a:pPr marL="0" indent="0">
              <a:buNone/>
            </a:pPr>
            <a:r>
              <a:rPr lang="zh-CN" altLang="en-US" sz="2800" b="1" dirty="0"/>
              <a:t>2</a:t>
            </a:r>
            <a:r>
              <a:rPr lang="en-US" altLang="zh-CN" sz="2800" b="1" dirty="0"/>
              <a:t>. </a:t>
            </a:r>
            <a:r>
              <a:rPr lang="zh-CN" altLang="en-US" sz="2800" b="1" dirty="0"/>
              <a:t>破坏“不可抢占”条件</a:t>
            </a:r>
          </a:p>
          <a:p>
            <a:r>
              <a:rPr lang="zh-CN" altLang="en-US" sz="2800" dirty="0"/>
              <a:t>规定一个已经占有了某些资源的进程，再提出新的资源请求而得不到满足时，必须释放它已获得的所有资源。 </a:t>
            </a:r>
          </a:p>
          <a:p>
            <a:r>
              <a:rPr lang="zh-CN" altLang="en-US" sz="2800" dirty="0"/>
              <a:t>缺点：实现起来比较复杂而且代价很大。资源在使用一段时间后再释放，往往造成前段工作的失效；而且反复申请和释放资源会使进程的周转时间拉长，增加了系统的开销，降低了系统吞吐量。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4.2 死锁的预防</a:t>
            </a:r>
          </a:p>
        </p:txBody>
      </p:sp>
      <p:sp>
        <p:nvSpPr>
          <p:cNvPr id="3" name="内容占位符 2"/>
          <p:cNvSpPr>
            <a:spLocks noGrp="1"/>
          </p:cNvSpPr>
          <p:nvPr>
            <p:ph idx="1"/>
          </p:nvPr>
        </p:nvSpPr>
        <p:spPr>
          <a:xfrm>
            <a:off x="608330" y="1023713"/>
            <a:ext cx="10968990" cy="4019548"/>
          </a:xfrm>
        </p:spPr>
        <p:txBody>
          <a:bodyPr>
            <a:normAutofit lnSpcReduction="10000"/>
          </a:bodyPr>
          <a:lstStyle/>
          <a:p>
            <a:pPr marL="0" indent="0">
              <a:buNone/>
            </a:pPr>
            <a:r>
              <a:rPr lang="zh-CN" altLang="en-US" sz="2800" b="1" dirty="0"/>
              <a:t>3</a:t>
            </a:r>
            <a:r>
              <a:rPr lang="en-US" altLang="zh-CN" sz="2800" b="1" dirty="0"/>
              <a:t>. </a:t>
            </a:r>
            <a:r>
              <a:rPr lang="zh-CN" altLang="en-US" sz="2800" b="1" dirty="0"/>
              <a:t>破坏“循环等待”条件</a:t>
            </a:r>
          </a:p>
          <a:p>
            <a:r>
              <a:rPr lang="zh-CN" altLang="en-US" sz="2800" dirty="0"/>
              <a:t>规定将系统中的</a:t>
            </a:r>
            <a:r>
              <a:rPr lang="zh-CN" altLang="en-US" sz="2800" dirty="0">
                <a:solidFill>
                  <a:srgbClr val="0000FF"/>
                </a:solidFill>
              </a:rPr>
              <a:t>资源按类型编号</a:t>
            </a:r>
            <a:r>
              <a:rPr lang="zh-CN" altLang="en-US" sz="2800" dirty="0"/>
              <a:t>，规定所有进程必须严格</a:t>
            </a:r>
            <a:r>
              <a:rPr lang="zh-CN" altLang="en-US" sz="2800" dirty="0">
                <a:solidFill>
                  <a:srgbClr val="0000FF"/>
                </a:solidFill>
              </a:rPr>
              <a:t>按照资源序号递增的顺序申请</a:t>
            </a:r>
            <a:r>
              <a:rPr lang="zh-CN" altLang="en-US" sz="2800" dirty="0"/>
              <a:t>资源。 </a:t>
            </a:r>
          </a:p>
          <a:p>
            <a:r>
              <a:rPr lang="zh-CN" altLang="en-US" sz="2800" dirty="0"/>
              <a:t>优点：资源利用率和吞吐量较前两种方法有明显的改善。</a:t>
            </a:r>
          </a:p>
          <a:p>
            <a:r>
              <a:rPr lang="zh-CN" altLang="en-US" sz="2800" dirty="0"/>
              <a:t>缺点：首先，资源的编号要相对稳定，而这并不利于新设备类型的增加；其次，仍然存在进程使用资源的顺序和系统规定的顺序不同的情况，从而造成资源的浪费。</a:t>
            </a:r>
          </a:p>
        </p:txBody>
      </p:sp>
      <p:pic>
        <p:nvPicPr>
          <p:cNvPr id="4" name="图片 3" descr="KDU96_LCVREK0FWXJ}6IX{6"/>
          <p:cNvPicPr>
            <a:picLocks noChangeAspect="1"/>
          </p:cNvPicPr>
          <p:nvPr/>
        </p:nvPicPr>
        <p:blipFill>
          <a:blip r:embed="rId3"/>
          <a:stretch>
            <a:fillRect/>
          </a:stretch>
        </p:blipFill>
        <p:spPr>
          <a:xfrm>
            <a:off x="439218" y="5247004"/>
            <a:ext cx="11752782" cy="132524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31720E-EDE6-45BD-BF7A-EA468707BADC}"/>
              </a:ext>
            </a:extLst>
          </p:cNvPr>
          <p:cNvSpPr>
            <a:spLocks noGrp="1"/>
          </p:cNvSpPr>
          <p:nvPr>
            <p:ph type="title"/>
          </p:nvPr>
        </p:nvSpPr>
        <p:spPr>
          <a:xfrm>
            <a:off x="1076395" y="114370"/>
            <a:ext cx="4143305" cy="705600"/>
          </a:xfrm>
        </p:spPr>
        <p:txBody>
          <a:bodyPr/>
          <a:lstStyle/>
          <a:p>
            <a:r>
              <a:rPr lang="zh-CN" altLang="en-US" dirty="0"/>
              <a:t>练习</a:t>
            </a:r>
          </a:p>
        </p:txBody>
      </p:sp>
      <p:sp>
        <p:nvSpPr>
          <p:cNvPr id="3" name="内容占位符 2">
            <a:extLst>
              <a:ext uri="{FF2B5EF4-FFF2-40B4-BE49-F238E27FC236}">
                <a16:creationId xmlns:a16="http://schemas.microsoft.com/office/drawing/2014/main" id="{902D21E9-EFD2-4582-A4D4-CFD68EB1DD30}"/>
              </a:ext>
            </a:extLst>
          </p:cNvPr>
          <p:cNvSpPr>
            <a:spLocks noGrp="1"/>
          </p:cNvSpPr>
          <p:nvPr>
            <p:ph idx="1"/>
          </p:nvPr>
        </p:nvSpPr>
        <p:spPr>
          <a:xfrm>
            <a:off x="608330" y="917892"/>
            <a:ext cx="10968990" cy="5519978"/>
          </a:xfrm>
        </p:spPr>
        <p:txBody>
          <a:bodyPr>
            <a:normAutofit fontScale="92500" lnSpcReduction="20000"/>
          </a:bodyPr>
          <a:lstStyle/>
          <a:p>
            <a:pPr marL="457200" indent="-457200" algn="l">
              <a:buClr>
                <a:srgbClr val="0000FF"/>
              </a:buClr>
              <a:buSzPct val="100000"/>
              <a:buFont typeface="+mj-lt"/>
              <a:buAutoNum type="arabicPeriod"/>
            </a:pPr>
            <a:r>
              <a:rPr lang="zh-CN" altLang="en-US" b="0" i="0" dirty="0">
                <a:effectLst/>
                <a:latin typeface="Arial" panose="020B0604020202020204" pitchFamily="34" charset="0"/>
              </a:rPr>
              <a:t>当进程数大于资源数时，进程竞争资源（ ）会产生死锁。 </a:t>
            </a:r>
          </a:p>
          <a:p>
            <a:pPr algn="l">
              <a:buFont typeface="Arial" panose="020B0604020202020204" pitchFamily="34" charset="0"/>
              <a:buChar char="•"/>
            </a:pPr>
            <a:r>
              <a:rPr lang="en-US" altLang="zh-CN" b="0" i="0" dirty="0">
                <a:effectLst/>
                <a:latin typeface="Arial" panose="020B0604020202020204" pitchFamily="34" charset="0"/>
              </a:rPr>
              <a:t>A.</a:t>
            </a:r>
            <a:r>
              <a:rPr lang="zh-CN" altLang="en-US" b="0" i="0" dirty="0">
                <a:effectLst/>
                <a:latin typeface="Arial" panose="020B0604020202020204" pitchFamily="34" charset="0"/>
              </a:rPr>
              <a:t>一定</a:t>
            </a:r>
          </a:p>
          <a:p>
            <a:pPr algn="l">
              <a:buFont typeface="Arial" panose="020B0604020202020204" pitchFamily="34" charset="0"/>
              <a:buChar char="•"/>
            </a:pPr>
            <a:r>
              <a:rPr lang="en-US" altLang="zh-CN" b="0" i="0" dirty="0">
                <a:effectLst/>
                <a:latin typeface="Arial" panose="020B0604020202020204" pitchFamily="34" charset="0"/>
              </a:rPr>
              <a:t>B.</a:t>
            </a:r>
            <a:r>
              <a:rPr lang="zh-CN" altLang="en-US" b="0" i="0" dirty="0">
                <a:effectLst/>
                <a:latin typeface="Arial" panose="020B0604020202020204" pitchFamily="34" charset="0"/>
              </a:rPr>
              <a:t>不一定 </a:t>
            </a:r>
          </a:p>
          <a:p>
            <a:pPr marL="0" indent="0">
              <a:buClr>
                <a:srgbClr val="0000FF"/>
              </a:buClr>
              <a:buSzPct val="100000"/>
              <a:buNone/>
            </a:pPr>
            <a:r>
              <a:rPr lang="en-US" altLang="zh-CN" dirty="0"/>
              <a:t>2. </a:t>
            </a:r>
            <a:r>
              <a:rPr lang="zh-CN" altLang="en-US" dirty="0"/>
              <a:t>产生死锁的四个必要条件是：互斥、（  ）、循环等待和不剥夺（不可抢占）。 </a:t>
            </a:r>
          </a:p>
          <a:p>
            <a:pPr algn="l">
              <a:buFont typeface="Arial" panose="020B0604020202020204" pitchFamily="34" charset="0"/>
              <a:buChar char="•"/>
            </a:pPr>
            <a:r>
              <a:rPr lang="en-US" altLang="zh-CN" b="0" i="0" dirty="0">
                <a:effectLst/>
                <a:latin typeface="Arial" panose="020B0604020202020204" pitchFamily="34" charset="0"/>
              </a:rPr>
              <a:t>A.</a:t>
            </a:r>
            <a:r>
              <a:rPr lang="zh-CN" altLang="en-US" b="0" i="0" dirty="0">
                <a:effectLst/>
                <a:latin typeface="Arial" panose="020B0604020202020204" pitchFamily="34" charset="0"/>
              </a:rPr>
              <a:t>请求与阻塞</a:t>
            </a:r>
          </a:p>
          <a:p>
            <a:pPr algn="l">
              <a:buFont typeface="Arial" panose="020B0604020202020204" pitchFamily="34" charset="0"/>
              <a:buChar char="•"/>
            </a:pPr>
            <a:r>
              <a:rPr lang="en-US" altLang="zh-CN" b="0" i="0" dirty="0">
                <a:effectLst/>
                <a:latin typeface="Arial" panose="020B0604020202020204" pitchFamily="34" charset="0"/>
              </a:rPr>
              <a:t>B.</a:t>
            </a:r>
            <a:r>
              <a:rPr lang="zh-CN" altLang="en-US" b="0" i="0" dirty="0">
                <a:effectLst/>
                <a:latin typeface="Arial" panose="020B0604020202020204" pitchFamily="34" charset="0"/>
              </a:rPr>
              <a:t>请求与保持 </a:t>
            </a:r>
          </a:p>
          <a:p>
            <a:pPr algn="l">
              <a:buFont typeface="Arial" panose="020B0604020202020204" pitchFamily="34" charset="0"/>
              <a:buChar char="•"/>
            </a:pPr>
            <a:r>
              <a:rPr lang="en-US" altLang="zh-CN" b="0" i="0" dirty="0">
                <a:effectLst/>
                <a:latin typeface="Arial" panose="020B0604020202020204" pitchFamily="34" charset="0"/>
              </a:rPr>
              <a:t>C.</a:t>
            </a:r>
            <a:r>
              <a:rPr lang="zh-CN" altLang="en-US" b="0" i="0" dirty="0">
                <a:effectLst/>
                <a:latin typeface="Arial" panose="020B0604020202020204" pitchFamily="34" charset="0"/>
              </a:rPr>
              <a:t>请求与释放</a:t>
            </a:r>
          </a:p>
          <a:p>
            <a:pPr algn="l">
              <a:buFont typeface="Arial" panose="020B0604020202020204" pitchFamily="34" charset="0"/>
              <a:buChar char="•"/>
            </a:pPr>
            <a:r>
              <a:rPr lang="en-US" altLang="zh-CN" b="0" i="0" dirty="0">
                <a:effectLst/>
                <a:latin typeface="Arial" panose="020B0604020202020204" pitchFamily="34" charset="0"/>
              </a:rPr>
              <a:t>D.</a:t>
            </a:r>
            <a:r>
              <a:rPr lang="zh-CN" altLang="en-US" b="0" i="0" dirty="0">
                <a:effectLst/>
                <a:latin typeface="Arial" panose="020B0604020202020204" pitchFamily="34" charset="0"/>
              </a:rPr>
              <a:t>释放与阻塞 </a:t>
            </a:r>
          </a:p>
          <a:p>
            <a:pPr marL="0" indent="0">
              <a:buNone/>
            </a:pPr>
            <a:r>
              <a:rPr lang="en-US" altLang="zh-CN" dirty="0"/>
              <a:t>3. </a:t>
            </a:r>
            <a:r>
              <a:rPr lang="zh-CN" altLang="en-US" dirty="0"/>
              <a:t>（判断）死锁发生时</a:t>
            </a:r>
            <a:r>
              <a:rPr lang="en-US" altLang="zh-CN" dirty="0"/>
              <a:t>4</a:t>
            </a:r>
            <a:r>
              <a:rPr lang="zh-CN" altLang="en-US" dirty="0"/>
              <a:t>个必要条件一定会存在。（   ）</a:t>
            </a:r>
            <a:endParaRPr lang="en-US" altLang="zh-CN" dirty="0"/>
          </a:p>
          <a:p>
            <a:pPr marL="0" indent="0">
              <a:buNone/>
            </a:pPr>
            <a:r>
              <a:rPr lang="en-US" altLang="zh-CN" dirty="0"/>
              <a:t>4.</a:t>
            </a:r>
            <a:r>
              <a:rPr lang="zh-CN" altLang="en-US" dirty="0"/>
              <a:t>（判断）</a:t>
            </a:r>
            <a:r>
              <a:rPr lang="en-US" altLang="zh-CN" dirty="0"/>
              <a:t>4</a:t>
            </a:r>
            <a:r>
              <a:rPr lang="zh-CN" altLang="en-US" dirty="0"/>
              <a:t>个必要条件都成立，则一定会发生死锁。（     ）</a:t>
            </a:r>
          </a:p>
        </p:txBody>
      </p:sp>
    </p:spTree>
    <p:extLst>
      <p:ext uri="{BB962C8B-B14F-4D97-AF65-F5344CB8AC3E}">
        <p14:creationId xmlns:p14="http://schemas.microsoft.com/office/powerpoint/2010/main" val="329179261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 死锁的避免</a:t>
            </a:r>
          </a:p>
        </p:txBody>
      </p:sp>
      <p:sp>
        <p:nvSpPr>
          <p:cNvPr id="4" name="内容占位符 2"/>
          <p:cNvSpPr>
            <a:spLocks noGrp="1"/>
          </p:cNvSpPr>
          <p:nvPr/>
        </p:nvSpPr>
        <p:spPr>
          <a:xfrm>
            <a:off x="845185" y="1187542"/>
            <a:ext cx="7722235" cy="1341755"/>
          </a:xfrm>
          <a:prstGeom prst="rect">
            <a:avLst/>
          </a:prstGeom>
        </p:spPr>
        <p:txBody>
          <a:bodyPr vert="horz" lIns="90000" tIns="46800" rIns="90000" bIns="46800" rtlCol="0">
            <a:normAutofit lnSpcReduction="10000"/>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3"/>
              </a:buBlip>
            </a:pPr>
            <a:r>
              <a:rPr lang="en-US" altLang="zh-CN" sz="3200" dirty="0"/>
              <a:t> </a:t>
            </a:r>
            <a:r>
              <a:rPr lang="en-US" altLang="zh-CN" sz="3200" u="dottedHeavy" dirty="0">
                <a:solidFill>
                  <a:schemeClr val="tx1"/>
                </a:solidFill>
                <a:uFillTx/>
              </a:rPr>
              <a:t>4.3.1  </a:t>
            </a:r>
            <a:r>
              <a:rPr sz="3200" u="dottedHeavy" dirty="0">
                <a:solidFill>
                  <a:schemeClr val="tx1"/>
                </a:solidFill>
                <a:uFillTx/>
              </a:rPr>
              <a:t>安全状态与不安全状态</a:t>
            </a:r>
          </a:p>
          <a:p>
            <a:pPr>
              <a:buBlip>
                <a:blip r:embed="rId3"/>
              </a:buBlip>
            </a:pPr>
            <a:r>
              <a:rPr sz="3200" dirty="0"/>
              <a:t> </a:t>
            </a:r>
            <a:r>
              <a:rPr lang="en-US" altLang="zh-CN" sz="3200" u="dottedHeavy" dirty="0"/>
              <a:t>4.3.2  </a:t>
            </a:r>
            <a:r>
              <a:rPr sz="3200" u="dottedHeavy" dirty="0"/>
              <a:t>银行家算法</a:t>
            </a:r>
            <a:r>
              <a:rPr lang="en-US" altLang="zh-CN" sz="3200" u="dottedHeavy"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4.3.1 安全状态与不安全状态</a:t>
            </a:r>
          </a:p>
        </p:txBody>
      </p:sp>
      <p:sp>
        <p:nvSpPr>
          <p:cNvPr id="3" name="内容占位符 2"/>
          <p:cNvSpPr>
            <a:spLocks noGrp="1"/>
          </p:cNvSpPr>
          <p:nvPr>
            <p:ph idx="1"/>
          </p:nvPr>
        </p:nvSpPr>
        <p:spPr>
          <a:xfrm>
            <a:off x="608330" y="1227456"/>
            <a:ext cx="10968990" cy="4497069"/>
          </a:xfrm>
        </p:spPr>
        <p:txBody>
          <a:bodyPr>
            <a:normAutofit/>
          </a:bodyPr>
          <a:lstStyle/>
          <a:p>
            <a:r>
              <a:rPr lang="zh-CN" altLang="en-US" sz="2800" dirty="0"/>
              <a:t>当前给进程分配的资源情况称为系统的状态，系统的状态分为安全状态和不安全状态。</a:t>
            </a:r>
          </a:p>
          <a:p>
            <a:pPr lvl="1"/>
            <a:r>
              <a:rPr lang="zh-CN" altLang="en-US" sz="2800" b="1" dirty="0"/>
              <a:t>安全状态：</a:t>
            </a:r>
            <a:r>
              <a:rPr lang="zh-CN" altLang="en-US" sz="2800" dirty="0"/>
              <a:t>指系统能按</a:t>
            </a:r>
            <a:r>
              <a:rPr lang="zh-CN" altLang="en-US" sz="2800" dirty="0">
                <a:solidFill>
                  <a:srgbClr val="8F46C8"/>
                </a:solidFill>
              </a:rPr>
              <a:t>某</a:t>
            </a:r>
            <a:r>
              <a:rPr lang="zh-CN" altLang="en-US" sz="2800" dirty="0"/>
              <a:t>种</a:t>
            </a:r>
            <a:r>
              <a:rPr lang="zh-CN" altLang="en-US" sz="2800" dirty="0">
                <a:solidFill>
                  <a:srgbClr val="0000FF"/>
                </a:solidFill>
              </a:rPr>
              <a:t>进程推进顺序</a:t>
            </a:r>
            <a:r>
              <a:rPr lang="zh-CN" altLang="en-US" sz="2800" dirty="0"/>
              <a:t>，</a:t>
            </a:r>
            <a:r>
              <a:rPr lang="zh-CN" altLang="en-US" sz="2800" dirty="0">
                <a:solidFill>
                  <a:srgbClr val="0000FF"/>
                </a:solidFill>
              </a:rPr>
              <a:t>使</a:t>
            </a:r>
            <a:r>
              <a:rPr lang="zh-CN" altLang="en-US" sz="2800" dirty="0">
                <a:solidFill>
                  <a:srgbClr val="FF0000"/>
                </a:solidFill>
              </a:rPr>
              <a:t>每个进程都顺利完成</a:t>
            </a:r>
            <a:r>
              <a:rPr lang="zh-CN" altLang="en-US" sz="2800" dirty="0"/>
              <a:t>。</a:t>
            </a:r>
            <a:endParaRPr lang="en-US" altLang="zh-CN" sz="2800" dirty="0"/>
          </a:p>
          <a:p>
            <a:pPr lvl="2"/>
            <a:r>
              <a:rPr lang="zh-CN" altLang="en-US" sz="2800" dirty="0"/>
              <a:t>这样的</a:t>
            </a:r>
            <a:r>
              <a:rPr lang="zh-CN" altLang="en-US" sz="2800" dirty="0">
                <a:solidFill>
                  <a:srgbClr val="0000FF"/>
                </a:solidFill>
              </a:rPr>
              <a:t>进程推进顺序，则称其为安全序列</a:t>
            </a:r>
            <a:r>
              <a:rPr lang="zh-CN" altLang="en-US" sz="2800" dirty="0"/>
              <a:t>。</a:t>
            </a:r>
          </a:p>
          <a:p>
            <a:pPr lvl="1"/>
            <a:r>
              <a:rPr lang="zh-CN" altLang="en-US" sz="2800" b="1" dirty="0"/>
              <a:t>不安全状态</a:t>
            </a:r>
            <a:r>
              <a:rPr lang="zh-CN" altLang="en-US" sz="2800" dirty="0"/>
              <a:t>：若系统无法找到这样一个安全序列，则系统处于不安全状态。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4.3.1 安全状态与不安全状态</a:t>
            </a:r>
          </a:p>
        </p:txBody>
      </p:sp>
      <p:sp>
        <p:nvSpPr>
          <p:cNvPr id="3" name="内容占位符 2"/>
          <p:cNvSpPr>
            <a:spLocks noGrp="1"/>
          </p:cNvSpPr>
          <p:nvPr>
            <p:ph idx="1"/>
          </p:nvPr>
        </p:nvSpPr>
        <p:spPr/>
        <p:txBody>
          <a:bodyPr>
            <a:normAutofit fontScale="92500" lnSpcReduction="10000"/>
          </a:bodyPr>
          <a:lstStyle/>
          <a:p>
            <a:r>
              <a:rPr lang="zh-CN" altLang="en-US" sz="2800" dirty="0"/>
              <a:t>例如，现有8 台磁带机供3 个进程P1、P2和P3共享，假定3 个进程对磁带机的最大需求数依次为6、4 和7。</a:t>
            </a:r>
          </a:p>
          <a:p>
            <a:endParaRPr lang="zh-CN" altLang="en-US" sz="2800" dirty="0"/>
          </a:p>
          <a:p>
            <a:endParaRPr lang="zh-CN" altLang="en-US" sz="2800" dirty="0"/>
          </a:p>
          <a:p>
            <a:endParaRPr lang="zh-CN" altLang="en-US" sz="2800" dirty="0"/>
          </a:p>
          <a:p>
            <a:r>
              <a:rPr lang="zh-CN" altLang="en-US" sz="2800" dirty="0"/>
              <a:t>因为存在一个安全序列{P2, P1, P3}，即只要系统按此进程序列分配资源，就能使每个进程都顺利完成。所以，系统处于安全状态。</a:t>
            </a:r>
          </a:p>
          <a:p>
            <a:r>
              <a:rPr lang="zh-CN" altLang="en-US" sz="2800" dirty="0">
                <a:solidFill>
                  <a:srgbClr val="0000FF"/>
                </a:solidFill>
              </a:rPr>
              <a:t>安全序列可以是不唯一的</a:t>
            </a:r>
            <a:r>
              <a:rPr lang="zh-CN" altLang="en-US" sz="2800" dirty="0"/>
              <a:t>，只要存在一个安全序列，系统就处于安全状态。</a:t>
            </a:r>
          </a:p>
        </p:txBody>
      </p:sp>
      <p:pic>
        <p:nvPicPr>
          <p:cNvPr id="4" name="内容占位符 3"/>
          <p:cNvPicPr>
            <a:picLocks noChangeAspect="1"/>
          </p:cNvPicPr>
          <p:nvPr/>
        </p:nvPicPr>
        <p:blipFill>
          <a:blip r:embed="rId3"/>
          <a:stretch>
            <a:fillRect/>
          </a:stretch>
        </p:blipFill>
        <p:spPr>
          <a:xfrm>
            <a:off x="1356732" y="2194560"/>
            <a:ext cx="9636388" cy="189896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4.3.1 安全状态与不安全状态</a:t>
            </a:r>
          </a:p>
        </p:txBody>
      </p:sp>
      <p:sp>
        <p:nvSpPr>
          <p:cNvPr id="3" name="内容占位符 2"/>
          <p:cNvSpPr>
            <a:spLocks noGrp="1"/>
          </p:cNvSpPr>
          <p:nvPr>
            <p:ph idx="1"/>
          </p:nvPr>
        </p:nvSpPr>
        <p:spPr>
          <a:xfrm>
            <a:off x="608330" y="1075055"/>
            <a:ext cx="10968990" cy="1687195"/>
          </a:xfrm>
        </p:spPr>
        <p:txBody>
          <a:bodyPr>
            <a:noAutofit/>
          </a:bodyPr>
          <a:lstStyle/>
          <a:p>
            <a:r>
              <a:rPr lang="zh-CN" altLang="en-US" sz="2800" b="1" dirty="0"/>
              <a:t>思考</a:t>
            </a:r>
            <a:r>
              <a:rPr lang="zh-CN" altLang="en-US" sz="2800" dirty="0"/>
              <a:t>：在上述情况下，如果进程P1再申请2 个资源并且系统满足其要求，系统是否还处于安全状态？</a:t>
            </a:r>
          </a:p>
          <a:p>
            <a:r>
              <a:rPr lang="zh-CN" altLang="en-US" sz="2800" b="1" dirty="0"/>
              <a:t>结论</a:t>
            </a:r>
            <a:r>
              <a:rPr lang="zh-CN" altLang="en-US" sz="2800" dirty="0"/>
              <a:t>：系统不处于安全状态。</a:t>
            </a:r>
          </a:p>
        </p:txBody>
      </p:sp>
      <p:pic>
        <p:nvPicPr>
          <p:cNvPr id="4" name="图片 3" descr="[~(YE2NVD1K$N4B}TT)Z263"/>
          <p:cNvPicPr>
            <a:picLocks noChangeAspect="1"/>
          </p:cNvPicPr>
          <p:nvPr/>
        </p:nvPicPr>
        <p:blipFill>
          <a:blip r:embed="rId3"/>
          <a:stretch>
            <a:fillRect/>
          </a:stretch>
        </p:blipFill>
        <p:spPr>
          <a:xfrm>
            <a:off x="357446" y="3227400"/>
            <a:ext cx="11688149" cy="217297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4.3.1 安全状态与不安全状态</a:t>
            </a:r>
          </a:p>
        </p:txBody>
      </p:sp>
      <p:sp>
        <p:nvSpPr>
          <p:cNvPr id="3" name="内容占位符 2"/>
          <p:cNvSpPr>
            <a:spLocks noGrp="1"/>
          </p:cNvSpPr>
          <p:nvPr>
            <p:ph idx="1"/>
          </p:nvPr>
        </p:nvSpPr>
        <p:spPr>
          <a:xfrm>
            <a:off x="608330" y="1981200"/>
            <a:ext cx="10161270" cy="1549400"/>
          </a:xfrm>
        </p:spPr>
        <p:txBody>
          <a:bodyPr>
            <a:noAutofit/>
          </a:bodyPr>
          <a:lstStyle/>
          <a:p>
            <a:pPr marL="0" indent="0">
              <a:buNone/>
            </a:pPr>
            <a:r>
              <a:rPr lang="zh-CN" altLang="en-US" sz="3200" b="1" dirty="0"/>
              <a:t>思考：</a:t>
            </a:r>
            <a:endParaRPr lang="en-US" altLang="zh-CN" sz="3200" b="1" dirty="0"/>
          </a:p>
          <a:p>
            <a:pPr marL="0" indent="0">
              <a:buNone/>
            </a:pPr>
            <a:r>
              <a:rPr lang="en-US" altLang="zh-CN" sz="3200" b="1" dirty="0"/>
              <a:t>     </a:t>
            </a:r>
            <a:r>
              <a:rPr lang="zh-CN" altLang="en-US" sz="3200" b="1" dirty="0"/>
              <a:t>不安全状态一定会导致死锁吗？</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608330" y="1227455"/>
            <a:ext cx="10968990" cy="4025029"/>
          </a:xfrm>
        </p:spPr>
        <p:txBody>
          <a:bodyPr>
            <a:normAutofit/>
          </a:bodyPr>
          <a:lstStyle/>
          <a:p>
            <a:r>
              <a:rPr lang="zh-CN" altLang="en-US" sz="2800" dirty="0"/>
              <a:t>银行家算法的思想</a:t>
            </a:r>
          </a:p>
          <a:p>
            <a:pPr lvl="1"/>
            <a:r>
              <a:rPr lang="zh-CN" altLang="en-US" sz="2800" dirty="0">
                <a:solidFill>
                  <a:srgbClr val="FF0000"/>
                </a:solidFill>
              </a:rPr>
              <a:t>确保系统总是处于安全状态</a:t>
            </a:r>
            <a:r>
              <a:rPr lang="zh-CN" altLang="en-US" sz="2800" dirty="0"/>
              <a:t>来避免死锁。</a:t>
            </a:r>
          </a:p>
          <a:p>
            <a:pPr lvl="1"/>
            <a:r>
              <a:rPr lang="zh-CN" altLang="en-US" sz="2800" dirty="0"/>
              <a:t>当进程请求一组资源时，假设系统同意该资源请求，从而改变了系统的状态，然后确定系统是否还处于安全状态；</a:t>
            </a:r>
          </a:p>
          <a:p>
            <a:pPr lvl="2"/>
            <a:r>
              <a:rPr lang="zh-CN" altLang="en-US" sz="2800" dirty="0"/>
              <a:t>若系统仍处于安全状态，则系统就同意该资源请求；</a:t>
            </a:r>
          </a:p>
          <a:p>
            <a:pPr lvl="2"/>
            <a:r>
              <a:rPr lang="zh-CN" altLang="en-US" sz="2800" dirty="0"/>
              <a:t>若系统处于不安全状态，则系统就阻塞该进程。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530225" y="892810"/>
            <a:ext cx="10968990" cy="5275580"/>
          </a:xfrm>
        </p:spPr>
        <p:txBody>
          <a:bodyPr>
            <a:normAutofit/>
          </a:bodyPr>
          <a:lstStyle/>
          <a:p>
            <a:pPr marL="0" indent="0">
              <a:buNone/>
            </a:pPr>
            <a:r>
              <a:rPr lang="zh-CN" altLang="en-US" b="1"/>
              <a:t>1</a:t>
            </a:r>
            <a:r>
              <a:rPr lang="en-US" altLang="zh-CN" b="1"/>
              <a:t>. </a:t>
            </a:r>
            <a:r>
              <a:rPr lang="zh-CN" altLang="en-US" b="1"/>
              <a:t>银行家算法中的数据结构</a:t>
            </a:r>
            <a:r>
              <a:rPr lang="en-US" altLang="zh-CN" b="1"/>
              <a:t>——</a:t>
            </a:r>
            <a:r>
              <a:t>假设有</a:t>
            </a:r>
            <a:r>
              <a:rPr lang="zh-CN" altLang="en-US"/>
              <a:t>n 个进程，m 类不同类型的资源</a:t>
            </a:r>
          </a:p>
        </p:txBody>
      </p:sp>
      <p:pic>
        <p:nvPicPr>
          <p:cNvPr id="4" name="图片 3" descr="}06Y%O$Q)KWTCGBAO$1J3OY"/>
          <p:cNvPicPr>
            <a:picLocks noChangeAspect="1"/>
          </p:cNvPicPr>
          <p:nvPr/>
        </p:nvPicPr>
        <p:blipFill>
          <a:blip r:embed="rId3"/>
          <a:stretch>
            <a:fillRect/>
          </a:stretch>
        </p:blipFill>
        <p:spPr>
          <a:xfrm>
            <a:off x="1440180" y="1565275"/>
            <a:ext cx="7941310" cy="509333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p:txBody>
          <a:bodyPr>
            <a:normAutofit/>
          </a:bodyPr>
          <a:lstStyle/>
          <a:p>
            <a:r>
              <a:rPr lang="zh-CN" altLang="en-US"/>
              <a:t>从中可以看出以下关系成立：</a:t>
            </a:r>
          </a:p>
        </p:txBody>
      </p:sp>
      <p:pic>
        <p:nvPicPr>
          <p:cNvPr id="4" name="内容占位符 3"/>
          <p:cNvPicPr>
            <a:picLocks noChangeAspect="1"/>
          </p:cNvPicPr>
          <p:nvPr/>
        </p:nvPicPr>
        <p:blipFill>
          <a:blip r:embed="rId4"/>
          <a:stretch>
            <a:fillRect/>
          </a:stretch>
        </p:blipFill>
        <p:spPr>
          <a:xfrm>
            <a:off x="289738" y="2028825"/>
            <a:ext cx="11606174" cy="3962399"/>
          </a:xfrm>
          <a:prstGeom prst="rect">
            <a:avLst/>
          </a:prstGeom>
        </p:spPr>
      </p:pic>
      <p:sp>
        <p:nvSpPr>
          <p:cNvPr id="5" name="矩形: 圆角 4">
            <a:extLst>
              <a:ext uri="{FF2B5EF4-FFF2-40B4-BE49-F238E27FC236}">
                <a16:creationId xmlns:a16="http://schemas.microsoft.com/office/drawing/2014/main" id="{FE55112A-EE52-4599-9635-BA416139B6EA}"/>
              </a:ext>
            </a:extLst>
          </p:cNvPr>
          <p:cNvSpPr/>
          <p:nvPr/>
        </p:nvSpPr>
        <p:spPr>
          <a:xfrm>
            <a:off x="2933700" y="1905000"/>
            <a:ext cx="6172200" cy="88582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67E060BB-BF51-4B50-9AAC-A2AD90FEF4F2}"/>
              </a:ext>
            </a:extLst>
          </p:cNvPr>
          <p:cNvSpPr/>
          <p:nvPr/>
        </p:nvSpPr>
        <p:spPr>
          <a:xfrm>
            <a:off x="3448050" y="5010150"/>
            <a:ext cx="5029200" cy="43815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4.3.2 银行家算法</a:t>
            </a:r>
            <a:endParaRPr lang="zh-CN" altLang="en-US"/>
          </a:p>
        </p:txBody>
      </p:sp>
      <p:sp>
        <p:nvSpPr>
          <p:cNvPr id="5" name="内容占位符 4"/>
          <p:cNvSpPr>
            <a:spLocks noGrp="1"/>
          </p:cNvSpPr>
          <p:nvPr>
            <p:ph idx="1"/>
          </p:nvPr>
        </p:nvSpPr>
        <p:spPr>
          <a:xfrm>
            <a:off x="608330" y="923290"/>
            <a:ext cx="10968990" cy="5326380"/>
          </a:xfrm>
        </p:spPr>
        <p:txBody>
          <a:bodyPr/>
          <a:lstStyle/>
          <a:p>
            <a:pPr marL="0" indent="0">
              <a:buNone/>
            </a:pPr>
            <a:r>
              <a:rPr lang="zh-CN" altLang="en-US" b="1"/>
              <a:t>2．银行家算法</a:t>
            </a:r>
          </a:p>
        </p:txBody>
      </p:sp>
      <p:pic>
        <p:nvPicPr>
          <p:cNvPr id="6" name="图片 5" descr="}EMH4K$LPVCM2Q`KL(96D3E"/>
          <p:cNvPicPr>
            <a:picLocks noChangeAspect="1"/>
          </p:cNvPicPr>
          <p:nvPr/>
        </p:nvPicPr>
        <p:blipFill>
          <a:blip r:embed="rId3"/>
          <a:stretch>
            <a:fillRect/>
          </a:stretch>
        </p:blipFill>
        <p:spPr>
          <a:xfrm>
            <a:off x="1076325" y="1631315"/>
            <a:ext cx="10119995" cy="2934335"/>
          </a:xfrm>
          <a:prstGeom prst="rect">
            <a:avLst/>
          </a:prstGeom>
        </p:spPr>
      </p:pic>
      <p:pic>
        <p:nvPicPr>
          <p:cNvPr id="7" name="图片 6" descr="~T~FIL$V`5M}OFHD~C9%NU2"/>
          <p:cNvPicPr>
            <a:picLocks noChangeAspect="1"/>
          </p:cNvPicPr>
          <p:nvPr/>
        </p:nvPicPr>
        <p:blipFill>
          <a:blip r:embed="rId4"/>
          <a:stretch>
            <a:fillRect/>
          </a:stretch>
        </p:blipFill>
        <p:spPr>
          <a:xfrm>
            <a:off x="1122045" y="4574540"/>
            <a:ext cx="10074275" cy="201295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608330" y="955040"/>
            <a:ext cx="10968990" cy="5294630"/>
          </a:xfrm>
        </p:spPr>
        <p:txBody>
          <a:bodyPr/>
          <a:lstStyle/>
          <a:p>
            <a:pPr marL="0" indent="0">
              <a:buNone/>
            </a:pPr>
            <a:r>
              <a:rPr lang="zh-CN" altLang="en-US" b="1"/>
              <a:t>3．安全性算法</a:t>
            </a:r>
            <a:r>
              <a:rPr lang="en-US" altLang="zh-CN"/>
              <a:t>——</a:t>
            </a:r>
            <a:r>
              <a:rPr lang="zh-CN" altLang="en-US"/>
              <a:t>用于寻找安全序列，判断系统是否处于安全状态。</a:t>
            </a:r>
          </a:p>
        </p:txBody>
      </p:sp>
      <p:pic>
        <p:nvPicPr>
          <p:cNvPr id="4" name="图片 3" descr="9JUZ(%4GU{4JAFJ2BBIYI30"/>
          <p:cNvPicPr>
            <a:picLocks noChangeAspect="1"/>
          </p:cNvPicPr>
          <p:nvPr/>
        </p:nvPicPr>
        <p:blipFill>
          <a:blip r:embed="rId3"/>
          <a:stretch>
            <a:fillRect/>
          </a:stretch>
        </p:blipFill>
        <p:spPr>
          <a:xfrm>
            <a:off x="614680" y="1581150"/>
            <a:ext cx="10781030" cy="493014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608330" y="1085850"/>
            <a:ext cx="10968990" cy="5163820"/>
          </a:xfrm>
        </p:spPr>
        <p:txBody>
          <a:bodyPr/>
          <a:lstStyle/>
          <a:p>
            <a:pPr marL="0" indent="0">
              <a:buNone/>
            </a:pPr>
            <a:r>
              <a:rPr lang="zh-CN" altLang="en-US" b="1" dirty="0"/>
              <a:t>4．银行家算法示例</a:t>
            </a:r>
          </a:p>
          <a:p>
            <a:r>
              <a:rPr lang="zh-CN" altLang="en-US" dirty="0"/>
              <a:t>假设系统中有四个进程｛P1, P2, P3, P4｝和三类资源｛A, B, C｝，三类资源的数量分别为9、3、6。若T0时刻资源分配情况如表4-4 所示，</a:t>
            </a:r>
          </a:p>
        </p:txBody>
      </p:sp>
      <p:pic>
        <p:nvPicPr>
          <p:cNvPr id="4" name="图片 3" descr="B9HS@{]19L26ZCTXFT~]D7F"/>
          <p:cNvPicPr>
            <a:picLocks noChangeAspect="1"/>
          </p:cNvPicPr>
          <p:nvPr/>
        </p:nvPicPr>
        <p:blipFill>
          <a:blip r:embed="rId3"/>
          <a:stretch>
            <a:fillRect/>
          </a:stretch>
        </p:blipFill>
        <p:spPr>
          <a:xfrm>
            <a:off x="1408430" y="2955290"/>
            <a:ext cx="9375140" cy="279209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348838" y="1153314"/>
            <a:ext cx="10968990" cy="5022215"/>
          </a:xfrm>
        </p:spPr>
        <p:txBody>
          <a:bodyPr>
            <a:normAutofit/>
          </a:bodyPr>
          <a:lstStyle/>
          <a:p>
            <a:r>
              <a:rPr sz="2800" dirty="0">
                <a:sym typeface="+mn-ea"/>
              </a:rPr>
              <a:t>试回答：</a:t>
            </a:r>
            <a:endParaRPr lang="zh-CN" altLang="en-US" sz="2800" dirty="0"/>
          </a:p>
          <a:p>
            <a:pPr marL="457200" lvl="1" indent="0">
              <a:buNone/>
            </a:pPr>
            <a:r>
              <a:rPr sz="2800" dirty="0">
                <a:sym typeface="+mn-ea"/>
              </a:rPr>
              <a:t>（1）该系统是否处于安全状态？</a:t>
            </a:r>
            <a:endParaRPr lang="zh-CN" altLang="en-US" sz="2800" dirty="0"/>
          </a:p>
          <a:p>
            <a:pPr marL="457200" lvl="1" indent="0">
              <a:buNone/>
            </a:pPr>
            <a:r>
              <a:rPr sz="2800" dirty="0">
                <a:sym typeface="+mn-ea"/>
              </a:rPr>
              <a:t>（2）若进程P1 提出请求Request</a:t>
            </a:r>
            <a:r>
              <a:rPr sz="2800" baseline="-25000" dirty="0">
                <a:sym typeface="+mn-ea"/>
              </a:rPr>
              <a:t>1</a:t>
            </a:r>
            <a:r>
              <a:rPr sz="2800" dirty="0">
                <a:sym typeface="+mn-ea"/>
              </a:rPr>
              <a:t>[2, 2, 1]，系统能否将资源分配给它？</a:t>
            </a:r>
            <a:endParaRPr lang="zh-CN" altLang="en-US" sz="2800" dirty="0"/>
          </a:p>
          <a:p>
            <a:pPr marL="457200" lvl="1" indent="0">
              <a:buNone/>
            </a:pPr>
            <a:r>
              <a:rPr sz="2800" dirty="0">
                <a:sym typeface="+mn-ea"/>
              </a:rPr>
              <a:t>（3）若进程P2 提出请求Request</a:t>
            </a:r>
            <a:r>
              <a:rPr sz="2800" baseline="-25000" dirty="0">
                <a:sym typeface="+mn-ea"/>
              </a:rPr>
              <a:t>2</a:t>
            </a:r>
            <a:r>
              <a:rPr sz="2800" dirty="0">
                <a:sym typeface="+mn-ea"/>
              </a:rPr>
              <a:t>[1, 0, 1]，系统能否将资源分配给它？</a:t>
            </a:r>
            <a:endParaRPr lang="zh-CN" altLang="en-US" sz="2800" dirty="0"/>
          </a:p>
          <a:p>
            <a:pPr marL="457200" lvl="1" indent="0">
              <a:buNone/>
            </a:pPr>
            <a:r>
              <a:rPr sz="2800" dirty="0">
                <a:sym typeface="+mn-ea"/>
              </a:rPr>
              <a:t>（4）若进程P3 提出请求Request</a:t>
            </a:r>
            <a:r>
              <a:rPr sz="2800" baseline="-25000" dirty="0">
                <a:sym typeface="+mn-ea"/>
              </a:rPr>
              <a:t>3</a:t>
            </a:r>
            <a:r>
              <a:rPr sz="2800" dirty="0">
                <a:sym typeface="+mn-ea"/>
              </a:rPr>
              <a:t>[1, 0, 1]，系统能够将资源分配给它？</a:t>
            </a:r>
            <a:endParaRPr lang="zh-CN" altLang="en-US" sz="2800" dirty="0"/>
          </a:p>
          <a:p>
            <a:pPr marL="0" indent="0">
              <a:buNone/>
            </a:pP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4.3.2 银行家算法</a:t>
            </a:r>
          </a:p>
        </p:txBody>
      </p:sp>
      <p:sp>
        <p:nvSpPr>
          <p:cNvPr id="3" name="内容占位符 2"/>
          <p:cNvSpPr>
            <a:spLocks noGrp="1"/>
          </p:cNvSpPr>
          <p:nvPr>
            <p:ph idx="1"/>
          </p:nvPr>
        </p:nvSpPr>
        <p:spPr>
          <a:xfrm>
            <a:off x="375920" y="1227455"/>
            <a:ext cx="11495405" cy="5022215"/>
          </a:xfrm>
        </p:spPr>
        <p:txBody>
          <a:bodyPr>
            <a:normAutofit/>
          </a:bodyPr>
          <a:lstStyle/>
          <a:p>
            <a:r>
              <a:rPr lang="zh-CN" altLang="en-US" sz="2800" dirty="0"/>
              <a:t>解答：系统的可用资源及每个进程已分配资源和尚需的资源情况如表4-5 所示。</a:t>
            </a:r>
          </a:p>
        </p:txBody>
      </p:sp>
      <p:pic>
        <p:nvPicPr>
          <p:cNvPr id="4" name="图片 3" descr="FWH0_NXTIML))B@LYK)DLO8"/>
          <p:cNvPicPr>
            <a:picLocks noChangeAspect="1"/>
          </p:cNvPicPr>
          <p:nvPr/>
        </p:nvPicPr>
        <p:blipFill>
          <a:blip r:embed="rId3"/>
          <a:stretch>
            <a:fillRect/>
          </a:stretch>
        </p:blipFill>
        <p:spPr>
          <a:xfrm>
            <a:off x="320675" y="2951668"/>
            <a:ext cx="11307175" cy="3152569"/>
          </a:xfrm>
          <a:prstGeom prst="rect">
            <a:avLst/>
          </a:prstGeom>
        </p:spPr>
      </p:pic>
    </p:spTree>
    <p:custDataLst>
      <p:tags r:id="rId1"/>
    </p:custData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4.3.2 银行家算法</a:t>
            </a:r>
            <a:endParaRPr lang="zh-CN" altLang="en-US"/>
          </a:p>
        </p:txBody>
      </p:sp>
      <p:sp>
        <p:nvSpPr>
          <p:cNvPr id="3" name="内容占位符 2"/>
          <p:cNvSpPr>
            <a:spLocks noGrp="1"/>
          </p:cNvSpPr>
          <p:nvPr>
            <p:ph idx="1"/>
          </p:nvPr>
        </p:nvSpPr>
        <p:spPr/>
        <p:txBody>
          <a:bodyPr/>
          <a:lstStyle/>
          <a:p>
            <a:pPr marL="0" indent="0">
              <a:buNone/>
            </a:pPr>
            <a:r>
              <a:rPr lang="zh-CN" altLang="en-US" dirty="0"/>
              <a:t>（1）T0时刻的安全性：利用安全性算法对T0时刻的资源分配情况进行分析，如表4-6 所示。因为在T0时刻存在一个安全序列{P3，P1，P2，P4}，所以T0时刻系统处于安全状态。</a:t>
            </a:r>
          </a:p>
        </p:txBody>
      </p:sp>
      <p:grpSp>
        <p:nvGrpSpPr>
          <p:cNvPr id="8" name="组合 7"/>
          <p:cNvGrpSpPr/>
          <p:nvPr/>
        </p:nvGrpSpPr>
        <p:grpSpPr>
          <a:xfrm>
            <a:off x="1570990" y="2898775"/>
            <a:ext cx="9050020" cy="2509520"/>
            <a:chOff x="2474" y="4565"/>
            <a:chExt cx="14252" cy="3952"/>
          </a:xfrm>
        </p:grpSpPr>
        <p:pic>
          <p:nvPicPr>
            <p:cNvPr id="4" name="图片 3" descr="}X2G4O8FW)A5$WIQ0AAZEON"/>
            <p:cNvPicPr>
              <a:picLocks noChangeAspect="1"/>
            </p:cNvPicPr>
            <p:nvPr/>
          </p:nvPicPr>
          <p:blipFill>
            <a:blip r:embed="rId3"/>
            <a:stretch>
              <a:fillRect/>
            </a:stretch>
          </p:blipFill>
          <p:spPr>
            <a:xfrm>
              <a:off x="2474" y="4565"/>
              <a:ext cx="14253" cy="3952"/>
            </a:xfrm>
            <a:prstGeom prst="rect">
              <a:avLst/>
            </a:prstGeom>
          </p:spPr>
        </p:pic>
        <p:pic>
          <p:nvPicPr>
            <p:cNvPr id="7" name="图片 6" descr="P82XCOS8P8D3[%8%0W@IKDR"/>
            <p:cNvPicPr>
              <a:picLocks noChangeAspect="1"/>
            </p:cNvPicPr>
            <p:nvPr/>
          </p:nvPicPr>
          <p:blipFill>
            <a:blip r:embed="rId4"/>
            <a:stretch>
              <a:fillRect/>
            </a:stretch>
          </p:blipFill>
          <p:spPr>
            <a:xfrm>
              <a:off x="13773" y="5686"/>
              <a:ext cx="1110" cy="255"/>
            </a:xfrm>
            <a:prstGeom prst="rect">
              <a:avLst/>
            </a:prstGeom>
          </p:spPr>
        </p:pic>
      </p:grpSp>
    </p:spTree>
    <p:custDataLst>
      <p:tags r:id="rId1"/>
    </p:custData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4.3.2 银行家算法</a:t>
            </a:r>
            <a:endParaRPr lang="zh-CN" altLang="en-US"/>
          </a:p>
        </p:txBody>
      </p:sp>
      <p:sp>
        <p:nvSpPr>
          <p:cNvPr id="3" name="内容占位符 2"/>
          <p:cNvSpPr>
            <a:spLocks noGrp="1"/>
          </p:cNvSpPr>
          <p:nvPr>
            <p:ph idx="1"/>
          </p:nvPr>
        </p:nvSpPr>
        <p:spPr/>
        <p:txBody>
          <a:bodyPr>
            <a:normAutofit/>
          </a:bodyPr>
          <a:lstStyle/>
          <a:p>
            <a:pPr marL="0" indent="0">
              <a:buNone/>
            </a:pPr>
            <a:r>
              <a:rPr lang="zh-CN" altLang="en-US" sz="2800" dirty="0"/>
              <a:t>（2）进程P1发出资源请求Request</a:t>
            </a:r>
            <a:r>
              <a:rPr lang="zh-CN" altLang="en-US" sz="2800" baseline="-25000" dirty="0"/>
              <a:t>1</a:t>
            </a:r>
            <a:r>
              <a:rPr lang="zh-CN" altLang="en-US" sz="2800" dirty="0"/>
              <a:t>[2, 2, 1]后，系统按银行家算法进行检查：</a:t>
            </a:r>
          </a:p>
          <a:p>
            <a:pPr marL="0" indent="0">
              <a:buNone/>
            </a:pPr>
            <a:r>
              <a:rPr lang="zh-CN" altLang="en-US" sz="2800" dirty="0"/>
              <a:t>  ① Request</a:t>
            </a:r>
            <a:r>
              <a:rPr lang="zh-CN" altLang="en-US" sz="2800" baseline="-25000" dirty="0"/>
              <a:t>1</a:t>
            </a:r>
            <a:r>
              <a:rPr lang="zh-CN" altLang="en-US" sz="2800" dirty="0"/>
              <a:t>[2, 2, 1]≤Need</a:t>
            </a:r>
            <a:r>
              <a:rPr lang="zh-CN" altLang="en-US" sz="2800" baseline="-25000" dirty="0"/>
              <a:t>1</a:t>
            </a:r>
            <a:r>
              <a:rPr lang="zh-CN" altLang="en-US" sz="2800" dirty="0"/>
              <a:t>[2, 2, 2]；</a:t>
            </a:r>
          </a:p>
          <a:p>
            <a:pPr marL="0" indent="0">
              <a:buNone/>
            </a:pPr>
            <a:r>
              <a:rPr lang="zh-CN" altLang="en-US" sz="2800" dirty="0"/>
              <a:t>  ② Request</a:t>
            </a:r>
            <a:r>
              <a:rPr lang="zh-CN" altLang="en-US" sz="2800" baseline="-25000" dirty="0"/>
              <a:t>1</a:t>
            </a:r>
            <a:r>
              <a:rPr lang="zh-CN" altLang="en-US" sz="2800" dirty="0"/>
              <a:t>[2, 2, 1]＞Available[1, 1, 2]，即系统没有足够的可用资源供其使用。</a:t>
            </a:r>
          </a:p>
          <a:p>
            <a:pPr marL="0" indent="0">
              <a:buNone/>
            </a:pPr>
            <a:r>
              <a:rPr lang="zh-CN" altLang="en-US" sz="2800" dirty="0"/>
              <a:t>因此，进程P1 的资源请求无法满足，故进程P1 产生阻塞。</a:t>
            </a:r>
          </a:p>
          <a:p>
            <a:pPr marL="0" indent="0">
              <a:buNone/>
            </a:pPr>
            <a:endParaRPr lang="zh-CN" altLang="en-US" sz="2800" dirty="0"/>
          </a:p>
        </p:txBody>
      </p:sp>
    </p:spTree>
    <p:custDataLst>
      <p:tags r:id="rId1"/>
    </p:custData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R}7O1%}`SXR667)00WK)A42"/>
          <p:cNvPicPr>
            <a:picLocks noChangeAspect="1"/>
          </p:cNvPicPr>
          <p:nvPr/>
        </p:nvPicPr>
        <p:blipFill>
          <a:blip r:embed="rId3"/>
          <a:stretch>
            <a:fillRect/>
          </a:stretch>
        </p:blipFill>
        <p:spPr>
          <a:xfrm>
            <a:off x="1350645" y="3923030"/>
            <a:ext cx="9357360" cy="2632075"/>
          </a:xfrm>
          <a:prstGeom prst="rect">
            <a:avLst/>
          </a:prstGeom>
        </p:spPr>
      </p:pic>
      <p:sp>
        <p:nvSpPr>
          <p:cNvPr id="6" name="矩形 5"/>
          <p:cNvSpPr/>
          <p:nvPr/>
        </p:nvSpPr>
        <p:spPr>
          <a:xfrm>
            <a:off x="187960" y="156210"/>
            <a:ext cx="11076305" cy="770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p:nvPr>
        </p:nvSpPr>
        <p:spPr>
          <a:xfrm>
            <a:off x="570230" y="156210"/>
            <a:ext cx="11324590" cy="5807710"/>
          </a:xfrm>
        </p:spPr>
        <p:txBody>
          <a:bodyPr>
            <a:normAutofit/>
          </a:bodyPr>
          <a:lstStyle/>
          <a:p>
            <a:pPr marL="0" indent="0">
              <a:spcAft>
                <a:spcPts val="0"/>
              </a:spcAft>
              <a:buNone/>
            </a:pPr>
            <a:r>
              <a:rPr>
                <a:sym typeface="+mn-ea"/>
              </a:rPr>
              <a:t>（3）进程P2发出资源请求Request</a:t>
            </a:r>
            <a:r>
              <a:rPr baseline="-25000">
                <a:sym typeface="+mn-ea"/>
              </a:rPr>
              <a:t>2</a:t>
            </a:r>
            <a:r>
              <a:rPr>
                <a:sym typeface="+mn-ea"/>
              </a:rPr>
              <a:t>[1, 0, 1]后，系统按银行家算法进行检查：</a:t>
            </a:r>
            <a:endParaRPr lang="zh-CN" altLang="en-US"/>
          </a:p>
          <a:p>
            <a:pPr marL="0" indent="0">
              <a:spcAft>
                <a:spcPts val="0"/>
              </a:spcAft>
              <a:buNone/>
            </a:pPr>
            <a:r>
              <a:rPr>
                <a:sym typeface="+mn-ea"/>
              </a:rPr>
              <a:t> ① Request</a:t>
            </a:r>
            <a:r>
              <a:rPr baseline="-25000">
                <a:sym typeface="+mn-ea"/>
              </a:rPr>
              <a:t>2</a:t>
            </a:r>
            <a:r>
              <a:rPr>
                <a:sym typeface="+mn-ea"/>
              </a:rPr>
              <a:t>[1, 0, 1]≤Need</a:t>
            </a:r>
            <a:r>
              <a:rPr baseline="-25000">
                <a:sym typeface="+mn-ea"/>
              </a:rPr>
              <a:t>2</a:t>
            </a:r>
            <a:r>
              <a:rPr>
                <a:sym typeface="+mn-ea"/>
              </a:rPr>
              <a:t>[1, 0, 3]；</a:t>
            </a:r>
            <a:endParaRPr lang="zh-CN" altLang="en-US"/>
          </a:p>
          <a:p>
            <a:pPr marL="0" indent="0">
              <a:spcAft>
                <a:spcPts val="0"/>
              </a:spcAft>
              <a:buNone/>
            </a:pPr>
            <a:r>
              <a:rPr>
                <a:sym typeface="+mn-ea"/>
              </a:rPr>
              <a:t> ② Request</a:t>
            </a:r>
            <a:r>
              <a:rPr baseline="-25000">
                <a:sym typeface="+mn-ea"/>
              </a:rPr>
              <a:t>2</a:t>
            </a:r>
            <a:r>
              <a:rPr>
                <a:sym typeface="+mn-ea"/>
              </a:rPr>
              <a:t>[1, 0, 1]≤Available[1, 1, 2]；</a:t>
            </a:r>
            <a:endParaRPr lang="zh-CN" altLang="en-US"/>
          </a:p>
          <a:p>
            <a:pPr marL="0" indent="0">
              <a:spcAft>
                <a:spcPts val="0"/>
              </a:spcAft>
              <a:buNone/>
            </a:pPr>
            <a:r>
              <a:rPr>
                <a:sym typeface="+mn-ea"/>
              </a:rPr>
              <a:t> ③ 系统假设满足进程P2的请求，为其分配所需资源，修改后的状态数据如表4-7所示。</a:t>
            </a:r>
          </a:p>
          <a:p>
            <a:pPr marL="0" indent="0">
              <a:spcAft>
                <a:spcPts val="0"/>
              </a:spcAft>
              <a:buNone/>
            </a:pPr>
            <a:r>
              <a:rPr lang="zh-CN" altLang="en-US"/>
              <a:t>④ 在进行安全性算法检查时发现，可用资源Available[0, 1, 1]已不能满足任何进程的需要，故系统进入不安全状态。因此，进程P2的资源请求无法满足，故进程P2 产生阻塞。</a:t>
            </a:r>
          </a:p>
          <a:p>
            <a:pPr marL="0" indent="0">
              <a:buNone/>
            </a:pPr>
            <a:endParaRPr lang="zh-CN" altLang="en-US"/>
          </a:p>
        </p:txBody>
      </p:sp>
    </p:spTree>
    <p:custDataLst>
      <p:tags r:id="rId1"/>
    </p:custData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87960" y="156210"/>
            <a:ext cx="11076305" cy="770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p:nvPr>
        </p:nvSpPr>
        <p:spPr>
          <a:xfrm>
            <a:off x="570230" y="156210"/>
            <a:ext cx="11324590" cy="6466840"/>
          </a:xfrm>
          <a:solidFill>
            <a:schemeClr val="bg1"/>
          </a:solidFill>
        </p:spPr>
        <p:txBody>
          <a:bodyPr>
            <a:normAutofit/>
          </a:bodyPr>
          <a:lstStyle/>
          <a:p>
            <a:pPr marL="0" indent="0">
              <a:spcAft>
                <a:spcPts val="0"/>
              </a:spcAft>
              <a:buNone/>
            </a:pPr>
            <a:r>
              <a:rPr sz="2000" dirty="0">
                <a:sym typeface="+mn-ea"/>
              </a:rPr>
              <a:t>（4）进程P3发出资源请求Request</a:t>
            </a:r>
            <a:r>
              <a:rPr sz="2000" baseline="-25000" dirty="0">
                <a:sym typeface="+mn-ea"/>
              </a:rPr>
              <a:t>3</a:t>
            </a:r>
            <a:r>
              <a:rPr sz="2000" dirty="0">
                <a:sym typeface="+mn-ea"/>
              </a:rPr>
              <a:t>[1, 0, 1]后，系统按银行家算法进行检查：</a:t>
            </a:r>
          </a:p>
          <a:p>
            <a:pPr marL="0" indent="0">
              <a:spcAft>
                <a:spcPts val="0"/>
              </a:spcAft>
              <a:buNone/>
            </a:pPr>
            <a:r>
              <a:rPr sz="2000" dirty="0">
                <a:sym typeface="+mn-ea"/>
              </a:rPr>
              <a:t>① Request</a:t>
            </a:r>
            <a:r>
              <a:rPr sz="2000" baseline="-25000" dirty="0">
                <a:sym typeface="+mn-ea"/>
              </a:rPr>
              <a:t>3</a:t>
            </a:r>
            <a:r>
              <a:rPr sz="2000" dirty="0">
                <a:sym typeface="+mn-ea"/>
              </a:rPr>
              <a:t>[1, 0, 1]≤Need</a:t>
            </a:r>
            <a:r>
              <a:rPr sz="2000" baseline="-25000" dirty="0">
                <a:sym typeface="+mn-ea"/>
              </a:rPr>
              <a:t>3</a:t>
            </a:r>
            <a:r>
              <a:rPr sz="2000" dirty="0">
                <a:sym typeface="+mn-ea"/>
              </a:rPr>
              <a:t>[1, 0, 2]；</a:t>
            </a:r>
          </a:p>
          <a:p>
            <a:pPr marL="0" indent="0">
              <a:spcAft>
                <a:spcPts val="0"/>
              </a:spcAft>
              <a:buNone/>
            </a:pPr>
            <a:r>
              <a:rPr sz="2000" dirty="0">
                <a:sym typeface="+mn-ea"/>
              </a:rPr>
              <a:t>② Request</a:t>
            </a:r>
            <a:r>
              <a:rPr sz="2000" baseline="-25000" dirty="0">
                <a:sym typeface="+mn-ea"/>
              </a:rPr>
              <a:t>3</a:t>
            </a:r>
            <a:r>
              <a:rPr sz="2000" dirty="0">
                <a:sym typeface="+mn-ea"/>
              </a:rPr>
              <a:t>[1, 0, 1]≤Available[1, 1, 2]；</a:t>
            </a:r>
          </a:p>
          <a:p>
            <a:pPr marL="0" indent="0">
              <a:spcAft>
                <a:spcPts val="0"/>
              </a:spcAft>
              <a:buNone/>
            </a:pPr>
            <a:r>
              <a:rPr sz="2000" dirty="0">
                <a:sym typeface="+mn-ea"/>
              </a:rPr>
              <a:t>③ 系统假设满足进程P3的请求，为其分配所需资源，修改的数据结构可表示为：</a:t>
            </a:r>
          </a:p>
          <a:p>
            <a:pPr marL="0" indent="0">
              <a:lnSpc>
                <a:spcPct val="100000"/>
              </a:lnSpc>
              <a:spcAft>
                <a:spcPts val="0"/>
              </a:spcAft>
              <a:buNone/>
            </a:pPr>
            <a:endParaRPr sz="2000" dirty="0">
              <a:sym typeface="+mn-ea"/>
            </a:endParaRPr>
          </a:p>
          <a:p>
            <a:pPr marL="0" indent="0">
              <a:lnSpc>
                <a:spcPct val="100000"/>
              </a:lnSpc>
              <a:spcAft>
                <a:spcPts val="0"/>
              </a:spcAft>
              <a:buNone/>
            </a:pPr>
            <a:endParaRPr sz="2000" dirty="0">
              <a:sym typeface="+mn-ea"/>
            </a:endParaRPr>
          </a:p>
          <a:p>
            <a:pPr marL="0" indent="0">
              <a:lnSpc>
                <a:spcPct val="100000"/>
              </a:lnSpc>
              <a:spcAft>
                <a:spcPts val="0"/>
              </a:spcAft>
              <a:buNone/>
            </a:pPr>
            <a:endParaRPr sz="2000" dirty="0">
              <a:sym typeface="+mn-ea"/>
            </a:endParaRPr>
          </a:p>
          <a:p>
            <a:pPr marL="0" indent="0">
              <a:lnSpc>
                <a:spcPct val="100000"/>
              </a:lnSpc>
              <a:spcAft>
                <a:spcPts val="0"/>
              </a:spcAft>
              <a:buNone/>
            </a:pPr>
            <a:endParaRPr sz="2000" dirty="0">
              <a:sym typeface="+mn-ea"/>
            </a:endParaRPr>
          </a:p>
        </p:txBody>
      </p:sp>
      <p:pic>
        <p:nvPicPr>
          <p:cNvPr id="2" name="图片 1" descr="GRLJM](OBDWP5692SS~THT1"/>
          <p:cNvPicPr>
            <a:picLocks noChangeAspect="1"/>
          </p:cNvPicPr>
          <p:nvPr/>
        </p:nvPicPr>
        <p:blipFill>
          <a:blip r:embed="rId3"/>
          <a:stretch>
            <a:fillRect/>
          </a:stretch>
        </p:blipFill>
        <p:spPr>
          <a:xfrm>
            <a:off x="2000885" y="1924050"/>
            <a:ext cx="3990975" cy="1000125"/>
          </a:xfrm>
          <a:prstGeom prst="rect">
            <a:avLst/>
          </a:prstGeom>
        </p:spPr>
      </p:pic>
      <p:pic>
        <p:nvPicPr>
          <p:cNvPr id="4" name="图片 3" descr="表格&#10;&#10;描述已自动生成">
            <a:extLst>
              <a:ext uri="{FF2B5EF4-FFF2-40B4-BE49-F238E27FC236}">
                <a16:creationId xmlns:a16="http://schemas.microsoft.com/office/drawing/2014/main" id="{2977DADF-842D-B995-B4D6-A5C700CBD5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142" y="3347283"/>
            <a:ext cx="9365183" cy="2852659"/>
          </a:xfrm>
          <a:prstGeom prst="rect">
            <a:avLst/>
          </a:prstGeom>
        </p:spPr>
      </p:pic>
    </p:spTree>
    <p:custDataLst>
      <p:tags r:id="rId1"/>
    </p:custData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46AF6C80-E158-BA68-26B5-8F0129A61CC1}"/>
              </a:ext>
            </a:extLst>
          </p:cNvPr>
          <p:cNvSpPr txBox="1"/>
          <p:nvPr/>
        </p:nvSpPr>
        <p:spPr>
          <a:xfrm>
            <a:off x="1198558" y="1266319"/>
            <a:ext cx="8905002" cy="4524315"/>
          </a:xfrm>
          <a:prstGeom prst="rect">
            <a:avLst/>
          </a:prstGeom>
          <a:noFill/>
        </p:spPr>
        <p:txBody>
          <a:bodyPr wrap="none" rtlCol="0">
            <a:spAutoFit/>
          </a:bodyPr>
          <a:lstStyle/>
          <a:p>
            <a:pPr marL="0" indent="0">
              <a:spcAft>
                <a:spcPts val="0"/>
              </a:spcAft>
              <a:buNone/>
            </a:pPr>
            <a:r>
              <a:rPr lang="zh-CN" altLang="en-US" sz="1800" dirty="0">
                <a:sym typeface="+mn-ea"/>
              </a:rPr>
              <a:t>④ 利用安全性算法检查系统是否处于安全状态，如表</a:t>
            </a:r>
            <a:r>
              <a:rPr lang="en-US" altLang="zh-CN" sz="1800" dirty="0">
                <a:sym typeface="+mn-ea"/>
              </a:rPr>
              <a:t>4-8 </a:t>
            </a:r>
            <a:r>
              <a:rPr lang="zh-CN" altLang="en-US" sz="1800" dirty="0">
                <a:sym typeface="+mn-ea"/>
              </a:rPr>
              <a:t>所示。</a:t>
            </a:r>
          </a:p>
          <a:p>
            <a:pPr marL="0" indent="0">
              <a:spcAft>
                <a:spcPts val="0"/>
              </a:spcAft>
              <a:buNone/>
            </a:pPr>
            <a:endParaRPr lang="zh-CN" altLang="en-US" sz="1800" dirty="0">
              <a:sym typeface="+mn-ea"/>
            </a:endParaRPr>
          </a:p>
          <a:p>
            <a:pPr marL="0" indent="0">
              <a:spcAft>
                <a:spcPts val="0"/>
              </a:spcAft>
              <a:buNone/>
            </a:pPr>
            <a:endParaRPr lang="zh-CN" altLang="en-US" sz="1800" dirty="0">
              <a:sym typeface="+mn-ea"/>
            </a:endParaRPr>
          </a:p>
          <a:p>
            <a:pPr marL="0" indent="0">
              <a:spcAft>
                <a:spcPts val="0"/>
              </a:spcAft>
              <a:buNone/>
            </a:pPr>
            <a:endParaRPr lang="en-US" altLang="zh-CN" sz="1800" dirty="0">
              <a:sym typeface="+mn-ea"/>
            </a:endParaRPr>
          </a:p>
          <a:p>
            <a:pPr marL="0" indent="0">
              <a:spcAft>
                <a:spcPts val="0"/>
              </a:spcAft>
              <a:buNone/>
            </a:pPr>
            <a:endParaRPr lang="en-US" altLang="zh-CN" dirty="0">
              <a:sym typeface="+mn-ea"/>
            </a:endParaRPr>
          </a:p>
          <a:p>
            <a:pPr marL="0" indent="0">
              <a:spcAft>
                <a:spcPts val="0"/>
              </a:spcAft>
              <a:buNone/>
            </a:pPr>
            <a:endParaRPr lang="en-US" altLang="zh-CN" sz="1800" dirty="0">
              <a:sym typeface="+mn-ea"/>
            </a:endParaRPr>
          </a:p>
          <a:p>
            <a:pPr marL="0" indent="0">
              <a:spcAft>
                <a:spcPts val="0"/>
              </a:spcAft>
              <a:buNone/>
            </a:pPr>
            <a:endParaRPr lang="en-US" altLang="zh-CN" dirty="0">
              <a:sym typeface="+mn-ea"/>
            </a:endParaRPr>
          </a:p>
          <a:p>
            <a:pPr marL="0" indent="0">
              <a:spcAft>
                <a:spcPts val="0"/>
              </a:spcAft>
              <a:buNone/>
            </a:pPr>
            <a:endParaRPr lang="zh-CN" altLang="en-US" sz="1800" dirty="0">
              <a:sym typeface="+mn-ea"/>
            </a:endParaRPr>
          </a:p>
          <a:p>
            <a:pPr marL="0" indent="0">
              <a:spcAft>
                <a:spcPts val="0"/>
              </a:spcAft>
              <a:buNone/>
            </a:pPr>
            <a:endParaRPr lang="zh-CN" altLang="en-US" sz="1800" dirty="0">
              <a:sym typeface="+mn-ea"/>
            </a:endParaRPr>
          </a:p>
          <a:p>
            <a:pPr marL="0" indent="0">
              <a:spcAft>
                <a:spcPts val="0"/>
              </a:spcAft>
              <a:buNone/>
            </a:pPr>
            <a:endParaRPr lang="zh-CN" altLang="en-US" sz="1800" dirty="0">
              <a:sym typeface="+mn-ea"/>
            </a:endParaRPr>
          </a:p>
          <a:p>
            <a:pPr marL="0" indent="0">
              <a:spcAft>
                <a:spcPts val="0"/>
              </a:spcAft>
              <a:buNone/>
            </a:pPr>
            <a:endParaRPr lang="zh-CN" altLang="en-US" sz="1800" dirty="0">
              <a:sym typeface="+mn-ea"/>
            </a:endParaRPr>
          </a:p>
          <a:p>
            <a:pPr marL="0" indent="0">
              <a:spcAft>
                <a:spcPts val="0"/>
              </a:spcAft>
              <a:buNone/>
            </a:pPr>
            <a:r>
              <a:rPr lang="zh-CN" altLang="en-US" sz="1800" dirty="0">
                <a:sym typeface="+mn-ea"/>
              </a:rPr>
              <a:t>     </a:t>
            </a:r>
            <a:endParaRPr lang="en-US" altLang="zh-CN" sz="1800" dirty="0">
              <a:sym typeface="+mn-ea"/>
            </a:endParaRPr>
          </a:p>
          <a:p>
            <a:pPr marL="0" indent="0">
              <a:spcAft>
                <a:spcPts val="0"/>
              </a:spcAft>
              <a:buNone/>
            </a:pPr>
            <a:endParaRPr lang="en-US" altLang="zh-CN" dirty="0">
              <a:sym typeface="+mn-ea"/>
            </a:endParaRPr>
          </a:p>
          <a:p>
            <a:pPr marL="0" indent="0">
              <a:spcAft>
                <a:spcPts val="0"/>
              </a:spcAft>
              <a:buNone/>
            </a:pPr>
            <a:r>
              <a:rPr lang="zh-CN" altLang="en-US" sz="1800" dirty="0">
                <a:sym typeface="+mn-ea"/>
              </a:rPr>
              <a:t> 由安全性算法检查结果得知，可以找到一个安全序列</a:t>
            </a:r>
            <a:r>
              <a:rPr lang="en-US" altLang="zh-CN" sz="1800" dirty="0">
                <a:sym typeface="+mn-ea"/>
              </a:rPr>
              <a:t>{ P3, P1, P2, P4}</a:t>
            </a:r>
            <a:r>
              <a:rPr lang="zh-CN" altLang="en-US" sz="1800" dirty="0">
                <a:sym typeface="+mn-ea"/>
              </a:rPr>
              <a:t>。因此，系统处</a:t>
            </a:r>
          </a:p>
          <a:p>
            <a:pPr marL="0" indent="0">
              <a:spcAft>
                <a:spcPts val="0"/>
              </a:spcAft>
              <a:buNone/>
            </a:pPr>
            <a:r>
              <a:rPr lang="zh-CN" altLang="en-US" sz="1800" dirty="0">
                <a:sym typeface="+mn-ea"/>
              </a:rPr>
              <a:t>于安全状态。所以，可以将进程</a:t>
            </a:r>
            <a:r>
              <a:rPr lang="en-US" altLang="zh-CN" sz="1800" dirty="0">
                <a:sym typeface="+mn-ea"/>
              </a:rPr>
              <a:t>P3</a:t>
            </a:r>
            <a:r>
              <a:rPr lang="zh-CN" altLang="en-US" sz="1800" dirty="0">
                <a:sym typeface="+mn-ea"/>
              </a:rPr>
              <a:t>所请求的资源分配给它。</a:t>
            </a:r>
          </a:p>
          <a:p>
            <a:endParaRPr lang="zh-CN" altLang="en-US" dirty="0"/>
          </a:p>
        </p:txBody>
      </p:sp>
      <p:grpSp>
        <p:nvGrpSpPr>
          <p:cNvPr id="8" name="组合 7"/>
          <p:cNvGrpSpPr/>
          <p:nvPr/>
        </p:nvGrpSpPr>
        <p:grpSpPr>
          <a:xfrm>
            <a:off x="1507957" y="1621363"/>
            <a:ext cx="9079831" cy="3114266"/>
            <a:chOff x="2784" y="5477"/>
            <a:chExt cx="12990" cy="3660"/>
          </a:xfrm>
        </p:grpSpPr>
        <p:pic>
          <p:nvPicPr>
            <p:cNvPr id="9" name="图片 8" descr="SNAL(EP%3JY}`5{P5GZWJ1M"/>
            <p:cNvPicPr>
              <a:picLocks noChangeAspect="1"/>
            </p:cNvPicPr>
            <p:nvPr/>
          </p:nvPicPr>
          <p:blipFill>
            <a:blip r:embed="rId2"/>
            <a:stretch>
              <a:fillRect/>
            </a:stretch>
          </p:blipFill>
          <p:spPr>
            <a:xfrm>
              <a:off x="2784" y="5477"/>
              <a:ext cx="12990" cy="3660"/>
            </a:xfrm>
            <a:prstGeom prst="rect">
              <a:avLst/>
            </a:prstGeom>
          </p:spPr>
        </p:pic>
        <p:pic>
          <p:nvPicPr>
            <p:cNvPr id="10" name="图片 9" descr="K8MZ%FUJVAI(}((9Y5KZZU4"/>
            <p:cNvPicPr>
              <a:picLocks noChangeAspect="1"/>
            </p:cNvPicPr>
            <p:nvPr/>
          </p:nvPicPr>
          <p:blipFill>
            <a:blip r:embed="rId3"/>
            <a:stretch>
              <a:fillRect/>
            </a:stretch>
          </p:blipFill>
          <p:spPr>
            <a:xfrm>
              <a:off x="13019" y="6552"/>
              <a:ext cx="1020" cy="285"/>
            </a:xfrm>
            <a:prstGeom prst="rect">
              <a:avLst/>
            </a:prstGeom>
          </p:spPr>
        </p:pic>
      </p:grpSp>
    </p:spTree>
    <p:extLst>
      <p:ext uri="{BB962C8B-B14F-4D97-AF65-F5344CB8AC3E}">
        <p14:creationId xmlns:p14="http://schemas.microsoft.com/office/powerpoint/2010/main" val="80963969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26A7BD67-4F12-F9AC-05AB-FFB4CC46D583}"/>
              </a:ext>
            </a:extLst>
          </p:cNvPr>
          <p:cNvGraphicFramePr>
            <a:graphicFrameLocks noGrp="1"/>
          </p:cNvGraphicFramePr>
          <p:nvPr>
            <p:extLst>
              <p:ext uri="{D42A27DB-BD31-4B8C-83A1-F6EECF244321}">
                <p14:modId xmlns:p14="http://schemas.microsoft.com/office/powerpoint/2010/main" val="653012635"/>
              </p:ext>
            </p:extLst>
          </p:nvPr>
        </p:nvGraphicFramePr>
        <p:xfrm>
          <a:off x="1261088" y="3429000"/>
          <a:ext cx="10079841" cy="3019302"/>
        </p:xfrm>
        <a:graphic>
          <a:graphicData uri="http://schemas.openxmlformats.org/drawingml/2006/table">
            <a:tbl>
              <a:tblPr firstRow="1" firstCol="1" bandRow="1">
                <a:tableStyleId>{5C22544A-7EE6-4342-B048-85BDC9FD1C3A}</a:tableStyleId>
              </a:tblPr>
              <a:tblGrid>
                <a:gridCol w="774645">
                  <a:extLst>
                    <a:ext uri="{9D8B030D-6E8A-4147-A177-3AD203B41FA5}">
                      <a16:colId xmlns:a16="http://schemas.microsoft.com/office/drawing/2014/main" val="659171024"/>
                    </a:ext>
                  </a:extLst>
                </a:gridCol>
                <a:gridCol w="774645">
                  <a:extLst>
                    <a:ext uri="{9D8B030D-6E8A-4147-A177-3AD203B41FA5}">
                      <a16:colId xmlns:a16="http://schemas.microsoft.com/office/drawing/2014/main" val="2720203670"/>
                    </a:ext>
                  </a:extLst>
                </a:gridCol>
                <a:gridCol w="774645">
                  <a:extLst>
                    <a:ext uri="{9D8B030D-6E8A-4147-A177-3AD203B41FA5}">
                      <a16:colId xmlns:a16="http://schemas.microsoft.com/office/drawing/2014/main" val="3294167561"/>
                    </a:ext>
                  </a:extLst>
                </a:gridCol>
                <a:gridCol w="774645">
                  <a:extLst>
                    <a:ext uri="{9D8B030D-6E8A-4147-A177-3AD203B41FA5}">
                      <a16:colId xmlns:a16="http://schemas.microsoft.com/office/drawing/2014/main" val="89801472"/>
                    </a:ext>
                  </a:extLst>
                </a:gridCol>
                <a:gridCol w="774645">
                  <a:extLst>
                    <a:ext uri="{9D8B030D-6E8A-4147-A177-3AD203B41FA5}">
                      <a16:colId xmlns:a16="http://schemas.microsoft.com/office/drawing/2014/main" val="1978188815"/>
                    </a:ext>
                  </a:extLst>
                </a:gridCol>
                <a:gridCol w="775827">
                  <a:extLst>
                    <a:ext uri="{9D8B030D-6E8A-4147-A177-3AD203B41FA5}">
                      <a16:colId xmlns:a16="http://schemas.microsoft.com/office/drawing/2014/main" val="2025215486"/>
                    </a:ext>
                  </a:extLst>
                </a:gridCol>
                <a:gridCol w="775827">
                  <a:extLst>
                    <a:ext uri="{9D8B030D-6E8A-4147-A177-3AD203B41FA5}">
                      <a16:colId xmlns:a16="http://schemas.microsoft.com/office/drawing/2014/main" val="2184560758"/>
                    </a:ext>
                  </a:extLst>
                </a:gridCol>
                <a:gridCol w="775827">
                  <a:extLst>
                    <a:ext uri="{9D8B030D-6E8A-4147-A177-3AD203B41FA5}">
                      <a16:colId xmlns:a16="http://schemas.microsoft.com/office/drawing/2014/main" val="27203493"/>
                    </a:ext>
                  </a:extLst>
                </a:gridCol>
                <a:gridCol w="775827">
                  <a:extLst>
                    <a:ext uri="{9D8B030D-6E8A-4147-A177-3AD203B41FA5}">
                      <a16:colId xmlns:a16="http://schemas.microsoft.com/office/drawing/2014/main" val="4237049041"/>
                    </a:ext>
                  </a:extLst>
                </a:gridCol>
                <a:gridCol w="775827">
                  <a:extLst>
                    <a:ext uri="{9D8B030D-6E8A-4147-A177-3AD203B41FA5}">
                      <a16:colId xmlns:a16="http://schemas.microsoft.com/office/drawing/2014/main" val="437730667"/>
                    </a:ext>
                  </a:extLst>
                </a:gridCol>
                <a:gridCol w="775827">
                  <a:extLst>
                    <a:ext uri="{9D8B030D-6E8A-4147-A177-3AD203B41FA5}">
                      <a16:colId xmlns:a16="http://schemas.microsoft.com/office/drawing/2014/main" val="4092755457"/>
                    </a:ext>
                  </a:extLst>
                </a:gridCol>
                <a:gridCol w="775827">
                  <a:extLst>
                    <a:ext uri="{9D8B030D-6E8A-4147-A177-3AD203B41FA5}">
                      <a16:colId xmlns:a16="http://schemas.microsoft.com/office/drawing/2014/main" val="4150304431"/>
                    </a:ext>
                  </a:extLst>
                </a:gridCol>
                <a:gridCol w="775827">
                  <a:extLst>
                    <a:ext uri="{9D8B030D-6E8A-4147-A177-3AD203B41FA5}">
                      <a16:colId xmlns:a16="http://schemas.microsoft.com/office/drawing/2014/main" val="2625517915"/>
                    </a:ext>
                  </a:extLst>
                </a:gridCol>
              </a:tblGrid>
              <a:tr h="423425">
                <a:tc rowSpan="2">
                  <a:txBody>
                    <a:bodyPr/>
                    <a:lstStyle/>
                    <a:p>
                      <a:pPr algn="ctr">
                        <a:lnSpc>
                          <a:spcPts val="2000"/>
                        </a:lnSpc>
                        <a:buNone/>
                      </a:pPr>
                      <a:r>
                        <a:rPr lang="zh-CN" sz="2000" kern="100">
                          <a:solidFill>
                            <a:schemeClr val="tx2"/>
                          </a:solidFill>
                          <a:effectLst/>
                        </a:rPr>
                        <a:t>进</a:t>
                      </a:r>
                    </a:p>
                    <a:p>
                      <a:pPr algn="ctr">
                        <a:lnSpc>
                          <a:spcPts val="2000"/>
                        </a:lnSpc>
                        <a:buNone/>
                      </a:pPr>
                      <a:r>
                        <a:rPr lang="zh-CN" sz="2000" kern="100">
                          <a:solidFill>
                            <a:schemeClr val="tx2"/>
                          </a:solidFill>
                          <a:effectLst/>
                        </a:rPr>
                        <a:t>程</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gridSpan="4">
                  <a:txBody>
                    <a:bodyPr/>
                    <a:lstStyle/>
                    <a:p>
                      <a:pPr algn="ctr">
                        <a:lnSpc>
                          <a:spcPts val="2000"/>
                        </a:lnSpc>
                        <a:buNone/>
                      </a:pPr>
                      <a:r>
                        <a:rPr lang="zh-CN" sz="2000" kern="100">
                          <a:solidFill>
                            <a:schemeClr val="tx2"/>
                          </a:solidFill>
                          <a:effectLst/>
                        </a:rPr>
                        <a:t>已分配矩阵</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lnSpc>
                          <a:spcPts val="2000"/>
                        </a:lnSpc>
                        <a:buNone/>
                      </a:pPr>
                      <a:r>
                        <a:rPr lang="zh-CN" sz="2000" kern="100">
                          <a:solidFill>
                            <a:schemeClr val="tx2"/>
                          </a:solidFill>
                          <a:effectLst/>
                        </a:rPr>
                        <a:t>最大需求矩阵</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lnSpc>
                          <a:spcPts val="2000"/>
                        </a:lnSpc>
                        <a:buNone/>
                      </a:pPr>
                      <a:r>
                        <a:rPr lang="zh-CN" sz="2000" kern="100">
                          <a:solidFill>
                            <a:schemeClr val="tx2"/>
                          </a:solidFill>
                          <a:effectLst/>
                        </a:rPr>
                        <a:t>可用资源向量</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70464865"/>
                  </a:ext>
                </a:extLst>
              </a:tr>
              <a:tr h="484192">
                <a:tc vMerge="1">
                  <a:txBody>
                    <a:bodyPr/>
                    <a:lstStyle/>
                    <a:p>
                      <a:endParaRPr lang="zh-CN" altLang="en-US"/>
                    </a:p>
                  </a:txBody>
                  <a:tcPr/>
                </a:tc>
                <a:tc>
                  <a:txBody>
                    <a:bodyPr/>
                    <a:lstStyle/>
                    <a:p>
                      <a:pPr algn="ctr">
                        <a:lnSpc>
                          <a:spcPts val="2000"/>
                        </a:lnSpc>
                        <a:buNone/>
                      </a:pPr>
                      <a:r>
                        <a:rPr lang="en-US" sz="2000" kern="100">
                          <a:solidFill>
                            <a:schemeClr val="tx2"/>
                          </a:solidFill>
                          <a:effectLst/>
                        </a:rPr>
                        <a:t>A</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B</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C</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D</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A</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B</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C</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D</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A</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B</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C</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D</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62015620"/>
                  </a:ext>
                </a:extLst>
              </a:tr>
              <a:tr h="422337">
                <a:tc>
                  <a:txBody>
                    <a:bodyPr/>
                    <a:lstStyle/>
                    <a:p>
                      <a:pPr algn="ctr">
                        <a:lnSpc>
                          <a:spcPts val="2000"/>
                        </a:lnSpc>
                        <a:buNone/>
                      </a:pPr>
                      <a:r>
                        <a:rPr lang="en-US" sz="2000" kern="100">
                          <a:solidFill>
                            <a:schemeClr val="tx2"/>
                          </a:solidFill>
                          <a:effectLst/>
                        </a:rPr>
                        <a:t>P0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121094269"/>
                  </a:ext>
                </a:extLst>
              </a:tr>
              <a:tr h="422337">
                <a:tc>
                  <a:txBody>
                    <a:bodyPr/>
                    <a:lstStyle/>
                    <a:p>
                      <a:pPr algn="ctr">
                        <a:lnSpc>
                          <a:spcPts val="2000"/>
                        </a:lnSpc>
                        <a:buNone/>
                      </a:pPr>
                      <a:r>
                        <a:rPr lang="en-US" sz="2000" kern="100">
                          <a:solidFill>
                            <a:schemeClr val="tx2"/>
                          </a:solidFill>
                          <a:effectLst/>
                        </a:rPr>
                        <a:t>P1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7</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152285522"/>
                  </a:ext>
                </a:extLst>
              </a:tr>
              <a:tr h="422337">
                <a:tc>
                  <a:txBody>
                    <a:bodyPr/>
                    <a:lstStyle/>
                    <a:p>
                      <a:pPr algn="ctr">
                        <a:lnSpc>
                          <a:spcPts val="2000"/>
                        </a:lnSpc>
                        <a:buNone/>
                      </a:pPr>
                      <a:r>
                        <a:rPr lang="en-US" sz="2000" kern="100">
                          <a:solidFill>
                            <a:schemeClr val="tx2"/>
                          </a:solidFill>
                          <a:effectLst/>
                        </a:rPr>
                        <a:t>P2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3</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4</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3</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6</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691251164"/>
                  </a:ext>
                </a:extLst>
              </a:tr>
              <a:tr h="422337">
                <a:tc>
                  <a:txBody>
                    <a:bodyPr/>
                    <a:lstStyle/>
                    <a:p>
                      <a:pPr algn="ctr">
                        <a:lnSpc>
                          <a:spcPts val="2000"/>
                        </a:lnSpc>
                        <a:buNone/>
                      </a:pPr>
                      <a:r>
                        <a:rPr lang="en-US" sz="2000" kern="100">
                          <a:solidFill>
                            <a:schemeClr val="tx2"/>
                          </a:solidFill>
                          <a:effectLst/>
                        </a:rPr>
                        <a:t>P3</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6</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3</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6</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2</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494671830"/>
                  </a:ext>
                </a:extLst>
              </a:tr>
              <a:tr h="422337">
                <a:tc>
                  <a:txBody>
                    <a:bodyPr/>
                    <a:lstStyle/>
                    <a:p>
                      <a:pPr algn="ctr">
                        <a:lnSpc>
                          <a:spcPts val="2000"/>
                        </a:lnSpc>
                        <a:buNone/>
                      </a:pPr>
                      <a:r>
                        <a:rPr lang="en-US" sz="2000" kern="100">
                          <a:solidFill>
                            <a:schemeClr val="tx2"/>
                          </a:solidFill>
                          <a:effectLst/>
                        </a:rPr>
                        <a:t>P4</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1</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4</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0</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6</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5</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6</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a:solidFill>
                            <a:schemeClr val="tx2"/>
                          </a:solidFill>
                          <a:effectLst/>
                        </a:rPr>
                        <a:t> </a:t>
                      </a:r>
                      <a:endParaRPr lang="zh-CN" sz="2000" kern="10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2000"/>
                        </a:lnSpc>
                        <a:buNone/>
                      </a:pPr>
                      <a:r>
                        <a:rPr lang="en-US" sz="2000" kern="100" dirty="0">
                          <a:solidFill>
                            <a:schemeClr val="tx2"/>
                          </a:solidFill>
                          <a:effectLst/>
                        </a:rPr>
                        <a:t> </a:t>
                      </a:r>
                      <a:endParaRPr lang="zh-CN" sz="2000" kern="100" dirty="0">
                        <a:solidFill>
                          <a:schemeClr val="tx2"/>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894415116"/>
                  </a:ext>
                </a:extLst>
              </a:tr>
            </a:tbl>
          </a:graphicData>
        </a:graphic>
      </p:graphicFrame>
      <p:sp>
        <p:nvSpPr>
          <p:cNvPr id="5" name="Rectangle 1">
            <a:extLst>
              <a:ext uri="{FF2B5EF4-FFF2-40B4-BE49-F238E27FC236}">
                <a16:creationId xmlns:a16="http://schemas.microsoft.com/office/drawing/2014/main" id="{6D31633D-6210-9CFB-3165-184441EB8A50}"/>
              </a:ext>
            </a:extLst>
          </p:cNvPr>
          <p:cNvSpPr>
            <a:spLocks noChangeArrowheads="1"/>
          </p:cNvSpPr>
          <p:nvPr/>
        </p:nvSpPr>
        <p:spPr bwMode="auto">
          <a:xfrm>
            <a:off x="802734" y="948077"/>
            <a:ext cx="11115304" cy="2277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23900" algn="l"/>
              </a:tabLst>
              <a:defRPr>
                <a:solidFill>
                  <a:schemeClr val="tx1"/>
                </a:solidFill>
                <a:latin typeface="Arial" panose="020B0604020202020204" pitchFamily="34" charset="0"/>
              </a:defRPr>
            </a:lvl1pPr>
            <a:lvl2pPr eaLnBrk="0" fontAlgn="base" hangingPunct="0">
              <a:spcBef>
                <a:spcPct val="0"/>
              </a:spcBef>
              <a:spcAft>
                <a:spcPct val="0"/>
              </a:spcAft>
              <a:tabLst>
                <a:tab pos="723900" algn="l"/>
              </a:tabLst>
              <a:defRPr>
                <a:solidFill>
                  <a:schemeClr val="tx1"/>
                </a:solidFill>
                <a:latin typeface="Arial" panose="020B0604020202020204" pitchFamily="34" charset="0"/>
              </a:defRPr>
            </a:lvl2pPr>
            <a:lvl3pPr eaLnBrk="0" fontAlgn="base" hangingPunct="0">
              <a:spcBef>
                <a:spcPct val="0"/>
              </a:spcBef>
              <a:spcAft>
                <a:spcPct val="0"/>
              </a:spcAft>
              <a:tabLst>
                <a:tab pos="723900" algn="l"/>
              </a:tabLst>
              <a:defRPr>
                <a:solidFill>
                  <a:schemeClr val="tx1"/>
                </a:solidFill>
                <a:latin typeface="Arial" panose="020B0604020202020204" pitchFamily="34" charset="0"/>
              </a:defRPr>
            </a:lvl3pPr>
            <a:lvl4pPr eaLnBrk="0" fontAlgn="base" hangingPunct="0">
              <a:spcBef>
                <a:spcPct val="0"/>
              </a:spcBef>
              <a:spcAft>
                <a:spcPct val="0"/>
              </a:spcAft>
              <a:tabLst>
                <a:tab pos="723900" algn="l"/>
              </a:tabLst>
              <a:defRPr>
                <a:solidFill>
                  <a:schemeClr val="tx1"/>
                </a:solidFill>
                <a:latin typeface="Arial" panose="020B0604020202020204" pitchFamily="34" charset="0"/>
              </a:defRPr>
            </a:lvl4pPr>
            <a:lvl5pPr eaLnBrk="0" fontAlgn="base" hangingPunct="0">
              <a:spcBef>
                <a:spcPct val="0"/>
              </a:spcBef>
              <a:spcAft>
                <a:spcPct val="0"/>
              </a:spcAft>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tab pos="723900" algn="l"/>
              </a:tabLst>
            </a:pPr>
            <a:r>
              <a:rPr kumimoji="0" lang="zh-CN" altLang="zh-CN" sz="2000" i="0" u="none" strike="noStrike" cap="none" normalizeH="0" baseline="0" dirty="0">
                <a:ln>
                  <a:noFill/>
                </a:ln>
                <a:solidFill>
                  <a:schemeClr val="tx1"/>
                </a:solidFill>
                <a:effectLst/>
                <a:latin typeface="+mn-ea"/>
                <a:cs typeface="宋体" panose="02010600030101010101" pitchFamily="2" charset="-122"/>
              </a:rPr>
              <a:t>设系统中有</a:t>
            </a:r>
            <a:r>
              <a:rPr kumimoji="0" lang="en-US" altLang="zh-CN" sz="2000" i="0" u="none" strike="noStrike" cap="none" normalizeH="0" baseline="0" dirty="0">
                <a:ln>
                  <a:noFill/>
                </a:ln>
                <a:solidFill>
                  <a:schemeClr val="tx1"/>
                </a:solidFill>
                <a:effectLst/>
                <a:latin typeface="+mn-ea"/>
                <a:cs typeface="宋体" panose="02010600030101010101" pitchFamily="2" charset="-122"/>
              </a:rPr>
              <a:t>4</a:t>
            </a:r>
            <a:r>
              <a:rPr kumimoji="0" lang="zh-CN" altLang="en-US" sz="2000" i="0" u="none" strike="noStrike" cap="none" normalizeH="0" baseline="0" dirty="0">
                <a:ln>
                  <a:noFill/>
                </a:ln>
                <a:solidFill>
                  <a:schemeClr val="tx1"/>
                </a:solidFill>
                <a:effectLst/>
                <a:latin typeface="+mn-ea"/>
                <a:cs typeface="宋体" panose="02010600030101010101" pitchFamily="2" charset="-122"/>
              </a:rPr>
              <a:t>种类型的资源（</a:t>
            </a:r>
            <a:r>
              <a:rPr kumimoji="0" lang="en-US" altLang="zh-CN" sz="2000" i="0" u="none" strike="noStrike" cap="none" normalizeH="0" baseline="0" dirty="0">
                <a:ln>
                  <a:noFill/>
                </a:ln>
                <a:solidFill>
                  <a:schemeClr val="tx1"/>
                </a:solidFill>
                <a:effectLst/>
                <a:latin typeface="+mn-ea"/>
                <a:cs typeface="宋体" panose="02010600030101010101" pitchFamily="2" charset="-122"/>
              </a:rPr>
              <a:t>A</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B</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C</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D</a:t>
            </a:r>
            <a:r>
              <a:rPr kumimoji="0" lang="zh-CN" altLang="en-US" sz="2000" i="0" u="none" strike="noStrike" cap="none" normalizeH="0" baseline="0" dirty="0">
                <a:ln>
                  <a:noFill/>
                </a:ln>
                <a:solidFill>
                  <a:schemeClr val="tx1"/>
                </a:solidFill>
                <a:effectLst/>
                <a:latin typeface="+mn-ea"/>
                <a:cs typeface="宋体" panose="02010600030101010101" pitchFamily="2" charset="-122"/>
              </a:rPr>
              <a:t>）和</a:t>
            </a:r>
            <a:r>
              <a:rPr kumimoji="0" lang="en-US" altLang="zh-CN" sz="2000" i="0" u="none" strike="noStrike" cap="none" normalizeH="0" baseline="0" dirty="0">
                <a:ln>
                  <a:noFill/>
                </a:ln>
                <a:solidFill>
                  <a:schemeClr val="tx1"/>
                </a:solidFill>
                <a:effectLst/>
                <a:latin typeface="+mn-ea"/>
                <a:cs typeface="宋体" panose="02010600030101010101" pitchFamily="2" charset="-122"/>
              </a:rPr>
              <a:t>5</a:t>
            </a:r>
            <a:r>
              <a:rPr kumimoji="0" lang="zh-CN" altLang="en-US" sz="2000" i="0" u="none" strike="noStrike" cap="none" normalizeH="0" baseline="0" dirty="0">
                <a:ln>
                  <a:noFill/>
                </a:ln>
                <a:solidFill>
                  <a:schemeClr val="tx1"/>
                </a:solidFill>
                <a:effectLst/>
                <a:latin typeface="+mn-ea"/>
                <a:cs typeface="宋体" panose="02010600030101010101" pitchFamily="2" charset="-122"/>
              </a:rPr>
              <a:t>个进程</a:t>
            </a:r>
            <a:r>
              <a:rPr kumimoji="0" lang="en-US" altLang="zh-CN" sz="2000" i="0" u="none" strike="noStrike" cap="none" normalizeH="0" baseline="0" dirty="0">
                <a:ln>
                  <a:noFill/>
                </a:ln>
                <a:solidFill>
                  <a:schemeClr val="tx1"/>
                </a:solidFill>
                <a:effectLst/>
                <a:latin typeface="+mn-ea"/>
                <a:cs typeface="宋体" panose="02010600030101010101" pitchFamily="2" charset="-122"/>
              </a:rPr>
              <a:t>P0</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P1</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P2</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P3</a:t>
            </a:r>
            <a:r>
              <a:rPr kumimoji="0" lang="zh-CN" altLang="en-US" sz="2000" i="0" u="none" strike="noStrike" cap="none" normalizeH="0" baseline="0" dirty="0">
                <a:ln>
                  <a:noFill/>
                </a:ln>
                <a:solidFill>
                  <a:schemeClr val="tx1"/>
                </a:solidFill>
                <a:effectLst/>
                <a:latin typeface="+mn-ea"/>
                <a:cs typeface="宋体" panose="02010600030101010101" pitchFamily="2" charset="-122"/>
              </a:rPr>
              <a:t>、</a:t>
            </a:r>
            <a:r>
              <a:rPr kumimoji="0" lang="en-US" altLang="zh-CN" sz="2000" i="0" u="none" strike="noStrike" cap="none" normalizeH="0" baseline="0" dirty="0">
                <a:ln>
                  <a:noFill/>
                </a:ln>
                <a:solidFill>
                  <a:schemeClr val="tx1"/>
                </a:solidFill>
                <a:effectLst/>
                <a:latin typeface="+mn-ea"/>
                <a:cs typeface="宋体" panose="02010600030101010101" pitchFamily="2" charset="-122"/>
              </a:rPr>
              <a:t>P4</a:t>
            </a:r>
            <a:r>
              <a:rPr kumimoji="0" lang="zh-CN" altLang="en-US" sz="2000" i="0" u="none" strike="noStrike" cap="none" normalizeH="0" baseline="0" dirty="0">
                <a:ln>
                  <a:noFill/>
                </a:ln>
                <a:solidFill>
                  <a:schemeClr val="tx1"/>
                </a:solidFill>
                <a:effectLst/>
                <a:latin typeface="+mn-ea"/>
                <a:cs typeface="宋体" panose="02010600030101010101" pitchFamily="2" charset="-122"/>
              </a:rPr>
              <a:t>。在</a:t>
            </a:r>
            <a:r>
              <a:rPr kumimoji="0" lang="en-US" altLang="zh-CN" sz="2000" i="0" u="none" strike="noStrike" cap="none" normalizeH="0" baseline="0" dirty="0">
                <a:ln>
                  <a:noFill/>
                </a:ln>
                <a:solidFill>
                  <a:schemeClr val="tx1"/>
                </a:solidFill>
                <a:effectLst/>
                <a:latin typeface="+mn-ea"/>
                <a:cs typeface="宋体" panose="02010600030101010101" pitchFamily="2" charset="-122"/>
              </a:rPr>
              <a:t>T0</a:t>
            </a:r>
            <a:r>
              <a:rPr kumimoji="0" lang="zh-CN" altLang="en-US" sz="2000" i="0" u="none" strike="noStrike" cap="none" normalizeH="0" baseline="0" dirty="0">
                <a:ln>
                  <a:noFill/>
                </a:ln>
                <a:solidFill>
                  <a:schemeClr val="tx1"/>
                </a:solidFill>
                <a:effectLst/>
                <a:latin typeface="+mn-ea"/>
                <a:cs typeface="宋体" panose="02010600030101010101" pitchFamily="2" charset="-122"/>
              </a:rPr>
              <a:t>时刻系统的状态如下表所示：</a:t>
            </a:r>
            <a:endParaRPr kumimoji="0" lang="zh-CN" altLang="en-US" sz="200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20000"/>
              </a:lnSpc>
              <a:spcBef>
                <a:spcPct val="0"/>
              </a:spcBef>
              <a:spcAft>
                <a:spcPct val="0"/>
              </a:spcAft>
              <a:buClrTx/>
              <a:buSzTx/>
              <a:buFontTx/>
              <a:buNone/>
              <a:tabLst>
                <a:tab pos="723900" algn="l"/>
              </a:tabLst>
            </a:pP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系统采用银行家算法避免死锁，请问：</a:t>
            </a:r>
            <a:endParaRPr kumimoji="0" lang="zh-CN" altLang="en-US" sz="200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20000"/>
              </a:lnSpc>
              <a:spcBef>
                <a:spcPct val="0"/>
              </a:spcBef>
              <a:spcAft>
                <a:spcPct val="0"/>
              </a:spcAft>
              <a:buClrTx/>
              <a:buSzTx/>
              <a:buFontTx/>
              <a:buChar char="•"/>
              <a:tabLst>
                <a:tab pos="723900" algn="l"/>
              </a:tabLst>
            </a:pP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请给出</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T0</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时刻系统的各个进程还需要资源数矩阵。</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 </a:t>
            </a:r>
            <a:endParaRPr kumimoji="0" lang="zh-CN" altLang="en-US" sz="200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20000"/>
              </a:lnSpc>
              <a:spcBef>
                <a:spcPct val="0"/>
              </a:spcBef>
              <a:spcAft>
                <a:spcPct val="0"/>
              </a:spcAft>
              <a:buClrTx/>
              <a:buSzTx/>
              <a:buFontTx/>
              <a:buChar char="•"/>
              <a:tabLst>
                <a:tab pos="723900" algn="l"/>
              </a:tabLst>
            </a:pP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T0</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时刻是否为安全状态？若是，则给出安全序列。请写出具体过程。 </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 </a:t>
            </a:r>
            <a:endParaRPr kumimoji="0" lang="zh-CN" altLang="en-US" sz="200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20000"/>
              </a:lnSpc>
              <a:spcBef>
                <a:spcPct val="0"/>
              </a:spcBef>
              <a:spcAft>
                <a:spcPct val="0"/>
              </a:spcAft>
              <a:buClrTx/>
              <a:buSzTx/>
              <a:buFontTx/>
              <a:buChar char="•"/>
              <a:tabLst>
                <a:tab pos="723900" algn="l"/>
              </a:tabLst>
            </a:pP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T0</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时刻若</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P1</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请求</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[0</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4</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2</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0]</a:t>
            </a:r>
            <a:r>
              <a:rPr kumimoji="0" lang="zh-CN" altLang="en-US" sz="2000" i="0" u="none" strike="noStrike" cap="none" normalizeH="0" baseline="0" dirty="0">
                <a:ln>
                  <a:noFill/>
                </a:ln>
                <a:solidFill>
                  <a:schemeClr val="tx1"/>
                </a:solidFill>
                <a:effectLst/>
                <a:latin typeface="+mn-ea"/>
                <a:cs typeface="Times New Roman" panose="02020603050405020304" pitchFamily="18" charset="0"/>
              </a:rPr>
              <a:t>，能否实施分配？为什么？ 请写出具体过程。</a:t>
            </a:r>
            <a:r>
              <a:rPr kumimoji="0" lang="en-US" altLang="zh-CN" sz="2000" i="0" u="none" strike="noStrike" cap="none" normalizeH="0" baseline="0" dirty="0">
                <a:ln>
                  <a:noFill/>
                </a:ln>
                <a:solidFill>
                  <a:schemeClr val="tx1"/>
                </a:solidFill>
                <a:effectLst/>
                <a:latin typeface="+mn-ea"/>
                <a:cs typeface="Times New Roman" panose="02020603050405020304" pitchFamily="18" charset="0"/>
              </a:rPr>
              <a:t> </a:t>
            </a:r>
            <a:endParaRPr kumimoji="0" lang="zh-CN" altLang="en-US" sz="2000" i="0" u="none" strike="noStrike" cap="none" normalizeH="0" baseline="0" dirty="0">
              <a:ln>
                <a:noFill/>
              </a:ln>
              <a:solidFill>
                <a:schemeClr val="tx1"/>
              </a:solidFill>
              <a:effectLst/>
              <a:latin typeface="+mn-ea"/>
            </a:endParaRPr>
          </a:p>
        </p:txBody>
      </p:sp>
      <p:sp>
        <p:nvSpPr>
          <p:cNvPr id="6" name="标题 4">
            <a:extLst>
              <a:ext uri="{FF2B5EF4-FFF2-40B4-BE49-F238E27FC236}">
                <a16:creationId xmlns:a16="http://schemas.microsoft.com/office/drawing/2014/main" id="{365123D1-947E-09D8-0AA9-CCE06261583E}"/>
              </a:ext>
            </a:extLst>
          </p:cNvPr>
          <p:cNvSpPr>
            <a:spLocks noGrp="1"/>
          </p:cNvSpPr>
          <p:nvPr>
            <p:ph type="title"/>
          </p:nvPr>
        </p:nvSpPr>
        <p:spPr>
          <a:xfrm>
            <a:off x="1076395" y="114370"/>
            <a:ext cx="10969200" cy="705600"/>
          </a:xfrm>
        </p:spPr>
        <p:txBody>
          <a:bodyPr/>
          <a:lstStyle/>
          <a:p>
            <a:r>
              <a:rPr lang="zh-CN" altLang="en-US" dirty="0"/>
              <a:t>作业</a:t>
            </a:r>
          </a:p>
        </p:txBody>
      </p:sp>
    </p:spTree>
    <p:extLst>
      <p:ext uri="{BB962C8B-B14F-4D97-AF65-F5344CB8AC3E}">
        <p14:creationId xmlns:p14="http://schemas.microsoft.com/office/powerpoint/2010/main" val="169418157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330" y="1055370"/>
            <a:ext cx="10968990" cy="4402455"/>
          </a:xfrm>
        </p:spPr>
        <p:txBody>
          <a:bodyPr>
            <a:normAutofit/>
          </a:bodyPr>
          <a:lstStyle/>
          <a:p>
            <a:pPr marL="0" indent="0">
              <a:buNone/>
            </a:pPr>
            <a:r>
              <a:rPr lang="en-US" altLang="zh-CN" sz="2800" b="1" dirty="0"/>
              <a:t>1. </a:t>
            </a:r>
            <a:r>
              <a:rPr lang="zh-CN" altLang="en-US" sz="2800" b="1" dirty="0"/>
              <a:t>资源分配图</a:t>
            </a:r>
          </a:p>
          <a:p>
            <a:r>
              <a:rPr lang="zh-CN" altLang="en-US" sz="2800" dirty="0"/>
              <a:t>资源分配图是刻画进程请求和占有资源的一个有效工具。</a:t>
            </a:r>
          </a:p>
          <a:p>
            <a:r>
              <a:rPr lang="zh-CN" altLang="en-US" sz="2800" dirty="0"/>
              <a:t>资源分配图是一个有向图。</a:t>
            </a:r>
          </a:p>
          <a:p>
            <a:pPr lvl="1"/>
            <a:r>
              <a:rPr lang="zh-CN" altLang="en-US" sz="2800" dirty="0"/>
              <a:t>每个资源和进程用结点表示，</a:t>
            </a:r>
            <a:r>
              <a:rPr lang="zh-CN" altLang="en-US" sz="2800" dirty="0">
                <a:solidFill>
                  <a:srgbClr val="FF0000"/>
                </a:solidFill>
              </a:rPr>
              <a:t>其中进程结点用圆圈表示，资源结点用方框表示</a:t>
            </a:r>
            <a:r>
              <a:rPr lang="zh-CN" altLang="en-US" sz="2800" dirty="0"/>
              <a:t>。用方框中的圆点表示资源实例。</a:t>
            </a:r>
          </a:p>
          <a:p>
            <a:pPr lvl="1"/>
            <a:r>
              <a:rPr lang="zh-CN" altLang="en-US" sz="2800" dirty="0"/>
              <a:t>从进程结点到资源结点的边，称为</a:t>
            </a:r>
            <a:r>
              <a:rPr lang="zh-CN" altLang="en-US" sz="2800" dirty="0">
                <a:solidFill>
                  <a:srgbClr val="FF0000"/>
                </a:solidFill>
              </a:rPr>
              <a:t>资源请求边</a:t>
            </a:r>
            <a:r>
              <a:rPr lang="zh-CN" altLang="en-US" sz="2800" dirty="0"/>
              <a:t>。</a:t>
            </a:r>
          </a:p>
          <a:p>
            <a:pPr lvl="1"/>
            <a:r>
              <a:rPr lang="zh-CN" altLang="en-US" sz="2800" dirty="0"/>
              <a:t>从资源结点到进程结点的边，称为</a:t>
            </a:r>
            <a:r>
              <a:rPr lang="zh-CN" altLang="en-US" sz="2800" dirty="0">
                <a:solidFill>
                  <a:srgbClr val="FF0000"/>
                </a:solidFill>
              </a:rPr>
              <a:t>资源分配边</a:t>
            </a:r>
            <a:r>
              <a:rPr lang="zh-CN" altLang="en-US" sz="2800" dirty="0"/>
              <a:t>。</a:t>
            </a:r>
          </a:p>
        </p:txBody>
      </p:sp>
      <p:sp>
        <p:nvSpPr>
          <p:cNvPr id="5" name="标题 4">
            <a:extLst>
              <a:ext uri="{FF2B5EF4-FFF2-40B4-BE49-F238E27FC236}">
                <a16:creationId xmlns:a16="http://schemas.microsoft.com/office/drawing/2014/main" id="{0C2246E6-14B2-CFBD-E7C3-370C6A0C0C53}"/>
              </a:ext>
            </a:extLst>
          </p:cNvPr>
          <p:cNvSpPr>
            <a:spLocks noGrp="1"/>
          </p:cNvSpPr>
          <p:nvPr>
            <p:ph type="title"/>
          </p:nvPr>
        </p:nvSpPr>
        <p:spPr/>
        <p:txBody>
          <a:bodyPr/>
          <a:lstStyle/>
          <a:p>
            <a:endParaRPr lang="zh-CN" altLang="en-US" dirty="0"/>
          </a:p>
        </p:txBody>
      </p:sp>
    </p:spTree>
    <p:custDataLst>
      <p:tags r:id="rId1"/>
    </p:custDataLst>
    <p:extLst>
      <p:ext uri="{BB962C8B-B14F-4D97-AF65-F5344CB8AC3E}">
        <p14:creationId xmlns:p14="http://schemas.microsoft.com/office/powerpoint/2010/main" val="343725687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MC]6J03@NJ`QDO_%C5$0}W"/>
          <p:cNvPicPr>
            <a:picLocks noChangeAspect="1"/>
          </p:cNvPicPr>
          <p:nvPr/>
        </p:nvPicPr>
        <p:blipFill>
          <a:blip r:embed="rId3"/>
          <a:stretch>
            <a:fillRect/>
          </a:stretch>
        </p:blipFill>
        <p:spPr>
          <a:xfrm>
            <a:off x="1553844" y="819970"/>
            <a:ext cx="6562644" cy="5753550"/>
          </a:xfrm>
          <a:prstGeom prst="rect">
            <a:avLst/>
          </a:prstGeom>
        </p:spPr>
      </p:pic>
      <p:sp>
        <p:nvSpPr>
          <p:cNvPr id="5" name="标题 4">
            <a:extLst>
              <a:ext uri="{FF2B5EF4-FFF2-40B4-BE49-F238E27FC236}">
                <a16:creationId xmlns:a16="http://schemas.microsoft.com/office/drawing/2014/main" id="{C2CC4CBF-7CF3-864C-F45C-B075F99A201B}"/>
              </a:ext>
            </a:extLst>
          </p:cNvPr>
          <p:cNvSpPr>
            <a:spLocks noGrp="1"/>
          </p:cNvSpPr>
          <p:nvPr>
            <p:ph type="title"/>
          </p:nvPr>
        </p:nvSpPr>
        <p:spPr/>
        <p:txBody>
          <a:bodyPr>
            <a:normAutofit/>
          </a:bodyPr>
          <a:lstStyle/>
          <a:p>
            <a:r>
              <a:rPr lang="zh-CN" altLang="en-US" sz="3200" b="1" dirty="0"/>
              <a:t>资源分配图</a:t>
            </a:r>
            <a:endParaRPr lang="zh-CN" altLang="en-US" dirty="0"/>
          </a:p>
        </p:txBody>
      </p:sp>
    </p:spTree>
    <p:custDataLst>
      <p:tags r:id="rId1"/>
    </p:custDataLst>
    <p:extLst>
      <p:ext uri="{BB962C8B-B14F-4D97-AF65-F5344CB8AC3E}">
        <p14:creationId xmlns:p14="http://schemas.microsoft.com/office/powerpoint/2010/main" val="73254246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4.4.1 死锁的检测</a:t>
            </a:r>
          </a:p>
        </p:txBody>
      </p:sp>
      <p:sp>
        <p:nvSpPr>
          <p:cNvPr id="3" name="内容占位符 2"/>
          <p:cNvSpPr>
            <a:spLocks noGrp="1"/>
          </p:cNvSpPr>
          <p:nvPr>
            <p:ph idx="1"/>
          </p:nvPr>
        </p:nvSpPr>
        <p:spPr>
          <a:xfrm>
            <a:off x="608330" y="809625"/>
            <a:ext cx="10968990" cy="1323975"/>
          </a:xfrm>
        </p:spPr>
        <p:txBody>
          <a:bodyPr>
            <a:normAutofit lnSpcReduction="10000"/>
          </a:bodyPr>
          <a:lstStyle/>
          <a:p>
            <a:pPr marL="0" indent="0">
              <a:buNone/>
            </a:pPr>
            <a:r>
              <a:rPr lang="zh-CN" altLang="en-US" sz="2800" b="1" dirty="0"/>
              <a:t>1．死锁定理</a:t>
            </a:r>
          </a:p>
          <a:p>
            <a:pPr>
              <a:lnSpc>
                <a:spcPct val="150000"/>
              </a:lnSpc>
              <a:spcAft>
                <a:spcPts val="0"/>
              </a:spcAft>
            </a:pPr>
            <a:r>
              <a:rPr lang="zh-CN" altLang="en-US" sz="2800" dirty="0"/>
              <a:t>可以通过简化资源分配图的方法，判断系统是否处于死锁状态。</a:t>
            </a:r>
            <a:r>
              <a:rPr lang="zh-CN" altLang="en-US" dirty="0"/>
              <a:t> </a:t>
            </a:r>
          </a:p>
        </p:txBody>
      </p:sp>
      <p:pic>
        <p:nvPicPr>
          <p:cNvPr id="4" name="图片 3" descr="[TW)FDC2A7)6TS~RI0)2I5N"/>
          <p:cNvPicPr>
            <a:picLocks noChangeAspect="1"/>
          </p:cNvPicPr>
          <p:nvPr/>
        </p:nvPicPr>
        <p:blipFill>
          <a:blip r:embed="rId3"/>
          <a:stretch>
            <a:fillRect/>
          </a:stretch>
        </p:blipFill>
        <p:spPr>
          <a:xfrm>
            <a:off x="1780539" y="2320289"/>
            <a:ext cx="7147179" cy="2748915"/>
          </a:xfrm>
          <a:prstGeom prst="rect">
            <a:avLst/>
          </a:prstGeom>
        </p:spPr>
      </p:pic>
      <p:sp>
        <p:nvSpPr>
          <p:cNvPr id="5" name="文本框 4">
            <a:extLst>
              <a:ext uri="{FF2B5EF4-FFF2-40B4-BE49-F238E27FC236}">
                <a16:creationId xmlns:a16="http://schemas.microsoft.com/office/drawing/2014/main" id="{30939AFC-44AD-436A-8C89-CD6F40E49671}"/>
              </a:ext>
            </a:extLst>
          </p:cNvPr>
          <p:cNvSpPr txBox="1"/>
          <p:nvPr/>
        </p:nvSpPr>
        <p:spPr>
          <a:xfrm>
            <a:off x="866775" y="5069205"/>
            <a:ext cx="10521661" cy="1308179"/>
          </a:xfrm>
          <a:prstGeom prst="rect">
            <a:avLst/>
          </a:prstGeom>
          <a:noFill/>
        </p:spPr>
        <p:txBody>
          <a:bodyPr wrap="square" rtlCol="0">
            <a:spAutoFit/>
          </a:bodyPr>
          <a:lstStyle/>
          <a:p>
            <a:pPr>
              <a:lnSpc>
                <a:spcPct val="150000"/>
              </a:lnSpc>
            </a:pPr>
            <a:r>
              <a:rPr lang="zh-CN" altLang="en-US" sz="2800" dirty="0">
                <a:solidFill>
                  <a:srgbClr val="C00000"/>
                </a:solidFill>
              </a:rPr>
              <a:t>死锁定理</a:t>
            </a:r>
            <a:r>
              <a:rPr lang="zh-CN" altLang="en-US" sz="2800" dirty="0"/>
              <a:t>：系统处于</a:t>
            </a:r>
            <a:r>
              <a:rPr lang="en-US" altLang="zh-CN" sz="2800" dirty="0"/>
              <a:t>S </a:t>
            </a:r>
            <a:r>
              <a:rPr lang="zh-CN" altLang="en-US" sz="2800" dirty="0"/>
              <a:t>状态，</a:t>
            </a:r>
            <a:r>
              <a:rPr lang="en-US" altLang="zh-CN" sz="2800" dirty="0"/>
              <a:t>S </a:t>
            </a:r>
            <a:r>
              <a:rPr lang="zh-CN" altLang="en-US" sz="2800" dirty="0"/>
              <a:t>状态为死锁状态当且仅当</a:t>
            </a:r>
            <a:r>
              <a:rPr lang="en-US" altLang="zh-CN" sz="2800" dirty="0"/>
              <a:t>S </a:t>
            </a:r>
            <a:r>
              <a:rPr lang="zh-CN" altLang="en-US" sz="2800" dirty="0"/>
              <a:t>状态的资源分配图是不可完全简化的。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4.4.1 死锁的检测</a:t>
            </a:r>
            <a:endParaRPr lang="zh-CN" altLang="en-US"/>
          </a:p>
        </p:txBody>
      </p:sp>
      <p:sp>
        <p:nvSpPr>
          <p:cNvPr id="3" name="内容占位符 2"/>
          <p:cNvSpPr>
            <a:spLocks noGrp="1"/>
          </p:cNvSpPr>
          <p:nvPr>
            <p:ph idx="1"/>
          </p:nvPr>
        </p:nvSpPr>
        <p:spPr>
          <a:xfrm>
            <a:off x="432486" y="1109027"/>
            <a:ext cx="11148009" cy="5143492"/>
          </a:xfrm>
        </p:spPr>
        <p:txBody>
          <a:bodyPr>
            <a:normAutofit fontScale="92500"/>
          </a:bodyPr>
          <a:lstStyle/>
          <a:p>
            <a:pPr marL="457200" lvl="1" indent="0">
              <a:lnSpc>
                <a:spcPct val="150000"/>
              </a:lnSpc>
              <a:buNone/>
            </a:pPr>
            <a:r>
              <a:rPr lang="zh-CN" altLang="en-US" sz="2800" dirty="0"/>
              <a:t>简化资源分配图的方法</a:t>
            </a:r>
            <a:endParaRPr lang="en-US" altLang="zh-CN" sz="2800" dirty="0"/>
          </a:p>
          <a:p>
            <a:pPr marL="457200" lvl="1" indent="0">
              <a:lnSpc>
                <a:spcPct val="150000"/>
              </a:lnSpc>
              <a:buNone/>
            </a:pPr>
            <a:r>
              <a:rPr lang="zh-CN" altLang="en-US" dirty="0"/>
              <a:t>（1）在资源分配图中，</a:t>
            </a:r>
            <a:r>
              <a:rPr lang="zh-CN" altLang="en-US" dirty="0">
                <a:solidFill>
                  <a:srgbClr val="0000FF"/>
                </a:solidFill>
              </a:rPr>
              <a:t>找到一个既不阻塞又不独立的进程Pi</a:t>
            </a:r>
            <a:r>
              <a:rPr lang="zh-CN" altLang="en-US" dirty="0"/>
              <a:t>。对于这样的进程，它可以获得所需要的资源而运行完毕，之后它就会释放其所占有的全部资源。这相当于消去它的资源请求边和资源分配边，使之成为孤立的结点。</a:t>
            </a:r>
            <a:endParaRPr lang="en-US" dirty="0">
              <a:sym typeface="+mn-ea"/>
            </a:endParaRPr>
          </a:p>
          <a:p>
            <a:pPr marL="457200" lvl="1" indent="0">
              <a:lnSpc>
                <a:spcPct val="150000"/>
              </a:lnSpc>
              <a:buNone/>
            </a:pPr>
            <a:r>
              <a:rPr dirty="0">
                <a:sym typeface="+mn-ea"/>
              </a:rPr>
              <a:t>（2）重复步骤（1）。进程P1 释放资源后，进程P2 就可以获得资源继续运行，直到运行完后释放它所占有的资源，形成如图4-7(c)所示的情况。</a:t>
            </a:r>
            <a:endParaRPr lang="zh-CN" altLang="en-US" dirty="0"/>
          </a:p>
          <a:p>
            <a:pPr marL="457200" lvl="1" indent="0">
              <a:lnSpc>
                <a:spcPct val="150000"/>
              </a:lnSpc>
              <a:buNone/>
            </a:pPr>
            <a:r>
              <a:rPr dirty="0">
                <a:sym typeface="+mn-ea"/>
              </a:rPr>
              <a:t>（3）在进行一系列的简化后，若能删除图中所有的资源请求边和资源分配边，</a:t>
            </a:r>
            <a:r>
              <a:rPr dirty="0">
                <a:solidFill>
                  <a:srgbClr val="0000FF"/>
                </a:solidFill>
                <a:sym typeface="+mn-ea"/>
              </a:rPr>
              <a:t>使所有的进程都成为孤立的结点，则该资源分配图是可以完全简化的</a:t>
            </a:r>
            <a:r>
              <a:rPr dirty="0">
                <a:sym typeface="+mn-ea"/>
              </a:rPr>
              <a:t>；否则，该资源分配图是不可完全简化的。</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4.4.1 死锁的检测</a:t>
            </a:r>
            <a:endParaRPr lang="zh-CN" altLang="en-US"/>
          </a:p>
        </p:txBody>
      </p:sp>
      <p:sp>
        <p:nvSpPr>
          <p:cNvPr id="3" name="内容占位符 2"/>
          <p:cNvSpPr>
            <a:spLocks noGrp="1"/>
          </p:cNvSpPr>
          <p:nvPr>
            <p:ph idx="1"/>
          </p:nvPr>
        </p:nvSpPr>
        <p:spPr>
          <a:xfrm>
            <a:off x="377507" y="1009650"/>
            <a:ext cx="11436985" cy="5351145"/>
          </a:xfrm>
        </p:spPr>
        <p:txBody>
          <a:bodyPr>
            <a:normAutofit fontScale="90000" lnSpcReduction="10000"/>
          </a:bodyPr>
          <a:lstStyle/>
          <a:p>
            <a:pPr marL="0" indent="0">
              <a:buNone/>
            </a:pPr>
            <a:r>
              <a:rPr lang="zh-CN" altLang="en-US" b="1" dirty="0"/>
              <a:t>2．死锁检测算法</a:t>
            </a:r>
          </a:p>
          <a:p>
            <a:pPr marL="0" lvl="0" indent="0">
              <a:buNone/>
            </a:pPr>
            <a:r>
              <a:rPr lang="zh-CN" altLang="en-US" dirty="0"/>
              <a:t>（1）系统中各类资源的可用数目记录在Available 中，Work用于暂存检测过程中的可用资源数目，其初始值与Available相同。</a:t>
            </a:r>
          </a:p>
          <a:p>
            <a:pPr marL="0" lvl="0" indent="0">
              <a:buNone/>
            </a:pPr>
            <a:r>
              <a:rPr lang="zh-CN" altLang="en-US" dirty="0"/>
              <a:t>（2）使用表L 记录不占用资源的进程（Allocation 为0）。</a:t>
            </a:r>
          </a:p>
          <a:p>
            <a:pPr marL="0" lvl="0" indent="0">
              <a:buNone/>
            </a:pPr>
            <a:r>
              <a:rPr lang="zh-CN" altLang="en-US" dirty="0"/>
              <a:t>（3）从进程集合｛P1, P2, …, Pn｝中找一个Request</a:t>
            </a:r>
            <a:r>
              <a:rPr lang="zh-CN" altLang="en-US" baseline="-25000" dirty="0"/>
              <a:t>i</a:t>
            </a:r>
            <a:r>
              <a:rPr lang="zh-CN" altLang="en-US" dirty="0"/>
              <a:t>≤Work的进程，执行如下操作：</a:t>
            </a:r>
          </a:p>
          <a:p>
            <a:pPr marL="0" lvl="0" indent="0">
              <a:spcAft>
                <a:spcPts val="0"/>
              </a:spcAft>
              <a:buNone/>
            </a:pPr>
            <a:r>
              <a:rPr lang="zh-CN" altLang="en-US" dirty="0"/>
              <a:t>     ① 简化资源分配表，即该进程释放资源，系统可用资源数目增加，Work 数目增加，</a:t>
            </a:r>
          </a:p>
          <a:p>
            <a:pPr marL="0" lvl="0" indent="0">
              <a:spcAft>
                <a:spcPts val="0"/>
              </a:spcAft>
              <a:buNone/>
            </a:pPr>
            <a:r>
              <a:rPr lang="zh-CN" altLang="en-US" dirty="0"/>
              <a:t>          Work=Work+Allocationi；</a:t>
            </a:r>
          </a:p>
          <a:p>
            <a:pPr marL="0" lvl="0" indent="0">
              <a:spcAft>
                <a:spcPts val="0"/>
              </a:spcAft>
              <a:buNone/>
            </a:pPr>
            <a:r>
              <a:rPr lang="zh-CN" altLang="en-US" dirty="0"/>
              <a:t>      ② 将该进程Pi 记入表L中。</a:t>
            </a:r>
          </a:p>
          <a:p>
            <a:pPr marL="0" lvl="0" indent="0">
              <a:buNone/>
            </a:pPr>
            <a:r>
              <a:rPr lang="zh-CN" altLang="en-US" dirty="0"/>
              <a:t>（4）转到执行步骤（3）。</a:t>
            </a:r>
          </a:p>
          <a:p>
            <a:pPr lvl="0"/>
            <a:r>
              <a:rPr lang="zh-CN" altLang="en-US" dirty="0"/>
              <a:t>若最后仍有进程不在表L 中，则表明系统状态S 的资源分配图是不可完全简化的。因此，系统将发生死锁。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5D4FD48F-11F8-423E-8B4A-DC678418E6CC}"/>
              </a:ext>
            </a:extLst>
          </p:cNvPr>
          <p:cNvSpPr>
            <a:spLocks noGrp="1"/>
          </p:cNvSpPr>
          <p:nvPr>
            <p:ph idx="1"/>
          </p:nvPr>
        </p:nvSpPr>
        <p:spPr>
          <a:xfrm>
            <a:off x="272573" y="1158547"/>
            <a:ext cx="10969625" cy="706437"/>
          </a:xfrm>
        </p:spPr>
        <p:txBody>
          <a:bodyPr>
            <a:noAutofit/>
          </a:bodyPr>
          <a:lstStyle/>
          <a:p>
            <a:r>
              <a:rPr lang="zh-CN" altLang="en-US" dirty="0"/>
              <a:t>练习：请用死锁检测算法判断如下资源分配图所示系统状态是否是安全的？</a:t>
            </a:r>
          </a:p>
        </p:txBody>
      </p:sp>
      <p:sp>
        <p:nvSpPr>
          <p:cNvPr id="9" name="标题 1">
            <a:extLst>
              <a:ext uri="{FF2B5EF4-FFF2-40B4-BE49-F238E27FC236}">
                <a16:creationId xmlns:a16="http://schemas.microsoft.com/office/drawing/2014/main" id="{5CFD9BC8-1F27-4BB7-9CAA-A336342D1B31}"/>
              </a:ext>
            </a:extLst>
          </p:cNvPr>
          <p:cNvSpPr>
            <a:spLocks noGrp="1"/>
          </p:cNvSpPr>
          <p:nvPr>
            <p:ph type="title"/>
          </p:nvPr>
        </p:nvSpPr>
        <p:spPr>
          <a:xfrm>
            <a:off x="1076325" y="114300"/>
            <a:ext cx="10969625" cy="706438"/>
          </a:xfrm>
        </p:spPr>
        <p:txBody>
          <a:bodyPr/>
          <a:lstStyle/>
          <a:p>
            <a:r>
              <a:rPr>
                <a:sym typeface="+mn-ea"/>
              </a:rPr>
              <a:t>4.4.1 死锁的检测</a:t>
            </a:r>
            <a:endParaRPr lang="zh-CN" altLang="en-US"/>
          </a:p>
        </p:txBody>
      </p:sp>
      <p:sp>
        <p:nvSpPr>
          <p:cNvPr id="2" name="椭圆 1">
            <a:extLst>
              <a:ext uri="{FF2B5EF4-FFF2-40B4-BE49-F238E27FC236}">
                <a16:creationId xmlns:a16="http://schemas.microsoft.com/office/drawing/2014/main" id="{D6A45AEC-8F83-43AB-A03B-1C15BF07BF76}"/>
              </a:ext>
            </a:extLst>
          </p:cNvPr>
          <p:cNvSpPr/>
          <p:nvPr/>
        </p:nvSpPr>
        <p:spPr>
          <a:xfrm>
            <a:off x="2560320" y="4446270"/>
            <a:ext cx="137160" cy="16002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95395BAE-1E96-D22B-C896-44BD17F7C81C}"/>
              </a:ext>
            </a:extLst>
          </p:cNvPr>
          <p:cNvPicPr>
            <a:picLocks noChangeAspect="1"/>
          </p:cNvPicPr>
          <p:nvPr/>
        </p:nvPicPr>
        <p:blipFill>
          <a:blip r:embed="rId2"/>
          <a:stretch>
            <a:fillRect/>
          </a:stretch>
        </p:blipFill>
        <p:spPr>
          <a:xfrm>
            <a:off x="2141084" y="2202793"/>
            <a:ext cx="7648575" cy="4448175"/>
          </a:xfrm>
          <a:prstGeom prst="rect">
            <a:avLst/>
          </a:prstGeom>
        </p:spPr>
      </p:pic>
    </p:spTree>
    <p:extLst>
      <p:ext uri="{BB962C8B-B14F-4D97-AF65-F5344CB8AC3E}">
        <p14:creationId xmlns:p14="http://schemas.microsoft.com/office/powerpoint/2010/main" val="31018183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4.4.1 死锁的检测</a:t>
            </a:r>
            <a:endParaRPr lang="zh-CN" altLang="en-US"/>
          </a:p>
        </p:txBody>
      </p:sp>
      <p:sp>
        <p:nvSpPr>
          <p:cNvPr id="3" name="内容占位符 2"/>
          <p:cNvSpPr>
            <a:spLocks noGrp="1"/>
          </p:cNvSpPr>
          <p:nvPr>
            <p:ph idx="1"/>
          </p:nvPr>
        </p:nvSpPr>
        <p:spPr>
          <a:xfrm>
            <a:off x="608330" y="1227456"/>
            <a:ext cx="10968990" cy="2491928"/>
          </a:xfrm>
        </p:spPr>
        <p:txBody>
          <a:bodyPr>
            <a:normAutofit/>
          </a:bodyPr>
          <a:lstStyle/>
          <a:p>
            <a:pPr marL="0" indent="0">
              <a:buNone/>
            </a:pPr>
            <a:r>
              <a:rPr lang="zh-CN" altLang="en-US" sz="2800" b="1" dirty="0"/>
              <a:t>3．更简单的死锁检测方法</a:t>
            </a:r>
          </a:p>
          <a:p>
            <a:r>
              <a:rPr lang="zh-CN" altLang="en-US" sz="2800" dirty="0"/>
              <a:t>更简单的死锁检测方法是周期性地检测进程阻塞的时长。若一个进程连续阻塞超过一定的时长（如一个小时），则将它视为死锁进程。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4.4.2 死锁的解除</a:t>
            </a:r>
          </a:p>
        </p:txBody>
      </p:sp>
      <p:sp>
        <p:nvSpPr>
          <p:cNvPr id="3" name="内容占位符 2"/>
          <p:cNvSpPr>
            <a:spLocks noGrp="1"/>
          </p:cNvSpPr>
          <p:nvPr>
            <p:ph idx="1"/>
          </p:nvPr>
        </p:nvSpPr>
        <p:spPr>
          <a:xfrm>
            <a:off x="611505" y="819970"/>
            <a:ext cx="10968990" cy="5100770"/>
          </a:xfrm>
        </p:spPr>
        <p:txBody>
          <a:bodyPr>
            <a:normAutofit fontScale="97500" lnSpcReduction="10000"/>
          </a:bodyPr>
          <a:lstStyle/>
          <a:p>
            <a:r>
              <a:rPr lang="zh-CN" altLang="en-US" sz="3200" dirty="0"/>
              <a:t>解除死锁的常用方法：</a:t>
            </a:r>
          </a:p>
          <a:p>
            <a:pPr marL="914400" lvl="1" indent="-457200">
              <a:lnSpc>
                <a:spcPct val="150000"/>
              </a:lnSpc>
              <a:buClr>
                <a:schemeClr val="tx2"/>
              </a:buClr>
              <a:buSzPct val="100000"/>
              <a:buFont typeface="+mj-lt"/>
              <a:buAutoNum type="arabicPeriod"/>
            </a:pPr>
            <a:r>
              <a:rPr lang="zh-CN" altLang="en-US" sz="2800" dirty="0">
                <a:solidFill>
                  <a:srgbClr val="0000FF"/>
                </a:solidFill>
              </a:rPr>
              <a:t>撤销进程：</a:t>
            </a:r>
            <a:endParaRPr lang="en-US" altLang="zh-CN" sz="2800" dirty="0">
              <a:solidFill>
                <a:srgbClr val="0000FF"/>
              </a:solidFill>
            </a:endParaRPr>
          </a:p>
          <a:p>
            <a:pPr lvl="2">
              <a:lnSpc>
                <a:spcPct val="150000"/>
              </a:lnSpc>
              <a:buClr>
                <a:schemeClr val="tx2"/>
              </a:buClr>
              <a:buSzPct val="100000"/>
            </a:pPr>
            <a:r>
              <a:rPr lang="zh-CN" altLang="en-US" sz="2800" dirty="0">
                <a:solidFill>
                  <a:srgbClr val="0000FF"/>
                </a:solidFill>
              </a:rPr>
              <a:t>撤销所有的死锁进程</a:t>
            </a:r>
            <a:r>
              <a:rPr lang="zh-CN" altLang="en-US" sz="2800" dirty="0"/>
              <a:t>：最容易实现，但造成的损失很大 。</a:t>
            </a:r>
          </a:p>
          <a:p>
            <a:pPr lvl="2">
              <a:lnSpc>
                <a:spcPct val="150000"/>
              </a:lnSpc>
              <a:buClr>
                <a:schemeClr val="tx2"/>
              </a:buClr>
              <a:buSzPct val="100000"/>
            </a:pPr>
            <a:r>
              <a:rPr lang="zh-CN" altLang="en-US" sz="2800" dirty="0">
                <a:solidFill>
                  <a:srgbClr val="0000FF"/>
                </a:solidFill>
              </a:rPr>
              <a:t>逐个撤销</a:t>
            </a:r>
            <a:r>
              <a:rPr lang="zh-CN" altLang="en-US" sz="2800" dirty="0"/>
              <a:t>死锁进程，直至不再存在死锁。 </a:t>
            </a:r>
          </a:p>
          <a:p>
            <a:pPr marL="914400" lvl="1" indent="-457200">
              <a:lnSpc>
                <a:spcPct val="150000"/>
              </a:lnSpc>
              <a:buClr>
                <a:schemeClr val="tx2"/>
              </a:buClr>
              <a:buSzPct val="100000"/>
              <a:buFont typeface="+mj-lt"/>
              <a:buAutoNum type="arabicPeriod"/>
            </a:pPr>
            <a:r>
              <a:rPr lang="zh-CN" altLang="en-US" sz="2800" dirty="0">
                <a:solidFill>
                  <a:srgbClr val="0000FF"/>
                </a:solidFill>
              </a:rPr>
              <a:t>把每个死锁进程恢复到前面定义的某些检查点，并且重新运行这些进程。 </a:t>
            </a:r>
          </a:p>
          <a:p>
            <a:pPr marL="914400" lvl="1" indent="-457200">
              <a:lnSpc>
                <a:spcPct val="150000"/>
              </a:lnSpc>
              <a:buClr>
                <a:schemeClr val="tx2"/>
              </a:buClr>
              <a:buSzPct val="100000"/>
              <a:buFont typeface="+mj-lt"/>
              <a:buAutoNum type="arabicPeriod"/>
            </a:pPr>
            <a:r>
              <a:rPr lang="zh-CN" altLang="en-US" sz="2800" dirty="0"/>
              <a:t>剥夺资源：基于</a:t>
            </a:r>
            <a:r>
              <a:rPr lang="zh-CN" altLang="en-US" sz="2800" u="sng" dirty="0">
                <a:solidFill>
                  <a:srgbClr val="0000FF"/>
                </a:solidFill>
              </a:rPr>
              <a:t>最小代价原则</a:t>
            </a:r>
            <a:r>
              <a:rPr lang="zh-CN" altLang="en-US" sz="2800" dirty="0"/>
              <a:t>选择，相继剥夺资源，直至不再存在死锁。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E480E5-99D0-4D26-A4E1-F98473B1644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0A05511-9071-4D23-B673-376228E8CEF8}"/>
              </a:ext>
            </a:extLst>
          </p:cNvPr>
          <p:cNvSpPr>
            <a:spLocks noGrp="1"/>
          </p:cNvSpPr>
          <p:nvPr>
            <p:ph idx="1"/>
          </p:nvPr>
        </p:nvSpPr>
        <p:spPr>
          <a:xfrm>
            <a:off x="1446530" y="1246506"/>
            <a:ext cx="7735570" cy="4594224"/>
          </a:xfrm>
        </p:spPr>
        <p:txBody>
          <a:bodyPr>
            <a:normAutofit/>
          </a:bodyPr>
          <a:lstStyle/>
          <a:p>
            <a:r>
              <a:rPr lang="zh-CN" altLang="en-US" sz="2800" dirty="0"/>
              <a:t>关于最小代价，可以从以下几个方面考虑：</a:t>
            </a:r>
            <a:endParaRPr lang="en-US" altLang="zh-CN" sz="2800" dirty="0"/>
          </a:p>
          <a:p>
            <a:pPr marL="457200" indent="-457200">
              <a:buSzPct val="100000"/>
              <a:buFont typeface="+mj-ea"/>
              <a:buAutoNum type="circleNumDbPlain"/>
            </a:pPr>
            <a:r>
              <a:rPr lang="zh-CN" altLang="en-US" dirty="0"/>
              <a:t>到目前为止消耗处理机时间最少</a:t>
            </a:r>
            <a:endParaRPr lang="en-US" altLang="zh-CN" dirty="0"/>
          </a:p>
          <a:p>
            <a:pPr marL="457200" indent="-457200">
              <a:buSzPct val="100000"/>
              <a:buFont typeface="+mj-ea"/>
              <a:buAutoNum type="circleNumDbPlain"/>
            </a:pPr>
            <a:r>
              <a:rPr lang="zh-CN" altLang="en-US" dirty="0"/>
              <a:t>到目前为止产生的输出最少</a:t>
            </a:r>
            <a:endParaRPr lang="en-US" altLang="zh-CN" dirty="0"/>
          </a:p>
          <a:p>
            <a:pPr marL="457200" indent="-457200">
              <a:buSzPct val="100000"/>
              <a:buFont typeface="+mj-ea"/>
              <a:buAutoNum type="circleNumDbPlain"/>
            </a:pPr>
            <a:r>
              <a:rPr lang="zh-CN" altLang="en-US" dirty="0"/>
              <a:t>预计剩下的执行时间最长</a:t>
            </a:r>
            <a:endParaRPr lang="en-US" altLang="zh-CN" dirty="0"/>
          </a:p>
          <a:p>
            <a:pPr marL="457200" indent="-457200">
              <a:buSzPct val="100000"/>
              <a:buFont typeface="+mj-ea"/>
              <a:buAutoNum type="circleNumDbPlain"/>
            </a:pPr>
            <a:r>
              <a:rPr lang="zh-CN" altLang="en-US" dirty="0"/>
              <a:t>到目前为止分配的资源总量最少</a:t>
            </a:r>
            <a:endParaRPr lang="en-US" altLang="zh-CN" dirty="0"/>
          </a:p>
          <a:p>
            <a:pPr marL="457200" indent="-457200">
              <a:buSzPct val="100000"/>
              <a:buFont typeface="+mj-ea"/>
              <a:buAutoNum type="circleNumDbPlain"/>
            </a:pPr>
            <a:r>
              <a:rPr lang="zh-CN" altLang="en-US" dirty="0"/>
              <a:t>进程的优先级最低</a:t>
            </a:r>
            <a:endParaRPr lang="en-US" altLang="zh-CN" dirty="0"/>
          </a:p>
          <a:p>
            <a:pPr marL="457200" indent="-457200">
              <a:buSzPct val="100000"/>
              <a:buFont typeface="+mj-ea"/>
              <a:buAutoNum type="circleNumDbPlain"/>
            </a:pPr>
            <a:r>
              <a:rPr lang="zh-CN" altLang="en-US" dirty="0"/>
              <a:t>撤销某进程对其他进程的影响最小</a:t>
            </a:r>
          </a:p>
        </p:txBody>
      </p:sp>
    </p:spTree>
    <p:extLst>
      <p:ext uri="{BB962C8B-B14F-4D97-AF65-F5344CB8AC3E}">
        <p14:creationId xmlns:p14="http://schemas.microsoft.com/office/powerpoint/2010/main" val="5819017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5800"/>
            <a:ext cx="5421703"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57741F82-351B-421F-8D88-187157BC8F5D}"/>
              </a:ext>
            </a:extLst>
          </p:cNvPr>
          <p:cNvSpPr>
            <a:spLocks noGrp="1"/>
          </p:cNvSpPr>
          <p:nvPr>
            <p:ph type="title"/>
          </p:nvPr>
        </p:nvSpPr>
        <p:spPr>
          <a:xfrm>
            <a:off x="1668426" y="1254763"/>
            <a:ext cx="3444948" cy="2481729"/>
          </a:xfrm>
        </p:spPr>
        <p:txBody>
          <a:bodyPr vert="horz" lIns="91440" tIns="45720" rIns="91440" bIns="45720" rtlCol="0" anchor="b">
            <a:normAutofit/>
          </a:bodyPr>
          <a:lstStyle/>
          <a:p>
            <a:pPr algn="ctr">
              <a:lnSpc>
                <a:spcPct val="90000"/>
              </a:lnSpc>
            </a:pPr>
            <a:r>
              <a:rPr lang="en-US" altLang="zh-CN">
                <a:solidFill>
                  <a:srgbClr val="595959"/>
                </a:solidFill>
                <a:latin typeface="+mj-lt"/>
                <a:ea typeface="+mj-ea"/>
              </a:rPr>
              <a:t>4.6 </a:t>
            </a:r>
            <a:r>
              <a:rPr lang="zh-CN" altLang="en-US">
                <a:solidFill>
                  <a:srgbClr val="595959"/>
                </a:solidFill>
                <a:latin typeface="+mj-lt"/>
                <a:ea typeface="+mj-ea"/>
              </a:rPr>
              <a:t>死锁的忽略</a:t>
            </a:r>
          </a:p>
        </p:txBody>
      </p:sp>
      <p:sp>
        <p:nvSpPr>
          <p:cNvPr id="3" name="内容占位符 2">
            <a:extLst>
              <a:ext uri="{FF2B5EF4-FFF2-40B4-BE49-F238E27FC236}">
                <a16:creationId xmlns:a16="http://schemas.microsoft.com/office/drawing/2014/main" id="{411B050C-B715-4896-9FBD-BC960D2B090D}"/>
              </a:ext>
            </a:extLst>
          </p:cNvPr>
          <p:cNvSpPr>
            <a:spLocks noGrp="1"/>
          </p:cNvSpPr>
          <p:nvPr>
            <p:ph idx="1"/>
          </p:nvPr>
        </p:nvSpPr>
        <p:spPr>
          <a:xfrm>
            <a:off x="1849179" y="4046453"/>
            <a:ext cx="3083442" cy="879877"/>
          </a:xfrm>
        </p:spPr>
        <p:txBody>
          <a:bodyPr vert="horz" lIns="91440" tIns="45720" rIns="91440" bIns="45720" rtlCol="0" anchor="t">
            <a:normAutofit/>
          </a:bodyPr>
          <a:lstStyle/>
          <a:p>
            <a:pPr marL="0" indent="0" algn="ctr">
              <a:lnSpc>
                <a:spcPct val="90000"/>
              </a:lnSpc>
              <a:spcBef>
                <a:spcPts val="1000"/>
              </a:spcBef>
              <a:buNone/>
            </a:pPr>
            <a:r>
              <a:rPr lang="zh-CN" altLang="en-US" sz="1800">
                <a:solidFill>
                  <a:srgbClr val="595959"/>
                </a:solidFill>
                <a:latin typeface="+mn-lt"/>
                <a:ea typeface="+mn-ea"/>
              </a:rPr>
              <a:t>如</a:t>
            </a:r>
            <a:r>
              <a:rPr lang="en-US" altLang="zh-CN" sz="1800">
                <a:solidFill>
                  <a:srgbClr val="595959"/>
                </a:solidFill>
                <a:latin typeface="+mn-lt"/>
                <a:ea typeface="+mn-ea"/>
              </a:rPr>
              <a:t>UNIX</a:t>
            </a:r>
            <a:r>
              <a:rPr lang="zh-CN" altLang="en-US" sz="1800">
                <a:solidFill>
                  <a:srgbClr val="595959"/>
                </a:solidFill>
                <a:latin typeface="+mn-lt"/>
                <a:ea typeface="+mn-ea"/>
              </a:rPr>
              <a:t>、</a:t>
            </a:r>
            <a:r>
              <a:rPr lang="en-US" altLang="zh-CN" sz="1800">
                <a:solidFill>
                  <a:srgbClr val="595959"/>
                </a:solidFill>
                <a:latin typeface="+mn-lt"/>
                <a:ea typeface="+mn-ea"/>
              </a:rPr>
              <a:t>Windows </a:t>
            </a:r>
            <a:r>
              <a:rPr lang="zh-CN" altLang="en-US" sz="1800">
                <a:solidFill>
                  <a:srgbClr val="595959"/>
                </a:solidFill>
                <a:latin typeface="+mn-lt"/>
                <a:ea typeface="+mn-ea"/>
              </a:rPr>
              <a:t>系统</a:t>
            </a:r>
          </a:p>
        </p:txBody>
      </p:sp>
      <p:pic>
        <p:nvPicPr>
          <p:cNvPr id="4" name="Picture 2" descr="鸵鸟在沙滩上&#10;&#10;描述已自动生成">
            <a:extLst>
              <a:ext uri="{FF2B5EF4-FFF2-40B4-BE49-F238E27FC236}">
                <a16:creationId xmlns:a16="http://schemas.microsoft.com/office/drawing/2014/main" id="{79C4D92D-59E3-4745-832F-B517EAF57A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294" r="448" b="-1"/>
          <a:stretch/>
        </p:blipFill>
        <p:spPr bwMode="auto">
          <a:xfrm>
            <a:off x="6107503" y="685799"/>
            <a:ext cx="54102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13565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4.6 饥饿</a:t>
            </a:r>
          </a:p>
        </p:txBody>
      </p:sp>
      <p:sp>
        <p:nvSpPr>
          <p:cNvPr id="3" name="内容占位符 2"/>
          <p:cNvSpPr>
            <a:spLocks noGrp="1"/>
          </p:cNvSpPr>
          <p:nvPr>
            <p:ph idx="1"/>
          </p:nvPr>
        </p:nvSpPr>
        <p:spPr>
          <a:xfrm>
            <a:off x="608120" y="1417462"/>
            <a:ext cx="10968990" cy="3308918"/>
          </a:xfrm>
        </p:spPr>
        <p:txBody>
          <a:bodyPr>
            <a:normAutofit/>
          </a:bodyPr>
          <a:lstStyle/>
          <a:p>
            <a:r>
              <a:rPr lang="zh-CN" altLang="en-US" b="1" dirty="0"/>
              <a:t>饥饿</a:t>
            </a:r>
            <a:r>
              <a:rPr lang="zh-CN" altLang="en-US" dirty="0"/>
              <a:t>是指一个可以运行的进程尽管能继续执行，但被调度无限期地忽视，不能被调度执行的情况。</a:t>
            </a:r>
            <a:endParaRPr lang="en-US" altLang="zh-CN" dirty="0"/>
          </a:p>
          <a:p>
            <a:endParaRPr lang="en-US" altLang="zh-CN" dirty="0"/>
          </a:p>
          <a:p>
            <a:r>
              <a:rPr lang="zh-CN" altLang="en-US" dirty="0"/>
              <a:t>请思考：饥饿与死锁的区别？</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4.6 饥饿</a:t>
            </a:r>
            <a:endParaRPr lang="zh-CN" altLang="en-US"/>
          </a:p>
        </p:txBody>
      </p:sp>
      <p:sp>
        <p:nvSpPr>
          <p:cNvPr id="3" name="内容占位符 2"/>
          <p:cNvSpPr>
            <a:spLocks noGrp="1"/>
          </p:cNvSpPr>
          <p:nvPr>
            <p:ph idx="1"/>
          </p:nvPr>
        </p:nvSpPr>
        <p:spPr>
          <a:xfrm>
            <a:off x="608330" y="1227455"/>
            <a:ext cx="10968990" cy="3211195"/>
          </a:xfrm>
        </p:spPr>
        <p:txBody>
          <a:bodyPr>
            <a:normAutofit fontScale="92500"/>
          </a:bodyPr>
          <a:lstStyle/>
          <a:p>
            <a:r>
              <a:rPr lang="zh-CN" altLang="en-US" sz="2800" dirty="0"/>
              <a:t>虽然饥饿与死锁相近，但</a:t>
            </a:r>
            <a:r>
              <a:rPr lang="zh-CN" altLang="en-US" sz="2800" dirty="0">
                <a:solidFill>
                  <a:srgbClr val="0000FF"/>
                </a:solidFill>
              </a:rPr>
              <a:t>饥饿不同于死锁</a:t>
            </a:r>
            <a:r>
              <a:rPr lang="zh-CN" altLang="en-US" sz="2800" dirty="0"/>
              <a:t>。</a:t>
            </a:r>
          </a:p>
          <a:p>
            <a:r>
              <a:rPr lang="zh-CN" altLang="en-US" sz="2800" dirty="0"/>
              <a:t>状态不同：因为</a:t>
            </a:r>
            <a:r>
              <a:rPr lang="zh-CN" altLang="en-US" sz="2800" dirty="0">
                <a:solidFill>
                  <a:srgbClr val="0000FF"/>
                </a:solidFill>
              </a:rPr>
              <a:t>死锁的进程都必定处于阻塞态</a:t>
            </a:r>
            <a:r>
              <a:rPr lang="zh-CN" altLang="en-US" sz="2800" dirty="0"/>
              <a:t>，而饥饿进程不一定被阻塞，只是被无限期地拖延未调度执行，即</a:t>
            </a:r>
            <a:r>
              <a:rPr lang="zh-CN" altLang="en-US" sz="2800" dirty="0">
                <a:solidFill>
                  <a:srgbClr val="0000FF"/>
                </a:solidFill>
              </a:rPr>
              <a:t>饥饿进程可以在就绪态</a:t>
            </a:r>
            <a:r>
              <a:rPr lang="zh-CN" altLang="en-US" sz="2800" dirty="0"/>
              <a:t>。</a:t>
            </a:r>
          </a:p>
          <a:p>
            <a:r>
              <a:rPr lang="zh-CN" altLang="en-US" sz="2800" dirty="0"/>
              <a:t>因此，饥饿被视为处理机调度问题来进行处理，在第5 章会介绍到。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小结</a:t>
            </a:r>
            <a:endParaRPr lang="zh-CN" altLang="en-US"/>
          </a:p>
        </p:txBody>
      </p:sp>
      <p:sp>
        <p:nvSpPr>
          <p:cNvPr id="3" name="内容占位符 2"/>
          <p:cNvSpPr>
            <a:spLocks noGrp="1"/>
          </p:cNvSpPr>
          <p:nvPr>
            <p:ph idx="1"/>
          </p:nvPr>
        </p:nvSpPr>
        <p:spPr/>
        <p:txBody>
          <a:bodyPr/>
          <a:lstStyle/>
          <a:p>
            <a:r>
              <a:rPr dirty="0">
                <a:sym typeface="+mn-ea"/>
              </a:rPr>
              <a:t>死锁是进程在并发执行过程中因资源竞争或通信出现的一种永久性的阻塞现象。</a:t>
            </a:r>
            <a:endParaRPr lang="zh-CN" altLang="en-US" dirty="0"/>
          </a:p>
          <a:p>
            <a:r>
              <a:rPr dirty="0">
                <a:sym typeface="+mn-ea"/>
              </a:rPr>
              <a:t>死锁会导致系统吞吐量和资源利用率大大降低。</a:t>
            </a:r>
            <a:endParaRPr lang="zh-CN" altLang="en-US" dirty="0"/>
          </a:p>
          <a:p>
            <a:r>
              <a:rPr dirty="0">
                <a:sym typeface="+mn-ea"/>
              </a:rPr>
              <a:t>目前还没有比较有效的通用方法来解决死锁问题。</a:t>
            </a:r>
            <a:endParaRPr lang="zh-CN" altLang="en-US" dirty="0"/>
          </a:p>
          <a:p>
            <a:r>
              <a:rPr dirty="0">
                <a:sym typeface="+mn-ea"/>
              </a:rPr>
              <a:t>常用的处置方法有死锁预防、死锁避免、死锁检测与解除等。若处置死锁的代价过高，还可以采用忽略死锁的“鸵鸟算法”。</a:t>
            </a:r>
            <a:endParaRPr lang="zh-CN" altLang="en-US" dirty="0"/>
          </a:p>
          <a:p>
            <a:r>
              <a:rPr dirty="0">
                <a:sym typeface="+mn-ea"/>
              </a:rPr>
              <a:t>饥饿是一个准备运行的进程由于其他进程的运行而一直不能访问处理机的情况。饥饿通常被视为调度问题来处理。</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3350</Words>
  <Application>Microsoft Office PowerPoint</Application>
  <PresentationFormat>宽屏</PresentationFormat>
  <Paragraphs>354</Paragraphs>
  <Slides>53</Slides>
  <Notes>3</Notes>
  <HiddenSlides>2</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53</vt:i4>
      </vt:variant>
    </vt:vector>
  </HeadingPairs>
  <TitlesOfParts>
    <vt:vector size="59" baseType="lpstr">
      <vt:lpstr>仿宋</vt:lpstr>
      <vt:lpstr>Arial</vt:lpstr>
      <vt:lpstr>Calibri</vt:lpstr>
      <vt:lpstr>Times New Roman</vt:lpstr>
      <vt:lpstr>Wingdings</vt:lpstr>
      <vt:lpstr>Office 主题​​</vt:lpstr>
      <vt:lpstr>第4章  死锁与饥饿</vt:lpstr>
      <vt:lpstr>本章目录</vt:lpstr>
      <vt:lpstr>PowerPoint 演示文稿</vt:lpstr>
      <vt:lpstr>4.1  死锁</vt:lpstr>
      <vt:lpstr>4.1.1 死锁的概念</vt:lpstr>
      <vt:lpstr>4.1.1 死锁的概念</vt:lpstr>
      <vt:lpstr>【死锁示例3】申请使用资源</vt:lpstr>
      <vt:lpstr>4.1.1 死锁的概念</vt:lpstr>
      <vt:lpstr>4.1.2 产生死锁的原因</vt:lpstr>
      <vt:lpstr>4.1.2 产生死锁的原因</vt:lpstr>
      <vt:lpstr>PowerPoint 演示文稿</vt:lpstr>
      <vt:lpstr>4.1.2 产生死锁的原因</vt:lpstr>
      <vt:lpstr>4.1.2 产生死锁的原因</vt:lpstr>
      <vt:lpstr>4.1.3 产生死锁的必要条件</vt:lpstr>
      <vt:lpstr>课堂练习</vt:lpstr>
      <vt:lpstr>4.1.4 处理死锁的方法</vt:lpstr>
      <vt:lpstr>4.2 死锁的预防</vt:lpstr>
      <vt:lpstr>4.2 死锁的预防</vt:lpstr>
      <vt:lpstr>4.2 死锁的预防</vt:lpstr>
      <vt:lpstr>4.2 死锁的预防</vt:lpstr>
      <vt:lpstr>练习</vt:lpstr>
      <vt:lpstr>4.3 死锁的避免</vt:lpstr>
      <vt:lpstr>4.3.1 安全状态与不安全状态</vt:lpstr>
      <vt:lpstr>4.3.1 安全状态与不安全状态</vt:lpstr>
      <vt:lpstr>4.3.1 安全状态与不安全状态</vt:lpstr>
      <vt:lpstr>4.3.1 安全状态与不安全状态</vt:lpstr>
      <vt:lpstr>4.3.2 银行家算法</vt:lpstr>
      <vt:lpstr>4.3.2 银行家算法</vt:lpstr>
      <vt:lpstr>4.3.2 银行家算法</vt:lpstr>
      <vt:lpstr>4.3.2 银行家算法</vt:lpstr>
      <vt:lpstr>4.3.2 银行家算法</vt:lpstr>
      <vt:lpstr>4.3.2 银行家算法</vt:lpstr>
      <vt:lpstr>4.3.2 银行家算法</vt:lpstr>
      <vt:lpstr>4.3.2 银行家算法</vt:lpstr>
      <vt:lpstr>4.3.2 银行家算法</vt:lpstr>
      <vt:lpstr>4.3.2 银行家算法</vt:lpstr>
      <vt:lpstr>PowerPoint 演示文稿</vt:lpstr>
      <vt:lpstr>PowerPoint 演示文稿</vt:lpstr>
      <vt:lpstr>PowerPoint 演示文稿</vt:lpstr>
      <vt:lpstr>作业</vt:lpstr>
      <vt:lpstr>PowerPoint 演示文稿</vt:lpstr>
      <vt:lpstr>资源分配图</vt:lpstr>
      <vt:lpstr>4.4.1 死锁的检测</vt:lpstr>
      <vt:lpstr>4.4.1 死锁的检测</vt:lpstr>
      <vt:lpstr>4.4.1 死锁的检测</vt:lpstr>
      <vt:lpstr>4.4.1 死锁的检测</vt:lpstr>
      <vt:lpstr>4.4.1 死锁的检测</vt:lpstr>
      <vt:lpstr>4.4.2 死锁的解除</vt:lpstr>
      <vt:lpstr>PowerPoint 演示文稿</vt:lpstr>
      <vt:lpstr>4.6 死锁的忽略</vt:lpstr>
      <vt:lpstr>4.6 饥饿</vt:lpstr>
      <vt:lpstr>4.6 饥饿</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死锁与饥饿</dc:title>
  <dc:creator/>
  <cp:lastModifiedBy>Z33789</cp:lastModifiedBy>
  <cp:revision>634</cp:revision>
  <dcterms:created xsi:type="dcterms:W3CDTF">2019-06-19T02:08:00Z</dcterms:created>
  <dcterms:modified xsi:type="dcterms:W3CDTF">2025-10-26T13:06:11Z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