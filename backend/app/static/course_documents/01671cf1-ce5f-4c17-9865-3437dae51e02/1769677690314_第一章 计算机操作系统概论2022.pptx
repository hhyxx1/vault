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3"/>
    <p:sldId id="290" r:id="rId4"/>
    <p:sldId id="289" r:id="rId5"/>
    <p:sldId id="317" r:id="rId6"/>
    <p:sldId id="291" r:id="rId7"/>
    <p:sldId id="292" r:id="rId8"/>
    <p:sldId id="293" r:id="rId9"/>
    <p:sldId id="294" r:id="rId10"/>
    <p:sldId id="295" r:id="rId11"/>
    <p:sldId id="296" r:id="rId12"/>
    <p:sldId id="297" r:id="rId13"/>
    <p:sldId id="298" r:id="rId14"/>
    <p:sldId id="299" r:id="rId15"/>
    <p:sldId id="300" r:id="rId16"/>
    <p:sldId id="301" r:id="rId17"/>
    <p:sldId id="302" r:id="rId18"/>
    <p:sldId id="303" r:id="rId19"/>
    <p:sldId id="304" r:id="rId20"/>
    <p:sldId id="305" r:id="rId21"/>
    <p:sldId id="318" r:id="rId22"/>
    <p:sldId id="306" r:id="rId23"/>
    <p:sldId id="307" r:id="rId24"/>
    <p:sldId id="308" r:id="rId25"/>
    <p:sldId id="309" r:id="rId26"/>
    <p:sldId id="310" r:id="rId27"/>
    <p:sldId id="311" r:id="rId28"/>
    <p:sldId id="312" r:id="rId29"/>
    <p:sldId id="313" r:id="rId30"/>
    <p:sldId id="314" r:id="rId31"/>
    <p:sldId id="315" r:id="rId32"/>
    <p:sldId id="316" r:id="rId33"/>
  </p:sldIdLst>
  <p:sldSz cx="9144000" cy="6858000" type="screen4x3"/>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pc"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0" autoAdjust="0"/>
    <p:restoredTop sz="86085" autoAdjust="0"/>
  </p:normalViewPr>
  <p:slideViewPr>
    <p:cSldViewPr>
      <p:cViewPr varScale="1">
        <p:scale>
          <a:sx n="75" d="100"/>
          <a:sy n="75" d="100"/>
        </p:scale>
        <p:origin x="1670"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gs" Target="tags/tag1.xml"/><Relationship Id="rId38" Type="http://schemas.openxmlformats.org/officeDocument/2006/relationships/commentAuthors" Target="commentAuthors.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notesMaster" Target="notesMasters/notesMaster1.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8-08-29T19:49:52.762" idx="1">
    <p:pos x="10" y="10"/>
    <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72F3D0-2070-4A1C-9BEB-D5F85B01F5C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60FE56-DC3C-4814-AE3A-D49703B9417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28596" y="-285776"/>
            <a:ext cx="8229600" cy="1143000"/>
          </a:xfrm>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3714744" y="142852"/>
            <a:ext cx="5014890" cy="1143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pic>
        <p:nvPicPr>
          <p:cNvPr id="12290" name="Picture 2" descr="http://pic.qiantucdn.com/58pic/18/80/26/92S58PICwui_1024.jpg"/>
          <p:cNvPicPr>
            <a:picLocks noChangeAspect="1" noChangeArrowheads="1"/>
          </p:cNvPicPr>
          <p:nvPr userDrawn="1"/>
        </p:nvPicPr>
        <p:blipFill>
          <a:blip r:embed="rId12" cstate="print"/>
          <a:srcRect/>
          <a:stretch>
            <a:fillRect/>
          </a:stretch>
        </p:blipFill>
        <p:spPr bwMode="auto">
          <a:xfrm>
            <a:off x="1" y="0"/>
            <a:ext cx="3357553" cy="1428736"/>
          </a:xfrm>
          <a:prstGeom prst="rect">
            <a:avLst/>
          </a:prstGeom>
          <a:noFill/>
        </p:spPr>
      </p:pic>
      <p:sp>
        <p:nvSpPr>
          <p:cNvPr id="8" name="矩形 7"/>
          <p:cNvSpPr/>
          <p:nvPr userDrawn="1"/>
        </p:nvSpPr>
        <p:spPr>
          <a:xfrm>
            <a:off x="0" y="1142984"/>
            <a:ext cx="9144000" cy="71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3000" kern="1200">
          <a:solidFill>
            <a:schemeClr val="tx1"/>
          </a:solidFill>
          <a:latin typeface="黑体" panose="02010609060101010101" pitchFamily="49" charset="-122"/>
          <a:ea typeface="黑体" panose="02010609060101010101" pitchFamily="49" charset="-122"/>
          <a:cs typeface="+mj-cs"/>
        </a:defRPr>
      </a:lvl1pPr>
    </p:titleStyle>
    <p:bodyStyle>
      <a:lvl1pPr marL="342900" indent="-342900" algn="l" defTabSz="914400" rtl="0" eaLnBrk="1" latinLnBrk="0" hangingPunct="1">
        <a:spcBef>
          <a:spcPct val="20000"/>
        </a:spcBef>
        <a:buClr>
          <a:srgbClr val="FF0000"/>
        </a:buClr>
        <a:buSzPct val="68000"/>
        <a:buFont typeface="Wingdings" panose="05000000000000000000" pitchFamily="2" charset="2"/>
        <a:buChar char="n"/>
        <a:defRPr sz="2800" b="0" kern="1200">
          <a:solidFill>
            <a:schemeClr val="tx1"/>
          </a:solidFill>
          <a:latin typeface="华文中宋" panose="02010600040101010101" pitchFamily="2" charset="-122"/>
          <a:ea typeface="华文中宋" panose="02010600040101010101" pitchFamily="2" charset="-122"/>
          <a:cs typeface="+mn-cs"/>
        </a:defRPr>
      </a:lvl1pPr>
      <a:lvl2pPr marL="742950" indent="-285750" algn="l" defTabSz="914400" rtl="0" eaLnBrk="1" latinLnBrk="0" hangingPunct="1">
        <a:spcBef>
          <a:spcPct val="20000"/>
        </a:spcBef>
        <a:buClr>
          <a:srgbClr val="FF0000"/>
        </a:buClr>
        <a:buSzPct val="68000"/>
        <a:buFont typeface="Wingdings" panose="05000000000000000000" pitchFamily="2" charset="2"/>
        <a:buChar char="Ø"/>
        <a:defRPr sz="2400" kern="1200">
          <a:solidFill>
            <a:schemeClr val="tx1"/>
          </a:solidFill>
          <a:latin typeface="华文中宋" panose="02010600040101010101" pitchFamily="2" charset="-122"/>
          <a:ea typeface="华文中宋" panose="02010600040101010101" pitchFamily="2"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mailto:780209965@qq.com" TargetMode="External"/><Relationship Id="rId2" Type="http://schemas.openxmlformats.org/officeDocument/2006/relationships/image" Target="../media/image2.png"/><Relationship Id="rId1" Type="http://schemas.openxmlformats.org/officeDocument/2006/relationships/hyperlink" Target="https://ansafe.xust.edu.c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5" Type="http://schemas.openxmlformats.org/officeDocument/2006/relationships/comments" Target="../comments/comment1.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5.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9" Type="http://schemas.openxmlformats.org/officeDocument/2006/relationships/hyperlink" Target="https://baike.baidu.com/item/%E9%BD%90%E6%A0%BC%E8%8F%B2%E5%A5%B3%E9%83%8E/1074673" TargetMode="External"/><Relationship Id="rId8" Type="http://schemas.openxmlformats.org/officeDocument/2006/relationships/hyperlink" Target="https://baike.baidu.com/item/%E7%BD%97%E4%BC%AF%E7%89%B9%C2%B7%E4%BC%A6%E7%BA%B3%E5%BE%B7/5178970" TargetMode="External"/><Relationship Id="rId7" Type="http://schemas.openxmlformats.org/officeDocument/2006/relationships/hyperlink" Target="https://baike.baidu.com/item/%E5%85%8B%E6%8B%89%E5%85%8B%C2%B7%E7%9B%96%E5%8D%9A/1676957" TargetMode="External"/><Relationship Id="rId6" Type="http://schemas.openxmlformats.org/officeDocument/2006/relationships/hyperlink" Target="https://baike.baidu.com/item/%E7%BD%97%E4%BC%AF%E7%89%B9%C2%B7%E6%B3%B0%E5%8B%92/10551960" TargetMode="External"/><Relationship Id="rId5" Type="http://schemas.openxmlformats.org/officeDocument/2006/relationships/hyperlink" Target="https://baike.baidu.com/item/%E7%B1%B3%E9%AB%98%E6%A2%85%E5%85%AC%E5%8F%B8/2232989" TargetMode="External"/><Relationship Id="rId4" Type="http://schemas.openxmlformats.org/officeDocument/2006/relationships/hyperlink" Target="https://baike.baidu.com/item/%E5%A5%BD%E8%8E%B1%E5%9D%9E/79274" TargetMode="External"/><Relationship Id="rId3" Type="http://schemas.openxmlformats.org/officeDocument/2006/relationships/hyperlink" Target="https://baike.baidu.com/item/%E8%B7%AF%E6%98%93%E6%96%AF%C2%B7%E6%A2%85%E8%80%B6/10485478" TargetMode="External"/><Relationship Id="rId20" Type="http://schemas.openxmlformats.org/officeDocument/2006/relationships/slideLayout" Target="../slideLayouts/slideLayout2.xml"/><Relationship Id="rId2" Type="http://schemas.openxmlformats.org/officeDocument/2006/relationships/hyperlink" Target="https://baike.baidu.com/item/%E6%AC%B2%E7%84%B0" TargetMode="External"/><Relationship Id="rId19" Type="http://schemas.openxmlformats.org/officeDocument/2006/relationships/hyperlink" Target="https://baike.baidu.com/item/%E7%BE%8E%E5%9B%BD%E5%8F%91%E6%98%8E%E5%AE%B6/10673947" TargetMode="External"/><Relationship Id="rId18" Type="http://schemas.openxmlformats.org/officeDocument/2006/relationships/hyperlink" Target="https://baike.baidu.com/item/%E4%BD%9B%E7%BD%97%E9%87%8C%E8%BE%BE/19822680" TargetMode="External"/><Relationship Id="rId17" Type="http://schemas.openxmlformats.org/officeDocument/2006/relationships/hyperlink" Target="https://baike.baidu.com/item/%E7%94%B5%E5%AD%90%E5%89%8D%E6%B2%BF%E5%9F%BA%E9%87%91%E4%BC%9A/10014965" TargetMode="External"/><Relationship Id="rId16" Type="http://schemas.openxmlformats.org/officeDocument/2006/relationships/hyperlink" Target="https://baike.baidu.com/item/%E9%9C%B8%E7%8E%8B%E5%A6%96%E5%A7%AC/1415117" TargetMode="External"/><Relationship Id="rId15" Type="http://schemas.openxmlformats.org/officeDocument/2006/relationships/hyperlink" Target="https://baike.baidu.com/item/%E5%A1%9E%E8%A5%BF%E5%B0%94%C2%B7B%C2%B7%E6%88%B4%E7%B1%B3%E5%B0%94" TargetMode="External"/><Relationship Id="rId14" Type="http://schemas.openxmlformats.org/officeDocument/2006/relationships/hyperlink" Target="https://baike.baidu.com/item/%E4%B9%94%E6%B2%BB%C2%B7%E6%A1%91%E5%BE%B7%E6%96%AF/4077513" TargetMode="External"/><Relationship Id="rId13" Type="http://schemas.openxmlformats.org/officeDocument/2006/relationships/hyperlink" Target="https://baike.baidu.com/item/Wi-Fi" TargetMode="External"/><Relationship Id="rId12" Type="http://schemas.openxmlformats.org/officeDocument/2006/relationships/hyperlink" Target="https://baike.baidu.com/item/CDMA" TargetMode="External"/><Relationship Id="rId11" Type="http://schemas.openxmlformats.org/officeDocument/2006/relationships/hyperlink" Target="https://baike.baidu.com/item/%E8%B7%B3%E9%A2%91%E6%8A%80%E6%9C%AF/1694433" TargetMode="External"/><Relationship Id="rId10" Type="http://schemas.openxmlformats.org/officeDocument/2006/relationships/hyperlink" Target="https://baike.baidu.com/item/%E4%B9%94%E6%B2%BB%C2%B7%E5%AE%89%E5%A4%AA%E5%B0%94/10789379" TargetMode="External"/><Relationship Id="rId1" Type="http://schemas.openxmlformats.org/officeDocument/2006/relationships/image" Target="../media/image10.jpeg"/></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6.bin"/></Relationships>
</file>

<file path=ppt/slides/_rels/slide22.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13.emf"/><Relationship Id="rId3" Type="http://schemas.openxmlformats.org/officeDocument/2006/relationships/oleObject" Target="../embeddings/oleObject8.bin"/><Relationship Id="rId2" Type="http://schemas.openxmlformats.org/officeDocument/2006/relationships/image" Target="../media/image12.emf"/><Relationship Id="rId1" Type="http://schemas.openxmlformats.org/officeDocument/2006/relationships/oleObject" Target="../embeddings/oleObject7.bin"/></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oleObject" Target="../embeddings/oleObject9.bin"/></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5.emf"/><Relationship Id="rId1" Type="http://schemas.openxmlformats.org/officeDocument/2006/relationships/oleObject" Target="../embeddings/oleObject10.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11.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oleObject" Target="../embeddings/oleObject12.bin"/></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18.emf"/><Relationship Id="rId1" Type="http://schemas.openxmlformats.org/officeDocument/2006/relationships/oleObject" Target="../embeddings/oleObject13.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fontScale="90000"/>
          </a:bodyPr>
          <a:lstStyle/>
          <a:p>
            <a:r>
              <a:rPr lang="zh-CN" altLang="en-US" sz="4800" dirty="0"/>
              <a:t>第一章 计算机操作系统概论</a:t>
            </a:r>
            <a:endParaRPr lang="zh-CN" altLang="en-US" sz="4800" dirty="0"/>
          </a:p>
        </p:txBody>
      </p:sp>
      <p:sp>
        <p:nvSpPr>
          <p:cNvPr id="3" name="副标题 2"/>
          <p:cNvSpPr>
            <a:spLocks noGrp="1"/>
          </p:cNvSpPr>
          <p:nvPr>
            <p:ph type="subTitle" idx="1"/>
          </p:nvPr>
        </p:nvSpPr>
        <p:spPr/>
        <p:txBody>
          <a:bodyPr/>
          <a:lstStyle/>
          <a:p>
            <a:r>
              <a:rPr lang="zh-CN" altLang="en-US" dirty="0">
                <a:solidFill>
                  <a:schemeClr val="tx1"/>
                </a:solidFill>
              </a:rPr>
              <a:t>刘晓建</a:t>
            </a:r>
            <a:endParaRPr lang="en-US" altLang="zh-CN" dirty="0">
              <a:solidFill>
                <a:schemeClr val="tx1"/>
              </a:solidFill>
            </a:endParaRPr>
          </a:p>
          <a:p>
            <a:r>
              <a:rPr lang="en-US" altLang="zh-CN" smtClean="0">
                <a:solidFill>
                  <a:schemeClr val="tx1"/>
                </a:solidFill>
              </a:rPr>
              <a:t>2022</a:t>
            </a:r>
            <a:r>
              <a:rPr lang="zh-CN" altLang="en-US" smtClean="0">
                <a:solidFill>
                  <a:schemeClr val="tx1"/>
                </a:solidFill>
              </a:rPr>
              <a:t>年</a:t>
            </a:r>
            <a:r>
              <a:rPr lang="en-US" altLang="zh-CN" dirty="0">
                <a:solidFill>
                  <a:schemeClr val="tx1"/>
                </a:solidFill>
              </a:rPr>
              <a:t>9</a:t>
            </a:r>
            <a:r>
              <a:rPr lang="zh-CN" altLang="en-US" dirty="0">
                <a:solidFill>
                  <a:schemeClr val="tx1"/>
                </a:solidFill>
              </a:rPr>
              <a:t>月</a:t>
            </a:r>
            <a:endParaRPr lang="zh-CN" alt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4400" y="0"/>
            <a:ext cx="8229600" cy="1143000"/>
          </a:xfrm>
        </p:spPr>
        <p:txBody>
          <a:bodyPr/>
          <a:lstStyle/>
          <a:p>
            <a:r>
              <a:rPr lang="en-US" altLang="zh-CN" dirty="0"/>
              <a:t>1.0 </a:t>
            </a:r>
            <a:r>
              <a:rPr lang="zh-CN" altLang="en-US" dirty="0"/>
              <a:t>课程概论</a:t>
            </a:r>
            <a:endParaRPr lang="zh-CN" altLang="en-US" dirty="0"/>
          </a:p>
        </p:txBody>
      </p:sp>
      <p:sp>
        <p:nvSpPr>
          <p:cNvPr id="3" name="内容占位符 2"/>
          <p:cNvSpPr>
            <a:spLocks noGrp="1"/>
          </p:cNvSpPr>
          <p:nvPr>
            <p:ph idx="1"/>
          </p:nvPr>
        </p:nvSpPr>
        <p:spPr>
          <a:xfrm>
            <a:off x="357158" y="1357298"/>
            <a:ext cx="8229600" cy="2185990"/>
          </a:xfrm>
          <a:ln w="28575">
            <a:solidFill>
              <a:schemeClr val="tx1"/>
            </a:solidFill>
          </a:ln>
        </p:spPr>
        <p:txBody>
          <a:bodyPr>
            <a:normAutofit fontScale="92500" lnSpcReduction="20000"/>
          </a:bodyPr>
          <a:lstStyle/>
          <a:p>
            <a:pPr>
              <a:lnSpc>
                <a:spcPct val="150000"/>
              </a:lnSpc>
              <a:buNone/>
            </a:pPr>
            <a:r>
              <a:rPr lang="zh-CN" altLang="en-US" dirty="0"/>
              <a:t>    </a:t>
            </a:r>
            <a:r>
              <a:rPr lang="zh-CN" altLang="en-US" sz="2600" dirty="0">
                <a:solidFill>
                  <a:srgbClr val="FF0000"/>
                </a:solidFill>
              </a:rPr>
              <a:t>操作系统的普遍性、基础性和核心性</a:t>
            </a:r>
            <a:r>
              <a:rPr lang="zh-CN" altLang="en-US" sz="2600" dirty="0"/>
              <a:t>    </a:t>
            </a:r>
            <a:endParaRPr lang="en-US" altLang="zh-CN" sz="2600" dirty="0"/>
          </a:p>
          <a:p>
            <a:pPr>
              <a:lnSpc>
                <a:spcPct val="150000"/>
              </a:lnSpc>
              <a:buNone/>
            </a:pPr>
            <a:r>
              <a:rPr lang="en-US" altLang="zh-CN" sz="2000"/>
              <a:t>     </a:t>
            </a:r>
            <a:r>
              <a:rPr lang="en-US" altLang="zh-CN" sz="2000" smtClean="0"/>
              <a:t>  </a:t>
            </a:r>
            <a:r>
              <a:rPr lang="zh-CN" altLang="en-US" sz="2000" smtClean="0"/>
              <a:t>计</a:t>
            </a:r>
            <a:r>
              <a:rPr lang="zh-CN" altLang="en-US" sz="2000" dirty="0"/>
              <a:t>算机操作系统是当今最复杂的系统软件之一，它是几乎所有复杂应用软件的基础。操作系统已经深度融入到几乎所有与信息处理相关的系统之中，小到各种传感器、手机、掌上电脑，大到整个互联网。它的应用如此广泛，以至于我们感觉不到它的存在。</a:t>
            </a:r>
            <a:endParaRPr lang="zh-CN" altLang="en-US" sz="2000" dirty="0"/>
          </a:p>
        </p:txBody>
      </p:sp>
      <p:sp>
        <p:nvSpPr>
          <p:cNvPr id="4" name="内容占位符 2"/>
          <p:cNvSpPr txBox="1"/>
          <p:nvPr/>
        </p:nvSpPr>
        <p:spPr>
          <a:xfrm>
            <a:off x="342928" y="3857628"/>
            <a:ext cx="8229600" cy="2185990"/>
          </a:xfrm>
          <a:prstGeom prst="rect">
            <a:avLst/>
          </a:prstGeom>
          <a:ln w="28575">
            <a:solidFill>
              <a:schemeClr val="tx1"/>
            </a:solidFill>
          </a:ln>
        </p:spPr>
        <p:txBody>
          <a:bodyPr vert="horz" lIns="91440" tIns="45720" rIns="91440" bIns="45720" rtlCol="0">
            <a:normAutofit fontScale="92500"/>
          </a:bodyPr>
          <a:lstStyle/>
          <a:p>
            <a:pPr marL="342900" marR="0" lvl="0" indent="-342900" algn="l" defTabSz="914400" rtl="0" eaLnBrk="1" fontAlgn="auto" latinLnBrk="0" hangingPunct="1">
              <a:lnSpc>
                <a:spcPct val="150000"/>
              </a:lnSpc>
              <a:spcBef>
                <a:spcPct val="20000"/>
              </a:spcBef>
              <a:spcAft>
                <a:spcPts val="0"/>
              </a:spcAft>
              <a:buClr>
                <a:srgbClr val="FF0000"/>
              </a:buClr>
              <a:buSzPct val="68000"/>
              <a:buFont typeface="Wingdings" panose="05000000000000000000" pitchFamily="2" charset="2"/>
              <a:buNone/>
              <a:defRPr/>
            </a:pPr>
            <a:r>
              <a:rPr kumimoji="0" lang="zh-CN" altLang="en-US" sz="28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600" b="0"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课程偏重于基本概念、原理 和方法</a:t>
            </a:r>
            <a:r>
              <a:rPr kumimoji="0" lang="zh-CN" altLang="en-US" sz="26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6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lvl="0" indent="-342900">
              <a:lnSpc>
                <a:spcPct val="150000"/>
              </a:lnSpc>
              <a:spcBef>
                <a:spcPct val="20000"/>
              </a:spcBef>
              <a:buClr>
                <a:srgbClr val="FF0000"/>
              </a:buClr>
              <a:buSzPct val="68000"/>
            </a:pPr>
            <a:r>
              <a:rPr lang="zh-CN" altLang="en-US" sz="2000" dirty="0"/>
              <a:t>       </a:t>
            </a:r>
            <a:r>
              <a:rPr lang="zh-CN" altLang="en-US" sz="2000" dirty="0">
                <a:latin typeface="华文中宋" panose="02010600040101010101" pitchFamily="2" charset="-122"/>
                <a:ea typeface="华文中宋" panose="02010600040101010101" pitchFamily="2" charset="-122"/>
              </a:rPr>
              <a:t>讲解操作系统的基本概念、原理和方法，因此内容具有一般性和普适性。掌握了这门课程的内容之后，可以将它们应用到具体操作系统的学习和应用开发之中，比如手机操作系统、嵌入式操作系统和云操作系统等。</a:t>
            </a:r>
            <a:endParaRPr kumimoji="0" lang="zh-CN" altLang="en-US"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357298"/>
            <a:ext cx="8229600" cy="3786214"/>
          </a:xfrm>
          <a:ln w="28575">
            <a:solidFill>
              <a:schemeClr val="tx1"/>
            </a:solidFill>
          </a:ln>
        </p:spPr>
        <p:txBody>
          <a:bodyPr>
            <a:normAutofit/>
          </a:bodyPr>
          <a:lstStyle/>
          <a:p>
            <a:pPr>
              <a:lnSpc>
                <a:spcPct val="150000"/>
              </a:lnSpc>
              <a:buNone/>
            </a:pPr>
            <a:r>
              <a:rPr lang="zh-CN" altLang="en-US" dirty="0"/>
              <a:t>    </a:t>
            </a:r>
            <a:r>
              <a:rPr lang="zh-CN" altLang="en-US" dirty="0">
                <a:solidFill>
                  <a:srgbClr val="FF0000"/>
                </a:solidFill>
              </a:rPr>
              <a:t>教学和考试方式</a:t>
            </a:r>
            <a:endParaRPr lang="en-US" altLang="zh-CN" dirty="0">
              <a:solidFill>
                <a:srgbClr val="FF0000"/>
              </a:solidFill>
            </a:endParaRPr>
          </a:p>
          <a:p>
            <a:pPr>
              <a:lnSpc>
                <a:spcPct val="150000"/>
              </a:lnSpc>
              <a:buNone/>
            </a:pPr>
            <a:r>
              <a:rPr lang="en-US" altLang="zh-CN" dirty="0"/>
              <a:t>    </a:t>
            </a:r>
            <a:r>
              <a:rPr lang="zh-CN" altLang="en-US" dirty="0"/>
              <a:t>理论教学 </a:t>
            </a:r>
            <a:r>
              <a:rPr lang="en-US" altLang="zh-CN" dirty="0"/>
              <a:t>+</a:t>
            </a:r>
            <a:endParaRPr lang="en-US" altLang="zh-CN" dirty="0"/>
          </a:p>
          <a:p>
            <a:pPr>
              <a:lnSpc>
                <a:spcPct val="150000"/>
              </a:lnSpc>
              <a:buNone/>
            </a:pPr>
            <a:r>
              <a:rPr lang="en-US" altLang="zh-CN" dirty="0"/>
              <a:t>    </a:t>
            </a:r>
            <a:r>
              <a:rPr lang="zh-CN" altLang="en-US" dirty="0"/>
              <a:t>课后</a:t>
            </a:r>
            <a:r>
              <a:rPr lang="en-US" altLang="zh-CN" dirty="0"/>
              <a:t>/</a:t>
            </a:r>
            <a:r>
              <a:rPr lang="zh-CN" altLang="en-US" dirty="0"/>
              <a:t>课堂作业（</a:t>
            </a:r>
            <a:r>
              <a:rPr lang="en-US" altLang="zh-CN" dirty="0"/>
              <a:t>20%</a:t>
            </a:r>
            <a:r>
              <a:rPr lang="zh-CN" altLang="en-US" dirty="0"/>
              <a:t>）</a:t>
            </a:r>
            <a:r>
              <a:rPr lang="en-US" altLang="zh-CN" dirty="0"/>
              <a:t>+</a:t>
            </a:r>
            <a:endParaRPr lang="en-US" altLang="zh-CN" dirty="0"/>
          </a:p>
          <a:p>
            <a:pPr>
              <a:lnSpc>
                <a:spcPct val="150000"/>
              </a:lnSpc>
              <a:buNone/>
            </a:pPr>
            <a:r>
              <a:rPr lang="en-US" altLang="zh-CN" dirty="0"/>
              <a:t>    </a:t>
            </a:r>
            <a:r>
              <a:rPr lang="zh-CN" altLang="en-US" dirty="0"/>
              <a:t>上机作业（</a:t>
            </a:r>
            <a:r>
              <a:rPr lang="en-US" altLang="zh-CN" dirty="0"/>
              <a:t>10%</a:t>
            </a:r>
            <a:r>
              <a:rPr lang="zh-CN" altLang="en-US" dirty="0"/>
              <a:t>）</a:t>
            </a:r>
            <a:r>
              <a:rPr lang="en-US" altLang="zh-CN" dirty="0"/>
              <a:t>+</a:t>
            </a:r>
            <a:endParaRPr lang="en-US" altLang="zh-CN" dirty="0"/>
          </a:p>
          <a:p>
            <a:pPr>
              <a:lnSpc>
                <a:spcPct val="150000"/>
              </a:lnSpc>
              <a:buNone/>
            </a:pPr>
            <a:r>
              <a:rPr lang="en-US" altLang="zh-CN" dirty="0"/>
              <a:t>    </a:t>
            </a:r>
            <a:r>
              <a:rPr lang="zh-CN" altLang="en-US" dirty="0"/>
              <a:t>期末考试（</a:t>
            </a:r>
            <a:r>
              <a:rPr lang="en-US" altLang="zh-CN" dirty="0"/>
              <a:t>70%</a:t>
            </a:r>
            <a:r>
              <a:rPr lang="zh-CN" altLang="en-US" dirty="0"/>
              <a:t>）   </a:t>
            </a:r>
            <a:endParaRPr lang="zh-CN" alt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0" y="1268760"/>
            <a:ext cx="9144000" cy="1368152"/>
          </a:xfrm>
        </p:spPr>
        <p:txBody>
          <a:bodyPr>
            <a:noAutofit/>
          </a:bodyPr>
          <a:lstStyle/>
          <a:p>
            <a:pPr marL="0" indent="0">
              <a:buNone/>
            </a:pPr>
            <a:r>
              <a:rPr lang="en-US" altLang="zh-CN" sz="4000" dirty="0">
                <a:solidFill>
                  <a:srgbClr val="FF0000"/>
                </a:solidFill>
                <a:hlinkClick r:id="rId1"/>
              </a:rPr>
              <a:t>   https://ansafe.xust.edu.cn</a:t>
            </a:r>
            <a:endParaRPr lang="en-US" altLang="zh-CN" sz="4000" dirty="0">
              <a:solidFill>
                <a:srgbClr val="FF0000"/>
              </a:solidFill>
            </a:endParaRPr>
          </a:p>
          <a:p>
            <a:pPr marL="0" indent="0">
              <a:buNone/>
            </a:pPr>
            <a:r>
              <a:rPr lang="en-US" altLang="zh-CN" sz="4000" dirty="0">
                <a:solidFill>
                  <a:srgbClr val="FF0000"/>
                </a:solidFill>
              </a:rPr>
              <a:t>-&gt;Teaching  </a:t>
            </a:r>
            <a:r>
              <a:rPr lang="zh-CN" altLang="en-US" sz="4000" dirty="0">
                <a:solidFill>
                  <a:srgbClr val="FF0000"/>
                </a:solidFill>
              </a:rPr>
              <a:t>教学课件</a:t>
            </a:r>
            <a:endParaRPr lang="zh-CN" altLang="en-US" sz="4000" dirty="0">
              <a:solidFill>
                <a:srgbClr val="FF0000"/>
              </a:solidFill>
            </a:endParaRPr>
          </a:p>
        </p:txBody>
      </p:sp>
      <p:pic>
        <p:nvPicPr>
          <p:cNvPr id="5" name="图片 4"/>
          <p:cNvPicPr>
            <a:picLocks noChangeAspect="1"/>
          </p:cNvPicPr>
          <p:nvPr/>
        </p:nvPicPr>
        <p:blipFill>
          <a:blip r:embed="rId2"/>
          <a:stretch>
            <a:fillRect/>
          </a:stretch>
        </p:blipFill>
        <p:spPr>
          <a:xfrm>
            <a:off x="971600" y="2636912"/>
            <a:ext cx="7308304" cy="4110921"/>
          </a:xfrm>
          <a:prstGeom prst="rect">
            <a:avLst/>
          </a:prstGeom>
        </p:spPr>
      </p:pic>
      <p:sp>
        <p:nvSpPr>
          <p:cNvPr id="4" name="文本框 3"/>
          <p:cNvSpPr txBox="1"/>
          <p:nvPr/>
        </p:nvSpPr>
        <p:spPr>
          <a:xfrm>
            <a:off x="128504" y="3789040"/>
            <a:ext cx="2148024" cy="2308324"/>
          </a:xfrm>
          <a:prstGeom prst="rect">
            <a:avLst/>
          </a:prstGeom>
          <a:noFill/>
        </p:spPr>
        <p:txBody>
          <a:bodyPr wrap="none" rtlCol="0">
            <a:spAutoFit/>
          </a:bodyPr>
          <a:lstStyle/>
          <a:p>
            <a:r>
              <a:rPr lang="en-US" altLang="zh-CN" smtClean="0"/>
              <a:t>QQ</a:t>
            </a:r>
            <a:r>
              <a:rPr lang="zh-CN" altLang="en-US" smtClean="0"/>
              <a:t>：</a:t>
            </a:r>
            <a:endParaRPr lang="en-US" altLang="zh-CN" smtClean="0"/>
          </a:p>
          <a:p>
            <a:r>
              <a:rPr lang="en-US" altLang="zh-CN" smtClean="0"/>
              <a:t>780209965</a:t>
            </a:r>
            <a:endParaRPr lang="en-US" altLang="zh-CN" smtClean="0"/>
          </a:p>
          <a:p>
            <a:endParaRPr lang="en-US" altLang="zh-CN"/>
          </a:p>
          <a:p>
            <a:r>
              <a:rPr lang="en-US" altLang="zh-CN" smtClean="0"/>
              <a:t>Email</a:t>
            </a:r>
            <a:r>
              <a:rPr lang="zh-CN" altLang="en-US" smtClean="0"/>
              <a:t>：</a:t>
            </a:r>
            <a:endParaRPr lang="en-US" altLang="zh-CN" smtClean="0"/>
          </a:p>
          <a:p>
            <a:r>
              <a:rPr lang="en-US" altLang="zh-CN" smtClean="0">
                <a:hlinkClick r:id="rId3"/>
              </a:rPr>
              <a:t>780209965@qq.com</a:t>
            </a:r>
            <a:endParaRPr lang="en-US" altLang="zh-CN" smtClean="0"/>
          </a:p>
          <a:p>
            <a:endParaRPr lang="en-US" altLang="zh-CN"/>
          </a:p>
          <a:p>
            <a:r>
              <a:rPr lang="zh-CN" altLang="en-US"/>
              <a:t>电</a:t>
            </a:r>
            <a:r>
              <a:rPr lang="zh-CN" altLang="en-US" smtClean="0"/>
              <a:t>话：</a:t>
            </a:r>
            <a:endParaRPr lang="en-US" altLang="zh-CN" smtClean="0"/>
          </a:p>
          <a:p>
            <a:r>
              <a:rPr lang="en-US" altLang="zh-CN" smtClean="0"/>
              <a:t>18329682553</a:t>
            </a:r>
            <a:endParaRPr lang="en-US" altLang="zh-CN"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4" name="内容占位符 2"/>
          <p:cNvSpPr txBox="1"/>
          <p:nvPr/>
        </p:nvSpPr>
        <p:spPr>
          <a:xfrm>
            <a:off x="500034" y="1785926"/>
            <a:ext cx="8229600" cy="3429024"/>
          </a:xfrm>
          <a:prstGeom prst="rect">
            <a:avLst/>
          </a:prstGeom>
          <a:ln w="28575">
            <a:solidFill>
              <a:schemeClr val="tx1"/>
            </a:solidFill>
          </a:ln>
        </p:spPr>
        <p:txBody>
          <a:bodyPr vert="horz" lIns="91440" tIns="45720" rIns="91440" bIns="45720" rtlCol="0">
            <a:normAutofit/>
          </a:bodyPr>
          <a:lstStyle/>
          <a:p>
            <a:pPr marL="342900" marR="0" lvl="0" indent="-342900" algn="l" defTabSz="914400" rtl="0" eaLnBrk="1" fontAlgn="auto" latinLnBrk="0" hangingPunct="1">
              <a:lnSpc>
                <a:spcPct val="150000"/>
              </a:lnSpc>
              <a:spcBef>
                <a:spcPct val="20000"/>
              </a:spcBef>
              <a:spcAft>
                <a:spcPts val="0"/>
              </a:spcAft>
              <a:buClr>
                <a:srgbClr val="FF0000"/>
              </a:buClr>
              <a:buSzPct val="68000"/>
              <a:buFont typeface="Wingdings" panose="05000000000000000000" pitchFamily="2" charset="2"/>
              <a:buNone/>
              <a:defRPr/>
            </a:pPr>
            <a:r>
              <a:rPr kumimoji="0" lang="zh-CN" altLang="en-US" sz="2800" b="0"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本章学习内容和基本要求</a:t>
            </a:r>
            <a:endParaRPr kumimoji="0" lang="en-US" altLang="zh-CN" sz="2600" b="0"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endParaRPr>
          </a:p>
          <a:p>
            <a:pPr lvl="0">
              <a:lnSpc>
                <a:spcPct val="160000"/>
              </a:lnSpc>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从三个角度理解计算机操作系统的概念；</a:t>
            </a:r>
            <a:endParaRPr lang="zh-CN" altLang="en-US" sz="2000" dirty="0">
              <a:latin typeface="华文中宋" panose="02010600040101010101" pitchFamily="2" charset="-122"/>
              <a:ea typeface="华文中宋" panose="02010600040101010101" pitchFamily="2" charset="-122"/>
            </a:endParaRPr>
          </a:p>
          <a:p>
            <a:pPr lvl="0">
              <a:lnSpc>
                <a:spcPct val="160000"/>
              </a:lnSpc>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在学习操作系统发展历史的基础上，重点掌握</a:t>
            </a:r>
            <a:r>
              <a:rPr lang="zh-CN" altLang="en-US" sz="2000" dirty="0">
                <a:solidFill>
                  <a:srgbClr val="FF0000"/>
                </a:solidFill>
                <a:latin typeface="华文中宋" panose="02010600040101010101" pitchFamily="2" charset="-122"/>
                <a:ea typeface="华文中宋" panose="02010600040101010101" pitchFamily="2" charset="-122"/>
              </a:rPr>
              <a:t>多道程序设计</a:t>
            </a:r>
            <a:r>
              <a:rPr lang="zh-CN" altLang="en-US" sz="2000" dirty="0">
                <a:latin typeface="华文中宋" panose="02010600040101010101" pitchFamily="2" charset="-122"/>
                <a:ea typeface="华文中宋" panose="02010600040101010101" pitchFamily="2" charset="-122"/>
              </a:rPr>
              <a:t>的概念、原理和实现；掌握</a:t>
            </a:r>
            <a:r>
              <a:rPr lang="zh-CN" altLang="en-US" sz="2000" dirty="0">
                <a:solidFill>
                  <a:srgbClr val="FF0000"/>
                </a:solidFill>
                <a:latin typeface="华文中宋" panose="02010600040101010101" pitchFamily="2" charset="-122"/>
                <a:ea typeface="华文中宋" panose="02010600040101010101" pitchFamily="2" charset="-122"/>
              </a:rPr>
              <a:t>分时系统</a:t>
            </a:r>
            <a:r>
              <a:rPr lang="zh-CN" altLang="en-US" sz="2000" dirty="0">
                <a:latin typeface="华文中宋" panose="02010600040101010101" pitchFamily="2" charset="-122"/>
                <a:ea typeface="华文中宋" panose="02010600040101010101" pitchFamily="2" charset="-122"/>
              </a:rPr>
              <a:t>的基本原理；</a:t>
            </a:r>
            <a:endParaRPr lang="zh-CN" altLang="en-US" sz="2000" dirty="0">
              <a:latin typeface="华文中宋" panose="02010600040101010101" pitchFamily="2" charset="-122"/>
              <a:ea typeface="华文中宋" panose="02010600040101010101" pitchFamily="2" charset="-122"/>
            </a:endParaRPr>
          </a:p>
          <a:p>
            <a:pPr>
              <a:lnSpc>
                <a:spcPct val="160000"/>
              </a:lnSpc>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了解操作系统的</a:t>
            </a:r>
            <a:r>
              <a:rPr lang="zh-CN" altLang="en-US" sz="2000" dirty="0">
                <a:solidFill>
                  <a:srgbClr val="FF0000"/>
                </a:solidFill>
                <a:latin typeface="华文中宋" panose="02010600040101010101" pitchFamily="2" charset="-122"/>
                <a:ea typeface="华文中宋" panose="02010600040101010101" pitchFamily="2" charset="-122"/>
              </a:rPr>
              <a:t>典型结构</a:t>
            </a:r>
            <a:r>
              <a:rPr lang="zh-CN" altLang="en-US" sz="2000" dirty="0">
                <a:latin typeface="华文中宋" panose="02010600040101010101" pitchFamily="2" charset="-122"/>
                <a:ea typeface="华文中宋" panose="02010600040101010101" pitchFamily="2" charset="-122"/>
              </a:rPr>
              <a:t>，重点掌握层次结构、微内核结构的优点和不足；对</a:t>
            </a:r>
            <a:r>
              <a:rPr lang="zh-CN" altLang="en-US" sz="2000" dirty="0">
                <a:solidFill>
                  <a:srgbClr val="FF0000"/>
                </a:solidFill>
                <a:latin typeface="华文中宋" panose="02010600040101010101" pitchFamily="2" charset="-122"/>
                <a:ea typeface="华文中宋" panose="02010600040101010101" pitchFamily="2" charset="-122"/>
              </a:rPr>
              <a:t>虚拟机结构</a:t>
            </a:r>
            <a:r>
              <a:rPr lang="zh-CN" altLang="en-US" sz="2000" dirty="0">
                <a:latin typeface="华文中宋" panose="02010600040101010101" pitchFamily="2" charset="-122"/>
                <a:ea typeface="华文中宋" panose="02010600040101010101" pitchFamily="2" charset="-122"/>
              </a:rPr>
              <a:t>有所了解。</a:t>
            </a:r>
            <a:endParaRPr kumimoji="0" lang="zh-CN" altLang="en-US"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71670" y="0"/>
            <a:ext cx="7072330" cy="1143000"/>
          </a:xfrm>
        </p:spPr>
        <p:txBody>
          <a:bodyPr/>
          <a:lstStyle/>
          <a:p>
            <a:r>
              <a:rPr lang="en-US" altLang="zh-CN" dirty="0"/>
              <a:t>1.1 </a:t>
            </a:r>
            <a:r>
              <a:rPr lang="zh-CN" altLang="en-US" dirty="0"/>
              <a:t>操作系统的概念</a:t>
            </a:r>
            <a:endParaRPr lang="zh-CN" altLang="en-US" dirty="0"/>
          </a:p>
        </p:txBody>
      </p:sp>
      <p:sp>
        <p:nvSpPr>
          <p:cNvPr id="3" name="内容占位符 2"/>
          <p:cNvSpPr>
            <a:spLocks noGrp="1"/>
          </p:cNvSpPr>
          <p:nvPr>
            <p:ph idx="1"/>
          </p:nvPr>
        </p:nvSpPr>
        <p:spPr>
          <a:ln w="28575">
            <a:solidFill>
              <a:schemeClr val="tx1"/>
            </a:solidFill>
          </a:ln>
        </p:spPr>
        <p:txBody>
          <a:bodyPr/>
          <a:lstStyle/>
          <a:p>
            <a:pPr>
              <a:lnSpc>
                <a:spcPct val="150000"/>
              </a:lnSpc>
              <a:buNone/>
            </a:pPr>
            <a:r>
              <a:rPr lang="zh-CN" altLang="en-US" dirty="0"/>
              <a:t>   </a:t>
            </a:r>
            <a:r>
              <a:rPr lang="zh-CN" altLang="en-US" sz="2400" dirty="0"/>
              <a:t>操作系统本质上是一组</a:t>
            </a:r>
            <a:r>
              <a:rPr lang="zh-CN" altLang="en-US" sz="2400" dirty="0">
                <a:solidFill>
                  <a:srgbClr val="FF0000"/>
                </a:solidFill>
              </a:rPr>
              <a:t>系统级程序</a:t>
            </a:r>
            <a:r>
              <a:rPr lang="zh-CN" altLang="en-US" sz="2400" dirty="0"/>
              <a:t>，它管理和控制着其它</a:t>
            </a:r>
            <a:r>
              <a:rPr lang="zh-CN" altLang="en-US" sz="2400" dirty="0">
                <a:solidFill>
                  <a:srgbClr val="FF0000"/>
                </a:solidFill>
              </a:rPr>
              <a:t>应用程序</a:t>
            </a:r>
            <a:r>
              <a:rPr lang="zh-CN" altLang="en-US" sz="2400" dirty="0"/>
              <a:t>的执行，并充当应用程序和计算机硬件之间的接口。一般来说，操作系统应满足</a:t>
            </a:r>
            <a:r>
              <a:rPr lang="zh-CN" altLang="en-US" sz="2400"/>
              <a:t>如</a:t>
            </a:r>
            <a:r>
              <a:rPr lang="zh-CN" altLang="en-US" sz="2400" smtClean="0"/>
              <a:t>下四个</a:t>
            </a:r>
            <a:r>
              <a:rPr lang="zh-CN" altLang="en-US" sz="2400" dirty="0"/>
              <a:t>应用需求：</a:t>
            </a:r>
            <a:endParaRPr lang="en-US" altLang="zh-CN" sz="2400" dirty="0"/>
          </a:p>
          <a:p>
            <a:pPr>
              <a:lnSpc>
                <a:spcPct val="150000"/>
              </a:lnSpc>
              <a:buFont typeface="Wingdings" panose="05000000000000000000" pitchFamily="2" charset="2"/>
              <a:buChar char="u"/>
            </a:pPr>
            <a:r>
              <a:rPr lang="zh-CN" altLang="en-US" sz="2400" dirty="0"/>
              <a:t>方便性</a:t>
            </a:r>
            <a:r>
              <a:rPr lang="en-US" altLang="zh-CN" sz="2400" dirty="0"/>
              <a:t>——</a:t>
            </a:r>
            <a:r>
              <a:rPr lang="zh-CN" altLang="en-US" sz="2400" dirty="0"/>
              <a:t>从用户使用计算机的角度</a:t>
            </a:r>
            <a:endParaRPr lang="en-US" altLang="zh-CN" sz="2400" dirty="0"/>
          </a:p>
          <a:p>
            <a:pPr>
              <a:lnSpc>
                <a:spcPct val="150000"/>
              </a:lnSpc>
              <a:buFont typeface="Wingdings" panose="05000000000000000000" pitchFamily="2" charset="2"/>
              <a:buChar char="u"/>
            </a:pPr>
            <a:r>
              <a:rPr lang="zh-CN" altLang="en-US" sz="2400" dirty="0"/>
              <a:t>有效性</a:t>
            </a:r>
            <a:r>
              <a:rPr lang="en-US" altLang="zh-CN" sz="2400" dirty="0"/>
              <a:t>——</a:t>
            </a:r>
            <a:r>
              <a:rPr lang="zh-CN" altLang="en-US" sz="2400" dirty="0"/>
              <a:t>从计算资源分配和管理角度</a:t>
            </a:r>
            <a:endParaRPr lang="en-US" altLang="zh-CN" sz="2400" dirty="0"/>
          </a:p>
          <a:p>
            <a:pPr>
              <a:lnSpc>
                <a:spcPct val="150000"/>
              </a:lnSpc>
              <a:buFont typeface="Wingdings" panose="05000000000000000000" pitchFamily="2" charset="2"/>
              <a:buChar char="u"/>
            </a:pPr>
            <a:r>
              <a:rPr lang="zh-CN" altLang="en-US" sz="2400" dirty="0"/>
              <a:t>可扩展性</a:t>
            </a:r>
            <a:r>
              <a:rPr lang="en-US" altLang="zh-CN" sz="2400" dirty="0"/>
              <a:t>——</a:t>
            </a:r>
            <a:r>
              <a:rPr lang="zh-CN" altLang="en-US" sz="2400" dirty="0"/>
              <a:t>从自身设计和构造角度</a:t>
            </a:r>
            <a:endParaRPr lang="en-US" altLang="zh-CN" sz="2400" dirty="0"/>
          </a:p>
          <a:p>
            <a:pPr>
              <a:lnSpc>
                <a:spcPct val="150000"/>
              </a:lnSpc>
              <a:buFont typeface="Wingdings" panose="05000000000000000000" pitchFamily="2" charset="2"/>
              <a:buChar char="u"/>
            </a:pPr>
            <a:r>
              <a:rPr lang="zh-CN" altLang="en-US" sz="2400" dirty="0"/>
              <a:t>可信赖性</a:t>
            </a:r>
            <a:r>
              <a:rPr lang="en-US" altLang="zh-CN" sz="2400" dirty="0"/>
              <a:t>——</a:t>
            </a:r>
            <a:r>
              <a:rPr lang="zh-CN" altLang="en-US" sz="2400" dirty="0"/>
              <a:t>从运行保障的角度</a:t>
            </a:r>
            <a:endParaRPr lang="zh-CN" alt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内容占位符 2"/>
          <p:cNvSpPr>
            <a:spLocks noGrp="1"/>
          </p:cNvSpPr>
          <p:nvPr>
            <p:ph idx="1"/>
          </p:nvPr>
        </p:nvSpPr>
        <p:spPr>
          <a:xfrm>
            <a:off x="285720" y="2000240"/>
            <a:ext cx="8572560" cy="4500594"/>
          </a:xfrm>
          <a:ln w="28575">
            <a:solidFill>
              <a:schemeClr val="tx1"/>
            </a:solidFill>
          </a:ln>
        </p:spPr>
        <p:txBody>
          <a:bodyPr>
            <a:normAutofit fontScale="92500" lnSpcReduction="20000"/>
          </a:bodyPr>
          <a:lstStyle/>
          <a:p>
            <a:pPr>
              <a:lnSpc>
                <a:spcPct val="150000"/>
              </a:lnSpc>
              <a:buNone/>
            </a:pPr>
            <a:r>
              <a:rPr lang="zh-CN" altLang="en-US" sz="2400" dirty="0">
                <a:solidFill>
                  <a:srgbClr val="FF0000"/>
                </a:solidFill>
              </a:rPr>
              <a:t>    </a:t>
            </a:r>
            <a:r>
              <a:rPr lang="en-US" altLang="zh-CN" sz="2400" dirty="0">
                <a:solidFill>
                  <a:srgbClr val="FF0000"/>
                </a:solidFill>
              </a:rPr>
              <a:t>1</a:t>
            </a:r>
            <a:r>
              <a:rPr lang="zh-CN" altLang="en-US" sz="2400" dirty="0">
                <a:solidFill>
                  <a:srgbClr val="FF0000"/>
                </a:solidFill>
              </a:rPr>
              <a:t>、从用户使用角度来看</a:t>
            </a:r>
            <a:r>
              <a:rPr lang="zh-CN" altLang="en-US" sz="2400" dirty="0"/>
              <a:t>，</a:t>
            </a:r>
            <a:r>
              <a:rPr lang="en-US" altLang="zh-CN" sz="2400" dirty="0"/>
              <a:t>OS</a:t>
            </a:r>
            <a:r>
              <a:rPr lang="zh-CN" altLang="en-US" sz="2400" dirty="0"/>
              <a:t>表现为一组可用的功能和提供这些功能的接口</a:t>
            </a:r>
            <a:r>
              <a:rPr lang="en-US" altLang="zh-CN" sz="2400" dirty="0"/>
              <a:t>/</a:t>
            </a:r>
            <a:r>
              <a:rPr lang="zh-CN" altLang="en-US" sz="2400" dirty="0"/>
              <a:t>使用界面。操作系统为用户提供了这些功能：</a:t>
            </a:r>
            <a:endParaRPr lang="en-US" altLang="zh-CN" sz="2400" dirty="0"/>
          </a:p>
          <a:p>
            <a:pPr>
              <a:lnSpc>
                <a:spcPct val="150000"/>
              </a:lnSpc>
              <a:buFont typeface="Wingdings" panose="05000000000000000000" pitchFamily="2" charset="2"/>
              <a:buChar char="u"/>
            </a:pPr>
            <a:r>
              <a:rPr lang="zh-CN" altLang="en-US" sz="2400" dirty="0"/>
              <a:t>程序开发</a:t>
            </a:r>
            <a:endParaRPr lang="en-US" altLang="zh-CN" sz="2400" dirty="0"/>
          </a:p>
          <a:p>
            <a:pPr>
              <a:lnSpc>
                <a:spcPct val="150000"/>
              </a:lnSpc>
              <a:buFont typeface="Wingdings" panose="05000000000000000000" pitchFamily="2" charset="2"/>
              <a:buChar char="u"/>
            </a:pPr>
            <a:r>
              <a:rPr lang="zh-CN" altLang="en-US" sz="2400" dirty="0"/>
              <a:t>程序运行</a:t>
            </a:r>
            <a:endParaRPr lang="en-US" altLang="zh-CN" sz="2400" dirty="0"/>
          </a:p>
          <a:p>
            <a:pPr>
              <a:lnSpc>
                <a:spcPct val="150000"/>
              </a:lnSpc>
              <a:buFont typeface="Wingdings" panose="05000000000000000000" pitchFamily="2" charset="2"/>
              <a:buChar char="u"/>
            </a:pPr>
            <a:r>
              <a:rPr lang="en-US" altLang="zh-CN" sz="2400" dirty="0"/>
              <a:t>I/O</a:t>
            </a:r>
            <a:r>
              <a:rPr lang="zh-CN" altLang="en-US" sz="2400" dirty="0"/>
              <a:t>设备访问</a:t>
            </a:r>
            <a:endParaRPr lang="en-US" altLang="zh-CN" sz="2400" dirty="0"/>
          </a:p>
          <a:p>
            <a:pPr>
              <a:lnSpc>
                <a:spcPct val="150000"/>
              </a:lnSpc>
              <a:buFont typeface="Wingdings" panose="05000000000000000000" pitchFamily="2" charset="2"/>
              <a:buChar char="u"/>
            </a:pPr>
            <a:r>
              <a:rPr lang="zh-CN" altLang="en-US" sz="2400" dirty="0"/>
              <a:t>文件访问和控制</a:t>
            </a:r>
            <a:endParaRPr lang="en-US" altLang="zh-CN" sz="2400" dirty="0"/>
          </a:p>
          <a:p>
            <a:pPr>
              <a:lnSpc>
                <a:spcPct val="150000"/>
              </a:lnSpc>
              <a:buFont typeface="Wingdings" panose="05000000000000000000" pitchFamily="2" charset="2"/>
              <a:buChar char="u"/>
            </a:pPr>
            <a:r>
              <a:rPr lang="zh-CN" altLang="en-US" sz="2400" dirty="0"/>
              <a:t>并发控制和系统保护</a:t>
            </a:r>
            <a:endParaRPr lang="en-US" altLang="zh-CN" sz="2400" dirty="0"/>
          </a:p>
          <a:p>
            <a:pPr>
              <a:lnSpc>
                <a:spcPct val="150000"/>
              </a:lnSpc>
              <a:buFont typeface="Wingdings" panose="05000000000000000000" pitchFamily="2" charset="2"/>
              <a:buChar char="u"/>
            </a:pPr>
            <a:r>
              <a:rPr lang="zh-CN" altLang="en-US" sz="2400" dirty="0"/>
              <a:t>错误检测和响应</a:t>
            </a:r>
            <a:endParaRPr lang="en-US" altLang="zh-CN" sz="2400" dirty="0"/>
          </a:p>
          <a:p>
            <a:pPr>
              <a:lnSpc>
                <a:spcPct val="150000"/>
              </a:lnSpc>
              <a:buFont typeface="Wingdings" panose="05000000000000000000" pitchFamily="2" charset="2"/>
              <a:buChar char="u"/>
            </a:pPr>
            <a:r>
              <a:rPr lang="zh-CN" altLang="en-US" sz="2400" dirty="0"/>
              <a:t>日志和记账</a:t>
            </a:r>
            <a:endParaRPr lang="en-US" altLang="zh-CN" sz="2400" dirty="0"/>
          </a:p>
          <a:p>
            <a:pPr>
              <a:lnSpc>
                <a:spcPct val="150000"/>
              </a:lnSpc>
              <a:buFont typeface="Wingdings" panose="05000000000000000000" pitchFamily="2" charset="2"/>
              <a:buChar char="u"/>
            </a:pPr>
            <a:endParaRPr lang="zh-CN" altLang="en-US" sz="2400" dirty="0">
              <a:solidFill>
                <a:srgbClr val="FF0000"/>
              </a:solidFill>
            </a:endParaRPr>
          </a:p>
        </p:txBody>
      </p:sp>
      <p:sp>
        <p:nvSpPr>
          <p:cNvPr id="5" name="TextBox 4"/>
          <p:cNvSpPr txBox="1"/>
          <p:nvPr/>
        </p:nvSpPr>
        <p:spPr>
          <a:xfrm>
            <a:off x="285720" y="1357298"/>
            <a:ext cx="5211683" cy="523220"/>
          </a:xfrm>
          <a:prstGeom prst="rect">
            <a:avLst/>
          </a:prstGeom>
          <a:noFill/>
        </p:spPr>
        <p:txBody>
          <a:bodyPr wrap="none" rtlCol="0">
            <a:spAutoFit/>
          </a:bodyPr>
          <a:lstStyle/>
          <a:p>
            <a:r>
              <a:rPr lang="zh-CN" altLang="en-US" sz="2800" dirty="0">
                <a:solidFill>
                  <a:srgbClr val="FF0000"/>
                </a:solidFill>
                <a:latin typeface="华文中宋" panose="02010600040101010101" pitchFamily="2" charset="-122"/>
                <a:ea typeface="华文中宋" panose="02010600040101010101" pitchFamily="2" charset="-122"/>
              </a:rPr>
              <a:t>可以从三个角度来看待操作系统</a:t>
            </a:r>
            <a:endParaRPr lang="zh-CN" altLang="en-US" sz="2800"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7" name="内容占位符 2"/>
          <p:cNvSpPr>
            <a:spLocks noGrp="1"/>
          </p:cNvSpPr>
          <p:nvPr>
            <p:ph idx="1"/>
          </p:nvPr>
        </p:nvSpPr>
        <p:spPr>
          <a:xfrm>
            <a:off x="214282" y="1428736"/>
            <a:ext cx="8715436" cy="4929222"/>
          </a:xfrm>
          <a:ln w="28575">
            <a:solidFill>
              <a:schemeClr val="tx1"/>
            </a:solidFill>
          </a:ln>
        </p:spPr>
        <p:txBody>
          <a:bodyPr>
            <a:normAutofit/>
          </a:bodyPr>
          <a:lstStyle/>
          <a:p>
            <a:pPr>
              <a:lnSpc>
                <a:spcPct val="150000"/>
              </a:lnSpc>
              <a:buNone/>
            </a:pPr>
            <a:r>
              <a:rPr lang="zh-CN" altLang="en-US" sz="2400" dirty="0"/>
              <a:t>    </a:t>
            </a:r>
            <a:r>
              <a:rPr lang="en-US" altLang="zh-CN" sz="2400" dirty="0">
                <a:solidFill>
                  <a:srgbClr val="FF0000"/>
                </a:solidFill>
              </a:rPr>
              <a:t>2</a:t>
            </a:r>
            <a:r>
              <a:rPr lang="zh-CN" altLang="en-US" sz="2400" dirty="0">
                <a:solidFill>
                  <a:srgbClr val="FF0000"/>
                </a:solidFill>
              </a:rPr>
              <a:t>、从计算资源管理和控制角度来看</a:t>
            </a:r>
            <a:r>
              <a:rPr lang="zh-CN" altLang="en-US" sz="2400" dirty="0"/>
              <a:t>，</a:t>
            </a:r>
            <a:r>
              <a:rPr lang="en-US" altLang="zh-CN" sz="2400" dirty="0"/>
              <a:t>OS</a:t>
            </a:r>
            <a:r>
              <a:rPr lang="zh-CN" altLang="en-US" sz="2400" dirty="0"/>
              <a:t>表现为计算资源的管理者，其核心是</a:t>
            </a:r>
            <a:r>
              <a:rPr lang="zh-CN" altLang="en-US" sz="2400" b="1" dirty="0">
                <a:solidFill>
                  <a:srgbClr val="FF0000"/>
                </a:solidFill>
              </a:rPr>
              <a:t>最优化问题</a:t>
            </a:r>
            <a:r>
              <a:rPr lang="zh-CN" altLang="en-US" sz="2400" dirty="0"/>
              <a:t>，也就是如何在有限资源的约束下，满足每个应用的需求，同时使整个系统的效能达到最优。计算资源包括：</a:t>
            </a:r>
            <a:endParaRPr lang="en-US" altLang="zh-CN" sz="2400" dirty="0"/>
          </a:p>
          <a:p>
            <a:pPr>
              <a:lnSpc>
                <a:spcPct val="150000"/>
              </a:lnSpc>
              <a:buFont typeface="Wingdings" panose="05000000000000000000" pitchFamily="2" charset="2"/>
              <a:buChar char="u"/>
            </a:pPr>
            <a:r>
              <a:rPr lang="zh-CN" altLang="en-US" sz="2400" dirty="0"/>
              <a:t>处理器（</a:t>
            </a:r>
            <a:r>
              <a:rPr lang="en-US" altLang="zh-CN" sz="2400" dirty="0"/>
              <a:t>CPU</a:t>
            </a:r>
            <a:r>
              <a:rPr lang="zh-CN" altLang="en-US" sz="2400" dirty="0"/>
              <a:t>）</a:t>
            </a:r>
            <a:endParaRPr lang="en-US" altLang="zh-CN" sz="2400" dirty="0"/>
          </a:p>
          <a:p>
            <a:pPr>
              <a:lnSpc>
                <a:spcPct val="150000"/>
              </a:lnSpc>
              <a:buFont typeface="Wingdings" panose="05000000000000000000" pitchFamily="2" charset="2"/>
              <a:buChar char="u"/>
            </a:pPr>
            <a:r>
              <a:rPr lang="zh-CN" altLang="en-US" sz="2400" dirty="0"/>
              <a:t>存储资源，包括内存和外存</a:t>
            </a:r>
            <a:endParaRPr lang="en-US" altLang="zh-CN" sz="2400" dirty="0"/>
          </a:p>
          <a:p>
            <a:pPr>
              <a:lnSpc>
                <a:spcPct val="150000"/>
              </a:lnSpc>
              <a:buFont typeface="Wingdings" panose="05000000000000000000" pitchFamily="2" charset="2"/>
              <a:buChar char="u"/>
            </a:pPr>
            <a:r>
              <a:rPr lang="en-US" altLang="zh-CN" sz="2400" dirty="0"/>
              <a:t>I/O</a:t>
            </a:r>
            <a:endParaRPr lang="en-US" altLang="zh-CN" sz="2400" dirty="0"/>
          </a:p>
          <a:p>
            <a:pPr>
              <a:lnSpc>
                <a:spcPct val="150000"/>
              </a:lnSpc>
              <a:buFont typeface="Wingdings" panose="05000000000000000000" pitchFamily="2" charset="2"/>
              <a:buChar char="u"/>
            </a:pPr>
            <a:r>
              <a:rPr lang="zh-CN" altLang="en-US" sz="2400" dirty="0"/>
              <a:t>实用程序、关键数据和文档等软件资源</a:t>
            </a:r>
            <a:endParaRPr lang="en-US" altLang="zh-CN" sz="2400" dirty="0"/>
          </a:p>
          <a:p>
            <a:pPr>
              <a:lnSpc>
                <a:spcPct val="150000"/>
              </a:lnSpc>
              <a:buFont typeface="Wingdings" panose="05000000000000000000" pitchFamily="2" charset="2"/>
              <a:buChar char="u"/>
            </a:pPr>
            <a:endParaRPr lang="en-US" altLang="zh-CN" sz="2400" dirty="0"/>
          </a:p>
          <a:p>
            <a:pPr>
              <a:lnSpc>
                <a:spcPct val="150000"/>
              </a:lnSpc>
              <a:buFont typeface="Wingdings" panose="05000000000000000000" pitchFamily="2" charset="2"/>
              <a:buChar char="u"/>
            </a:pPr>
            <a:endParaRPr lang="zh-CN" altLang="en-US" sz="2400"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内容占位符 2"/>
          <p:cNvSpPr>
            <a:spLocks noGrp="1"/>
          </p:cNvSpPr>
          <p:nvPr>
            <p:ph idx="1"/>
          </p:nvPr>
        </p:nvSpPr>
        <p:spPr>
          <a:xfrm>
            <a:off x="214282" y="1428736"/>
            <a:ext cx="8429684" cy="2357454"/>
          </a:xfrm>
          <a:ln w="28575">
            <a:solidFill>
              <a:schemeClr val="tx1"/>
            </a:solidFill>
          </a:ln>
        </p:spPr>
        <p:txBody>
          <a:bodyPr>
            <a:normAutofit/>
          </a:bodyPr>
          <a:lstStyle/>
          <a:p>
            <a:pPr>
              <a:lnSpc>
                <a:spcPct val="150000"/>
              </a:lnSpc>
              <a:buNone/>
            </a:pPr>
            <a:r>
              <a:rPr lang="en-US" altLang="zh-CN" sz="1800" dirty="0"/>
              <a:t>   OS</a:t>
            </a:r>
            <a:r>
              <a:rPr lang="zh-CN" altLang="en-US" sz="1800" dirty="0"/>
              <a:t>管理和控制计算资源的特殊性表现在：</a:t>
            </a:r>
            <a:endParaRPr lang="en-US" altLang="zh-CN" sz="1800" dirty="0"/>
          </a:p>
          <a:p>
            <a:pPr>
              <a:lnSpc>
                <a:spcPct val="150000"/>
              </a:lnSpc>
              <a:buFont typeface="Wingdings" panose="05000000000000000000" pitchFamily="2" charset="2"/>
              <a:buChar char="u"/>
            </a:pPr>
            <a:r>
              <a:rPr lang="en-US" altLang="zh-CN" sz="1800" dirty="0"/>
              <a:t>OS</a:t>
            </a:r>
            <a:r>
              <a:rPr lang="zh-CN" altLang="en-US" sz="1800" dirty="0"/>
              <a:t>和被管控的应用程序一样，都是软件程序，但操作系统是管理程序的程序，因此是“元程序”（</a:t>
            </a:r>
            <a:r>
              <a:rPr lang="en-US" altLang="zh-CN" sz="1800" dirty="0"/>
              <a:t>Meta program</a:t>
            </a:r>
            <a:r>
              <a:rPr lang="zh-CN" altLang="en-US" sz="1800" dirty="0"/>
              <a:t>）</a:t>
            </a:r>
            <a:endParaRPr lang="en-US" altLang="zh-CN" sz="1800" dirty="0"/>
          </a:p>
          <a:p>
            <a:pPr>
              <a:lnSpc>
                <a:spcPct val="150000"/>
              </a:lnSpc>
              <a:buFont typeface="Wingdings" panose="05000000000000000000" pitchFamily="2" charset="2"/>
              <a:buChar char="u"/>
            </a:pPr>
            <a:r>
              <a:rPr lang="en-US" altLang="zh-CN" sz="1800" dirty="0"/>
              <a:t>OS</a:t>
            </a:r>
            <a:r>
              <a:rPr lang="zh-CN" altLang="en-US" sz="1800" dirty="0"/>
              <a:t>既是资源的管控者，同时也是资源的使用者，它必须耗费和占有计算资源</a:t>
            </a:r>
            <a:endParaRPr lang="en-US" altLang="zh-CN" sz="1800" dirty="0"/>
          </a:p>
          <a:p>
            <a:pPr>
              <a:lnSpc>
                <a:spcPct val="150000"/>
              </a:lnSpc>
              <a:buFont typeface="Wingdings" panose="05000000000000000000" pitchFamily="2" charset="2"/>
              <a:buChar char="u"/>
            </a:pPr>
            <a:r>
              <a:rPr lang="en-US" altLang="zh-CN" sz="1800" dirty="0"/>
              <a:t>OS</a:t>
            </a:r>
            <a:r>
              <a:rPr lang="zh-CN" altLang="en-US" sz="1800" dirty="0"/>
              <a:t>对应用程序的管控是通过对计算资源的掌控和释放来实现的。</a:t>
            </a:r>
            <a:endParaRPr lang="zh-CN" altLang="en-US" sz="1800" dirty="0">
              <a:solidFill>
                <a:srgbClr val="FF0000"/>
              </a:solidFill>
            </a:endParaRPr>
          </a:p>
        </p:txBody>
      </p:sp>
      <p:sp>
        <p:nvSpPr>
          <p:cNvPr id="5939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9393" name="Object 1"/>
          <p:cNvGraphicFramePr>
            <a:graphicFrameLocks noChangeAspect="1"/>
          </p:cNvGraphicFramePr>
          <p:nvPr/>
        </p:nvGraphicFramePr>
        <p:xfrm>
          <a:off x="928662" y="3786190"/>
          <a:ext cx="6686946" cy="2928958"/>
        </p:xfrm>
        <a:graphic>
          <a:graphicData uri="http://schemas.openxmlformats.org/presentationml/2006/ole">
            <mc:AlternateContent xmlns:mc="http://schemas.openxmlformats.org/markup-compatibility/2006">
              <mc:Choice xmlns:v="urn:schemas-microsoft-com:vml" Requires="v">
                <p:oleObj spid="_x0000_s59405" name="Visio" r:id="rId1" imgW="6743700" imgH="2959100" progId="Visio.Drawing.11">
                  <p:embed/>
                </p:oleObj>
              </mc:Choice>
              <mc:Fallback>
                <p:oleObj name="Visio" r:id="rId1" imgW="6743700" imgH="29591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662" y="3786190"/>
                        <a:ext cx="6686946" cy="29289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内容占位符 2"/>
          <p:cNvSpPr>
            <a:spLocks noGrp="1"/>
          </p:cNvSpPr>
          <p:nvPr>
            <p:ph idx="1"/>
          </p:nvPr>
        </p:nvSpPr>
        <p:spPr>
          <a:xfrm>
            <a:off x="428596" y="1785926"/>
            <a:ext cx="8429684" cy="3786214"/>
          </a:xfrm>
          <a:ln w="28575">
            <a:solidFill>
              <a:schemeClr val="tx1"/>
            </a:solidFill>
          </a:ln>
        </p:spPr>
        <p:txBody>
          <a:bodyPr>
            <a:normAutofit fontScale="92500" lnSpcReduction="20000"/>
          </a:bodyPr>
          <a:lstStyle/>
          <a:p>
            <a:pPr>
              <a:lnSpc>
                <a:spcPct val="150000"/>
              </a:lnSpc>
              <a:buNone/>
            </a:pPr>
            <a:r>
              <a:rPr lang="en-US" altLang="zh-CN" sz="1800" dirty="0"/>
              <a:t>   </a:t>
            </a:r>
            <a:r>
              <a:rPr lang="en-US" altLang="zh-CN" sz="2000" dirty="0">
                <a:solidFill>
                  <a:srgbClr val="FF0000"/>
                </a:solidFill>
              </a:rPr>
              <a:t>3</a:t>
            </a:r>
            <a:r>
              <a:rPr lang="zh-CN" altLang="en-US" sz="2000" dirty="0">
                <a:solidFill>
                  <a:srgbClr val="FF0000"/>
                </a:solidFill>
              </a:rPr>
              <a:t>、从计算环境的角度来看</a:t>
            </a:r>
            <a:r>
              <a:rPr lang="zh-CN" altLang="en-US" sz="2000" dirty="0"/>
              <a:t>，</a:t>
            </a:r>
            <a:r>
              <a:rPr lang="en-US" altLang="zh-CN" sz="2000" dirty="0"/>
              <a:t>OS</a:t>
            </a:r>
            <a:r>
              <a:rPr lang="zh-CN" altLang="en-US" sz="2000" dirty="0"/>
              <a:t>为相互独立运行的用户和程序提供隔离的虚拟计算环境，为用户造成自己私人占有整个计算机的假象，使得用户和程序的逻辑独立性得以实现。</a:t>
            </a:r>
            <a:endParaRPr lang="en-US" altLang="zh-CN" sz="2000" dirty="0"/>
          </a:p>
          <a:p>
            <a:pPr>
              <a:lnSpc>
                <a:spcPct val="150000"/>
              </a:lnSpc>
              <a:buNone/>
            </a:pPr>
            <a:r>
              <a:rPr lang="zh-CN" altLang="en-US" sz="2000" dirty="0"/>
              <a:t>    比如，在分时系统中，运用时分复用原理，为每个用户分配周期性时间片资源，如果周期足够小，就会为用户造成好像自己独占计算资源的假象；再如，在目前广泛使用的</a:t>
            </a:r>
            <a:r>
              <a:rPr lang="en-US" sz="2000" dirty="0"/>
              <a:t>Android</a:t>
            </a:r>
            <a:r>
              <a:rPr lang="zh-CN" altLang="en-US" sz="2000" dirty="0"/>
              <a:t>手机操作系统中，每个应用程序都运行在一个</a:t>
            </a:r>
            <a:r>
              <a:rPr lang="en-US" sz="2000" dirty="0" err="1"/>
              <a:t>Dalvik</a:t>
            </a:r>
            <a:r>
              <a:rPr lang="zh-CN" altLang="en-US" sz="2000" dirty="0"/>
              <a:t>虚拟机基础上，使得应用程序相互隔离。当一个程序出错时，错误被限定在自己的计算环境中，不会干扰其它应用程序，从而提高了系统的安全性和可靠性。</a:t>
            </a:r>
            <a:endParaRPr lang="zh-CN" altLang="en-US" sz="2000"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85984" y="0"/>
            <a:ext cx="6858016" cy="1143000"/>
          </a:xfrm>
        </p:spPr>
        <p:txBody>
          <a:bodyPr/>
          <a:lstStyle/>
          <a:p>
            <a:r>
              <a:rPr lang="en-US" altLang="zh-CN" dirty="0"/>
              <a:t>1.2 </a:t>
            </a:r>
            <a:r>
              <a:rPr lang="zh-CN" altLang="en-US" dirty="0"/>
              <a:t>操作系统的发展历史</a:t>
            </a:r>
            <a:endParaRPr lang="zh-CN" altLang="en-US" dirty="0"/>
          </a:p>
        </p:txBody>
      </p:sp>
      <p:sp>
        <p:nvSpPr>
          <p:cNvPr id="4" name="内容占位符 2"/>
          <p:cNvSpPr>
            <a:spLocks noGrp="1"/>
          </p:cNvSpPr>
          <p:nvPr>
            <p:ph idx="1"/>
          </p:nvPr>
        </p:nvSpPr>
        <p:spPr>
          <a:xfrm>
            <a:off x="285720" y="1785926"/>
            <a:ext cx="4143404" cy="3786214"/>
          </a:xfrm>
          <a:ln w="28575">
            <a:solidFill>
              <a:schemeClr val="tx1"/>
            </a:solidFill>
          </a:ln>
        </p:spPr>
        <p:txBody>
          <a:bodyPr>
            <a:normAutofit/>
          </a:bodyPr>
          <a:lstStyle/>
          <a:p>
            <a:pPr>
              <a:lnSpc>
                <a:spcPct val="150000"/>
              </a:lnSpc>
              <a:buNone/>
            </a:pPr>
            <a:r>
              <a:rPr lang="en-US" altLang="zh-CN" sz="1800" dirty="0"/>
              <a:t>   </a:t>
            </a:r>
            <a:r>
              <a:rPr lang="zh-CN" altLang="en-US" sz="1800" dirty="0"/>
              <a:t>操作系统大致经历了这样几个阶段：</a:t>
            </a:r>
            <a:endParaRPr lang="en-US" altLang="zh-CN" sz="1800" dirty="0"/>
          </a:p>
          <a:p>
            <a:pPr>
              <a:lnSpc>
                <a:spcPct val="150000"/>
              </a:lnSpc>
              <a:buFont typeface="Wingdings" panose="05000000000000000000" pitchFamily="2" charset="2"/>
              <a:buChar char="u"/>
            </a:pPr>
            <a:r>
              <a:rPr lang="zh-CN" altLang="en-US" sz="1800" dirty="0">
                <a:solidFill>
                  <a:srgbClr val="FF0000"/>
                </a:solidFill>
              </a:rPr>
              <a:t>串行处理阶段</a:t>
            </a:r>
            <a:endParaRPr lang="en-US" altLang="zh-CN" sz="1800" dirty="0">
              <a:solidFill>
                <a:srgbClr val="FF0000"/>
              </a:solidFill>
            </a:endParaRPr>
          </a:p>
          <a:p>
            <a:pPr>
              <a:lnSpc>
                <a:spcPct val="150000"/>
              </a:lnSpc>
              <a:buFont typeface="Wingdings" panose="05000000000000000000" pitchFamily="2" charset="2"/>
              <a:buChar char="u"/>
            </a:pPr>
            <a:r>
              <a:rPr lang="zh-CN" altLang="en-US" sz="1800" dirty="0">
                <a:solidFill>
                  <a:srgbClr val="FF0000"/>
                </a:solidFill>
              </a:rPr>
              <a:t>简单批处理系统</a:t>
            </a:r>
            <a:endParaRPr lang="en-US" altLang="zh-CN" sz="1800" dirty="0">
              <a:solidFill>
                <a:srgbClr val="FF0000"/>
              </a:solidFill>
            </a:endParaRPr>
          </a:p>
          <a:p>
            <a:pPr>
              <a:lnSpc>
                <a:spcPct val="150000"/>
              </a:lnSpc>
              <a:buFont typeface="Wingdings" panose="05000000000000000000" pitchFamily="2" charset="2"/>
              <a:buChar char="u"/>
            </a:pPr>
            <a:r>
              <a:rPr lang="zh-CN" altLang="en-US" sz="1800" dirty="0">
                <a:solidFill>
                  <a:srgbClr val="FF0000"/>
                </a:solidFill>
              </a:rPr>
              <a:t>多道程序批处理系统</a:t>
            </a:r>
            <a:endParaRPr lang="en-US" altLang="zh-CN" sz="1800" dirty="0">
              <a:solidFill>
                <a:srgbClr val="FF0000"/>
              </a:solidFill>
            </a:endParaRPr>
          </a:p>
          <a:p>
            <a:pPr>
              <a:lnSpc>
                <a:spcPct val="150000"/>
              </a:lnSpc>
              <a:buFont typeface="Wingdings" panose="05000000000000000000" pitchFamily="2" charset="2"/>
              <a:buChar char="u"/>
            </a:pPr>
            <a:r>
              <a:rPr lang="zh-CN" altLang="en-US" sz="1800" dirty="0">
                <a:solidFill>
                  <a:srgbClr val="FF0000"/>
                </a:solidFill>
              </a:rPr>
              <a:t>分时系统</a:t>
            </a:r>
            <a:endParaRPr lang="en-US" altLang="zh-CN" sz="1800" dirty="0">
              <a:solidFill>
                <a:srgbClr val="FF0000"/>
              </a:solidFill>
            </a:endParaRPr>
          </a:p>
          <a:p>
            <a:pPr>
              <a:lnSpc>
                <a:spcPct val="150000"/>
              </a:lnSpc>
              <a:buFont typeface="Wingdings" panose="05000000000000000000" pitchFamily="2" charset="2"/>
              <a:buChar char="u"/>
            </a:pPr>
            <a:r>
              <a:rPr lang="zh-CN" altLang="en-US" sz="1800" dirty="0">
                <a:solidFill>
                  <a:srgbClr val="FF0000"/>
                </a:solidFill>
              </a:rPr>
              <a:t>分布式集群系统</a:t>
            </a:r>
            <a:endParaRPr lang="en-US" altLang="zh-CN" sz="1800" dirty="0">
              <a:solidFill>
                <a:srgbClr val="FF0000"/>
              </a:solidFill>
            </a:endParaRPr>
          </a:p>
          <a:p>
            <a:pPr>
              <a:lnSpc>
                <a:spcPct val="150000"/>
              </a:lnSpc>
              <a:buFont typeface="Wingdings" panose="05000000000000000000" pitchFamily="2" charset="2"/>
              <a:buChar char="u"/>
            </a:pPr>
            <a:r>
              <a:rPr lang="zh-CN" altLang="en-US" sz="1800" dirty="0">
                <a:solidFill>
                  <a:srgbClr val="FF0000"/>
                </a:solidFill>
              </a:rPr>
              <a:t>互联网操作系统</a:t>
            </a:r>
            <a:endParaRPr lang="en-US" altLang="zh-CN" sz="1800" dirty="0">
              <a:solidFill>
                <a:srgbClr val="FF0000"/>
              </a:solidFill>
            </a:endParaRPr>
          </a:p>
          <a:p>
            <a:pPr>
              <a:lnSpc>
                <a:spcPct val="150000"/>
              </a:lnSpc>
              <a:buFont typeface="Wingdings" panose="05000000000000000000" pitchFamily="2" charset="2"/>
              <a:buChar char="u"/>
            </a:pPr>
            <a:r>
              <a:rPr lang="en-US" altLang="zh-CN" sz="1800" dirty="0">
                <a:solidFill>
                  <a:srgbClr val="FF0000"/>
                </a:solidFill>
              </a:rPr>
              <a:t>……</a:t>
            </a:r>
            <a:endParaRPr lang="zh-CN" altLang="en-US" sz="2000" dirty="0">
              <a:solidFill>
                <a:srgbClr val="FF0000"/>
              </a:solidFill>
            </a:endParaRPr>
          </a:p>
        </p:txBody>
      </p:sp>
      <p:pic>
        <p:nvPicPr>
          <p:cNvPr id="5" name="图片 4" descr="E:\操作系统课程\纸带计算机1.jpg"/>
          <p:cNvPicPr/>
          <p:nvPr/>
        </p:nvPicPr>
        <p:blipFill>
          <a:blip r:embed="rId1"/>
          <a:srcRect/>
          <a:stretch>
            <a:fillRect/>
          </a:stretch>
        </p:blipFill>
        <p:spPr bwMode="auto">
          <a:xfrm>
            <a:off x="5014924" y="1357298"/>
            <a:ext cx="3486166" cy="2643206"/>
          </a:xfrm>
          <a:prstGeom prst="rect">
            <a:avLst/>
          </a:prstGeom>
          <a:noFill/>
          <a:ln w="9525">
            <a:noFill/>
            <a:miter lim="800000"/>
            <a:headEnd/>
            <a:tailEnd/>
          </a:ln>
        </p:spPr>
      </p:pic>
      <p:pic>
        <p:nvPicPr>
          <p:cNvPr id="6" name="图片 5" descr="E:\操作系统课程\图库\vax11-780.jpg"/>
          <p:cNvPicPr/>
          <p:nvPr/>
        </p:nvPicPr>
        <p:blipFill>
          <a:blip r:embed="rId2"/>
          <a:srcRect/>
          <a:stretch>
            <a:fillRect/>
          </a:stretch>
        </p:blipFill>
        <p:spPr bwMode="auto">
          <a:xfrm>
            <a:off x="5014924" y="4071942"/>
            <a:ext cx="3486166" cy="2657488"/>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内容占位符 2"/>
          <p:cNvSpPr>
            <a:spLocks noGrp="1"/>
          </p:cNvSpPr>
          <p:nvPr>
            <p:ph idx="1"/>
          </p:nvPr>
        </p:nvSpPr>
        <p:spPr>
          <a:xfrm>
            <a:off x="237090" y="1412776"/>
            <a:ext cx="5072098" cy="5072098"/>
          </a:xfrm>
          <a:ln w="28575">
            <a:solidFill>
              <a:schemeClr val="tx1"/>
            </a:solidFill>
          </a:ln>
        </p:spPr>
        <p:txBody>
          <a:bodyPr>
            <a:normAutofit fontScale="85000" lnSpcReduction="10000"/>
          </a:bodyPr>
          <a:lstStyle/>
          <a:p>
            <a:pPr>
              <a:lnSpc>
                <a:spcPct val="150000"/>
              </a:lnSpc>
              <a:buNone/>
            </a:pPr>
            <a:r>
              <a:rPr lang="en-US" altLang="zh-CN" sz="2000" dirty="0">
                <a:solidFill>
                  <a:srgbClr val="FF0000"/>
                </a:solidFill>
              </a:rPr>
              <a:t>2</a:t>
            </a:r>
            <a:r>
              <a:rPr lang="zh-CN" altLang="en-US" sz="2000" dirty="0">
                <a:solidFill>
                  <a:srgbClr val="FF0000"/>
                </a:solidFill>
              </a:rPr>
              <a:t>、简单批处理系统中出现了</a:t>
            </a:r>
            <a:r>
              <a:rPr lang="en-US" altLang="zh-CN" sz="2000" dirty="0">
                <a:solidFill>
                  <a:srgbClr val="FF0000"/>
                </a:solidFill>
              </a:rPr>
              <a:t>OS</a:t>
            </a:r>
            <a:r>
              <a:rPr lang="zh-CN" altLang="en-US" sz="2000" dirty="0">
                <a:solidFill>
                  <a:srgbClr val="FF0000"/>
                </a:solidFill>
              </a:rPr>
              <a:t>的雏形</a:t>
            </a:r>
            <a:endParaRPr lang="en-US" altLang="zh-CN" sz="2000" dirty="0">
              <a:solidFill>
                <a:srgbClr val="FF0000"/>
              </a:solidFill>
            </a:endParaRPr>
          </a:p>
          <a:p>
            <a:pPr>
              <a:lnSpc>
                <a:spcPct val="150000"/>
              </a:lnSpc>
              <a:buNone/>
            </a:pPr>
            <a:r>
              <a:rPr lang="en-US" altLang="zh-CN" sz="2000" dirty="0"/>
              <a:t>1</a:t>
            </a:r>
            <a:r>
              <a:rPr lang="zh-CN" altLang="en-US" sz="2000" dirty="0"/>
              <a:t>、用户把作业程序（磁带或卡片）提交给计算机操作员</a:t>
            </a:r>
            <a:endParaRPr lang="en-US" altLang="zh-CN" sz="2000" dirty="0"/>
          </a:p>
          <a:p>
            <a:pPr>
              <a:lnSpc>
                <a:spcPct val="150000"/>
              </a:lnSpc>
              <a:buNone/>
            </a:pPr>
            <a:r>
              <a:rPr lang="en-US" altLang="zh-CN" sz="2000" dirty="0"/>
              <a:t>2</a:t>
            </a:r>
            <a:r>
              <a:rPr lang="zh-CN" altLang="en-US" sz="2000" dirty="0"/>
              <a:t>、操作员根据每个作业的步骤要求，通过编写</a:t>
            </a:r>
            <a:r>
              <a:rPr lang="en-US" altLang="zh-CN" sz="2000" dirty="0"/>
              <a:t>JCL</a:t>
            </a:r>
            <a:r>
              <a:rPr lang="zh-CN" altLang="en-US" sz="2000" dirty="0"/>
              <a:t>程序，把所有作业组织成顺序处理任务</a:t>
            </a:r>
            <a:endParaRPr lang="en-US" altLang="zh-CN" sz="2000" dirty="0"/>
          </a:p>
          <a:p>
            <a:pPr>
              <a:lnSpc>
                <a:spcPct val="150000"/>
              </a:lnSpc>
              <a:buNone/>
            </a:pPr>
            <a:r>
              <a:rPr lang="en-US" altLang="zh-CN" sz="2000" dirty="0"/>
              <a:t>3</a:t>
            </a:r>
            <a:r>
              <a:rPr lang="zh-CN" altLang="en-US" sz="2000" dirty="0"/>
              <a:t>、把</a:t>
            </a:r>
            <a:r>
              <a:rPr lang="en-US" altLang="zh-CN" sz="2000" dirty="0"/>
              <a:t>JCL</a:t>
            </a:r>
            <a:r>
              <a:rPr lang="zh-CN" altLang="en-US" sz="2000" dirty="0"/>
              <a:t>程序交给监控程序。监控程序执行</a:t>
            </a:r>
            <a:r>
              <a:rPr lang="en-US" altLang="zh-CN" sz="2000" dirty="0"/>
              <a:t>JCL</a:t>
            </a:r>
            <a:r>
              <a:rPr lang="zh-CN" altLang="en-US" sz="2000" dirty="0"/>
              <a:t>程序，执行每个作业</a:t>
            </a:r>
            <a:endParaRPr lang="en-US" altLang="zh-CN" sz="2000" dirty="0"/>
          </a:p>
          <a:p>
            <a:pPr>
              <a:lnSpc>
                <a:spcPct val="150000"/>
              </a:lnSpc>
              <a:buNone/>
            </a:pPr>
            <a:r>
              <a:rPr lang="en-US" altLang="zh-CN" sz="2000" dirty="0"/>
              <a:t>4</a:t>
            </a:r>
            <a:r>
              <a:rPr lang="zh-CN" altLang="en-US" sz="2000" dirty="0"/>
              <a:t>、监控程序执行一个作业时，把作业调入用户程序区，并把计算资源释放给该作业</a:t>
            </a:r>
            <a:endParaRPr lang="en-US" altLang="zh-CN" sz="2000" dirty="0"/>
          </a:p>
          <a:p>
            <a:pPr>
              <a:lnSpc>
                <a:spcPct val="150000"/>
              </a:lnSpc>
              <a:buNone/>
            </a:pPr>
            <a:r>
              <a:rPr lang="en-US" altLang="zh-CN" sz="2000" dirty="0"/>
              <a:t>5</a:t>
            </a:r>
            <a:r>
              <a:rPr lang="zh-CN" altLang="en-US" sz="2000" dirty="0"/>
              <a:t>、一个作业完成时，通过中断通知给监控程序，由监控程序回收资源，并调入下一个作业，然后又把资源释放给它，让它继续执行。如此循环直到所有作业执行完毕</a:t>
            </a:r>
            <a:endParaRPr lang="zh-CN" altLang="en-US" sz="2000" dirty="0"/>
          </a:p>
        </p:txBody>
      </p:sp>
      <p:sp>
        <p:nvSpPr>
          <p:cNvPr id="70658"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0657" name="Object 1"/>
          <p:cNvGraphicFramePr>
            <a:graphicFrameLocks noChangeAspect="1"/>
          </p:cNvGraphicFramePr>
          <p:nvPr/>
        </p:nvGraphicFramePr>
        <p:xfrm>
          <a:off x="5008418" y="3058105"/>
          <a:ext cx="3898492" cy="3000396"/>
        </p:xfrm>
        <a:graphic>
          <a:graphicData uri="http://schemas.openxmlformats.org/presentationml/2006/ole">
            <mc:AlternateContent xmlns:mc="http://schemas.openxmlformats.org/markup-compatibility/2006">
              <mc:Choice xmlns:v="urn:schemas-microsoft-com:vml" Requires="v">
                <p:oleObj spid="_x0000_s70670" name="Visio" r:id="rId1" imgW="3276600" imgH="2527300" progId="Visio.Drawing.11">
                  <p:embed/>
                </p:oleObj>
              </mc:Choice>
              <mc:Fallback>
                <p:oleObj name="Visio" r:id="rId1" imgW="3276600" imgH="25273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8418" y="3058105"/>
                        <a:ext cx="3898492" cy="30003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文本框 5"/>
          <p:cNvSpPr txBox="1"/>
          <p:nvPr/>
        </p:nvSpPr>
        <p:spPr>
          <a:xfrm>
            <a:off x="5635669" y="1671556"/>
            <a:ext cx="2969083" cy="830997"/>
          </a:xfrm>
          <a:prstGeom prst="rect">
            <a:avLst/>
          </a:prstGeom>
          <a:noFill/>
        </p:spPr>
        <p:txBody>
          <a:bodyPr wrap="none" rtlCol="0">
            <a:spAutoFit/>
          </a:bodyPr>
          <a:lstStyle/>
          <a:p>
            <a:r>
              <a:rPr lang="zh-CN" altLang="en-US" sz="2400" b="1" dirty="0">
                <a:solidFill>
                  <a:srgbClr val="FF0000"/>
                </a:solidFill>
              </a:rPr>
              <a:t>这里有哪三类程序？</a:t>
            </a:r>
            <a:endParaRPr lang="en-US" altLang="zh-CN" sz="2400" b="1" dirty="0">
              <a:solidFill>
                <a:srgbClr val="FF0000"/>
              </a:solidFill>
            </a:endParaRPr>
          </a:p>
          <a:p>
            <a:r>
              <a:rPr lang="zh-CN" altLang="en-US" sz="2400" b="1" dirty="0">
                <a:solidFill>
                  <a:srgbClr val="FF0000"/>
                </a:solidFill>
              </a:rPr>
              <a:t>它们的关系如何？</a:t>
            </a:r>
            <a:endParaRPr lang="zh-CN" altLang="en-US" sz="2400" b="1"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内容占位符 2"/>
          <p:cNvSpPr>
            <a:spLocks noGrp="1"/>
          </p:cNvSpPr>
          <p:nvPr>
            <p:ph idx="1"/>
          </p:nvPr>
        </p:nvSpPr>
        <p:spPr>
          <a:xfrm>
            <a:off x="285720" y="1357298"/>
            <a:ext cx="8715436" cy="2928958"/>
          </a:xfrm>
          <a:ln w="28575">
            <a:solidFill>
              <a:schemeClr val="tx1"/>
            </a:solidFill>
          </a:ln>
        </p:spPr>
        <p:txBody>
          <a:bodyPr>
            <a:normAutofit fontScale="92500"/>
          </a:bodyPr>
          <a:lstStyle/>
          <a:p>
            <a:pPr>
              <a:lnSpc>
                <a:spcPct val="150000"/>
              </a:lnSpc>
              <a:buNone/>
            </a:pPr>
            <a:r>
              <a:rPr lang="en-US" altLang="zh-CN" sz="2000" dirty="0">
                <a:solidFill>
                  <a:srgbClr val="FF0000"/>
                </a:solidFill>
              </a:rPr>
              <a:t>3</a:t>
            </a:r>
            <a:r>
              <a:rPr lang="zh-CN" altLang="en-US" sz="2000" dirty="0">
                <a:solidFill>
                  <a:srgbClr val="FF0000"/>
                </a:solidFill>
              </a:rPr>
              <a:t>、多道程序批处理系统：</a:t>
            </a:r>
            <a:r>
              <a:rPr lang="zh-CN" altLang="en-US" sz="1800" dirty="0"/>
              <a:t>内存中同时存放了多道程序，它们都处于开始与结束点之间。从宏观上看，多道程序并发运行，它们都处于运行过程中，但都未运行结束。从微观上看，多道程序的执行是串行的，各道程序轮流占用处理器，交替执行。</a:t>
            </a:r>
            <a:endParaRPr lang="en-US" altLang="zh-CN" sz="1800" dirty="0"/>
          </a:p>
          <a:p>
            <a:pPr>
              <a:lnSpc>
                <a:spcPct val="150000"/>
              </a:lnSpc>
              <a:buNone/>
            </a:pPr>
            <a:r>
              <a:rPr lang="en-US" altLang="zh-CN" sz="1800" dirty="0"/>
              <a:t>    </a:t>
            </a:r>
            <a:r>
              <a:rPr lang="zh-CN" altLang="en-US" sz="1800" dirty="0"/>
              <a:t>硬件基础：</a:t>
            </a:r>
            <a:endParaRPr lang="en-US" altLang="zh-CN" sz="1800" dirty="0"/>
          </a:p>
          <a:p>
            <a:pPr>
              <a:lnSpc>
                <a:spcPct val="150000"/>
              </a:lnSpc>
              <a:buFont typeface="Wingdings" panose="05000000000000000000" pitchFamily="2" charset="2"/>
              <a:buChar char="u"/>
            </a:pPr>
            <a:r>
              <a:rPr lang="zh-CN" altLang="en-US" sz="1800" dirty="0"/>
              <a:t>中断处理</a:t>
            </a:r>
            <a:r>
              <a:rPr lang="en-US" altLang="zh-CN" sz="1800" dirty="0"/>
              <a:t>——</a:t>
            </a:r>
            <a:r>
              <a:rPr lang="zh-CN" altLang="en-US" sz="1800" dirty="0"/>
              <a:t>使得几个程序在未完成之前可以被打断，从而把执行权切换到其它程序</a:t>
            </a:r>
            <a:endParaRPr lang="en-US" altLang="zh-CN" sz="1800" dirty="0"/>
          </a:p>
          <a:p>
            <a:pPr>
              <a:lnSpc>
                <a:spcPct val="150000"/>
              </a:lnSpc>
              <a:buFont typeface="Wingdings" panose="05000000000000000000" pitchFamily="2" charset="2"/>
              <a:buChar char="u"/>
            </a:pPr>
            <a:r>
              <a:rPr lang="en-US" altLang="zh-CN" sz="1800" dirty="0"/>
              <a:t>I/O</a:t>
            </a:r>
            <a:r>
              <a:rPr lang="zh-CN" altLang="en-US" sz="1800" dirty="0"/>
              <a:t>通道技术</a:t>
            </a:r>
            <a:r>
              <a:rPr lang="en-US" altLang="zh-CN" sz="1800" dirty="0"/>
              <a:t>——</a:t>
            </a:r>
            <a:r>
              <a:rPr lang="zh-CN" altLang="en-US" sz="1800" dirty="0"/>
              <a:t>把复杂的</a:t>
            </a:r>
            <a:r>
              <a:rPr lang="en-US" altLang="zh-CN" sz="1800" dirty="0"/>
              <a:t>I/O</a:t>
            </a:r>
            <a:r>
              <a:rPr lang="zh-CN" altLang="en-US" sz="1800" dirty="0"/>
              <a:t>处理过程代理给通道处理机去执行，从而解放了</a:t>
            </a:r>
            <a:r>
              <a:rPr lang="en-US" altLang="zh-CN" sz="1800" dirty="0"/>
              <a:t>CPU</a:t>
            </a:r>
            <a:endParaRPr lang="en-US" altLang="zh-CN" sz="1800" dirty="0"/>
          </a:p>
          <a:p>
            <a:pPr>
              <a:lnSpc>
                <a:spcPct val="150000"/>
              </a:lnSpc>
              <a:buNone/>
            </a:pPr>
            <a:endParaRPr lang="en-US" altLang="zh-CN" sz="1800" dirty="0">
              <a:solidFill>
                <a:srgbClr val="FF0000"/>
              </a:solidFill>
            </a:endParaRPr>
          </a:p>
        </p:txBody>
      </p:sp>
      <p:sp>
        <p:nvSpPr>
          <p:cNvPr id="5" name="矩形 4"/>
          <p:cNvSpPr/>
          <p:nvPr/>
        </p:nvSpPr>
        <p:spPr>
          <a:xfrm>
            <a:off x="285720" y="4286256"/>
            <a:ext cx="8215370" cy="1938992"/>
          </a:xfrm>
          <a:prstGeom prst="rect">
            <a:avLst/>
          </a:prstGeom>
        </p:spPr>
        <p:txBody>
          <a:bodyPr wrap="square">
            <a:spAutoFit/>
          </a:bodyPr>
          <a:lstStyle/>
          <a:p>
            <a:pPr>
              <a:lnSpc>
                <a:spcPct val="150000"/>
              </a:lnSpc>
            </a:pPr>
            <a:r>
              <a:rPr lang="en-US" altLang="zh-CN" sz="2000" dirty="0">
                <a:latin typeface="华文中宋" panose="02010600040101010101" pitchFamily="2" charset="-122"/>
                <a:ea typeface="华文中宋" panose="02010600040101010101" pitchFamily="2" charset="-122"/>
              </a:rPr>
              <a:t>【</a:t>
            </a:r>
            <a:r>
              <a:rPr lang="zh-CN" altLang="en-US" sz="2000" dirty="0">
                <a:latin typeface="华文中宋" panose="02010600040101010101" pitchFamily="2" charset="-122"/>
                <a:ea typeface="华文中宋" panose="02010600040101010101" pitchFamily="2" charset="-122"/>
              </a:rPr>
              <a:t>例</a:t>
            </a:r>
            <a:r>
              <a:rPr lang="en-US" sz="2000" dirty="0">
                <a:latin typeface="华文中宋" panose="02010600040101010101" pitchFamily="2" charset="-122"/>
                <a:ea typeface="华文中宋" panose="02010600040101010101" pitchFamily="2" charset="-122"/>
              </a:rPr>
              <a:t>1-1</a:t>
            </a:r>
            <a:r>
              <a:rPr lang="en-US" altLang="zh-CN" sz="2000" dirty="0">
                <a:latin typeface="华文中宋" panose="02010600040101010101" pitchFamily="2" charset="-122"/>
                <a:ea typeface="华文中宋" panose="02010600040101010101" pitchFamily="2" charset="-122"/>
              </a:rPr>
              <a:t>】</a:t>
            </a:r>
            <a:r>
              <a:rPr lang="zh-CN" altLang="en-US" sz="2000" dirty="0">
                <a:latin typeface="华文中宋" panose="02010600040101010101" pitchFamily="2" charset="-122"/>
                <a:ea typeface="华文中宋" panose="02010600040101010101" pitchFamily="2" charset="-122"/>
              </a:rPr>
              <a:t>某个数据处理问题</a:t>
            </a:r>
            <a:r>
              <a:rPr lang="en-US" sz="2000" dirty="0">
                <a:latin typeface="华文中宋" panose="02010600040101010101" pitchFamily="2" charset="-122"/>
                <a:ea typeface="华文中宋" panose="02010600040101010101" pitchFamily="2" charset="-122"/>
              </a:rPr>
              <a:t>P1</a:t>
            </a:r>
            <a:r>
              <a:rPr lang="zh-CN" altLang="en-US" sz="2000" dirty="0">
                <a:latin typeface="华文中宋" panose="02010600040101010101" pitchFamily="2" charset="-122"/>
                <a:ea typeface="华文中宋" panose="02010600040101010101" pitchFamily="2" charset="-122"/>
              </a:rPr>
              <a:t>，要求从输入机上输入</a:t>
            </a:r>
            <a:r>
              <a:rPr lang="en-US" sz="2000" dirty="0">
                <a:latin typeface="华文中宋" panose="02010600040101010101" pitchFamily="2" charset="-122"/>
                <a:ea typeface="华文中宋" panose="02010600040101010101" pitchFamily="2" charset="-122"/>
              </a:rPr>
              <a:t>500</a:t>
            </a:r>
            <a:r>
              <a:rPr lang="zh-CN" altLang="en-US" sz="2000" dirty="0">
                <a:latin typeface="华文中宋" panose="02010600040101010101" pitchFamily="2" charset="-122"/>
                <a:ea typeface="华文中宋" panose="02010600040101010101" pitchFamily="2" charset="-122"/>
              </a:rPr>
              <a:t>个字符（花费</a:t>
            </a:r>
            <a:r>
              <a:rPr lang="en-US" sz="2000" dirty="0">
                <a:latin typeface="华文中宋" panose="02010600040101010101" pitchFamily="2" charset="-122"/>
                <a:ea typeface="华文中宋" panose="02010600040101010101" pitchFamily="2" charset="-122"/>
              </a:rPr>
              <a:t>70ms</a:t>
            </a:r>
            <a:r>
              <a:rPr lang="zh-CN" altLang="en-US" sz="2000" dirty="0">
                <a:latin typeface="华文中宋" panose="02010600040101010101" pitchFamily="2" charset="-122"/>
                <a:ea typeface="华文中宋" panose="02010600040101010101" pitchFamily="2" charset="-122"/>
              </a:rPr>
              <a:t>），经处理器处理</a:t>
            </a:r>
            <a:r>
              <a:rPr lang="en-US" sz="2000" dirty="0">
                <a:latin typeface="华文中宋" panose="02010600040101010101" pitchFamily="2" charset="-122"/>
                <a:ea typeface="华文中宋" panose="02010600040101010101" pitchFamily="2" charset="-122"/>
              </a:rPr>
              <a:t>50ms</a:t>
            </a:r>
            <a:r>
              <a:rPr lang="zh-CN" altLang="en-US" sz="2000" dirty="0">
                <a:latin typeface="华文中宋" panose="02010600040101010101" pitchFamily="2" charset="-122"/>
                <a:ea typeface="华文中宋" panose="02010600040101010101" pitchFamily="2" charset="-122"/>
              </a:rPr>
              <a:t>后，将结果的</a:t>
            </a:r>
            <a:r>
              <a:rPr lang="en-US" sz="2000" dirty="0">
                <a:latin typeface="华文中宋" panose="02010600040101010101" pitchFamily="2" charset="-122"/>
                <a:ea typeface="华文中宋" panose="02010600040101010101" pitchFamily="2" charset="-122"/>
              </a:rPr>
              <a:t>2000</a:t>
            </a:r>
            <a:r>
              <a:rPr lang="zh-CN" altLang="en-US" sz="2000" dirty="0">
                <a:latin typeface="华文中宋" panose="02010600040101010101" pitchFamily="2" charset="-122"/>
                <a:ea typeface="华文中宋" panose="02010600040101010101" pitchFamily="2" charset="-122"/>
              </a:rPr>
              <a:t>个字符存到磁带上（花费时间</a:t>
            </a:r>
            <a:r>
              <a:rPr lang="en-US" sz="2000" dirty="0">
                <a:latin typeface="华文中宋" panose="02010600040101010101" pitchFamily="2" charset="-122"/>
                <a:ea typeface="华文中宋" panose="02010600040101010101" pitchFamily="2" charset="-122"/>
              </a:rPr>
              <a:t>100ms</a:t>
            </a:r>
            <a:r>
              <a:rPr lang="zh-CN" altLang="en-US" sz="2000" dirty="0">
                <a:latin typeface="华文中宋" panose="02010600040101010101" pitchFamily="2" charset="-122"/>
                <a:ea typeface="华文中宋" panose="02010600040101010101" pitchFamily="2" charset="-122"/>
              </a:rPr>
              <a:t>），重复这个过程，直至数据全部处理完毕。试计算这个问题中</a:t>
            </a:r>
            <a:r>
              <a:rPr lang="en-US" sz="2000" dirty="0">
                <a:latin typeface="华文中宋" panose="02010600040101010101" pitchFamily="2" charset="-122"/>
                <a:ea typeface="华文中宋" panose="02010600040101010101" pitchFamily="2" charset="-122"/>
              </a:rPr>
              <a:t>CPU</a:t>
            </a:r>
            <a:r>
              <a:rPr lang="zh-CN" altLang="en-US" sz="2000" dirty="0">
                <a:latin typeface="华文中宋" panose="02010600040101010101" pitchFamily="2" charset="-122"/>
                <a:ea typeface="华文中宋" panose="02010600040101010101" pitchFamily="2" charset="-122"/>
              </a:rPr>
              <a:t>的利用率。</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7373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3729" name="Object 1"/>
          <p:cNvGraphicFramePr>
            <a:graphicFrameLocks noChangeAspect="1"/>
          </p:cNvGraphicFramePr>
          <p:nvPr/>
        </p:nvGraphicFramePr>
        <p:xfrm>
          <a:off x="857224" y="1571612"/>
          <a:ext cx="7207731" cy="3071834"/>
        </p:xfrm>
        <a:graphic>
          <a:graphicData uri="http://schemas.openxmlformats.org/presentationml/2006/ole">
            <mc:AlternateContent xmlns:mc="http://schemas.openxmlformats.org/markup-compatibility/2006">
              <mc:Choice xmlns:v="urn:schemas-microsoft-com:vml" Requires="v">
                <p:oleObj spid="_x0000_s73741" name="Visio" r:id="rId1" imgW="5588000" imgH="2387600" progId="Visio.Drawing.11">
                  <p:embed/>
                </p:oleObj>
              </mc:Choice>
              <mc:Fallback>
                <p:oleObj name="Visio" r:id="rId1" imgW="5588000" imgH="23876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24" y="1571612"/>
                        <a:ext cx="7207731" cy="30718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642910" y="4714884"/>
            <a:ext cx="7929618" cy="1938992"/>
          </a:xfrm>
          <a:prstGeom prst="rect">
            <a:avLst/>
          </a:prstGeom>
        </p:spPr>
        <p:txBody>
          <a:bodyPr wrap="square">
            <a:spAutoFit/>
          </a:bodyPr>
          <a:lstStyle/>
          <a:p>
            <a:pPr>
              <a:lnSpc>
                <a:spcPct val="150000"/>
              </a:lnSpc>
            </a:pPr>
            <a:r>
              <a:rPr lang="en-US" sz="2000" dirty="0">
                <a:latin typeface="华文中宋" panose="02010600040101010101" pitchFamily="2" charset="-122"/>
                <a:ea typeface="华文中宋" panose="02010600040101010101" pitchFamily="2" charset="-122"/>
              </a:rPr>
              <a:t>CPU</a:t>
            </a:r>
            <a:r>
              <a:rPr lang="zh-CN" altLang="en-US" sz="2000" dirty="0">
                <a:latin typeface="华文中宋" panose="02010600040101010101" pitchFamily="2" charset="-122"/>
                <a:ea typeface="华文中宋" panose="02010600040101010101" pitchFamily="2" charset="-122"/>
              </a:rPr>
              <a:t>的利用率</a:t>
            </a:r>
            <a:r>
              <a:rPr lang="en-US" sz="2000" dirty="0">
                <a:latin typeface="华文中宋" panose="02010600040101010101" pitchFamily="2" charset="-122"/>
                <a:ea typeface="华文中宋" panose="02010600040101010101" pitchFamily="2" charset="-122"/>
              </a:rPr>
              <a:t>=50/(70+50+100)=23%</a:t>
            </a:r>
            <a:r>
              <a:rPr lang="zh-CN" altLang="en-US" sz="2000" dirty="0">
                <a:latin typeface="华文中宋" panose="02010600040101010101" pitchFamily="2" charset="-122"/>
                <a:ea typeface="华文中宋" panose="02010600040101010101" pitchFamily="2" charset="-122"/>
              </a:rPr>
              <a:t>。可见单道程序运行时</a:t>
            </a:r>
            <a:r>
              <a:rPr lang="en-US" sz="2000" dirty="0">
                <a:latin typeface="华文中宋" panose="02010600040101010101" pitchFamily="2" charset="-122"/>
                <a:ea typeface="华文中宋" panose="02010600040101010101" pitchFamily="2" charset="-122"/>
              </a:rPr>
              <a:t>CPU</a:t>
            </a:r>
            <a:r>
              <a:rPr lang="zh-CN" altLang="en-US" sz="2000" dirty="0">
                <a:latin typeface="华文中宋" panose="02010600040101010101" pitchFamily="2" charset="-122"/>
                <a:ea typeface="华文中宋" panose="02010600040101010101" pitchFamily="2" charset="-122"/>
              </a:rPr>
              <a:t>的利用率较低，主要原因是</a:t>
            </a:r>
            <a:r>
              <a:rPr lang="en-US" sz="2000" dirty="0">
                <a:latin typeface="华文中宋" panose="02010600040101010101" pitchFamily="2" charset="-122"/>
                <a:ea typeface="华文中宋" panose="02010600040101010101" pitchFamily="2" charset="-122"/>
              </a:rPr>
              <a:t>I/O</a:t>
            </a:r>
            <a:r>
              <a:rPr lang="zh-CN" altLang="en-US" sz="2000" dirty="0">
                <a:latin typeface="华文中宋" panose="02010600040101010101" pitchFamily="2" charset="-122"/>
                <a:ea typeface="华文中宋" panose="02010600040101010101" pitchFamily="2" charset="-122"/>
              </a:rPr>
              <a:t>的执行速度远低于</a:t>
            </a:r>
            <a:r>
              <a:rPr lang="en-US" sz="2000" dirty="0">
                <a:latin typeface="华文中宋" panose="02010600040101010101" pitchFamily="2" charset="-122"/>
                <a:ea typeface="华文中宋" panose="02010600040101010101" pitchFamily="2" charset="-122"/>
              </a:rPr>
              <a:t>CPU</a:t>
            </a:r>
            <a:r>
              <a:rPr lang="zh-CN" altLang="en-US" sz="2000" dirty="0">
                <a:latin typeface="华文中宋" panose="02010600040101010101" pitchFamily="2" charset="-122"/>
                <a:ea typeface="华文中宋" panose="02010600040101010101" pitchFamily="2" charset="-122"/>
              </a:rPr>
              <a:t>的执行速度，使得</a:t>
            </a:r>
            <a:r>
              <a:rPr lang="en-US" sz="2000" dirty="0">
                <a:latin typeface="华文中宋" panose="02010600040101010101" pitchFamily="2" charset="-122"/>
                <a:ea typeface="华文中宋" panose="02010600040101010101" pitchFamily="2" charset="-122"/>
              </a:rPr>
              <a:t>CPU</a:t>
            </a:r>
            <a:r>
              <a:rPr lang="zh-CN" altLang="en-US" sz="2000" dirty="0">
                <a:latin typeface="华文中宋" panose="02010600040101010101" pitchFamily="2" charset="-122"/>
                <a:ea typeface="华文中宋" panose="02010600040101010101" pitchFamily="2" charset="-122"/>
              </a:rPr>
              <a:t>大部分时间都处于等待</a:t>
            </a:r>
            <a:r>
              <a:rPr lang="en-US" sz="2000" dirty="0">
                <a:latin typeface="华文中宋" panose="02010600040101010101" pitchFamily="2" charset="-122"/>
                <a:ea typeface="华文中宋" panose="02010600040101010101" pitchFamily="2" charset="-122"/>
              </a:rPr>
              <a:t>I/O</a:t>
            </a:r>
            <a:r>
              <a:rPr lang="zh-CN" altLang="en-US" sz="2000" dirty="0">
                <a:latin typeface="华文中宋" panose="02010600040101010101" pitchFamily="2" charset="-122"/>
                <a:ea typeface="华文中宋" panose="02010600040101010101" pitchFamily="2" charset="-122"/>
              </a:rPr>
              <a:t>完成的状态，宝贵的</a:t>
            </a:r>
            <a:r>
              <a:rPr lang="en-US" sz="2000" dirty="0">
                <a:latin typeface="华文中宋" panose="02010600040101010101" pitchFamily="2" charset="-122"/>
                <a:ea typeface="华文中宋" panose="02010600040101010101" pitchFamily="2" charset="-122"/>
              </a:rPr>
              <a:t>CPU</a:t>
            </a:r>
            <a:r>
              <a:rPr lang="zh-CN" altLang="en-US" sz="2000" dirty="0">
                <a:latin typeface="华文中宋" panose="02010600040101010101" pitchFamily="2" charset="-122"/>
                <a:ea typeface="华文中宋" panose="02010600040101010101" pitchFamily="2" charset="-122"/>
              </a:rPr>
              <a:t>资源被浪费了。</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75777" name="Rectangle 1"/>
          <p:cNvSpPr>
            <a:spLocks noChangeArrowheads="1"/>
          </p:cNvSpPr>
          <p:nvPr/>
        </p:nvSpPr>
        <p:spPr bwMode="auto">
          <a:xfrm>
            <a:off x="285720" y="1428736"/>
            <a:ext cx="8643966" cy="1477328"/>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例</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1-2】</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在图</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1-5</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中，假定程序</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B</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和</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的运行模式是相同的，在一个周期内运行时间为</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50ms</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，输入输出的时间（即等待时间）为</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100ms</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。试计算单道、两道和三道程序运行时，</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CPU</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的利用率。</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75779" name="Rectangle 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5778" name="Object 2"/>
          <p:cNvGraphicFramePr>
            <a:graphicFrameLocks noChangeAspect="1"/>
          </p:cNvGraphicFramePr>
          <p:nvPr/>
        </p:nvGraphicFramePr>
        <p:xfrm>
          <a:off x="357158" y="3000372"/>
          <a:ext cx="8161272" cy="3643338"/>
        </p:xfrm>
        <a:graphic>
          <a:graphicData uri="http://schemas.openxmlformats.org/presentationml/2006/ole">
            <mc:AlternateContent xmlns:mc="http://schemas.openxmlformats.org/markup-compatibility/2006">
              <mc:Choice xmlns:v="urn:schemas-microsoft-com:vml" Requires="v">
                <p:oleObj spid="_x0000_s75790" name="Visio" r:id="rId1" imgW="7416800" imgH="3327400" progId="Visio.Drawing.11">
                  <p:embed/>
                </p:oleObj>
              </mc:Choice>
              <mc:Fallback>
                <p:oleObj name="Visio" r:id="rId1" imgW="7416800" imgH="3327400" progId="Visio.Drawing.11">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58" y="3000372"/>
                        <a:ext cx="8161272" cy="3643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571472" y="2500306"/>
            <a:ext cx="8286808" cy="2123658"/>
          </a:xfrm>
          <a:prstGeom prst="rect">
            <a:avLst/>
          </a:prstGeom>
          <a:ln w="28575">
            <a:solidFill>
              <a:schemeClr val="tx1"/>
            </a:solidFill>
          </a:ln>
        </p:spPr>
        <p:txBody>
          <a:bodyPr wrap="square">
            <a:spAutoFit/>
          </a:bodyPr>
          <a:lstStyle/>
          <a:p>
            <a:pPr>
              <a:lnSpc>
                <a:spcPct val="150000"/>
              </a:lnSpc>
            </a:pPr>
            <a:r>
              <a:rPr lang="zh-CN" altLang="en-US" sz="2800" dirty="0">
                <a:solidFill>
                  <a:srgbClr val="FF0000"/>
                </a:solidFill>
                <a:latin typeface="华文中宋" panose="02010600040101010101" pitchFamily="2" charset="-122"/>
                <a:ea typeface="华文中宋" panose="02010600040101010101" pitchFamily="2" charset="-122"/>
              </a:rPr>
              <a:t>调度问题：</a:t>
            </a:r>
            <a:endParaRPr lang="en-US" altLang="zh-CN" sz="2800" dirty="0">
              <a:solidFill>
                <a:srgbClr val="FF0000"/>
              </a:solidFill>
              <a:latin typeface="华文中宋" panose="02010600040101010101" pitchFamily="2" charset="-122"/>
              <a:ea typeface="华文中宋" panose="02010600040101010101" pitchFamily="2" charset="-122"/>
            </a:endParaRPr>
          </a:p>
          <a:p>
            <a:pPr>
              <a:lnSpc>
                <a:spcPct val="150000"/>
              </a:lnSpc>
            </a:pPr>
            <a:r>
              <a:rPr lang="zh-CN" altLang="en-US" sz="2000">
                <a:latin typeface="华文中宋" panose="02010600040101010101" pitchFamily="2" charset="-122"/>
                <a:ea typeface="华文中宋" panose="02010600040101010101" pitchFamily="2" charset="-122"/>
              </a:rPr>
              <a:t>   </a:t>
            </a:r>
            <a:r>
              <a:rPr lang="zh-CN" altLang="en-US" sz="2000" smtClean="0">
                <a:latin typeface="华文中宋" panose="02010600040101010101" pitchFamily="2" charset="-122"/>
                <a:ea typeface="华文中宋" panose="02010600040101010101" pitchFamily="2" charset="-122"/>
              </a:rPr>
              <a:t> </a:t>
            </a:r>
            <a:r>
              <a:rPr lang="zh-CN" altLang="en-US" sz="2000" dirty="0">
                <a:latin typeface="华文中宋" panose="02010600040101010101" pitchFamily="2" charset="-122"/>
                <a:ea typeface="华文中宋" panose="02010600040101010101" pitchFamily="2" charset="-122"/>
              </a:rPr>
              <a:t>一般的，给定一个作业集合</a:t>
            </a:r>
            <a:r>
              <a:rPr lang="en-US" sz="2000" i="1" dirty="0">
                <a:latin typeface="华文中宋" panose="02010600040101010101" pitchFamily="2" charset="-122"/>
                <a:ea typeface="华文中宋" panose="02010600040101010101" pitchFamily="2" charset="-122"/>
              </a:rPr>
              <a:t>J </a:t>
            </a:r>
            <a:r>
              <a:rPr lang="zh-CN" altLang="en-US" sz="2000" dirty="0">
                <a:latin typeface="华文中宋" panose="02010600040101010101" pitchFamily="2" charset="-122"/>
                <a:ea typeface="华文中宋" panose="02010600040101010101" pitchFamily="2" charset="-122"/>
              </a:rPr>
              <a:t>以及资源约束条件</a:t>
            </a:r>
            <a:r>
              <a:rPr lang="en-US" sz="2000" i="1" dirty="0">
                <a:latin typeface="华文中宋" panose="02010600040101010101" pitchFamily="2" charset="-122"/>
                <a:ea typeface="华文中宋" panose="02010600040101010101" pitchFamily="2" charset="-122"/>
              </a:rPr>
              <a:t>C</a:t>
            </a:r>
            <a:r>
              <a:rPr lang="zh-CN" altLang="en-US" sz="2000" dirty="0">
                <a:latin typeface="华文中宋" panose="02010600040101010101" pitchFamily="2" charset="-122"/>
                <a:ea typeface="华文中宋" panose="02010600040101010101" pitchFamily="2" charset="-122"/>
              </a:rPr>
              <a:t>。如果</a:t>
            </a:r>
            <a:r>
              <a:rPr lang="en-US" sz="2000" i="1" dirty="0">
                <a:latin typeface="华文中宋" panose="02010600040101010101" pitchFamily="2" charset="-122"/>
                <a:ea typeface="华文中宋" panose="02010600040101010101" pitchFamily="2" charset="-122"/>
              </a:rPr>
              <a:t>S</a:t>
            </a:r>
            <a:r>
              <a:rPr lang="zh-CN" altLang="en-US" sz="2000" dirty="0">
                <a:latin typeface="华文中宋" panose="02010600040101010101" pitchFamily="2" charset="-122"/>
                <a:ea typeface="华文中宋" panose="02010600040101010101" pitchFamily="2" charset="-122"/>
              </a:rPr>
              <a:t>是对</a:t>
            </a:r>
            <a:r>
              <a:rPr lang="en-US" sz="2000" i="1" dirty="0">
                <a:latin typeface="华文中宋" panose="02010600040101010101" pitchFamily="2" charset="-122"/>
                <a:ea typeface="华文中宋" panose="02010600040101010101" pitchFamily="2" charset="-122"/>
              </a:rPr>
              <a:t>J</a:t>
            </a:r>
            <a:r>
              <a:rPr lang="zh-CN" altLang="en-US" sz="2000" dirty="0">
                <a:latin typeface="华文中宋" panose="02010600040101010101" pitchFamily="2" charset="-122"/>
                <a:ea typeface="华文中宋" panose="02010600040101010101" pitchFamily="2" charset="-122"/>
              </a:rPr>
              <a:t>中作业执行的一个编排，并且满足资源约束</a:t>
            </a:r>
            <a:r>
              <a:rPr lang="en-US" sz="2000" i="1" dirty="0">
                <a:latin typeface="华文中宋" panose="02010600040101010101" pitchFamily="2" charset="-122"/>
                <a:ea typeface="华文中宋" panose="02010600040101010101" pitchFamily="2" charset="-122"/>
              </a:rPr>
              <a:t>C</a:t>
            </a:r>
            <a:r>
              <a:rPr lang="zh-CN" altLang="en-US" sz="2000" dirty="0">
                <a:latin typeface="华文中宋" panose="02010600040101010101" pitchFamily="2" charset="-122"/>
                <a:ea typeface="华文中宋" panose="02010600040101010101" pitchFamily="2" charset="-122"/>
              </a:rPr>
              <a:t>，那么称</a:t>
            </a:r>
            <a:r>
              <a:rPr lang="en-US" sz="2000" i="1" dirty="0">
                <a:latin typeface="华文中宋" panose="02010600040101010101" pitchFamily="2" charset="-122"/>
                <a:ea typeface="华文中宋" panose="02010600040101010101" pitchFamily="2" charset="-122"/>
              </a:rPr>
              <a:t>S</a:t>
            </a:r>
            <a:r>
              <a:rPr lang="zh-CN" altLang="en-US" sz="2000" dirty="0">
                <a:latin typeface="华文中宋" panose="02010600040101010101" pitchFamily="2" charset="-122"/>
                <a:ea typeface="华文中宋" panose="02010600040101010101" pitchFamily="2" charset="-122"/>
              </a:rPr>
              <a:t>为作业集合</a:t>
            </a:r>
            <a:r>
              <a:rPr lang="en-US" sz="2000" i="1" dirty="0">
                <a:latin typeface="华文中宋" panose="02010600040101010101" pitchFamily="2" charset="-122"/>
                <a:ea typeface="华文中宋" panose="02010600040101010101" pitchFamily="2" charset="-122"/>
              </a:rPr>
              <a:t>J</a:t>
            </a:r>
            <a:r>
              <a:rPr lang="zh-CN" altLang="en-US" sz="2000" dirty="0">
                <a:latin typeface="华文中宋" panose="02010600040101010101" pitchFamily="2" charset="-122"/>
                <a:ea typeface="华文中宋" panose="02010600040101010101" pitchFamily="2" charset="-122"/>
              </a:rPr>
              <a:t>上的一个</a:t>
            </a:r>
            <a:r>
              <a:rPr lang="zh-CN" altLang="en-US" sz="2000" b="1" dirty="0">
                <a:solidFill>
                  <a:srgbClr val="FF0000"/>
                </a:solidFill>
                <a:latin typeface="华文中宋" panose="02010600040101010101" pitchFamily="2" charset="-122"/>
                <a:ea typeface="华文中宋" panose="02010600040101010101" pitchFamily="2" charset="-122"/>
              </a:rPr>
              <a:t>调度</a:t>
            </a:r>
            <a:r>
              <a:rPr lang="zh-CN" altLang="en-US" sz="2000" dirty="0">
                <a:latin typeface="华文中宋" panose="02010600040101010101" pitchFamily="2" charset="-122"/>
                <a:ea typeface="华文中宋" panose="02010600040101010101" pitchFamily="2" charset="-122"/>
              </a:rPr>
              <a:t>（</a:t>
            </a:r>
            <a:r>
              <a:rPr lang="en-US" sz="2000" dirty="0">
                <a:latin typeface="华文中宋" panose="02010600040101010101" pitchFamily="2" charset="-122"/>
                <a:ea typeface="华文中宋" panose="02010600040101010101" pitchFamily="2" charset="-122"/>
              </a:rPr>
              <a:t>Schedule</a:t>
            </a:r>
            <a:r>
              <a:rPr lang="zh-CN" altLang="en-US" sz="2000" dirty="0">
                <a:latin typeface="华文中宋" panose="02010600040101010101" pitchFamily="2" charset="-122"/>
                <a:ea typeface="华文中宋" panose="02010600040101010101" pitchFamily="2" charset="-122"/>
              </a:rPr>
              <a:t>）。</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428596" y="2928934"/>
          <a:ext cx="8501121" cy="3393898"/>
        </p:xfrm>
        <a:graphic>
          <a:graphicData uri="http://schemas.openxmlformats.org/drawingml/2006/table">
            <a:tbl>
              <a:tblPr/>
              <a:tblGrid>
                <a:gridCol w="1699825"/>
                <a:gridCol w="1699825"/>
                <a:gridCol w="1699825"/>
                <a:gridCol w="1700823"/>
                <a:gridCol w="1700823"/>
              </a:tblGrid>
              <a:tr h="920318">
                <a:tc>
                  <a:txBody>
                    <a:bodyPr/>
                    <a:lstStyle/>
                    <a:p>
                      <a:pPr algn="just">
                        <a:lnSpc>
                          <a:spcPct val="150000"/>
                        </a:lnSpc>
                        <a:spcAft>
                          <a:spcPts val="0"/>
                        </a:spcAft>
                      </a:pPr>
                      <a:r>
                        <a:rPr lang="zh-CN" sz="2000" kern="100" dirty="0">
                          <a:latin typeface="Times New Roman" panose="02020603050405020304"/>
                          <a:ea typeface="宋体" panose="02010600030101010101" pitchFamily="2" charset="-122"/>
                          <a:cs typeface="Times New Roman" panose="02020603050405020304"/>
                        </a:rPr>
                        <a:t>作业</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2000" kern="100">
                          <a:latin typeface="Times New Roman" panose="02020603050405020304"/>
                          <a:ea typeface="宋体" panose="02010600030101010101" pitchFamily="2" charset="-122"/>
                          <a:cs typeface="Times New Roman" panose="02020603050405020304"/>
                        </a:rPr>
                        <a:t>进入时间</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2000" kern="100">
                          <a:latin typeface="Times New Roman" panose="02020603050405020304"/>
                          <a:ea typeface="宋体" panose="02010600030101010101" pitchFamily="2" charset="-122"/>
                          <a:cs typeface="Times New Roman" panose="02020603050405020304"/>
                        </a:rPr>
                        <a:t>估计运行时间</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2000" kern="100">
                          <a:latin typeface="Times New Roman" panose="02020603050405020304"/>
                          <a:ea typeface="宋体" panose="02010600030101010101" pitchFamily="2" charset="-122"/>
                          <a:cs typeface="Times New Roman" panose="02020603050405020304"/>
                        </a:rPr>
                        <a:t>内存需求</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2000" kern="100" dirty="0">
                          <a:latin typeface="Times New Roman" panose="02020603050405020304"/>
                          <a:ea typeface="宋体" panose="02010600030101010101" pitchFamily="2" charset="-122"/>
                          <a:cs typeface="Times New Roman" panose="02020603050405020304"/>
                        </a:rPr>
                        <a:t>磁带机需求</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4716">
                <a:tc>
                  <a:txBody>
                    <a:bodyPr/>
                    <a:lstStyle/>
                    <a:p>
                      <a:pPr algn="just">
                        <a:lnSpc>
                          <a:spcPct val="150000"/>
                        </a:lnSpc>
                        <a:spcAft>
                          <a:spcPts val="0"/>
                        </a:spcAft>
                      </a:pPr>
                      <a:r>
                        <a:rPr lang="en-US" sz="2000" b="1" kern="100" dirty="0">
                          <a:latin typeface="Times New Roman" panose="02020603050405020304"/>
                          <a:ea typeface="宋体" panose="02010600030101010101" pitchFamily="2" charset="-122"/>
                          <a:cs typeface="Times New Roman" panose="02020603050405020304"/>
                        </a:rPr>
                        <a:t>J1</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dirty="0">
                          <a:latin typeface="Times New Roman" panose="02020603050405020304"/>
                          <a:ea typeface="宋体" panose="02010600030101010101" pitchFamily="2" charset="-122"/>
                          <a:cs typeface="Times New Roman" panose="02020603050405020304"/>
                        </a:rPr>
                        <a:t>10:00</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dirty="0">
                          <a:latin typeface="Times New Roman" panose="02020603050405020304"/>
                          <a:ea typeface="宋体" panose="02010600030101010101" pitchFamily="2" charset="-122"/>
                          <a:cs typeface="Times New Roman" panose="02020603050405020304"/>
                        </a:rPr>
                        <a:t>25min</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a:latin typeface="Times New Roman" panose="02020603050405020304"/>
                          <a:ea typeface="宋体" panose="02010600030101010101" pitchFamily="2" charset="-122"/>
                          <a:cs typeface="Times New Roman" panose="02020603050405020304"/>
                        </a:rPr>
                        <a:t>15K</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a:latin typeface="Times New Roman" panose="02020603050405020304"/>
                          <a:ea typeface="宋体" panose="02010600030101010101" pitchFamily="2" charset="-122"/>
                          <a:cs typeface="Times New Roman" panose="02020603050405020304"/>
                        </a:rPr>
                        <a:t>2</a:t>
                      </a:r>
                      <a:r>
                        <a:rPr lang="zh-CN" sz="2000" b="1" kern="100">
                          <a:latin typeface="Times New Roman" panose="02020603050405020304"/>
                          <a:ea typeface="宋体" panose="02010600030101010101" pitchFamily="2" charset="-122"/>
                          <a:cs typeface="Times New Roman" panose="02020603050405020304"/>
                        </a:rPr>
                        <a:t>台</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4716">
                <a:tc>
                  <a:txBody>
                    <a:bodyPr/>
                    <a:lstStyle/>
                    <a:p>
                      <a:pPr algn="just">
                        <a:lnSpc>
                          <a:spcPct val="150000"/>
                        </a:lnSpc>
                        <a:spcAft>
                          <a:spcPts val="0"/>
                        </a:spcAft>
                      </a:pPr>
                      <a:r>
                        <a:rPr lang="en-US" sz="2000" b="1" kern="100">
                          <a:latin typeface="Times New Roman" panose="02020603050405020304"/>
                          <a:ea typeface="宋体" panose="02010600030101010101" pitchFamily="2" charset="-122"/>
                          <a:cs typeface="Times New Roman" panose="02020603050405020304"/>
                        </a:rPr>
                        <a:t>J2</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a:latin typeface="Times New Roman" panose="02020603050405020304"/>
                          <a:ea typeface="宋体" panose="02010600030101010101" pitchFamily="2" charset="-122"/>
                          <a:cs typeface="Times New Roman" panose="02020603050405020304"/>
                        </a:rPr>
                        <a:t>10:20</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dirty="0">
                          <a:latin typeface="Times New Roman" panose="02020603050405020304"/>
                          <a:ea typeface="宋体" panose="02010600030101010101" pitchFamily="2" charset="-122"/>
                          <a:cs typeface="Times New Roman" panose="02020603050405020304"/>
                        </a:rPr>
                        <a:t>30min</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dirty="0">
                          <a:latin typeface="Times New Roman" panose="02020603050405020304"/>
                          <a:ea typeface="宋体" panose="02010600030101010101" pitchFamily="2" charset="-122"/>
                          <a:cs typeface="Times New Roman" panose="02020603050405020304"/>
                        </a:rPr>
                        <a:t>60K</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a:latin typeface="Times New Roman" panose="02020603050405020304"/>
                          <a:ea typeface="宋体" panose="02010600030101010101" pitchFamily="2" charset="-122"/>
                          <a:cs typeface="Times New Roman" panose="02020603050405020304"/>
                        </a:rPr>
                        <a:t>1</a:t>
                      </a:r>
                      <a:r>
                        <a:rPr lang="zh-CN" sz="2000" b="1" kern="100">
                          <a:latin typeface="Times New Roman" panose="02020603050405020304"/>
                          <a:ea typeface="宋体" panose="02010600030101010101" pitchFamily="2" charset="-122"/>
                          <a:cs typeface="Times New Roman" panose="02020603050405020304"/>
                        </a:rPr>
                        <a:t>台</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4716">
                <a:tc>
                  <a:txBody>
                    <a:bodyPr/>
                    <a:lstStyle/>
                    <a:p>
                      <a:pPr algn="just">
                        <a:lnSpc>
                          <a:spcPct val="150000"/>
                        </a:lnSpc>
                        <a:spcAft>
                          <a:spcPts val="0"/>
                        </a:spcAft>
                      </a:pPr>
                      <a:r>
                        <a:rPr lang="en-US" sz="2000" b="1" kern="100">
                          <a:latin typeface="Times New Roman" panose="02020603050405020304"/>
                          <a:ea typeface="宋体" panose="02010600030101010101" pitchFamily="2" charset="-122"/>
                          <a:cs typeface="Times New Roman" panose="02020603050405020304"/>
                        </a:rPr>
                        <a:t>J3</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a:latin typeface="Times New Roman" panose="02020603050405020304"/>
                          <a:ea typeface="宋体" panose="02010600030101010101" pitchFamily="2" charset="-122"/>
                          <a:cs typeface="Times New Roman" panose="02020603050405020304"/>
                        </a:rPr>
                        <a:t>10:30</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a:latin typeface="Times New Roman" panose="02020603050405020304"/>
                          <a:ea typeface="宋体" panose="02010600030101010101" pitchFamily="2" charset="-122"/>
                          <a:cs typeface="Times New Roman" panose="02020603050405020304"/>
                        </a:rPr>
                        <a:t>10min</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dirty="0">
                          <a:latin typeface="Times New Roman" panose="02020603050405020304"/>
                          <a:ea typeface="宋体" panose="02010600030101010101" pitchFamily="2" charset="-122"/>
                          <a:cs typeface="Times New Roman" panose="02020603050405020304"/>
                        </a:rPr>
                        <a:t>50K</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dirty="0">
                          <a:latin typeface="Times New Roman" panose="02020603050405020304"/>
                          <a:ea typeface="宋体" panose="02010600030101010101" pitchFamily="2" charset="-122"/>
                          <a:cs typeface="Times New Roman" panose="02020603050405020304"/>
                        </a:rPr>
                        <a:t>3</a:t>
                      </a:r>
                      <a:r>
                        <a:rPr lang="zh-CN" sz="2000" b="1" kern="100" dirty="0">
                          <a:latin typeface="Times New Roman" panose="02020603050405020304"/>
                          <a:ea typeface="宋体" panose="02010600030101010101" pitchFamily="2" charset="-122"/>
                          <a:cs typeface="Times New Roman" panose="02020603050405020304"/>
                        </a:rPr>
                        <a:t>台</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4716">
                <a:tc>
                  <a:txBody>
                    <a:bodyPr/>
                    <a:lstStyle/>
                    <a:p>
                      <a:pPr algn="just">
                        <a:lnSpc>
                          <a:spcPct val="150000"/>
                        </a:lnSpc>
                        <a:spcAft>
                          <a:spcPts val="0"/>
                        </a:spcAft>
                      </a:pPr>
                      <a:r>
                        <a:rPr lang="en-US" sz="2000" b="1" kern="100">
                          <a:latin typeface="Times New Roman" panose="02020603050405020304"/>
                          <a:ea typeface="宋体" panose="02010600030101010101" pitchFamily="2" charset="-122"/>
                          <a:cs typeface="Times New Roman" panose="02020603050405020304"/>
                        </a:rPr>
                        <a:t>J4</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a:latin typeface="Times New Roman" panose="02020603050405020304"/>
                          <a:ea typeface="宋体" panose="02010600030101010101" pitchFamily="2" charset="-122"/>
                          <a:cs typeface="Times New Roman" panose="02020603050405020304"/>
                        </a:rPr>
                        <a:t>10:35</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a:latin typeface="Times New Roman" panose="02020603050405020304"/>
                          <a:ea typeface="宋体" panose="02010600030101010101" pitchFamily="2" charset="-122"/>
                          <a:cs typeface="Times New Roman" panose="02020603050405020304"/>
                        </a:rPr>
                        <a:t>20min</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a:latin typeface="Times New Roman" panose="02020603050405020304"/>
                          <a:ea typeface="宋体" panose="02010600030101010101" pitchFamily="2" charset="-122"/>
                          <a:cs typeface="Times New Roman" panose="02020603050405020304"/>
                        </a:rPr>
                        <a:t>10K</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dirty="0">
                          <a:latin typeface="Times New Roman" panose="02020603050405020304"/>
                          <a:ea typeface="宋体" panose="02010600030101010101" pitchFamily="2" charset="-122"/>
                          <a:cs typeface="Times New Roman" panose="02020603050405020304"/>
                        </a:rPr>
                        <a:t>2</a:t>
                      </a:r>
                      <a:r>
                        <a:rPr lang="zh-CN" sz="2000" b="1" kern="100" dirty="0">
                          <a:latin typeface="Times New Roman" panose="02020603050405020304"/>
                          <a:ea typeface="宋体" panose="02010600030101010101" pitchFamily="2" charset="-122"/>
                          <a:cs typeface="Times New Roman" panose="02020603050405020304"/>
                        </a:rPr>
                        <a:t>台</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4716">
                <a:tc>
                  <a:txBody>
                    <a:bodyPr/>
                    <a:lstStyle/>
                    <a:p>
                      <a:pPr algn="just">
                        <a:lnSpc>
                          <a:spcPct val="150000"/>
                        </a:lnSpc>
                        <a:spcAft>
                          <a:spcPts val="0"/>
                        </a:spcAft>
                      </a:pPr>
                      <a:r>
                        <a:rPr lang="en-US" sz="2000" b="1" kern="100">
                          <a:latin typeface="Times New Roman" panose="02020603050405020304"/>
                          <a:ea typeface="宋体" panose="02010600030101010101" pitchFamily="2" charset="-122"/>
                          <a:cs typeface="Times New Roman" panose="02020603050405020304"/>
                        </a:rPr>
                        <a:t>J5</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a:latin typeface="Times New Roman" panose="02020603050405020304"/>
                          <a:ea typeface="宋体" panose="02010600030101010101" pitchFamily="2" charset="-122"/>
                          <a:cs typeface="Times New Roman" panose="02020603050405020304"/>
                        </a:rPr>
                        <a:t>10:40</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a:latin typeface="Times New Roman" panose="02020603050405020304"/>
                          <a:ea typeface="宋体" panose="02010600030101010101" pitchFamily="2" charset="-122"/>
                          <a:cs typeface="Times New Roman" panose="02020603050405020304"/>
                        </a:rPr>
                        <a:t>15min</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a:latin typeface="Times New Roman" panose="02020603050405020304"/>
                          <a:ea typeface="宋体" panose="02010600030101010101" pitchFamily="2" charset="-122"/>
                          <a:cs typeface="Times New Roman" panose="02020603050405020304"/>
                        </a:rPr>
                        <a:t>30K</a:t>
                      </a:r>
                      <a:endParaRPr lang="zh-CN" sz="2000" kern="10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kern="100" dirty="0">
                          <a:latin typeface="Times New Roman" panose="02020603050405020304"/>
                          <a:ea typeface="宋体" panose="02010600030101010101" pitchFamily="2" charset="-122"/>
                          <a:cs typeface="Times New Roman" panose="02020603050405020304"/>
                        </a:rPr>
                        <a:t>2</a:t>
                      </a:r>
                      <a:r>
                        <a:rPr lang="zh-CN" sz="2000" b="1" kern="100" dirty="0">
                          <a:latin typeface="Times New Roman" panose="02020603050405020304"/>
                          <a:ea typeface="宋体" panose="02010600030101010101" pitchFamily="2" charset="-122"/>
                          <a:cs typeface="Times New Roman" panose="02020603050405020304"/>
                        </a:rPr>
                        <a:t>台</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7825" name="Rectangle 1"/>
          <p:cNvSpPr>
            <a:spLocks noChangeArrowheads="1"/>
          </p:cNvSpPr>
          <p:nvPr/>
        </p:nvSpPr>
        <p:spPr bwMode="auto">
          <a:xfrm>
            <a:off x="500034" y="1428736"/>
            <a:ext cx="8072494" cy="1477328"/>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2000"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例</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1-3</a:t>
            </a:r>
            <a:r>
              <a:rPr kumimoji="0" lang="en-US" altLang="zh-CN" sz="2000"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某系统供用户使用的内存空间为</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100K</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，系统配有</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4</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台磁带机。一批作业的运行和资源需求信息如下所示。试给出对这个作业集合的一种调度。</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78849" name="Rectangle 1"/>
          <p:cNvSpPr>
            <a:spLocks noChangeArrowheads="1"/>
          </p:cNvSpPr>
          <p:nvPr/>
        </p:nvSpPr>
        <p:spPr bwMode="auto">
          <a:xfrm>
            <a:off x="642910" y="1428736"/>
            <a:ext cx="7643834" cy="2400657"/>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zh-CN" sz="2000"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解</a:t>
            </a: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：作业集合</a:t>
            </a:r>
            <a:r>
              <a:rPr kumimoji="0" lang="en-US" altLang="zh-CN" sz="2000"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={J1, J2, J3, J4, J5}</a:t>
            </a:r>
            <a:endPar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约束</a:t>
            </a:r>
            <a:r>
              <a:rPr kumimoji="0" lang="en-US" altLang="zh-CN" sz="2000"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M</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a:t>
            </a:r>
            <a:r>
              <a:rPr kumimoji="0" lang="en-US" altLang="zh-CN" sz="2000" b="0" i="1" u="none" strike="noStrike" cap="none" normalizeH="0" baseline="-3000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 </a:t>
            </a:r>
            <a:r>
              <a:rPr kumimoji="0" lang="en-US" altLang="zh-CN" sz="2000"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M</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a:t>
            </a:r>
            <a:r>
              <a:rPr kumimoji="0" lang="en-US" altLang="zh-CN" sz="2000" b="0" i="1" u="none" strike="noStrike" cap="none" normalizeH="0" baseline="-3000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 </a:t>
            </a:r>
            <a:r>
              <a:rPr kumimoji="0" lang="en-US" altLang="zh-CN" sz="2000"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M</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a:t>
            </a:r>
            <a:r>
              <a:rPr kumimoji="0" lang="en-US" altLang="zh-CN" sz="2000" b="0" i="1" u="none" strike="noStrike" cap="none" normalizeH="0" baseline="-3000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k</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 100K</a:t>
            </a:r>
            <a:endPar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000"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a:t>
            </a:r>
            <a:r>
              <a:rPr kumimoji="0" lang="en-US" altLang="zh-CN" sz="2000" b="0" i="1" u="none" strike="noStrike" cap="none" normalizeH="0" baseline="-3000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 </a:t>
            </a:r>
            <a:r>
              <a:rPr kumimoji="0" lang="en-US" altLang="zh-CN" sz="2000"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a:t>
            </a:r>
            <a:r>
              <a:rPr kumimoji="0" lang="en-US" altLang="zh-CN" sz="2000" b="0" i="1" u="none" strike="noStrike" cap="none" normalizeH="0" baseline="-3000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 </a:t>
            </a:r>
            <a:r>
              <a:rPr kumimoji="0" lang="en-US" altLang="zh-CN" sz="2000"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a:t>
            </a:r>
            <a:r>
              <a:rPr kumimoji="0" lang="en-US" altLang="zh-CN" sz="2000" b="0" i="1" u="none" strike="noStrike" cap="none" normalizeH="0" baseline="-3000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k</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 4</a:t>
            </a:r>
            <a:endPar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其中，</a:t>
            </a:r>
            <a:r>
              <a:rPr kumimoji="0" lang="en-US" altLang="zh-CN" sz="2000"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a:t>
            </a:r>
            <a:r>
              <a:rPr kumimoji="0" lang="en-US" altLang="zh-CN" sz="2000" b="0" i="1" u="none" strike="noStrike" cap="none" normalizeH="0" baseline="-3000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000"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a:t>
            </a:r>
            <a:r>
              <a:rPr kumimoji="0" lang="en-US" altLang="zh-CN" sz="2000" b="0" i="1" u="none" strike="noStrike" cap="none" normalizeH="0" baseline="-3000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 </a:t>
            </a:r>
            <a:r>
              <a:rPr kumimoji="0" lang="en-US" altLang="zh-CN" sz="2000"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a:t>
            </a:r>
            <a:r>
              <a:rPr kumimoji="0" lang="en-US" altLang="zh-CN" sz="2000" b="0" i="1" u="none" strike="noStrike" cap="none" normalizeH="0" baseline="-3000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k</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是当前内存中的作业，</a:t>
            </a:r>
            <a:r>
              <a:rPr kumimoji="0" lang="en-US" altLang="zh-CN" sz="2000"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M</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a:t>
            </a:r>
            <a:r>
              <a:rPr kumimoji="0" lang="en-US" altLang="zh-CN" sz="2000" b="0" i="1" u="none" strike="noStrike" cap="none" normalizeH="0" baseline="-3000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和</a:t>
            </a:r>
            <a:r>
              <a:rPr kumimoji="0" lang="en-US" altLang="zh-CN" sz="2000"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a:t>
            </a:r>
            <a:r>
              <a:rPr kumimoji="0" lang="en-US" altLang="zh-CN" sz="2000" b="0" i="1" u="none" strike="noStrike" cap="none" normalizeH="0" baseline="-3000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分别表示</a:t>
            </a:r>
            <a:r>
              <a:rPr kumimoji="0" lang="en-US" altLang="zh-CN" sz="2000"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J</a:t>
            </a:r>
            <a:r>
              <a:rPr kumimoji="0" lang="en-US" altLang="zh-CN" sz="2000" b="0" i="1" u="none" strike="noStrike" cap="none" normalizeH="0" baseline="-3000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所占的内存和打印机资源。</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78851" name="Rectangle 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8850" name="Object 2"/>
          <p:cNvGraphicFramePr>
            <a:graphicFrameLocks noChangeAspect="1"/>
          </p:cNvGraphicFramePr>
          <p:nvPr/>
        </p:nvGraphicFramePr>
        <p:xfrm>
          <a:off x="285720" y="4000504"/>
          <a:ext cx="8658701" cy="2143140"/>
        </p:xfrm>
        <a:graphic>
          <a:graphicData uri="http://schemas.openxmlformats.org/presentationml/2006/ole">
            <mc:AlternateContent xmlns:mc="http://schemas.openxmlformats.org/markup-compatibility/2006">
              <mc:Choice xmlns:v="urn:schemas-microsoft-com:vml" Requires="v">
                <p:oleObj spid="_x0000_s78862" name="Visio" r:id="rId1" imgW="8915400" imgH="2209800" progId="Visio.Drawing.11">
                  <p:embed/>
                </p:oleObj>
              </mc:Choice>
              <mc:Fallback>
                <p:oleObj name="Visio" r:id="rId1" imgW="8915400" imgH="2209800" progId="Visio.Drawing.11">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20" y="4000504"/>
                        <a:ext cx="8658701" cy="21431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文本框 2"/>
          <p:cNvSpPr txBox="1"/>
          <p:nvPr/>
        </p:nvSpPr>
        <p:spPr>
          <a:xfrm>
            <a:off x="3830524" y="6130089"/>
            <a:ext cx="4456220" cy="369332"/>
          </a:xfrm>
          <a:prstGeom prst="rect">
            <a:avLst/>
          </a:prstGeom>
          <a:noFill/>
        </p:spPr>
        <p:txBody>
          <a:bodyPr wrap="none" rtlCol="0">
            <a:spAutoFit/>
          </a:bodyPr>
          <a:lstStyle/>
          <a:p>
            <a:r>
              <a:rPr lang="zh-CN" altLang="en-US" b="1" smtClean="0">
                <a:solidFill>
                  <a:srgbClr val="FF0000"/>
                </a:solidFill>
              </a:rPr>
              <a:t>从</a:t>
            </a:r>
            <a:r>
              <a:rPr lang="en-US" altLang="zh-CN" b="1" smtClean="0">
                <a:solidFill>
                  <a:srgbClr val="FF0000"/>
                </a:solidFill>
              </a:rPr>
              <a:t>CPU</a:t>
            </a:r>
            <a:r>
              <a:rPr lang="zh-CN" altLang="en-US" b="1" smtClean="0">
                <a:solidFill>
                  <a:srgbClr val="FF0000"/>
                </a:solidFill>
              </a:rPr>
              <a:t>、内存、</a:t>
            </a:r>
            <a:r>
              <a:rPr lang="en-US" altLang="zh-CN" b="1" smtClean="0">
                <a:solidFill>
                  <a:srgbClr val="FF0000"/>
                </a:solidFill>
              </a:rPr>
              <a:t>I/O</a:t>
            </a:r>
            <a:r>
              <a:rPr lang="zh-CN" altLang="en-US" b="1" smtClean="0">
                <a:solidFill>
                  <a:srgbClr val="FF0000"/>
                </a:solidFill>
              </a:rPr>
              <a:t>资源方面分析调度问题</a:t>
            </a:r>
            <a:endParaRPr lang="zh-CN" altLang="en-US" b="1">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500034" y="1357298"/>
            <a:ext cx="8286808" cy="5355312"/>
          </a:xfrm>
          <a:prstGeom prst="rect">
            <a:avLst/>
          </a:prstGeom>
          <a:ln w="28575">
            <a:solidFill>
              <a:schemeClr val="tx1"/>
            </a:solidFill>
          </a:ln>
        </p:spPr>
        <p:txBody>
          <a:bodyPr wrap="square">
            <a:spAutoFit/>
          </a:bodyPr>
          <a:lstStyle/>
          <a:p>
            <a:pPr>
              <a:lnSpc>
                <a:spcPct val="150000"/>
              </a:lnSpc>
            </a:pPr>
            <a:r>
              <a:rPr lang="en-US" altLang="zh-CN" sz="2800" dirty="0">
                <a:solidFill>
                  <a:srgbClr val="FF0000"/>
                </a:solidFill>
                <a:latin typeface="华文中宋" panose="02010600040101010101" pitchFamily="2" charset="-122"/>
                <a:ea typeface="华文中宋" panose="02010600040101010101" pitchFamily="2" charset="-122"/>
              </a:rPr>
              <a:t>4</a:t>
            </a:r>
            <a:r>
              <a:rPr lang="zh-CN" altLang="en-US" sz="2800" dirty="0">
                <a:solidFill>
                  <a:srgbClr val="FF0000"/>
                </a:solidFill>
                <a:latin typeface="华文中宋" panose="02010600040101010101" pitchFamily="2" charset="-122"/>
                <a:ea typeface="华文中宋" panose="02010600040101010101" pitchFamily="2" charset="-122"/>
              </a:rPr>
              <a:t>、分时系统</a:t>
            </a:r>
            <a:endParaRPr lang="en-US" altLang="zh-CN" sz="2800" dirty="0">
              <a:solidFill>
                <a:srgbClr val="FF0000"/>
              </a:solidFill>
              <a:latin typeface="华文中宋" panose="02010600040101010101" pitchFamily="2" charset="-122"/>
              <a:ea typeface="华文中宋" panose="02010600040101010101" pitchFamily="2" charset="-122"/>
            </a:endParaRPr>
          </a:p>
          <a:p>
            <a:pPr>
              <a:lnSpc>
                <a:spcPct val="150000"/>
              </a:lnSpc>
            </a:pPr>
            <a:r>
              <a:rPr lang="zh-CN" altLang="en-US" sz="2000" dirty="0"/>
              <a:t>       </a:t>
            </a:r>
            <a:r>
              <a:rPr lang="zh-CN" altLang="en-US" sz="2000" b="1" dirty="0">
                <a:solidFill>
                  <a:srgbClr val="FF0000"/>
                </a:solidFill>
              </a:rPr>
              <a:t>基本思想</a:t>
            </a:r>
            <a:r>
              <a:rPr lang="zh-CN" altLang="en-US" sz="2000" dirty="0"/>
              <a:t>是：对处理器资源进行</a:t>
            </a:r>
            <a:r>
              <a:rPr lang="zh-CN" altLang="en-US" sz="2000" b="1" dirty="0"/>
              <a:t>时分复用</a:t>
            </a:r>
            <a:r>
              <a:rPr lang="zh-CN" altLang="en-US" sz="2000" dirty="0"/>
              <a:t>（</a:t>
            </a:r>
            <a:r>
              <a:rPr lang="en-US" sz="2000" dirty="0"/>
              <a:t>Time-sharing</a:t>
            </a:r>
            <a:r>
              <a:rPr lang="zh-CN" altLang="en-US" sz="2000" dirty="0"/>
              <a:t>）。在时间域上，将处理器分若干</a:t>
            </a:r>
            <a:r>
              <a:rPr lang="zh-CN" altLang="en-US" sz="2000" b="1" dirty="0"/>
              <a:t>时隙</a:t>
            </a:r>
            <a:r>
              <a:rPr lang="zh-CN" altLang="en-US" sz="2000" dirty="0"/>
              <a:t>（</a:t>
            </a:r>
            <a:r>
              <a:rPr lang="en-US" sz="2000" dirty="0"/>
              <a:t>Time slice</a:t>
            </a:r>
            <a:r>
              <a:rPr lang="zh-CN" altLang="en-US" sz="2000" dirty="0"/>
              <a:t>），在每个时隙上，处理器为一个用户服务，如果时隙划分的足够小，从宏观来看，处理器就同时为多个用户提供交互计算服务。</a:t>
            </a:r>
            <a:endParaRPr lang="en-US" altLang="zh-CN" sz="2000" dirty="0"/>
          </a:p>
          <a:p>
            <a:pPr>
              <a:lnSpc>
                <a:spcPct val="150000"/>
              </a:lnSpc>
            </a:pPr>
            <a:r>
              <a:rPr lang="en-US" altLang="zh-CN" sz="2000" dirty="0"/>
              <a:t>       </a:t>
            </a:r>
            <a:r>
              <a:rPr lang="zh-CN" altLang="en-US" sz="2000" dirty="0"/>
              <a:t>在分时系统中，如果</a:t>
            </a:r>
            <a:r>
              <a:rPr lang="en-US" sz="2000" i="1" dirty="0"/>
              <a:t>n</a:t>
            </a:r>
            <a:r>
              <a:rPr lang="zh-CN" altLang="en-US" sz="2000" dirty="0"/>
              <a:t>个用户同时请求服务，每个用户平均只能得到计算机有效速度的</a:t>
            </a:r>
            <a:r>
              <a:rPr lang="en-US" sz="2000" dirty="0"/>
              <a:t>1/</a:t>
            </a:r>
            <a:r>
              <a:rPr lang="en-US" sz="2000" i="1" dirty="0"/>
              <a:t>n</a:t>
            </a:r>
            <a:r>
              <a:rPr lang="zh-CN" altLang="en-US" sz="2000" dirty="0"/>
              <a:t>。但是由于人的响应时间相对较慢，所以一个设计良好的系统，其响应时间能够满足人们的交互式需要。</a:t>
            </a:r>
            <a:endParaRPr lang="en-US" altLang="zh-CN" sz="2000" dirty="0"/>
          </a:p>
          <a:p>
            <a:pPr>
              <a:lnSpc>
                <a:spcPct val="150000"/>
              </a:lnSpc>
            </a:pPr>
            <a:r>
              <a:rPr lang="zh-CN" altLang="en-US" sz="2000" dirty="0"/>
              <a:t>       第一个分时操作系统是由麻省理工学院开发的兼容分时系统（</a:t>
            </a:r>
            <a:r>
              <a:rPr lang="en-US" sz="2000" dirty="0"/>
              <a:t>CTSS</a:t>
            </a:r>
            <a:r>
              <a:rPr lang="zh-CN" altLang="en-US" sz="2000" dirty="0"/>
              <a:t>，</a:t>
            </a:r>
            <a:r>
              <a:rPr lang="en-US" sz="2000" dirty="0"/>
              <a:t>Compatible Time Sharing System</a:t>
            </a:r>
            <a:r>
              <a:rPr lang="zh-CN" altLang="en-US" sz="2000" dirty="0"/>
              <a:t>），源于多路存取计算机项目，该系统最初是在</a:t>
            </a:r>
            <a:r>
              <a:rPr lang="en-US" sz="2000" dirty="0"/>
              <a:t>1961</a:t>
            </a:r>
            <a:r>
              <a:rPr lang="zh-CN" altLang="en-US" sz="2000" dirty="0"/>
              <a:t>年为</a:t>
            </a:r>
            <a:r>
              <a:rPr lang="en-US" sz="2000" dirty="0"/>
              <a:t>IBM 709</a:t>
            </a:r>
            <a:r>
              <a:rPr lang="zh-CN" altLang="en-US" sz="2000" dirty="0"/>
              <a:t>开发的，后来移植到</a:t>
            </a:r>
            <a:r>
              <a:rPr lang="en-US" sz="2000" dirty="0"/>
              <a:t>IBM 7094</a:t>
            </a:r>
            <a:r>
              <a:rPr lang="zh-CN" altLang="en-US" sz="2000" dirty="0"/>
              <a:t>中。</a:t>
            </a:r>
            <a:endParaRPr lang="zh-CN" altLang="en-US" sz="2000" dirty="0">
              <a:latin typeface="华文中宋" panose="02010600040101010101" pitchFamily="2" charset="-122"/>
              <a:ea typeface="华文中宋" panose="02010600040101010101" pitchFamily="2" charset="-122"/>
            </a:endParaRPr>
          </a:p>
        </p:txBody>
      </p:sp>
      <p:sp>
        <p:nvSpPr>
          <p:cNvPr id="5" name="文本框 4"/>
          <p:cNvSpPr txBox="1"/>
          <p:nvPr/>
        </p:nvSpPr>
        <p:spPr>
          <a:xfrm>
            <a:off x="4634698" y="1480428"/>
            <a:ext cx="3467616" cy="584775"/>
          </a:xfrm>
          <a:prstGeom prst="rect">
            <a:avLst/>
          </a:prstGeom>
          <a:noFill/>
        </p:spPr>
        <p:txBody>
          <a:bodyPr wrap="none" rtlCol="0">
            <a:spAutoFit/>
          </a:bodyPr>
          <a:lstStyle/>
          <a:p>
            <a:r>
              <a:rPr lang="zh-CN" altLang="en-US" sz="3200" dirty="0">
                <a:solidFill>
                  <a:srgbClr val="FF0000"/>
                </a:solidFill>
              </a:rPr>
              <a:t>频分、时分、码分</a:t>
            </a:r>
            <a:endParaRPr lang="zh-CN" altLang="en-US" sz="3200" dirty="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556" y="1281260"/>
            <a:ext cx="2755244" cy="3731916"/>
          </a:xfrm>
          <a:prstGeom prst="rect">
            <a:avLst/>
          </a:prstGeom>
        </p:spPr>
      </p:pic>
      <p:sp>
        <p:nvSpPr>
          <p:cNvPr id="6" name="文本框 5"/>
          <p:cNvSpPr txBox="1"/>
          <p:nvPr/>
        </p:nvSpPr>
        <p:spPr>
          <a:xfrm>
            <a:off x="2771800" y="1196752"/>
            <a:ext cx="6264696" cy="6093976"/>
          </a:xfrm>
          <a:prstGeom prst="rect">
            <a:avLst/>
          </a:prstGeom>
          <a:noFill/>
        </p:spPr>
        <p:txBody>
          <a:bodyPr wrap="square" rtlCol="0">
            <a:spAutoFit/>
          </a:bodyPr>
          <a:lstStyle/>
          <a:p>
            <a:r>
              <a:rPr lang="zh-CN" altLang="en-US"/>
              <a:t>海蒂</a:t>
            </a:r>
            <a:r>
              <a:rPr lang="en-US" altLang="zh-CN"/>
              <a:t>·</a:t>
            </a:r>
            <a:r>
              <a:rPr lang="zh-CN" altLang="en-US"/>
              <a:t>拉玛（</a:t>
            </a:r>
            <a:r>
              <a:rPr lang="en-US" altLang="zh-CN"/>
              <a:t>Hedy Lamarr</a:t>
            </a:r>
            <a:r>
              <a:rPr lang="zh-CN" altLang="en-US"/>
              <a:t>，</a:t>
            </a:r>
            <a:r>
              <a:rPr lang="en-US" altLang="zh-CN"/>
              <a:t>1914</a:t>
            </a:r>
            <a:r>
              <a:rPr lang="zh-CN" altLang="en-US"/>
              <a:t>年</a:t>
            </a:r>
            <a:r>
              <a:rPr lang="en-US" altLang="zh-CN"/>
              <a:t>11</a:t>
            </a:r>
            <a:r>
              <a:rPr lang="zh-CN" altLang="en-US"/>
              <a:t>月</a:t>
            </a:r>
            <a:r>
              <a:rPr lang="en-US" altLang="zh-CN"/>
              <a:t>9</a:t>
            </a:r>
            <a:r>
              <a:rPr lang="zh-CN" altLang="en-US"/>
              <a:t>日</a:t>
            </a:r>
            <a:r>
              <a:rPr lang="en-US" altLang="zh-CN"/>
              <a:t>—2000</a:t>
            </a:r>
            <a:r>
              <a:rPr lang="zh-CN" altLang="en-US"/>
              <a:t>年</a:t>
            </a:r>
            <a:r>
              <a:rPr lang="en-US" altLang="zh-CN"/>
              <a:t>1</a:t>
            </a:r>
            <a:r>
              <a:rPr lang="zh-CN" altLang="en-US"/>
              <a:t>月</a:t>
            </a:r>
            <a:r>
              <a:rPr lang="en-US" altLang="zh-CN"/>
              <a:t>19</a:t>
            </a:r>
            <a:r>
              <a:rPr lang="zh-CN" altLang="en-US"/>
              <a:t>日），出生于奥地利首都维也纳，美国影视女演员、发明家</a:t>
            </a:r>
            <a:r>
              <a:rPr lang="zh-CN" altLang="en-US" baseline="30000"/>
              <a:t> </a:t>
            </a:r>
            <a:r>
              <a:rPr lang="en-US" altLang="zh-CN" baseline="30000"/>
              <a:t>[1]</a:t>
            </a:r>
            <a:r>
              <a:rPr lang="zh-CN" altLang="en-US"/>
              <a:t>  。</a:t>
            </a:r>
            <a:endParaRPr lang="zh-CN" altLang="en-US"/>
          </a:p>
          <a:p>
            <a:r>
              <a:rPr lang="en-US" altLang="zh-CN"/>
              <a:t>1931</a:t>
            </a:r>
            <a:r>
              <a:rPr lang="zh-CN" altLang="en-US"/>
              <a:t>年，以</a:t>
            </a:r>
            <a:r>
              <a:rPr lang="en-US" altLang="zh-CN"/>
              <a:t>《</a:t>
            </a:r>
            <a:r>
              <a:rPr lang="zh-CN" altLang="en-US"/>
              <a:t>街上的钱</a:t>
            </a:r>
            <a:r>
              <a:rPr lang="en-US" altLang="zh-CN"/>
              <a:t>》</a:t>
            </a:r>
            <a:r>
              <a:rPr lang="zh-CN" altLang="en-US"/>
              <a:t>初登荧屏。</a:t>
            </a:r>
            <a:r>
              <a:rPr lang="en-US" altLang="zh-CN"/>
              <a:t>1933</a:t>
            </a:r>
            <a:r>
              <a:rPr lang="zh-CN" altLang="en-US"/>
              <a:t>年，在捷克斯洛伐克出演爱情影片</a:t>
            </a:r>
            <a:r>
              <a:rPr lang="en-US" altLang="zh-CN"/>
              <a:t>《</a:t>
            </a:r>
            <a:r>
              <a:rPr lang="zh-CN" altLang="en-US">
                <a:hlinkClick r:id="rId2"/>
              </a:rPr>
              <a:t>欲焰</a:t>
            </a:r>
            <a:r>
              <a:rPr lang="en-US" altLang="zh-CN"/>
              <a:t>》</a:t>
            </a:r>
            <a:r>
              <a:rPr lang="zh-CN" altLang="en-US"/>
              <a:t>，成为世界上首位全裸出镜的演员</a:t>
            </a:r>
            <a:r>
              <a:rPr lang="zh-CN" altLang="en-US" baseline="30000"/>
              <a:t> </a:t>
            </a:r>
            <a:r>
              <a:rPr lang="en-US" altLang="zh-CN" baseline="30000"/>
              <a:t>[2]</a:t>
            </a:r>
            <a:r>
              <a:rPr lang="zh-CN" altLang="en-US"/>
              <a:t>  。</a:t>
            </a:r>
            <a:r>
              <a:rPr lang="en-US" altLang="zh-CN"/>
              <a:t>1937</a:t>
            </a:r>
            <a:r>
              <a:rPr lang="zh-CN" altLang="en-US"/>
              <a:t>年，在</a:t>
            </a:r>
            <a:r>
              <a:rPr lang="zh-CN" altLang="en-US">
                <a:hlinkClick r:id="rId3"/>
              </a:rPr>
              <a:t>路易斯</a:t>
            </a:r>
            <a:r>
              <a:rPr lang="en-US" altLang="zh-CN">
                <a:hlinkClick r:id="rId3"/>
              </a:rPr>
              <a:t>·</a:t>
            </a:r>
            <a:r>
              <a:rPr lang="zh-CN" altLang="en-US">
                <a:hlinkClick r:id="rId3"/>
              </a:rPr>
              <a:t>梅耶</a:t>
            </a:r>
            <a:r>
              <a:rPr lang="zh-CN" altLang="en-US"/>
              <a:t>的引荐下进入</a:t>
            </a:r>
            <a:r>
              <a:rPr lang="zh-CN" altLang="en-US">
                <a:hlinkClick r:id="rId4"/>
              </a:rPr>
              <a:t>好莱坞</a:t>
            </a:r>
            <a:r>
              <a:rPr lang="zh-CN" altLang="en-US"/>
              <a:t>，改艺名为“海蒂</a:t>
            </a:r>
            <a:r>
              <a:rPr lang="en-US" altLang="zh-CN"/>
              <a:t>·</a:t>
            </a:r>
            <a:r>
              <a:rPr lang="zh-CN" altLang="en-US"/>
              <a:t>拉玛”。</a:t>
            </a:r>
            <a:r>
              <a:rPr lang="en-US" altLang="zh-CN"/>
              <a:t>1938</a:t>
            </a:r>
            <a:r>
              <a:rPr lang="zh-CN" altLang="en-US"/>
              <a:t>年，开始在</a:t>
            </a:r>
            <a:r>
              <a:rPr lang="zh-CN" altLang="en-US">
                <a:hlinkClick r:id="rId5"/>
              </a:rPr>
              <a:t>米高梅公司</a:t>
            </a:r>
            <a:r>
              <a:rPr lang="zh-CN" altLang="en-US"/>
              <a:t>担任主角，并与</a:t>
            </a:r>
            <a:r>
              <a:rPr lang="zh-CN" altLang="en-US">
                <a:hlinkClick r:id="rId6"/>
              </a:rPr>
              <a:t>罗伯特</a:t>
            </a:r>
            <a:r>
              <a:rPr lang="en-US" altLang="zh-CN">
                <a:hlinkClick r:id="rId6"/>
              </a:rPr>
              <a:t>·</a:t>
            </a:r>
            <a:r>
              <a:rPr lang="zh-CN" altLang="en-US">
                <a:hlinkClick r:id="rId6"/>
              </a:rPr>
              <a:t>泰勒</a:t>
            </a:r>
            <a:r>
              <a:rPr lang="zh-CN" altLang="en-US"/>
              <a:t>合作主演爱情影片</a:t>
            </a:r>
            <a:r>
              <a:rPr lang="en-US" altLang="zh-CN"/>
              <a:t>《Lady of the Tropics》</a:t>
            </a:r>
            <a:r>
              <a:rPr lang="en-US" altLang="zh-CN" baseline="30000"/>
              <a:t> [3]</a:t>
            </a:r>
            <a:r>
              <a:rPr lang="en-US" altLang="zh-CN"/>
              <a:t>  </a:t>
            </a:r>
            <a:r>
              <a:rPr lang="zh-CN" altLang="en-US"/>
              <a:t>。</a:t>
            </a:r>
            <a:r>
              <a:rPr lang="en-US" altLang="zh-CN"/>
              <a:t>1939</a:t>
            </a:r>
            <a:r>
              <a:rPr lang="zh-CN" altLang="en-US"/>
              <a:t>年，与</a:t>
            </a:r>
            <a:r>
              <a:rPr lang="zh-CN" altLang="en-US">
                <a:hlinkClick r:id="rId7"/>
              </a:rPr>
              <a:t>克拉克</a:t>
            </a:r>
            <a:r>
              <a:rPr lang="en-US" altLang="zh-CN">
                <a:hlinkClick r:id="rId7"/>
              </a:rPr>
              <a:t>·</a:t>
            </a:r>
            <a:r>
              <a:rPr lang="zh-CN" altLang="en-US">
                <a:hlinkClick r:id="rId7"/>
              </a:rPr>
              <a:t>盖博</a:t>
            </a:r>
            <a:r>
              <a:rPr lang="zh-CN" altLang="en-US"/>
              <a:t>合作喜剧影片</a:t>
            </a:r>
            <a:r>
              <a:rPr lang="en-US" altLang="zh-CN"/>
              <a:t>《</a:t>
            </a:r>
            <a:r>
              <a:rPr lang="zh-CN" altLang="en-US"/>
              <a:t>某同志</a:t>
            </a:r>
            <a:r>
              <a:rPr lang="en-US" altLang="zh-CN"/>
              <a:t>》</a:t>
            </a:r>
            <a:r>
              <a:rPr lang="zh-CN" altLang="en-US"/>
              <a:t>以及冒险影片</a:t>
            </a:r>
            <a:r>
              <a:rPr lang="en-US" altLang="zh-CN"/>
              <a:t>《</a:t>
            </a:r>
            <a:r>
              <a:rPr lang="zh-CN" altLang="en-US"/>
              <a:t>新兴都市</a:t>
            </a:r>
            <a:r>
              <a:rPr lang="en-US" altLang="zh-CN"/>
              <a:t>》</a:t>
            </a:r>
            <a:r>
              <a:rPr lang="zh-CN" altLang="en-US"/>
              <a:t>等</a:t>
            </a:r>
            <a:r>
              <a:rPr lang="en-US" altLang="zh-CN"/>
              <a:t>25</a:t>
            </a:r>
            <a:r>
              <a:rPr lang="zh-CN" altLang="en-US"/>
              <a:t>部作品。</a:t>
            </a:r>
            <a:r>
              <a:rPr lang="en-US" altLang="zh-CN"/>
              <a:t>1941</a:t>
            </a:r>
            <a:r>
              <a:rPr lang="zh-CN" altLang="en-US"/>
              <a:t>年，出演了</a:t>
            </a:r>
            <a:r>
              <a:rPr lang="zh-CN" altLang="en-US">
                <a:hlinkClick r:id="rId8"/>
              </a:rPr>
              <a:t>罗伯特</a:t>
            </a:r>
            <a:r>
              <a:rPr lang="en-US" altLang="zh-CN">
                <a:hlinkClick r:id="rId8"/>
              </a:rPr>
              <a:t>·</a:t>
            </a:r>
            <a:r>
              <a:rPr lang="zh-CN" altLang="en-US">
                <a:hlinkClick r:id="rId8"/>
              </a:rPr>
              <a:t>伦纳德</a:t>
            </a:r>
            <a:r>
              <a:rPr lang="zh-CN" altLang="en-US"/>
              <a:t>执导的歌舞影片</a:t>
            </a:r>
            <a:r>
              <a:rPr lang="en-US" altLang="zh-CN"/>
              <a:t>《</a:t>
            </a:r>
            <a:r>
              <a:rPr lang="zh-CN" altLang="en-US">
                <a:hlinkClick r:id="rId9"/>
              </a:rPr>
              <a:t>齐格菲女郎</a:t>
            </a:r>
            <a:r>
              <a:rPr lang="en-US" altLang="zh-CN"/>
              <a:t>》</a:t>
            </a:r>
            <a:r>
              <a:rPr lang="zh-CN" altLang="en-US" baseline="30000"/>
              <a:t> </a:t>
            </a:r>
            <a:r>
              <a:rPr lang="en-US" altLang="zh-CN" baseline="30000"/>
              <a:t>[4]</a:t>
            </a:r>
            <a:r>
              <a:rPr lang="zh-CN" altLang="en-US"/>
              <a:t>  ；</a:t>
            </a:r>
            <a:r>
              <a:rPr lang="zh-CN" altLang="en-US" sz="2400" b="1">
                <a:solidFill>
                  <a:srgbClr val="FF0000"/>
                </a:solidFill>
              </a:rPr>
              <a:t>同年，借鉴了音乐家</a:t>
            </a:r>
            <a:r>
              <a:rPr lang="zh-CN" altLang="en-US" sz="2400" b="1">
                <a:solidFill>
                  <a:srgbClr val="FF0000"/>
                </a:solidFill>
                <a:hlinkClick r:id="rId10"/>
              </a:rPr>
              <a:t>乔治</a:t>
            </a:r>
            <a:r>
              <a:rPr lang="en-US" altLang="zh-CN" sz="2400" b="1">
                <a:solidFill>
                  <a:srgbClr val="FF0000"/>
                </a:solidFill>
                <a:hlinkClick r:id="rId10"/>
              </a:rPr>
              <a:t>·</a:t>
            </a:r>
            <a:r>
              <a:rPr lang="zh-CN" altLang="en-US" sz="2400" b="1">
                <a:solidFill>
                  <a:srgbClr val="FF0000"/>
                </a:solidFill>
                <a:hlinkClick r:id="rId10"/>
              </a:rPr>
              <a:t>安太尔</a:t>
            </a:r>
            <a:r>
              <a:rPr lang="zh-CN" altLang="en-US" sz="2400" b="1">
                <a:solidFill>
                  <a:srgbClr val="FF0000"/>
                </a:solidFill>
              </a:rPr>
              <a:t>同步演奏钢琴的原理发明了“</a:t>
            </a:r>
            <a:r>
              <a:rPr lang="zh-CN" altLang="en-US" sz="2400" b="1">
                <a:solidFill>
                  <a:srgbClr val="FF0000"/>
                </a:solidFill>
                <a:hlinkClick r:id="rId11"/>
              </a:rPr>
              <a:t>跳频技术</a:t>
            </a:r>
            <a:r>
              <a:rPr lang="zh-CN" altLang="en-US" sz="2400" b="1">
                <a:solidFill>
                  <a:srgbClr val="FF0000"/>
                </a:solidFill>
              </a:rPr>
              <a:t>”，为</a:t>
            </a:r>
            <a:r>
              <a:rPr lang="en-US" altLang="zh-CN" sz="2400" b="1">
                <a:solidFill>
                  <a:srgbClr val="FF0000"/>
                </a:solidFill>
                <a:hlinkClick r:id="rId12"/>
              </a:rPr>
              <a:t>CDMA</a:t>
            </a:r>
            <a:r>
              <a:rPr lang="zh-CN" altLang="en-US" sz="2400" b="1">
                <a:solidFill>
                  <a:srgbClr val="FF0000"/>
                </a:solidFill>
              </a:rPr>
              <a:t>、</a:t>
            </a:r>
            <a:r>
              <a:rPr lang="en-US" altLang="zh-CN" sz="2400" b="1">
                <a:solidFill>
                  <a:srgbClr val="FF0000"/>
                </a:solidFill>
                <a:hlinkClick r:id="rId13"/>
              </a:rPr>
              <a:t>Wi-Fi</a:t>
            </a:r>
            <a:r>
              <a:rPr lang="zh-CN" altLang="en-US" sz="2400" b="1">
                <a:solidFill>
                  <a:srgbClr val="FF0000"/>
                </a:solidFill>
              </a:rPr>
              <a:t>等技术奠定了基础</a:t>
            </a:r>
            <a:r>
              <a:rPr lang="zh-CN" altLang="en-US" sz="2400" b="1" baseline="30000">
                <a:solidFill>
                  <a:srgbClr val="FF0000"/>
                </a:solidFill>
              </a:rPr>
              <a:t> </a:t>
            </a:r>
            <a:r>
              <a:rPr lang="en-US" altLang="zh-CN" sz="2400" b="1" baseline="30000">
                <a:solidFill>
                  <a:srgbClr val="FF0000"/>
                </a:solidFill>
              </a:rPr>
              <a:t>[5]</a:t>
            </a:r>
            <a:r>
              <a:rPr lang="zh-CN" altLang="en-US" sz="2400" b="1">
                <a:solidFill>
                  <a:srgbClr val="FF0000"/>
                </a:solidFill>
              </a:rPr>
              <a:t>  。</a:t>
            </a:r>
            <a:r>
              <a:rPr lang="en-US" altLang="zh-CN" sz="2400" b="1">
                <a:solidFill>
                  <a:srgbClr val="FF0000"/>
                </a:solidFill>
              </a:rPr>
              <a:t>1942</a:t>
            </a:r>
            <a:r>
              <a:rPr lang="zh-CN" altLang="en-US" sz="2400" b="1">
                <a:solidFill>
                  <a:srgbClr val="FF0000"/>
                </a:solidFill>
              </a:rPr>
              <a:t>年，获得美国颁发的“跳频技术”专利</a:t>
            </a:r>
            <a:r>
              <a:rPr lang="zh-CN" altLang="en-US" sz="2400" b="1" baseline="30000">
                <a:solidFill>
                  <a:srgbClr val="FF0000"/>
                </a:solidFill>
              </a:rPr>
              <a:t> </a:t>
            </a:r>
            <a:r>
              <a:rPr lang="en-US" altLang="zh-CN" sz="2400" b="1" baseline="30000">
                <a:solidFill>
                  <a:srgbClr val="FF0000"/>
                </a:solidFill>
              </a:rPr>
              <a:t>[6]</a:t>
            </a:r>
            <a:r>
              <a:rPr lang="zh-CN" altLang="en-US" sz="2400" b="1">
                <a:solidFill>
                  <a:srgbClr val="FF0000"/>
                </a:solidFill>
              </a:rPr>
              <a:t> </a:t>
            </a:r>
            <a:r>
              <a:rPr lang="zh-CN" altLang="en-US"/>
              <a:t> 。</a:t>
            </a:r>
            <a:r>
              <a:rPr lang="en-US" altLang="zh-CN"/>
              <a:t>1949</a:t>
            </a:r>
            <a:r>
              <a:rPr lang="zh-CN" altLang="en-US"/>
              <a:t>年，与</a:t>
            </a:r>
            <a:r>
              <a:rPr lang="zh-CN" altLang="en-US">
                <a:hlinkClick r:id="rId14"/>
              </a:rPr>
              <a:t>乔治</a:t>
            </a:r>
            <a:r>
              <a:rPr lang="en-US" altLang="zh-CN">
                <a:hlinkClick r:id="rId14"/>
              </a:rPr>
              <a:t>·</a:t>
            </a:r>
            <a:r>
              <a:rPr lang="zh-CN" altLang="en-US">
                <a:hlinkClick r:id="rId14"/>
              </a:rPr>
              <a:t>桑德斯</a:t>
            </a:r>
            <a:r>
              <a:rPr lang="zh-CN" altLang="en-US"/>
              <a:t>合作出演</a:t>
            </a:r>
            <a:r>
              <a:rPr lang="zh-CN" altLang="en-US">
                <a:hlinkClick r:id="rId15"/>
              </a:rPr>
              <a:t>塞西尔</a:t>
            </a:r>
            <a:r>
              <a:rPr lang="en-US" altLang="zh-CN">
                <a:hlinkClick r:id="rId15"/>
              </a:rPr>
              <a:t>·B·</a:t>
            </a:r>
            <a:r>
              <a:rPr lang="zh-CN" altLang="en-US">
                <a:hlinkClick r:id="rId15"/>
              </a:rPr>
              <a:t>戴米尔</a:t>
            </a:r>
            <a:r>
              <a:rPr lang="zh-CN" altLang="en-US"/>
              <a:t>执导的爱情影片</a:t>
            </a:r>
            <a:r>
              <a:rPr lang="en-US" altLang="zh-CN"/>
              <a:t>《</a:t>
            </a:r>
            <a:r>
              <a:rPr lang="zh-CN" altLang="en-US">
                <a:hlinkClick r:id="rId16"/>
              </a:rPr>
              <a:t>霸王妖姬</a:t>
            </a:r>
            <a:r>
              <a:rPr lang="en-US" altLang="zh-CN"/>
              <a:t>》</a:t>
            </a:r>
            <a:r>
              <a:rPr lang="zh-CN" altLang="en-US" baseline="30000"/>
              <a:t> </a:t>
            </a:r>
            <a:r>
              <a:rPr lang="en-US" altLang="zh-CN" baseline="30000"/>
              <a:t>[7]</a:t>
            </a:r>
            <a:r>
              <a:rPr lang="zh-CN" altLang="en-US"/>
              <a:t>  。</a:t>
            </a:r>
            <a:r>
              <a:rPr lang="en-US" altLang="zh-CN"/>
              <a:t>1953</a:t>
            </a:r>
            <a:r>
              <a:rPr lang="zh-CN" altLang="en-US"/>
              <a:t>年，加入美国国籍。</a:t>
            </a:r>
            <a:r>
              <a:rPr lang="en-US" altLang="zh-CN"/>
              <a:t>1966</a:t>
            </a:r>
            <a:r>
              <a:rPr lang="zh-CN" altLang="en-US"/>
              <a:t>年，出版争议性自曝隐私的自传小说</a:t>
            </a:r>
            <a:r>
              <a:rPr lang="zh-CN" altLang="en-US" baseline="30000"/>
              <a:t> </a:t>
            </a:r>
            <a:r>
              <a:rPr lang="en-US" altLang="zh-CN" baseline="30000"/>
              <a:t>[8]</a:t>
            </a:r>
            <a:r>
              <a:rPr lang="zh-CN" altLang="en-US"/>
              <a:t>  。</a:t>
            </a:r>
            <a:r>
              <a:rPr lang="en-US" altLang="zh-CN"/>
              <a:t>1997</a:t>
            </a:r>
            <a:r>
              <a:rPr lang="zh-CN" altLang="en-US"/>
              <a:t>年，被授予“</a:t>
            </a:r>
            <a:r>
              <a:rPr lang="zh-CN" altLang="en-US">
                <a:hlinkClick r:id="rId17"/>
              </a:rPr>
              <a:t>电子前沿基金会</a:t>
            </a:r>
            <a:r>
              <a:rPr lang="zh-CN" altLang="en-US"/>
              <a:t>”先锋奖</a:t>
            </a:r>
            <a:r>
              <a:rPr lang="zh-CN" altLang="en-US" baseline="30000"/>
              <a:t> </a:t>
            </a:r>
            <a:r>
              <a:rPr lang="en-US" altLang="zh-CN" baseline="30000"/>
              <a:t>[9]</a:t>
            </a:r>
            <a:r>
              <a:rPr lang="zh-CN" altLang="en-US"/>
              <a:t>  。</a:t>
            </a:r>
            <a:endParaRPr lang="zh-CN" altLang="en-US"/>
          </a:p>
          <a:p>
            <a:r>
              <a:rPr lang="en-US" altLang="zh-CN"/>
              <a:t>2000</a:t>
            </a:r>
            <a:r>
              <a:rPr lang="zh-CN" altLang="en-US"/>
              <a:t>年</a:t>
            </a:r>
            <a:r>
              <a:rPr lang="en-US" altLang="zh-CN"/>
              <a:t>1</a:t>
            </a:r>
            <a:r>
              <a:rPr lang="zh-CN" altLang="en-US"/>
              <a:t>月</a:t>
            </a:r>
            <a:r>
              <a:rPr lang="en-US" altLang="zh-CN"/>
              <a:t>19</a:t>
            </a:r>
            <a:r>
              <a:rPr lang="zh-CN" altLang="en-US"/>
              <a:t>日，海蒂</a:t>
            </a:r>
            <a:r>
              <a:rPr lang="en-US" altLang="zh-CN"/>
              <a:t>·</a:t>
            </a:r>
            <a:r>
              <a:rPr lang="zh-CN" altLang="en-US"/>
              <a:t>拉玛在</a:t>
            </a:r>
            <a:r>
              <a:rPr lang="zh-CN" altLang="en-US">
                <a:hlinkClick r:id="rId18"/>
              </a:rPr>
              <a:t>佛罗里达</a:t>
            </a:r>
            <a:r>
              <a:rPr lang="zh-CN" altLang="en-US"/>
              <a:t>逝世，享年</a:t>
            </a:r>
            <a:r>
              <a:rPr lang="en-US" altLang="zh-CN"/>
              <a:t>85</a:t>
            </a:r>
            <a:r>
              <a:rPr lang="zh-CN" altLang="en-US"/>
              <a:t>岁。</a:t>
            </a:r>
            <a:r>
              <a:rPr lang="en-US" altLang="zh-CN"/>
              <a:t>2014</a:t>
            </a:r>
            <a:r>
              <a:rPr lang="zh-CN" altLang="en-US"/>
              <a:t>年，被入选</a:t>
            </a:r>
            <a:r>
              <a:rPr lang="zh-CN" altLang="en-US">
                <a:hlinkClick r:id="rId19"/>
              </a:rPr>
              <a:t>美国发明家</a:t>
            </a:r>
            <a:r>
              <a:rPr lang="zh-CN" altLang="en-US"/>
              <a:t>名人堂</a:t>
            </a:r>
            <a:r>
              <a:rPr lang="zh-CN" altLang="en-US" baseline="30000"/>
              <a:t> </a:t>
            </a:r>
            <a:r>
              <a:rPr lang="en-US" altLang="zh-CN" baseline="30000"/>
              <a:t>[10]</a:t>
            </a:r>
            <a:r>
              <a:rPr lang="zh-CN" altLang="en-US"/>
              <a:t>  。</a:t>
            </a:r>
            <a:endParaRPr lang="zh-CN" altLang="en-US"/>
          </a:p>
          <a:p>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6143636" y="571480"/>
          <a:ext cx="2786082" cy="1219200"/>
        </p:xfrm>
        <a:graphic>
          <a:graphicData uri="http://schemas.openxmlformats.org/drawingml/2006/table">
            <a:tbl>
              <a:tblPr/>
              <a:tblGrid>
                <a:gridCol w="2786082"/>
              </a:tblGrid>
              <a:tr h="1214446">
                <a:tc>
                  <a:txBody>
                    <a:bodyPr/>
                    <a:lstStyle/>
                    <a:p>
                      <a:pPr algn="just">
                        <a:spcAft>
                          <a:spcPts val="0"/>
                        </a:spcAft>
                      </a:pPr>
                      <a:r>
                        <a:rPr lang="en-US" sz="2000" kern="100" dirty="0">
                          <a:latin typeface="Times New Roman" panose="02020603050405020304"/>
                          <a:ea typeface="宋体" panose="02010600030101010101" pitchFamily="2" charset="-122"/>
                          <a:cs typeface="Times New Roman" panose="02020603050405020304"/>
                        </a:rPr>
                        <a:t>JOB1:  15000</a:t>
                      </a:r>
                      <a:endParaRPr lang="zh-CN" sz="2000" kern="100" dirty="0">
                        <a:latin typeface="Calibri" panose="020F0502020204030204"/>
                        <a:ea typeface="宋体" panose="02010600030101010101" pitchFamily="2" charset="-122"/>
                        <a:cs typeface="Times New Roman" panose="02020603050405020304"/>
                      </a:endParaRPr>
                    </a:p>
                    <a:p>
                      <a:pPr algn="just">
                        <a:spcAft>
                          <a:spcPts val="0"/>
                        </a:spcAft>
                      </a:pPr>
                      <a:r>
                        <a:rPr lang="en-US" sz="2000" kern="100" dirty="0">
                          <a:latin typeface="Times New Roman" panose="02020603050405020304"/>
                          <a:ea typeface="宋体" panose="02010600030101010101" pitchFamily="2" charset="-122"/>
                          <a:cs typeface="Times New Roman" panose="02020603050405020304"/>
                        </a:rPr>
                        <a:t>JOB2:  20000</a:t>
                      </a:r>
                      <a:endParaRPr lang="zh-CN" sz="2000" kern="100" dirty="0">
                        <a:latin typeface="Calibri" panose="020F0502020204030204"/>
                        <a:ea typeface="宋体" panose="02010600030101010101" pitchFamily="2" charset="-122"/>
                        <a:cs typeface="Times New Roman" panose="02020603050405020304"/>
                      </a:endParaRPr>
                    </a:p>
                    <a:p>
                      <a:pPr algn="just">
                        <a:spcAft>
                          <a:spcPts val="0"/>
                        </a:spcAft>
                      </a:pPr>
                      <a:r>
                        <a:rPr lang="en-US" sz="2000" kern="100" dirty="0">
                          <a:latin typeface="Times New Roman" panose="02020603050405020304"/>
                          <a:ea typeface="宋体" panose="02010600030101010101" pitchFamily="2" charset="-122"/>
                          <a:cs typeface="Times New Roman" panose="02020603050405020304"/>
                        </a:rPr>
                        <a:t>JOB3:  5000</a:t>
                      </a:r>
                      <a:endParaRPr lang="zh-CN" sz="2000" kern="100" dirty="0">
                        <a:latin typeface="Calibri" panose="020F0502020204030204"/>
                        <a:ea typeface="宋体" panose="02010600030101010101" pitchFamily="2" charset="-122"/>
                        <a:cs typeface="Times New Roman" panose="02020603050405020304"/>
                      </a:endParaRPr>
                    </a:p>
                    <a:p>
                      <a:pPr algn="just">
                        <a:spcAft>
                          <a:spcPts val="0"/>
                        </a:spcAft>
                      </a:pPr>
                      <a:r>
                        <a:rPr lang="en-US" sz="2000" kern="100" dirty="0">
                          <a:latin typeface="Times New Roman" panose="02020603050405020304"/>
                          <a:ea typeface="宋体" panose="02010600030101010101" pitchFamily="2" charset="-122"/>
                          <a:cs typeface="Times New Roman" panose="02020603050405020304"/>
                        </a:rPr>
                        <a:t>JOB4:  10000</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bl>
          </a:graphicData>
        </a:graphic>
      </p:graphicFrame>
      <p:sp>
        <p:nvSpPr>
          <p:cNvPr id="79873" name="Rectangle 1"/>
          <p:cNvSpPr>
            <a:spLocks noChangeArrowheads="1"/>
          </p:cNvSpPr>
          <p:nvPr/>
        </p:nvSpPr>
        <p:spPr bwMode="auto">
          <a:xfrm>
            <a:off x="214282" y="1357298"/>
            <a:ext cx="5198859" cy="677108"/>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假设有</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4</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个交互用户，其存储器需求如下：</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79875" name="Rectangle 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9874" name="Object 2"/>
          <p:cNvGraphicFramePr>
            <a:graphicFrameLocks noChangeAspect="1"/>
          </p:cNvGraphicFramePr>
          <p:nvPr/>
        </p:nvGraphicFramePr>
        <p:xfrm>
          <a:off x="428596" y="1928802"/>
          <a:ext cx="8215370" cy="4786346"/>
        </p:xfrm>
        <a:graphic>
          <a:graphicData uri="http://schemas.openxmlformats.org/presentationml/2006/ole">
            <mc:AlternateContent xmlns:mc="http://schemas.openxmlformats.org/markup-compatibility/2006">
              <mc:Choice xmlns:v="urn:schemas-microsoft-com:vml" Requires="v">
                <p:oleObj spid="_x0000_s79886" name="Visio" r:id="rId1" imgW="6908800" imgH="5461000" progId="Visio.Drawing.11">
                  <p:embed/>
                </p:oleObj>
              </mc:Choice>
              <mc:Fallback>
                <p:oleObj name="Visio" r:id="rId1" imgW="6908800" imgH="5461000" progId="Visio.Drawing.11">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596" y="1928802"/>
                        <a:ext cx="8215370" cy="47863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57554" y="0"/>
            <a:ext cx="5657832" cy="1143000"/>
          </a:xfrm>
        </p:spPr>
        <p:txBody>
          <a:bodyPr/>
          <a:lstStyle/>
          <a:p>
            <a:r>
              <a:rPr lang="en-US" altLang="zh-CN" dirty="0"/>
              <a:t>1.2 </a:t>
            </a:r>
            <a:r>
              <a:rPr lang="zh-CN" altLang="en-US" dirty="0"/>
              <a:t>操作系统的体系结构</a:t>
            </a:r>
            <a:endParaRPr lang="zh-CN" altLang="en-US" dirty="0"/>
          </a:p>
        </p:txBody>
      </p:sp>
      <p:sp>
        <p:nvSpPr>
          <p:cNvPr id="3" name="内容占位符 2"/>
          <p:cNvSpPr>
            <a:spLocks noGrp="1"/>
          </p:cNvSpPr>
          <p:nvPr>
            <p:ph idx="1"/>
          </p:nvPr>
        </p:nvSpPr>
        <p:spPr>
          <a:xfrm>
            <a:off x="457200" y="1600201"/>
            <a:ext cx="8229600" cy="685792"/>
          </a:xfrm>
        </p:spPr>
        <p:txBody>
          <a:bodyPr/>
          <a:lstStyle/>
          <a:p>
            <a:pPr>
              <a:buNone/>
            </a:pPr>
            <a:r>
              <a:rPr lang="en-US" altLang="zh-CN" dirty="0">
                <a:solidFill>
                  <a:srgbClr val="FF0000"/>
                </a:solidFill>
              </a:rPr>
              <a:t>1</a:t>
            </a:r>
            <a:r>
              <a:rPr lang="zh-CN" altLang="en-US" dirty="0">
                <a:solidFill>
                  <a:srgbClr val="FF0000"/>
                </a:solidFill>
              </a:rPr>
              <a:t>、简单结构</a:t>
            </a:r>
            <a:endParaRPr lang="zh-CN" altLang="en-US" dirty="0">
              <a:solidFill>
                <a:srgbClr val="FF0000"/>
              </a:solidFill>
            </a:endParaRPr>
          </a:p>
        </p:txBody>
      </p:sp>
      <p:sp>
        <p:nvSpPr>
          <p:cNvPr id="81922" name="Rectangle 2"/>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81921" name="Object 1"/>
          <p:cNvGraphicFramePr>
            <a:graphicFrameLocks noChangeAspect="1"/>
          </p:cNvGraphicFramePr>
          <p:nvPr/>
        </p:nvGraphicFramePr>
        <p:xfrm>
          <a:off x="142844" y="2357430"/>
          <a:ext cx="3814467" cy="3500462"/>
        </p:xfrm>
        <a:graphic>
          <a:graphicData uri="http://schemas.openxmlformats.org/presentationml/2006/ole">
            <mc:AlternateContent xmlns:mc="http://schemas.openxmlformats.org/markup-compatibility/2006">
              <mc:Choice xmlns:v="urn:schemas-microsoft-com:vml" Requires="v">
                <p:oleObj spid="_x0000_s81947" name="Visio" r:id="rId1" imgW="2971800" imgH="2730500" progId="Visio.Drawing.11">
                  <p:embed/>
                </p:oleObj>
              </mc:Choice>
              <mc:Fallback>
                <p:oleObj name="Visio" r:id="rId1" imgW="2971800" imgH="27305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44" y="2357430"/>
                        <a:ext cx="3814467" cy="3500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23" name="Rectangle 3"/>
          <p:cNvSpPr>
            <a:spLocks noChangeArrowheads="1"/>
          </p:cNvSpPr>
          <p:nvPr/>
        </p:nvSpPr>
        <p:spPr bwMode="auto">
          <a:xfrm>
            <a:off x="785786" y="6000768"/>
            <a:ext cx="2683748" cy="338554"/>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1-8 MS-DOS</a:t>
            </a:r>
            <a:r>
              <a:rPr kumimoji="0" lang="zh-CN" altLang="en-US" sz="16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层次化结构</a:t>
            </a:r>
            <a:endParaRPr kumimoji="0" lang="zh-CN" altLang="en-US" sz="16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81925" name="Rectangle 5"/>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81924" name="Object 4"/>
          <p:cNvGraphicFramePr>
            <a:graphicFrameLocks noChangeAspect="1"/>
          </p:cNvGraphicFramePr>
          <p:nvPr/>
        </p:nvGraphicFramePr>
        <p:xfrm>
          <a:off x="4000496" y="2285992"/>
          <a:ext cx="5143504" cy="3548508"/>
        </p:xfrm>
        <a:graphic>
          <a:graphicData uri="http://schemas.openxmlformats.org/presentationml/2006/ole">
            <mc:AlternateContent xmlns:mc="http://schemas.openxmlformats.org/markup-compatibility/2006">
              <mc:Choice xmlns:v="urn:schemas-microsoft-com:vml" Requires="v">
                <p:oleObj spid="_x0000_s81948" name="Visio" r:id="rId3" imgW="5359400" imgH="3695700" progId="Visio.Drawing.11">
                  <p:embed/>
                </p:oleObj>
              </mc:Choice>
              <mc:Fallback>
                <p:oleObj name="Visio" r:id="rId3" imgW="5359400" imgH="3695700" progId="Visio.Drawing.11">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0496" y="2285992"/>
                        <a:ext cx="5143504" cy="35485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26" name="Rectangle 6"/>
          <p:cNvSpPr>
            <a:spLocks noChangeArrowheads="1"/>
          </p:cNvSpPr>
          <p:nvPr/>
        </p:nvSpPr>
        <p:spPr bwMode="auto">
          <a:xfrm>
            <a:off x="6143636" y="6000768"/>
            <a:ext cx="2004075" cy="338554"/>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 Unix</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系统结构</a:t>
            </a: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内容占位符 2"/>
          <p:cNvSpPr>
            <a:spLocks noGrp="1"/>
          </p:cNvSpPr>
          <p:nvPr>
            <p:ph idx="1"/>
          </p:nvPr>
        </p:nvSpPr>
        <p:spPr>
          <a:xfrm>
            <a:off x="428596" y="1357298"/>
            <a:ext cx="8229600" cy="685792"/>
          </a:xfrm>
        </p:spPr>
        <p:txBody>
          <a:bodyPr/>
          <a:lstStyle/>
          <a:p>
            <a:pPr>
              <a:buNone/>
            </a:pPr>
            <a:r>
              <a:rPr lang="en-US" altLang="zh-CN" dirty="0">
                <a:solidFill>
                  <a:srgbClr val="FF0000"/>
                </a:solidFill>
              </a:rPr>
              <a:t>2</a:t>
            </a:r>
            <a:r>
              <a:rPr lang="zh-CN" altLang="en-US" dirty="0">
                <a:solidFill>
                  <a:srgbClr val="FF0000"/>
                </a:solidFill>
              </a:rPr>
              <a:t>、层次化结构</a:t>
            </a:r>
            <a:endParaRPr lang="zh-CN" altLang="en-US" dirty="0">
              <a:solidFill>
                <a:srgbClr val="FF0000"/>
              </a:solidFill>
            </a:endParaRPr>
          </a:p>
        </p:txBody>
      </p:sp>
      <p:sp>
        <p:nvSpPr>
          <p:cNvPr id="82946" name="Rectangle 2"/>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82945" name="Object 1"/>
          <p:cNvGraphicFramePr>
            <a:graphicFrameLocks noChangeAspect="1"/>
          </p:cNvGraphicFramePr>
          <p:nvPr/>
        </p:nvGraphicFramePr>
        <p:xfrm>
          <a:off x="5143504" y="2000240"/>
          <a:ext cx="3929090" cy="3929090"/>
        </p:xfrm>
        <a:graphic>
          <a:graphicData uri="http://schemas.openxmlformats.org/presentationml/2006/ole">
            <mc:AlternateContent xmlns:mc="http://schemas.openxmlformats.org/markup-compatibility/2006">
              <mc:Choice xmlns:v="urn:schemas-microsoft-com:vml" Requires="v">
                <p:oleObj spid="_x0000_s82957" name="Visio" r:id="rId1" imgW="3657600" imgH="3657600" progId="Visio.Drawing.11">
                  <p:embed/>
                </p:oleObj>
              </mc:Choice>
              <mc:Fallback>
                <p:oleObj name="Visio" r:id="rId1" imgW="3657600" imgH="36576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3504" y="2000240"/>
                        <a:ext cx="3929090" cy="39290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47" name="Rectangle 3"/>
          <p:cNvSpPr>
            <a:spLocks noChangeArrowheads="1"/>
          </p:cNvSpPr>
          <p:nvPr/>
        </p:nvSpPr>
        <p:spPr bwMode="auto">
          <a:xfrm>
            <a:off x="5786446" y="6090842"/>
            <a:ext cx="2876108" cy="338554"/>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1-10</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理想的层次化操作系统</a:t>
            </a: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82948" name="Rectangle 4"/>
          <p:cNvSpPr>
            <a:spLocks noChangeArrowheads="1"/>
          </p:cNvSpPr>
          <p:nvPr/>
        </p:nvSpPr>
        <p:spPr bwMode="auto">
          <a:xfrm>
            <a:off x="214282" y="2071678"/>
            <a:ext cx="4786346" cy="4708981"/>
          </a:xfrm>
          <a:prstGeom prst="rect">
            <a:avLst/>
          </a:prstGeom>
          <a:noFill/>
          <a:ln w="28575">
            <a:solidFill>
              <a:schemeClr val="tx1"/>
            </a:solidFill>
            <a:miter lim="800000"/>
          </a:ln>
          <a:effectLst/>
        </p:spPr>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理想的层次化结构具有这样几个</a:t>
            </a:r>
            <a:r>
              <a:rPr kumimoji="0" lang="zh-CN" sz="2000"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优点</a:t>
            </a: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1" fontAlgn="base" latinLnBrk="0" hangingPunct="1">
              <a:lnSpc>
                <a:spcPct val="150000"/>
              </a:lnSpc>
              <a:spcBef>
                <a:spcPct val="0"/>
              </a:spcBef>
              <a:spcAft>
                <a:spcPct val="0"/>
              </a:spcAft>
              <a:buClrTx/>
              <a:buSzTx/>
              <a:buFont typeface="Wingdings" panose="05000000000000000000" pitchFamily="2" charset="2"/>
              <a:buChar char="u"/>
            </a:pPr>
            <a:r>
              <a:rPr lang="en-US" altLang="zh-CN" sz="2000"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rPr>
              <a:t> </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操作系统对计算机硬件以及使用这些硬件的应用程序施加了更严格的控制。</a:t>
            </a:r>
            <a:endPar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lvl="0" indent="266700" fontAlgn="base">
              <a:lnSpc>
                <a:spcPct val="150000"/>
              </a:lnSpc>
              <a:spcBef>
                <a:spcPct val="0"/>
              </a:spcBef>
              <a:spcAft>
                <a:spcPct val="0"/>
              </a:spcAft>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充分利用了信息隐蔽（</a:t>
            </a:r>
            <a:r>
              <a:rPr lang="en-US" sz="2000" dirty="0">
                <a:latin typeface="华文中宋" panose="02010600040101010101" pitchFamily="2" charset="-122"/>
                <a:ea typeface="华文中宋" panose="02010600040101010101" pitchFamily="2" charset="-122"/>
              </a:rPr>
              <a:t>Information hiding</a:t>
            </a:r>
            <a:r>
              <a:rPr lang="zh-CN" altLang="en-US" sz="2000" dirty="0">
                <a:latin typeface="华文中宋" panose="02010600040101010101" pitchFamily="2" charset="-122"/>
                <a:ea typeface="华文中宋" panose="02010600040101010101" pitchFamily="2" charset="-122"/>
              </a:rPr>
              <a:t>）基本原理</a:t>
            </a:r>
            <a:endParaRPr lang="en-US" altLang="zh-CN" sz="2000" dirty="0">
              <a:latin typeface="华文中宋" panose="02010600040101010101" pitchFamily="2" charset="-122"/>
              <a:ea typeface="华文中宋" panose="02010600040101010101" pitchFamily="2" charset="-122"/>
            </a:endParaRPr>
          </a:p>
          <a:p>
            <a:pPr lvl="0" indent="266700" fontAlgn="base">
              <a:lnSpc>
                <a:spcPct val="150000"/>
              </a:lnSpc>
              <a:spcBef>
                <a:spcPct val="0"/>
              </a:spcBef>
              <a:spcAft>
                <a:spcPct val="0"/>
              </a:spcAft>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便于更改和维护操作系统内部工作方式，有利于创建模块化操作系统</a:t>
            </a:r>
            <a:endParaRPr lang="en-US" altLang="zh-CN" sz="2000" dirty="0">
              <a:latin typeface="华文中宋" panose="02010600040101010101" pitchFamily="2" charset="-122"/>
              <a:ea typeface="华文中宋" panose="02010600040101010101" pitchFamily="2" charset="-122"/>
            </a:endParaRPr>
          </a:p>
          <a:p>
            <a:pPr lvl="0" indent="266700" fontAlgn="base">
              <a:lnSpc>
                <a:spcPct val="150000"/>
              </a:lnSpc>
              <a:spcBef>
                <a:spcPct val="0"/>
              </a:spcBef>
              <a:spcAft>
                <a:spcPct val="0"/>
              </a:spcAft>
            </a:pPr>
            <a:r>
              <a:rPr kumimoji="0" lang="zh-CN" altLang="en-US" sz="2000"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宋体" panose="02010600030101010101" pitchFamily="2" charset="-122"/>
              </a:rPr>
              <a:t>缺点：</a:t>
            </a:r>
            <a:endParaRPr lang="en-US" altLang="zh-CN" sz="2000" dirty="0">
              <a:solidFill>
                <a:srgbClr val="FF0000"/>
              </a:solidFill>
              <a:latin typeface="华文中宋" panose="02010600040101010101" pitchFamily="2" charset="-122"/>
              <a:ea typeface="华文中宋" panose="02010600040101010101" pitchFamily="2" charset="-122"/>
              <a:cs typeface="宋体" panose="02010600030101010101" pitchFamily="2" charset="-122"/>
            </a:endParaRPr>
          </a:p>
          <a:p>
            <a:pPr lvl="0" indent="266700" fontAlgn="base">
              <a:lnSpc>
                <a:spcPct val="150000"/>
              </a:lnSpc>
              <a:spcBef>
                <a:spcPct val="0"/>
              </a:spcBef>
              <a:spcAft>
                <a:spcPct val="0"/>
              </a:spcAft>
              <a:buFont typeface="Wingdings" panose="05000000000000000000" pitchFamily="2" charset="2"/>
              <a:buChar char="u"/>
            </a:pPr>
            <a:r>
              <a:rPr kumimoji="0" lang="zh-CN" altLang="en-US" sz="2000" b="0" i="0" u="none" strike="noStrike" cap="none" normalizeH="0" baseline="0" dirty="0">
                <a:ln>
                  <a:noFill/>
                </a:ln>
                <a:effectLst/>
                <a:latin typeface="华文中宋" panose="02010600040101010101" pitchFamily="2" charset="-122"/>
                <a:ea typeface="华文中宋" panose="02010600040101010101" pitchFamily="2" charset="-122"/>
                <a:cs typeface="宋体" panose="02010600030101010101" pitchFamily="2" charset="-122"/>
              </a:rPr>
              <a:t>难以合理的划分和定义各个层次</a:t>
            </a:r>
            <a:endParaRPr kumimoji="0" lang="en-US" altLang="zh-CN" sz="2000" b="0" i="0" u="none" strike="noStrike" cap="none" normalizeH="0" baseline="0" dirty="0">
              <a:ln>
                <a:noFill/>
              </a:ln>
              <a:effectLst/>
              <a:latin typeface="华文中宋" panose="02010600040101010101" pitchFamily="2" charset="-122"/>
              <a:ea typeface="华文中宋" panose="02010600040101010101" pitchFamily="2" charset="-122"/>
              <a:cs typeface="宋体" panose="02010600030101010101" pitchFamily="2" charset="-122"/>
            </a:endParaRPr>
          </a:p>
          <a:p>
            <a:pPr lvl="0" indent="266700" fontAlgn="base">
              <a:lnSpc>
                <a:spcPct val="150000"/>
              </a:lnSpc>
              <a:spcBef>
                <a:spcPct val="0"/>
              </a:spcBef>
              <a:spcAft>
                <a:spcPct val="0"/>
              </a:spcAft>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cs typeface="宋体" panose="02010600030101010101" pitchFamily="2" charset="-122"/>
              </a:rPr>
              <a:t>执行效率不高</a:t>
            </a:r>
            <a:endParaRPr kumimoji="0" lang="en-US" altLang="zh-CN" sz="2000" b="0" i="0" u="none" strike="noStrike" cap="none" normalizeH="0" baseline="0" dirty="0">
              <a:ln>
                <a:noFill/>
              </a:ln>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内容占位符 2"/>
          <p:cNvSpPr>
            <a:spLocks noGrp="1"/>
          </p:cNvSpPr>
          <p:nvPr>
            <p:ph idx="1"/>
          </p:nvPr>
        </p:nvSpPr>
        <p:spPr>
          <a:xfrm>
            <a:off x="214282" y="1285860"/>
            <a:ext cx="8786874" cy="1928826"/>
          </a:xfrm>
        </p:spPr>
        <p:txBody>
          <a:bodyPr>
            <a:normAutofit fontScale="47500" lnSpcReduction="20000"/>
          </a:bodyPr>
          <a:lstStyle/>
          <a:p>
            <a:pPr>
              <a:lnSpc>
                <a:spcPct val="170000"/>
              </a:lnSpc>
              <a:buNone/>
            </a:pPr>
            <a:r>
              <a:rPr lang="en-US" altLang="zh-CN" sz="3800" dirty="0">
                <a:solidFill>
                  <a:srgbClr val="FF0000"/>
                </a:solidFill>
              </a:rPr>
              <a:t>3</a:t>
            </a:r>
            <a:r>
              <a:rPr lang="zh-CN" altLang="en-US" sz="3800" dirty="0">
                <a:solidFill>
                  <a:srgbClr val="FF0000"/>
                </a:solidFill>
              </a:rPr>
              <a:t>、微内核结构  </a:t>
            </a:r>
            <a:endParaRPr lang="en-US" altLang="zh-CN" sz="3800" dirty="0">
              <a:solidFill>
                <a:srgbClr val="FF0000"/>
              </a:solidFill>
            </a:endParaRPr>
          </a:p>
          <a:p>
            <a:pPr>
              <a:lnSpc>
                <a:spcPct val="170000"/>
              </a:lnSpc>
              <a:buNone/>
            </a:pPr>
            <a:r>
              <a:rPr lang="zh-CN" altLang="en-US" sz="3800" dirty="0"/>
              <a:t>基本思想：把</a:t>
            </a:r>
            <a:r>
              <a:rPr lang="en-US" altLang="zh-CN" sz="3800" dirty="0"/>
              <a:t>OS</a:t>
            </a:r>
            <a:r>
              <a:rPr lang="zh-CN" altLang="en-US" sz="3800" dirty="0"/>
              <a:t>中非核心组件从内核空间移动到用户空间，内核被大大简化，变成了微小内核。内核提供一个最小功能集：进程管理、内存管理和通信机制。</a:t>
            </a:r>
            <a:endParaRPr lang="zh-CN" altLang="en-US" sz="3800" dirty="0"/>
          </a:p>
        </p:txBody>
      </p:sp>
      <p:sp>
        <p:nvSpPr>
          <p:cNvPr id="83970" name="Rectangle 2"/>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83969" name="Object 1"/>
          <p:cNvGraphicFramePr>
            <a:graphicFrameLocks noChangeAspect="1"/>
          </p:cNvGraphicFramePr>
          <p:nvPr/>
        </p:nvGraphicFramePr>
        <p:xfrm>
          <a:off x="142844" y="2643182"/>
          <a:ext cx="8723854" cy="3714776"/>
        </p:xfrm>
        <a:graphic>
          <a:graphicData uri="http://schemas.openxmlformats.org/presentationml/2006/ole">
            <mc:AlternateContent xmlns:mc="http://schemas.openxmlformats.org/markup-compatibility/2006">
              <mc:Choice xmlns:v="urn:schemas-microsoft-com:vml" Requires="v">
                <p:oleObj spid="_x0000_s83981" name="Visio" r:id="rId1" imgW="6934200" imgH="2959100" progId="Visio.Drawing.11">
                  <p:embed/>
                </p:oleObj>
              </mc:Choice>
              <mc:Fallback>
                <p:oleObj name="Visio" r:id="rId1" imgW="6934200" imgH="29591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44" y="2643182"/>
                        <a:ext cx="8723854" cy="37147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971" name="Rectangle 3"/>
          <p:cNvSpPr>
            <a:spLocks noChangeArrowheads="1"/>
          </p:cNvSpPr>
          <p:nvPr/>
        </p:nvSpPr>
        <p:spPr bwMode="auto">
          <a:xfrm>
            <a:off x="2928926" y="6357958"/>
            <a:ext cx="2756267" cy="338554"/>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 </a:t>
            </a:r>
            <a:r>
              <a:rPr kumimoji="0" lang="en-US" altLang="zh-CN" sz="16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Minix</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3</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操作系统结构</a:t>
            </a: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Rectangle 4"/>
          <p:cNvSpPr>
            <a:spLocks noChangeArrowheads="1"/>
          </p:cNvSpPr>
          <p:nvPr/>
        </p:nvSpPr>
        <p:spPr bwMode="auto">
          <a:xfrm>
            <a:off x="285720" y="1500174"/>
            <a:ext cx="8572560" cy="5170646"/>
          </a:xfrm>
          <a:prstGeom prst="rect">
            <a:avLst/>
          </a:prstGeom>
          <a:noFill/>
          <a:ln w="28575">
            <a:solidFill>
              <a:schemeClr val="tx1"/>
            </a:solidFill>
            <a:miter lim="800000"/>
          </a:ln>
          <a:effectLst/>
        </p:spPr>
        <p:txBody>
          <a:bodyPr vert="horz" wrap="square" lIns="91440" tIns="45720" rIns="91440" bIns="45720" numCol="1" anchor="ctr" anchorCtr="0" compatLnSpc="1">
            <a:spAutoFit/>
          </a:bodyPr>
          <a:lstStyle/>
          <a:p>
            <a:pPr lvl="0" indent="266700" fontAlgn="base">
              <a:lnSpc>
                <a:spcPct val="150000"/>
              </a:lnSpc>
              <a:spcBef>
                <a:spcPct val="0"/>
              </a:spcBef>
              <a:spcAft>
                <a:spcPct val="0"/>
              </a:spcAft>
            </a:pPr>
            <a:r>
              <a:rPr lang="zh-CN" altLang="en-US" sz="2000" dirty="0">
                <a:solidFill>
                  <a:srgbClr val="FF0000"/>
                </a:solidFill>
                <a:latin typeface="华文中宋" panose="02010600040101010101" pitchFamily="2" charset="-122"/>
                <a:ea typeface="华文中宋" panose="02010600040101010101" pitchFamily="2" charset="-122"/>
              </a:rPr>
              <a:t>微内核结构的主要优点是易于实现操作系统的扩展</a:t>
            </a: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lvl="0">
              <a:lnSpc>
                <a:spcPct val="150000"/>
              </a:lnSpc>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所有的新服务被添加到用户空间，对内核不产生影响；</a:t>
            </a:r>
            <a:endParaRPr lang="en-US" altLang="zh-CN" sz="2000" dirty="0">
              <a:latin typeface="华文中宋" panose="02010600040101010101" pitchFamily="2" charset="-122"/>
              <a:ea typeface="华文中宋" panose="02010600040101010101" pitchFamily="2" charset="-122"/>
            </a:endParaRPr>
          </a:p>
          <a:p>
            <a:pPr>
              <a:lnSpc>
                <a:spcPct val="150000"/>
              </a:lnSpc>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由于内核较小，当需要修改内核时，其改变也相应较少；</a:t>
            </a:r>
            <a:endParaRPr lang="zh-CN" altLang="en-US" sz="2000" dirty="0">
              <a:latin typeface="华文中宋" panose="02010600040101010101" pitchFamily="2" charset="-122"/>
              <a:ea typeface="华文中宋" panose="02010600040101010101" pitchFamily="2" charset="-122"/>
            </a:endParaRPr>
          </a:p>
          <a:p>
            <a:pPr lvl="0">
              <a:lnSpc>
                <a:spcPct val="150000"/>
              </a:lnSpc>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服务之间通过消息通信机制间接交互，因此服务之间的关联较为松散，有利于实现服务的更新和维护；</a:t>
            </a:r>
            <a:endParaRPr lang="zh-CN" altLang="en-US" sz="2000" dirty="0">
              <a:latin typeface="华文中宋" panose="02010600040101010101" pitchFamily="2" charset="-122"/>
              <a:ea typeface="华文中宋" panose="02010600040101010101" pitchFamily="2" charset="-122"/>
            </a:endParaRPr>
          </a:p>
          <a:p>
            <a:pPr lvl="0">
              <a:lnSpc>
                <a:spcPct val="150000"/>
              </a:lnSpc>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微内核系统更易于移植；</a:t>
            </a:r>
            <a:endParaRPr lang="zh-CN" altLang="en-US" sz="2000" dirty="0">
              <a:latin typeface="华文中宋" panose="02010600040101010101" pitchFamily="2" charset="-122"/>
              <a:ea typeface="华文中宋" panose="02010600040101010101" pitchFamily="2" charset="-122"/>
            </a:endParaRPr>
          </a:p>
          <a:p>
            <a:pPr>
              <a:lnSpc>
                <a:spcPct val="150000"/>
              </a:lnSpc>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微内核系统提供了更高的安全性和可靠性。由于每个服务都是以一个用户态进程的形式运行的，如果一个服务失效，不会影响操作系统内核的运行</a:t>
            </a:r>
            <a:endParaRPr lang="en-US" altLang="zh-CN" sz="2000" dirty="0">
              <a:latin typeface="华文中宋" panose="02010600040101010101" pitchFamily="2" charset="-122"/>
              <a:ea typeface="华文中宋" panose="02010600040101010101" pitchFamily="2" charset="-122"/>
            </a:endParaRPr>
          </a:p>
          <a:p>
            <a:pPr>
              <a:lnSpc>
                <a:spcPct val="150000"/>
              </a:lnSpc>
            </a:pPr>
            <a:r>
              <a:rPr kumimoji="0" lang="zh-CN" altLang="en-US" sz="2000"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宋体" panose="02010600030101010101" pitchFamily="2" charset="-122"/>
              </a:rPr>
              <a:t>缺点：</a:t>
            </a:r>
            <a:endParaRPr kumimoji="0" lang="en-US" altLang="zh-CN" sz="2000"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宋体" panose="02010600030101010101" pitchFamily="2" charset="-122"/>
            </a:endParaRPr>
          </a:p>
          <a:p>
            <a:pPr>
              <a:lnSpc>
                <a:spcPct val="150000"/>
              </a:lnSpc>
              <a:buFont typeface="Wingdings" panose="05000000000000000000" pitchFamily="2" charset="2"/>
              <a:buChar char="u"/>
            </a:pPr>
            <a:r>
              <a:rPr lang="zh-CN" altLang="en-US" sz="2000" dirty="0">
                <a:solidFill>
                  <a:srgbClr val="FF0000"/>
                </a:solidFill>
                <a:latin typeface="华文中宋" panose="02010600040101010101" pitchFamily="2" charset="-122"/>
                <a:ea typeface="华文中宋" panose="02010600040101010101" pitchFamily="2" charset="-122"/>
                <a:cs typeface="宋体" panose="02010600030101010101" pitchFamily="2" charset="-122"/>
              </a:rPr>
              <a:t> </a:t>
            </a:r>
            <a:r>
              <a:rPr lang="zh-CN" altLang="en-US" sz="2000" dirty="0">
                <a:latin typeface="华文中宋" panose="02010600040101010101" pitchFamily="2" charset="-122"/>
                <a:ea typeface="华文中宋" panose="02010600040101010101" pitchFamily="2" charset="-122"/>
                <a:cs typeface="宋体" panose="02010600030101010101" pitchFamily="2" charset="-122"/>
              </a:rPr>
              <a:t>执行效率问题：消息传递存在拷贝数据的开销；消息传递通常涉及进程切换的开销</a:t>
            </a:r>
            <a:endParaRPr kumimoji="0" lang="en-US" altLang="zh-CN" sz="2000" b="0" i="0" u="none" strike="noStrike" cap="none" normalizeH="0" baseline="0" dirty="0">
              <a:ln>
                <a:noFill/>
              </a:ln>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内容占位符 2"/>
          <p:cNvSpPr>
            <a:spLocks noGrp="1"/>
          </p:cNvSpPr>
          <p:nvPr>
            <p:ph idx="1"/>
          </p:nvPr>
        </p:nvSpPr>
        <p:spPr>
          <a:xfrm>
            <a:off x="214282" y="1285860"/>
            <a:ext cx="8786874" cy="1928826"/>
          </a:xfrm>
        </p:spPr>
        <p:txBody>
          <a:bodyPr>
            <a:normAutofit fontScale="47500" lnSpcReduction="20000"/>
          </a:bodyPr>
          <a:lstStyle/>
          <a:p>
            <a:pPr>
              <a:lnSpc>
                <a:spcPct val="170000"/>
              </a:lnSpc>
              <a:buNone/>
            </a:pPr>
            <a:r>
              <a:rPr lang="en-US" altLang="zh-CN" sz="3800" dirty="0">
                <a:solidFill>
                  <a:srgbClr val="FF0000"/>
                </a:solidFill>
              </a:rPr>
              <a:t>4</a:t>
            </a:r>
            <a:r>
              <a:rPr lang="zh-CN" altLang="en-US" sz="3800" dirty="0">
                <a:solidFill>
                  <a:srgbClr val="FF0000"/>
                </a:solidFill>
              </a:rPr>
              <a:t>、模块结构  </a:t>
            </a:r>
            <a:endParaRPr lang="en-US" altLang="zh-CN" sz="3800" dirty="0">
              <a:solidFill>
                <a:srgbClr val="FF0000"/>
              </a:solidFill>
            </a:endParaRPr>
          </a:p>
          <a:p>
            <a:pPr>
              <a:lnSpc>
                <a:spcPct val="170000"/>
              </a:lnSpc>
              <a:buNone/>
            </a:pPr>
            <a:r>
              <a:rPr lang="zh-CN" altLang="en-US" sz="3800" dirty="0"/>
              <a:t>    基本思想：由内核提供核心服务，其它特定服务功能以</a:t>
            </a:r>
            <a:r>
              <a:rPr lang="zh-CN" altLang="en-US" sz="3800" dirty="0">
                <a:solidFill>
                  <a:srgbClr val="FF0000"/>
                </a:solidFill>
              </a:rPr>
              <a:t>动态</a:t>
            </a:r>
            <a:r>
              <a:rPr lang="zh-CN" altLang="en-US" sz="3800" dirty="0"/>
              <a:t>模块的形式提供。比如，可以把特定硬件的驱动程序添加到内核中，而把支持不同文件系统的模块以可加载模块的形式添加到系统中。</a:t>
            </a:r>
            <a:endParaRPr lang="zh-CN" altLang="en-US" sz="3800" dirty="0"/>
          </a:p>
        </p:txBody>
      </p:sp>
      <p:sp>
        <p:nvSpPr>
          <p:cNvPr id="84994" name="Rectangle 2"/>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84993" name="Object 1"/>
          <p:cNvGraphicFramePr>
            <a:graphicFrameLocks noChangeAspect="1"/>
          </p:cNvGraphicFramePr>
          <p:nvPr/>
        </p:nvGraphicFramePr>
        <p:xfrm>
          <a:off x="2571736" y="2857496"/>
          <a:ext cx="6395814" cy="3429024"/>
        </p:xfrm>
        <a:graphic>
          <a:graphicData uri="http://schemas.openxmlformats.org/presentationml/2006/ole">
            <mc:AlternateContent xmlns:mc="http://schemas.openxmlformats.org/markup-compatibility/2006">
              <mc:Choice xmlns:v="urn:schemas-microsoft-com:vml" Requires="v">
                <p:oleObj spid="_x0000_s85005" name="Visio" r:id="rId1" imgW="5918200" imgH="3175000" progId="Visio.Drawing.11">
                  <p:embed/>
                </p:oleObj>
              </mc:Choice>
              <mc:Fallback>
                <p:oleObj name="Visio" r:id="rId1" imgW="5918200" imgH="31750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36" y="2857496"/>
                        <a:ext cx="6395814" cy="34290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4995" name="Rectangle 3"/>
          <p:cNvSpPr>
            <a:spLocks noChangeArrowheads="1"/>
          </p:cNvSpPr>
          <p:nvPr/>
        </p:nvSpPr>
        <p:spPr bwMode="auto">
          <a:xfrm>
            <a:off x="4786314" y="6357958"/>
            <a:ext cx="2473754" cy="338554"/>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1-12 Solaris</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可加载模块</a:t>
            </a: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内容占位符 2"/>
          <p:cNvSpPr>
            <a:spLocks noGrp="1"/>
          </p:cNvSpPr>
          <p:nvPr>
            <p:ph idx="1"/>
          </p:nvPr>
        </p:nvSpPr>
        <p:spPr>
          <a:xfrm>
            <a:off x="214282" y="1500174"/>
            <a:ext cx="8786874" cy="4572032"/>
          </a:xfrm>
        </p:spPr>
        <p:txBody>
          <a:bodyPr>
            <a:normAutofit fontScale="62500" lnSpcReduction="20000"/>
          </a:bodyPr>
          <a:lstStyle/>
          <a:p>
            <a:pPr>
              <a:lnSpc>
                <a:spcPct val="170000"/>
              </a:lnSpc>
              <a:buNone/>
            </a:pPr>
            <a:r>
              <a:rPr lang="en-US" altLang="zh-CN" sz="3800" dirty="0">
                <a:solidFill>
                  <a:srgbClr val="FF0000"/>
                </a:solidFill>
              </a:rPr>
              <a:t>5</a:t>
            </a:r>
            <a:r>
              <a:rPr lang="zh-CN" altLang="en-US" sz="3800" dirty="0">
                <a:solidFill>
                  <a:srgbClr val="FF0000"/>
                </a:solidFill>
              </a:rPr>
              <a:t>、虚拟机  </a:t>
            </a:r>
            <a:endParaRPr lang="en-US" altLang="zh-CN" sz="3800" dirty="0">
              <a:solidFill>
                <a:srgbClr val="FF0000"/>
              </a:solidFill>
            </a:endParaRPr>
          </a:p>
          <a:p>
            <a:pPr>
              <a:lnSpc>
                <a:spcPct val="170000"/>
              </a:lnSpc>
              <a:buNone/>
            </a:pPr>
            <a:r>
              <a:rPr lang="zh-CN" altLang="en-US" sz="2900" dirty="0"/>
              <a:t>      虚拟机（</a:t>
            </a:r>
            <a:r>
              <a:rPr lang="en-US" sz="2900" dirty="0"/>
              <a:t>VM</a:t>
            </a:r>
            <a:r>
              <a:rPr lang="zh-CN" altLang="en-US" sz="2900" dirty="0"/>
              <a:t>，</a:t>
            </a:r>
            <a:r>
              <a:rPr lang="en-US" sz="2900" dirty="0"/>
              <a:t>Virtual machine</a:t>
            </a:r>
            <a:r>
              <a:rPr lang="zh-CN" altLang="en-US" sz="2900" dirty="0"/>
              <a:t>）就是一个</a:t>
            </a:r>
            <a:r>
              <a:rPr lang="zh-CN" altLang="en-US" sz="2900" dirty="0">
                <a:solidFill>
                  <a:srgbClr val="FF0000"/>
                </a:solidFill>
              </a:rPr>
              <a:t>计算机硬件系统的软件实现</a:t>
            </a:r>
            <a:r>
              <a:rPr lang="zh-CN" altLang="en-US" sz="2900" dirty="0"/>
              <a:t>，</a:t>
            </a:r>
            <a:r>
              <a:rPr lang="zh-CN" altLang="en-US" sz="2900" dirty="0">
                <a:solidFill>
                  <a:srgbClr val="FF0000"/>
                </a:solidFill>
              </a:rPr>
              <a:t>它能够模拟和仿真特定计算机硬件，并提供一套与底层硬件完全相同的接口</a:t>
            </a:r>
            <a:r>
              <a:rPr lang="zh-CN" altLang="en-US" sz="2900" dirty="0"/>
              <a:t>，</a:t>
            </a:r>
            <a:r>
              <a:rPr lang="zh-CN" altLang="en-US" sz="2900" dirty="0">
                <a:solidFill>
                  <a:srgbClr val="FF0000"/>
                </a:solidFill>
              </a:rPr>
              <a:t>这样运行在物理计算机上的操作系统以及应用程序也同样可以运行在虚拟机上</a:t>
            </a:r>
            <a:r>
              <a:rPr lang="zh-CN" altLang="en-US" sz="2900" dirty="0"/>
              <a:t>。</a:t>
            </a:r>
            <a:endParaRPr lang="en-US" altLang="zh-CN" sz="2900" dirty="0"/>
          </a:p>
          <a:p>
            <a:pPr>
              <a:lnSpc>
                <a:spcPct val="170000"/>
              </a:lnSpc>
              <a:buNone/>
            </a:pPr>
            <a:r>
              <a:rPr lang="en-US" altLang="zh-CN" sz="2900" dirty="0"/>
              <a:t>    </a:t>
            </a:r>
            <a:r>
              <a:rPr lang="zh-CN" altLang="en-US" sz="2900" dirty="0"/>
              <a:t>构造系统虚拟机的目的：</a:t>
            </a:r>
            <a:endParaRPr lang="en-US" altLang="zh-CN" sz="2900" dirty="0"/>
          </a:p>
          <a:p>
            <a:pPr>
              <a:lnSpc>
                <a:spcPct val="170000"/>
              </a:lnSpc>
              <a:buFont typeface="Wingdings" panose="05000000000000000000" pitchFamily="2" charset="2"/>
              <a:buChar char="u"/>
            </a:pPr>
            <a:r>
              <a:rPr lang="zh-CN" altLang="en-US" sz="2900" dirty="0"/>
              <a:t>在实际硬件还没有得到之前就运行和测试应用程序</a:t>
            </a:r>
            <a:endParaRPr lang="en-US" altLang="zh-CN" sz="2900" dirty="0"/>
          </a:p>
          <a:p>
            <a:pPr>
              <a:lnSpc>
                <a:spcPct val="170000"/>
              </a:lnSpc>
              <a:buFont typeface="Wingdings" panose="05000000000000000000" pitchFamily="2" charset="2"/>
              <a:buChar char="u"/>
            </a:pPr>
            <a:r>
              <a:rPr lang="zh-CN" altLang="en-US" sz="2900" dirty="0"/>
              <a:t>在一台计算机上运行虚拟机的多个实例，仿真多个计算环境，以提高计算资源的使用效率</a:t>
            </a:r>
            <a:endParaRPr lang="en-US" altLang="zh-CN" sz="2900" dirty="0"/>
          </a:p>
          <a:p>
            <a:pPr>
              <a:lnSpc>
                <a:spcPct val="170000"/>
              </a:lnSpc>
              <a:buFont typeface="Wingdings" panose="05000000000000000000" pitchFamily="2" charset="2"/>
              <a:buChar char="u"/>
            </a:pPr>
            <a:r>
              <a:rPr lang="zh-CN" altLang="en-US" sz="2900" dirty="0"/>
              <a:t>提高系统的安全可靠性</a:t>
            </a:r>
            <a:endParaRPr lang="zh-CN" altLang="en-US" sz="2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87042"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87041" name="Object 1"/>
          <p:cNvGraphicFramePr>
            <a:graphicFrameLocks noChangeAspect="1"/>
          </p:cNvGraphicFramePr>
          <p:nvPr/>
        </p:nvGraphicFramePr>
        <p:xfrm>
          <a:off x="928662" y="1500174"/>
          <a:ext cx="7612360" cy="4357718"/>
        </p:xfrm>
        <a:graphic>
          <a:graphicData uri="http://schemas.openxmlformats.org/presentationml/2006/ole">
            <mc:AlternateContent xmlns:mc="http://schemas.openxmlformats.org/markup-compatibility/2006">
              <mc:Choice xmlns:v="urn:schemas-microsoft-com:vml" Requires="v">
                <p:oleObj spid="_x0000_s87053" name="Visio" r:id="rId1" imgW="5613400" imgH="3225800" progId="Visio.Drawing.11">
                  <p:embed/>
                </p:oleObj>
              </mc:Choice>
              <mc:Fallback>
                <p:oleObj name="Visio" r:id="rId1" imgW="5613400" imgH="32258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662" y="1500174"/>
                        <a:ext cx="7612360" cy="43577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7043" name="Rectangle 3"/>
          <p:cNvSpPr>
            <a:spLocks noChangeArrowheads="1"/>
          </p:cNvSpPr>
          <p:nvPr/>
        </p:nvSpPr>
        <p:spPr bwMode="auto">
          <a:xfrm>
            <a:off x="2571736" y="6072206"/>
            <a:ext cx="3510898" cy="338554"/>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22860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1-13 </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采用虚拟机的操作系统结构</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89090" name="Rectangle 2"/>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89089" name="Object 1"/>
          <p:cNvGraphicFramePr>
            <a:graphicFrameLocks noChangeAspect="1"/>
          </p:cNvGraphicFramePr>
          <p:nvPr/>
        </p:nvGraphicFramePr>
        <p:xfrm>
          <a:off x="1071538" y="2285992"/>
          <a:ext cx="7826292" cy="3571900"/>
        </p:xfrm>
        <a:graphic>
          <a:graphicData uri="http://schemas.openxmlformats.org/presentationml/2006/ole">
            <mc:AlternateContent xmlns:mc="http://schemas.openxmlformats.org/markup-compatibility/2006">
              <mc:Choice xmlns:v="urn:schemas-microsoft-com:vml" Requires="v">
                <p:oleObj spid="_x0000_s89101" name="Visio" r:id="rId1" imgW="5930900" imgH="2717800" progId="Visio.Drawing.11">
                  <p:embed/>
                </p:oleObj>
              </mc:Choice>
              <mc:Fallback>
                <p:oleObj name="Visio" r:id="rId1" imgW="5930900" imgH="27178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38" y="2285992"/>
                        <a:ext cx="7826292" cy="3571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9091" name="Rectangle 3"/>
          <p:cNvSpPr>
            <a:spLocks noChangeArrowheads="1"/>
          </p:cNvSpPr>
          <p:nvPr/>
        </p:nvSpPr>
        <p:spPr bwMode="auto">
          <a:xfrm>
            <a:off x="3286116" y="6072206"/>
            <a:ext cx="2216761" cy="338554"/>
          </a:xfrm>
          <a:prstGeom prst="rect">
            <a:avLst/>
          </a:prstGeom>
          <a:solidFill>
            <a:srgbClr val="FFFFFF"/>
          </a:solid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1-14 VMware</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的结构</a:t>
            </a: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7" name="TextBox 6"/>
          <p:cNvSpPr txBox="1"/>
          <p:nvPr/>
        </p:nvSpPr>
        <p:spPr>
          <a:xfrm>
            <a:off x="357158" y="1428736"/>
            <a:ext cx="5838458" cy="400110"/>
          </a:xfrm>
          <a:prstGeom prst="rect">
            <a:avLst/>
          </a:prstGeom>
          <a:noFill/>
        </p:spPr>
        <p:txBody>
          <a:bodyPr wrap="none" rtlCol="0">
            <a:spAutoFit/>
          </a:bodyPr>
          <a:lstStyle/>
          <a:p>
            <a:r>
              <a:rPr lang="zh-CN" altLang="en-US" sz="2000" dirty="0">
                <a:solidFill>
                  <a:srgbClr val="FF0000"/>
                </a:solidFill>
                <a:latin typeface="华文中宋" panose="02010600040101010101" pitchFamily="2" charset="-122"/>
                <a:ea typeface="华文中宋" panose="02010600040101010101" pitchFamily="2" charset="-122"/>
              </a:rPr>
              <a:t>虚拟机也可以建立在宿主操作系统上（</a:t>
            </a:r>
            <a:r>
              <a:rPr lang="en-US" altLang="zh-CN" sz="2000" dirty="0">
                <a:solidFill>
                  <a:srgbClr val="FF0000"/>
                </a:solidFill>
                <a:latin typeface="华文中宋" panose="02010600040101010101" pitchFamily="2" charset="-122"/>
                <a:ea typeface="华文中宋" panose="02010600040101010101" pitchFamily="2" charset="-122"/>
              </a:rPr>
              <a:t>Host OS</a:t>
            </a:r>
            <a:r>
              <a:rPr lang="zh-CN" altLang="en-US" sz="2000" dirty="0">
                <a:solidFill>
                  <a:srgbClr val="FF0000"/>
                </a:solidFill>
                <a:latin typeface="华文中宋" panose="02010600040101010101" pitchFamily="2" charset="-122"/>
                <a:ea typeface="华文中宋" panose="02010600040101010101" pitchFamily="2" charset="-122"/>
              </a:rPr>
              <a:t>）</a:t>
            </a:r>
            <a:endParaRPr lang="zh-CN" altLang="en-US" sz="2000"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TextBox 3"/>
          <p:cNvSpPr txBox="1"/>
          <p:nvPr/>
        </p:nvSpPr>
        <p:spPr>
          <a:xfrm>
            <a:off x="285720" y="1643050"/>
            <a:ext cx="8643998" cy="3831818"/>
          </a:xfrm>
          <a:prstGeom prst="rect">
            <a:avLst/>
          </a:prstGeom>
          <a:noFill/>
          <a:ln w="28575">
            <a:solidFill>
              <a:schemeClr val="tx1"/>
            </a:solidFill>
          </a:ln>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使用虚拟机的好处是：</a:t>
            </a:r>
            <a:endParaRPr lang="zh-CN" altLang="en-US" dirty="0">
              <a:latin typeface="华文中宋" panose="02010600040101010101" pitchFamily="2" charset="-122"/>
              <a:ea typeface="华文中宋" panose="02010600040101010101" pitchFamily="2" charset="-122"/>
            </a:endParaRPr>
          </a:p>
          <a:p>
            <a:pPr lvl="0">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每个虚拟机都与其它虚拟机完全隔离，对各种系统资源提供一个完全的保护；</a:t>
            </a:r>
            <a:endParaRPr lang="zh-CN" altLang="en-US" dirty="0">
              <a:latin typeface="华文中宋" panose="02010600040101010101" pitchFamily="2" charset="-122"/>
              <a:ea typeface="华文中宋" panose="02010600040101010101" pitchFamily="2" charset="-122"/>
            </a:endParaRPr>
          </a:p>
          <a:p>
            <a:pPr lvl="0">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多个虚拟机实例共享相同的硬件，构造了一个异质计算平台，提高了计算资源的使用效率；</a:t>
            </a:r>
            <a:endParaRPr lang="zh-CN" altLang="en-US" dirty="0">
              <a:latin typeface="华文中宋" panose="02010600040101010101" pitchFamily="2" charset="-122"/>
              <a:ea typeface="华文中宋" panose="02010600040101010101" pitchFamily="2" charset="-122"/>
            </a:endParaRPr>
          </a:p>
          <a:p>
            <a:pPr lvl="0">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虚拟机为操作系统研究和开发提供了一个理想的载体；</a:t>
            </a:r>
            <a:endParaRPr lang="zh-CN" altLang="en-US" dirty="0">
              <a:latin typeface="华文中宋" panose="02010600040101010101" pitchFamily="2" charset="-122"/>
              <a:ea typeface="华文中宋" panose="02010600040101010101" pitchFamily="2" charset="-122"/>
            </a:endParaRPr>
          </a:p>
          <a:p>
            <a:pPr>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计算资源的虚拟化是云计算模式的关键技术。云计算模式要求在数据中心对各种计算资源进行统一管理，每个客户准备计算时，需要向云端发起任务请求，计算任务实际上是在云端完成的，这就要求云必须要为每个客户建立一个虚拟计算环境，并且保证每个虚拟环境的隔离性和安全性。</a:t>
            </a:r>
            <a:endParaRPr lang="zh-CN" altLang="en-US"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作业</a:t>
            </a:r>
            <a:endParaRPr lang="en-US" altLang="zh-CN" dirty="0"/>
          </a:p>
          <a:p>
            <a:endParaRPr lang="en-US" altLang="zh-CN" dirty="0"/>
          </a:p>
          <a:p>
            <a:pPr>
              <a:buNone/>
            </a:pPr>
            <a:r>
              <a:rPr lang="en-US" altLang="zh-CN" dirty="0"/>
              <a:t>P20      4</a:t>
            </a:r>
            <a:r>
              <a:rPr lang="zh-CN" altLang="en-US" dirty="0"/>
              <a:t>、</a:t>
            </a:r>
            <a:r>
              <a:rPr lang="en-US" altLang="zh-CN" dirty="0"/>
              <a:t>5</a:t>
            </a:r>
            <a:r>
              <a:rPr lang="zh-CN" altLang="en-US" dirty="0"/>
              <a:t>、</a:t>
            </a:r>
            <a:r>
              <a:rPr lang="en-US" altLang="zh-CN" dirty="0"/>
              <a:t>6</a:t>
            </a:r>
            <a:endParaRPr lang="zh-CN" altLang="en-US" dirty="0"/>
          </a:p>
        </p:txBody>
      </p:sp>
    </p:spTree>
  </p:cSld>
  <p:clrMapOvr>
    <a:masterClrMapping/>
  </p:clrMapOvr>
</p:sld>
</file>

<file path=ppt/tags/tag1.xml><?xml version="1.0" encoding="utf-8"?>
<p:tagLst xmlns:p="http://schemas.openxmlformats.org/presentationml/2006/main">
  <p:tag name="KSO_WPP_MARK_KEY" val="1979ec95-e265-4758-9333-33b293600345"/>
  <p:tag name="COMMONDATA" val="eyJoZGlkIjoiMTdlMGY2ZWU1ZTdkNjY2Nzc5OTEzOTExMmU2NDk1Nz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4812</Words>
  <Application>WPS 演示</Application>
  <PresentationFormat>全屏显示(4:3)</PresentationFormat>
  <Paragraphs>259</Paragraphs>
  <Slides>31</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13</vt:i4>
      </vt:variant>
      <vt:variant>
        <vt:lpstr>幻灯片标题</vt:lpstr>
      </vt:variant>
      <vt:variant>
        <vt:i4>31</vt:i4>
      </vt:variant>
    </vt:vector>
  </HeadingPairs>
  <TitlesOfParts>
    <vt:vector size="56" baseType="lpstr">
      <vt:lpstr>Arial</vt:lpstr>
      <vt:lpstr>宋体</vt:lpstr>
      <vt:lpstr>Wingdings</vt:lpstr>
      <vt:lpstr>黑体</vt:lpstr>
      <vt:lpstr>华文中宋</vt:lpstr>
      <vt:lpstr>Calibri</vt:lpstr>
      <vt:lpstr>微软雅黑</vt:lpstr>
      <vt:lpstr>Arial Unicode MS</vt:lpstr>
      <vt:lpstr>Times New Roman</vt:lpstr>
      <vt:lpstr>Times New Roman</vt:lpstr>
      <vt:lpstr>Calibri</vt:lpstr>
      <vt:lpstr>Office 主题</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第一章 计算机操作系统概论</vt:lpstr>
      <vt:lpstr>1.0 课程概论</vt:lpstr>
      <vt:lpstr>PowerPoint 演示文稿</vt:lpstr>
      <vt:lpstr>PowerPoint 演示文稿</vt:lpstr>
      <vt:lpstr>PowerPoint 演示文稿</vt:lpstr>
      <vt:lpstr>1.1 操作系统的概念</vt:lpstr>
      <vt:lpstr>PowerPoint 演示文稿</vt:lpstr>
      <vt:lpstr>PowerPoint 演示文稿</vt:lpstr>
      <vt:lpstr>PowerPoint 演示文稿</vt:lpstr>
      <vt:lpstr>PowerPoint 演示文稿</vt:lpstr>
      <vt:lpstr>1.2 操作系统的发展历史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1.2 操作系统的体系结构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操作系统教程</dc:title>
  <dc:creator>think</dc:creator>
  <cp:lastModifiedBy>WPS_1606829141</cp:lastModifiedBy>
  <cp:revision>80</cp:revision>
  <dcterms:created xsi:type="dcterms:W3CDTF">2016-08-31T08:35:00Z</dcterms:created>
  <dcterms:modified xsi:type="dcterms:W3CDTF">2023-03-02T03:02:50Z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BF333553B1D14AC38EA7B441EC58A26D</vt:lpwstr>
  </property>
  <property fmtid="{D5CDD505-2E9C-101B-9397-08002B2CF9AE}" pid="3" name="KSOProductBuildVer">
    <vt:lpwstr>2052-11.1.0.13703</vt:lpwstr>
  </property>
</Properties>
</file>