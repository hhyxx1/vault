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tags/tag64.xml" ContentType="application/vnd.openxmlformats-officedocument.presentationml.tags+xml"/>
  <Override PartName="/ppt/notesSlides/notesSlide2.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427" r:id="rId2"/>
    <p:sldId id="959" r:id="rId3"/>
    <p:sldId id="667" r:id="rId4"/>
    <p:sldId id="820" r:id="rId5"/>
    <p:sldId id="669" r:id="rId6"/>
    <p:sldId id="821" r:id="rId7"/>
    <p:sldId id="824" r:id="rId8"/>
    <p:sldId id="825" r:id="rId9"/>
    <p:sldId id="819" r:id="rId10"/>
    <p:sldId id="826" r:id="rId11"/>
    <p:sldId id="827" r:id="rId12"/>
    <p:sldId id="962" r:id="rId13"/>
    <p:sldId id="961" r:id="rId14"/>
    <p:sldId id="671" r:id="rId15"/>
    <p:sldId id="907" r:id="rId16"/>
    <p:sldId id="905" r:id="rId17"/>
    <p:sldId id="912" r:id="rId18"/>
    <p:sldId id="911" r:id="rId19"/>
    <p:sldId id="914" r:id="rId20"/>
    <p:sldId id="918" r:id="rId21"/>
    <p:sldId id="919" r:id="rId22"/>
    <p:sldId id="921" r:id="rId23"/>
    <p:sldId id="922" r:id="rId24"/>
    <p:sldId id="923" r:id="rId25"/>
    <p:sldId id="924" r:id="rId26"/>
    <p:sldId id="926" r:id="rId27"/>
    <p:sldId id="927" r:id="rId28"/>
    <p:sldId id="958" r:id="rId29"/>
    <p:sldId id="928" r:id="rId30"/>
    <p:sldId id="929" r:id="rId31"/>
    <p:sldId id="930" r:id="rId32"/>
    <p:sldId id="931" r:id="rId33"/>
    <p:sldId id="932" r:id="rId34"/>
    <p:sldId id="934" r:id="rId35"/>
    <p:sldId id="936" r:id="rId36"/>
    <p:sldId id="938" r:id="rId37"/>
    <p:sldId id="939" r:id="rId38"/>
    <p:sldId id="941" r:id="rId39"/>
    <p:sldId id="277" r:id="rId40"/>
    <p:sldId id="942" r:id="rId41"/>
    <p:sldId id="944" r:id="rId42"/>
    <p:sldId id="945" r:id="rId43"/>
    <p:sldId id="946" r:id="rId44"/>
    <p:sldId id="948" r:id="rId45"/>
    <p:sldId id="947" r:id="rId46"/>
    <p:sldId id="949" r:id="rId47"/>
    <p:sldId id="952" r:id="rId48"/>
    <p:sldId id="953" r:id="rId49"/>
    <p:sldId id="954" r:id="rId50"/>
    <p:sldId id="957" r:id="rId51"/>
    <p:sldId id="963" r:id="rId52"/>
    <p:sldId id="964" r:id="rId53"/>
    <p:sldId id="807" r:id="rId54"/>
    <p:sldId id="808" r:id="rId55"/>
    <p:sldId id="960"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7">
          <p15:clr>
            <a:srgbClr val="A4A3A4"/>
          </p15:clr>
        </p15:guide>
        <p15:guide id="2" pos="383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8A1E5"/>
    <a:srgbClr val="692B99"/>
    <a:srgbClr val="8F46C8"/>
    <a:srgbClr val="FFFFFF"/>
    <a:srgbClr val="DE8300"/>
    <a:srgbClr val="9956CC"/>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6040" autoAdjust="0"/>
  </p:normalViewPr>
  <p:slideViewPr>
    <p:cSldViewPr snapToGrid="0">
      <p:cViewPr varScale="1">
        <p:scale>
          <a:sx n="52" d="100"/>
          <a:sy n="52" d="100"/>
        </p:scale>
        <p:origin x="1204" y="48"/>
      </p:cViewPr>
      <p:guideLst>
        <p:guide orient="horz" pos="2027"/>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内存中存在一些不用或暂时不用的程序占据了大量的内存空间；</a:t>
            </a:r>
          </a:p>
          <a:p>
            <a:r>
              <a:rPr lang="zh-CN" altLang="en-US" dirty="0">
                <a:sym typeface="+mn-ea"/>
              </a:rPr>
              <a:t>一些需要运行的程序因没有足够的内存空间而无法装入内存运行。</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82680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程序在执行时，在一段时间内，</a:t>
            </a:r>
            <a:r>
              <a:rPr lang="en-US" altLang="zh-CN" dirty="0">
                <a:sym typeface="+mn-ea"/>
              </a:rPr>
              <a:t>CPU</a:t>
            </a:r>
            <a:r>
              <a:rPr lang="zh-CN" altLang="en-US" dirty="0">
                <a:sym typeface="+mn-ea"/>
              </a:rPr>
              <a:t>总是集中地访问程序中的某一个部分，这种现象称为局部性原理。</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479975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楷体" panose="02010609060101010101" charset="-122"/>
                <a:ea typeface="楷体" panose="02010609060101010101" charset="-122"/>
                <a:cs typeface="楷体" panose="02010609060101010101" charset="-122"/>
              </a:rPr>
              <a:t>内存中加载的重要内容，如操作系统内核及用到的重要数据结构等，需要通过“锁定”排除于置换范围之外。锁定可以通过在页表和物理块表中为每个表项增加一个Lock位来实现。</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960929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预调页策略</a:t>
            </a:r>
          </a:p>
          <a:p>
            <a:pPr lvl="2"/>
            <a:r>
              <a:rPr lang="zh-CN" altLang="en-US" dirty="0">
                <a:sym typeface="+mn-ea"/>
              </a:rPr>
              <a:t>系统预测进程接下来要访问的页，将一个或多个页提前调入内存。</a:t>
            </a:r>
          </a:p>
          <a:p>
            <a:pPr lvl="1"/>
            <a:r>
              <a:rPr lang="zh-CN" altLang="en-US" dirty="0"/>
              <a:t>请求调页策略</a:t>
            </a:r>
          </a:p>
          <a:p>
            <a:pPr lvl="2"/>
            <a:r>
              <a:rPr lang="zh-CN" altLang="en-US" dirty="0">
                <a:sym typeface="+mn-ea"/>
              </a:rPr>
              <a:t>发生缺页时，再将其调入内存的方法。</a:t>
            </a:r>
          </a:p>
          <a:p>
            <a:pPr lvl="2"/>
            <a:r>
              <a:rPr lang="zh-CN" altLang="en-US" dirty="0">
                <a:sym typeface="+mn-ea"/>
              </a:rPr>
              <a:t>实现简单，增加磁盘</a:t>
            </a:r>
            <a:r>
              <a:rPr lang="en-US" altLang="zh-CN" dirty="0">
                <a:sym typeface="+mn-ea"/>
              </a:rPr>
              <a:t>I/O</a:t>
            </a:r>
            <a:r>
              <a:rPr lang="zh-CN" altLang="en-US" dirty="0">
                <a:sym typeface="+mn-ea"/>
              </a:rPr>
              <a:t>开销。</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36810877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slideMaster" Target="../slideMasters/slideMaster1.xml"/><Relationship Id="rId4" Type="http://schemas.openxmlformats.org/officeDocument/2006/relationships/tags" Target="../tags/tag3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Master" Target="../slideMasters/slideMaster1.xml"/><Relationship Id="rId5" Type="http://schemas.openxmlformats.org/officeDocument/2006/relationships/tags" Target="../tags/tag57.xml"/><Relationship Id="rId4"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
        <p:nvSpPr>
          <p:cNvPr id="12" name="任意多边形 11"/>
          <p:cNvSpPr/>
          <p:nvPr userDrawn="1"/>
        </p:nvSpPr>
        <p:spPr>
          <a:xfrm>
            <a:off x="0" y="1264921"/>
            <a:ext cx="12206817" cy="5281083"/>
          </a:xfrm>
          <a:custGeom>
            <a:avLst/>
            <a:gdLst/>
            <a:ahLst/>
            <a:cxnLst/>
            <a:rect l="0" t="0" r="0" b="0"/>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alpha val="100000"/>
                </a:schemeClr>
              </a:gs>
              <a:gs pos="100000">
                <a:schemeClr val="bg1">
                  <a:alpha val="89999"/>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2" name="标题 1"/>
          <p:cNvSpPr>
            <a:spLocks noGrp="1"/>
          </p:cNvSpPr>
          <p:nvPr>
            <p:ph type="ctrTitle" hasCustomPrompt="1"/>
            <p:custDataLst>
              <p:tags r:id="rId1"/>
            </p:custDataLst>
          </p:nvPr>
        </p:nvSpPr>
        <p:spPr>
          <a:xfrm>
            <a:off x="3775075" y="1981835"/>
            <a:ext cx="5626100" cy="1236345"/>
          </a:xfrm>
          <a:noFill/>
          <a:extLst>
            <a:ext uri="{909E8E84-426E-40DD-AFC4-6F175D3DCCD1}">
              <a14:hiddenFill xmlns:a14="http://schemas.microsoft.com/office/drawing/2010/main">
                <a:solidFill>
                  <a:schemeClr val="accent1">
                    <a:lumMod val="75000"/>
                  </a:schemeClr>
                </a:solidFill>
              </a14:hiddenFill>
            </a:ext>
          </a:extLst>
        </p:spPr>
        <p:txBody>
          <a:bodyPr lIns="90000" tIns="46800" rIns="90000" bIns="46800" anchor="b" anchorCtr="0">
            <a:normAutofit/>
          </a:bodyPr>
          <a:lstStyle>
            <a:lvl1pPr algn="ctr">
              <a:defRPr sz="4800" b="1" i="0" spc="300" baseline="0">
                <a:solidFill>
                  <a:schemeClr val="accent1">
                    <a:lumMod val="75000"/>
                  </a:schemeClr>
                </a:solidFill>
                <a:effectLst/>
              </a:defRPr>
            </a:lvl1pPr>
          </a:lstStyle>
          <a:p>
            <a:r>
              <a:rPr lang="zh-CN" altLang="en-US" dirty="0"/>
              <a:t>单击此处编辑标题</a:t>
            </a:r>
          </a:p>
        </p:txBody>
      </p:sp>
      <p:sp>
        <p:nvSpPr>
          <p:cNvPr id="8" name="任意多边形 7"/>
          <p:cNvSpPr/>
          <p:nvPr userDrawn="1"/>
        </p:nvSpPr>
        <p:spPr>
          <a:xfrm>
            <a:off x="156633" y="582930"/>
            <a:ext cx="12035367" cy="575733"/>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 name="文本框 9"/>
          <p:cNvSpPr txBox="1"/>
          <p:nvPr userDrawn="1"/>
        </p:nvSpPr>
        <p:spPr>
          <a:xfrm>
            <a:off x="8974455" y="389890"/>
            <a:ext cx="2717165" cy="460375"/>
          </a:xfrm>
          <a:prstGeom prst="rect">
            <a:avLst/>
          </a:prstGeom>
          <a:solidFill>
            <a:schemeClr val="accent1">
              <a:lumMod val="75000"/>
            </a:schemeClr>
          </a:solidFill>
          <a:scene3d>
            <a:camera prst="orthographicFront">
              <a:rot lat="0" lon="0" rev="0"/>
            </a:camera>
            <a:lightRig rig="threePt" dir="t"/>
          </a:scene3d>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rPr>
              <a:t>计算机操作系统</a:t>
            </a:r>
            <a:endPar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sym typeface="+mn-ea"/>
            </a:endParaRPr>
          </a:p>
        </p:txBody>
      </p:sp>
      <p:sp>
        <p:nvSpPr>
          <p:cNvPr id="19" name="任意多边形 18"/>
          <p:cNvSpPr/>
          <p:nvPr userDrawn="1"/>
        </p:nvSpPr>
        <p:spPr>
          <a:xfrm flipH="1" flipV="1">
            <a:off x="-7620" y="5883488"/>
            <a:ext cx="12192000" cy="768349"/>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grpSp>
        <p:nvGrpSpPr>
          <p:cNvPr id="20" name="Group 10"/>
          <p:cNvGrpSpPr/>
          <p:nvPr userDrawn="1"/>
        </p:nvGrpSpPr>
        <p:grpSpPr bwMode="auto">
          <a:xfrm>
            <a:off x="9160384" y="6070822"/>
            <a:ext cx="380048" cy="380121"/>
            <a:chOff x="0" y="0"/>
            <a:chExt cx="965499" cy="965499"/>
          </a:xfrm>
        </p:grpSpPr>
        <p:sp>
          <p:nvSpPr>
            <p:cNvPr id="21" name="AutoShape 11"/>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2" name="AutoShape 12"/>
            <p:cNvSpPr/>
            <p:nvPr/>
          </p:nvSpPr>
          <p:spPr bwMode="auto">
            <a:xfrm>
              <a:off x="285759" y="283328"/>
              <a:ext cx="393981" cy="393980"/>
            </a:xfrm>
            <a:custGeom>
              <a:avLst/>
              <a:gdLst>
                <a:gd name="T0" fmla="*/ 196991 w 21376"/>
                <a:gd name="T1" fmla="*/ 196990 h 21600"/>
                <a:gd name="T2" fmla="*/ 196991 w 21376"/>
                <a:gd name="T3" fmla="*/ 196990 h 21600"/>
                <a:gd name="T4" fmla="*/ 196991 w 21376"/>
                <a:gd name="T5" fmla="*/ 196990 h 21600"/>
                <a:gd name="T6" fmla="*/ 196991 w 21376"/>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3" name="Group 13"/>
          <p:cNvGrpSpPr/>
          <p:nvPr userDrawn="1"/>
        </p:nvGrpSpPr>
        <p:grpSpPr bwMode="auto">
          <a:xfrm>
            <a:off x="9697919" y="6070822"/>
            <a:ext cx="380673" cy="380121"/>
            <a:chOff x="0" y="0"/>
            <a:chExt cx="965499" cy="965499"/>
          </a:xfrm>
        </p:grpSpPr>
        <p:sp>
          <p:nvSpPr>
            <p:cNvPr id="24" name="AutoShape 14"/>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5" name="AutoShape 15"/>
            <p:cNvSpPr/>
            <p:nvPr/>
          </p:nvSpPr>
          <p:spPr bwMode="auto">
            <a:xfrm>
              <a:off x="285759" y="283328"/>
              <a:ext cx="393981" cy="393980"/>
            </a:xfrm>
            <a:custGeom>
              <a:avLst/>
              <a:gdLst>
                <a:gd name="T0" fmla="*/ 196991 w 21600"/>
                <a:gd name="T1" fmla="*/ 196990 h 21600"/>
                <a:gd name="T2" fmla="*/ 196991 w 21600"/>
                <a:gd name="T3" fmla="*/ 196990 h 21600"/>
                <a:gd name="T4" fmla="*/ 196991 w 21600"/>
                <a:gd name="T5" fmla="*/ 196990 h 21600"/>
                <a:gd name="T6" fmla="*/ 196991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328" y="11543"/>
                  </a:moveTo>
                  <a:cubicBezTo>
                    <a:pt x="21492" y="11930"/>
                    <a:pt x="21571" y="12337"/>
                    <a:pt x="21571" y="12758"/>
                  </a:cubicBezTo>
                  <a:cubicBezTo>
                    <a:pt x="21571" y="13464"/>
                    <a:pt x="21388" y="14105"/>
                    <a:pt x="21017" y="14678"/>
                  </a:cubicBezTo>
                  <a:cubicBezTo>
                    <a:pt x="21111" y="15215"/>
                    <a:pt x="21077" y="15745"/>
                    <a:pt x="20924" y="16285"/>
                  </a:cubicBezTo>
                  <a:cubicBezTo>
                    <a:pt x="20769" y="16819"/>
                    <a:pt x="20512" y="17287"/>
                    <a:pt x="20141" y="17697"/>
                  </a:cubicBezTo>
                  <a:cubicBezTo>
                    <a:pt x="20105" y="18451"/>
                    <a:pt x="19901" y="19081"/>
                    <a:pt x="19531" y="19580"/>
                  </a:cubicBezTo>
                  <a:cubicBezTo>
                    <a:pt x="19161" y="20080"/>
                    <a:pt x="18700" y="20481"/>
                    <a:pt x="18146" y="20783"/>
                  </a:cubicBezTo>
                  <a:cubicBezTo>
                    <a:pt x="17593" y="21088"/>
                    <a:pt x="16982" y="21297"/>
                    <a:pt x="16321" y="21419"/>
                  </a:cubicBezTo>
                  <a:cubicBezTo>
                    <a:pt x="15660" y="21540"/>
                    <a:pt x="15010" y="21599"/>
                    <a:pt x="14380" y="21599"/>
                  </a:cubicBezTo>
                  <a:cubicBezTo>
                    <a:pt x="13730" y="21599"/>
                    <a:pt x="13077" y="21554"/>
                    <a:pt x="12424" y="21461"/>
                  </a:cubicBezTo>
                  <a:cubicBezTo>
                    <a:pt x="11772" y="21362"/>
                    <a:pt x="11127" y="21235"/>
                    <a:pt x="10497" y="21074"/>
                  </a:cubicBezTo>
                  <a:cubicBezTo>
                    <a:pt x="9864" y="20894"/>
                    <a:pt x="9237" y="20702"/>
                    <a:pt x="8610" y="20493"/>
                  </a:cubicBezTo>
                  <a:cubicBezTo>
                    <a:pt x="7982" y="20286"/>
                    <a:pt x="7341" y="20182"/>
                    <a:pt x="6680" y="20182"/>
                  </a:cubicBezTo>
                  <a:lnTo>
                    <a:pt x="1607" y="20182"/>
                  </a:lnTo>
                  <a:cubicBezTo>
                    <a:pt x="1167" y="20182"/>
                    <a:pt x="785" y="20029"/>
                    <a:pt x="471" y="19713"/>
                  </a:cubicBezTo>
                  <a:cubicBezTo>
                    <a:pt x="158" y="19405"/>
                    <a:pt x="0" y="19024"/>
                    <a:pt x="0" y="18572"/>
                  </a:cubicBezTo>
                  <a:lnTo>
                    <a:pt x="0" y="9880"/>
                  </a:lnTo>
                  <a:cubicBezTo>
                    <a:pt x="0" y="9440"/>
                    <a:pt x="158" y="9064"/>
                    <a:pt x="471" y="8754"/>
                  </a:cubicBezTo>
                  <a:cubicBezTo>
                    <a:pt x="785" y="8440"/>
                    <a:pt x="1167" y="8285"/>
                    <a:pt x="1607" y="8285"/>
                  </a:cubicBezTo>
                  <a:lnTo>
                    <a:pt x="6315" y="8285"/>
                  </a:lnTo>
                  <a:cubicBezTo>
                    <a:pt x="6558" y="8160"/>
                    <a:pt x="6750" y="8022"/>
                    <a:pt x="6897" y="7872"/>
                  </a:cubicBezTo>
                  <a:cubicBezTo>
                    <a:pt x="7041" y="7723"/>
                    <a:pt x="7197" y="7548"/>
                    <a:pt x="7369" y="7342"/>
                  </a:cubicBezTo>
                  <a:cubicBezTo>
                    <a:pt x="7513" y="7161"/>
                    <a:pt x="7663" y="6986"/>
                    <a:pt x="7810" y="6819"/>
                  </a:cubicBezTo>
                  <a:cubicBezTo>
                    <a:pt x="7957" y="6653"/>
                    <a:pt x="8112" y="6483"/>
                    <a:pt x="8276" y="6311"/>
                  </a:cubicBezTo>
                  <a:cubicBezTo>
                    <a:pt x="8570" y="5997"/>
                    <a:pt x="8918" y="5690"/>
                    <a:pt x="9302" y="5385"/>
                  </a:cubicBezTo>
                  <a:cubicBezTo>
                    <a:pt x="9692" y="5085"/>
                    <a:pt x="9989" y="4749"/>
                    <a:pt x="10195" y="4379"/>
                  </a:cubicBezTo>
                  <a:cubicBezTo>
                    <a:pt x="10339" y="4117"/>
                    <a:pt x="10443" y="3826"/>
                    <a:pt x="10506" y="3507"/>
                  </a:cubicBezTo>
                  <a:cubicBezTo>
                    <a:pt x="10565" y="3188"/>
                    <a:pt x="10627" y="2866"/>
                    <a:pt x="10675" y="2538"/>
                  </a:cubicBezTo>
                  <a:cubicBezTo>
                    <a:pt x="10726" y="2216"/>
                    <a:pt x="10780" y="1900"/>
                    <a:pt x="10845" y="1592"/>
                  </a:cubicBezTo>
                  <a:cubicBezTo>
                    <a:pt x="10907" y="1287"/>
                    <a:pt x="11014" y="1016"/>
                    <a:pt x="11161" y="776"/>
                  </a:cubicBezTo>
                  <a:cubicBezTo>
                    <a:pt x="11311" y="536"/>
                    <a:pt x="11523" y="350"/>
                    <a:pt x="11800" y="208"/>
                  </a:cubicBezTo>
                  <a:cubicBezTo>
                    <a:pt x="12074" y="67"/>
                    <a:pt x="12441" y="0"/>
                    <a:pt x="12902" y="0"/>
                  </a:cubicBezTo>
                  <a:cubicBezTo>
                    <a:pt x="13450" y="0"/>
                    <a:pt x="13956" y="112"/>
                    <a:pt x="14411" y="344"/>
                  </a:cubicBezTo>
                  <a:cubicBezTo>
                    <a:pt x="14869" y="573"/>
                    <a:pt x="15250" y="881"/>
                    <a:pt x="15567" y="1270"/>
                  </a:cubicBezTo>
                  <a:cubicBezTo>
                    <a:pt x="15880" y="1657"/>
                    <a:pt x="16126" y="2101"/>
                    <a:pt x="16304" y="2600"/>
                  </a:cubicBezTo>
                  <a:cubicBezTo>
                    <a:pt x="16479" y="3103"/>
                    <a:pt x="16570" y="3609"/>
                    <a:pt x="16570" y="4123"/>
                  </a:cubicBezTo>
                  <a:cubicBezTo>
                    <a:pt x="16570" y="4653"/>
                    <a:pt x="16491" y="5162"/>
                    <a:pt x="16332" y="5645"/>
                  </a:cubicBezTo>
                  <a:cubicBezTo>
                    <a:pt x="16174" y="6125"/>
                    <a:pt x="15982" y="6610"/>
                    <a:pt x="15759" y="7096"/>
                  </a:cubicBezTo>
                  <a:cubicBezTo>
                    <a:pt x="16072" y="7079"/>
                    <a:pt x="16389" y="7057"/>
                    <a:pt x="16705" y="7034"/>
                  </a:cubicBezTo>
                  <a:cubicBezTo>
                    <a:pt x="17019" y="7011"/>
                    <a:pt x="17335" y="7000"/>
                    <a:pt x="17652" y="7000"/>
                  </a:cubicBezTo>
                  <a:cubicBezTo>
                    <a:pt x="18149" y="7000"/>
                    <a:pt x="18630" y="7048"/>
                    <a:pt x="19099" y="7144"/>
                  </a:cubicBezTo>
                  <a:cubicBezTo>
                    <a:pt x="19568" y="7237"/>
                    <a:pt x="19986" y="7395"/>
                    <a:pt x="20356" y="7616"/>
                  </a:cubicBezTo>
                  <a:cubicBezTo>
                    <a:pt x="20726" y="7839"/>
                    <a:pt x="21026" y="8144"/>
                    <a:pt x="21255" y="8528"/>
                  </a:cubicBezTo>
                  <a:cubicBezTo>
                    <a:pt x="21486" y="8918"/>
                    <a:pt x="21600" y="9409"/>
                    <a:pt x="21600" y="10002"/>
                  </a:cubicBezTo>
                  <a:cubicBezTo>
                    <a:pt x="21600" y="10265"/>
                    <a:pt x="21580" y="10519"/>
                    <a:pt x="21535" y="10773"/>
                  </a:cubicBezTo>
                  <a:cubicBezTo>
                    <a:pt x="21484" y="11030"/>
                    <a:pt x="21419" y="11284"/>
                    <a:pt x="21328" y="11543"/>
                  </a:cubicBezTo>
                  <a:moveTo>
                    <a:pt x="4258" y="18519"/>
                  </a:moveTo>
                  <a:cubicBezTo>
                    <a:pt x="4555" y="18519"/>
                    <a:pt x="4809" y="18417"/>
                    <a:pt x="5024" y="18214"/>
                  </a:cubicBezTo>
                  <a:cubicBezTo>
                    <a:pt x="5233" y="18013"/>
                    <a:pt x="5340" y="17759"/>
                    <a:pt x="5340" y="17454"/>
                  </a:cubicBezTo>
                  <a:cubicBezTo>
                    <a:pt x="5340" y="17155"/>
                    <a:pt x="5233" y="16900"/>
                    <a:pt x="5024" y="16686"/>
                  </a:cubicBezTo>
                  <a:cubicBezTo>
                    <a:pt x="4812" y="16477"/>
                    <a:pt x="4557" y="16372"/>
                    <a:pt x="4258" y="16372"/>
                  </a:cubicBezTo>
                  <a:cubicBezTo>
                    <a:pt x="3941" y="16372"/>
                    <a:pt x="3684" y="16477"/>
                    <a:pt x="3486" y="16686"/>
                  </a:cubicBezTo>
                  <a:cubicBezTo>
                    <a:pt x="3289" y="16900"/>
                    <a:pt x="3190" y="17155"/>
                    <a:pt x="3190" y="17454"/>
                  </a:cubicBezTo>
                  <a:cubicBezTo>
                    <a:pt x="3190" y="17767"/>
                    <a:pt x="3289" y="18024"/>
                    <a:pt x="3486" y="18222"/>
                  </a:cubicBezTo>
                  <a:cubicBezTo>
                    <a:pt x="3681" y="18420"/>
                    <a:pt x="3939" y="18519"/>
                    <a:pt x="4258" y="18519"/>
                  </a:cubicBezTo>
                  <a:moveTo>
                    <a:pt x="19164" y="14342"/>
                  </a:moveTo>
                  <a:cubicBezTo>
                    <a:pt x="19703" y="13901"/>
                    <a:pt x="19975" y="13345"/>
                    <a:pt x="19975" y="12679"/>
                  </a:cubicBezTo>
                  <a:cubicBezTo>
                    <a:pt x="19975" y="12473"/>
                    <a:pt x="19918" y="12281"/>
                    <a:pt x="19805" y="12097"/>
                  </a:cubicBezTo>
                  <a:cubicBezTo>
                    <a:pt x="19695" y="11919"/>
                    <a:pt x="19576" y="11761"/>
                    <a:pt x="19446" y="11623"/>
                  </a:cubicBezTo>
                  <a:cubicBezTo>
                    <a:pt x="19590" y="11363"/>
                    <a:pt x="19720" y="11106"/>
                    <a:pt x="19833" y="10849"/>
                  </a:cubicBezTo>
                  <a:cubicBezTo>
                    <a:pt x="19944" y="10592"/>
                    <a:pt x="20003" y="10312"/>
                    <a:pt x="20003" y="10002"/>
                  </a:cubicBezTo>
                  <a:cubicBezTo>
                    <a:pt x="20003" y="9688"/>
                    <a:pt x="19924" y="9440"/>
                    <a:pt x="19766" y="9251"/>
                  </a:cubicBezTo>
                  <a:cubicBezTo>
                    <a:pt x="19607" y="9070"/>
                    <a:pt x="19415" y="8929"/>
                    <a:pt x="19184" y="8833"/>
                  </a:cubicBezTo>
                  <a:cubicBezTo>
                    <a:pt x="18955" y="8739"/>
                    <a:pt x="18698" y="8683"/>
                    <a:pt x="18418" y="8663"/>
                  </a:cubicBezTo>
                  <a:cubicBezTo>
                    <a:pt x="18138" y="8643"/>
                    <a:pt x="17884" y="8635"/>
                    <a:pt x="17649" y="8635"/>
                  </a:cubicBezTo>
                  <a:cubicBezTo>
                    <a:pt x="17242" y="8635"/>
                    <a:pt x="16835" y="8649"/>
                    <a:pt x="16423" y="8677"/>
                  </a:cubicBezTo>
                  <a:cubicBezTo>
                    <a:pt x="16010" y="8706"/>
                    <a:pt x="15606" y="8720"/>
                    <a:pt x="15199" y="8720"/>
                  </a:cubicBezTo>
                  <a:cubicBezTo>
                    <a:pt x="14917" y="8720"/>
                    <a:pt x="14643" y="8706"/>
                    <a:pt x="14366" y="8677"/>
                  </a:cubicBezTo>
                  <a:cubicBezTo>
                    <a:pt x="14089" y="8649"/>
                    <a:pt x="13829" y="8584"/>
                    <a:pt x="13574" y="8474"/>
                  </a:cubicBezTo>
                  <a:cubicBezTo>
                    <a:pt x="13574" y="8104"/>
                    <a:pt x="13645" y="7754"/>
                    <a:pt x="13792" y="7421"/>
                  </a:cubicBezTo>
                  <a:cubicBezTo>
                    <a:pt x="13936" y="7087"/>
                    <a:pt x="14094" y="6751"/>
                    <a:pt x="14275" y="6413"/>
                  </a:cubicBezTo>
                  <a:cubicBezTo>
                    <a:pt x="14448" y="6074"/>
                    <a:pt x="14606" y="5721"/>
                    <a:pt x="14747" y="5351"/>
                  </a:cubicBezTo>
                  <a:cubicBezTo>
                    <a:pt x="14886" y="4984"/>
                    <a:pt x="14953" y="4574"/>
                    <a:pt x="14953" y="4122"/>
                  </a:cubicBezTo>
                  <a:cubicBezTo>
                    <a:pt x="14953" y="3823"/>
                    <a:pt x="14905" y="3529"/>
                    <a:pt x="14812" y="3236"/>
                  </a:cubicBezTo>
                  <a:cubicBezTo>
                    <a:pt x="14716" y="2945"/>
                    <a:pt x="14583" y="2677"/>
                    <a:pt x="14411" y="2439"/>
                  </a:cubicBezTo>
                  <a:cubicBezTo>
                    <a:pt x="14238" y="2199"/>
                    <a:pt x="14027" y="2002"/>
                    <a:pt x="13775" y="1843"/>
                  </a:cubicBezTo>
                  <a:cubicBezTo>
                    <a:pt x="13521" y="1688"/>
                    <a:pt x="13230" y="1606"/>
                    <a:pt x="12893" y="1606"/>
                  </a:cubicBezTo>
                  <a:lnTo>
                    <a:pt x="12744" y="1606"/>
                  </a:lnTo>
                  <a:cubicBezTo>
                    <a:pt x="12681" y="1606"/>
                    <a:pt x="12631" y="1617"/>
                    <a:pt x="12594" y="1634"/>
                  </a:cubicBezTo>
                  <a:cubicBezTo>
                    <a:pt x="12523" y="1671"/>
                    <a:pt x="12481" y="1705"/>
                    <a:pt x="12472" y="1742"/>
                  </a:cubicBezTo>
                  <a:cubicBezTo>
                    <a:pt x="12464" y="1778"/>
                    <a:pt x="12450" y="1838"/>
                    <a:pt x="12430" y="1920"/>
                  </a:cubicBezTo>
                  <a:cubicBezTo>
                    <a:pt x="12323" y="2450"/>
                    <a:pt x="12221" y="3007"/>
                    <a:pt x="12128" y="3586"/>
                  </a:cubicBezTo>
                  <a:cubicBezTo>
                    <a:pt x="12034" y="4167"/>
                    <a:pt x="11854" y="4698"/>
                    <a:pt x="11596" y="5176"/>
                  </a:cubicBezTo>
                  <a:cubicBezTo>
                    <a:pt x="11334" y="5636"/>
                    <a:pt x="11000" y="6034"/>
                    <a:pt x="10596" y="6367"/>
                  </a:cubicBezTo>
                  <a:cubicBezTo>
                    <a:pt x="10189" y="6701"/>
                    <a:pt x="9802" y="7051"/>
                    <a:pt x="9432" y="7421"/>
                  </a:cubicBezTo>
                  <a:cubicBezTo>
                    <a:pt x="9169" y="7700"/>
                    <a:pt x="8949" y="7954"/>
                    <a:pt x="8771" y="8183"/>
                  </a:cubicBezTo>
                  <a:cubicBezTo>
                    <a:pt x="8593" y="8412"/>
                    <a:pt x="8403" y="8632"/>
                    <a:pt x="8211" y="8833"/>
                  </a:cubicBezTo>
                  <a:cubicBezTo>
                    <a:pt x="8016" y="9036"/>
                    <a:pt x="7799" y="9222"/>
                    <a:pt x="7556" y="9400"/>
                  </a:cubicBezTo>
                  <a:cubicBezTo>
                    <a:pt x="7313" y="9575"/>
                    <a:pt x="7019" y="9736"/>
                    <a:pt x="6674" y="9880"/>
                  </a:cubicBezTo>
                  <a:lnTo>
                    <a:pt x="6646" y="9880"/>
                  </a:lnTo>
                  <a:lnTo>
                    <a:pt x="6646" y="18572"/>
                  </a:lnTo>
                  <a:cubicBezTo>
                    <a:pt x="7279" y="18572"/>
                    <a:pt x="7889" y="18649"/>
                    <a:pt x="8485" y="18795"/>
                  </a:cubicBezTo>
                  <a:cubicBezTo>
                    <a:pt x="9081" y="18945"/>
                    <a:pt x="9683" y="19103"/>
                    <a:pt x="10294" y="19270"/>
                  </a:cubicBezTo>
                  <a:cubicBezTo>
                    <a:pt x="10901" y="19439"/>
                    <a:pt x="11537" y="19592"/>
                    <a:pt x="12207" y="19741"/>
                  </a:cubicBezTo>
                  <a:cubicBezTo>
                    <a:pt x="12874" y="19891"/>
                    <a:pt x="13594" y="19965"/>
                    <a:pt x="14374" y="19965"/>
                  </a:cubicBezTo>
                  <a:cubicBezTo>
                    <a:pt x="14781" y="19965"/>
                    <a:pt x="15222" y="19939"/>
                    <a:pt x="15699" y="19885"/>
                  </a:cubicBezTo>
                  <a:cubicBezTo>
                    <a:pt x="16177" y="19829"/>
                    <a:pt x="16626" y="19710"/>
                    <a:pt x="17047" y="19527"/>
                  </a:cubicBezTo>
                  <a:cubicBezTo>
                    <a:pt x="17468" y="19343"/>
                    <a:pt x="17816" y="19086"/>
                    <a:pt x="18101" y="18762"/>
                  </a:cubicBezTo>
                  <a:cubicBezTo>
                    <a:pt x="18387" y="18440"/>
                    <a:pt x="18525" y="18010"/>
                    <a:pt x="18525" y="17477"/>
                  </a:cubicBezTo>
                  <a:cubicBezTo>
                    <a:pt x="18525" y="17386"/>
                    <a:pt x="18522" y="17304"/>
                    <a:pt x="18517" y="17225"/>
                  </a:cubicBezTo>
                  <a:cubicBezTo>
                    <a:pt x="18503" y="17152"/>
                    <a:pt x="18488" y="17070"/>
                    <a:pt x="18471" y="16980"/>
                  </a:cubicBezTo>
                  <a:cubicBezTo>
                    <a:pt x="18785" y="16836"/>
                    <a:pt x="19028" y="16596"/>
                    <a:pt x="19195" y="16262"/>
                  </a:cubicBezTo>
                  <a:cubicBezTo>
                    <a:pt x="19364" y="15929"/>
                    <a:pt x="19446" y="15593"/>
                    <a:pt x="19446" y="15263"/>
                  </a:cubicBezTo>
                  <a:cubicBezTo>
                    <a:pt x="19449" y="14912"/>
                    <a:pt x="19350" y="14605"/>
                    <a:pt x="19164" y="1434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6" name="Group 16"/>
          <p:cNvGrpSpPr/>
          <p:nvPr userDrawn="1"/>
        </p:nvGrpSpPr>
        <p:grpSpPr bwMode="auto">
          <a:xfrm>
            <a:off x="10236079" y="6070822"/>
            <a:ext cx="380048" cy="380121"/>
            <a:chOff x="0" y="0"/>
            <a:chExt cx="965499" cy="965499"/>
          </a:xfrm>
        </p:grpSpPr>
        <p:sp>
          <p:nvSpPr>
            <p:cNvPr id="27" name="AutoShape 17"/>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0" name="AutoShape 18"/>
            <p:cNvSpPr/>
            <p:nvPr/>
          </p:nvSpPr>
          <p:spPr bwMode="auto">
            <a:xfrm>
              <a:off x="293617" y="264823"/>
              <a:ext cx="393980" cy="393980"/>
            </a:xfrm>
            <a:custGeom>
              <a:avLst/>
              <a:gdLst>
                <a:gd name="T0" fmla="*/ 196990 w 21600"/>
                <a:gd name="T1" fmla="*/ 196990 h 21600"/>
                <a:gd name="T2" fmla="*/ 196990 w 21600"/>
                <a:gd name="T3" fmla="*/ 196990 h 21600"/>
                <a:gd name="T4" fmla="*/ 196990 w 21600"/>
                <a:gd name="T5" fmla="*/ 196990 h 21600"/>
                <a:gd name="T6" fmla="*/ 196990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949"/>
                  </a:moveTo>
                  <a:cubicBezTo>
                    <a:pt x="21600"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1" name="Group 19"/>
          <p:cNvGrpSpPr/>
          <p:nvPr userDrawn="1"/>
        </p:nvGrpSpPr>
        <p:grpSpPr bwMode="auto">
          <a:xfrm>
            <a:off x="10773613" y="6070822"/>
            <a:ext cx="380048" cy="380121"/>
            <a:chOff x="0" y="0"/>
            <a:chExt cx="965499" cy="965499"/>
          </a:xfrm>
        </p:grpSpPr>
        <p:sp>
          <p:nvSpPr>
            <p:cNvPr id="32" name="AutoShape 20"/>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3" name="AutoShape 21"/>
            <p:cNvSpPr/>
            <p:nvPr/>
          </p:nvSpPr>
          <p:spPr bwMode="auto">
            <a:xfrm>
              <a:off x="292545" y="314566"/>
              <a:ext cx="380408" cy="307104"/>
            </a:xfrm>
            <a:custGeom>
              <a:avLst/>
              <a:gdLst>
                <a:gd name="T0" fmla="*/ 190204 w 21600"/>
                <a:gd name="T1" fmla="*/ 153552 h 21600"/>
                <a:gd name="T2" fmla="*/ 190204 w 21600"/>
                <a:gd name="T3" fmla="*/ 153552 h 21600"/>
                <a:gd name="T4" fmla="*/ 190204 w 21600"/>
                <a:gd name="T5" fmla="*/ 153552 h 21600"/>
                <a:gd name="T6" fmla="*/ 190204 w 21600"/>
                <a:gd name="T7" fmla="*/ 15355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3222"/>
                  </a:moveTo>
                  <a:cubicBezTo>
                    <a:pt x="20632" y="3222"/>
                    <a:pt x="20946" y="3384"/>
                    <a:pt x="21208" y="3713"/>
                  </a:cubicBezTo>
                  <a:cubicBezTo>
                    <a:pt x="21470" y="4042"/>
                    <a:pt x="21600" y="4427"/>
                    <a:pt x="21600" y="4865"/>
                  </a:cubicBezTo>
                  <a:lnTo>
                    <a:pt x="21600" y="19984"/>
                  </a:lnTo>
                  <a:cubicBezTo>
                    <a:pt x="21600" y="20421"/>
                    <a:pt x="21470" y="20803"/>
                    <a:pt x="21208" y="21121"/>
                  </a:cubicBezTo>
                  <a:cubicBezTo>
                    <a:pt x="20946" y="21441"/>
                    <a:pt x="20632" y="21600"/>
                    <a:pt x="20263" y="21600"/>
                  </a:cubicBezTo>
                  <a:lnTo>
                    <a:pt x="1348" y="21600"/>
                  </a:lnTo>
                  <a:cubicBezTo>
                    <a:pt x="981" y="21600"/>
                    <a:pt x="663" y="21441"/>
                    <a:pt x="399" y="21121"/>
                  </a:cubicBezTo>
                  <a:cubicBezTo>
                    <a:pt x="134" y="20803"/>
                    <a:pt x="0" y="20421"/>
                    <a:pt x="0" y="19984"/>
                  </a:cubicBezTo>
                  <a:lnTo>
                    <a:pt x="0" y="4865"/>
                  </a:lnTo>
                  <a:cubicBezTo>
                    <a:pt x="0" y="4427"/>
                    <a:pt x="134" y="4042"/>
                    <a:pt x="399" y="3713"/>
                  </a:cubicBezTo>
                  <a:cubicBezTo>
                    <a:pt x="663" y="3384"/>
                    <a:pt x="981" y="3222"/>
                    <a:pt x="1348" y="3222"/>
                  </a:cubicBezTo>
                  <a:lnTo>
                    <a:pt x="5638" y="3222"/>
                  </a:lnTo>
                  <a:lnTo>
                    <a:pt x="6318" y="1460"/>
                  </a:lnTo>
                  <a:cubicBezTo>
                    <a:pt x="6458" y="1057"/>
                    <a:pt x="6717" y="713"/>
                    <a:pt x="7089" y="425"/>
                  </a:cubicBezTo>
                  <a:cubicBezTo>
                    <a:pt x="7466" y="143"/>
                    <a:pt x="7838" y="0"/>
                    <a:pt x="8203" y="0"/>
                  </a:cubicBezTo>
                  <a:lnTo>
                    <a:pt x="13396" y="0"/>
                  </a:lnTo>
                  <a:cubicBezTo>
                    <a:pt x="13763" y="0"/>
                    <a:pt x="14135" y="143"/>
                    <a:pt x="14510" y="425"/>
                  </a:cubicBezTo>
                  <a:cubicBezTo>
                    <a:pt x="14884" y="713"/>
                    <a:pt x="15146" y="1057"/>
                    <a:pt x="15293" y="1460"/>
                  </a:cubicBezTo>
                  <a:lnTo>
                    <a:pt x="15961" y="3222"/>
                  </a:lnTo>
                  <a:lnTo>
                    <a:pt x="20263" y="3222"/>
                  </a:lnTo>
                  <a:close/>
                  <a:moveTo>
                    <a:pt x="10806" y="19185"/>
                  </a:moveTo>
                  <a:cubicBezTo>
                    <a:pt x="11572" y="19185"/>
                    <a:pt x="12299" y="19002"/>
                    <a:pt x="12987" y="18650"/>
                  </a:cubicBezTo>
                  <a:cubicBezTo>
                    <a:pt x="13672" y="18294"/>
                    <a:pt x="14270" y="17810"/>
                    <a:pt x="14774" y="17196"/>
                  </a:cubicBezTo>
                  <a:cubicBezTo>
                    <a:pt x="15278" y="16582"/>
                    <a:pt x="15677" y="15862"/>
                    <a:pt x="15974" y="15048"/>
                  </a:cubicBezTo>
                  <a:cubicBezTo>
                    <a:pt x="16270" y="14234"/>
                    <a:pt x="16419" y="13356"/>
                    <a:pt x="16419" y="12421"/>
                  </a:cubicBezTo>
                  <a:cubicBezTo>
                    <a:pt x="16419" y="11499"/>
                    <a:pt x="16270" y="10623"/>
                    <a:pt x="15974" y="9795"/>
                  </a:cubicBezTo>
                  <a:cubicBezTo>
                    <a:pt x="15677" y="8966"/>
                    <a:pt x="15278" y="8249"/>
                    <a:pt x="14774" y="7644"/>
                  </a:cubicBezTo>
                  <a:cubicBezTo>
                    <a:pt x="14270" y="7036"/>
                    <a:pt x="13672" y="6557"/>
                    <a:pt x="12987" y="6199"/>
                  </a:cubicBezTo>
                  <a:cubicBezTo>
                    <a:pt x="12299" y="5843"/>
                    <a:pt x="11572" y="5667"/>
                    <a:pt x="10806" y="5667"/>
                  </a:cubicBezTo>
                  <a:cubicBezTo>
                    <a:pt x="10039" y="5667"/>
                    <a:pt x="9312" y="5846"/>
                    <a:pt x="8619" y="6199"/>
                  </a:cubicBezTo>
                  <a:cubicBezTo>
                    <a:pt x="7929" y="6557"/>
                    <a:pt x="7332" y="7036"/>
                    <a:pt x="6827" y="7644"/>
                  </a:cubicBezTo>
                  <a:cubicBezTo>
                    <a:pt x="6323" y="8249"/>
                    <a:pt x="5922" y="8963"/>
                    <a:pt x="5625" y="9789"/>
                  </a:cubicBezTo>
                  <a:cubicBezTo>
                    <a:pt x="5329" y="10612"/>
                    <a:pt x="5180" y="11490"/>
                    <a:pt x="5180" y="12421"/>
                  </a:cubicBezTo>
                  <a:cubicBezTo>
                    <a:pt x="5180" y="13356"/>
                    <a:pt x="5329" y="14234"/>
                    <a:pt x="5625" y="15048"/>
                  </a:cubicBezTo>
                  <a:cubicBezTo>
                    <a:pt x="5922" y="15862"/>
                    <a:pt x="6323" y="16582"/>
                    <a:pt x="6827" y="17196"/>
                  </a:cubicBezTo>
                  <a:cubicBezTo>
                    <a:pt x="7332" y="17810"/>
                    <a:pt x="7929" y="18294"/>
                    <a:pt x="8619" y="18650"/>
                  </a:cubicBezTo>
                  <a:cubicBezTo>
                    <a:pt x="9312" y="19005"/>
                    <a:pt x="10039" y="19185"/>
                    <a:pt x="10806" y="19185"/>
                  </a:cubicBezTo>
                  <a:moveTo>
                    <a:pt x="10806" y="7832"/>
                  </a:moveTo>
                  <a:cubicBezTo>
                    <a:pt x="11337" y="7832"/>
                    <a:pt x="11834" y="7953"/>
                    <a:pt x="12294" y="8191"/>
                  </a:cubicBezTo>
                  <a:cubicBezTo>
                    <a:pt x="12754" y="8432"/>
                    <a:pt x="13158" y="8755"/>
                    <a:pt x="13501" y="9169"/>
                  </a:cubicBezTo>
                  <a:cubicBezTo>
                    <a:pt x="13846" y="9583"/>
                    <a:pt x="14118" y="10068"/>
                    <a:pt x="14316" y="10623"/>
                  </a:cubicBezTo>
                  <a:cubicBezTo>
                    <a:pt x="14515" y="11184"/>
                    <a:pt x="14615" y="11781"/>
                    <a:pt x="14615" y="12421"/>
                  </a:cubicBezTo>
                  <a:cubicBezTo>
                    <a:pt x="14615" y="13056"/>
                    <a:pt x="14515" y="13649"/>
                    <a:pt x="14316" y="14205"/>
                  </a:cubicBezTo>
                  <a:cubicBezTo>
                    <a:pt x="14118" y="14757"/>
                    <a:pt x="13846" y="15245"/>
                    <a:pt x="13501" y="15668"/>
                  </a:cubicBezTo>
                  <a:cubicBezTo>
                    <a:pt x="13158" y="16091"/>
                    <a:pt x="12752" y="16420"/>
                    <a:pt x="12289" y="16661"/>
                  </a:cubicBezTo>
                  <a:cubicBezTo>
                    <a:pt x="11824" y="16899"/>
                    <a:pt x="11330" y="17016"/>
                    <a:pt x="10806" y="17016"/>
                  </a:cubicBezTo>
                  <a:cubicBezTo>
                    <a:pt x="10274" y="17016"/>
                    <a:pt x="9777" y="16899"/>
                    <a:pt x="9312" y="16661"/>
                  </a:cubicBezTo>
                  <a:cubicBezTo>
                    <a:pt x="8847" y="16420"/>
                    <a:pt x="8443" y="16091"/>
                    <a:pt x="8100" y="15668"/>
                  </a:cubicBezTo>
                  <a:cubicBezTo>
                    <a:pt x="7755" y="15245"/>
                    <a:pt x="7483" y="14754"/>
                    <a:pt x="7285" y="14199"/>
                  </a:cubicBezTo>
                  <a:cubicBezTo>
                    <a:pt x="7084" y="13641"/>
                    <a:pt x="6984" y="13044"/>
                    <a:pt x="6984" y="12421"/>
                  </a:cubicBezTo>
                  <a:cubicBezTo>
                    <a:pt x="6984" y="11781"/>
                    <a:pt x="7084" y="11184"/>
                    <a:pt x="7285" y="10623"/>
                  </a:cubicBezTo>
                  <a:cubicBezTo>
                    <a:pt x="7483" y="10068"/>
                    <a:pt x="7755" y="9583"/>
                    <a:pt x="8100" y="9169"/>
                  </a:cubicBezTo>
                  <a:cubicBezTo>
                    <a:pt x="8443" y="8755"/>
                    <a:pt x="8847" y="8431"/>
                    <a:pt x="9312" y="8191"/>
                  </a:cubicBezTo>
                  <a:cubicBezTo>
                    <a:pt x="9777" y="7953"/>
                    <a:pt x="10274" y="7832"/>
                    <a:pt x="10806" y="783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4" name="Group 22"/>
          <p:cNvGrpSpPr/>
          <p:nvPr userDrawn="1"/>
        </p:nvGrpSpPr>
        <p:grpSpPr bwMode="auto">
          <a:xfrm>
            <a:off x="11311148" y="6070822"/>
            <a:ext cx="380048" cy="380121"/>
            <a:chOff x="0" y="0"/>
            <a:chExt cx="965499" cy="965499"/>
          </a:xfrm>
        </p:grpSpPr>
        <p:sp>
          <p:nvSpPr>
            <p:cNvPr id="35" name="AutoShape 23"/>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6" name="AutoShape 24"/>
            <p:cNvSpPr/>
            <p:nvPr/>
          </p:nvSpPr>
          <p:spPr bwMode="auto">
            <a:xfrm>
              <a:off x="293617" y="331589"/>
              <a:ext cx="380408" cy="296161"/>
            </a:xfrm>
            <a:custGeom>
              <a:avLst/>
              <a:gdLst>
                <a:gd name="T0" fmla="*/ 190204 w 21600"/>
                <a:gd name="T1" fmla="*/ 148081 h 21600"/>
                <a:gd name="T2" fmla="*/ 190204 w 21600"/>
                <a:gd name="T3" fmla="*/ 148081 h 21600"/>
                <a:gd name="T4" fmla="*/ 190204 w 21600"/>
                <a:gd name="T5" fmla="*/ 148081 h 21600"/>
                <a:gd name="T6" fmla="*/ 190204 w 21600"/>
                <a:gd name="T7" fmla="*/ 1480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82" y="15633"/>
                  </a:moveTo>
                  <a:cubicBezTo>
                    <a:pt x="11211" y="15633"/>
                    <a:pt x="11622" y="15565"/>
                    <a:pt x="12011" y="15416"/>
                  </a:cubicBezTo>
                  <a:cubicBezTo>
                    <a:pt x="12403" y="15272"/>
                    <a:pt x="12778" y="15084"/>
                    <a:pt x="13138" y="14855"/>
                  </a:cubicBezTo>
                  <a:cubicBezTo>
                    <a:pt x="13498" y="14626"/>
                    <a:pt x="13845" y="14361"/>
                    <a:pt x="14181" y="14073"/>
                  </a:cubicBezTo>
                  <a:cubicBezTo>
                    <a:pt x="14516" y="13774"/>
                    <a:pt x="14844" y="13471"/>
                    <a:pt x="15168" y="13160"/>
                  </a:cubicBezTo>
                  <a:cubicBezTo>
                    <a:pt x="16142" y="12226"/>
                    <a:pt x="17126" y="11306"/>
                    <a:pt x="18120" y="10410"/>
                  </a:cubicBezTo>
                  <a:cubicBezTo>
                    <a:pt x="19112" y="9515"/>
                    <a:pt x="20113" y="8616"/>
                    <a:pt x="21120" y="7714"/>
                  </a:cubicBezTo>
                  <a:cubicBezTo>
                    <a:pt x="21198" y="7640"/>
                    <a:pt x="21279" y="7570"/>
                    <a:pt x="21360" y="7496"/>
                  </a:cubicBezTo>
                  <a:cubicBezTo>
                    <a:pt x="21443" y="7429"/>
                    <a:pt x="21524" y="7347"/>
                    <a:pt x="21600" y="7250"/>
                  </a:cubicBezTo>
                  <a:lnTo>
                    <a:pt x="21600" y="19981"/>
                  </a:lnTo>
                  <a:cubicBezTo>
                    <a:pt x="21600" y="20416"/>
                    <a:pt x="21470" y="20800"/>
                    <a:pt x="21208" y="21118"/>
                  </a:cubicBezTo>
                  <a:cubicBezTo>
                    <a:pt x="20946" y="21438"/>
                    <a:pt x="20632" y="21600"/>
                    <a:pt x="20265" y="21600"/>
                  </a:cubicBezTo>
                  <a:lnTo>
                    <a:pt x="1346" y="21600"/>
                  </a:lnTo>
                  <a:cubicBezTo>
                    <a:pt x="979" y="21600"/>
                    <a:pt x="663" y="21438"/>
                    <a:pt x="396" y="21118"/>
                  </a:cubicBezTo>
                  <a:cubicBezTo>
                    <a:pt x="132" y="20803"/>
                    <a:pt x="0" y="20419"/>
                    <a:pt x="0" y="19981"/>
                  </a:cubicBezTo>
                  <a:lnTo>
                    <a:pt x="0" y="7250"/>
                  </a:lnTo>
                  <a:cubicBezTo>
                    <a:pt x="75" y="7347"/>
                    <a:pt x="156" y="7429"/>
                    <a:pt x="239" y="7496"/>
                  </a:cubicBezTo>
                  <a:cubicBezTo>
                    <a:pt x="320" y="7570"/>
                    <a:pt x="401" y="7640"/>
                    <a:pt x="479" y="7714"/>
                  </a:cubicBezTo>
                  <a:cubicBezTo>
                    <a:pt x="1488" y="8616"/>
                    <a:pt x="2487" y="9514"/>
                    <a:pt x="3481" y="10410"/>
                  </a:cubicBezTo>
                  <a:cubicBezTo>
                    <a:pt x="4473" y="11306"/>
                    <a:pt x="5457" y="12223"/>
                    <a:pt x="6434" y="13160"/>
                  </a:cubicBezTo>
                  <a:cubicBezTo>
                    <a:pt x="6738" y="13454"/>
                    <a:pt x="7058" y="13744"/>
                    <a:pt x="7394" y="14038"/>
                  </a:cubicBezTo>
                  <a:cubicBezTo>
                    <a:pt x="7729" y="14338"/>
                    <a:pt x="8079" y="14599"/>
                    <a:pt x="8437" y="14840"/>
                  </a:cubicBezTo>
                  <a:cubicBezTo>
                    <a:pt x="8797" y="15075"/>
                    <a:pt x="9174" y="15269"/>
                    <a:pt x="9568" y="15413"/>
                  </a:cubicBezTo>
                  <a:cubicBezTo>
                    <a:pt x="9965" y="15563"/>
                    <a:pt x="10371" y="15633"/>
                    <a:pt x="10782" y="15633"/>
                  </a:cubicBezTo>
                  <a:moveTo>
                    <a:pt x="10782" y="12413"/>
                  </a:moveTo>
                  <a:cubicBezTo>
                    <a:pt x="10540" y="12413"/>
                    <a:pt x="10278" y="12334"/>
                    <a:pt x="9996" y="12167"/>
                  </a:cubicBezTo>
                  <a:cubicBezTo>
                    <a:pt x="9715" y="12005"/>
                    <a:pt x="9441" y="11806"/>
                    <a:pt x="9171" y="11576"/>
                  </a:cubicBezTo>
                  <a:cubicBezTo>
                    <a:pt x="8900" y="11347"/>
                    <a:pt x="8638" y="11106"/>
                    <a:pt x="8380" y="10854"/>
                  </a:cubicBezTo>
                  <a:cubicBezTo>
                    <a:pt x="8121" y="10601"/>
                    <a:pt x="7896" y="10390"/>
                    <a:pt x="7700" y="10222"/>
                  </a:cubicBezTo>
                  <a:cubicBezTo>
                    <a:pt x="6752" y="9356"/>
                    <a:pt x="5819" y="8507"/>
                    <a:pt x="4891" y="7664"/>
                  </a:cubicBezTo>
                  <a:cubicBezTo>
                    <a:pt x="3966" y="6815"/>
                    <a:pt x="3023" y="5960"/>
                    <a:pt x="2061" y="5087"/>
                  </a:cubicBezTo>
                  <a:cubicBezTo>
                    <a:pt x="1882" y="4920"/>
                    <a:pt x="1672" y="4691"/>
                    <a:pt x="1434" y="4406"/>
                  </a:cubicBezTo>
                  <a:cubicBezTo>
                    <a:pt x="1194" y="4118"/>
                    <a:pt x="974" y="3804"/>
                    <a:pt x="766" y="3460"/>
                  </a:cubicBezTo>
                  <a:cubicBezTo>
                    <a:pt x="560" y="3110"/>
                    <a:pt x="384" y="2761"/>
                    <a:pt x="239" y="2405"/>
                  </a:cubicBezTo>
                  <a:cubicBezTo>
                    <a:pt x="95" y="2050"/>
                    <a:pt x="22" y="1724"/>
                    <a:pt x="22" y="1436"/>
                  </a:cubicBezTo>
                  <a:cubicBezTo>
                    <a:pt x="22" y="1051"/>
                    <a:pt x="164" y="713"/>
                    <a:pt x="443" y="425"/>
                  </a:cubicBezTo>
                  <a:cubicBezTo>
                    <a:pt x="727" y="143"/>
                    <a:pt x="1025" y="0"/>
                    <a:pt x="1346" y="0"/>
                  </a:cubicBezTo>
                  <a:lnTo>
                    <a:pt x="20265" y="0"/>
                  </a:lnTo>
                  <a:cubicBezTo>
                    <a:pt x="20583" y="0"/>
                    <a:pt x="20882" y="143"/>
                    <a:pt x="21161" y="425"/>
                  </a:cubicBezTo>
                  <a:cubicBezTo>
                    <a:pt x="21438" y="713"/>
                    <a:pt x="21577" y="1051"/>
                    <a:pt x="21577" y="1436"/>
                  </a:cubicBezTo>
                  <a:cubicBezTo>
                    <a:pt x="21577" y="1724"/>
                    <a:pt x="21504" y="2050"/>
                    <a:pt x="21360" y="2405"/>
                  </a:cubicBezTo>
                  <a:cubicBezTo>
                    <a:pt x="21215" y="2761"/>
                    <a:pt x="21039" y="3110"/>
                    <a:pt x="20833" y="3460"/>
                  </a:cubicBezTo>
                  <a:cubicBezTo>
                    <a:pt x="20627" y="3804"/>
                    <a:pt x="20402" y="4121"/>
                    <a:pt x="20165" y="4406"/>
                  </a:cubicBezTo>
                  <a:cubicBezTo>
                    <a:pt x="19927" y="4691"/>
                    <a:pt x="19717" y="4923"/>
                    <a:pt x="19538" y="5087"/>
                  </a:cubicBezTo>
                  <a:cubicBezTo>
                    <a:pt x="18578" y="5948"/>
                    <a:pt x="17633" y="6803"/>
                    <a:pt x="16708" y="7652"/>
                  </a:cubicBezTo>
                  <a:cubicBezTo>
                    <a:pt x="15782" y="8501"/>
                    <a:pt x="14844" y="9356"/>
                    <a:pt x="13899" y="10222"/>
                  </a:cubicBezTo>
                  <a:cubicBezTo>
                    <a:pt x="13703" y="10390"/>
                    <a:pt x="13481" y="10601"/>
                    <a:pt x="13226" y="10854"/>
                  </a:cubicBezTo>
                  <a:cubicBezTo>
                    <a:pt x="12971" y="11106"/>
                    <a:pt x="12709" y="11347"/>
                    <a:pt x="12435" y="11576"/>
                  </a:cubicBezTo>
                  <a:cubicBezTo>
                    <a:pt x="12161" y="11806"/>
                    <a:pt x="11884" y="12005"/>
                    <a:pt x="11603" y="12167"/>
                  </a:cubicBezTo>
                  <a:cubicBezTo>
                    <a:pt x="11321" y="12334"/>
                    <a:pt x="11064" y="12413"/>
                    <a:pt x="10829" y="12413"/>
                  </a:cubicBezTo>
                  <a:lnTo>
                    <a:pt x="10804" y="12413"/>
                  </a:lnTo>
                  <a:lnTo>
                    <a:pt x="10782" y="12413"/>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sp>
        <p:nvSpPr>
          <p:cNvPr id="37" name="任意多边形: 形状 28"/>
          <p:cNvSpPr/>
          <p:nvPr userDrawn="1"/>
        </p:nvSpPr>
        <p:spPr>
          <a:xfrm>
            <a:off x="-7619" y="6662481"/>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8" name="任意多边形: 形状 27"/>
          <p:cNvSpPr/>
          <p:nvPr userDrawn="1"/>
        </p:nvSpPr>
        <p:spPr>
          <a:xfrm flipH="1" flipV="1">
            <a:off x="11219155" y="6662481"/>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 name="副标题 2"/>
          <p:cNvSpPr>
            <a:spLocks noGrp="1"/>
          </p:cNvSpPr>
          <p:nvPr>
            <p:ph type="subTitle" idx="1" hasCustomPrompt="1"/>
            <p:custDataLst>
              <p:tags r:id="rId2"/>
            </p:custDataLst>
          </p:nvPr>
        </p:nvSpPr>
        <p:spPr>
          <a:xfrm>
            <a:off x="1198880" y="3878580"/>
            <a:ext cx="9799320" cy="1154430"/>
          </a:xfrm>
        </p:spPr>
        <p:txBody>
          <a:bodyPr lIns="90000" tIns="46800" rIns="90000" bIns="46800">
            <a:normAutofit/>
          </a:bodyPr>
          <a:lstStyle>
            <a:lvl1pPr marL="0" indent="0" algn="ctr" eaLnBrk="1" fontAlgn="auto" latinLnBrk="0" hangingPunct="1">
              <a:lnSpc>
                <a:spcPct val="110000"/>
              </a:lnSpc>
              <a:buNone/>
              <a:defRPr sz="2800" b="1" u="none" strike="noStrike" kern="1200" cap="none" spc="200" normalizeH="0" baseline="0">
                <a:solidFill>
                  <a:schemeClr val="tx1">
                    <a:lumMod val="75000"/>
                    <a:lumOff val="25000"/>
                  </a:schemeClr>
                </a:solidFill>
                <a:uFillTx/>
                <a:latin typeface="仿宋" panose="02010609060101010101" charset="-122"/>
                <a:ea typeface="仿宋"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076395" y="11437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hasCustomPrompt="1"/>
            <p:custDataLst>
              <p:tags r:id="rId2"/>
            </p:custDataLst>
          </p:nvPr>
        </p:nvSpPr>
        <p:spPr>
          <a:xfrm>
            <a:off x="608330" y="1021080"/>
            <a:ext cx="10968990" cy="522859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 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9" name="任意多边形: 形状 28"/>
          <p:cNvSpPr/>
          <p:nvPr userDrawn="1"/>
        </p:nvSpPr>
        <p:spPr>
          <a:xfrm>
            <a:off x="-3650" y="6666997"/>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8" name="任意多边形: 形状 27"/>
          <p:cNvSpPr/>
          <p:nvPr userDrawn="1"/>
        </p:nvSpPr>
        <p:spPr>
          <a:xfrm flipH="1" flipV="1">
            <a:off x="11223124" y="6666997"/>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cxnSp>
        <p:nvCxnSpPr>
          <p:cNvPr id="22" name="直接连接符 21"/>
          <p:cNvCxnSpPr/>
          <p:nvPr userDrawn="1"/>
        </p:nvCxnSpPr>
        <p:spPr>
          <a:xfrm>
            <a:off x="1003784" y="807477"/>
            <a:ext cx="101997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331470" y="250825"/>
            <a:ext cx="431800" cy="431800"/>
          </a:xfrm>
          <a:prstGeom prst="rect">
            <a:avLst/>
          </a:prstGeom>
          <a:noFill/>
          <a:ln w="12700" cmpd="sng">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5" name="矩形 24"/>
          <p:cNvSpPr/>
          <p:nvPr userDrawn="1"/>
        </p:nvSpPr>
        <p:spPr>
          <a:xfrm>
            <a:off x="548005" y="450215"/>
            <a:ext cx="360045" cy="3600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pic>
        <p:nvPicPr>
          <p:cNvPr id="5" name="图片 4" descr="TK5CG72_)U3`D_PXLQ1U9PP"/>
          <p:cNvPicPr>
            <a:picLocks noChangeAspect="1"/>
          </p:cNvPicPr>
          <p:nvPr userDrawn="1"/>
        </p:nvPicPr>
        <p:blipFill>
          <a:blip r:embed="rId5"/>
          <a:stretch>
            <a:fillRect/>
          </a:stretch>
        </p:blipFill>
        <p:spPr>
          <a:xfrm>
            <a:off x="11351895" y="73660"/>
            <a:ext cx="715645" cy="785495"/>
          </a:xfrm>
          <a:prstGeom prst="rect">
            <a:avLst/>
          </a:prstGeom>
        </p:spPr>
      </p:pic>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2025/11/23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2025/11/23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2025/11/23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2025/11/23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2025/11/23</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2025/11/23</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random/>
      </p:transition>
    </mc:Choice>
    <mc:Fallback xmlns="">
      <p:transition>
        <p:random/>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3448685" y="2077085"/>
            <a:ext cx="7120890" cy="1236345"/>
          </a:xfrm>
        </p:spPr>
        <p:txBody>
          <a:bodyPr>
            <a:normAutofit/>
          </a:bodyPr>
          <a:lstStyle/>
          <a:p>
            <a:pPr algn="l"/>
            <a:r>
              <a:rPr lang="zh-CN" altLang="zh-CN" sz="4400">
                <a:solidFill>
                  <a:schemeClr val="accent1">
                    <a:lumMod val="75000"/>
                  </a:schemeClr>
                </a:solidFill>
              </a:rPr>
              <a:t>第</a:t>
            </a:r>
            <a:r>
              <a:rPr lang="en-US" altLang="zh-CN" sz="4400">
                <a:solidFill>
                  <a:schemeClr val="accent1">
                    <a:lumMod val="75000"/>
                  </a:schemeClr>
                </a:solidFill>
              </a:rPr>
              <a:t>7</a:t>
            </a:r>
            <a:r>
              <a:rPr lang="zh-CN" altLang="zh-CN" sz="4400">
                <a:solidFill>
                  <a:schemeClr val="accent1">
                    <a:lumMod val="75000"/>
                  </a:schemeClr>
                </a:solidFill>
              </a:rPr>
              <a:t>章  虚拟存储管理</a:t>
            </a:r>
          </a:p>
        </p:txBody>
      </p:sp>
      <p:sp>
        <p:nvSpPr>
          <p:cNvPr id="7" name="矩形 6"/>
          <p:cNvSpPr/>
          <p:nvPr/>
        </p:nvSpPr>
        <p:spPr>
          <a:xfrm flipV="1">
            <a:off x="3229610" y="3371850"/>
            <a:ext cx="6516000" cy="18000"/>
          </a:xfrm>
          <a:prstGeom prst="rect">
            <a:avLst/>
          </a:prstGeom>
          <a:gradFill>
            <a:gsLst>
              <a:gs pos="0">
                <a:schemeClr val="accent1">
                  <a:lumMod val="75000"/>
                </a:schemeClr>
              </a:gs>
              <a:gs pos="68000">
                <a:srgbClr val="90B4E9">
                  <a:alpha val="100000"/>
                </a:srgbClr>
              </a:gs>
              <a:gs pos="100000">
                <a:schemeClr val="bg1"/>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09" name="任意多边形 33808"/>
          <p:cNvSpPr/>
          <p:nvPr/>
        </p:nvSpPr>
        <p:spPr>
          <a:xfrm>
            <a:off x="3696970" y="402177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14CD68"/>
              </a:gs>
              <a:gs pos="100000">
                <a:srgbClr val="035C7D"/>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0" name="任意多边形 33809"/>
          <p:cNvSpPr/>
          <p:nvPr/>
        </p:nvSpPr>
        <p:spPr>
          <a:xfrm>
            <a:off x="3696970" y="458438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FECF40"/>
              </a:gs>
              <a:gs pos="100000">
                <a:srgbClr val="846C21"/>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1" name="任意多边形 33810"/>
          <p:cNvSpPr/>
          <p:nvPr/>
        </p:nvSpPr>
        <p:spPr>
          <a:xfrm>
            <a:off x="3696970" y="5127308"/>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C8A1E5"/>
              </a:gs>
              <a:gs pos="100000">
                <a:srgbClr val="692B99"/>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pic>
        <p:nvPicPr>
          <p:cNvPr id="5" name="图片 4" descr="TK5CG72_)U3`D_PXLQ1U9PP"/>
          <p:cNvPicPr>
            <a:picLocks noChangeAspect="1"/>
          </p:cNvPicPr>
          <p:nvPr userDrawn="1"/>
        </p:nvPicPr>
        <p:blipFill>
          <a:blip r:embed="rId4"/>
          <a:stretch>
            <a:fillRect/>
          </a:stretch>
        </p:blipFill>
        <p:spPr>
          <a:xfrm>
            <a:off x="1272540" y="1724660"/>
            <a:ext cx="1560195" cy="171196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077547-5FBE-43AE-A1AF-7AE57C628717}"/>
              </a:ext>
            </a:extLst>
          </p:cNvPr>
          <p:cNvSpPr>
            <a:spLocks noGrp="1"/>
          </p:cNvSpPr>
          <p:nvPr>
            <p:ph type="title"/>
          </p:nvPr>
        </p:nvSpPr>
        <p:spPr>
          <a:xfrm>
            <a:off x="1076395" y="114370"/>
            <a:ext cx="8167966" cy="705600"/>
          </a:xfrm>
        </p:spPr>
        <p:txBody>
          <a:bodyPr>
            <a:normAutofit/>
          </a:bodyPr>
          <a:lstStyle/>
          <a:p>
            <a:r>
              <a:rPr lang="zh-CN" altLang="en-US" sz="4000" dirty="0"/>
              <a:t>存储管理方式</a:t>
            </a:r>
          </a:p>
        </p:txBody>
      </p:sp>
      <p:sp>
        <p:nvSpPr>
          <p:cNvPr id="4" name="内容占位符 2">
            <a:extLst>
              <a:ext uri="{FF2B5EF4-FFF2-40B4-BE49-F238E27FC236}">
                <a16:creationId xmlns:a16="http://schemas.microsoft.com/office/drawing/2014/main" id="{EA9C4065-ECDE-48B1-87D9-965539B8EE80}"/>
              </a:ext>
            </a:extLst>
          </p:cNvPr>
          <p:cNvSpPr>
            <a:spLocks noGrp="1"/>
          </p:cNvSpPr>
          <p:nvPr>
            <p:ph idx="1"/>
          </p:nvPr>
        </p:nvSpPr>
        <p:spPr>
          <a:xfrm>
            <a:off x="574561" y="1422208"/>
            <a:ext cx="5670123" cy="4565998"/>
          </a:xfrm>
        </p:spPr>
        <p:txBody>
          <a:bodyPr>
            <a:normAutofit lnSpcReduction="10000"/>
          </a:bodyPr>
          <a:lstStyle/>
          <a:p>
            <a:pPr>
              <a:buBlip>
                <a:blip r:embed="rId2"/>
              </a:buBlip>
            </a:pPr>
            <a:r>
              <a:rPr lang="zh-CN" altLang="en-US" sz="2800" u="dottedHeavy" dirty="0">
                <a:solidFill>
                  <a:schemeClr val="tx1"/>
                </a:solidFill>
                <a:uFillTx/>
              </a:rPr>
              <a:t>连续分配</a:t>
            </a:r>
            <a:endParaRPr lang="en-US" altLang="zh-CN" sz="2800" u="dottedHeavy" dirty="0">
              <a:solidFill>
                <a:schemeClr val="tx1"/>
              </a:solidFill>
              <a:uFillTx/>
            </a:endParaRPr>
          </a:p>
          <a:p>
            <a:pPr lvl="1">
              <a:buBlip>
                <a:blip r:embed="rId2"/>
              </a:buBlip>
            </a:pPr>
            <a:r>
              <a:rPr lang="en-US" altLang="zh-CN" sz="2800" u="dottedHeavy" dirty="0">
                <a:solidFill>
                  <a:schemeClr val="tx1"/>
                </a:solidFill>
                <a:uFillTx/>
              </a:rPr>
              <a:t>1  </a:t>
            </a:r>
            <a:r>
              <a:rPr sz="2800" u="dottedHeavy" dirty="0">
                <a:solidFill>
                  <a:schemeClr val="tx1"/>
                </a:solidFill>
                <a:uFillTx/>
              </a:rPr>
              <a:t>固定分区存储管理</a:t>
            </a:r>
          </a:p>
          <a:p>
            <a:pPr lvl="1">
              <a:buBlip>
                <a:blip r:embed="rId2"/>
              </a:buBlip>
            </a:pPr>
            <a:r>
              <a:rPr lang="en-US" altLang="zh-CN" sz="2800" u="dottedHeavy" dirty="0"/>
              <a:t>2  </a:t>
            </a:r>
            <a:r>
              <a:rPr sz="2800" u="dottedHeavy" dirty="0"/>
              <a:t>动态分区存储管理</a:t>
            </a:r>
          </a:p>
          <a:p>
            <a:pPr lvl="1">
              <a:buBlip>
                <a:blip r:embed="rId2"/>
              </a:buBlip>
            </a:pPr>
            <a:r>
              <a:rPr lang="en-US" altLang="zh-CN" sz="2800" u="dottedHeavy" dirty="0"/>
              <a:t>3  </a:t>
            </a:r>
            <a:r>
              <a:rPr sz="2800" u="dottedHeavy" dirty="0"/>
              <a:t>动态重定位分区存储管理</a:t>
            </a:r>
            <a:endParaRPr lang="en-US" sz="2800" u="dottedHeavy" dirty="0"/>
          </a:p>
          <a:p>
            <a:pPr marL="228600" lvl="1">
              <a:lnSpc>
                <a:spcPct val="130000"/>
              </a:lnSpc>
              <a:spcAft>
                <a:spcPts val="1000"/>
              </a:spcAft>
              <a:buClr>
                <a:srgbClr val="2094CE"/>
              </a:buClr>
              <a:buSzPct val="80000"/>
              <a:buBlip>
                <a:blip r:embed="rId2"/>
              </a:buBlip>
            </a:pPr>
            <a:r>
              <a:rPr lang="zh-CN" altLang="en-US" sz="2800" u="dottedHeavy" dirty="0"/>
              <a:t>离散分配</a:t>
            </a:r>
            <a:endParaRPr lang="en-US" altLang="en-US" sz="2800" u="dottedHeavy" dirty="0"/>
          </a:p>
          <a:p>
            <a:pPr lvl="1">
              <a:buBlip>
                <a:blip r:embed="rId2"/>
              </a:buBlip>
            </a:pPr>
            <a:r>
              <a:rPr lang="zh-CN" altLang="en-US" sz="2800" dirty="0"/>
              <a:t> </a:t>
            </a:r>
            <a:r>
              <a:rPr lang="en-US" altLang="zh-CN" sz="2800" u="dottedHeavy" dirty="0"/>
              <a:t>4  </a:t>
            </a:r>
            <a:r>
              <a:rPr lang="zh-CN" altLang="en-US" sz="2800" u="dottedHeavy" dirty="0"/>
              <a:t>分页存储管理</a:t>
            </a:r>
          </a:p>
          <a:p>
            <a:pPr lvl="1">
              <a:buBlip>
                <a:blip r:embed="rId2"/>
              </a:buBlip>
            </a:pPr>
            <a:r>
              <a:rPr lang="zh-CN" altLang="en-US" sz="2800" dirty="0"/>
              <a:t> </a:t>
            </a:r>
            <a:r>
              <a:rPr lang="en-US" altLang="zh-CN" sz="2800" u="dottedHeavy" dirty="0"/>
              <a:t>5  </a:t>
            </a:r>
            <a:r>
              <a:rPr lang="zh-CN" altLang="en-US" sz="2800" u="dottedHeavy" dirty="0"/>
              <a:t>分段存储管理</a:t>
            </a:r>
            <a:r>
              <a:rPr lang="en-US" altLang="zh-CN" sz="2800" u="dottedHeavy" dirty="0"/>
              <a:t> </a:t>
            </a:r>
          </a:p>
          <a:p>
            <a:pPr lvl="1">
              <a:buBlip>
                <a:blip r:embed="rId2"/>
              </a:buBlip>
            </a:pPr>
            <a:r>
              <a:rPr lang="en-US" altLang="zh-CN" sz="2800" u="dottedHeavy" dirty="0"/>
              <a:t> 6  </a:t>
            </a:r>
            <a:r>
              <a:rPr lang="zh-CN" altLang="en-US" sz="2800" u="dottedHeavy" dirty="0"/>
              <a:t>段页式存储管理</a:t>
            </a:r>
            <a:r>
              <a:rPr lang="en-US" altLang="zh-CN" sz="2800" u="dottedHeavy" dirty="0"/>
              <a:t>              </a:t>
            </a:r>
          </a:p>
        </p:txBody>
      </p:sp>
      <p:sp>
        <p:nvSpPr>
          <p:cNvPr id="5" name="标题 1">
            <a:extLst>
              <a:ext uri="{FF2B5EF4-FFF2-40B4-BE49-F238E27FC236}">
                <a16:creationId xmlns:a16="http://schemas.microsoft.com/office/drawing/2014/main" id="{D4D6EB72-BCBC-4EBD-A7D5-C9FA852C05B4}"/>
              </a:ext>
            </a:extLst>
          </p:cNvPr>
          <p:cNvSpPr txBox="1">
            <a:spLocks/>
          </p:cNvSpPr>
          <p:nvPr/>
        </p:nvSpPr>
        <p:spPr>
          <a:xfrm>
            <a:off x="6092825" y="1236733"/>
            <a:ext cx="5279870" cy="705485"/>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pPr algn="ctr"/>
            <a:r>
              <a:rPr lang="en-US" altLang="zh-CN" dirty="0"/>
              <a:t>6.3  </a:t>
            </a:r>
            <a:r>
              <a:rPr lang="zh-CN" altLang="en-US" dirty="0"/>
              <a:t>内存扩充技术</a:t>
            </a:r>
          </a:p>
        </p:txBody>
      </p:sp>
      <p:sp>
        <p:nvSpPr>
          <p:cNvPr id="6" name="内容占位符 2">
            <a:extLst>
              <a:ext uri="{FF2B5EF4-FFF2-40B4-BE49-F238E27FC236}">
                <a16:creationId xmlns:a16="http://schemas.microsoft.com/office/drawing/2014/main" id="{9E7DFEF9-EB64-4F52-AEAE-695B72AA581D}"/>
              </a:ext>
            </a:extLst>
          </p:cNvPr>
          <p:cNvSpPr txBox="1">
            <a:spLocks/>
          </p:cNvSpPr>
          <p:nvPr/>
        </p:nvSpPr>
        <p:spPr>
          <a:xfrm>
            <a:off x="6966888" y="2063843"/>
            <a:ext cx="3531744" cy="1503680"/>
          </a:xfrm>
          <a:prstGeom prst="rect">
            <a:avLst/>
          </a:prstGeom>
        </p:spPr>
        <p:txBody>
          <a:bodyPr vert="horz" lIns="90000" tIns="46800" rIns="90000" bIns="46800" rtlCol="0">
            <a:no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Blip>
                <a:blip r:embed="rId2"/>
              </a:buBlip>
            </a:pPr>
            <a:r>
              <a:rPr lang="zh-CN" altLang="en-US" sz="2800" dirty="0"/>
              <a:t> </a:t>
            </a:r>
            <a:r>
              <a:rPr lang="en-US" altLang="zh-CN" sz="2800" u="dottedHeavy" dirty="0"/>
              <a:t>6.3.1  </a:t>
            </a:r>
            <a:r>
              <a:rPr lang="zh-CN" altLang="en-US" sz="2800" u="dottedHeavy" dirty="0"/>
              <a:t>覆盖技术</a:t>
            </a:r>
          </a:p>
          <a:p>
            <a:pPr>
              <a:buFont typeface="Arial" panose="020B0604020202020204" pitchFamily="34" charset="0"/>
              <a:buBlip>
                <a:blip r:embed="rId2"/>
              </a:buBlip>
            </a:pPr>
            <a:r>
              <a:rPr lang="zh-CN" altLang="en-US" sz="2800" dirty="0"/>
              <a:t> </a:t>
            </a:r>
            <a:r>
              <a:rPr lang="en-US" altLang="zh-CN" sz="2800" u="dottedHeavy" dirty="0"/>
              <a:t>6.3.2  </a:t>
            </a:r>
            <a:r>
              <a:rPr lang="zh-CN" altLang="en-US" sz="2800" u="dottedHeavy" dirty="0"/>
              <a:t>交换技术                  </a:t>
            </a:r>
          </a:p>
        </p:txBody>
      </p:sp>
    </p:spTree>
    <p:extLst>
      <p:ext uri="{BB962C8B-B14F-4D97-AF65-F5344CB8AC3E}">
        <p14:creationId xmlns:p14="http://schemas.microsoft.com/office/powerpoint/2010/main" val="393505204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zh-CN" altLang="en-US"/>
              <a:t>本章目录</a:t>
            </a:r>
          </a:p>
        </p:txBody>
      </p:sp>
      <p:sp>
        <p:nvSpPr>
          <p:cNvPr id="3" name="内容占位符 2"/>
          <p:cNvSpPr>
            <a:spLocks noGrp="1"/>
          </p:cNvSpPr>
          <p:nvPr>
            <p:ph idx="1"/>
          </p:nvPr>
        </p:nvSpPr>
        <p:spPr>
          <a:xfrm>
            <a:off x="2741296" y="1332231"/>
            <a:ext cx="6602730" cy="2649220"/>
          </a:xfrm>
        </p:spPr>
        <p:txBody>
          <a:bodyPr>
            <a:normAutofit/>
          </a:bodyPr>
          <a:lstStyle/>
          <a:p>
            <a:pPr>
              <a:buBlip>
                <a:blip r:embed="rId3"/>
              </a:buBlip>
            </a:pPr>
            <a:r>
              <a:rPr lang="en-US" altLang="zh-CN" sz="2800" dirty="0"/>
              <a:t> </a:t>
            </a:r>
            <a:r>
              <a:rPr lang="en-US" altLang="zh-CN" sz="2800" u="dottedHeavy" dirty="0">
                <a:solidFill>
                  <a:schemeClr val="tx1"/>
                </a:solidFill>
                <a:uFillTx/>
              </a:rPr>
              <a:t>7.1  </a:t>
            </a:r>
            <a:r>
              <a:rPr sz="2800" u="dottedHeavy" dirty="0">
                <a:solidFill>
                  <a:schemeClr val="tx1"/>
                </a:solidFill>
                <a:uFillTx/>
              </a:rPr>
              <a:t>虚拟存储器的基本概念</a:t>
            </a:r>
          </a:p>
          <a:p>
            <a:pPr>
              <a:buBlip>
                <a:blip r:embed="rId3"/>
              </a:buBlip>
            </a:pPr>
            <a:r>
              <a:rPr sz="2800" dirty="0"/>
              <a:t> </a:t>
            </a:r>
            <a:r>
              <a:rPr lang="en-US" altLang="zh-CN" sz="2800" u="dottedHeavy" dirty="0"/>
              <a:t>7.2  </a:t>
            </a:r>
            <a:r>
              <a:rPr sz="2800" u="dottedHeavy" dirty="0"/>
              <a:t>请求分页</a:t>
            </a:r>
            <a:r>
              <a:rPr lang="en-US" altLang="zh-CN" sz="2800" u="dottedHeavy" dirty="0" err="1"/>
              <a:t>存储管理</a:t>
            </a:r>
            <a:r>
              <a:rPr lang="en-US" altLang="zh-CN" sz="2800" u="dottedHeavy" dirty="0"/>
              <a:t>                  </a:t>
            </a:r>
          </a:p>
          <a:p>
            <a:pPr>
              <a:buBlip>
                <a:blip r:embed="rId3"/>
              </a:buBlip>
            </a:pPr>
            <a:r>
              <a:rPr sz="2800" dirty="0"/>
              <a:t> </a:t>
            </a:r>
            <a:r>
              <a:rPr lang="en-US" altLang="zh-CN" sz="2800" u="dottedHeavy" dirty="0"/>
              <a:t>7.3  </a:t>
            </a:r>
            <a:r>
              <a:rPr sz="2800" u="dottedHeavy" dirty="0">
                <a:sym typeface="+mn-ea"/>
              </a:rPr>
              <a:t>请求分段</a:t>
            </a:r>
            <a:r>
              <a:rPr lang="en-US" altLang="zh-CN" sz="2800" u="dottedHeavy" dirty="0" err="1">
                <a:sym typeface="+mn-ea"/>
              </a:rPr>
              <a:t>存储管理</a:t>
            </a:r>
            <a:endParaRPr lang="en-US" altLang="zh-CN" sz="2800" u="dottedHeavy"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8330" y="1021079"/>
            <a:ext cx="10968990" cy="3731895"/>
          </a:xfrm>
        </p:spPr>
        <p:txBody>
          <a:bodyPr>
            <a:normAutofit/>
          </a:bodyPr>
          <a:lstStyle/>
          <a:p>
            <a:r>
              <a:rPr dirty="0">
                <a:sym typeface="+mn-ea"/>
              </a:rPr>
              <a:t>基本存储管理：</a:t>
            </a:r>
            <a:endParaRPr lang="zh-CN" altLang="en-US" dirty="0"/>
          </a:p>
          <a:p>
            <a:pPr lvl="1"/>
            <a:r>
              <a:rPr dirty="0">
                <a:sym typeface="+mn-ea"/>
              </a:rPr>
              <a:t>一个程序或作业</a:t>
            </a:r>
            <a:r>
              <a:rPr dirty="0">
                <a:solidFill>
                  <a:srgbClr val="FF0000"/>
                </a:solidFill>
                <a:sym typeface="+mn-ea"/>
              </a:rPr>
              <a:t>全部装入内存</a:t>
            </a:r>
            <a:r>
              <a:rPr dirty="0">
                <a:sym typeface="+mn-ea"/>
              </a:rPr>
              <a:t>。</a:t>
            </a:r>
            <a:endParaRPr lang="zh-CN" altLang="en-US" dirty="0"/>
          </a:p>
          <a:p>
            <a:pPr lvl="1"/>
            <a:r>
              <a:rPr dirty="0">
                <a:sym typeface="+mn-ea"/>
              </a:rPr>
              <a:t>于是，当程序的地址空间大于内存的可用空间时，该程序就无法装入内存中运行。</a:t>
            </a:r>
            <a:r>
              <a:rPr lang="en-US" altLang="zh-CN" dirty="0">
                <a:sym typeface="+mn-ea"/>
              </a:rPr>
              <a:t>—— </a:t>
            </a:r>
            <a:r>
              <a:rPr lang="zh-CN" altLang="en-US" dirty="0"/>
              <a:t>“大”</a:t>
            </a:r>
            <a:r>
              <a:rPr lang="zh-CN" altLang="en-US" dirty="0">
                <a:sym typeface="+mn-ea"/>
              </a:rPr>
              <a:t>程序可能无法运行。</a:t>
            </a:r>
            <a:endParaRPr lang="en-US" altLang="zh-CN" dirty="0">
              <a:sym typeface="+mn-ea"/>
            </a:endParaRPr>
          </a:p>
          <a:p>
            <a:pPr lvl="1"/>
            <a:endParaRPr lang="en-US" altLang="zh-CN" dirty="0"/>
          </a:p>
          <a:p>
            <a:pPr marL="457200" lvl="1" indent="0">
              <a:buNone/>
            </a:pPr>
            <a:r>
              <a:rPr lang="en-US" altLang="zh-CN" dirty="0"/>
              <a:t>   ——</a:t>
            </a:r>
            <a:r>
              <a:rPr lang="zh-CN" altLang="en-US" dirty="0"/>
              <a:t>如果要运行需要扩充内存</a:t>
            </a:r>
          </a:p>
          <a:p>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a:t>7.1  虚拟存储器的</a:t>
            </a:r>
            <a:r>
              <a:rPr>
                <a:sym typeface="+mn-ea"/>
              </a:rPr>
              <a:t>基本概念</a:t>
            </a:r>
            <a:endParaRPr lang="en-US" altLang="zh-CN"/>
          </a:p>
        </p:txBody>
      </p:sp>
      <p:sp>
        <p:nvSpPr>
          <p:cNvPr id="3" name="内容占位符 2"/>
          <p:cNvSpPr>
            <a:spLocks noGrp="1"/>
          </p:cNvSpPr>
          <p:nvPr>
            <p:ph idx="1"/>
          </p:nvPr>
        </p:nvSpPr>
        <p:spPr>
          <a:xfrm>
            <a:off x="3597910" y="1665605"/>
            <a:ext cx="3688715" cy="2068195"/>
          </a:xfrm>
        </p:spPr>
        <p:txBody>
          <a:bodyPr>
            <a:normAutofit/>
          </a:bodyPr>
          <a:lstStyle/>
          <a:p>
            <a:pPr>
              <a:buBlip>
                <a:blip r:embed="rId3"/>
              </a:buBlip>
            </a:pPr>
            <a:r>
              <a:rPr lang="en-US" altLang="zh-CN" sz="2800" dirty="0"/>
              <a:t> </a:t>
            </a:r>
            <a:r>
              <a:rPr lang="en-US" altLang="zh-CN" sz="2800" u="dottedHeavy" dirty="0">
                <a:solidFill>
                  <a:schemeClr val="tx1"/>
                </a:solidFill>
                <a:uFillTx/>
              </a:rPr>
              <a:t>7.1.1  </a:t>
            </a:r>
            <a:r>
              <a:rPr sz="2800" u="dottedHeavy" dirty="0">
                <a:solidFill>
                  <a:schemeClr val="tx1"/>
                </a:solidFill>
                <a:uFillTx/>
              </a:rPr>
              <a:t>引入背景</a:t>
            </a:r>
          </a:p>
          <a:p>
            <a:pPr>
              <a:buBlip>
                <a:blip r:embed="rId3"/>
              </a:buBlip>
            </a:pPr>
            <a:r>
              <a:rPr sz="2800" dirty="0"/>
              <a:t> </a:t>
            </a:r>
            <a:r>
              <a:rPr lang="en-US" altLang="zh-CN" sz="2800" u="dottedHeavy" dirty="0"/>
              <a:t>7.1.2  </a:t>
            </a:r>
            <a:r>
              <a:rPr sz="2800" u="dottedHeavy" dirty="0"/>
              <a:t>虚拟存储器</a:t>
            </a:r>
            <a:r>
              <a:rPr lang="en-US" altLang="zh-CN" sz="2800" u="dottedHeavy"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7.1.1  </a:t>
            </a:r>
            <a:r>
              <a:rPr>
                <a:sym typeface="+mn-ea"/>
              </a:rPr>
              <a:t>引入背景</a:t>
            </a:r>
            <a:endParaRPr lang="zh-CN" altLang="en-US"/>
          </a:p>
        </p:txBody>
      </p:sp>
      <p:sp>
        <p:nvSpPr>
          <p:cNvPr id="3" name="内容占位符 2"/>
          <p:cNvSpPr>
            <a:spLocks noGrp="1"/>
          </p:cNvSpPr>
          <p:nvPr>
            <p:ph idx="1"/>
          </p:nvPr>
        </p:nvSpPr>
        <p:spPr>
          <a:xfrm>
            <a:off x="608330" y="1021080"/>
            <a:ext cx="10968990" cy="4560570"/>
          </a:xfrm>
        </p:spPr>
        <p:txBody>
          <a:bodyPr>
            <a:normAutofit/>
          </a:bodyPr>
          <a:lstStyle/>
          <a:p>
            <a:pPr marL="0" indent="0">
              <a:buNone/>
            </a:pPr>
            <a:r>
              <a:rPr sz="2800" b="1" dirty="0">
                <a:sym typeface="+mn-ea"/>
              </a:rPr>
              <a:t>1</a:t>
            </a:r>
            <a:r>
              <a:rPr lang="en-US" altLang="zh-CN" sz="2800" b="1" dirty="0">
                <a:sym typeface="+mn-ea"/>
              </a:rPr>
              <a:t>.</a:t>
            </a:r>
            <a:r>
              <a:rPr sz="2800" b="1" dirty="0">
                <a:sym typeface="+mn-ea"/>
              </a:rPr>
              <a:t>基本存储管理的特征</a:t>
            </a:r>
            <a:endParaRPr lang="zh-CN" altLang="en-US" sz="2800" b="1" dirty="0"/>
          </a:p>
          <a:p>
            <a:pPr lvl="1"/>
            <a:r>
              <a:rPr sz="2800" b="1" dirty="0">
                <a:sym typeface="+mn-ea"/>
              </a:rPr>
              <a:t>一次性</a:t>
            </a:r>
            <a:r>
              <a:rPr lang="zh-CN" altLang="en-US" sz="2800" b="1" dirty="0">
                <a:sym typeface="+mn-ea"/>
              </a:rPr>
              <a:t>：</a:t>
            </a:r>
            <a:r>
              <a:rPr lang="zh-CN" altLang="en-US" sz="2800" dirty="0">
                <a:sym typeface="+mn-ea"/>
              </a:rPr>
              <a:t>程序</a:t>
            </a:r>
            <a:r>
              <a:rPr sz="2800" dirty="0">
                <a:sym typeface="+mn-ea"/>
              </a:rPr>
              <a:t>在运行前需一次性地</a:t>
            </a:r>
            <a:r>
              <a:rPr sz="2800" dirty="0">
                <a:solidFill>
                  <a:srgbClr val="FF0000"/>
                </a:solidFill>
                <a:sym typeface="+mn-ea"/>
              </a:rPr>
              <a:t>全部</a:t>
            </a:r>
            <a:r>
              <a:rPr sz="2800" dirty="0">
                <a:sym typeface="+mn-ea"/>
              </a:rPr>
              <a:t>装入内存 </a:t>
            </a:r>
            <a:endParaRPr lang="zh-CN" altLang="en-US" sz="2800" dirty="0"/>
          </a:p>
          <a:p>
            <a:pPr lvl="1"/>
            <a:r>
              <a:rPr sz="2800" b="1" dirty="0">
                <a:sym typeface="+mn-ea"/>
              </a:rPr>
              <a:t>驻留性</a:t>
            </a:r>
            <a:r>
              <a:rPr lang="zh-CN" altLang="en-US" sz="2800" b="1" dirty="0">
                <a:sym typeface="+mn-ea"/>
              </a:rPr>
              <a:t>：</a:t>
            </a:r>
            <a:r>
              <a:rPr lang="zh-CN" altLang="en-US" sz="2800" dirty="0">
                <a:sym typeface="+mn-ea"/>
              </a:rPr>
              <a:t>程序</a:t>
            </a:r>
            <a:r>
              <a:rPr sz="2800" dirty="0">
                <a:sym typeface="+mn-ea"/>
              </a:rPr>
              <a:t>装入内存后，便</a:t>
            </a:r>
            <a:r>
              <a:rPr sz="2800" dirty="0">
                <a:solidFill>
                  <a:srgbClr val="FF0000"/>
                </a:solidFill>
                <a:sym typeface="+mn-ea"/>
              </a:rPr>
              <a:t>一直驻留在内存</a:t>
            </a:r>
            <a:r>
              <a:rPr sz="2800" dirty="0">
                <a:sym typeface="+mn-ea"/>
              </a:rPr>
              <a:t>中，直至运行结束。 </a:t>
            </a:r>
            <a:endParaRPr lang="en-US" sz="2800" dirty="0">
              <a:sym typeface="+mn-ea"/>
            </a:endParaRPr>
          </a:p>
          <a:p>
            <a:pPr lvl="1"/>
            <a:endParaRPr lang="zh-CN" altLang="en-US" sz="2800" dirty="0"/>
          </a:p>
          <a:p>
            <a:pPr marL="0" indent="0" algn="ctr">
              <a:buNone/>
            </a:pPr>
            <a:r>
              <a:rPr lang="zh-CN" altLang="en-US" sz="2800" b="1" dirty="0">
                <a:solidFill>
                  <a:srgbClr val="0000FF"/>
                </a:solidFill>
                <a:sym typeface="+mn-ea"/>
              </a:rPr>
              <a:t>“</a:t>
            </a:r>
            <a:r>
              <a:rPr sz="2800" b="1" dirty="0">
                <a:solidFill>
                  <a:srgbClr val="0000FF"/>
                </a:solidFill>
                <a:sym typeface="+mn-ea"/>
              </a:rPr>
              <a:t>一次性”和“驻留性”在程序运行时是否是必要的？</a:t>
            </a:r>
            <a:endParaRPr lang="zh-CN" altLang="en-US" sz="2800" dirty="0">
              <a:solidFill>
                <a:srgbClr val="0000FF"/>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7.1.1  </a:t>
            </a:r>
            <a:r>
              <a:rPr>
                <a:sym typeface="+mn-ea"/>
              </a:rPr>
              <a:t>引入背景</a:t>
            </a:r>
            <a:endParaRPr lang="zh-CN" altLang="en-US"/>
          </a:p>
        </p:txBody>
      </p:sp>
      <p:sp>
        <p:nvSpPr>
          <p:cNvPr id="3" name="内容占位符 2"/>
          <p:cNvSpPr>
            <a:spLocks noGrp="1"/>
          </p:cNvSpPr>
          <p:nvPr>
            <p:ph idx="1"/>
          </p:nvPr>
        </p:nvSpPr>
        <p:spPr>
          <a:xfrm>
            <a:off x="608330" y="1021080"/>
            <a:ext cx="10968990" cy="5203450"/>
          </a:xfrm>
        </p:spPr>
        <p:txBody>
          <a:bodyPr>
            <a:normAutofit/>
          </a:bodyPr>
          <a:lstStyle/>
          <a:p>
            <a:pPr marL="0" indent="0">
              <a:buNone/>
            </a:pPr>
            <a:r>
              <a:rPr lang="en-US" altLang="zh-CN" sz="3200" b="1" dirty="0">
                <a:sym typeface="+mn-ea"/>
              </a:rPr>
              <a:t>2.</a:t>
            </a:r>
            <a:r>
              <a:rPr sz="3200" b="1" dirty="0">
                <a:sym typeface="+mn-ea"/>
              </a:rPr>
              <a:t>局部性原理</a:t>
            </a:r>
            <a:endParaRPr sz="3200" b="1" dirty="0"/>
          </a:p>
          <a:p>
            <a:r>
              <a:rPr sz="2800" dirty="0">
                <a:sym typeface="+mn-ea"/>
              </a:rPr>
              <a:t>局部性表现在下述两个方面：</a:t>
            </a:r>
          </a:p>
          <a:p>
            <a:pPr lvl="1"/>
            <a:r>
              <a:rPr sz="2800" dirty="0">
                <a:solidFill>
                  <a:srgbClr val="0000FF"/>
                </a:solidFill>
                <a:sym typeface="+mn-ea"/>
              </a:rPr>
              <a:t>空间局限性</a:t>
            </a:r>
            <a:r>
              <a:rPr sz="2800" dirty="0">
                <a:sym typeface="+mn-ea"/>
              </a:rPr>
              <a:t>。程序在执行时访问的内存单元会局部在一个比较小的范围内。 </a:t>
            </a:r>
          </a:p>
          <a:p>
            <a:pPr lvl="1"/>
            <a:r>
              <a:rPr sz="2800" dirty="0">
                <a:solidFill>
                  <a:srgbClr val="0000FF"/>
                </a:solidFill>
                <a:sym typeface="+mn-ea"/>
              </a:rPr>
              <a:t>时间局限性</a:t>
            </a:r>
            <a:r>
              <a:rPr sz="2800" dirty="0">
                <a:sym typeface="+mn-ea"/>
              </a:rPr>
              <a:t>。程序中执行的某些指令会在不久后再次被执行，程序访问的数据结构也会在不久后被再次访问。 </a:t>
            </a:r>
          </a:p>
          <a:p>
            <a:pPr lvl="0"/>
            <a:r>
              <a:rPr sz="2800" dirty="0">
                <a:solidFill>
                  <a:srgbClr val="0000FF"/>
                </a:solidFill>
                <a:sym typeface="+mn-ea"/>
              </a:rPr>
              <a:t>局部性原理为虚拟存储器的引入奠定了理论基础</a:t>
            </a:r>
            <a:r>
              <a:rPr sz="2800" dirty="0">
                <a:sym typeface="+mn-ea"/>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7.1.</a:t>
            </a:r>
            <a:r>
              <a:rPr>
                <a:sym typeface="+mn-ea"/>
              </a:rPr>
              <a:t>2 虚拟存储器</a:t>
            </a:r>
            <a:endParaRPr lang="zh-CN" altLang="en-US"/>
          </a:p>
        </p:txBody>
      </p:sp>
      <p:sp>
        <p:nvSpPr>
          <p:cNvPr id="3" name="内容占位符 2"/>
          <p:cNvSpPr>
            <a:spLocks noGrp="1"/>
          </p:cNvSpPr>
          <p:nvPr>
            <p:ph idx="1"/>
          </p:nvPr>
        </p:nvSpPr>
        <p:spPr>
          <a:xfrm>
            <a:off x="608330" y="1021080"/>
            <a:ext cx="10968990" cy="5291585"/>
          </a:xfrm>
        </p:spPr>
        <p:txBody>
          <a:bodyPr>
            <a:noAutofit/>
          </a:bodyPr>
          <a:lstStyle/>
          <a:p>
            <a:pPr marL="0" indent="0">
              <a:buNone/>
            </a:pPr>
            <a:r>
              <a:rPr sz="2800" b="1" dirty="0">
                <a:sym typeface="+mn-ea"/>
              </a:rPr>
              <a:t>1</a:t>
            </a:r>
            <a:r>
              <a:rPr lang="en-US" altLang="zh-CN" sz="2800" b="1" dirty="0">
                <a:sym typeface="+mn-ea"/>
              </a:rPr>
              <a:t>. </a:t>
            </a:r>
            <a:r>
              <a:rPr sz="2800" b="1" dirty="0">
                <a:sym typeface="+mn-ea"/>
              </a:rPr>
              <a:t>虚拟存储器的</a:t>
            </a:r>
            <a:r>
              <a:rPr lang="zh-CN" altLang="en-US" sz="2800" b="1" dirty="0">
                <a:sym typeface="+mn-ea"/>
              </a:rPr>
              <a:t>实现原理</a:t>
            </a:r>
            <a:endParaRPr lang="zh-CN" altLang="en-US" sz="2800" b="1" dirty="0"/>
          </a:p>
          <a:p>
            <a:pPr marL="914400" lvl="1" indent="-457200">
              <a:buClr>
                <a:srgbClr val="0000FF"/>
              </a:buClr>
              <a:buSzPct val="100000"/>
              <a:buFont typeface="+mj-ea"/>
              <a:buAutoNum type="circleNumDbPlain"/>
            </a:pPr>
            <a:r>
              <a:rPr dirty="0">
                <a:sym typeface="+mn-ea"/>
              </a:rPr>
              <a:t>一个程序要运行时，仅将那些</a:t>
            </a:r>
            <a:r>
              <a:rPr dirty="0">
                <a:solidFill>
                  <a:srgbClr val="0000FF"/>
                </a:solidFill>
                <a:sym typeface="+mn-ea"/>
              </a:rPr>
              <a:t>当前需要执行的部分读入内存</a:t>
            </a:r>
            <a:r>
              <a:rPr dirty="0">
                <a:sym typeface="+mn-ea"/>
              </a:rPr>
              <a:t>，就可以为其创建进程并开始执行。</a:t>
            </a:r>
            <a:endParaRPr lang="zh-CN" altLang="en-US" dirty="0"/>
          </a:p>
          <a:p>
            <a:pPr marL="914400" lvl="1" indent="-457200">
              <a:buClr>
                <a:srgbClr val="0000FF"/>
              </a:buClr>
              <a:buSzPct val="100000"/>
              <a:buFont typeface="+mj-ea"/>
              <a:buAutoNum type="circleNumDbPlain"/>
            </a:pPr>
            <a:r>
              <a:rPr dirty="0">
                <a:sym typeface="+mn-ea"/>
              </a:rPr>
              <a:t>执行过程中，如果需要访问的数据或代码不在内存时，操作系统负责把</a:t>
            </a:r>
            <a:r>
              <a:rPr lang="zh-CN" altLang="en-US" dirty="0">
                <a:sym typeface="+mn-ea"/>
              </a:rPr>
              <a:t>需要的</a:t>
            </a:r>
            <a:r>
              <a:rPr dirty="0">
                <a:sym typeface="+mn-ea"/>
              </a:rPr>
              <a:t>代码或数据</a:t>
            </a:r>
            <a:r>
              <a:rPr dirty="0">
                <a:solidFill>
                  <a:srgbClr val="0000FF"/>
                </a:solidFill>
                <a:sym typeface="+mn-ea"/>
              </a:rPr>
              <a:t>从外存调入内存</a:t>
            </a:r>
            <a:r>
              <a:rPr lang="zh-CN" altLang="en-US" dirty="0">
                <a:sym typeface="+mn-ea"/>
              </a:rPr>
              <a:t>。</a:t>
            </a:r>
            <a:endParaRPr lang="en-US" altLang="zh-CN" dirty="0">
              <a:sym typeface="+mn-ea"/>
            </a:endParaRPr>
          </a:p>
          <a:p>
            <a:pPr marL="914400" lvl="1" indent="-457200">
              <a:buClr>
                <a:srgbClr val="0000FF"/>
              </a:buClr>
              <a:buSzPct val="100000"/>
              <a:buFont typeface="+mj-ea"/>
              <a:buAutoNum type="circleNumDbPlain"/>
            </a:pPr>
            <a:r>
              <a:rPr dirty="0">
                <a:sym typeface="+mn-ea"/>
              </a:rPr>
              <a:t>如果此时内存已满，那么可以将内存中暂时不用的部分代码或数据</a:t>
            </a:r>
            <a:r>
              <a:rPr dirty="0">
                <a:solidFill>
                  <a:srgbClr val="0000FF"/>
                </a:solidFill>
                <a:sym typeface="+mn-ea"/>
              </a:rPr>
              <a:t>置换出去</a:t>
            </a:r>
            <a:r>
              <a:rPr dirty="0">
                <a:sym typeface="+mn-ea"/>
              </a:rPr>
              <a:t>，腾出内存空间后产生磁盘I/O 读请求，将缺的代码或数据调入内存。</a:t>
            </a:r>
            <a:endParaRPr lang="en-US" dirty="0">
              <a:sym typeface="+mn-ea"/>
            </a:endParaRPr>
          </a:p>
          <a:p>
            <a:pPr marL="914400" lvl="1" indent="-457200">
              <a:buClr>
                <a:srgbClr val="0000FF"/>
              </a:buClr>
              <a:buSzPct val="100000"/>
              <a:buFont typeface="+mj-ea"/>
              <a:buAutoNum type="circleNumDbPlain"/>
            </a:pPr>
            <a:r>
              <a:rPr lang="zh-CN" altLang="en-US" dirty="0"/>
              <a:t>一旦所需的内容读入内存后，唤醒原来的阻塞进程转为就绪态，使其能够继续运行。</a:t>
            </a:r>
            <a:endParaRPr lang="en-US" altLang="zh-CN" dirty="0"/>
          </a:p>
          <a:p>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7.1.</a:t>
            </a:r>
            <a:r>
              <a:rPr>
                <a:sym typeface="+mn-ea"/>
              </a:rPr>
              <a:t>2 虚拟存储器</a:t>
            </a:r>
            <a:endParaRPr lang="zh-CN" altLang="en-US"/>
          </a:p>
        </p:txBody>
      </p:sp>
      <p:sp>
        <p:nvSpPr>
          <p:cNvPr id="3" name="内容占位符 2"/>
          <p:cNvSpPr>
            <a:spLocks noGrp="1"/>
          </p:cNvSpPr>
          <p:nvPr>
            <p:ph idx="1"/>
          </p:nvPr>
        </p:nvSpPr>
        <p:spPr>
          <a:xfrm>
            <a:off x="891234" y="1458312"/>
            <a:ext cx="10403181" cy="3074670"/>
          </a:xfrm>
        </p:spPr>
        <p:txBody>
          <a:bodyPr>
            <a:normAutofit fontScale="92500" lnSpcReduction="10000"/>
          </a:bodyPr>
          <a:lstStyle/>
          <a:p>
            <a:pPr lvl="0">
              <a:lnSpc>
                <a:spcPct val="150000"/>
              </a:lnSpc>
            </a:pPr>
            <a:r>
              <a:rPr lang="zh-CN" altLang="en-US" sz="2800" dirty="0">
                <a:solidFill>
                  <a:srgbClr val="0000FF"/>
                </a:solidFill>
              </a:rPr>
              <a:t>从用户的角度看，系统所具有的内存容量将比实际内存容量大得多</a:t>
            </a:r>
            <a:r>
              <a:rPr lang="zh-CN" altLang="en-US" sz="2800" dirty="0"/>
              <a:t>。</a:t>
            </a:r>
          </a:p>
          <a:p>
            <a:pPr lvl="1">
              <a:lnSpc>
                <a:spcPct val="150000"/>
              </a:lnSpc>
            </a:pPr>
            <a:r>
              <a:rPr lang="zh-CN" altLang="en-US" sz="2800" dirty="0"/>
              <a:t>用户所看到的大容量只是一种感觉，</a:t>
            </a:r>
            <a:r>
              <a:rPr lang="zh-CN" altLang="en-US" sz="2800" dirty="0">
                <a:solidFill>
                  <a:srgbClr val="0000FF"/>
                </a:solidFill>
              </a:rPr>
              <a:t>是虚拟的</a:t>
            </a:r>
            <a:r>
              <a:rPr lang="zh-CN" altLang="en-US" sz="2800" dirty="0"/>
              <a:t>。</a:t>
            </a:r>
          </a:p>
          <a:p>
            <a:pPr lvl="1">
              <a:lnSpc>
                <a:spcPct val="150000"/>
              </a:lnSpc>
            </a:pPr>
            <a:r>
              <a:rPr lang="zh-CN" altLang="en-US" sz="2800" dirty="0"/>
              <a:t>实际上是由操作系统负责将内、外存统一管理起来，进程的换入和换出工作由操作系统自动完成，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7.1.</a:t>
            </a:r>
            <a:r>
              <a:rPr>
                <a:sym typeface="+mn-ea"/>
              </a:rPr>
              <a:t>2 虚拟存储器</a:t>
            </a:r>
            <a:endParaRPr lang="zh-CN" altLang="en-US"/>
          </a:p>
        </p:txBody>
      </p:sp>
      <p:sp>
        <p:nvSpPr>
          <p:cNvPr id="3" name="内容占位符 2"/>
          <p:cNvSpPr>
            <a:spLocks noGrp="1"/>
          </p:cNvSpPr>
          <p:nvPr>
            <p:ph idx="1"/>
          </p:nvPr>
        </p:nvSpPr>
        <p:spPr>
          <a:xfrm>
            <a:off x="608330" y="1178805"/>
            <a:ext cx="10968990" cy="5001658"/>
          </a:xfrm>
        </p:spPr>
        <p:txBody>
          <a:bodyPr>
            <a:normAutofit/>
          </a:bodyPr>
          <a:lstStyle/>
          <a:p>
            <a:r>
              <a:rPr lang="zh-CN" altLang="en-US" b="1" dirty="0">
                <a:solidFill>
                  <a:srgbClr val="0000FF"/>
                </a:solidFill>
                <a:latin typeface="+mn-ea"/>
                <a:ea typeface="+mn-ea"/>
              </a:rPr>
              <a:t>虚拟存储器</a:t>
            </a:r>
            <a:r>
              <a:rPr lang="zh-CN" altLang="en-US" dirty="0">
                <a:solidFill>
                  <a:srgbClr val="0000FF"/>
                </a:solidFill>
                <a:latin typeface="+mn-ea"/>
                <a:ea typeface="+mn-ea"/>
              </a:rPr>
              <a:t>是指具有</a:t>
            </a:r>
            <a:r>
              <a:rPr lang="zh-CN" altLang="en-US" b="1" dirty="0">
                <a:solidFill>
                  <a:srgbClr val="0000FF"/>
                </a:solidFill>
                <a:latin typeface="+mn-ea"/>
                <a:ea typeface="+mn-ea"/>
              </a:rPr>
              <a:t>调入功能</a:t>
            </a:r>
            <a:r>
              <a:rPr lang="zh-CN" altLang="en-US" dirty="0">
                <a:solidFill>
                  <a:srgbClr val="0000FF"/>
                </a:solidFill>
                <a:latin typeface="+mn-ea"/>
                <a:ea typeface="+mn-ea"/>
              </a:rPr>
              <a:t>和</a:t>
            </a:r>
            <a:r>
              <a:rPr lang="zh-CN" altLang="en-US" b="1" dirty="0">
                <a:solidFill>
                  <a:srgbClr val="0000FF"/>
                </a:solidFill>
                <a:latin typeface="+mn-ea"/>
                <a:ea typeface="+mn-ea"/>
              </a:rPr>
              <a:t>置换功能</a:t>
            </a:r>
            <a:r>
              <a:rPr lang="zh-CN" altLang="en-US" dirty="0">
                <a:solidFill>
                  <a:srgbClr val="0000FF"/>
                </a:solidFill>
                <a:latin typeface="+mn-ea"/>
                <a:ea typeface="+mn-ea"/>
              </a:rPr>
              <a:t>，且能从逻辑上对内存容量进行扩充的一种存储器系统</a:t>
            </a:r>
            <a:r>
              <a:rPr lang="zh-CN" altLang="en-US" dirty="0">
                <a:latin typeface="+mn-ea"/>
                <a:ea typeface="+mn-ea"/>
              </a:rPr>
              <a:t>，其逻辑容量由内存容量和外存容量之和所决定，其运行速度接近于内存速度，而成本又接近于外存。</a:t>
            </a:r>
            <a:endParaRPr lang="en-US" altLang="zh-CN" dirty="0">
              <a:latin typeface="+mn-ea"/>
              <a:ea typeface="+mn-ea"/>
            </a:endParaRPr>
          </a:p>
          <a:p>
            <a:endParaRPr lang="zh-CN" altLang="en-US" dirty="0">
              <a:latin typeface="+mn-ea"/>
              <a:ea typeface="+mn-ea"/>
            </a:endParaRPr>
          </a:p>
          <a:p>
            <a:r>
              <a:rPr lang="zh-CN" altLang="en-US" dirty="0">
                <a:latin typeface="+mn-ea"/>
                <a:ea typeface="+mn-ea"/>
              </a:rPr>
              <a:t>虚拟存储器的实现都是建立在</a:t>
            </a:r>
            <a:r>
              <a:rPr lang="zh-CN" altLang="en-US" b="1" dirty="0">
                <a:solidFill>
                  <a:srgbClr val="FF0000"/>
                </a:solidFill>
                <a:latin typeface="+mn-ea"/>
                <a:ea typeface="+mn-ea"/>
              </a:rPr>
              <a:t>离散分配</a:t>
            </a:r>
            <a:r>
              <a:rPr lang="zh-CN" altLang="en-US" dirty="0">
                <a:latin typeface="+mn-ea"/>
                <a:ea typeface="+mn-ea"/>
              </a:rPr>
              <a:t>存储管理基础之上的。根据逻辑地址空间的结构不同，虚拟存储器分为：</a:t>
            </a:r>
          </a:p>
          <a:p>
            <a:pPr lvl="1"/>
            <a:r>
              <a:rPr lang="zh-CN" altLang="en-US" sz="2200" dirty="0">
                <a:latin typeface="+mn-ea"/>
                <a:ea typeface="+mn-ea"/>
              </a:rPr>
              <a:t>基于分页的虚拟存储器</a:t>
            </a:r>
          </a:p>
          <a:p>
            <a:pPr lvl="1"/>
            <a:r>
              <a:rPr lang="zh-CN" altLang="en-US" sz="2200" dirty="0">
                <a:latin typeface="+mn-ea"/>
                <a:ea typeface="+mn-ea"/>
              </a:rPr>
              <a:t>基于分段的虚拟存储器</a:t>
            </a:r>
          </a:p>
          <a:p>
            <a:pPr lvl="1"/>
            <a:r>
              <a:rPr lang="zh-CN" altLang="en-US" sz="2200" dirty="0">
                <a:latin typeface="+mn-ea"/>
                <a:ea typeface="+mn-ea"/>
              </a:rPr>
              <a:t>基于段页式的虚拟存储器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7.1.</a:t>
            </a:r>
            <a:r>
              <a:rPr>
                <a:sym typeface="+mn-ea"/>
              </a:rPr>
              <a:t>2 虚拟存储器</a:t>
            </a:r>
            <a:endParaRPr lang="zh-CN" altLang="en-US"/>
          </a:p>
        </p:txBody>
      </p:sp>
      <p:sp>
        <p:nvSpPr>
          <p:cNvPr id="3" name="内容占位符 2"/>
          <p:cNvSpPr>
            <a:spLocks noGrp="1"/>
          </p:cNvSpPr>
          <p:nvPr>
            <p:ph idx="1"/>
          </p:nvPr>
        </p:nvSpPr>
        <p:spPr>
          <a:xfrm>
            <a:off x="1076395" y="1266596"/>
            <a:ext cx="6155690" cy="3095625"/>
          </a:xfrm>
        </p:spPr>
        <p:txBody>
          <a:bodyPr>
            <a:normAutofit/>
          </a:bodyPr>
          <a:lstStyle/>
          <a:p>
            <a:pPr marL="0" indent="0">
              <a:buNone/>
            </a:pPr>
            <a:r>
              <a:rPr lang="en-US" altLang="zh-CN" sz="2800" b="1" dirty="0">
                <a:sym typeface="+mn-ea"/>
              </a:rPr>
              <a:t>2.</a:t>
            </a:r>
            <a:r>
              <a:rPr sz="2800" b="1" dirty="0">
                <a:sym typeface="+mn-ea"/>
              </a:rPr>
              <a:t>虚拟存储管理的特征</a:t>
            </a:r>
            <a:endParaRPr lang="zh-CN" altLang="en-US" sz="2800" b="1" dirty="0"/>
          </a:p>
          <a:p>
            <a:pPr lvl="1"/>
            <a:r>
              <a:rPr sz="2800" dirty="0">
                <a:sym typeface="+mn-ea"/>
              </a:rPr>
              <a:t>离散分配</a:t>
            </a:r>
            <a:r>
              <a:rPr lang="zh-CN" altLang="en-US" sz="2800" dirty="0">
                <a:sym typeface="+mn-ea"/>
              </a:rPr>
              <a:t> </a:t>
            </a:r>
            <a:endParaRPr sz="2800" dirty="0">
              <a:sym typeface="+mn-ea"/>
            </a:endParaRPr>
          </a:p>
          <a:p>
            <a:pPr lvl="1"/>
            <a:r>
              <a:rPr sz="2800" dirty="0">
                <a:sym typeface="+mn-ea"/>
              </a:rPr>
              <a:t>部分装入 </a:t>
            </a:r>
          </a:p>
          <a:p>
            <a:pPr lvl="1"/>
            <a:r>
              <a:rPr sz="2800" dirty="0">
                <a:sym typeface="+mn-ea"/>
              </a:rPr>
              <a:t>多次交换 </a:t>
            </a:r>
          </a:p>
          <a:p>
            <a:pPr lvl="1"/>
            <a:r>
              <a:rPr sz="2800" dirty="0">
                <a:sym typeface="+mn-ea"/>
              </a:rPr>
              <a:t>虚拟扩充  </a:t>
            </a: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59493D5-4079-110D-E8B0-9B1DF0F23C46}"/>
              </a:ext>
            </a:extLst>
          </p:cNvPr>
          <p:cNvSpPr>
            <a:spLocks noGrp="1"/>
          </p:cNvSpPr>
          <p:nvPr>
            <p:ph idx="1"/>
          </p:nvPr>
        </p:nvSpPr>
        <p:spPr>
          <a:xfrm>
            <a:off x="1275595" y="934582"/>
            <a:ext cx="9672491" cy="5528002"/>
          </a:xfrm>
        </p:spPr>
        <p:txBody>
          <a:bodyPr>
            <a:noAutofit/>
          </a:bodyPr>
          <a:lstStyle/>
          <a:p>
            <a:pPr marL="0" indent="0">
              <a:buNone/>
            </a:pPr>
            <a:r>
              <a:rPr lang="en-US" altLang="zh-CN" sz="2000" dirty="0"/>
              <a:t>1.  </a:t>
            </a:r>
            <a:r>
              <a:rPr lang="zh-CN" altLang="en-US" sz="2000" dirty="0"/>
              <a:t>虚拟存储技术实现的可行性基础是（     ）。</a:t>
            </a:r>
          </a:p>
          <a:p>
            <a:pPr marL="0" indent="0">
              <a:buNone/>
            </a:pPr>
            <a:r>
              <a:rPr lang="en-US" altLang="zh-CN" sz="2000" dirty="0"/>
              <a:t>A.</a:t>
            </a:r>
            <a:r>
              <a:rPr lang="zh-CN" altLang="en-US" sz="2000" dirty="0"/>
              <a:t>程序执行的离散型</a:t>
            </a:r>
          </a:p>
          <a:p>
            <a:pPr marL="0" indent="0">
              <a:buNone/>
            </a:pPr>
            <a:r>
              <a:rPr lang="en-US" altLang="zh-CN" sz="2000" dirty="0"/>
              <a:t>B.</a:t>
            </a:r>
            <a:r>
              <a:rPr lang="zh-CN" altLang="en-US" sz="2000" dirty="0"/>
              <a:t>程序执行的顺序性</a:t>
            </a:r>
          </a:p>
          <a:p>
            <a:pPr marL="0" indent="0">
              <a:buNone/>
            </a:pPr>
            <a:r>
              <a:rPr lang="en-US" altLang="zh-CN" sz="2000" dirty="0"/>
              <a:t>C.</a:t>
            </a:r>
            <a:r>
              <a:rPr lang="zh-CN" altLang="en-US" sz="2000" dirty="0"/>
              <a:t>程序执行的局部性</a:t>
            </a:r>
          </a:p>
          <a:p>
            <a:pPr marL="0" indent="0">
              <a:buNone/>
            </a:pPr>
            <a:r>
              <a:rPr lang="en-US" altLang="zh-CN" sz="2000" dirty="0"/>
              <a:t>D.</a:t>
            </a:r>
            <a:r>
              <a:rPr lang="zh-CN" altLang="en-US" sz="2000" dirty="0"/>
              <a:t>程序执行的并发性</a:t>
            </a:r>
          </a:p>
          <a:p>
            <a:pPr marL="0" indent="0">
              <a:buNone/>
            </a:pPr>
            <a:r>
              <a:rPr lang="en-US" altLang="zh-CN" sz="2000" dirty="0"/>
              <a:t>2. </a:t>
            </a:r>
            <a:r>
              <a:rPr lang="zh-CN" altLang="en-US" sz="2000" dirty="0"/>
              <a:t>在实现了虚拟存储器技术的系统中，当系统发生抖动</a:t>
            </a:r>
            <a:r>
              <a:rPr lang="en-US" altLang="zh-CN" sz="2000" dirty="0"/>
              <a:t>(thrashing)</a:t>
            </a:r>
            <a:r>
              <a:rPr lang="zh-CN" altLang="en-US" sz="2000" dirty="0"/>
              <a:t>时，可以采取的有效措施是（  ）。</a:t>
            </a:r>
          </a:p>
          <a:p>
            <a:pPr marL="0" indent="0">
              <a:buNone/>
            </a:pPr>
            <a:r>
              <a:rPr lang="en-US" altLang="zh-CN" sz="2000" dirty="0"/>
              <a:t>I.</a:t>
            </a:r>
            <a:r>
              <a:rPr lang="zh-CN" altLang="en-US" sz="2000" dirty="0"/>
              <a:t>撤销部分进程 </a:t>
            </a:r>
          </a:p>
          <a:p>
            <a:pPr marL="0" indent="0">
              <a:buNone/>
            </a:pPr>
            <a:r>
              <a:rPr lang="en-US" altLang="zh-CN" sz="2000" dirty="0"/>
              <a:t>II.</a:t>
            </a:r>
            <a:r>
              <a:rPr lang="zh-CN" altLang="en-US" sz="2000" dirty="0"/>
              <a:t>增加磁盘交换区的容量</a:t>
            </a:r>
          </a:p>
          <a:p>
            <a:pPr marL="0" indent="0">
              <a:buNone/>
            </a:pPr>
            <a:r>
              <a:rPr lang="en-US" altLang="zh-CN" sz="2000" dirty="0"/>
              <a:t>Ⅲ.</a:t>
            </a:r>
            <a:r>
              <a:rPr lang="zh-CN" altLang="en-US" sz="2000" dirty="0"/>
              <a:t>提高用户进程的优先级</a:t>
            </a:r>
          </a:p>
          <a:p>
            <a:pPr marL="0" indent="0">
              <a:buNone/>
            </a:pPr>
            <a:r>
              <a:rPr lang="zh-CN" altLang="en-US" sz="2000" dirty="0"/>
              <a:t> </a:t>
            </a:r>
            <a:r>
              <a:rPr lang="en-US" altLang="zh-CN" sz="2000" dirty="0"/>
              <a:t>A.I    B.II    </a:t>
            </a:r>
            <a:r>
              <a:rPr lang="en-US" altLang="zh-CN" sz="2000" dirty="0" err="1"/>
              <a:t>C.Ⅲ</a:t>
            </a:r>
            <a:r>
              <a:rPr lang="en-US" altLang="zh-CN" sz="2000" dirty="0"/>
              <a:t>    D.</a:t>
            </a:r>
            <a:r>
              <a:rPr lang="zh-CN" altLang="en-US" sz="2000" dirty="0"/>
              <a:t>都不是</a:t>
            </a:r>
          </a:p>
        </p:txBody>
      </p:sp>
      <p:sp>
        <p:nvSpPr>
          <p:cNvPr id="4" name="标题 1">
            <a:extLst>
              <a:ext uri="{FF2B5EF4-FFF2-40B4-BE49-F238E27FC236}">
                <a16:creationId xmlns:a16="http://schemas.microsoft.com/office/drawing/2014/main" id="{9B4480B1-762D-6ACD-503E-72B4FBDB2820}"/>
              </a:ext>
            </a:extLst>
          </p:cNvPr>
          <p:cNvSpPr>
            <a:spLocks noGrp="1"/>
          </p:cNvSpPr>
          <p:nvPr>
            <p:ph type="title"/>
          </p:nvPr>
        </p:nvSpPr>
        <p:spPr>
          <a:xfrm>
            <a:off x="1076325" y="114300"/>
            <a:ext cx="2346497" cy="706438"/>
          </a:xfrm>
        </p:spPr>
        <p:txBody>
          <a:bodyPr/>
          <a:lstStyle/>
          <a:p>
            <a:r>
              <a:rPr lang="zh-CN" altLang="en-US" dirty="0"/>
              <a:t>练习</a:t>
            </a:r>
          </a:p>
        </p:txBody>
      </p:sp>
    </p:spTree>
    <p:extLst>
      <p:ext uri="{BB962C8B-B14F-4D97-AF65-F5344CB8AC3E}">
        <p14:creationId xmlns:p14="http://schemas.microsoft.com/office/powerpoint/2010/main" val="367484279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BD2D05-2840-4C2B-B049-2E4608D92164}"/>
              </a:ext>
            </a:extLst>
          </p:cNvPr>
          <p:cNvSpPr>
            <a:spLocks noGrp="1"/>
          </p:cNvSpPr>
          <p:nvPr>
            <p:ph type="title"/>
          </p:nvPr>
        </p:nvSpPr>
        <p:spPr>
          <a:xfrm>
            <a:off x="1076395" y="114370"/>
            <a:ext cx="5019605" cy="705600"/>
          </a:xfrm>
        </p:spPr>
        <p:txBody>
          <a:bodyPr/>
          <a:lstStyle/>
          <a:p>
            <a:r>
              <a:rPr lang="zh-CN" altLang="en-US" dirty="0"/>
              <a:t>练习</a:t>
            </a:r>
          </a:p>
        </p:txBody>
      </p:sp>
      <p:sp>
        <p:nvSpPr>
          <p:cNvPr id="3" name="内容占位符 2">
            <a:extLst>
              <a:ext uri="{FF2B5EF4-FFF2-40B4-BE49-F238E27FC236}">
                <a16:creationId xmlns:a16="http://schemas.microsoft.com/office/drawing/2014/main" id="{89551172-E8C1-4287-80D5-205603925E8D}"/>
              </a:ext>
            </a:extLst>
          </p:cNvPr>
          <p:cNvSpPr>
            <a:spLocks noGrp="1"/>
          </p:cNvSpPr>
          <p:nvPr>
            <p:ph idx="1"/>
          </p:nvPr>
        </p:nvSpPr>
        <p:spPr>
          <a:xfrm>
            <a:off x="608330" y="1092820"/>
            <a:ext cx="10968990" cy="5156850"/>
          </a:xfrm>
        </p:spPr>
        <p:txBody>
          <a:bodyPr>
            <a:normAutofit lnSpcReduction="10000"/>
          </a:bodyPr>
          <a:lstStyle/>
          <a:p>
            <a:pPr marL="0" indent="0">
              <a:buNone/>
            </a:pPr>
            <a:r>
              <a:rPr lang="en-US" altLang="zh-CN" dirty="0"/>
              <a:t>1</a:t>
            </a:r>
            <a:r>
              <a:rPr lang="zh-CN" altLang="en-US" dirty="0"/>
              <a:t>、请求分页系统中的页表项中，外存地址供（    ）时参考。</a:t>
            </a:r>
          </a:p>
          <a:p>
            <a:pPr marL="0" indent="0">
              <a:buNone/>
            </a:pPr>
            <a:r>
              <a:rPr lang="en-US" altLang="zh-CN" dirty="0"/>
              <a:t>A</a:t>
            </a:r>
            <a:r>
              <a:rPr lang="zh-CN" altLang="en-US" dirty="0"/>
              <a:t>、分配页面  　　</a:t>
            </a:r>
            <a:r>
              <a:rPr lang="en-US" altLang="zh-CN" dirty="0"/>
              <a:t>B</a:t>
            </a:r>
            <a:r>
              <a:rPr lang="zh-CN" altLang="en-US" dirty="0"/>
              <a:t>、调入页面  　　</a:t>
            </a:r>
            <a:r>
              <a:rPr lang="en-US" altLang="zh-CN" dirty="0"/>
              <a:t>C</a:t>
            </a:r>
            <a:r>
              <a:rPr lang="zh-CN" altLang="en-US" dirty="0"/>
              <a:t>、程序访问 　　 </a:t>
            </a:r>
            <a:r>
              <a:rPr lang="en-US" altLang="zh-CN" dirty="0"/>
              <a:t>D</a:t>
            </a:r>
            <a:r>
              <a:rPr lang="zh-CN" altLang="en-US" dirty="0"/>
              <a:t>、换出页面</a:t>
            </a:r>
            <a:endParaRPr lang="en-US" altLang="zh-CN" dirty="0"/>
          </a:p>
          <a:p>
            <a:pPr marL="0" indent="0">
              <a:buNone/>
            </a:pPr>
            <a:endParaRPr lang="en-US" altLang="zh-CN" dirty="0"/>
          </a:p>
          <a:p>
            <a:pPr marL="0" indent="0">
              <a:buNone/>
            </a:pPr>
            <a:r>
              <a:rPr lang="en-US" altLang="zh-CN" dirty="0"/>
              <a:t>2</a:t>
            </a:r>
            <a:r>
              <a:rPr lang="zh-CN" altLang="en-US" dirty="0"/>
              <a:t>、请求分页系统中的页表项中，访问位供（ ）时参考。</a:t>
            </a:r>
          </a:p>
          <a:p>
            <a:pPr marL="0" indent="0">
              <a:buNone/>
            </a:pPr>
            <a:r>
              <a:rPr lang="en-US" altLang="zh-CN" dirty="0"/>
              <a:t>A</a:t>
            </a:r>
            <a:r>
              <a:rPr lang="zh-CN" altLang="en-US" dirty="0"/>
              <a:t>、分配页面  　　</a:t>
            </a:r>
            <a:r>
              <a:rPr lang="en-US" altLang="zh-CN" dirty="0"/>
              <a:t>B</a:t>
            </a:r>
            <a:r>
              <a:rPr lang="zh-CN" altLang="en-US" dirty="0"/>
              <a:t>、调入页面  　　</a:t>
            </a:r>
            <a:r>
              <a:rPr lang="en-US" altLang="zh-CN" dirty="0"/>
              <a:t>C</a:t>
            </a:r>
            <a:r>
              <a:rPr lang="zh-CN" altLang="en-US" dirty="0"/>
              <a:t>、程序访问 　　 </a:t>
            </a:r>
            <a:r>
              <a:rPr lang="en-US" altLang="zh-CN" dirty="0"/>
              <a:t>D</a:t>
            </a:r>
            <a:r>
              <a:rPr lang="zh-CN" altLang="en-US" dirty="0"/>
              <a:t>、换出页面</a:t>
            </a:r>
            <a:endParaRPr lang="en-US" altLang="zh-CN" dirty="0"/>
          </a:p>
          <a:p>
            <a:pPr marL="0" indent="0">
              <a:buNone/>
            </a:pPr>
            <a:endParaRPr lang="en-US" altLang="zh-CN" dirty="0"/>
          </a:p>
          <a:p>
            <a:pPr marL="0" indent="0">
              <a:buNone/>
            </a:pPr>
            <a:r>
              <a:rPr lang="en-US" altLang="zh-CN" dirty="0"/>
              <a:t>3</a:t>
            </a:r>
            <a:r>
              <a:rPr lang="zh-CN" altLang="en-US" dirty="0"/>
              <a:t>、在分页系统环境下，程序员编制的程序，其地址空间是连续的，分页是由（    ）完成的。</a:t>
            </a:r>
          </a:p>
          <a:p>
            <a:pPr marL="0" indent="0">
              <a:buNone/>
            </a:pPr>
            <a:r>
              <a:rPr lang="en-US" altLang="zh-CN" dirty="0"/>
              <a:t>A</a:t>
            </a:r>
            <a:r>
              <a:rPr lang="zh-CN" altLang="en-US" dirty="0"/>
              <a:t>、程序员 　　</a:t>
            </a:r>
            <a:r>
              <a:rPr lang="en-US" altLang="zh-CN" dirty="0"/>
              <a:t>B</a:t>
            </a:r>
            <a:r>
              <a:rPr lang="zh-CN" altLang="en-US" dirty="0"/>
              <a:t>、编译地址 　　</a:t>
            </a:r>
            <a:r>
              <a:rPr lang="en-US" altLang="zh-CN" dirty="0"/>
              <a:t>C</a:t>
            </a:r>
            <a:r>
              <a:rPr lang="zh-CN" altLang="en-US" dirty="0"/>
              <a:t>、用户 　　</a:t>
            </a:r>
            <a:r>
              <a:rPr lang="en-US" altLang="zh-CN" dirty="0"/>
              <a:t>D</a:t>
            </a:r>
            <a:r>
              <a:rPr lang="zh-CN" altLang="en-US" dirty="0"/>
              <a:t>、系统</a:t>
            </a:r>
          </a:p>
        </p:txBody>
      </p:sp>
    </p:spTree>
    <p:extLst>
      <p:ext uri="{BB962C8B-B14F-4D97-AF65-F5344CB8AC3E}">
        <p14:creationId xmlns:p14="http://schemas.microsoft.com/office/powerpoint/2010/main" val="418585326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a:t>7.2  </a:t>
            </a:r>
            <a:r>
              <a:t>请求分页</a:t>
            </a:r>
            <a:r>
              <a:rPr>
                <a:sym typeface="+mn-ea"/>
              </a:rPr>
              <a:t>存储管理</a:t>
            </a:r>
            <a:endParaRPr lang="en-US" altLang="zh-CN"/>
          </a:p>
        </p:txBody>
      </p:sp>
      <p:sp>
        <p:nvSpPr>
          <p:cNvPr id="3" name="内容占位符 2"/>
          <p:cNvSpPr>
            <a:spLocks noGrp="1"/>
          </p:cNvSpPr>
          <p:nvPr>
            <p:ph idx="1"/>
          </p:nvPr>
        </p:nvSpPr>
        <p:spPr>
          <a:xfrm>
            <a:off x="3636010" y="1227455"/>
            <a:ext cx="4957147" cy="3542030"/>
          </a:xfrm>
        </p:spPr>
        <p:txBody>
          <a:bodyPr>
            <a:normAutofit/>
          </a:bodyPr>
          <a:lstStyle/>
          <a:p>
            <a:pPr>
              <a:buBlip>
                <a:blip r:embed="rId3"/>
              </a:buBlip>
            </a:pPr>
            <a:r>
              <a:rPr lang="en-US" altLang="zh-CN" sz="2800" dirty="0"/>
              <a:t> </a:t>
            </a:r>
            <a:r>
              <a:rPr lang="en-US" altLang="zh-CN" sz="2800" u="dottedHeavy" dirty="0"/>
              <a:t>7</a:t>
            </a:r>
            <a:r>
              <a:rPr lang="en-US" altLang="zh-CN" sz="2800" u="dottedHeavy" dirty="0">
                <a:solidFill>
                  <a:schemeClr val="tx1"/>
                </a:solidFill>
                <a:uFillTx/>
              </a:rPr>
              <a:t>.2.1  </a:t>
            </a:r>
            <a:r>
              <a:rPr sz="2800" u="dottedHeavy" dirty="0">
                <a:solidFill>
                  <a:schemeClr val="tx1"/>
                </a:solidFill>
                <a:uFillTx/>
              </a:rPr>
              <a:t>工作原理</a:t>
            </a:r>
          </a:p>
          <a:p>
            <a:pPr>
              <a:buBlip>
                <a:blip r:embed="rId3"/>
              </a:buBlip>
            </a:pPr>
            <a:r>
              <a:rPr sz="2800" dirty="0"/>
              <a:t> </a:t>
            </a:r>
            <a:r>
              <a:rPr lang="en-US" altLang="zh-CN" sz="2800" u="dottedHeavy" dirty="0"/>
              <a:t>7.2.2  </a:t>
            </a:r>
            <a:r>
              <a:rPr sz="2800" u="dottedHeavy" dirty="0"/>
              <a:t>驻留集管理</a:t>
            </a:r>
          </a:p>
          <a:p>
            <a:pPr>
              <a:buBlip>
                <a:blip r:embed="rId3"/>
              </a:buBlip>
            </a:pPr>
            <a:r>
              <a:rPr sz="2800" dirty="0"/>
              <a:t> </a:t>
            </a:r>
            <a:r>
              <a:rPr lang="en-US" altLang="zh-CN" sz="2800" u="dottedHeavy" dirty="0"/>
              <a:t>7.2.3  </a:t>
            </a:r>
            <a:r>
              <a:rPr sz="2800" u="dottedHeavy" dirty="0"/>
              <a:t>调页策略</a:t>
            </a:r>
          </a:p>
          <a:p>
            <a:pPr>
              <a:buBlip>
                <a:blip r:embed="rId3"/>
              </a:buBlip>
            </a:pPr>
            <a:r>
              <a:rPr sz="2800" dirty="0"/>
              <a:t> </a:t>
            </a:r>
            <a:r>
              <a:rPr lang="en-US" altLang="zh-CN" sz="2800" u="dottedHeavy" dirty="0"/>
              <a:t>7.2.4  </a:t>
            </a:r>
            <a:r>
              <a:rPr sz="2800" u="dottedHeavy" dirty="0"/>
              <a:t>页面置换算法</a:t>
            </a:r>
            <a:r>
              <a:rPr lang="en-US" altLang="zh-CN" sz="2800" u="dottedHeavy"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7.2.1</a:t>
            </a:r>
            <a:r>
              <a:rPr>
                <a:sym typeface="+mn-ea"/>
              </a:rPr>
              <a:t>工作原理</a:t>
            </a:r>
            <a:endParaRPr lang="zh-CN" altLang="en-US"/>
          </a:p>
        </p:txBody>
      </p:sp>
      <p:sp>
        <p:nvSpPr>
          <p:cNvPr id="3" name="内容占位符 2"/>
          <p:cNvSpPr>
            <a:spLocks noGrp="1"/>
          </p:cNvSpPr>
          <p:nvPr>
            <p:ph idx="1"/>
          </p:nvPr>
        </p:nvSpPr>
        <p:spPr>
          <a:xfrm>
            <a:off x="608330" y="932943"/>
            <a:ext cx="10968990" cy="5423787"/>
          </a:xfrm>
        </p:spPr>
        <p:txBody>
          <a:bodyPr>
            <a:normAutofit/>
          </a:bodyPr>
          <a:lstStyle/>
          <a:p>
            <a:pPr>
              <a:lnSpc>
                <a:spcPct val="150000"/>
              </a:lnSpc>
            </a:pPr>
            <a:r>
              <a:rPr dirty="0">
                <a:sym typeface="+mn-ea"/>
              </a:rPr>
              <a:t>工作原理如下：</a:t>
            </a:r>
            <a:endParaRPr lang="zh-CN" altLang="en-US" dirty="0"/>
          </a:p>
          <a:p>
            <a:pPr marL="914400" lvl="1" indent="-457200">
              <a:lnSpc>
                <a:spcPct val="150000"/>
              </a:lnSpc>
              <a:buClr>
                <a:srgbClr val="0000FF"/>
              </a:buClr>
              <a:buSzPct val="100000"/>
              <a:buFont typeface="+mj-lt"/>
              <a:buAutoNum type="arabicPeriod"/>
            </a:pPr>
            <a:r>
              <a:rPr dirty="0">
                <a:sym typeface="+mn-ea"/>
              </a:rPr>
              <a:t>请求分页存储管理只是将接下来要</a:t>
            </a:r>
            <a:r>
              <a:rPr dirty="0">
                <a:solidFill>
                  <a:srgbClr val="0000FF"/>
                </a:solidFill>
                <a:sym typeface="+mn-ea"/>
              </a:rPr>
              <a:t>执行的几个页</a:t>
            </a:r>
            <a:r>
              <a:rPr lang="zh-CN" altLang="en-US" dirty="0">
                <a:sym typeface="+mn-ea"/>
              </a:rPr>
              <a:t>（不是全部）</a:t>
            </a:r>
            <a:r>
              <a:rPr dirty="0">
                <a:solidFill>
                  <a:srgbClr val="0000FF"/>
                </a:solidFill>
                <a:sym typeface="+mn-ea"/>
              </a:rPr>
              <a:t>调入内存</a:t>
            </a:r>
            <a:endParaRPr lang="en-US" dirty="0">
              <a:solidFill>
                <a:srgbClr val="0000FF"/>
              </a:solidFill>
              <a:sym typeface="+mn-ea"/>
            </a:endParaRPr>
          </a:p>
          <a:p>
            <a:pPr marL="914400" lvl="1" indent="-457200">
              <a:lnSpc>
                <a:spcPct val="150000"/>
              </a:lnSpc>
              <a:buClr>
                <a:srgbClr val="0000FF"/>
              </a:buClr>
              <a:buSzPct val="100000"/>
              <a:buFont typeface="+mj-lt"/>
              <a:buAutoNum type="arabicPeriod"/>
            </a:pPr>
            <a:r>
              <a:rPr lang="zh-CN" altLang="en-US" dirty="0">
                <a:sym typeface="+mn-ea"/>
              </a:rPr>
              <a:t>在进程执行过程中，当发现要执行的指令或访问的数据不在内存时，引发缺页中断，由操作系统负责将缺的页从外存调入内存。</a:t>
            </a:r>
            <a:endParaRPr lang="zh-CN" altLang="en-US" dirty="0"/>
          </a:p>
          <a:p>
            <a:pPr marL="1371600" lvl="2" indent="-457200">
              <a:lnSpc>
                <a:spcPct val="150000"/>
              </a:lnSpc>
              <a:buFont typeface="+mj-ea"/>
              <a:buAutoNum type="circleNumDbPlain"/>
            </a:pPr>
            <a:r>
              <a:rPr lang="zh-CN" altLang="en-US" dirty="0">
                <a:sym typeface="+mn-ea"/>
              </a:rPr>
              <a:t>若内存空间</a:t>
            </a:r>
            <a:r>
              <a:rPr lang="zh-CN" altLang="en-US" dirty="0">
                <a:solidFill>
                  <a:srgbClr val="FF0000"/>
                </a:solidFill>
                <a:sym typeface="+mn-ea"/>
              </a:rPr>
              <a:t>充裕</a:t>
            </a:r>
            <a:r>
              <a:rPr lang="zh-CN" altLang="en-US" dirty="0">
                <a:sym typeface="+mn-ea"/>
              </a:rPr>
              <a:t>，则</a:t>
            </a:r>
            <a:r>
              <a:rPr lang="zh-CN" altLang="en-US" dirty="0">
                <a:solidFill>
                  <a:srgbClr val="FF0000"/>
                </a:solidFill>
                <a:sym typeface="+mn-ea"/>
              </a:rPr>
              <a:t>直接将缺页调入</a:t>
            </a:r>
            <a:r>
              <a:rPr lang="zh-CN" altLang="en-US" dirty="0">
                <a:sym typeface="+mn-ea"/>
              </a:rPr>
              <a:t>；</a:t>
            </a:r>
          </a:p>
          <a:p>
            <a:pPr marL="1371600" lvl="2" indent="-457200">
              <a:lnSpc>
                <a:spcPct val="150000"/>
              </a:lnSpc>
              <a:buFont typeface="+mj-ea"/>
              <a:buAutoNum type="circleNumDbPlain"/>
            </a:pPr>
            <a:r>
              <a:rPr lang="zh-CN" altLang="en-US" dirty="0">
                <a:sym typeface="+mn-ea"/>
              </a:rPr>
              <a:t>若内存空间</a:t>
            </a:r>
            <a:r>
              <a:rPr lang="zh-CN" altLang="en-US" dirty="0">
                <a:solidFill>
                  <a:srgbClr val="FF0000"/>
                </a:solidFill>
                <a:sym typeface="+mn-ea"/>
              </a:rPr>
              <a:t>不充裕</a:t>
            </a:r>
            <a:r>
              <a:rPr lang="zh-CN" altLang="en-US" dirty="0">
                <a:sym typeface="+mn-ea"/>
              </a:rPr>
              <a:t>，则需要将一些不常用的页调出内存，</a:t>
            </a:r>
            <a:r>
              <a:rPr lang="zh-CN" altLang="en-US" dirty="0">
                <a:solidFill>
                  <a:srgbClr val="FF0000"/>
                </a:solidFill>
                <a:sym typeface="+mn-ea"/>
              </a:rPr>
              <a:t>腾出空间，将缺页调入</a:t>
            </a:r>
            <a:r>
              <a:rPr lang="zh-CN" altLang="en-US" dirty="0">
                <a:sym typeface="+mn-ea"/>
              </a:rPr>
              <a:t>。另外，在置换时，若置换出的页在内存中曾做过改动，还需将改动保存到外存中。</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7.2.1</a:t>
            </a:r>
            <a:r>
              <a:rPr>
                <a:sym typeface="+mn-ea"/>
              </a:rPr>
              <a:t>工作原理</a:t>
            </a:r>
            <a:endParaRPr lang="zh-CN" altLang="en-US"/>
          </a:p>
        </p:txBody>
      </p:sp>
      <p:sp>
        <p:nvSpPr>
          <p:cNvPr id="3" name="内容占位符 2"/>
          <p:cNvSpPr>
            <a:spLocks noGrp="1"/>
          </p:cNvSpPr>
          <p:nvPr>
            <p:ph idx="1"/>
          </p:nvPr>
        </p:nvSpPr>
        <p:spPr>
          <a:xfrm>
            <a:off x="1076395" y="1096327"/>
            <a:ext cx="9097530" cy="5249389"/>
          </a:xfrm>
        </p:spPr>
        <p:txBody>
          <a:bodyPr>
            <a:normAutofit/>
          </a:bodyPr>
          <a:lstStyle/>
          <a:p>
            <a:r>
              <a:rPr dirty="0">
                <a:sym typeface="+mn-ea"/>
              </a:rPr>
              <a:t>实现请求分页存储管理，需要解决下面三个关键问题：</a:t>
            </a:r>
            <a:endParaRPr lang="zh-CN" altLang="en-US" dirty="0"/>
          </a:p>
          <a:p>
            <a:pPr lvl="1"/>
            <a:r>
              <a:rPr dirty="0">
                <a:sym typeface="+mn-ea"/>
              </a:rPr>
              <a:t>如何知道要访问的页不在内存？</a:t>
            </a:r>
            <a:endParaRPr lang="zh-CN" altLang="en-US" dirty="0"/>
          </a:p>
          <a:p>
            <a:pPr lvl="1"/>
            <a:r>
              <a:rPr dirty="0">
                <a:sym typeface="+mn-ea"/>
              </a:rPr>
              <a:t>发现缺页后怎么办？</a:t>
            </a:r>
            <a:endParaRPr lang="zh-CN" altLang="en-US" dirty="0"/>
          </a:p>
          <a:p>
            <a:pPr lvl="1"/>
            <a:r>
              <a:rPr dirty="0">
                <a:sym typeface="+mn-ea"/>
              </a:rPr>
              <a:t>缺页调入后，如何进行地址变换以支持进程的运行？</a:t>
            </a:r>
            <a:endParaRPr lang="zh-CN" altLang="en-US" dirty="0"/>
          </a:p>
          <a:p>
            <a:endParaRPr lang="en-US" dirty="0">
              <a:sym typeface="+mn-ea"/>
            </a:endParaRPr>
          </a:p>
          <a:p>
            <a:r>
              <a:rPr dirty="0">
                <a:solidFill>
                  <a:srgbClr val="0000FF"/>
                </a:solidFill>
                <a:sym typeface="+mn-ea"/>
              </a:rPr>
              <a:t>解决方法：</a:t>
            </a:r>
          </a:p>
          <a:p>
            <a:pPr lvl="1"/>
            <a:r>
              <a:rPr dirty="0">
                <a:sym typeface="+mn-ea"/>
              </a:rPr>
              <a:t>扩充页表；</a:t>
            </a:r>
          </a:p>
          <a:p>
            <a:pPr lvl="1"/>
            <a:r>
              <a:rPr dirty="0">
                <a:sym typeface="+mn-ea"/>
              </a:rPr>
              <a:t>设置缺页中断机构</a:t>
            </a:r>
            <a:r>
              <a:rPr lang="zh-CN" altLang="en-US" dirty="0">
                <a:sym typeface="+mn-ea"/>
              </a:rPr>
              <a:t>；</a:t>
            </a:r>
            <a:endParaRPr dirty="0">
              <a:sym typeface="+mn-ea"/>
            </a:endParaRPr>
          </a:p>
          <a:p>
            <a:pPr lvl="1"/>
            <a:r>
              <a:rPr dirty="0">
                <a:sym typeface="+mn-ea"/>
              </a:rPr>
              <a:t>升级地址变换机构。</a:t>
            </a:r>
            <a:endParaRPr lang="zh-CN" altLang="en-US" dirty="0"/>
          </a:p>
          <a:p>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7.2.1</a:t>
            </a:r>
            <a:r>
              <a:rPr>
                <a:sym typeface="+mn-ea"/>
              </a:rPr>
              <a:t>工作原理</a:t>
            </a:r>
            <a:endParaRPr lang="zh-CN" altLang="en-US"/>
          </a:p>
        </p:txBody>
      </p:sp>
      <p:sp>
        <p:nvSpPr>
          <p:cNvPr id="3" name="内容占位符 2"/>
          <p:cNvSpPr>
            <a:spLocks noGrp="1"/>
          </p:cNvSpPr>
          <p:nvPr>
            <p:ph idx="1"/>
          </p:nvPr>
        </p:nvSpPr>
        <p:spPr/>
        <p:txBody>
          <a:bodyPr>
            <a:normAutofit/>
          </a:bodyPr>
          <a:lstStyle/>
          <a:p>
            <a:pPr marL="0" indent="0">
              <a:buNone/>
            </a:pPr>
            <a:r>
              <a:rPr lang="zh-CN" altLang="en-US" b="1" dirty="0"/>
              <a:t>1</a:t>
            </a:r>
            <a:r>
              <a:rPr lang="en-US" altLang="zh-CN" b="1" dirty="0"/>
              <a:t>. </a:t>
            </a:r>
            <a:r>
              <a:rPr lang="zh-CN" altLang="en-US" b="1" dirty="0"/>
              <a:t>扩充页表</a:t>
            </a:r>
          </a:p>
          <a:p>
            <a:r>
              <a:rPr lang="zh-CN" altLang="en-US" dirty="0">
                <a:solidFill>
                  <a:srgbClr val="FF0000"/>
                </a:solidFill>
              </a:rPr>
              <a:t>如何知道页不在内存呢？</a:t>
            </a:r>
            <a:r>
              <a:rPr lang="en-US" altLang="zh-CN" dirty="0">
                <a:solidFill>
                  <a:srgbClr val="FF0000"/>
                </a:solidFill>
              </a:rPr>
              <a:t>——</a:t>
            </a:r>
            <a:r>
              <a:rPr dirty="0">
                <a:solidFill>
                  <a:srgbClr val="FF0000"/>
                </a:solidFill>
              </a:rPr>
              <a:t>通过</a:t>
            </a:r>
            <a:r>
              <a:rPr lang="zh-CN" altLang="en-US" dirty="0">
                <a:solidFill>
                  <a:srgbClr val="FF0000"/>
                </a:solidFill>
              </a:rPr>
              <a:t>扩充页表来解决。</a:t>
            </a:r>
          </a:p>
          <a:p>
            <a:endParaRPr lang="zh-CN" altLang="en-US" dirty="0"/>
          </a:p>
          <a:p>
            <a:endParaRPr lang="zh-CN" altLang="en-US" dirty="0"/>
          </a:p>
          <a:p>
            <a:pPr marL="0" indent="0">
              <a:buNone/>
            </a:pPr>
            <a:endParaRPr lang="zh-CN" altLang="en-US" dirty="0"/>
          </a:p>
        </p:txBody>
      </p:sp>
      <p:pic>
        <p:nvPicPr>
          <p:cNvPr id="4" name="图片 3" descr="HK%BA(4()JA6P1ZLM`~H2E7"/>
          <p:cNvPicPr>
            <a:picLocks noChangeAspect="1"/>
          </p:cNvPicPr>
          <p:nvPr/>
        </p:nvPicPr>
        <p:blipFill>
          <a:blip r:embed="rId3"/>
          <a:stretch>
            <a:fillRect/>
          </a:stretch>
        </p:blipFill>
        <p:spPr>
          <a:xfrm>
            <a:off x="654631" y="2241325"/>
            <a:ext cx="10929039" cy="1323975"/>
          </a:xfrm>
          <a:prstGeom prst="rect">
            <a:avLst/>
          </a:prstGeom>
        </p:spPr>
      </p:pic>
      <p:sp>
        <p:nvSpPr>
          <p:cNvPr id="5" name="内容占位符 2"/>
          <p:cNvSpPr>
            <a:spLocks noGrp="1"/>
          </p:cNvSpPr>
          <p:nvPr/>
        </p:nvSpPr>
        <p:spPr>
          <a:xfrm>
            <a:off x="608330" y="3665855"/>
            <a:ext cx="10850245" cy="217106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sz="2300" dirty="0">
                <a:sym typeface="+mn-ea"/>
              </a:rPr>
              <a:t>状态位：用于表示该页是否已调入内存。若没有调入内存，则产生一个缺页中断。</a:t>
            </a:r>
            <a:endParaRPr lang="zh-CN" altLang="en-US" sz="2300" dirty="0"/>
          </a:p>
          <a:p>
            <a:pPr lvl="1"/>
            <a:r>
              <a:rPr sz="2300" dirty="0">
                <a:sym typeface="+mn-ea"/>
              </a:rPr>
              <a:t>访问字段：用于记录本页在一段时间内被访问的次数，或记录本页最近已有多长时间未被访问</a:t>
            </a:r>
            <a:r>
              <a:rPr lang="zh-CN" altLang="en-US" sz="2300" dirty="0">
                <a:sym typeface="+mn-ea"/>
              </a:rPr>
              <a:t>。</a:t>
            </a:r>
            <a:r>
              <a:rPr sz="2300" dirty="0">
                <a:sym typeface="+mn-ea"/>
              </a:rPr>
              <a:t>访问字段为置换算法在选择换出页面时提供参考。</a:t>
            </a:r>
            <a:endParaRPr lang="zh-CN" altLang="en-US" sz="23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7.2.1</a:t>
            </a:r>
            <a:r>
              <a:rPr>
                <a:sym typeface="+mn-ea"/>
              </a:rPr>
              <a:t>工作原理</a:t>
            </a:r>
            <a:endParaRPr lang="zh-CN" altLang="en-US"/>
          </a:p>
        </p:txBody>
      </p:sp>
      <p:sp>
        <p:nvSpPr>
          <p:cNvPr id="3" name="内容占位符 2"/>
          <p:cNvSpPr>
            <a:spLocks noGrp="1"/>
          </p:cNvSpPr>
          <p:nvPr>
            <p:ph idx="1"/>
          </p:nvPr>
        </p:nvSpPr>
        <p:spPr/>
        <p:txBody>
          <a:bodyPr>
            <a:normAutofit/>
          </a:bodyPr>
          <a:lstStyle/>
          <a:p>
            <a:pPr marL="0" indent="0">
              <a:buNone/>
            </a:pPr>
            <a:r>
              <a:rPr lang="zh-CN" altLang="en-US" b="1" dirty="0"/>
              <a:t>1</a:t>
            </a:r>
            <a:r>
              <a:rPr lang="en-US" altLang="zh-CN" b="1" dirty="0"/>
              <a:t>. </a:t>
            </a:r>
            <a:r>
              <a:rPr lang="zh-CN" altLang="en-US" b="1" dirty="0"/>
              <a:t>扩充页表</a:t>
            </a:r>
          </a:p>
          <a:p>
            <a:r>
              <a:rPr lang="zh-CN" altLang="en-US" dirty="0"/>
              <a:t>如何知道页不在内存呢？</a:t>
            </a:r>
            <a:r>
              <a:rPr lang="en-US" altLang="zh-CN" dirty="0"/>
              <a:t>——</a:t>
            </a:r>
            <a:r>
              <a:rPr dirty="0"/>
              <a:t>通过</a:t>
            </a:r>
            <a:r>
              <a:rPr lang="zh-CN" altLang="en-US" dirty="0"/>
              <a:t>扩充页表来解决。</a:t>
            </a:r>
          </a:p>
          <a:p>
            <a:endParaRPr lang="zh-CN" altLang="en-US" dirty="0"/>
          </a:p>
          <a:p>
            <a:endParaRPr lang="zh-CN" altLang="en-US" dirty="0"/>
          </a:p>
          <a:p>
            <a:pPr marL="0" indent="0">
              <a:buNone/>
            </a:pPr>
            <a:endParaRPr lang="zh-CN" altLang="en-US" dirty="0"/>
          </a:p>
        </p:txBody>
      </p:sp>
      <p:pic>
        <p:nvPicPr>
          <p:cNvPr id="4" name="图片 3" descr="HK%BA(4()JA6P1ZLM`~H2E7"/>
          <p:cNvPicPr>
            <a:picLocks noChangeAspect="1"/>
          </p:cNvPicPr>
          <p:nvPr/>
        </p:nvPicPr>
        <p:blipFill>
          <a:blip r:embed="rId3"/>
          <a:stretch>
            <a:fillRect/>
          </a:stretch>
        </p:blipFill>
        <p:spPr>
          <a:xfrm>
            <a:off x="751205" y="2503170"/>
            <a:ext cx="10339705" cy="1481137"/>
          </a:xfrm>
          <a:prstGeom prst="rect">
            <a:avLst/>
          </a:prstGeom>
        </p:spPr>
      </p:pic>
      <p:sp>
        <p:nvSpPr>
          <p:cNvPr id="5" name="内容占位符 2"/>
          <p:cNvSpPr>
            <a:spLocks noGrp="1"/>
          </p:cNvSpPr>
          <p:nvPr/>
        </p:nvSpPr>
        <p:spPr>
          <a:xfrm>
            <a:off x="751205" y="4354830"/>
            <a:ext cx="10688320" cy="176974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zh-CN" altLang="en-US" sz="2300" dirty="0"/>
              <a:t>改动位：表示该页调入内存后</a:t>
            </a:r>
            <a:r>
              <a:rPr lang="zh-CN" altLang="en-US" sz="2300" dirty="0">
                <a:solidFill>
                  <a:srgbClr val="FF0000"/>
                </a:solidFill>
              </a:rPr>
              <a:t>是否做过改动</a:t>
            </a:r>
            <a:r>
              <a:rPr lang="zh-CN" altLang="en-US" sz="2300" dirty="0"/>
              <a:t>。</a:t>
            </a:r>
          </a:p>
          <a:p>
            <a:pPr lvl="2"/>
            <a:r>
              <a:rPr lang="zh-CN" altLang="en-US" sz="2300" dirty="0"/>
              <a:t>若已被改动，则必须将该页重写到外存上，否则直接覆盖即可。</a:t>
            </a:r>
          </a:p>
          <a:p>
            <a:pPr lvl="1"/>
            <a:r>
              <a:rPr lang="zh-CN" altLang="en-US" sz="2300" dirty="0"/>
              <a:t>外存地址：用于指出该页</a:t>
            </a:r>
            <a:r>
              <a:rPr lang="zh-CN" altLang="en-US" sz="2300" dirty="0">
                <a:solidFill>
                  <a:srgbClr val="FF0000"/>
                </a:solidFill>
              </a:rPr>
              <a:t>在外存上的存放地址</a:t>
            </a:r>
            <a:r>
              <a:rPr lang="zh-CN" altLang="en-US" sz="2300" dirty="0"/>
              <a:t>，供调入该页时使用。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7.2.1</a:t>
            </a:r>
            <a:r>
              <a:rPr>
                <a:sym typeface="+mn-ea"/>
              </a:rPr>
              <a:t>工作原理</a:t>
            </a:r>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496509835"/>
              </p:ext>
            </p:extLst>
          </p:nvPr>
        </p:nvGraphicFramePr>
        <p:xfrm>
          <a:off x="8058785" y="114369"/>
          <a:ext cx="3056820" cy="6572613"/>
        </p:xfrm>
        <a:graphic>
          <a:graphicData uri="http://schemas.openxmlformats.org/presentationml/2006/ole">
            <mc:AlternateContent xmlns:mc="http://schemas.openxmlformats.org/markup-compatibility/2006">
              <mc:Choice xmlns:v="urn:schemas-microsoft-com:vml" Requires="v">
                <p:oleObj r:id="rId3" imgW="3911600" imgH="8407400" progId="Visio.Drawing.11">
                  <p:embed/>
                </p:oleObj>
              </mc:Choice>
              <mc:Fallback>
                <p:oleObj r:id="rId3" imgW="3911600" imgH="8407400" progId="Visio.Drawing.11">
                  <p:embed/>
                  <p:pic>
                    <p:nvPicPr>
                      <p:cNvPr id="0" name="图片 4"/>
                      <p:cNvPicPr/>
                      <p:nvPr/>
                    </p:nvPicPr>
                    <p:blipFill>
                      <a:blip r:embed="rId4"/>
                      <a:stretch>
                        <a:fillRect/>
                      </a:stretch>
                    </p:blipFill>
                    <p:spPr>
                      <a:xfrm>
                        <a:off x="8058785" y="114369"/>
                        <a:ext cx="3056820" cy="6572613"/>
                      </a:xfrm>
                      <a:prstGeom prst="rect">
                        <a:avLst/>
                      </a:prstGeom>
                    </p:spPr>
                  </p:pic>
                </p:oleObj>
              </mc:Fallback>
            </mc:AlternateContent>
          </a:graphicData>
        </a:graphic>
      </p:graphicFrame>
      <p:sp>
        <p:nvSpPr>
          <p:cNvPr id="9" name="内容占位符 8"/>
          <p:cNvSpPr>
            <a:spLocks noGrp="1"/>
          </p:cNvSpPr>
          <p:nvPr>
            <p:ph idx="1"/>
          </p:nvPr>
        </p:nvSpPr>
        <p:spPr>
          <a:xfrm>
            <a:off x="608330" y="1021081"/>
            <a:ext cx="7316470" cy="2750820"/>
          </a:xfrm>
        </p:spPr>
        <p:txBody>
          <a:bodyPr/>
          <a:lstStyle/>
          <a:p>
            <a:pPr marL="0" indent="0">
              <a:buNone/>
            </a:pPr>
            <a:r>
              <a:rPr b="1" dirty="0">
                <a:sym typeface="+mn-ea"/>
              </a:rPr>
              <a:t>2</a:t>
            </a:r>
            <a:r>
              <a:rPr lang="en-US" altLang="zh-CN" b="1" dirty="0">
                <a:sym typeface="+mn-ea"/>
              </a:rPr>
              <a:t>. </a:t>
            </a:r>
            <a:r>
              <a:rPr b="1" dirty="0">
                <a:sym typeface="+mn-ea"/>
              </a:rPr>
              <a:t>设置缺页中断机构</a:t>
            </a:r>
            <a:endParaRPr lang="zh-CN" altLang="en-US" b="1" dirty="0"/>
          </a:p>
          <a:p>
            <a:r>
              <a:rPr sz="2300" dirty="0">
                <a:sym typeface="+mn-ea"/>
              </a:rPr>
              <a:t>当访问页表的状态位，发现页不在内存时，便产生一个缺页中断。缺页中断处理程序的工作流程如</a:t>
            </a:r>
            <a:r>
              <a:rPr lang="zh-CN" altLang="en-US" sz="2300" dirty="0">
                <a:sym typeface="+mn-ea"/>
              </a:rPr>
              <a:t>图</a:t>
            </a:r>
            <a:r>
              <a:rPr sz="2300" dirty="0">
                <a:sym typeface="+mn-ea"/>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EO4%FU4Y8VNSQR$0SUN_}KL"/>
          <p:cNvPicPr>
            <a:picLocks noChangeAspect="1"/>
          </p:cNvPicPr>
          <p:nvPr/>
        </p:nvPicPr>
        <p:blipFill>
          <a:blip r:embed="rId3"/>
          <a:stretch>
            <a:fillRect/>
          </a:stretch>
        </p:blipFill>
        <p:spPr>
          <a:xfrm>
            <a:off x="5278119" y="1"/>
            <a:ext cx="5535931" cy="6604952"/>
          </a:xfrm>
          <a:prstGeom prst="rect">
            <a:avLst/>
          </a:prstGeom>
        </p:spPr>
      </p:pic>
      <p:sp>
        <p:nvSpPr>
          <p:cNvPr id="2" name="文本框 1">
            <a:extLst>
              <a:ext uri="{FF2B5EF4-FFF2-40B4-BE49-F238E27FC236}">
                <a16:creationId xmlns:a16="http://schemas.microsoft.com/office/drawing/2014/main" id="{14980F0F-518B-45DF-B7AD-1E36D0CA14DC}"/>
              </a:ext>
            </a:extLst>
          </p:cNvPr>
          <p:cNvSpPr txBox="1"/>
          <p:nvPr/>
        </p:nvSpPr>
        <p:spPr>
          <a:xfrm>
            <a:off x="1019175" y="1000125"/>
            <a:ext cx="3619500" cy="461665"/>
          </a:xfrm>
          <a:prstGeom prst="rect">
            <a:avLst/>
          </a:prstGeom>
          <a:noFill/>
        </p:spPr>
        <p:txBody>
          <a:bodyPr wrap="square" rtlCol="0">
            <a:spAutoFit/>
          </a:bodyPr>
          <a:lstStyle/>
          <a:p>
            <a:r>
              <a:rPr lang="en-US" altLang="zh-CN" sz="2400" b="1" dirty="0">
                <a:sym typeface="+mn-ea"/>
              </a:rPr>
              <a:t>3. </a:t>
            </a:r>
            <a:r>
              <a:rPr lang="zh-CN" altLang="en-US" sz="2400" b="1" dirty="0">
                <a:sym typeface="+mn-ea"/>
              </a:rPr>
              <a:t>升级地址变换机构</a:t>
            </a:r>
            <a:endParaRPr lang="zh-CN" altLang="en-US" sz="24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7.2.2 驻留集管理</a:t>
            </a:r>
          </a:p>
        </p:txBody>
      </p:sp>
      <p:sp>
        <p:nvSpPr>
          <p:cNvPr id="3" name="内容占位符 2"/>
          <p:cNvSpPr>
            <a:spLocks noGrp="1"/>
          </p:cNvSpPr>
          <p:nvPr>
            <p:ph idx="1"/>
          </p:nvPr>
        </p:nvSpPr>
        <p:spPr>
          <a:xfrm>
            <a:off x="608330" y="1021080"/>
            <a:ext cx="7432675" cy="4454303"/>
          </a:xfrm>
        </p:spPr>
        <p:txBody>
          <a:bodyPr>
            <a:normAutofit/>
          </a:bodyPr>
          <a:lstStyle/>
          <a:p>
            <a:pPr marL="0" indent="0">
              <a:buNone/>
            </a:pPr>
            <a:r>
              <a:rPr lang="en-US" altLang="zh-CN" sz="2800" b="1" dirty="0"/>
              <a:t>1. </a:t>
            </a:r>
            <a:r>
              <a:rPr lang="en-US" altLang="zh-CN" sz="2800" b="1" dirty="0" err="1"/>
              <a:t>驻留集大小</a:t>
            </a:r>
            <a:endParaRPr lang="en-US" altLang="zh-CN" sz="2800" b="1" dirty="0"/>
          </a:p>
          <a:p>
            <a:r>
              <a:rPr lang="en-US" altLang="zh-CN" dirty="0" err="1">
                <a:solidFill>
                  <a:srgbClr val="0000FF"/>
                </a:solidFill>
                <a:sym typeface="+mn-ea"/>
              </a:rPr>
              <a:t>驻留集</a:t>
            </a:r>
            <a:r>
              <a:rPr dirty="0">
                <a:solidFill>
                  <a:srgbClr val="0000FF"/>
                </a:solidFill>
              </a:rPr>
              <a:t>：</a:t>
            </a:r>
            <a:r>
              <a:rPr lang="en-US" altLang="zh-CN" dirty="0" err="1">
                <a:solidFill>
                  <a:srgbClr val="0000FF"/>
                </a:solidFill>
              </a:rPr>
              <a:t>给每个进程分配的物理块的集合</a:t>
            </a:r>
            <a:r>
              <a:rPr dirty="0"/>
              <a:t>。</a:t>
            </a:r>
          </a:p>
          <a:p>
            <a:r>
              <a:rPr dirty="0">
                <a:solidFill>
                  <a:srgbClr val="0000FF"/>
                </a:solidFill>
              </a:rPr>
              <a:t>驻留集的大小与缺页率有一定关系</a:t>
            </a:r>
            <a:r>
              <a:rPr dirty="0"/>
              <a:t>。</a:t>
            </a:r>
          </a:p>
          <a:p>
            <a:pPr lvl="1"/>
            <a:r>
              <a:rPr dirty="0"/>
              <a:t>驻留集越小，驻留内存的进程数就会越多，缺页率会相对较高。</a:t>
            </a:r>
          </a:p>
          <a:p>
            <a:pPr lvl="1"/>
            <a:r>
              <a:rPr dirty="0"/>
              <a:t>根据局部性原理，驻留集超过一定的大小后（曲线的拐点附近），进程的缺页率并没有明显改善。</a:t>
            </a:r>
          </a:p>
        </p:txBody>
      </p:sp>
      <p:pic>
        <p:nvPicPr>
          <p:cNvPr id="4" name="图片 3" descr="M]]ZLBFV33HB9UD8W95J)92"/>
          <p:cNvPicPr>
            <a:picLocks noChangeAspect="1"/>
          </p:cNvPicPr>
          <p:nvPr/>
        </p:nvPicPr>
        <p:blipFill>
          <a:blip r:embed="rId3"/>
          <a:stretch>
            <a:fillRect/>
          </a:stretch>
        </p:blipFill>
        <p:spPr>
          <a:xfrm>
            <a:off x="8108949" y="1998344"/>
            <a:ext cx="4027531" cy="2650773"/>
          </a:xfrm>
          <a:prstGeom prst="rect">
            <a:avLst/>
          </a:prstGeom>
        </p:spPr>
      </p:pic>
      <p:sp>
        <p:nvSpPr>
          <p:cNvPr id="5" name="内容占位符 2"/>
          <p:cNvSpPr>
            <a:spLocks noGrp="1"/>
          </p:cNvSpPr>
          <p:nvPr/>
        </p:nvSpPr>
        <p:spPr>
          <a:xfrm>
            <a:off x="873970" y="5610760"/>
            <a:ext cx="10968990" cy="69469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r>
              <a:rPr dirty="0">
                <a:sym typeface="+mn-ea"/>
              </a:rPr>
              <a:t>所以，通常为进程分配的物理块数应取该曲线的拐点附近或稍大些。</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7.2.2 驻留集管理</a:t>
            </a:r>
          </a:p>
        </p:txBody>
      </p:sp>
      <p:sp>
        <p:nvSpPr>
          <p:cNvPr id="3" name="内容占位符 2"/>
          <p:cNvSpPr>
            <a:spLocks noGrp="1"/>
          </p:cNvSpPr>
          <p:nvPr>
            <p:ph idx="1"/>
          </p:nvPr>
        </p:nvSpPr>
        <p:spPr>
          <a:xfrm>
            <a:off x="608330" y="1021080"/>
            <a:ext cx="10946765" cy="4972095"/>
          </a:xfrm>
        </p:spPr>
        <p:txBody>
          <a:bodyPr>
            <a:normAutofit/>
          </a:bodyPr>
          <a:lstStyle/>
          <a:p>
            <a:pPr marL="0" indent="0">
              <a:buNone/>
            </a:pPr>
            <a:r>
              <a:rPr lang="en-US" altLang="zh-CN" sz="2800" b="1" dirty="0"/>
              <a:t>2. </a:t>
            </a:r>
            <a:r>
              <a:rPr lang="en-US" altLang="zh-CN" sz="2800" b="1" dirty="0" err="1"/>
              <a:t>驻留集管理策略</a:t>
            </a:r>
            <a:endParaRPr lang="en-US" altLang="zh-CN" sz="2800" b="1" dirty="0"/>
          </a:p>
          <a:p>
            <a:r>
              <a:rPr lang="en-US" altLang="zh-CN" sz="2800" dirty="0" err="1">
                <a:sym typeface="+mn-ea"/>
              </a:rPr>
              <a:t>驻留集管理涉及两个问题</a:t>
            </a:r>
            <a:r>
              <a:rPr lang="en-US" altLang="zh-CN" sz="2800" dirty="0">
                <a:sym typeface="+mn-ea"/>
              </a:rPr>
              <a:t>：</a:t>
            </a:r>
          </a:p>
          <a:p>
            <a:pPr lvl="1"/>
            <a:r>
              <a:rPr lang="en-US" altLang="zh-CN" sz="2800" dirty="0" err="1">
                <a:sym typeface="+mn-ea"/>
              </a:rPr>
              <a:t>给每个进程分配的物理块的数目是否固定</a:t>
            </a:r>
            <a:r>
              <a:rPr lang="en-US" altLang="zh-CN" sz="2800" dirty="0">
                <a:sym typeface="+mn-ea"/>
              </a:rPr>
              <a:t>？</a:t>
            </a:r>
          </a:p>
          <a:p>
            <a:pPr marL="0" lvl="1" indent="0">
              <a:buNone/>
            </a:pPr>
            <a:r>
              <a:rPr lang="en-US" altLang="zh-CN" sz="2800" dirty="0">
                <a:sym typeface="+mn-ea"/>
              </a:rPr>
              <a:t>            </a:t>
            </a:r>
            <a:r>
              <a:rPr lang="en-US" altLang="zh-CN" sz="2800" dirty="0">
                <a:solidFill>
                  <a:srgbClr val="0000FF"/>
                </a:solidFill>
                <a:sym typeface="+mn-ea"/>
              </a:rPr>
              <a:t>——</a:t>
            </a:r>
            <a:r>
              <a:rPr sz="2800" b="1" dirty="0">
                <a:solidFill>
                  <a:srgbClr val="0000FF"/>
                </a:solidFill>
                <a:sym typeface="+mn-ea"/>
              </a:rPr>
              <a:t>驻留集分配策略</a:t>
            </a:r>
            <a:endParaRPr lang="en-US" altLang="zh-CN" sz="2800" dirty="0">
              <a:solidFill>
                <a:srgbClr val="0000FF"/>
              </a:solidFill>
              <a:sym typeface="+mn-ea"/>
            </a:endParaRPr>
          </a:p>
          <a:p>
            <a:pPr lvl="1"/>
            <a:r>
              <a:rPr lang="en-US" altLang="zh-CN" sz="2800" dirty="0" err="1">
                <a:sym typeface="+mn-ea"/>
              </a:rPr>
              <a:t>置换范围是否局限于该进程内部</a:t>
            </a:r>
            <a:r>
              <a:rPr lang="en-US" altLang="zh-CN" sz="2800" dirty="0">
                <a:sym typeface="+mn-ea"/>
              </a:rPr>
              <a:t>？</a:t>
            </a:r>
          </a:p>
          <a:p>
            <a:pPr marL="457200" lvl="1" indent="0">
              <a:buNone/>
            </a:pPr>
            <a:r>
              <a:rPr sz="2800" dirty="0"/>
              <a:t>       </a:t>
            </a:r>
            <a:r>
              <a:rPr sz="2800" dirty="0">
                <a:solidFill>
                  <a:srgbClr val="0000FF"/>
                </a:solidFill>
              </a:rPr>
              <a:t> </a:t>
            </a:r>
            <a:r>
              <a:rPr lang="en-US" altLang="zh-CN" sz="2800" dirty="0">
                <a:solidFill>
                  <a:srgbClr val="0000FF"/>
                </a:solidFill>
                <a:sym typeface="+mn-ea"/>
              </a:rPr>
              <a:t>——</a:t>
            </a:r>
            <a:r>
              <a:rPr sz="2800" b="1" dirty="0">
                <a:solidFill>
                  <a:srgbClr val="0000FF"/>
                </a:solidFill>
                <a:sym typeface="+mn-ea"/>
              </a:rPr>
              <a:t>置换策略</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7.2.2 驻留集管理</a:t>
            </a:r>
            <a:endParaRPr lang="zh-CN" altLang="en-US"/>
          </a:p>
        </p:txBody>
      </p:sp>
      <p:sp>
        <p:nvSpPr>
          <p:cNvPr id="3" name="内容占位符 2"/>
          <p:cNvSpPr>
            <a:spLocks noGrp="1"/>
          </p:cNvSpPr>
          <p:nvPr>
            <p:ph idx="1"/>
          </p:nvPr>
        </p:nvSpPr>
        <p:spPr>
          <a:xfrm>
            <a:off x="608330" y="1021080"/>
            <a:ext cx="10968990" cy="3217545"/>
          </a:xfrm>
        </p:spPr>
        <p:txBody>
          <a:bodyPr>
            <a:normAutofit/>
          </a:bodyPr>
          <a:lstStyle/>
          <a:p>
            <a:pPr marL="0" lvl="0" indent="0">
              <a:lnSpc>
                <a:spcPct val="130000"/>
              </a:lnSpc>
              <a:spcAft>
                <a:spcPts val="1000"/>
              </a:spcAft>
              <a:buNone/>
            </a:pPr>
            <a:r>
              <a:rPr b="1" dirty="0">
                <a:sym typeface="+mn-ea"/>
              </a:rPr>
              <a:t>（</a:t>
            </a:r>
            <a:r>
              <a:rPr lang="en-US" altLang="zh-CN" b="1" dirty="0">
                <a:sym typeface="+mn-ea"/>
              </a:rPr>
              <a:t>1</a:t>
            </a:r>
            <a:r>
              <a:rPr b="1" dirty="0">
                <a:sym typeface="+mn-ea"/>
              </a:rPr>
              <a:t>）驻留集分配策略</a:t>
            </a:r>
            <a:endParaRPr b="1" dirty="0">
              <a:solidFill>
                <a:schemeClr val="tx1"/>
              </a:solidFill>
              <a:sym typeface="+mn-ea"/>
            </a:endParaRPr>
          </a:p>
          <a:p>
            <a:pPr lvl="0">
              <a:lnSpc>
                <a:spcPct val="130000"/>
              </a:lnSpc>
              <a:spcAft>
                <a:spcPts val="1000"/>
              </a:spcAft>
            </a:pPr>
            <a:r>
              <a:rPr dirty="0">
                <a:solidFill>
                  <a:schemeClr val="tx1"/>
                </a:solidFill>
                <a:sym typeface="+mn-ea"/>
              </a:rPr>
              <a:t>固定分配策略：是指为一个进程分配</a:t>
            </a:r>
            <a:r>
              <a:rPr dirty="0">
                <a:solidFill>
                  <a:srgbClr val="0000FF"/>
                </a:solidFill>
                <a:sym typeface="+mn-ea"/>
              </a:rPr>
              <a:t>固定数目的内存物理块</a:t>
            </a:r>
            <a:r>
              <a:rPr dirty="0">
                <a:solidFill>
                  <a:schemeClr val="tx1"/>
                </a:solidFill>
                <a:sym typeface="+mn-ea"/>
              </a:rPr>
              <a:t>。</a:t>
            </a:r>
            <a:endParaRPr lang="en-US" dirty="0">
              <a:solidFill>
                <a:schemeClr val="tx1"/>
              </a:solidFill>
              <a:sym typeface="+mn-ea"/>
            </a:endParaRPr>
          </a:p>
          <a:p>
            <a:pPr lvl="0">
              <a:lnSpc>
                <a:spcPct val="130000"/>
              </a:lnSpc>
              <a:spcAft>
                <a:spcPts val="1000"/>
              </a:spcAft>
            </a:pPr>
            <a:endParaRPr dirty="0">
              <a:solidFill>
                <a:schemeClr val="tx1"/>
              </a:solidFill>
              <a:sym typeface="+mn-ea"/>
            </a:endParaRPr>
          </a:p>
          <a:p>
            <a:pPr lvl="0" algn="l">
              <a:lnSpc>
                <a:spcPct val="130000"/>
              </a:lnSpc>
              <a:spcAft>
                <a:spcPts val="1000"/>
              </a:spcAft>
            </a:pPr>
            <a:r>
              <a:rPr dirty="0">
                <a:solidFill>
                  <a:schemeClr val="tx1"/>
                </a:solidFill>
                <a:sym typeface="+mn-ea"/>
              </a:rPr>
              <a:t>可变分配策略：是指分配给一个进程的</a:t>
            </a:r>
            <a:r>
              <a:rPr dirty="0">
                <a:solidFill>
                  <a:srgbClr val="0000FF"/>
                </a:solidFill>
                <a:sym typeface="+mn-ea"/>
              </a:rPr>
              <a:t>物理块数可以发生变化</a:t>
            </a:r>
            <a:r>
              <a:rPr dirty="0">
                <a:solidFill>
                  <a:schemeClr val="tx1"/>
                </a:solidFill>
                <a:sym typeface="+mn-ea"/>
              </a:rPr>
              <a:t>。</a:t>
            </a:r>
          </a:p>
          <a:p>
            <a:pPr lvl="1">
              <a:lnSpc>
                <a:spcPct val="130000"/>
              </a:lnSpc>
              <a:spcAft>
                <a:spcPts val="1000"/>
              </a:spcAft>
              <a:buClr>
                <a:srgbClr val="FF9800"/>
              </a:buClr>
            </a:pPr>
            <a:r>
              <a:rPr dirty="0">
                <a:sym typeface="+mn-ea"/>
              </a:rPr>
              <a:t>若缺页率高，则增加分配；若缺页率低，则减少分配。</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7.2.2 驻留集管理</a:t>
            </a:r>
            <a:endParaRPr lang="zh-CN" altLang="en-US"/>
          </a:p>
        </p:txBody>
      </p:sp>
      <p:sp>
        <p:nvSpPr>
          <p:cNvPr id="3" name="内容占位符 2"/>
          <p:cNvSpPr>
            <a:spLocks noGrp="1"/>
          </p:cNvSpPr>
          <p:nvPr>
            <p:ph idx="1"/>
          </p:nvPr>
        </p:nvSpPr>
        <p:spPr>
          <a:xfrm>
            <a:off x="608330" y="1021080"/>
            <a:ext cx="10968990" cy="2912745"/>
          </a:xfrm>
        </p:spPr>
        <p:txBody>
          <a:bodyPr>
            <a:normAutofit/>
          </a:bodyPr>
          <a:lstStyle/>
          <a:p>
            <a:pPr marL="0" lvl="0" indent="0">
              <a:lnSpc>
                <a:spcPct val="130000"/>
              </a:lnSpc>
              <a:spcAft>
                <a:spcPts val="1000"/>
              </a:spcAft>
              <a:buNone/>
            </a:pPr>
            <a:r>
              <a:rPr b="1" dirty="0">
                <a:sym typeface="+mn-ea"/>
              </a:rPr>
              <a:t>（</a:t>
            </a:r>
            <a:r>
              <a:rPr lang="en-US" altLang="zh-CN" b="1" dirty="0">
                <a:sym typeface="+mn-ea"/>
              </a:rPr>
              <a:t>2</a:t>
            </a:r>
            <a:r>
              <a:rPr b="1" dirty="0">
                <a:sym typeface="+mn-ea"/>
              </a:rPr>
              <a:t>）</a:t>
            </a:r>
            <a:r>
              <a:rPr b="1" dirty="0">
                <a:solidFill>
                  <a:schemeClr val="tx1"/>
                </a:solidFill>
                <a:sym typeface="+mn-ea"/>
              </a:rPr>
              <a:t>置换策略</a:t>
            </a:r>
          </a:p>
          <a:p>
            <a:pPr lvl="0">
              <a:lnSpc>
                <a:spcPct val="130000"/>
              </a:lnSpc>
              <a:spcAft>
                <a:spcPts val="1000"/>
              </a:spcAft>
            </a:pPr>
            <a:r>
              <a:rPr dirty="0">
                <a:solidFill>
                  <a:schemeClr val="tx1"/>
                </a:solidFill>
                <a:sym typeface="+mn-ea"/>
              </a:rPr>
              <a:t>全局置换策略：发生缺页需要页面置换时，可以在</a:t>
            </a:r>
            <a:r>
              <a:rPr dirty="0">
                <a:solidFill>
                  <a:srgbClr val="FF0000"/>
                </a:solidFill>
                <a:sym typeface="+mn-ea"/>
              </a:rPr>
              <a:t>驻留内存的所有页</a:t>
            </a:r>
            <a:r>
              <a:rPr dirty="0">
                <a:solidFill>
                  <a:schemeClr val="tx1"/>
                </a:solidFill>
                <a:sym typeface="+mn-ea"/>
              </a:rPr>
              <a:t>中进行选择，不管它属于哪一个进程。</a:t>
            </a:r>
          </a:p>
          <a:p>
            <a:pPr lvl="0">
              <a:lnSpc>
                <a:spcPct val="130000"/>
              </a:lnSpc>
              <a:spcAft>
                <a:spcPts val="1000"/>
              </a:spcAft>
            </a:pPr>
            <a:r>
              <a:rPr dirty="0">
                <a:solidFill>
                  <a:schemeClr val="tx1"/>
                </a:solidFill>
                <a:sym typeface="+mn-ea"/>
              </a:rPr>
              <a:t>局部置换策略：发生缺页需要页面置换时，只能从</a:t>
            </a:r>
            <a:r>
              <a:rPr dirty="0">
                <a:solidFill>
                  <a:srgbClr val="FF0000"/>
                </a:solidFill>
                <a:sym typeface="+mn-ea"/>
              </a:rPr>
              <a:t>发生缺页的进程</a:t>
            </a:r>
            <a:r>
              <a:rPr dirty="0">
                <a:solidFill>
                  <a:schemeClr val="tx1"/>
                </a:solidFill>
                <a:sym typeface="+mn-ea"/>
              </a:rPr>
              <a:t>在内存的页中进行选择。</a:t>
            </a:r>
          </a:p>
          <a:p>
            <a:endParaRPr lang="zh-CN" altLang="en-US" dirty="0">
              <a:solidFill>
                <a:schemeClr val="tx1"/>
              </a:solidFill>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7.2.2 驻留集管理</a:t>
            </a:r>
            <a:endParaRPr lang="zh-CN" altLang="en-US"/>
          </a:p>
        </p:txBody>
      </p:sp>
      <p:sp>
        <p:nvSpPr>
          <p:cNvPr id="3" name="内容占位符 2"/>
          <p:cNvSpPr>
            <a:spLocks noGrp="1"/>
          </p:cNvSpPr>
          <p:nvPr>
            <p:ph idx="1"/>
          </p:nvPr>
        </p:nvSpPr>
        <p:spPr/>
        <p:txBody>
          <a:bodyPr/>
          <a:lstStyle/>
          <a:p>
            <a:r>
              <a:rPr lang="zh-CN" altLang="en-US" dirty="0"/>
              <a:t>显然，驻留集若采用固定分配策略，则只能组合局部置换，驻留集管理策略存在下面3 种：</a:t>
            </a:r>
          </a:p>
          <a:p>
            <a:endParaRPr lang="zh-CN" altLang="en-US" dirty="0"/>
          </a:p>
          <a:p>
            <a:endParaRPr lang="zh-CN" altLang="en-US" dirty="0"/>
          </a:p>
          <a:p>
            <a:endParaRPr lang="zh-CN" altLang="en-US" dirty="0"/>
          </a:p>
          <a:p>
            <a:endParaRPr lang="zh-CN" altLang="en-US" dirty="0"/>
          </a:p>
          <a:p>
            <a:pPr lvl="1"/>
            <a:r>
              <a:rPr dirty="0">
                <a:sym typeface="+mn-ea"/>
              </a:rPr>
              <a:t>固定分配局部置换策略</a:t>
            </a:r>
          </a:p>
          <a:p>
            <a:pPr lvl="1"/>
            <a:r>
              <a:rPr lang="zh-CN" altLang="en-US" dirty="0"/>
              <a:t>可变分配全局置换策略</a:t>
            </a:r>
          </a:p>
          <a:p>
            <a:pPr lvl="1"/>
            <a:r>
              <a:rPr lang="zh-CN" altLang="en-US" dirty="0"/>
              <a:t>可变分配局部置换策略</a:t>
            </a:r>
          </a:p>
        </p:txBody>
      </p:sp>
      <p:pic>
        <p:nvPicPr>
          <p:cNvPr id="4" name="图片 3" descr="1R1UH%~9WN(8](J2L66BW(6"/>
          <p:cNvPicPr>
            <a:picLocks noChangeAspect="1"/>
          </p:cNvPicPr>
          <p:nvPr/>
        </p:nvPicPr>
        <p:blipFill>
          <a:blip r:embed="rId3"/>
          <a:stretch>
            <a:fillRect/>
          </a:stretch>
        </p:blipFill>
        <p:spPr>
          <a:xfrm>
            <a:off x="1180465" y="2070735"/>
            <a:ext cx="9824720" cy="219583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7.2.3 调页策略</a:t>
            </a:r>
          </a:p>
        </p:txBody>
      </p:sp>
      <p:sp>
        <p:nvSpPr>
          <p:cNvPr id="3" name="内容占位符 2"/>
          <p:cNvSpPr>
            <a:spLocks noGrp="1"/>
          </p:cNvSpPr>
          <p:nvPr>
            <p:ph idx="1"/>
          </p:nvPr>
        </p:nvSpPr>
        <p:spPr>
          <a:xfrm>
            <a:off x="608330" y="1021080"/>
            <a:ext cx="10968990" cy="4041808"/>
          </a:xfrm>
        </p:spPr>
        <p:txBody>
          <a:bodyPr/>
          <a:lstStyle/>
          <a:p>
            <a:r>
              <a:rPr lang="zh-CN" altLang="en-US" dirty="0"/>
              <a:t>调页策略用于确定何时将进程所需的页调入内存。常用的调页策略有：</a:t>
            </a:r>
          </a:p>
          <a:p>
            <a:pPr lvl="1"/>
            <a:r>
              <a:rPr lang="zh-CN" altLang="en-US" dirty="0">
                <a:solidFill>
                  <a:srgbClr val="0000FF"/>
                </a:solidFill>
              </a:rPr>
              <a:t>预调页策略</a:t>
            </a:r>
          </a:p>
          <a:p>
            <a:pPr lvl="2"/>
            <a:r>
              <a:rPr dirty="0">
                <a:sym typeface="+mn-ea"/>
              </a:rPr>
              <a:t>常用的预测原理是局部性原理，即每次调页时，将相邻的若干个页一并调入内存。</a:t>
            </a:r>
            <a:endParaRPr lang="zh-CN" altLang="en-US" dirty="0"/>
          </a:p>
          <a:p>
            <a:pPr lvl="1"/>
            <a:r>
              <a:rPr lang="zh-CN" altLang="en-US" dirty="0">
                <a:solidFill>
                  <a:srgbClr val="0000FF"/>
                </a:solidFill>
              </a:rPr>
              <a:t>请求调页策略</a:t>
            </a:r>
          </a:p>
          <a:p>
            <a:pPr lvl="2"/>
            <a:r>
              <a:rPr dirty="0">
                <a:sym typeface="+mn-ea"/>
              </a:rPr>
              <a:t>发生缺页时，再将其调入内存的方法。</a:t>
            </a:r>
          </a:p>
          <a:p>
            <a:pPr lvl="0"/>
            <a:r>
              <a:rPr dirty="0">
                <a:sym typeface="+mn-ea"/>
              </a:rPr>
              <a:t>通常</a:t>
            </a:r>
            <a:r>
              <a:rPr dirty="0">
                <a:solidFill>
                  <a:schemeClr val="tx1"/>
                </a:solidFill>
                <a:sym typeface="+mn-ea"/>
              </a:rPr>
              <a:t>，进程首次调入时使用预调页策略。运行过程中，采用请求调页策略。</a:t>
            </a:r>
            <a:endParaRPr dirty="0">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7.2.4 页面置换算法</a:t>
            </a:r>
          </a:p>
        </p:txBody>
      </p:sp>
      <p:sp>
        <p:nvSpPr>
          <p:cNvPr id="3" name="内容占位符 2"/>
          <p:cNvSpPr>
            <a:spLocks noGrp="1"/>
          </p:cNvSpPr>
          <p:nvPr>
            <p:ph idx="1"/>
          </p:nvPr>
        </p:nvSpPr>
        <p:spPr>
          <a:xfrm>
            <a:off x="608330" y="1021080"/>
            <a:ext cx="10968990" cy="3474720"/>
          </a:xfrm>
        </p:spPr>
        <p:txBody>
          <a:bodyPr>
            <a:normAutofit/>
          </a:bodyPr>
          <a:lstStyle/>
          <a:p>
            <a:r>
              <a:rPr lang="zh-CN" altLang="en-US" dirty="0"/>
              <a:t>一个好的页面置换算法应该具有较低的页面更换频率。</a:t>
            </a:r>
          </a:p>
          <a:p>
            <a:r>
              <a:rPr lang="zh-CN" altLang="en-US" dirty="0">
                <a:solidFill>
                  <a:srgbClr val="0000FF"/>
                </a:solidFill>
              </a:rPr>
              <a:t>抖动</a:t>
            </a:r>
            <a:r>
              <a:rPr lang="zh-CN" altLang="en-US" dirty="0"/>
              <a:t>：刚刚将某个页面淘汰，随后又要访问该页面，从而使系统花费大量的时间用于页面在内存和磁盘之间频繁地换入和换出，大大降低了作业的运行效率，这种现象称为页面抖动。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48211-D534-4AF2-984F-595EED53B32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1CCCA46-0A25-4ECD-8280-4201F8243851}"/>
              </a:ext>
            </a:extLst>
          </p:cNvPr>
          <p:cNvSpPr>
            <a:spLocks noGrp="1"/>
          </p:cNvSpPr>
          <p:nvPr>
            <p:ph idx="1"/>
          </p:nvPr>
        </p:nvSpPr>
        <p:spPr>
          <a:xfrm>
            <a:off x="1484630" y="1297305"/>
            <a:ext cx="7411720" cy="3474720"/>
          </a:xfrm>
        </p:spPr>
        <p:txBody>
          <a:bodyPr>
            <a:normAutofit/>
          </a:bodyPr>
          <a:lstStyle/>
          <a:p>
            <a:r>
              <a:rPr lang="zh-CN" altLang="en-US" sz="2800" dirty="0"/>
              <a:t>常用的页面置换算法：</a:t>
            </a:r>
          </a:p>
          <a:p>
            <a:pPr lvl="1"/>
            <a:r>
              <a:rPr lang="zh-CN" altLang="en-US" sz="2800" dirty="0">
                <a:sym typeface="+mn-ea"/>
              </a:rPr>
              <a:t>最佳置换算法</a:t>
            </a:r>
            <a:endParaRPr lang="zh-CN" altLang="en-US" sz="2800" dirty="0"/>
          </a:p>
          <a:p>
            <a:pPr lvl="1"/>
            <a:r>
              <a:rPr lang="zh-CN" altLang="en-US" sz="2800" dirty="0">
                <a:sym typeface="+mn-ea"/>
              </a:rPr>
              <a:t>先进先出置换算法</a:t>
            </a:r>
            <a:endParaRPr lang="zh-CN" altLang="en-US" sz="2800" dirty="0"/>
          </a:p>
          <a:p>
            <a:pPr lvl="1"/>
            <a:r>
              <a:rPr lang="zh-CN" altLang="en-US" sz="2800" dirty="0">
                <a:sym typeface="+mn-ea"/>
              </a:rPr>
              <a:t>最近最久未使用置换算法</a:t>
            </a:r>
            <a:endParaRPr lang="zh-CN" altLang="en-US" sz="2800" dirty="0"/>
          </a:p>
          <a:p>
            <a:pPr lvl="1"/>
            <a:r>
              <a:rPr lang="en-US" altLang="zh-CN" sz="2800" dirty="0">
                <a:sym typeface="+mn-ea"/>
              </a:rPr>
              <a:t>Clock</a:t>
            </a:r>
            <a:r>
              <a:rPr lang="zh-CN" altLang="en-US" sz="2800" dirty="0">
                <a:sym typeface="+mn-ea"/>
              </a:rPr>
              <a:t>置换算法</a:t>
            </a:r>
            <a:endParaRPr lang="zh-CN" altLang="en-US" sz="2800" dirty="0"/>
          </a:p>
        </p:txBody>
      </p:sp>
    </p:spTree>
    <p:extLst>
      <p:ext uri="{BB962C8B-B14F-4D97-AF65-F5344CB8AC3E}">
        <p14:creationId xmlns:p14="http://schemas.microsoft.com/office/powerpoint/2010/main" val="173906480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1．最佳页面置换算法</a:t>
            </a:r>
          </a:p>
        </p:txBody>
      </p:sp>
      <p:sp>
        <p:nvSpPr>
          <p:cNvPr id="3" name="内容占位符 2"/>
          <p:cNvSpPr>
            <a:spLocks noGrp="1"/>
          </p:cNvSpPr>
          <p:nvPr>
            <p:ph idx="1"/>
          </p:nvPr>
        </p:nvSpPr>
        <p:spPr/>
        <p:txBody>
          <a:bodyPr/>
          <a:lstStyle/>
          <a:p>
            <a:r>
              <a:rPr lang="zh-CN" altLang="en-US" dirty="0"/>
              <a:t>最佳（Optimal，OPT）页面置换算法是</a:t>
            </a:r>
            <a:r>
              <a:rPr lang="zh-CN" altLang="en-US" dirty="0">
                <a:solidFill>
                  <a:srgbClr val="FF0000"/>
                </a:solidFill>
              </a:rPr>
              <a:t>优先淘汰那些以后再也不会被访问，或者是在未来最长时间内不再被访问的页面</a:t>
            </a:r>
            <a:r>
              <a:rPr lang="zh-CN" altLang="en-US" dirty="0"/>
              <a:t>。</a:t>
            </a:r>
          </a:p>
          <a:p>
            <a:pPr marL="0" indent="0">
              <a:buNone/>
            </a:pPr>
            <a:endParaRPr lang="zh-CN" altLang="en-US" dirty="0"/>
          </a:p>
          <a:p>
            <a:r>
              <a:rPr lang="zh-CN" altLang="en-US" dirty="0"/>
              <a:t>但由于系统目前还无法预知一个进程未来访问页面的情况，因而该算法只是一种理想化的算法，在实际上是</a:t>
            </a:r>
            <a:r>
              <a:rPr lang="zh-CN" altLang="en-US" dirty="0">
                <a:solidFill>
                  <a:srgbClr val="FF0000"/>
                </a:solidFill>
              </a:rPr>
              <a:t>无法实现</a:t>
            </a:r>
            <a:r>
              <a:rPr lang="zh-CN" altLang="en-US" dirty="0"/>
              <a:t>的。</a:t>
            </a:r>
          </a:p>
          <a:p>
            <a:r>
              <a:rPr lang="zh-CN" altLang="en-US" dirty="0"/>
              <a:t>目前，OPT 页面置换算法只是</a:t>
            </a:r>
            <a:r>
              <a:rPr lang="zh-CN" altLang="en-US" dirty="0">
                <a:solidFill>
                  <a:srgbClr val="FF0000"/>
                </a:solidFill>
              </a:rPr>
              <a:t>作为理论上的评价标准</a:t>
            </a:r>
            <a:r>
              <a:rPr lang="zh-CN" altLang="en-US" dirty="0"/>
              <a:t>，用以鉴别其他页面置换算法的优劣。</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1．最佳页面置换算法</a:t>
            </a:r>
          </a:p>
        </p:txBody>
      </p:sp>
      <p:sp>
        <p:nvSpPr>
          <p:cNvPr id="3" name="内容占位符 2"/>
          <p:cNvSpPr>
            <a:spLocks noGrp="1"/>
          </p:cNvSpPr>
          <p:nvPr>
            <p:ph idx="1"/>
          </p:nvPr>
        </p:nvSpPr>
        <p:spPr>
          <a:xfrm>
            <a:off x="608330" y="1021080"/>
            <a:ext cx="10968990" cy="5951220"/>
          </a:xfrm>
        </p:spPr>
        <p:txBody>
          <a:bodyPr>
            <a:normAutofit/>
          </a:bodyPr>
          <a:lstStyle/>
          <a:p>
            <a:r>
              <a:rPr sz="2200" dirty="0">
                <a:sym typeface="+mn-ea"/>
              </a:rPr>
              <a:t>页面访问串</a:t>
            </a:r>
            <a:r>
              <a:rPr lang="en-US" altLang="zh-CN" sz="2200" dirty="0">
                <a:sym typeface="+mn-ea"/>
              </a:rPr>
              <a:t>/</a:t>
            </a:r>
            <a:r>
              <a:rPr sz="2200" dirty="0">
                <a:sym typeface="+mn-ea"/>
              </a:rPr>
              <a:t>页面访问流：</a:t>
            </a:r>
            <a:r>
              <a:rPr lang="zh-CN" altLang="en-US" sz="2200" dirty="0"/>
              <a:t>进程执行时</a:t>
            </a:r>
            <a:r>
              <a:rPr lang="zh-CN" altLang="en-US" sz="2200" dirty="0">
                <a:solidFill>
                  <a:srgbClr val="0000FF"/>
                </a:solidFill>
              </a:rPr>
              <a:t>对页面的访问序列</a:t>
            </a:r>
            <a:r>
              <a:rPr lang="zh-CN" altLang="en-US" sz="2200" dirty="0"/>
              <a:t>。</a:t>
            </a:r>
          </a:p>
          <a:p>
            <a:r>
              <a:rPr lang="zh-CN" altLang="en-US" sz="2200" dirty="0"/>
              <a:t>假设系统采用固定分配局部置换策略，系统为进程分配了</a:t>
            </a:r>
            <a:r>
              <a:rPr lang="zh-CN" altLang="en-US" sz="2200" dirty="0">
                <a:solidFill>
                  <a:srgbClr val="0000FF"/>
                </a:solidFill>
              </a:rPr>
              <a:t>3 个物理块</a:t>
            </a:r>
            <a:r>
              <a:rPr lang="zh-CN" altLang="en-US" sz="2200" dirty="0"/>
              <a:t>，若该进程执行时的页面访问串为“5,0,1,2,0,4,0,7,2,4,0,4,2,1,2,0,1,5,0,1”，采用OPT 页面置换算法的置换结果如图7-4 所示。</a:t>
            </a:r>
          </a:p>
          <a:p>
            <a:endParaRPr lang="zh-CN" altLang="en-US" dirty="0"/>
          </a:p>
          <a:p>
            <a:endParaRPr lang="zh-CN" altLang="en-US" dirty="0"/>
          </a:p>
          <a:p>
            <a:endParaRPr lang="en-US" altLang="zh-CN" dirty="0"/>
          </a:p>
          <a:p>
            <a:pPr marL="0" indent="0">
              <a:buNone/>
            </a:pPr>
            <a:endParaRPr lang="zh-CN" altLang="en-US" dirty="0"/>
          </a:p>
          <a:p>
            <a:r>
              <a:rPr lang="zh-CN" altLang="en-US" sz="2300" dirty="0"/>
              <a:t>采用请求调页策略和OPT 页面置换算法，共发生了9 次缺页，其中6 次进行了页面置换，进程访问的总页面数为20，缺页率为45%。</a:t>
            </a:r>
          </a:p>
        </p:txBody>
      </p:sp>
      <p:pic>
        <p:nvPicPr>
          <p:cNvPr id="4" name="图片 3" descr="V92Z9DFRCYQRCR~]WDADL$C"/>
          <p:cNvPicPr>
            <a:picLocks noChangeAspect="1"/>
          </p:cNvPicPr>
          <p:nvPr/>
        </p:nvPicPr>
        <p:blipFill>
          <a:blip r:embed="rId3"/>
          <a:stretch>
            <a:fillRect/>
          </a:stretch>
        </p:blipFill>
        <p:spPr>
          <a:xfrm>
            <a:off x="1076394" y="2997200"/>
            <a:ext cx="10547935" cy="224155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2．先进先出置换算法</a:t>
            </a:r>
          </a:p>
        </p:txBody>
      </p:sp>
      <p:sp>
        <p:nvSpPr>
          <p:cNvPr id="3" name="内容占位符 2"/>
          <p:cNvSpPr>
            <a:spLocks noGrp="1"/>
          </p:cNvSpPr>
          <p:nvPr>
            <p:ph idx="1"/>
          </p:nvPr>
        </p:nvSpPr>
        <p:spPr>
          <a:xfrm>
            <a:off x="608330" y="1021080"/>
            <a:ext cx="10968990" cy="4718708"/>
          </a:xfrm>
        </p:spPr>
        <p:txBody>
          <a:bodyPr>
            <a:normAutofit/>
          </a:bodyPr>
          <a:lstStyle/>
          <a:p>
            <a:r>
              <a:rPr lang="zh-CN" altLang="en-US" dirty="0"/>
              <a:t>先进先出（First In First Out，FIFO）页面置换算法总是</a:t>
            </a:r>
            <a:r>
              <a:rPr lang="zh-CN" altLang="en-US" dirty="0">
                <a:solidFill>
                  <a:srgbClr val="0000FF"/>
                </a:solidFill>
              </a:rPr>
              <a:t>选择最先进入内存的页面，即在内存中驻留时间最久的页面予以置换</a:t>
            </a:r>
            <a:r>
              <a:rPr lang="zh-CN" altLang="en-US" dirty="0"/>
              <a:t>。</a:t>
            </a:r>
          </a:p>
          <a:p>
            <a:r>
              <a:rPr lang="zh-CN" altLang="en-US" dirty="0"/>
              <a:t>FIFO 页面置换算法实现简单，但使用过程中发现与进程实际运行的规律不相适应。 如main 程序段、全局数据结构、常用函数等最先进入内存，经常被访问。</a:t>
            </a:r>
          </a:p>
          <a:p>
            <a:r>
              <a:rPr lang="zh-CN" altLang="en-US" dirty="0"/>
              <a:t>在实际系统中，单纯采用FIFO页面置换算法的并不多见。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2．先进先出置换算法</a:t>
            </a:r>
            <a:endParaRPr lang="zh-CN" altLang="en-US"/>
          </a:p>
        </p:txBody>
      </p:sp>
      <p:sp>
        <p:nvSpPr>
          <p:cNvPr id="3" name="内容占位符 2"/>
          <p:cNvSpPr>
            <a:spLocks noGrp="1"/>
          </p:cNvSpPr>
          <p:nvPr>
            <p:ph idx="1"/>
          </p:nvPr>
        </p:nvSpPr>
        <p:spPr/>
        <p:txBody>
          <a:bodyPr/>
          <a:lstStyle/>
          <a:p>
            <a:r>
              <a:rPr lang="zh-CN" altLang="en-US" dirty="0"/>
              <a:t>对于图7-4 的例子，采用FIFO 页面置换算法的置换结果如图7-5 所示。</a:t>
            </a:r>
            <a:endParaRPr lang="en-US" altLang="zh-CN" dirty="0"/>
          </a:p>
          <a:p>
            <a:endParaRPr lang="zh-CN" altLang="en-US" dirty="0"/>
          </a:p>
          <a:p>
            <a:endParaRPr lang="zh-CN" altLang="en-US" dirty="0"/>
          </a:p>
          <a:p>
            <a:endParaRPr lang="zh-CN" altLang="en-US" dirty="0"/>
          </a:p>
          <a:p>
            <a:endParaRPr lang="zh-CN" altLang="en-US" dirty="0"/>
          </a:p>
          <a:p>
            <a:endParaRPr lang="zh-CN" altLang="en-US" dirty="0"/>
          </a:p>
          <a:p>
            <a:r>
              <a:rPr lang="zh-CN" altLang="en-US" dirty="0"/>
              <a:t>采用请求调页策略和FIFO 页面置换算法时，共发生了15 次缺页中断，进行了12 次页面置换，缺页率为75%，出现了严重的页面</a:t>
            </a:r>
            <a:r>
              <a:rPr lang="zh-CN" altLang="en-US" dirty="0">
                <a:solidFill>
                  <a:srgbClr val="FF0000"/>
                </a:solidFill>
              </a:rPr>
              <a:t>抖动</a:t>
            </a:r>
            <a:r>
              <a:rPr lang="zh-CN" altLang="en-US" dirty="0"/>
              <a:t>。</a:t>
            </a:r>
          </a:p>
        </p:txBody>
      </p:sp>
      <p:pic>
        <p:nvPicPr>
          <p:cNvPr id="4" name="图片 3" descr="7L@LZ(C0RX}6`2VDW_REF4Q"/>
          <p:cNvPicPr>
            <a:picLocks noChangeAspect="1"/>
          </p:cNvPicPr>
          <p:nvPr/>
        </p:nvPicPr>
        <p:blipFill>
          <a:blip r:embed="rId3"/>
          <a:stretch>
            <a:fillRect/>
          </a:stretch>
        </p:blipFill>
        <p:spPr>
          <a:xfrm>
            <a:off x="499110" y="1925320"/>
            <a:ext cx="10719294" cy="222758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3．最近最久未使用置换算法</a:t>
            </a:r>
          </a:p>
        </p:txBody>
      </p:sp>
      <p:sp>
        <p:nvSpPr>
          <p:cNvPr id="3" name="内容占位符 2"/>
          <p:cNvSpPr>
            <a:spLocks noGrp="1"/>
          </p:cNvSpPr>
          <p:nvPr>
            <p:ph idx="1"/>
          </p:nvPr>
        </p:nvSpPr>
        <p:spPr>
          <a:xfrm>
            <a:off x="608120" y="1297305"/>
            <a:ext cx="10968990" cy="1160145"/>
          </a:xfrm>
        </p:spPr>
        <p:txBody>
          <a:bodyPr>
            <a:normAutofit/>
          </a:bodyPr>
          <a:lstStyle/>
          <a:p>
            <a:r>
              <a:rPr lang="zh-CN" altLang="en-US" dirty="0"/>
              <a:t>最近最久未使用（Least Recently Used，LRU）页面置换算法是</a:t>
            </a:r>
            <a:r>
              <a:rPr lang="zh-CN" altLang="en-US" dirty="0">
                <a:solidFill>
                  <a:srgbClr val="0000FF"/>
                </a:solidFill>
              </a:rPr>
              <a:t>选择最近最久未使用的页面予以置换。</a:t>
            </a:r>
          </a:p>
        </p:txBody>
      </p:sp>
      <p:pic>
        <p:nvPicPr>
          <p:cNvPr id="4" name="图片 3">
            <a:extLst>
              <a:ext uri="{FF2B5EF4-FFF2-40B4-BE49-F238E27FC236}">
                <a16:creationId xmlns:a16="http://schemas.microsoft.com/office/drawing/2014/main" id="{40C4781D-450E-4630-9F4E-EC971B713F5D}"/>
              </a:ext>
            </a:extLst>
          </p:cNvPr>
          <p:cNvPicPr>
            <a:picLocks noChangeAspect="1"/>
          </p:cNvPicPr>
          <p:nvPr/>
        </p:nvPicPr>
        <p:blipFill>
          <a:blip r:embed="rId3"/>
          <a:stretch>
            <a:fillRect/>
          </a:stretch>
        </p:blipFill>
        <p:spPr>
          <a:xfrm>
            <a:off x="1172210" y="2561590"/>
            <a:ext cx="10009810" cy="2086610"/>
          </a:xfrm>
          <a:prstGeom prst="rect">
            <a:avLst/>
          </a:prstGeom>
        </p:spPr>
      </p:pic>
      <p:sp>
        <p:nvSpPr>
          <p:cNvPr id="5" name="文本框 4">
            <a:extLst>
              <a:ext uri="{FF2B5EF4-FFF2-40B4-BE49-F238E27FC236}">
                <a16:creationId xmlns:a16="http://schemas.microsoft.com/office/drawing/2014/main" id="{5E110625-5E83-4A68-B657-B2888FC0E325}"/>
              </a:ext>
            </a:extLst>
          </p:cNvPr>
          <p:cNvSpPr txBox="1"/>
          <p:nvPr/>
        </p:nvSpPr>
        <p:spPr>
          <a:xfrm>
            <a:off x="953135" y="5376029"/>
            <a:ext cx="10143490" cy="461665"/>
          </a:xfrm>
          <a:prstGeom prst="rect">
            <a:avLst/>
          </a:prstGeom>
          <a:noFill/>
        </p:spPr>
        <p:txBody>
          <a:bodyPr wrap="square" rtlCol="0">
            <a:spAutoFit/>
          </a:bodyPr>
          <a:lstStyle/>
          <a:p>
            <a:r>
              <a:rPr lang="zh-CN" altLang="en-US" sz="2400" dirty="0"/>
              <a:t>共产生了12 次缺页，进行了9 次页面置换，缺页率为60%。</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3．最近最久未使用置换算法</a:t>
            </a:r>
            <a:endParaRPr lang="zh-CN" altLang="en-US"/>
          </a:p>
        </p:txBody>
      </p:sp>
      <p:sp>
        <p:nvSpPr>
          <p:cNvPr id="3" name="内容占位符 2"/>
          <p:cNvSpPr>
            <a:spLocks noGrp="1"/>
          </p:cNvSpPr>
          <p:nvPr>
            <p:ph idx="1"/>
          </p:nvPr>
        </p:nvSpPr>
        <p:spPr>
          <a:xfrm>
            <a:off x="608330" y="1021080"/>
            <a:ext cx="10968990" cy="3589020"/>
          </a:xfrm>
        </p:spPr>
        <p:txBody>
          <a:bodyPr>
            <a:normAutofit/>
          </a:bodyPr>
          <a:lstStyle/>
          <a:p>
            <a:pPr>
              <a:lnSpc>
                <a:spcPct val="150000"/>
              </a:lnSpc>
            </a:pPr>
            <a:r>
              <a:rPr dirty="0">
                <a:sym typeface="+mn-ea"/>
              </a:rPr>
              <a:t>在</a:t>
            </a:r>
            <a:r>
              <a:rPr lang="en-US" altLang="zh-CN" dirty="0">
                <a:sym typeface="+mn-ea"/>
              </a:rPr>
              <a:t>LRU</a:t>
            </a:r>
            <a:r>
              <a:rPr dirty="0">
                <a:sym typeface="+mn-ea"/>
              </a:rPr>
              <a:t>算法实际应用中，如何确定页面的最后使用时间顺序是一个问题。</a:t>
            </a:r>
          </a:p>
          <a:p>
            <a:pPr lvl="1">
              <a:lnSpc>
                <a:spcPct val="150000"/>
              </a:lnSpc>
            </a:pPr>
            <a:r>
              <a:rPr lang="zh-CN" altLang="en-US" dirty="0"/>
              <a:t>利用逻辑时钟。</a:t>
            </a:r>
          </a:p>
          <a:p>
            <a:pPr lvl="1">
              <a:lnSpc>
                <a:spcPct val="150000"/>
              </a:lnSpc>
            </a:pPr>
            <a:r>
              <a:rPr lang="zh-CN" altLang="en-US" dirty="0"/>
              <a:t>利用特殊栈。</a:t>
            </a:r>
          </a:p>
          <a:p>
            <a:pPr lvl="0">
              <a:lnSpc>
                <a:spcPct val="150000"/>
              </a:lnSpc>
            </a:pPr>
            <a:r>
              <a:rPr lang="zh-CN" altLang="en-US" dirty="0">
                <a:solidFill>
                  <a:srgbClr val="0000FF"/>
                </a:solidFill>
              </a:rPr>
              <a:t>实现LRU 页面置换算法必须有硬件支持</a:t>
            </a:r>
            <a:r>
              <a:rPr lang="zh-CN" altLang="en-US" dirty="0"/>
              <a:t>，还需要一定的软件开销。故在实际应用中，大多采用LRU 页面置换算法的近似算法。</a:t>
            </a:r>
          </a:p>
          <a:p>
            <a:pPr lvl="1">
              <a:lnSpc>
                <a:spcPct val="150000"/>
              </a:lnSpc>
            </a:pP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4．Clock 置换算法</a:t>
            </a:r>
            <a:endParaRPr lang="zh-CN" altLang="en-US"/>
          </a:p>
        </p:txBody>
      </p:sp>
      <p:sp>
        <p:nvSpPr>
          <p:cNvPr id="3" name="内容占位符 2"/>
          <p:cNvSpPr>
            <a:spLocks noGrp="1"/>
          </p:cNvSpPr>
          <p:nvPr>
            <p:ph idx="1"/>
          </p:nvPr>
        </p:nvSpPr>
        <p:spPr/>
        <p:txBody>
          <a:bodyPr/>
          <a:lstStyle/>
          <a:p>
            <a:r>
              <a:rPr dirty="0">
                <a:sym typeface="+mn-ea"/>
              </a:rPr>
              <a:t>Clock 置换算法是广泛应用的一种近似LRU 页面置换算法。</a:t>
            </a:r>
            <a:endParaRPr lang="zh-CN" altLang="en-US" dirty="0"/>
          </a:p>
          <a:p>
            <a:pPr marL="0" indent="0">
              <a:buNone/>
            </a:pPr>
            <a:r>
              <a:rPr dirty="0">
                <a:sym typeface="+mn-ea"/>
              </a:rPr>
              <a:t>（1）简单Clock 置换算法</a:t>
            </a:r>
            <a:endParaRPr lang="zh-CN" altLang="en-US" dirty="0"/>
          </a:p>
          <a:p>
            <a:pPr lvl="1"/>
            <a:r>
              <a:rPr dirty="0">
                <a:sym typeface="+mn-ea"/>
              </a:rPr>
              <a:t>将分配给该进程的所有内存物理块链接成一个循环队列，并为每个页面设置一个访问位U。当某个页面被访问时，其访问位被置为1。</a:t>
            </a:r>
          </a:p>
          <a:p>
            <a:pPr lvl="1"/>
            <a:r>
              <a:rPr dirty="0">
                <a:sym typeface="+mn-ea"/>
              </a:rPr>
              <a:t>在选择页面置换时，利用查找指针在循环队列中顺序检索页面的访问位。若访问位为1，则将其重新置为0，继续查找；若访问位为0，则停止查找，选择将该页面换出。</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4．Clock 置换算法</a:t>
            </a:r>
            <a:endParaRPr lang="zh-CN" altLang="en-US"/>
          </a:p>
        </p:txBody>
      </p:sp>
      <p:sp>
        <p:nvSpPr>
          <p:cNvPr id="3" name="内容占位符 2"/>
          <p:cNvSpPr>
            <a:spLocks noGrp="1"/>
          </p:cNvSpPr>
          <p:nvPr>
            <p:ph idx="1"/>
          </p:nvPr>
        </p:nvSpPr>
        <p:spPr/>
        <p:txBody>
          <a:bodyPr>
            <a:normAutofit/>
          </a:bodyPr>
          <a:lstStyle/>
          <a:p>
            <a:r>
              <a:rPr lang="zh-CN" altLang="en-US" dirty="0"/>
              <a:t>由于访问位仅能表示某页面是否已经访问过，因此简单Clock置换算法又被称为最近未用（Not Recently Used，NRU）置换算法。</a:t>
            </a:r>
          </a:p>
        </p:txBody>
      </p:sp>
      <p:pic>
        <p:nvPicPr>
          <p:cNvPr id="4" name="内容占位符 3"/>
          <p:cNvPicPr>
            <a:picLocks noChangeAspect="1"/>
          </p:cNvPicPr>
          <p:nvPr/>
        </p:nvPicPr>
        <p:blipFill>
          <a:blip r:embed="rId3"/>
          <a:stretch>
            <a:fillRect/>
          </a:stretch>
        </p:blipFill>
        <p:spPr>
          <a:xfrm>
            <a:off x="1689100" y="2352674"/>
            <a:ext cx="7131050" cy="4248729"/>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4．Clock 置换算法</a:t>
            </a:r>
            <a:endParaRPr lang="zh-CN" altLang="en-US"/>
          </a:p>
        </p:txBody>
      </p:sp>
      <p:sp>
        <p:nvSpPr>
          <p:cNvPr id="3" name="内容占位符 2"/>
          <p:cNvSpPr>
            <a:spLocks noGrp="1"/>
          </p:cNvSpPr>
          <p:nvPr>
            <p:ph idx="1"/>
          </p:nvPr>
        </p:nvSpPr>
        <p:spPr>
          <a:xfrm>
            <a:off x="608330" y="1021080"/>
            <a:ext cx="11329670" cy="5228590"/>
          </a:xfrm>
        </p:spPr>
        <p:txBody>
          <a:bodyPr>
            <a:normAutofit/>
          </a:bodyPr>
          <a:lstStyle/>
          <a:p>
            <a:pPr marL="0" indent="0">
              <a:buNone/>
            </a:pPr>
            <a:r>
              <a:rPr lang="zh-CN" altLang="en-US" dirty="0"/>
              <a:t>（2）改进Clock 置换算法</a:t>
            </a:r>
          </a:p>
          <a:p>
            <a:r>
              <a:rPr lang="zh-CN" altLang="en-US" dirty="0"/>
              <a:t>在改进Clock置换算法中，根据访问位U 和改动位M，可以将页面分成下面四种类型：</a:t>
            </a:r>
          </a:p>
          <a:p>
            <a:pPr lvl="1"/>
            <a:r>
              <a:rPr lang="zh-CN" altLang="en-US" dirty="0"/>
              <a:t>U=0，M=0：</a:t>
            </a:r>
            <a:r>
              <a:rPr lang="zh-CN" altLang="en-US" dirty="0">
                <a:solidFill>
                  <a:srgbClr val="FF0000"/>
                </a:solidFill>
              </a:rPr>
              <a:t>页面最近没有被访问过，也没有被改动过，是最佳的置换页。</a:t>
            </a:r>
          </a:p>
          <a:p>
            <a:pPr lvl="1"/>
            <a:r>
              <a:rPr lang="zh-CN" altLang="en-US" dirty="0"/>
              <a:t>U=0，M=1：页面最近没有被访问过，但被改动过，不是最佳的置换页。</a:t>
            </a:r>
          </a:p>
          <a:p>
            <a:pPr lvl="1"/>
            <a:r>
              <a:rPr lang="zh-CN" altLang="en-US" dirty="0"/>
              <a:t>U=1，M=0：页面最近被访问过，但没有被改动过，该页面有可能再次被访问。</a:t>
            </a:r>
          </a:p>
          <a:p>
            <a:pPr lvl="1"/>
            <a:r>
              <a:rPr lang="zh-CN" altLang="en-US" dirty="0"/>
              <a:t>U=1，M=1：页面最近被访问过，也被改动过，该页面可能再次被访问。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4．Clock 置换算法</a:t>
            </a:r>
            <a:endParaRPr lang="zh-CN" altLang="en-US"/>
          </a:p>
        </p:txBody>
      </p:sp>
      <p:sp>
        <p:nvSpPr>
          <p:cNvPr id="3" name="内容占位符 2"/>
          <p:cNvSpPr>
            <a:spLocks noGrp="1"/>
          </p:cNvSpPr>
          <p:nvPr>
            <p:ph idx="1"/>
          </p:nvPr>
        </p:nvSpPr>
        <p:spPr>
          <a:xfrm>
            <a:off x="608330" y="1021080"/>
            <a:ext cx="10968990" cy="2665095"/>
          </a:xfrm>
        </p:spPr>
        <p:txBody>
          <a:bodyPr/>
          <a:lstStyle/>
          <a:p>
            <a:r>
              <a:rPr lang="zh-CN" altLang="en-US" dirty="0"/>
              <a:t>改进Clock置换算法曾用于Macintosh的虚拟存储管理方案中。该算法与简单Clock 置换算法相比，可以减少磁盘的I/O 操作次数。但为了找到一个可置换的页面，可能需要经过多轮扫描，因此实现该算法本身的开销将有所增加。</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a:spLocks noChangeArrowheads="1"/>
          </p:cNvSpPr>
          <p:nvPr/>
        </p:nvSpPr>
        <p:spPr bwMode="auto">
          <a:xfrm>
            <a:off x="602165" y="292798"/>
            <a:ext cx="10638264" cy="4066562"/>
          </a:xfrm>
          <a:prstGeom prst="rect">
            <a:avLst/>
          </a:prstGeom>
          <a:noFill/>
          <a:ln w="12700" cap="sq">
            <a:noFill/>
            <a:miter lim="800000"/>
            <a:headEnd type="none" w="sm" len="sm"/>
            <a:tailEnd type="none" w="sm" len="sm"/>
          </a:ln>
        </p:spPr>
        <p:txBody>
          <a:bodyPr wrap="square">
            <a:spAutoFit/>
          </a:bodyPr>
          <a:lstStyle/>
          <a:p>
            <a:pPr>
              <a:lnSpc>
                <a:spcPct val="150000"/>
              </a:lnSpc>
              <a:spcBef>
                <a:spcPct val="20000"/>
              </a:spcBef>
              <a:buClr>
                <a:schemeClr val="tx2"/>
              </a:buClr>
              <a:buFont typeface="Wingdings" pitchFamily="2" charset="2"/>
              <a:buNone/>
            </a:pPr>
            <a:r>
              <a:rPr lang="zh-CN" altLang="en-US" sz="2800" dirty="0">
                <a:solidFill>
                  <a:srgbClr val="000066"/>
                </a:solidFill>
                <a:latin typeface="+mn-ea"/>
              </a:rPr>
              <a:t>练习：一个进程得到</a:t>
            </a:r>
            <a:r>
              <a:rPr lang="en-US" altLang="zh-CN" sz="2800" dirty="0">
                <a:solidFill>
                  <a:srgbClr val="000066"/>
                </a:solidFill>
                <a:latin typeface="+mn-ea"/>
              </a:rPr>
              <a:t>384</a:t>
            </a:r>
            <a:r>
              <a:rPr lang="zh-CN" altLang="en-US" sz="2800" dirty="0">
                <a:solidFill>
                  <a:srgbClr val="000066"/>
                </a:solidFill>
                <a:latin typeface="+mn-ea"/>
              </a:rPr>
              <a:t>字节的主存使用权，该进程访问的地址为</a:t>
            </a:r>
            <a:r>
              <a:rPr lang="en-US" altLang="zh-CN" sz="2800" dirty="0">
                <a:solidFill>
                  <a:srgbClr val="000066"/>
                </a:solidFill>
                <a:latin typeface="+mn-ea"/>
              </a:rPr>
              <a:t>87</a:t>
            </a:r>
            <a:r>
              <a:rPr lang="zh-CN" altLang="en-US" sz="2800" dirty="0">
                <a:solidFill>
                  <a:srgbClr val="000066"/>
                </a:solidFill>
                <a:latin typeface="+mn-ea"/>
              </a:rPr>
              <a:t>、</a:t>
            </a:r>
            <a:r>
              <a:rPr lang="en-US" altLang="zh-CN" sz="2800" dirty="0">
                <a:solidFill>
                  <a:srgbClr val="000066"/>
                </a:solidFill>
                <a:latin typeface="+mn-ea"/>
              </a:rPr>
              <a:t>138</a:t>
            </a:r>
            <a:r>
              <a:rPr lang="zh-CN" altLang="en-US" sz="2800" dirty="0">
                <a:solidFill>
                  <a:srgbClr val="000066"/>
                </a:solidFill>
                <a:latin typeface="+mn-ea"/>
              </a:rPr>
              <a:t>、</a:t>
            </a:r>
            <a:r>
              <a:rPr lang="en-US" altLang="zh-CN" sz="2800" dirty="0">
                <a:solidFill>
                  <a:srgbClr val="000066"/>
                </a:solidFill>
                <a:latin typeface="+mn-ea"/>
              </a:rPr>
              <a:t>277</a:t>
            </a:r>
            <a:r>
              <a:rPr lang="zh-CN" altLang="en-US" sz="2800" dirty="0">
                <a:solidFill>
                  <a:srgbClr val="000066"/>
                </a:solidFill>
                <a:latin typeface="+mn-ea"/>
              </a:rPr>
              <a:t>、</a:t>
            </a:r>
            <a:r>
              <a:rPr lang="en-US" altLang="zh-CN" sz="2800" dirty="0">
                <a:solidFill>
                  <a:srgbClr val="000066"/>
                </a:solidFill>
                <a:latin typeface="+mn-ea"/>
              </a:rPr>
              <a:t>56</a:t>
            </a:r>
            <a:r>
              <a:rPr lang="zh-CN" altLang="en-US" sz="2800" dirty="0">
                <a:solidFill>
                  <a:srgbClr val="000066"/>
                </a:solidFill>
                <a:latin typeface="+mn-ea"/>
              </a:rPr>
              <a:t>、</a:t>
            </a:r>
            <a:r>
              <a:rPr lang="en-US" altLang="zh-CN" sz="2800" dirty="0">
                <a:solidFill>
                  <a:srgbClr val="000066"/>
                </a:solidFill>
                <a:latin typeface="+mn-ea"/>
              </a:rPr>
              <a:t>390</a:t>
            </a:r>
            <a:r>
              <a:rPr lang="zh-CN" altLang="en-US" sz="2800" dirty="0">
                <a:solidFill>
                  <a:srgbClr val="000066"/>
                </a:solidFill>
                <a:latin typeface="+mn-ea"/>
              </a:rPr>
              <a:t>、</a:t>
            </a:r>
            <a:r>
              <a:rPr lang="en-US" altLang="zh-CN" sz="2800" dirty="0">
                <a:solidFill>
                  <a:srgbClr val="000066"/>
                </a:solidFill>
                <a:latin typeface="+mn-ea"/>
              </a:rPr>
              <a:t>532</a:t>
            </a:r>
            <a:r>
              <a:rPr lang="zh-CN" altLang="en-US" sz="2800" dirty="0">
                <a:solidFill>
                  <a:srgbClr val="000066"/>
                </a:solidFill>
                <a:latin typeface="+mn-ea"/>
              </a:rPr>
              <a:t>、</a:t>
            </a:r>
            <a:r>
              <a:rPr lang="en-US" altLang="zh-CN" sz="2800" dirty="0">
                <a:solidFill>
                  <a:srgbClr val="000066"/>
                </a:solidFill>
                <a:latin typeface="+mn-ea"/>
              </a:rPr>
              <a:t>285</a:t>
            </a:r>
            <a:r>
              <a:rPr lang="zh-CN" altLang="en-US" sz="2800" dirty="0">
                <a:solidFill>
                  <a:srgbClr val="000066"/>
                </a:solidFill>
                <a:latin typeface="+mn-ea"/>
              </a:rPr>
              <a:t>、</a:t>
            </a:r>
            <a:r>
              <a:rPr lang="en-US" altLang="zh-CN" sz="2800" dirty="0">
                <a:solidFill>
                  <a:srgbClr val="000066"/>
                </a:solidFill>
                <a:latin typeface="+mn-ea"/>
              </a:rPr>
              <a:t>410</a:t>
            </a:r>
            <a:r>
              <a:rPr lang="zh-CN" altLang="en-US" sz="2800" dirty="0">
                <a:solidFill>
                  <a:srgbClr val="000066"/>
                </a:solidFill>
                <a:latin typeface="+mn-ea"/>
              </a:rPr>
              <a:t>、</a:t>
            </a:r>
            <a:r>
              <a:rPr lang="en-US" altLang="zh-CN" sz="2800" dirty="0">
                <a:solidFill>
                  <a:srgbClr val="000066"/>
                </a:solidFill>
                <a:latin typeface="+mn-ea"/>
              </a:rPr>
              <a:t>45</a:t>
            </a:r>
            <a:r>
              <a:rPr lang="zh-CN" altLang="en-US" sz="2800" dirty="0">
                <a:solidFill>
                  <a:srgbClr val="000066"/>
                </a:solidFill>
                <a:latin typeface="+mn-ea"/>
              </a:rPr>
              <a:t>、</a:t>
            </a:r>
            <a:r>
              <a:rPr lang="en-US" altLang="zh-CN" sz="2800" dirty="0">
                <a:solidFill>
                  <a:srgbClr val="000066"/>
                </a:solidFill>
                <a:latin typeface="+mn-ea"/>
              </a:rPr>
              <a:t>180</a:t>
            </a:r>
            <a:r>
              <a:rPr lang="zh-CN" altLang="en-US" sz="2800" dirty="0">
                <a:solidFill>
                  <a:srgbClr val="000066"/>
                </a:solidFill>
                <a:latin typeface="+mn-ea"/>
              </a:rPr>
              <a:t>、</a:t>
            </a:r>
            <a:r>
              <a:rPr lang="en-US" altLang="zh-CN" sz="2800" dirty="0">
                <a:solidFill>
                  <a:srgbClr val="000066"/>
                </a:solidFill>
                <a:latin typeface="+mn-ea"/>
              </a:rPr>
              <a:t>330</a:t>
            </a:r>
            <a:r>
              <a:rPr lang="zh-CN" altLang="en-US" sz="2800" dirty="0">
                <a:solidFill>
                  <a:srgbClr val="000066"/>
                </a:solidFill>
                <a:latin typeface="+mn-ea"/>
              </a:rPr>
              <a:t>、</a:t>
            </a:r>
            <a:r>
              <a:rPr lang="en-US" altLang="zh-CN" sz="2800" dirty="0">
                <a:solidFill>
                  <a:srgbClr val="000066"/>
                </a:solidFill>
                <a:latin typeface="+mn-ea"/>
              </a:rPr>
              <a:t>190</a:t>
            </a:r>
            <a:r>
              <a:rPr lang="zh-CN" altLang="en-US" sz="2800" dirty="0">
                <a:solidFill>
                  <a:srgbClr val="000066"/>
                </a:solidFill>
                <a:latin typeface="+mn-ea"/>
              </a:rPr>
              <a:t>。页面大小为</a:t>
            </a:r>
            <a:r>
              <a:rPr lang="en-US" altLang="zh-CN" sz="2800" dirty="0">
                <a:solidFill>
                  <a:srgbClr val="000066"/>
                </a:solidFill>
                <a:latin typeface="+mn-ea"/>
              </a:rPr>
              <a:t>128</a:t>
            </a:r>
            <a:r>
              <a:rPr lang="zh-CN" altLang="en-US" sz="2800" dirty="0">
                <a:solidFill>
                  <a:srgbClr val="000066"/>
                </a:solidFill>
                <a:latin typeface="+mn-ea"/>
              </a:rPr>
              <a:t>字节，问：</a:t>
            </a:r>
          </a:p>
          <a:p>
            <a:pPr>
              <a:lnSpc>
                <a:spcPct val="150000"/>
              </a:lnSpc>
              <a:spcBef>
                <a:spcPct val="20000"/>
              </a:spcBef>
              <a:buClr>
                <a:schemeClr val="tx2"/>
              </a:buClr>
              <a:buFont typeface="Wingdings" pitchFamily="2" charset="2"/>
              <a:buNone/>
            </a:pPr>
            <a:r>
              <a:rPr lang="zh-CN" altLang="en-US" sz="2800" dirty="0">
                <a:solidFill>
                  <a:srgbClr val="000066"/>
                </a:solidFill>
                <a:latin typeface="+mn-ea"/>
              </a:rPr>
              <a:t>   </a:t>
            </a:r>
            <a:r>
              <a:rPr lang="en-US" altLang="zh-CN" sz="2800" dirty="0">
                <a:solidFill>
                  <a:srgbClr val="000066"/>
                </a:solidFill>
                <a:latin typeface="+mn-ea"/>
              </a:rPr>
              <a:t>1</a:t>
            </a:r>
            <a:r>
              <a:rPr lang="zh-CN" altLang="en-US" sz="2800" dirty="0">
                <a:solidFill>
                  <a:srgbClr val="000066"/>
                </a:solidFill>
                <a:latin typeface="+mn-ea"/>
              </a:rPr>
              <a:t>）用</a:t>
            </a:r>
            <a:r>
              <a:rPr lang="en-US" altLang="zh-CN" sz="2800" dirty="0">
                <a:solidFill>
                  <a:srgbClr val="000066"/>
                </a:solidFill>
                <a:latin typeface="+mn-ea"/>
              </a:rPr>
              <a:t>LRU</a:t>
            </a:r>
            <a:r>
              <a:rPr lang="zh-CN" altLang="en-US" sz="2800" dirty="0">
                <a:solidFill>
                  <a:srgbClr val="000066"/>
                </a:solidFill>
                <a:latin typeface="+mn-ea"/>
              </a:rPr>
              <a:t>算法页面失效率为多少？</a:t>
            </a:r>
          </a:p>
          <a:p>
            <a:pPr>
              <a:lnSpc>
                <a:spcPct val="150000"/>
              </a:lnSpc>
              <a:spcBef>
                <a:spcPct val="20000"/>
              </a:spcBef>
              <a:buClr>
                <a:schemeClr val="tx2"/>
              </a:buClr>
              <a:buFont typeface="Wingdings" pitchFamily="2" charset="2"/>
              <a:buNone/>
            </a:pPr>
            <a:r>
              <a:rPr lang="zh-CN" altLang="en-US" sz="2800" dirty="0">
                <a:solidFill>
                  <a:srgbClr val="000066"/>
                </a:solidFill>
                <a:latin typeface="+mn-ea"/>
              </a:rPr>
              <a:t>   </a:t>
            </a:r>
            <a:r>
              <a:rPr lang="en-US" altLang="zh-CN" sz="2800" dirty="0">
                <a:solidFill>
                  <a:srgbClr val="000066"/>
                </a:solidFill>
                <a:latin typeface="+mn-ea"/>
              </a:rPr>
              <a:t>2</a:t>
            </a:r>
            <a:r>
              <a:rPr lang="zh-CN" altLang="en-US" sz="2800" dirty="0">
                <a:solidFill>
                  <a:srgbClr val="000066"/>
                </a:solidFill>
                <a:latin typeface="+mn-ea"/>
              </a:rPr>
              <a:t>）现有逻辑地址（</a:t>
            </a:r>
            <a:r>
              <a:rPr lang="en-US" altLang="zh-CN" sz="2800" dirty="0">
                <a:solidFill>
                  <a:srgbClr val="000066"/>
                </a:solidFill>
                <a:latin typeface="+mn-ea"/>
              </a:rPr>
              <a:t>1634</a:t>
            </a:r>
            <a:r>
              <a:rPr lang="zh-CN" altLang="en-US" sz="2800" dirty="0">
                <a:solidFill>
                  <a:srgbClr val="000066"/>
                </a:solidFill>
                <a:latin typeface="+mn-ea"/>
              </a:rPr>
              <a:t>）</a:t>
            </a:r>
            <a:r>
              <a:rPr lang="en-US" altLang="zh-CN" sz="2800" baseline="-25000" dirty="0">
                <a:solidFill>
                  <a:srgbClr val="000066"/>
                </a:solidFill>
                <a:latin typeface="+mn-ea"/>
              </a:rPr>
              <a:t>8</a:t>
            </a:r>
            <a:r>
              <a:rPr lang="zh-CN" altLang="en-US" sz="2800" baseline="-25000" dirty="0">
                <a:solidFill>
                  <a:srgbClr val="000066"/>
                </a:solidFill>
                <a:latin typeface="+mn-ea"/>
              </a:rPr>
              <a:t>，</a:t>
            </a:r>
            <a:r>
              <a:rPr lang="zh-CN" altLang="en-US" sz="2800" dirty="0">
                <a:solidFill>
                  <a:srgbClr val="000066"/>
                </a:solidFill>
                <a:latin typeface="+mn-ea"/>
              </a:rPr>
              <a:t>页表内容如下，它的物理地址为多少？</a:t>
            </a:r>
          </a:p>
        </p:txBody>
      </p:sp>
      <p:graphicFrame>
        <p:nvGraphicFramePr>
          <p:cNvPr id="291843" name="Group 3"/>
          <p:cNvGraphicFramePr>
            <a:graphicFrameLocks noGrp="1"/>
          </p:cNvGraphicFramePr>
          <p:nvPr>
            <p:extLst>
              <p:ext uri="{D42A27DB-BD31-4B8C-83A1-F6EECF244321}">
                <p14:modId xmlns:p14="http://schemas.microsoft.com/office/powerpoint/2010/main" val="1600113536"/>
              </p:ext>
            </p:extLst>
          </p:nvPr>
        </p:nvGraphicFramePr>
        <p:xfrm>
          <a:off x="3510737" y="4045842"/>
          <a:ext cx="2057400" cy="2624139"/>
        </p:xfrm>
        <a:graphic>
          <a:graphicData uri="http://schemas.openxmlformats.org/drawingml/2006/table">
            <a:tbl>
              <a:tblPr/>
              <a:tblGrid>
                <a:gridCol w="9525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4333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页号</a:t>
                      </a:r>
                    </a:p>
                  </a:txBody>
                  <a:tcPr marL="0" marR="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页面号</a:t>
                      </a:r>
                    </a:p>
                  </a:txBody>
                  <a:tcPr marL="0" marR="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a:t>
                      </a:r>
                    </a:p>
                  </a:txBody>
                  <a:tcPr marL="0" marR="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a:t>
                      </a:r>
                    </a:p>
                  </a:txBody>
                  <a:tcPr marL="0" marR="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603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5</a:t>
                      </a:r>
                    </a:p>
                  </a:txBody>
                  <a:tcPr marL="0" marR="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2</a:t>
                      </a:r>
                    </a:p>
                  </a:txBody>
                  <a:tcPr marL="0" marR="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33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6</a:t>
                      </a:r>
                    </a:p>
                  </a:txBody>
                  <a:tcPr marL="0" marR="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a:ln>
                            <a:noFill/>
                          </a:ln>
                          <a:solidFill>
                            <a:srgbClr val="000000"/>
                          </a:solidFill>
                          <a:effectLst/>
                          <a:latin typeface="Tahoma" pitchFamily="34" charset="0"/>
                          <a:ea typeface="黑体" pitchFamily="2" charset="-122"/>
                        </a:rPr>
                        <a:t> </a:t>
                      </a:r>
                      <a:r>
                        <a:rPr kumimoji="0" lang="en-US" altLang="zh-CN" sz="2200" b="1" i="0" u="none" strike="noStrike" cap="none" normalizeH="0" baseline="0" dirty="0">
                          <a:ln>
                            <a:noFill/>
                          </a:ln>
                          <a:solidFill>
                            <a:srgbClr val="000000"/>
                          </a:solidFill>
                          <a:effectLst/>
                          <a:latin typeface="Tahoma" pitchFamily="34" charset="0"/>
                          <a:ea typeface="黑体" pitchFamily="2" charset="-122"/>
                        </a:rPr>
                        <a:t>10</a:t>
                      </a:r>
                    </a:p>
                  </a:txBody>
                  <a:tcPr marL="0" marR="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7</a:t>
                      </a:r>
                    </a:p>
                  </a:txBody>
                  <a:tcPr marL="0" marR="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18</a:t>
                      </a:r>
                    </a:p>
                  </a:txBody>
                  <a:tcPr marL="0" marR="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333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rgbClr val="000000"/>
                          </a:solidFill>
                          <a:effectLst/>
                          <a:latin typeface="Tahoma" pitchFamily="34" charset="0"/>
                          <a:ea typeface="黑体" pitchFamily="2" charset="-122"/>
                        </a:rPr>
                        <a:t> </a:t>
                      </a:r>
                      <a:r>
                        <a:rPr kumimoji="0" lang="en-US" altLang="zh-CN" sz="2200" b="1" i="0" u="none" strike="noStrike" cap="none" normalizeH="0" baseline="0">
                          <a:ln>
                            <a:noFill/>
                          </a:ln>
                          <a:solidFill>
                            <a:srgbClr val="000000"/>
                          </a:solidFill>
                          <a:effectLst/>
                          <a:latin typeface="Tahoma" pitchFamily="34" charset="0"/>
                          <a:ea typeface="黑体" pitchFamily="2" charset="-122"/>
                        </a:rPr>
                        <a:t>……</a:t>
                      </a:r>
                    </a:p>
                  </a:txBody>
                  <a:tcPr marL="0" marR="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a:ln>
                            <a:noFill/>
                          </a:ln>
                          <a:solidFill>
                            <a:srgbClr val="000000"/>
                          </a:solidFill>
                          <a:effectLst/>
                          <a:latin typeface="Tahoma" pitchFamily="34" charset="0"/>
                          <a:ea typeface="黑体" pitchFamily="2" charset="-122"/>
                        </a:rPr>
                        <a:t>  </a:t>
                      </a:r>
                      <a:r>
                        <a:rPr kumimoji="0" lang="en-US" altLang="zh-CN" sz="2200" b="1" i="0" u="none" strike="noStrike" cap="none" normalizeH="0" baseline="0" dirty="0">
                          <a:ln>
                            <a:noFill/>
                          </a:ln>
                          <a:solidFill>
                            <a:srgbClr val="000000"/>
                          </a:solidFill>
                          <a:effectLst/>
                          <a:latin typeface="Tahoma" pitchFamily="34" charset="0"/>
                          <a:ea typeface="黑体" pitchFamily="2" charset="-122"/>
                        </a:rPr>
                        <a:t>……</a:t>
                      </a:r>
                    </a:p>
                  </a:txBody>
                  <a:tcPr marL="0" marR="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7.3 请求分段存储管理</a:t>
            </a:r>
          </a:p>
        </p:txBody>
      </p:sp>
      <p:sp>
        <p:nvSpPr>
          <p:cNvPr id="4" name="内容占位符 2"/>
          <p:cNvSpPr>
            <a:spLocks noGrp="1"/>
          </p:cNvSpPr>
          <p:nvPr/>
        </p:nvSpPr>
        <p:spPr>
          <a:xfrm>
            <a:off x="2845435" y="1322705"/>
            <a:ext cx="6755765" cy="2106296"/>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3"/>
              </a:buBlip>
            </a:pPr>
            <a:r>
              <a:rPr lang="en-US" altLang="zh-CN" sz="2800" dirty="0"/>
              <a:t> </a:t>
            </a:r>
            <a:r>
              <a:rPr lang="en-US" altLang="zh-CN" sz="2800" u="dottedHeavy" dirty="0"/>
              <a:t>7</a:t>
            </a:r>
            <a:r>
              <a:rPr lang="en-US" altLang="zh-CN" sz="2800" u="dottedHeavy" dirty="0">
                <a:solidFill>
                  <a:schemeClr val="tx1"/>
                </a:solidFill>
                <a:uFillTx/>
              </a:rPr>
              <a:t>.3.1  </a:t>
            </a:r>
            <a:r>
              <a:rPr sz="2800" u="dottedHeavy" dirty="0">
                <a:solidFill>
                  <a:schemeClr val="tx1"/>
                </a:solidFill>
                <a:uFillTx/>
              </a:rPr>
              <a:t>工作原理</a:t>
            </a:r>
          </a:p>
          <a:p>
            <a:pPr>
              <a:buBlip>
                <a:blip r:embed="rId3"/>
              </a:buBlip>
            </a:pPr>
            <a:r>
              <a:rPr sz="2800" dirty="0"/>
              <a:t> </a:t>
            </a:r>
            <a:r>
              <a:rPr lang="en-US" altLang="zh-CN" sz="2800" u="dottedHeavy" dirty="0"/>
              <a:t>7.3.2  </a:t>
            </a:r>
            <a:r>
              <a:rPr sz="2800" u="dottedHeavy" dirty="0"/>
              <a:t>段的共享与保护</a:t>
            </a:r>
            <a:endParaRPr lang="en-US" altLang="zh-CN" sz="2800" u="dottedHeavy"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7.3.1 工作原理</a:t>
            </a:r>
            <a:endParaRPr lang="zh-CN" altLang="en-US"/>
          </a:p>
        </p:txBody>
      </p:sp>
      <p:sp>
        <p:nvSpPr>
          <p:cNvPr id="3" name="内容占位符 2"/>
          <p:cNvSpPr>
            <a:spLocks noGrp="1"/>
          </p:cNvSpPr>
          <p:nvPr>
            <p:ph idx="1"/>
          </p:nvPr>
        </p:nvSpPr>
        <p:spPr>
          <a:xfrm>
            <a:off x="608330" y="1449659"/>
            <a:ext cx="10968990" cy="3951016"/>
          </a:xfrm>
        </p:spPr>
        <p:txBody>
          <a:bodyPr>
            <a:normAutofit/>
          </a:bodyPr>
          <a:lstStyle/>
          <a:p>
            <a:r>
              <a:rPr dirty="0">
                <a:solidFill>
                  <a:srgbClr val="0000FF"/>
                </a:solidFill>
                <a:sym typeface="+mn-ea"/>
              </a:rPr>
              <a:t>请求分段存储管理是在分段存储管理的基础上，增加请求调段和段置换功能的虚拟存储技术。</a:t>
            </a:r>
            <a:endParaRPr lang="zh-CN" altLang="en-US" dirty="0">
              <a:solidFill>
                <a:srgbClr val="0000FF"/>
              </a:solidFill>
            </a:endParaRPr>
          </a:p>
          <a:p>
            <a:r>
              <a:rPr dirty="0">
                <a:sym typeface="+mn-ea"/>
              </a:rPr>
              <a:t> 在请求分段存储管理系统中，一个程序运行之前，只需要</a:t>
            </a:r>
            <a:r>
              <a:rPr dirty="0">
                <a:solidFill>
                  <a:srgbClr val="FF0000"/>
                </a:solidFill>
                <a:sym typeface="+mn-ea"/>
              </a:rPr>
              <a:t>先调入部分段</a:t>
            </a:r>
            <a:r>
              <a:rPr dirty="0">
                <a:sym typeface="+mn-ea"/>
              </a:rPr>
              <a:t>，不必调入所有段, 便可启动运行。当所访问的段不在内存时，便会引发</a:t>
            </a:r>
            <a:r>
              <a:rPr dirty="0">
                <a:solidFill>
                  <a:srgbClr val="FF0000"/>
                </a:solidFill>
                <a:sym typeface="+mn-ea"/>
              </a:rPr>
              <a:t>缺段中断</a:t>
            </a:r>
            <a:r>
              <a:rPr dirty="0">
                <a:sym typeface="+mn-ea"/>
              </a:rPr>
              <a:t>，由操作系统将所缺的段</a:t>
            </a:r>
            <a:r>
              <a:rPr dirty="0">
                <a:solidFill>
                  <a:srgbClr val="FF0000"/>
                </a:solidFill>
                <a:sym typeface="+mn-ea"/>
              </a:rPr>
              <a:t>调入内存</a:t>
            </a:r>
            <a:r>
              <a:rPr dirty="0">
                <a:sym typeface="+mn-ea"/>
              </a:rPr>
              <a:t>。</a:t>
            </a:r>
            <a:endParaRPr lang="zh-CN" altLang="en-US" dirty="0"/>
          </a:p>
          <a:p>
            <a:r>
              <a:rPr dirty="0">
                <a:sym typeface="+mn-ea"/>
              </a:rPr>
              <a:t>请求分段存储管理是以长度不固定的段为单位进行置换的</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7.3.1 工作原理</a:t>
            </a:r>
          </a:p>
        </p:txBody>
      </p:sp>
      <p:sp>
        <p:nvSpPr>
          <p:cNvPr id="3" name="内容占位符 2"/>
          <p:cNvSpPr>
            <a:spLocks noGrp="1"/>
          </p:cNvSpPr>
          <p:nvPr>
            <p:ph idx="1"/>
          </p:nvPr>
        </p:nvSpPr>
        <p:spPr/>
        <p:txBody>
          <a:bodyPr/>
          <a:lstStyle/>
          <a:p>
            <a:r>
              <a:rPr lang="zh-CN" altLang="en-US" dirty="0"/>
              <a:t>与请求分页存储管理类似，实现请求分段存储管理同样面临着三个问题：</a:t>
            </a:r>
          </a:p>
          <a:p>
            <a:pPr lvl="1"/>
            <a:r>
              <a:rPr lang="zh-CN" altLang="en-US" dirty="0"/>
              <a:t>如何知道要访问的段不在内存？</a:t>
            </a:r>
          </a:p>
          <a:p>
            <a:pPr lvl="1"/>
            <a:r>
              <a:rPr lang="zh-CN" altLang="en-US" dirty="0"/>
              <a:t>发现要访问的段不在内存后怎么办？</a:t>
            </a:r>
          </a:p>
          <a:p>
            <a:pPr lvl="1"/>
            <a:r>
              <a:rPr lang="zh-CN" altLang="en-US" dirty="0"/>
              <a:t>在将缺段调入内存后，如何进行地址变换以支持进程的执行？</a:t>
            </a:r>
          </a:p>
          <a:p>
            <a:pPr lvl="0"/>
            <a:r>
              <a:rPr lang="zh-CN" altLang="en-US" dirty="0">
                <a:solidFill>
                  <a:srgbClr val="0000FF"/>
                </a:solidFill>
              </a:rPr>
              <a:t>解决的办法对应着请求分段存储管理所需的三个硬件机制：</a:t>
            </a:r>
          </a:p>
          <a:p>
            <a:pPr lvl="1"/>
            <a:r>
              <a:rPr lang="zh-CN" altLang="en-US" dirty="0">
                <a:solidFill>
                  <a:srgbClr val="0000FF"/>
                </a:solidFill>
              </a:rPr>
              <a:t>段表机制</a:t>
            </a:r>
          </a:p>
          <a:p>
            <a:pPr lvl="1"/>
            <a:r>
              <a:rPr lang="zh-CN" altLang="en-US" dirty="0">
                <a:solidFill>
                  <a:srgbClr val="0000FF"/>
                </a:solidFill>
              </a:rPr>
              <a:t>缺段中断机构</a:t>
            </a:r>
          </a:p>
          <a:p>
            <a:pPr lvl="1"/>
            <a:r>
              <a:rPr lang="zh-CN" altLang="en-US" dirty="0">
                <a:solidFill>
                  <a:srgbClr val="0000FF"/>
                </a:solidFill>
              </a:rPr>
              <a:t>地址变换机构</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7.3.1 工作原理</a:t>
            </a:r>
          </a:p>
        </p:txBody>
      </p:sp>
      <p:sp>
        <p:nvSpPr>
          <p:cNvPr id="3" name="内容占位符 2"/>
          <p:cNvSpPr>
            <a:spLocks noGrp="1"/>
          </p:cNvSpPr>
          <p:nvPr>
            <p:ph idx="1"/>
          </p:nvPr>
        </p:nvSpPr>
        <p:spPr/>
        <p:txBody>
          <a:bodyPr/>
          <a:lstStyle/>
          <a:p>
            <a:pPr marL="0" indent="0">
              <a:buNone/>
            </a:pPr>
            <a:r>
              <a:rPr lang="zh-CN" altLang="en-US" b="1" dirty="0"/>
              <a:t>1．段表机制</a:t>
            </a:r>
          </a:p>
          <a:p>
            <a:r>
              <a:rPr lang="zh-CN" altLang="en-US" dirty="0"/>
              <a:t>为了实现虚拟存储器，需要对段表进行扩充 </a:t>
            </a:r>
            <a:endParaRPr lang="zh-CN" altLang="en-US" b="1" dirty="0"/>
          </a:p>
        </p:txBody>
      </p:sp>
      <p:pic>
        <p:nvPicPr>
          <p:cNvPr id="4" name="图片 3" descr="QAVJ`GIU1ROX%3SM@0595O6"/>
          <p:cNvPicPr>
            <a:picLocks noChangeAspect="1"/>
          </p:cNvPicPr>
          <p:nvPr/>
        </p:nvPicPr>
        <p:blipFill>
          <a:blip r:embed="rId3"/>
          <a:stretch>
            <a:fillRect/>
          </a:stretch>
        </p:blipFill>
        <p:spPr>
          <a:xfrm>
            <a:off x="760095" y="2390140"/>
            <a:ext cx="9963785" cy="124523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7.3.1 工作原理</a:t>
            </a:r>
          </a:p>
        </p:txBody>
      </p:sp>
      <p:sp>
        <p:nvSpPr>
          <p:cNvPr id="3" name="内容占位符 2"/>
          <p:cNvSpPr>
            <a:spLocks noGrp="1"/>
          </p:cNvSpPr>
          <p:nvPr>
            <p:ph idx="1"/>
          </p:nvPr>
        </p:nvSpPr>
        <p:spPr>
          <a:xfrm>
            <a:off x="611505" y="2353310"/>
            <a:ext cx="10968990" cy="3896360"/>
          </a:xfrm>
        </p:spPr>
        <p:txBody>
          <a:bodyPr>
            <a:normAutofit fontScale="97500"/>
          </a:bodyPr>
          <a:lstStyle/>
          <a:p>
            <a:pPr lvl="1"/>
            <a:r>
              <a:rPr lang="zh-CN" altLang="en-US"/>
              <a:t>状态位。用于表示该段是否已调入内存。</a:t>
            </a:r>
          </a:p>
          <a:p>
            <a:pPr lvl="1"/>
            <a:r>
              <a:rPr lang="zh-CN" altLang="en-US"/>
              <a:t>外存始址。用于记录该段在外存的起始地址，即起始盘块号，供调入该段时使用。</a:t>
            </a:r>
          </a:p>
          <a:p>
            <a:pPr lvl="1"/>
            <a:r>
              <a:rPr lang="zh-CN" altLang="en-US"/>
              <a:t>访问字段。用于记录该段被访问的频繁程度，为页面置换算法淘汰段提供参考。</a:t>
            </a:r>
          </a:p>
          <a:p>
            <a:pPr lvl="1"/>
            <a:r>
              <a:rPr lang="zh-CN" altLang="en-US"/>
              <a:t>改动位。用于表示该段在进入内存后是否被改动过，供页面置换算法使用。</a:t>
            </a:r>
          </a:p>
          <a:p>
            <a:pPr lvl="1"/>
            <a:r>
              <a:rPr lang="zh-CN" altLang="en-US"/>
              <a:t>存取方式。用于标识该段的存取属性，如只执行、只读、可读/写。</a:t>
            </a:r>
          </a:p>
          <a:p>
            <a:pPr lvl="1"/>
            <a:r>
              <a:rPr lang="zh-CN" altLang="en-US"/>
              <a:t>增补位。用于表示该段在运行过程中是否做过动态增长</a:t>
            </a:r>
          </a:p>
        </p:txBody>
      </p:sp>
      <p:pic>
        <p:nvPicPr>
          <p:cNvPr id="4" name="图片 3" descr="QAVJ`GIU1ROX%3SM@0595O6"/>
          <p:cNvPicPr>
            <a:picLocks noChangeAspect="1"/>
          </p:cNvPicPr>
          <p:nvPr/>
        </p:nvPicPr>
        <p:blipFill>
          <a:blip r:embed="rId3"/>
          <a:stretch>
            <a:fillRect/>
          </a:stretch>
        </p:blipFill>
        <p:spPr>
          <a:xfrm>
            <a:off x="1189355" y="1108075"/>
            <a:ext cx="9963785" cy="124523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2．缺段中断机构</a:t>
            </a:r>
          </a:p>
        </p:txBody>
      </p:sp>
      <p:sp>
        <p:nvSpPr>
          <p:cNvPr id="3" name="内容占位符 2"/>
          <p:cNvSpPr>
            <a:spLocks noGrp="1"/>
          </p:cNvSpPr>
          <p:nvPr>
            <p:ph idx="1"/>
          </p:nvPr>
        </p:nvSpPr>
        <p:spPr>
          <a:xfrm>
            <a:off x="608330" y="1021080"/>
            <a:ext cx="2639695" cy="598170"/>
          </a:xfrm>
        </p:spPr>
        <p:txBody>
          <a:bodyPr>
            <a:normAutofit fontScale="97500"/>
          </a:bodyPr>
          <a:lstStyle/>
          <a:p>
            <a:r>
              <a:rPr lang="zh-CN" altLang="en-US" dirty="0"/>
              <a:t>工作流程：</a:t>
            </a:r>
          </a:p>
        </p:txBody>
      </p:sp>
      <p:pic>
        <p:nvPicPr>
          <p:cNvPr id="5" name="图片 4" descr="PWPO0J}BJXRZXU{IMET45A7"/>
          <p:cNvPicPr>
            <a:picLocks noChangeAspect="1"/>
          </p:cNvPicPr>
          <p:nvPr/>
        </p:nvPicPr>
        <p:blipFill>
          <a:blip r:embed="rId3"/>
          <a:stretch>
            <a:fillRect/>
          </a:stretch>
        </p:blipFill>
        <p:spPr>
          <a:xfrm>
            <a:off x="3787774" y="819970"/>
            <a:ext cx="5356225" cy="580995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3．地址变换机构</a:t>
            </a:r>
          </a:p>
        </p:txBody>
      </p:sp>
      <p:pic>
        <p:nvPicPr>
          <p:cNvPr id="4" name="图片 3" descr="E2B9%R@7~@H}D8WP1}]HIJ0"/>
          <p:cNvPicPr>
            <a:picLocks noChangeAspect="1"/>
          </p:cNvPicPr>
          <p:nvPr/>
        </p:nvPicPr>
        <p:blipFill>
          <a:blip r:embed="rId3"/>
          <a:stretch>
            <a:fillRect/>
          </a:stretch>
        </p:blipFill>
        <p:spPr>
          <a:xfrm>
            <a:off x="4855210" y="201930"/>
            <a:ext cx="4136390" cy="628775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7.3.2 段的共享与保护</a:t>
            </a:r>
            <a:endParaRPr lang="zh-CN" altLang="en-US"/>
          </a:p>
        </p:txBody>
      </p:sp>
      <p:sp>
        <p:nvSpPr>
          <p:cNvPr id="3" name="内容占位符 2"/>
          <p:cNvSpPr>
            <a:spLocks noGrp="1"/>
          </p:cNvSpPr>
          <p:nvPr>
            <p:ph idx="1"/>
          </p:nvPr>
        </p:nvSpPr>
        <p:spPr/>
        <p:txBody>
          <a:bodyPr/>
          <a:lstStyle/>
          <a:p>
            <a:pPr marL="0" indent="0">
              <a:buNone/>
            </a:pPr>
            <a:r>
              <a:rPr b="1" dirty="0">
                <a:sym typeface="+mn-ea"/>
              </a:rPr>
              <a:t>1</a:t>
            </a:r>
            <a:r>
              <a:rPr lang="en-US" altLang="zh-CN" b="1" dirty="0">
                <a:sym typeface="+mn-ea"/>
              </a:rPr>
              <a:t>. </a:t>
            </a:r>
            <a:r>
              <a:rPr b="1" dirty="0">
                <a:sym typeface="+mn-ea"/>
              </a:rPr>
              <a:t>段的共享</a:t>
            </a:r>
            <a:endParaRPr lang="zh-CN" altLang="en-US" b="1" dirty="0"/>
          </a:p>
          <a:p>
            <a:r>
              <a:rPr dirty="0">
                <a:sym typeface="+mn-ea"/>
              </a:rPr>
              <a:t>如果多个进程执行同一部分代码，在第一个进程执行共享代码时，将该共享代码装入内存；</a:t>
            </a:r>
            <a:r>
              <a:rPr lang="zh-CN" altLang="en-US" dirty="0">
                <a:sym typeface="+mn-ea"/>
              </a:rPr>
              <a:t>之后</a:t>
            </a:r>
            <a:r>
              <a:rPr dirty="0">
                <a:sym typeface="+mn-ea"/>
              </a:rPr>
              <a:t>就不再重复装入。</a:t>
            </a:r>
          </a:p>
          <a:p>
            <a:r>
              <a:rPr dirty="0">
                <a:sym typeface="+mn-ea"/>
              </a:rPr>
              <a:t>系统不允许进程执行期间对共享代码进行修改。</a:t>
            </a:r>
            <a:endParaRPr lang="zh-CN" altLang="en-US" dirty="0"/>
          </a:p>
          <a:p>
            <a:r>
              <a:rPr dirty="0">
                <a:sym typeface="+mn-ea"/>
              </a:rPr>
              <a:t>为此，共享代码在每个进程中都配备了一个局部的数据段，把在执行中可能改变的部分复制到该数据段中。这样，进程的执行只修改了该数据段存放的备份内容，并未改变共享代码。</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7.3.2 段的共享与保护</a:t>
            </a:r>
            <a:endParaRPr lang="zh-CN" altLang="en-US"/>
          </a:p>
        </p:txBody>
      </p:sp>
      <p:sp>
        <p:nvSpPr>
          <p:cNvPr id="3" name="内容占位符 2"/>
          <p:cNvSpPr>
            <a:spLocks noGrp="1"/>
          </p:cNvSpPr>
          <p:nvPr>
            <p:ph idx="1"/>
          </p:nvPr>
        </p:nvSpPr>
        <p:spPr>
          <a:xfrm>
            <a:off x="608330" y="1021081"/>
            <a:ext cx="10968990" cy="1264920"/>
          </a:xfrm>
        </p:spPr>
        <p:txBody>
          <a:bodyPr>
            <a:normAutofit fontScale="92500" lnSpcReduction="20000"/>
          </a:bodyPr>
          <a:lstStyle/>
          <a:p>
            <a:r>
              <a:rPr lang="zh-CN" altLang="en-US" dirty="0"/>
              <a:t>请求分段存储管理以段为单位进行信息共享。实现上，系统只需在每个进程的段表中为共享代码添加一个段表项，然后设置该段表项的段始址指向共享代码在内存的副本。</a:t>
            </a:r>
          </a:p>
        </p:txBody>
      </p:sp>
      <p:pic>
        <p:nvPicPr>
          <p:cNvPr id="4" name="图片 3" descr="BHZ3XP3W0R%ZF}]ACF8_SS9"/>
          <p:cNvPicPr>
            <a:picLocks noChangeAspect="1"/>
          </p:cNvPicPr>
          <p:nvPr/>
        </p:nvPicPr>
        <p:blipFill>
          <a:blip r:embed="rId3"/>
          <a:stretch>
            <a:fillRect/>
          </a:stretch>
        </p:blipFill>
        <p:spPr>
          <a:xfrm>
            <a:off x="2762250" y="2396982"/>
            <a:ext cx="6086475" cy="3959368"/>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7.3.2 段的共享与保护</a:t>
            </a:r>
            <a:endParaRPr lang="zh-CN" altLang="en-US"/>
          </a:p>
        </p:txBody>
      </p:sp>
      <p:sp>
        <p:nvSpPr>
          <p:cNvPr id="3" name="内容占位符 2"/>
          <p:cNvSpPr>
            <a:spLocks noGrp="1"/>
          </p:cNvSpPr>
          <p:nvPr>
            <p:ph idx="1"/>
          </p:nvPr>
        </p:nvSpPr>
        <p:spPr>
          <a:xfrm>
            <a:off x="608330" y="1021080"/>
            <a:ext cx="10968990" cy="1988820"/>
          </a:xfrm>
        </p:spPr>
        <p:txBody>
          <a:bodyPr>
            <a:noAutofit/>
          </a:bodyPr>
          <a:lstStyle/>
          <a:p>
            <a:r>
              <a:rPr lang="zh-CN" altLang="en-US" sz="2200" dirty="0"/>
              <a:t>为了完成共享段的分配和回收，需要在系统中设置一张</a:t>
            </a:r>
            <a:r>
              <a:rPr lang="zh-CN" altLang="en-US" sz="2200" dirty="0">
                <a:solidFill>
                  <a:srgbClr val="FF0000"/>
                </a:solidFill>
              </a:rPr>
              <a:t>共享段表</a:t>
            </a:r>
            <a:r>
              <a:rPr lang="zh-CN" altLang="en-US" sz="2200" dirty="0"/>
              <a:t>，所有共享段都在共享段表中占有一个表项。</a:t>
            </a:r>
          </a:p>
          <a:p>
            <a:r>
              <a:rPr lang="zh-CN" altLang="en-US" sz="2200" dirty="0"/>
              <a:t>共享段表的表项中记录了共享段的段名、段长、内存始址、状态、外存始址，还记录了共享进程计数count 及每个进程的情况，如进程名、进程号、该共享段在该进程中的段号等信息。</a:t>
            </a:r>
          </a:p>
        </p:txBody>
      </p:sp>
      <p:pic>
        <p:nvPicPr>
          <p:cNvPr id="4" name="图片 3" descr="M`9__ODPF_$BFXH@4`40V$3"/>
          <p:cNvPicPr>
            <a:picLocks noChangeAspect="1"/>
          </p:cNvPicPr>
          <p:nvPr/>
        </p:nvPicPr>
        <p:blipFill>
          <a:blip r:embed="rId3"/>
          <a:stretch>
            <a:fillRect/>
          </a:stretch>
        </p:blipFill>
        <p:spPr>
          <a:xfrm>
            <a:off x="4696464" y="3009900"/>
            <a:ext cx="6887206" cy="3496945"/>
          </a:xfrm>
          <a:prstGeom prst="rect">
            <a:avLst/>
          </a:prstGeom>
        </p:spPr>
      </p:pic>
      <p:sp>
        <p:nvSpPr>
          <p:cNvPr id="5" name="矩形: 圆角 4">
            <a:extLst>
              <a:ext uri="{FF2B5EF4-FFF2-40B4-BE49-F238E27FC236}">
                <a16:creationId xmlns:a16="http://schemas.microsoft.com/office/drawing/2014/main" id="{6B05CF4D-6911-4FF4-9889-E47BB46333B8}"/>
              </a:ext>
            </a:extLst>
          </p:cNvPr>
          <p:cNvSpPr/>
          <p:nvPr/>
        </p:nvSpPr>
        <p:spPr>
          <a:xfrm>
            <a:off x="7904258" y="3787739"/>
            <a:ext cx="2552700" cy="33337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7.3.2 段的共享与保护</a:t>
            </a:r>
            <a:endParaRPr lang="zh-CN" altLang="en-US"/>
          </a:p>
        </p:txBody>
      </p:sp>
      <p:sp>
        <p:nvSpPr>
          <p:cNvPr id="3" name="内容占位符 2"/>
          <p:cNvSpPr>
            <a:spLocks noGrp="1"/>
          </p:cNvSpPr>
          <p:nvPr>
            <p:ph idx="1"/>
          </p:nvPr>
        </p:nvSpPr>
        <p:spPr>
          <a:xfrm>
            <a:off x="608330" y="1021080"/>
            <a:ext cx="10968990" cy="4808220"/>
          </a:xfrm>
        </p:spPr>
        <p:txBody>
          <a:bodyPr>
            <a:normAutofit/>
          </a:bodyPr>
          <a:lstStyle/>
          <a:p>
            <a:pPr marL="0" indent="0">
              <a:buNone/>
            </a:pPr>
            <a:r>
              <a:rPr lang="zh-CN" altLang="en-US" b="1" dirty="0"/>
              <a:t>2</a:t>
            </a:r>
            <a:r>
              <a:rPr lang="en-US" altLang="zh-CN" b="1" dirty="0"/>
              <a:t>. </a:t>
            </a:r>
            <a:r>
              <a:rPr lang="zh-CN" altLang="en-US" b="1" dirty="0"/>
              <a:t>分段保护</a:t>
            </a:r>
          </a:p>
          <a:p>
            <a:r>
              <a:rPr lang="zh-CN" altLang="en-US" dirty="0"/>
              <a:t>以段为单位便于实现信息保护，分段保护常采用以下几种措施</a:t>
            </a:r>
            <a:r>
              <a:rPr lang="en-US" altLang="zh-CN" dirty="0"/>
              <a:t>:</a:t>
            </a:r>
            <a:endParaRPr lang="zh-CN" altLang="en-US" dirty="0"/>
          </a:p>
          <a:p>
            <a:pPr lvl="1"/>
            <a:r>
              <a:rPr lang="zh-CN" altLang="en-US" b="1" dirty="0"/>
              <a:t>越界保护</a:t>
            </a:r>
            <a:r>
              <a:rPr lang="zh-CN" altLang="en-US" dirty="0"/>
              <a:t>。通过段表寄存器存放的段表长度、段表中每个段表项的段长字段实现越界保护。 </a:t>
            </a:r>
          </a:p>
          <a:p>
            <a:pPr lvl="1"/>
            <a:r>
              <a:rPr lang="zh-CN" altLang="en-US" b="1" dirty="0"/>
              <a:t>存取控制保护</a:t>
            </a:r>
            <a:r>
              <a:rPr lang="zh-CN" altLang="en-US" dirty="0"/>
              <a:t>。通过扩充段表设置一个存取控制字段，实现对每个段的存取控制保护。通常的存取控制保护有：</a:t>
            </a:r>
          </a:p>
          <a:p>
            <a:pPr lvl="2"/>
            <a:r>
              <a:rPr lang="zh-CN" altLang="en-US" sz="2000" dirty="0"/>
              <a:t>只读（只允许对该段进行读访问，不允许写）</a:t>
            </a:r>
          </a:p>
          <a:p>
            <a:pPr lvl="2"/>
            <a:r>
              <a:rPr lang="zh-CN" altLang="en-US" sz="2000" dirty="0"/>
              <a:t>只执行（只允许调用该段执行，不允许读或写）</a:t>
            </a:r>
          </a:p>
          <a:p>
            <a:pPr lvl="2"/>
            <a:r>
              <a:rPr lang="zh-CN" altLang="en-US" sz="2000" dirty="0"/>
              <a:t>读/写（允许对该段进行读或写访问，不允许执行）</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A846F7-3F20-BC05-C0A7-FDA628B30DAC}"/>
              </a:ext>
            </a:extLst>
          </p:cNvPr>
          <p:cNvSpPr>
            <a:spLocks noGrp="1"/>
          </p:cNvSpPr>
          <p:nvPr>
            <p:ph type="title"/>
          </p:nvPr>
        </p:nvSpPr>
        <p:spPr>
          <a:xfrm>
            <a:off x="608330" y="843109"/>
            <a:ext cx="8337962" cy="705600"/>
          </a:xfrm>
        </p:spPr>
        <p:txBody>
          <a:bodyPr/>
          <a:lstStyle/>
          <a:p>
            <a:r>
              <a:rPr lang="zh-CN" altLang="en-US" dirty="0"/>
              <a:t>练习</a:t>
            </a:r>
          </a:p>
        </p:txBody>
      </p:sp>
      <p:sp>
        <p:nvSpPr>
          <p:cNvPr id="3" name="内容占位符 2">
            <a:extLst>
              <a:ext uri="{FF2B5EF4-FFF2-40B4-BE49-F238E27FC236}">
                <a16:creationId xmlns:a16="http://schemas.microsoft.com/office/drawing/2014/main" id="{104CC020-AF93-B8A4-FDEC-3DF0755AC61E}"/>
              </a:ext>
            </a:extLst>
          </p:cNvPr>
          <p:cNvSpPr>
            <a:spLocks noGrp="1"/>
          </p:cNvSpPr>
          <p:nvPr>
            <p:ph idx="1"/>
          </p:nvPr>
        </p:nvSpPr>
        <p:spPr>
          <a:xfrm>
            <a:off x="608330" y="1878226"/>
            <a:ext cx="10968990" cy="4371443"/>
          </a:xfrm>
        </p:spPr>
        <p:txBody>
          <a:bodyPr>
            <a:normAutofit lnSpcReduction="10000"/>
          </a:bodyPr>
          <a:lstStyle/>
          <a:p>
            <a:pPr algn="just">
              <a:buNone/>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进程</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R</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S</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共享数据</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 data</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，若</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 data</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R</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S</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中所在页的页号分别为</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，两个页所对应的</a:t>
            </a:r>
            <a:r>
              <a:rPr lang="zh-CN" altLang="en-US" sz="2800" kern="100" dirty="0">
                <a:effectLst/>
                <a:latin typeface="等线" panose="02010600030101010101" pitchFamily="2" charset="-122"/>
                <a:ea typeface="等线" panose="02010600030101010101" pitchFamily="2" charset="-122"/>
                <a:cs typeface="Times New Roman" panose="02020603050405020304" pitchFamily="18" charset="0"/>
              </a:rPr>
              <a:t>块</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号分别为</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，则下列叙述中，正确的是</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buNone/>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A.p1 </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p2 </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一定相等，</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一定相等</a:t>
            </a:r>
          </a:p>
          <a:p>
            <a:pPr algn="just">
              <a:buNone/>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B.p1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一定相等，</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不一定相等</a:t>
            </a:r>
          </a:p>
          <a:p>
            <a:pPr algn="just">
              <a:buNone/>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C.p1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不一定相等，</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一定相等</a:t>
            </a:r>
          </a:p>
          <a:p>
            <a:pPr marL="0" indent="0" algn="just">
              <a:buNone/>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D.p1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不一定相等，</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f1</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f2</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不一定相等</a:t>
            </a:r>
          </a:p>
          <a:p>
            <a:endParaRPr lang="zh-CN" altLang="en-US" sz="3600" dirty="0"/>
          </a:p>
        </p:txBody>
      </p:sp>
    </p:spTree>
    <p:extLst>
      <p:ext uri="{BB962C8B-B14F-4D97-AF65-F5344CB8AC3E}">
        <p14:creationId xmlns:p14="http://schemas.microsoft.com/office/powerpoint/2010/main" val="76001544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066F381-B9D9-AD06-4C9B-9E3ADF9906C1}"/>
              </a:ext>
            </a:extLst>
          </p:cNvPr>
          <p:cNvSpPr>
            <a:spLocks noGrp="1"/>
          </p:cNvSpPr>
          <p:nvPr>
            <p:ph idx="1"/>
          </p:nvPr>
        </p:nvSpPr>
        <p:spPr>
          <a:xfrm>
            <a:off x="608330" y="1532238"/>
            <a:ext cx="10968990" cy="3978876"/>
          </a:xfrm>
        </p:spPr>
        <p:txBody>
          <a:bodyPr/>
          <a:lstStyle/>
          <a:p>
            <a:pPr marL="0" indent="0">
              <a:buNone/>
            </a:pPr>
            <a:r>
              <a:rPr lang="en-US" altLang="zh-CN" dirty="0"/>
              <a:t>2. </a:t>
            </a:r>
            <a:r>
              <a:rPr lang="zh-CN" altLang="en-US" dirty="0"/>
              <a:t>对于采用虚拟内存管理方式的系统，下列关于进程虚拟地址空间的叙述中，错误的是</a:t>
            </a:r>
            <a:r>
              <a:rPr lang="en-US" altLang="zh-CN" dirty="0"/>
              <a:t>()</a:t>
            </a:r>
            <a:r>
              <a:rPr lang="zh-CN" altLang="en-US" dirty="0"/>
              <a:t>。</a:t>
            </a:r>
            <a:endParaRPr lang="en-US" altLang="zh-CN" dirty="0"/>
          </a:p>
          <a:p>
            <a:pPr marL="457200" indent="-457200">
              <a:buClr>
                <a:srgbClr val="002060"/>
              </a:buClr>
              <a:buSzPct val="101000"/>
              <a:buFont typeface="+mj-lt"/>
              <a:buAutoNum type="alphaUcPeriod"/>
            </a:pPr>
            <a:r>
              <a:rPr lang="zh-CN" altLang="en-US" dirty="0"/>
              <a:t>每个进程都有自己独立的虚拟地址空间</a:t>
            </a:r>
            <a:endParaRPr lang="en-US" altLang="zh-CN" dirty="0"/>
          </a:p>
          <a:p>
            <a:pPr marL="457200" indent="-457200">
              <a:buClr>
                <a:srgbClr val="002060"/>
              </a:buClr>
              <a:buSzPct val="101000"/>
              <a:buFont typeface="+mj-lt"/>
              <a:buAutoNum type="alphaUcPeriod"/>
            </a:pPr>
            <a:r>
              <a:rPr lang="en-US" altLang="zh-CN" dirty="0"/>
              <a:t>C</a:t>
            </a:r>
            <a:r>
              <a:rPr lang="zh-CN" altLang="en-US" dirty="0"/>
              <a:t>语言中</a:t>
            </a:r>
            <a:r>
              <a:rPr lang="en-US" altLang="zh-CN" dirty="0"/>
              <a:t>malloc</a:t>
            </a:r>
            <a:r>
              <a:rPr lang="zh-CN" altLang="en-US" dirty="0"/>
              <a:t>函数返回的是虚拟地址</a:t>
            </a:r>
            <a:endParaRPr lang="en-US" altLang="zh-CN" dirty="0"/>
          </a:p>
          <a:p>
            <a:pPr marL="457200" indent="-457200">
              <a:buClr>
                <a:srgbClr val="002060"/>
              </a:buClr>
              <a:buSzPct val="101000"/>
              <a:buFont typeface="+mj-lt"/>
              <a:buAutoNum type="alphaUcPeriod"/>
            </a:pPr>
            <a:r>
              <a:rPr lang="zh-CN" altLang="en-US" dirty="0"/>
              <a:t>进程对数据段和代码段可以有不同的访问权限</a:t>
            </a:r>
            <a:endParaRPr lang="en-US" altLang="zh-CN" dirty="0"/>
          </a:p>
          <a:p>
            <a:pPr marL="457200" indent="-457200">
              <a:buClr>
                <a:srgbClr val="002060"/>
              </a:buClr>
              <a:buSzPct val="101000"/>
              <a:buFont typeface="+mj-lt"/>
              <a:buAutoNum type="alphaUcPeriod"/>
            </a:pPr>
            <a:r>
              <a:rPr lang="zh-CN" altLang="en-US" dirty="0"/>
              <a:t>虚拟地址空间的大小由内存和硬盘的大小决定</a:t>
            </a:r>
          </a:p>
        </p:txBody>
      </p:sp>
    </p:spTree>
    <p:extLst>
      <p:ext uri="{BB962C8B-B14F-4D97-AF65-F5344CB8AC3E}">
        <p14:creationId xmlns:p14="http://schemas.microsoft.com/office/powerpoint/2010/main" val="3885979532"/>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小结</a:t>
            </a:r>
          </a:p>
        </p:txBody>
      </p:sp>
      <p:sp>
        <p:nvSpPr>
          <p:cNvPr id="3" name="内容占位符 2"/>
          <p:cNvSpPr>
            <a:spLocks noGrp="1"/>
          </p:cNvSpPr>
          <p:nvPr>
            <p:ph idx="1"/>
          </p:nvPr>
        </p:nvSpPr>
        <p:spPr>
          <a:xfrm>
            <a:off x="608330" y="1021080"/>
            <a:ext cx="10968990" cy="3037964"/>
          </a:xfrm>
        </p:spPr>
        <p:txBody>
          <a:bodyPr>
            <a:normAutofit/>
          </a:bodyPr>
          <a:lstStyle/>
          <a:p>
            <a:r>
              <a:rPr lang="zh-CN" altLang="en-US" dirty="0"/>
              <a:t>调查建议：</a:t>
            </a:r>
            <a:endParaRPr lang="en-US" altLang="zh-CN" dirty="0"/>
          </a:p>
          <a:p>
            <a:pPr marL="0" indent="0">
              <a:buNone/>
            </a:pPr>
            <a:r>
              <a:rPr lang="en-US" altLang="zh-CN" dirty="0"/>
              <a:t>  </a:t>
            </a:r>
            <a:r>
              <a:rPr lang="zh-CN" altLang="en-US" dirty="0"/>
              <a:t>某一款操作系统，比如</a:t>
            </a:r>
            <a:r>
              <a:rPr lang="en-US" altLang="zh-CN" dirty="0" err="1"/>
              <a:t>openEuler</a:t>
            </a:r>
            <a:r>
              <a:rPr lang="zh-CN" altLang="en-US" dirty="0"/>
              <a:t>、</a:t>
            </a:r>
            <a:r>
              <a:rPr lang="en-US" altLang="zh-CN" dirty="0"/>
              <a:t>CentOS</a:t>
            </a:r>
            <a:r>
              <a:rPr lang="zh-CN" altLang="en-US" dirty="0"/>
              <a:t>的内存管理方式？</a:t>
            </a:r>
            <a:endParaRPr lang="en-US" altLang="zh-CN" dirty="0"/>
          </a:p>
          <a:p>
            <a:pPr marL="0" indent="0">
              <a:buNone/>
            </a:pPr>
            <a:r>
              <a:rPr lang="en-US" altLang="zh-CN" dirty="0"/>
              <a:t>  </a:t>
            </a:r>
            <a:r>
              <a:rPr lang="zh-CN" altLang="en-US" dirty="0"/>
              <a:t>页面置换算法的实现方式？据说</a:t>
            </a:r>
            <a:r>
              <a:rPr lang="en-US" altLang="zh-CN" dirty="0" err="1"/>
              <a:t>openEuler</a:t>
            </a:r>
            <a:r>
              <a:rPr lang="zh-CN" altLang="en-US" dirty="0"/>
              <a:t>采用的是</a:t>
            </a:r>
            <a:r>
              <a:rPr lang="en-US" altLang="zh-CN" dirty="0"/>
              <a:t>LRU</a:t>
            </a:r>
            <a:r>
              <a:rPr lang="zh-CN" altLang="en-US" dirty="0"/>
              <a:t>策略。</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a:sym typeface="+mn-ea"/>
              </a:rPr>
              <a:t>小结</a:t>
            </a:r>
            <a:endParaRPr lang="zh-CN" altLang="en-US"/>
          </a:p>
        </p:txBody>
      </p:sp>
      <p:pic>
        <p:nvPicPr>
          <p:cNvPr id="3" name="图片 2" descr="H8BGN@P3)CS)X7799GIR)G4"/>
          <p:cNvPicPr>
            <a:picLocks noChangeAspect="1"/>
          </p:cNvPicPr>
          <p:nvPr/>
        </p:nvPicPr>
        <p:blipFill>
          <a:blip r:embed="rId3"/>
          <a:stretch>
            <a:fillRect/>
          </a:stretch>
        </p:blipFill>
        <p:spPr>
          <a:xfrm>
            <a:off x="125685" y="1412965"/>
            <a:ext cx="11940630" cy="2365821"/>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形用户界面&#10;&#10;描述已自动生成">
            <a:extLst>
              <a:ext uri="{FF2B5EF4-FFF2-40B4-BE49-F238E27FC236}">
                <a16:creationId xmlns:a16="http://schemas.microsoft.com/office/drawing/2014/main" id="{77127DA1-06F7-4D24-A5E1-3BB875C16C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487" y="1071452"/>
            <a:ext cx="9979927" cy="5371362"/>
          </a:xfrm>
          <a:prstGeom prst="rect">
            <a:avLst/>
          </a:prstGeom>
        </p:spPr>
      </p:pic>
      <p:sp>
        <p:nvSpPr>
          <p:cNvPr id="6" name="文本框 5">
            <a:extLst>
              <a:ext uri="{FF2B5EF4-FFF2-40B4-BE49-F238E27FC236}">
                <a16:creationId xmlns:a16="http://schemas.microsoft.com/office/drawing/2014/main" id="{CCD28FA1-E2B3-46F5-8FF6-6EC2171780B7}"/>
              </a:ext>
            </a:extLst>
          </p:cNvPr>
          <p:cNvSpPr txBox="1"/>
          <p:nvPr/>
        </p:nvSpPr>
        <p:spPr>
          <a:xfrm>
            <a:off x="1248937" y="278780"/>
            <a:ext cx="2029522" cy="584775"/>
          </a:xfrm>
          <a:prstGeom prst="rect">
            <a:avLst/>
          </a:prstGeom>
          <a:noFill/>
        </p:spPr>
        <p:txBody>
          <a:bodyPr wrap="square" rtlCol="0">
            <a:spAutoFit/>
          </a:bodyPr>
          <a:lstStyle/>
          <a:p>
            <a:r>
              <a:rPr lang="zh-CN" altLang="en-US" sz="3200" dirty="0"/>
              <a:t>本章小结</a:t>
            </a:r>
          </a:p>
        </p:txBody>
      </p:sp>
    </p:spTree>
    <p:extLst>
      <p:ext uri="{BB962C8B-B14F-4D97-AF65-F5344CB8AC3E}">
        <p14:creationId xmlns:p14="http://schemas.microsoft.com/office/powerpoint/2010/main" val="207811313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1248</TotalTime>
  <Words>3003</Words>
  <Application>Microsoft Office PowerPoint</Application>
  <PresentationFormat>宽屏</PresentationFormat>
  <Paragraphs>307</Paragraphs>
  <Slides>55</Slides>
  <Notes>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64" baseType="lpstr">
      <vt:lpstr>等线</vt:lpstr>
      <vt:lpstr>仿宋</vt:lpstr>
      <vt:lpstr>楷体</vt:lpstr>
      <vt:lpstr>Arial</vt:lpstr>
      <vt:lpstr>Calibri</vt:lpstr>
      <vt:lpstr>Tahoma</vt:lpstr>
      <vt:lpstr>Wingdings</vt:lpstr>
      <vt:lpstr>Office 主题​​</vt:lpstr>
      <vt:lpstr>Visio.Drawing.11</vt:lpstr>
      <vt:lpstr>第7章  虚拟存储管理</vt:lpstr>
      <vt:lpstr>存储管理方式</vt:lpstr>
      <vt:lpstr>本章目录</vt:lpstr>
      <vt:lpstr>PowerPoint 演示文稿</vt:lpstr>
      <vt:lpstr>7.1  虚拟存储器的基本概念</vt:lpstr>
      <vt:lpstr>7.1.1  引入背景</vt:lpstr>
      <vt:lpstr>7.1.1  引入背景</vt:lpstr>
      <vt:lpstr>7.1.2 虚拟存储器</vt:lpstr>
      <vt:lpstr>7.1.2 虚拟存储器</vt:lpstr>
      <vt:lpstr>7.1.2 虚拟存储器</vt:lpstr>
      <vt:lpstr>7.1.2 虚拟存储器</vt:lpstr>
      <vt:lpstr>练习</vt:lpstr>
      <vt:lpstr>练习</vt:lpstr>
      <vt:lpstr>7.2  请求分页存储管理</vt:lpstr>
      <vt:lpstr>7.2.1工作原理</vt:lpstr>
      <vt:lpstr>7.2.1工作原理</vt:lpstr>
      <vt:lpstr>7.2.1工作原理</vt:lpstr>
      <vt:lpstr>7.2.1工作原理</vt:lpstr>
      <vt:lpstr>7.2.1工作原理</vt:lpstr>
      <vt:lpstr>PowerPoint 演示文稿</vt:lpstr>
      <vt:lpstr>7.2.2 驻留集管理</vt:lpstr>
      <vt:lpstr>7.2.2 驻留集管理</vt:lpstr>
      <vt:lpstr>7.2.2 驻留集管理</vt:lpstr>
      <vt:lpstr>7.2.2 驻留集管理</vt:lpstr>
      <vt:lpstr>7.2.2 驻留集管理</vt:lpstr>
      <vt:lpstr>7.2.3 调页策略</vt:lpstr>
      <vt:lpstr>7.2.4 页面置换算法</vt:lpstr>
      <vt:lpstr>PowerPoint 演示文稿</vt:lpstr>
      <vt:lpstr>1．最佳页面置换算法</vt:lpstr>
      <vt:lpstr>1．最佳页面置换算法</vt:lpstr>
      <vt:lpstr>2．先进先出置换算法</vt:lpstr>
      <vt:lpstr>2．先进先出置换算法</vt:lpstr>
      <vt:lpstr>3．最近最久未使用置换算法</vt:lpstr>
      <vt:lpstr>3．最近最久未使用置换算法</vt:lpstr>
      <vt:lpstr>4．Clock 置换算法</vt:lpstr>
      <vt:lpstr>4．Clock 置换算法</vt:lpstr>
      <vt:lpstr>4．Clock 置换算法</vt:lpstr>
      <vt:lpstr>4．Clock 置换算法</vt:lpstr>
      <vt:lpstr>PowerPoint 演示文稿</vt:lpstr>
      <vt:lpstr>7.3 请求分段存储管理</vt:lpstr>
      <vt:lpstr>7.3.1 工作原理</vt:lpstr>
      <vt:lpstr>7.3.1 工作原理</vt:lpstr>
      <vt:lpstr>7.3.1 工作原理</vt:lpstr>
      <vt:lpstr>7.3.1 工作原理</vt:lpstr>
      <vt:lpstr>2．缺段中断机构</vt:lpstr>
      <vt:lpstr>3．地址变换机构</vt:lpstr>
      <vt:lpstr>7.3.2 段的共享与保护</vt:lpstr>
      <vt:lpstr>7.3.2 段的共享与保护</vt:lpstr>
      <vt:lpstr>7.3.2 段的共享与保护</vt:lpstr>
      <vt:lpstr>7.3.2 段的共享与保护</vt:lpstr>
      <vt:lpstr>练习</vt:lpstr>
      <vt:lpstr>PowerPoint 演示文稿</vt:lpstr>
      <vt:lpstr>小结</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虚拟存储管理</dc:title>
  <dc:creator/>
  <cp:lastModifiedBy>Z33789</cp:lastModifiedBy>
  <cp:revision>670</cp:revision>
  <dcterms:created xsi:type="dcterms:W3CDTF">2019-06-19T02:08:00Z</dcterms:created>
  <dcterms:modified xsi:type="dcterms:W3CDTF">2025-11-23T12:15:08Z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