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heme/theme2.xml" ContentType="application/vnd.openxmlformats-officedocument.theme+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notesSlides/notesSlide1.xml" ContentType="application/vnd.openxmlformats-officedocument.presentationml.notesSlide+xml"/>
  <Override PartName="/ppt/tags/tag74.xml" ContentType="application/vnd.openxmlformats-officedocument.presentationml.tags+xml"/>
  <Override PartName="/ppt/notesSlides/notesSlide2.xml" ContentType="application/vnd.openxmlformats-officedocument.presentationml.notesSlide+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1"/>
  </p:notesMasterIdLst>
  <p:sldIdLst>
    <p:sldId id="427" r:id="rId2"/>
    <p:sldId id="667" r:id="rId3"/>
    <p:sldId id="669" r:id="rId4"/>
    <p:sldId id="670" r:id="rId5"/>
    <p:sldId id="671" r:id="rId6"/>
    <p:sldId id="672" r:id="rId7"/>
    <p:sldId id="673" r:id="rId8"/>
    <p:sldId id="678" r:id="rId9"/>
    <p:sldId id="679" r:id="rId10"/>
    <p:sldId id="680" r:id="rId11"/>
    <p:sldId id="681" r:id="rId12"/>
    <p:sldId id="683" r:id="rId13"/>
    <p:sldId id="685" r:id="rId14"/>
    <p:sldId id="686" r:id="rId15"/>
    <p:sldId id="687" r:id="rId16"/>
    <p:sldId id="690" r:id="rId17"/>
    <p:sldId id="692" r:id="rId18"/>
    <p:sldId id="693" r:id="rId19"/>
    <p:sldId id="694" r:id="rId20"/>
    <p:sldId id="696" r:id="rId21"/>
    <p:sldId id="698" r:id="rId22"/>
    <p:sldId id="700" r:id="rId23"/>
    <p:sldId id="702" r:id="rId24"/>
    <p:sldId id="704" r:id="rId25"/>
    <p:sldId id="651" r:id="rId26"/>
    <p:sldId id="652" r:id="rId27"/>
    <p:sldId id="653" r:id="rId28"/>
    <p:sldId id="727" r:id="rId29"/>
    <p:sldId id="706" r:id="rId30"/>
    <p:sldId id="707" r:id="rId31"/>
    <p:sldId id="709" r:id="rId32"/>
    <p:sldId id="710" r:id="rId33"/>
    <p:sldId id="711" r:id="rId34"/>
    <p:sldId id="713" r:id="rId35"/>
    <p:sldId id="715" r:id="rId36"/>
    <p:sldId id="717" r:id="rId37"/>
    <p:sldId id="718" r:id="rId38"/>
    <p:sldId id="720" r:id="rId39"/>
    <p:sldId id="722" r:id="rId40"/>
    <p:sldId id="721" r:id="rId41"/>
    <p:sldId id="728" r:id="rId42"/>
    <p:sldId id="732" r:id="rId43"/>
    <p:sldId id="736" r:id="rId44"/>
    <p:sldId id="733" r:id="rId45"/>
    <p:sldId id="735" r:id="rId46"/>
    <p:sldId id="737" r:id="rId47"/>
    <p:sldId id="740" r:id="rId48"/>
    <p:sldId id="741" r:id="rId49"/>
    <p:sldId id="743" r:id="rId50"/>
    <p:sldId id="744" r:id="rId51"/>
    <p:sldId id="746" r:id="rId52"/>
    <p:sldId id="747" r:id="rId53"/>
    <p:sldId id="749" r:id="rId54"/>
    <p:sldId id="750" r:id="rId55"/>
    <p:sldId id="752" r:id="rId56"/>
    <p:sldId id="753" r:id="rId57"/>
    <p:sldId id="757" r:id="rId58"/>
    <p:sldId id="758" r:id="rId59"/>
    <p:sldId id="729" r:id="rId60"/>
    <p:sldId id="759" r:id="rId61"/>
    <p:sldId id="761" r:id="rId62"/>
    <p:sldId id="763" r:id="rId63"/>
    <p:sldId id="764" r:id="rId64"/>
    <p:sldId id="765" r:id="rId65"/>
    <p:sldId id="766" r:id="rId66"/>
    <p:sldId id="770" r:id="rId67"/>
    <p:sldId id="771" r:id="rId68"/>
    <p:sldId id="772" r:id="rId69"/>
    <p:sldId id="775" r:id="rId70"/>
    <p:sldId id="776" r:id="rId71"/>
    <p:sldId id="777" r:id="rId72"/>
    <p:sldId id="778" r:id="rId73"/>
    <p:sldId id="730" r:id="rId74"/>
    <p:sldId id="781" r:id="rId75"/>
    <p:sldId id="782" r:id="rId76"/>
    <p:sldId id="784" r:id="rId77"/>
    <p:sldId id="785" r:id="rId78"/>
    <p:sldId id="786" r:id="rId79"/>
    <p:sldId id="787" r:id="rId80"/>
    <p:sldId id="788" r:id="rId81"/>
    <p:sldId id="789" r:id="rId82"/>
    <p:sldId id="791" r:id="rId83"/>
    <p:sldId id="806" r:id="rId84"/>
    <p:sldId id="792" r:id="rId85"/>
    <p:sldId id="807" r:id="rId86"/>
    <p:sldId id="794" r:id="rId87"/>
    <p:sldId id="808" r:id="rId88"/>
    <p:sldId id="796" r:id="rId89"/>
    <p:sldId id="724" r:id="rId90"/>
    <p:sldId id="797" r:id="rId91"/>
    <p:sldId id="798" r:id="rId92"/>
    <p:sldId id="799" r:id="rId93"/>
    <p:sldId id="800" r:id="rId94"/>
    <p:sldId id="801" r:id="rId95"/>
    <p:sldId id="809" r:id="rId96"/>
    <p:sldId id="802" r:id="rId97"/>
    <p:sldId id="803" r:id="rId98"/>
    <p:sldId id="804" r:id="rId99"/>
    <p:sldId id="805" r:id="rId10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27">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692B99"/>
    <a:srgbClr val="C8A1E5"/>
    <a:srgbClr val="8F46C8"/>
    <a:srgbClr val="FFFFFF"/>
    <a:srgbClr val="DE8300"/>
    <a:srgbClr val="9956CC"/>
    <a:srgbClr val="D9D9D9"/>
    <a:srgbClr val="DCDCDC"/>
    <a:srgbClr val="F0F0F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3775" autoAdjust="0"/>
  </p:normalViewPr>
  <p:slideViewPr>
    <p:cSldViewPr snapToGrid="0">
      <p:cViewPr varScale="1">
        <p:scale>
          <a:sx n="63" d="100"/>
          <a:sy n="63" d="100"/>
        </p:scale>
        <p:origin x="780" y="60"/>
      </p:cViewPr>
      <p:guideLst>
        <p:guide orient="horz" pos="2027"/>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2024/5/12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extLst>
      <p:ext uri="{BB962C8B-B14F-4D97-AF65-F5344CB8AC3E}">
        <p14:creationId xmlns:p14="http://schemas.microsoft.com/office/powerpoint/2010/main" val="27253751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④识别设备地址和寄存器地址。一个设备控制器可以连接控制多台同类设备，为了能单独访问某一设备，系统中的每个设备都要有唯一的地址，就像内存中每一内存单元都有一个地址一样。此外，为了使</a:t>
            </a:r>
            <a:r>
              <a:rPr lang="en-US" altLang="zh-CN" dirty="0"/>
              <a:t>CPU</a:t>
            </a:r>
            <a:r>
              <a:rPr lang="zh-CN" altLang="en-US" dirty="0"/>
              <a:t>能访问设备控制器中的端口（寄存器），这些端口应该具有唯一的地址，控制器要能够识别这些地址。所以，在设备控制器中应该配置地址译码器。</a:t>
            </a:r>
          </a:p>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15</a:t>
            </a:fld>
            <a:endParaRPr lang="zh-CN" altLang="en-US"/>
          </a:p>
        </p:txBody>
      </p:sp>
    </p:spTree>
    <p:extLst>
      <p:ext uri="{BB962C8B-B14F-4D97-AF65-F5344CB8AC3E}">
        <p14:creationId xmlns:p14="http://schemas.microsoft.com/office/powerpoint/2010/main" val="674372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dirty="0"/>
              <a:t>数据缓冲</a:t>
            </a:r>
            <a:r>
              <a:rPr lang="zh-CN" altLang="en-US" dirty="0"/>
              <a:t>：</a:t>
            </a:r>
            <a:r>
              <a:rPr lang="zh-CN" altLang="zh-CN" dirty="0"/>
              <a:t>在输出时，用缓冲区暂存由</a:t>
            </a:r>
            <a:r>
              <a:rPr lang="en-US" altLang="zh-CN" dirty="0"/>
              <a:t>CPU</a:t>
            </a:r>
            <a:r>
              <a:rPr lang="zh-CN" altLang="zh-CN" dirty="0"/>
              <a:t>和内存高速传来的数据。在输入时，缓冲区用于暂存从低速</a:t>
            </a:r>
            <a:r>
              <a:rPr lang="en-US" altLang="zh-CN" dirty="0"/>
              <a:t>I/O</a:t>
            </a:r>
            <a:r>
              <a:rPr lang="zh-CN" altLang="zh-CN" dirty="0"/>
              <a:t>设备传来的数据。</a:t>
            </a:r>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16</a:t>
            </a:fld>
            <a:endParaRPr lang="zh-CN" altLang="en-US"/>
          </a:p>
        </p:txBody>
      </p:sp>
    </p:spTree>
    <p:extLst>
      <p:ext uri="{BB962C8B-B14F-4D97-AF65-F5344CB8AC3E}">
        <p14:creationId xmlns:p14="http://schemas.microsoft.com/office/powerpoint/2010/main" val="11983836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dirty="0"/>
              <a:t>按照</a:t>
            </a:r>
            <a:r>
              <a:rPr lang="en-US" altLang="zh-CN" dirty="0"/>
              <a:t>I/O</a:t>
            </a:r>
            <a:r>
              <a:rPr lang="zh-CN" altLang="zh-CN" dirty="0"/>
              <a:t>控制器功能的强弱以及和</a:t>
            </a:r>
            <a:r>
              <a:rPr lang="en-US" altLang="zh-CN" dirty="0"/>
              <a:t>CPU</a:t>
            </a:r>
            <a:r>
              <a:rPr lang="zh-CN" altLang="zh-CN" dirty="0"/>
              <a:t>之间联系方式的不同，可以把</a:t>
            </a:r>
            <a:r>
              <a:rPr lang="en-US" altLang="zh-CN" dirty="0"/>
              <a:t>I/O</a:t>
            </a:r>
            <a:r>
              <a:rPr lang="zh-CN" altLang="zh-CN" dirty="0"/>
              <a:t>设备的控制方式分为四类：直接程序控制方式、中断控制方式、直接存储器访问方式和通道方式。</a:t>
            </a:r>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19</a:t>
            </a:fld>
            <a:endParaRPr lang="zh-CN" altLang="en-US"/>
          </a:p>
        </p:txBody>
      </p:sp>
    </p:spTree>
    <p:extLst>
      <p:ext uri="{BB962C8B-B14F-4D97-AF65-F5344CB8AC3E}">
        <p14:creationId xmlns:p14="http://schemas.microsoft.com/office/powerpoint/2010/main" val="17131813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dirty="0"/>
              <a:t>是</a:t>
            </a:r>
            <a:r>
              <a:rPr lang="en-US" altLang="zh-CN" dirty="0"/>
              <a:t> CPU</a:t>
            </a:r>
            <a:r>
              <a:rPr lang="zh-CN" altLang="zh-CN" dirty="0"/>
              <a:t>发出启动</a:t>
            </a:r>
            <a:r>
              <a:rPr lang="en-US" altLang="zh-CN" dirty="0"/>
              <a:t>I/O</a:t>
            </a:r>
            <a:r>
              <a:rPr lang="zh-CN" altLang="zh-CN" dirty="0"/>
              <a:t>设备的命令后，不用查询设备是否就绪，而是继续执行当前进程或调度其它进程运行。当设备就绪后，向</a:t>
            </a:r>
            <a:r>
              <a:rPr lang="en-US" altLang="zh-CN" dirty="0"/>
              <a:t>CPU</a:t>
            </a:r>
            <a:r>
              <a:rPr lang="zh-CN" altLang="zh-CN" dirty="0"/>
              <a:t>发出中断请求，</a:t>
            </a:r>
            <a:r>
              <a:rPr lang="en-US" altLang="zh-CN" dirty="0"/>
              <a:t>CPU</a:t>
            </a:r>
            <a:r>
              <a:rPr lang="zh-CN" altLang="zh-CN" dirty="0"/>
              <a:t>响应后，才中断当前进程转至中断处理程序执行。</a:t>
            </a:r>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21</a:t>
            </a:fld>
            <a:endParaRPr lang="zh-CN" altLang="en-US"/>
          </a:p>
        </p:txBody>
      </p:sp>
    </p:spTree>
    <p:extLst>
      <p:ext uri="{BB962C8B-B14F-4D97-AF65-F5344CB8AC3E}">
        <p14:creationId xmlns:p14="http://schemas.microsoft.com/office/powerpoint/2010/main" val="29111172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通道控制方式是对</a:t>
            </a:r>
            <a:r>
              <a:rPr lang="en-US" altLang="zh-CN" dirty="0"/>
              <a:t>DMA</a:t>
            </a:r>
            <a:r>
              <a:rPr lang="zh-CN" altLang="en-US" dirty="0"/>
              <a:t>控制方式的发展，把对一个数据块的读</a:t>
            </a:r>
            <a:r>
              <a:rPr lang="en-US" altLang="zh-CN" dirty="0"/>
              <a:t>/</a:t>
            </a:r>
            <a:r>
              <a:rPr lang="zh-CN" altLang="en-US" dirty="0"/>
              <a:t>写为单位的干预，减少为对一组数据块的读</a:t>
            </a:r>
            <a:r>
              <a:rPr lang="en-US" altLang="zh-CN" dirty="0"/>
              <a:t>/</a:t>
            </a:r>
            <a:r>
              <a:rPr lang="zh-CN" altLang="en-US" dirty="0"/>
              <a:t>写及有关的控制和管理为单位的干预。同时，又可实现</a:t>
            </a:r>
            <a:r>
              <a:rPr lang="en-US" altLang="zh-CN" dirty="0"/>
              <a:t>CPU</a:t>
            </a:r>
            <a:r>
              <a:rPr lang="zh-CN" altLang="en-US" dirty="0"/>
              <a:t>、通道和</a:t>
            </a:r>
            <a:r>
              <a:rPr lang="en-US" altLang="zh-CN" dirty="0"/>
              <a:t>I/O</a:t>
            </a:r>
            <a:r>
              <a:rPr lang="zh-CN" altLang="en-US" dirty="0"/>
              <a:t>设备的并行操作，从而更有效地提高整个系统的资源利用率。</a:t>
            </a:r>
          </a:p>
        </p:txBody>
      </p:sp>
      <p:sp>
        <p:nvSpPr>
          <p:cNvPr id="4" name="灯片编号占位符 3"/>
          <p:cNvSpPr>
            <a:spLocks noGrp="1"/>
          </p:cNvSpPr>
          <p:nvPr>
            <p:ph type="sldNum" sz="quarter" idx="5"/>
          </p:nvPr>
        </p:nvSpPr>
        <p:spPr/>
        <p:txBody>
          <a:bodyPr/>
          <a:lstStyle/>
          <a:p>
            <a:fld id="{A6837353-30EB-4A48-80EB-173D804AEFBD}" type="slidenum">
              <a:rPr lang="zh-CN" altLang="en-US" smtClean="0"/>
              <a:t>24</a:t>
            </a:fld>
            <a:endParaRPr lang="zh-CN" altLang="en-US"/>
          </a:p>
        </p:txBody>
      </p:sp>
    </p:spTree>
    <p:extLst>
      <p:ext uri="{BB962C8B-B14F-4D97-AF65-F5344CB8AC3E}">
        <p14:creationId xmlns:p14="http://schemas.microsoft.com/office/powerpoint/2010/main" val="2643589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000000"/>
                </a:solidFill>
                <a:effectLst/>
                <a:latin typeface="Microsoft YaHei" panose="020B0503020204020204" pitchFamily="34" charset="-122"/>
                <a:ea typeface="Microsoft YaHei" panose="020B0503020204020204" pitchFamily="34" charset="-122"/>
              </a:rPr>
              <a:t>硬盘的磁道数一般介于</a:t>
            </a:r>
            <a:r>
              <a:rPr lang="en-US" altLang="zh-CN" b="0" i="0" dirty="0">
                <a:solidFill>
                  <a:srgbClr val="000000"/>
                </a:solidFill>
                <a:effectLst/>
                <a:latin typeface="Microsoft YaHei" panose="020B0503020204020204" pitchFamily="34" charset="-122"/>
                <a:ea typeface="Microsoft YaHei" panose="020B0503020204020204" pitchFamily="34" charset="-122"/>
              </a:rPr>
              <a:t>300-3000</a:t>
            </a:r>
            <a:r>
              <a:rPr lang="zh-CN" altLang="en-US" b="0" i="0" dirty="0">
                <a:solidFill>
                  <a:srgbClr val="000000"/>
                </a:solidFill>
                <a:effectLst/>
                <a:latin typeface="Microsoft YaHei" panose="020B0503020204020204" pitchFamily="34" charset="-122"/>
                <a:ea typeface="Microsoft YaHei" panose="020B0503020204020204" pitchFamily="34" charset="-122"/>
              </a:rPr>
              <a:t>之间，每磁道的扇区数通常是</a:t>
            </a:r>
            <a:r>
              <a:rPr lang="en-US" altLang="zh-CN" b="0" i="0" dirty="0">
                <a:solidFill>
                  <a:srgbClr val="000000"/>
                </a:solidFill>
                <a:effectLst/>
                <a:latin typeface="Microsoft YaHei" panose="020B0503020204020204" pitchFamily="34" charset="-122"/>
                <a:ea typeface="Microsoft YaHei" panose="020B0503020204020204" pitchFamily="34" charset="-122"/>
              </a:rPr>
              <a:t>63</a:t>
            </a:r>
            <a:r>
              <a:rPr lang="zh-CN" altLang="en-US" b="0" i="0" dirty="0">
                <a:solidFill>
                  <a:srgbClr val="000000"/>
                </a:solidFill>
                <a:effectLst/>
                <a:latin typeface="Microsoft YaHei" panose="020B0503020204020204" pitchFamily="34" charset="-122"/>
                <a:ea typeface="Microsoft YaHei" panose="020B0503020204020204" pitchFamily="34" charset="-122"/>
              </a:rPr>
              <a:t>，而早期的硬盘只有</a:t>
            </a:r>
            <a:r>
              <a:rPr lang="en-US" altLang="zh-CN" b="0" i="0" dirty="0">
                <a:solidFill>
                  <a:srgbClr val="000000"/>
                </a:solidFill>
                <a:effectLst/>
                <a:latin typeface="Microsoft YaHei" panose="020B0503020204020204" pitchFamily="34" charset="-122"/>
                <a:ea typeface="Microsoft YaHei" panose="020B0503020204020204" pitchFamily="34" charset="-122"/>
              </a:rPr>
              <a:t>17</a:t>
            </a:r>
            <a:r>
              <a:rPr lang="zh-CN" altLang="en-US" b="0" i="0" dirty="0">
                <a:solidFill>
                  <a:srgbClr val="000000"/>
                </a:solidFill>
                <a:effectLst/>
                <a:latin typeface="Microsoft YaHei" panose="020B0503020204020204" pitchFamily="34" charset="-122"/>
                <a:ea typeface="Microsoft YaHei" panose="020B0503020204020204" pitchFamily="34" charset="-122"/>
              </a:rPr>
              <a:t>个。</a:t>
            </a:r>
            <a:endParaRPr lang="en-US" altLang="zh-CN" b="0" i="0" dirty="0">
              <a:solidFill>
                <a:srgbClr val="000000"/>
              </a:solidFill>
              <a:effectLst/>
              <a:latin typeface="Microsoft YaHei" panose="020B0503020204020204" pitchFamily="34" charset="-122"/>
              <a:ea typeface="Microsoft YaHei" panose="020B0503020204020204" pitchFamily="34" charset="-122"/>
            </a:endParaRPr>
          </a:p>
          <a:p>
            <a:r>
              <a:rPr lang="zh-CN" altLang="en-US" dirty="0"/>
              <a:t>硬盘的容量如下计算： 硬盘容量＝柱面数</a:t>
            </a:r>
            <a:r>
              <a:rPr lang="en-US" altLang="zh-CN" dirty="0"/>
              <a:t>×</a:t>
            </a:r>
            <a:r>
              <a:rPr lang="zh-CN" altLang="en-US" dirty="0"/>
              <a:t>扇区数</a:t>
            </a:r>
            <a:r>
              <a:rPr lang="en-US" altLang="zh-CN" dirty="0"/>
              <a:t>×</a:t>
            </a:r>
            <a:r>
              <a:rPr lang="zh-CN" altLang="en-US" dirty="0"/>
              <a:t>每扇区字节数</a:t>
            </a:r>
            <a:r>
              <a:rPr lang="en-US" altLang="zh-CN" dirty="0"/>
              <a:t>×</a:t>
            </a:r>
            <a:r>
              <a:rPr lang="zh-CN" altLang="en-US" dirty="0"/>
              <a:t>磁头数 标准</a:t>
            </a:r>
            <a:r>
              <a:rPr lang="en-US" altLang="zh-CN" dirty="0"/>
              <a:t>IDE</a:t>
            </a:r>
            <a:r>
              <a:rPr lang="zh-CN" altLang="en-US" dirty="0"/>
              <a:t>接口最多支持</a:t>
            </a:r>
            <a:r>
              <a:rPr lang="en-US" altLang="zh-CN" dirty="0"/>
              <a:t>1024</a:t>
            </a:r>
            <a:r>
              <a:rPr lang="zh-CN" altLang="en-US" dirty="0"/>
              <a:t>个柱面，</a:t>
            </a:r>
            <a:r>
              <a:rPr lang="en-US" altLang="zh-CN" dirty="0"/>
              <a:t>63</a:t>
            </a:r>
            <a:r>
              <a:rPr lang="zh-CN" altLang="en-US" dirty="0"/>
              <a:t>个扇区，</a:t>
            </a:r>
            <a:r>
              <a:rPr lang="en-US" altLang="zh-CN" dirty="0"/>
              <a:t>16</a:t>
            </a:r>
            <a:r>
              <a:rPr lang="zh-CN" altLang="en-US" dirty="0"/>
              <a:t>个磁头，这个最大容量为</a:t>
            </a:r>
            <a:r>
              <a:rPr lang="en-US" altLang="zh-CN" dirty="0"/>
              <a:t>1024×63×16×512</a:t>
            </a:r>
            <a:r>
              <a:rPr lang="zh-CN" altLang="en-US" dirty="0"/>
              <a:t>＝ </a:t>
            </a:r>
            <a:r>
              <a:rPr lang="en-US" altLang="zh-CN" dirty="0"/>
              <a:t>528,482,304</a:t>
            </a:r>
            <a:r>
              <a:rPr lang="zh-CN" altLang="en-US" dirty="0"/>
              <a:t>字节，即</a:t>
            </a:r>
            <a:r>
              <a:rPr lang="en-US" altLang="zh-CN" dirty="0"/>
              <a:t>528M</a:t>
            </a:r>
            <a:r>
              <a:rPr lang="zh-CN" altLang="en-US" dirty="0"/>
              <a:t>；</a:t>
            </a:r>
          </a:p>
        </p:txBody>
      </p:sp>
      <p:sp>
        <p:nvSpPr>
          <p:cNvPr id="4" name="灯片编号占位符 3"/>
          <p:cNvSpPr>
            <a:spLocks noGrp="1"/>
          </p:cNvSpPr>
          <p:nvPr>
            <p:ph type="sldNum" sz="quarter" idx="5"/>
          </p:nvPr>
        </p:nvSpPr>
        <p:spPr/>
        <p:txBody>
          <a:bodyPr/>
          <a:lstStyle/>
          <a:p>
            <a:fld id="{A6837353-30EB-4A48-80EB-173D804AEFBD}" type="slidenum">
              <a:rPr lang="zh-CN" altLang="en-US" smtClean="0"/>
              <a:t>74</a:t>
            </a:fld>
            <a:endParaRPr lang="zh-CN" altLang="en-US"/>
          </a:p>
        </p:txBody>
      </p:sp>
    </p:spTree>
    <p:extLst>
      <p:ext uri="{BB962C8B-B14F-4D97-AF65-F5344CB8AC3E}">
        <p14:creationId xmlns:p14="http://schemas.microsoft.com/office/powerpoint/2010/main" val="122065058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8.xml"/><Relationship Id="rId1" Type="http://schemas.openxmlformats.org/officeDocument/2006/relationships/tags" Target="../tags/tag7.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11.xml"/><Relationship Id="rId2" Type="http://schemas.openxmlformats.org/officeDocument/2006/relationships/tags" Target="../tags/tag10.xml"/><Relationship Id="rId1" Type="http://schemas.openxmlformats.org/officeDocument/2006/relationships/tags" Target="../tags/tag9.xml"/><Relationship Id="rId5" Type="http://schemas.openxmlformats.org/officeDocument/2006/relationships/image" Target="../media/image1.png"/><Relationship Id="rId4"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tags" Target="../tags/tag14.xml"/><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slideMaster" Target="../slideMasters/slideMaster1.xml"/><Relationship Id="rId5" Type="http://schemas.openxmlformats.org/officeDocument/2006/relationships/tags" Target="../tags/tag16.xml"/><Relationship Id="rId4" Type="http://schemas.openxmlformats.org/officeDocument/2006/relationships/tags" Target="../tags/tag15.xml"/></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19.xml"/><Relationship Id="rId7" Type="http://schemas.openxmlformats.org/officeDocument/2006/relationships/slideMaster" Target="../slideMasters/slideMaster1.xml"/><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tags" Target="../tags/tag22.xml"/><Relationship Id="rId5" Type="http://schemas.openxmlformats.org/officeDocument/2006/relationships/tags" Target="../tags/tag21.xml"/><Relationship Id="rId4" Type="http://schemas.openxmlformats.org/officeDocument/2006/relationships/tags" Target="../tags/tag20.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30.xml"/><Relationship Id="rId3" Type="http://schemas.openxmlformats.org/officeDocument/2006/relationships/tags" Target="../tags/tag25.xml"/><Relationship Id="rId7" Type="http://schemas.openxmlformats.org/officeDocument/2006/relationships/tags" Target="../tags/tag29.xml"/><Relationship Id="rId2" Type="http://schemas.openxmlformats.org/officeDocument/2006/relationships/tags" Target="../tags/tag24.xml"/><Relationship Id="rId1" Type="http://schemas.openxmlformats.org/officeDocument/2006/relationships/tags" Target="../tags/tag23.xml"/><Relationship Id="rId6" Type="http://schemas.openxmlformats.org/officeDocument/2006/relationships/tags" Target="../tags/tag28.xml"/><Relationship Id="rId5" Type="http://schemas.openxmlformats.org/officeDocument/2006/relationships/tags" Target="../tags/tag27.xml"/><Relationship Id="rId4" Type="http://schemas.openxmlformats.org/officeDocument/2006/relationships/tags" Target="../tags/tag26.xml"/><Relationship Id="rId9"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33.xml"/><Relationship Id="rId2" Type="http://schemas.openxmlformats.org/officeDocument/2006/relationships/tags" Target="../tags/tag32.xml"/><Relationship Id="rId1" Type="http://schemas.openxmlformats.org/officeDocument/2006/relationships/tags" Target="../tags/tag31.xml"/><Relationship Id="rId5" Type="http://schemas.openxmlformats.org/officeDocument/2006/relationships/slideMaster" Target="../slideMasters/slideMaster1.xml"/><Relationship Id="rId4" Type="http://schemas.openxmlformats.org/officeDocument/2006/relationships/tags" Target="../tags/tag34.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37.xml"/><Relationship Id="rId2" Type="http://schemas.openxmlformats.org/officeDocument/2006/relationships/tags" Target="../tags/tag36.xml"/><Relationship Id="rId1" Type="http://schemas.openxmlformats.org/officeDocument/2006/relationships/tags" Target="../tags/tag35.xml"/><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tags" Target="../tags/tag40.xml"/><Relationship Id="rId7" Type="http://schemas.openxmlformats.org/officeDocument/2006/relationships/slideMaster" Target="../slideMasters/slideMaster1.xml"/><Relationship Id="rId2" Type="http://schemas.openxmlformats.org/officeDocument/2006/relationships/tags" Target="../tags/tag39.xml"/><Relationship Id="rId1" Type="http://schemas.openxmlformats.org/officeDocument/2006/relationships/tags" Target="../tags/tag38.xml"/><Relationship Id="rId6" Type="http://schemas.openxmlformats.org/officeDocument/2006/relationships/tags" Target="../tags/tag43.xml"/><Relationship Id="rId5" Type="http://schemas.openxmlformats.org/officeDocument/2006/relationships/tags" Target="../tags/tag42.xml"/><Relationship Id="rId4" Type="http://schemas.openxmlformats.org/officeDocument/2006/relationships/tags" Target="../tags/tag41.xml"/></Relationships>
</file>

<file path=ppt/slideLayouts/_rels/slideLayout9.xml.rels><?xml version="1.0" encoding="UTF-8" standalone="yes"?>
<Relationships xmlns="http://schemas.openxmlformats.org/package/2006/relationships"><Relationship Id="rId3" Type="http://schemas.openxmlformats.org/officeDocument/2006/relationships/tags" Target="../tags/tag46.xml"/><Relationship Id="rId2" Type="http://schemas.openxmlformats.org/officeDocument/2006/relationships/tags" Target="../tags/tag45.xml"/><Relationship Id="rId1" Type="http://schemas.openxmlformats.org/officeDocument/2006/relationships/tags" Target="../tags/tag44.xml"/><Relationship Id="rId6" Type="http://schemas.openxmlformats.org/officeDocument/2006/relationships/slideMaster" Target="../slideMasters/slideMaster1.xml"/><Relationship Id="rId5" Type="http://schemas.openxmlformats.org/officeDocument/2006/relationships/tags" Target="../tags/tag48.xml"/><Relationship Id="rId4" Type="http://schemas.openxmlformats.org/officeDocument/2006/relationships/tags" Target="../tags/tag47.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51.xml"/><Relationship Id="rId2" Type="http://schemas.openxmlformats.org/officeDocument/2006/relationships/tags" Target="../tags/tag50.xml"/><Relationship Id="rId1" Type="http://schemas.openxmlformats.org/officeDocument/2006/relationships/tags" Target="../tags/tag49.xml"/><Relationship Id="rId5" Type="http://schemas.openxmlformats.org/officeDocument/2006/relationships/slideMaster" Target="../slideMasters/slideMaster1.xml"/><Relationship Id="rId4" Type="http://schemas.openxmlformats.org/officeDocument/2006/relationships/tags" Target="../tags/tag52.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55.xml"/><Relationship Id="rId2" Type="http://schemas.openxmlformats.org/officeDocument/2006/relationships/tags" Target="../tags/tag54.xml"/><Relationship Id="rId1" Type="http://schemas.openxmlformats.org/officeDocument/2006/relationships/tags" Target="../tags/tag53.xml"/><Relationship Id="rId6" Type="http://schemas.openxmlformats.org/officeDocument/2006/relationships/slideMaster" Target="../slideMasters/slideMaster1.xml"/><Relationship Id="rId5" Type="http://schemas.openxmlformats.org/officeDocument/2006/relationships/tags" Target="../tags/tag57.xml"/><Relationship Id="rId4" Type="http://schemas.openxmlformats.org/officeDocument/2006/relationships/tags" Target="../tags/tag5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noFill/>
        <a:effectLst/>
      </p:bgPr>
    </p:bg>
    <p:spTree>
      <p:nvGrpSpPr>
        <p:cNvPr id="1" name=""/>
        <p:cNvGrpSpPr/>
        <p:nvPr/>
      </p:nvGrpSpPr>
      <p:grpSpPr>
        <a:xfrm>
          <a:off x="0" y="0"/>
          <a:ext cx="0" cy="0"/>
          <a:chOff x="0" y="0"/>
          <a:chExt cx="0" cy="0"/>
        </a:xfrm>
      </p:grpSpPr>
      <p:sp>
        <p:nvSpPr>
          <p:cNvPr id="12" name="任意多边形 11"/>
          <p:cNvSpPr/>
          <p:nvPr userDrawn="1"/>
        </p:nvSpPr>
        <p:spPr>
          <a:xfrm>
            <a:off x="0" y="1264921"/>
            <a:ext cx="12206817" cy="5281083"/>
          </a:xfrm>
          <a:custGeom>
            <a:avLst/>
            <a:gdLst/>
            <a:ahLst/>
            <a:cxnLst/>
            <a:rect l="0" t="0" r="0" b="0"/>
            <a:pathLst>
              <a:path w="5767" h="2730">
                <a:moveTo>
                  <a:pt x="8" y="2730"/>
                </a:moveTo>
                <a:lnTo>
                  <a:pt x="3040" y="2726"/>
                </a:lnTo>
                <a:cubicBezTo>
                  <a:pt x="3181" y="2726"/>
                  <a:pt x="3224" y="2728"/>
                  <a:pt x="3347" y="2630"/>
                </a:cubicBezTo>
                <a:lnTo>
                  <a:pt x="3795" y="2170"/>
                </a:lnTo>
                <a:cubicBezTo>
                  <a:pt x="3923" y="2078"/>
                  <a:pt x="3942" y="2074"/>
                  <a:pt x="4115" y="2080"/>
                </a:cubicBezTo>
                <a:lnTo>
                  <a:pt x="5760" y="2093"/>
                </a:lnTo>
                <a:lnTo>
                  <a:pt x="5767" y="0"/>
                </a:lnTo>
                <a:lnTo>
                  <a:pt x="0" y="1"/>
                </a:lnTo>
                <a:lnTo>
                  <a:pt x="8" y="2730"/>
                </a:lnTo>
                <a:close/>
              </a:path>
            </a:pathLst>
          </a:custGeom>
          <a:gradFill rotWithShape="1">
            <a:gsLst>
              <a:gs pos="0">
                <a:schemeClr val="bg1">
                  <a:gamma/>
                  <a:tint val="0"/>
                  <a:invGamma/>
                  <a:alpha val="100000"/>
                </a:schemeClr>
              </a:gs>
              <a:gs pos="100000">
                <a:schemeClr val="bg1">
                  <a:alpha val="89999"/>
                </a:schemeClr>
              </a:gs>
            </a:gsLst>
            <a:lin ang="0" scaled="1"/>
            <a:tileRect/>
          </a:gradFill>
          <a:ln w="9525">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p>
        </p:txBody>
      </p:sp>
      <p:sp>
        <p:nvSpPr>
          <p:cNvPr id="2" name="标题 1"/>
          <p:cNvSpPr>
            <a:spLocks noGrp="1"/>
          </p:cNvSpPr>
          <p:nvPr>
            <p:ph type="ctrTitle" hasCustomPrompt="1"/>
            <p:custDataLst>
              <p:tags r:id="rId1"/>
            </p:custDataLst>
          </p:nvPr>
        </p:nvSpPr>
        <p:spPr>
          <a:xfrm>
            <a:off x="3775075" y="1981835"/>
            <a:ext cx="5626100" cy="1236345"/>
          </a:xfrm>
          <a:noFill/>
          <a:extLst>
            <a:ext uri="{909E8E84-426E-40DD-AFC4-6F175D3DCCD1}">
              <a14:hiddenFill xmlns:a14="http://schemas.microsoft.com/office/drawing/2010/main">
                <a:solidFill>
                  <a:schemeClr val="accent1">
                    <a:lumMod val="75000"/>
                  </a:schemeClr>
                </a:solidFill>
              </a14:hiddenFill>
            </a:ext>
          </a:extLst>
        </p:spPr>
        <p:txBody>
          <a:bodyPr lIns="90000" tIns="46800" rIns="90000" bIns="46800" anchor="b" anchorCtr="0">
            <a:normAutofit/>
          </a:bodyPr>
          <a:lstStyle>
            <a:lvl1pPr algn="ctr">
              <a:defRPr sz="4800" b="1" i="0" spc="300" baseline="0">
                <a:solidFill>
                  <a:schemeClr val="accent1">
                    <a:lumMod val="75000"/>
                  </a:schemeClr>
                </a:solidFill>
                <a:effectLst/>
              </a:defRPr>
            </a:lvl1pPr>
          </a:lstStyle>
          <a:p>
            <a:r>
              <a:rPr lang="zh-CN" altLang="en-US" dirty="0"/>
              <a:t>单击此处编辑标题</a:t>
            </a:r>
          </a:p>
        </p:txBody>
      </p:sp>
      <p:sp>
        <p:nvSpPr>
          <p:cNvPr id="8" name="任意多边形 7"/>
          <p:cNvSpPr/>
          <p:nvPr userDrawn="1"/>
        </p:nvSpPr>
        <p:spPr>
          <a:xfrm>
            <a:off x="156633" y="582930"/>
            <a:ext cx="12035367" cy="575733"/>
          </a:xfrm>
          <a:custGeom>
            <a:avLst/>
            <a:gdLst/>
            <a:ahLst/>
            <a:cxnLst/>
            <a:rect l="0" t="0" r="0" b="0"/>
            <a:pathLst>
              <a:path w="5766" h="1008">
                <a:moveTo>
                  <a:pt x="0" y="1008"/>
                </a:moveTo>
                <a:lnTo>
                  <a:pt x="1884" y="1008"/>
                </a:lnTo>
                <a:cubicBezTo>
                  <a:pt x="2088" y="990"/>
                  <a:pt x="2034" y="1005"/>
                  <a:pt x="2152" y="921"/>
                </a:cubicBezTo>
                <a:lnTo>
                  <a:pt x="2560" y="531"/>
                </a:lnTo>
                <a:cubicBezTo>
                  <a:pt x="2683" y="452"/>
                  <a:pt x="2611" y="454"/>
                  <a:pt x="2892" y="448"/>
                </a:cubicBezTo>
                <a:lnTo>
                  <a:pt x="5766" y="461"/>
                </a:lnTo>
                <a:lnTo>
                  <a:pt x="5758" y="0"/>
                </a:lnTo>
                <a:lnTo>
                  <a:pt x="0" y="2"/>
                </a:lnTo>
                <a:lnTo>
                  <a:pt x="0" y="1008"/>
                </a:lnTo>
                <a:close/>
              </a:path>
            </a:pathLst>
          </a:custGeom>
          <a:gradFill rotWithShape="1">
            <a:gsLst>
              <a:gs pos="0">
                <a:schemeClr val="bg1">
                  <a:alpha val="100000"/>
                </a:schemeClr>
              </a:gs>
              <a:gs pos="100000">
                <a:schemeClr val="tx2">
                  <a:lumMod val="20000"/>
                  <a:lumOff val="80000"/>
                </a:schemeClr>
              </a:gs>
            </a:gsLst>
            <a:lin ang="0" scaled="1"/>
            <a:tileRect/>
          </a:gradFill>
          <a:ln w="9525">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p>
        </p:txBody>
      </p:sp>
      <p:sp>
        <p:nvSpPr>
          <p:cNvPr id="10" name="文本框 9"/>
          <p:cNvSpPr txBox="1"/>
          <p:nvPr userDrawn="1"/>
        </p:nvSpPr>
        <p:spPr>
          <a:xfrm>
            <a:off x="8974455" y="389890"/>
            <a:ext cx="2717165" cy="460375"/>
          </a:xfrm>
          <a:prstGeom prst="rect">
            <a:avLst/>
          </a:prstGeom>
          <a:solidFill>
            <a:schemeClr val="accent1">
              <a:lumMod val="75000"/>
            </a:schemeClr>
          </a:solidFill>
          <a:scene3d>
            <a:camera prst="orthographicFront">
              <a:rot lat="0" lon="0" rev="0"/>
            </a:camera>
            <a:lightRig rig="threePt" dir="t"/>
          </a:scene3d>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zh-CN" sz="2400" b="1" spc="300" dirty="0">
                <a:solidFill>
                  <a:srgbClr val="FFFFFF"/>
                </a:solidFill>
                <a:effectLst>
                  <a:outerShdw blurRad="38100" dist="25400" dir="5400000" algn="ctr" rotWithShape="0">
                    <a:srgbClr val="6E747A">
                      <a:alpha val="43000"/>
                    </a:srgbClr>
                  </a:outerShdw>
                  <a:reflection blurRad="6350" stA="60000" endA="900" endPos="58000" dir="5400000" sy="-100000" algn="bl" rotWithShape="0"/>
                </a:effectLst>
                <a:uFillTx/>
                <a:latin typeface="Arial" panose="020B0604020202020204" pitchFamily="34" charset="0"/>
                <a:ea typeface="微软雅黑" panose="020B0503020204020204" pitchFamily="34" charset="-122"/>
                <a:cs typeface="+mj-cs"/>
              </a:rPr>
              <a:t>计算机操作系统</a:t>
            </a:r>
            <a:endParaRPr lang="zh-CN" altLang="zh-CN" sz="2400" b="1" spc="300" dirty="0">
              <a:solidFill>
                <a:srgbClr val="FFFFFF"/>
              </a:solidFill>
              <a:effectLst>
                <a:outerShdw blurRad="38100" dist="25400" dir="5400000" algn="ctr" rotWithShape="0">
                  <a:srgbClr val="6E747A">
                    <a:alpha val="43000"/>
                  </a:srgbClr>
                </a:outerShdw>
                <a:reflection blurRad="6350" stA="60000" endA="900" endPos="58000" dir="5400000" sy="-100000" algn="bl" rotWithShape="0"/>
              </a:effectLst>
              <a:uFillTx/>
              <a:latin typeface="Arial" panose="020B0604020202020204" pitchFamily="34" charset="0"/>
              <a:ea typeface="微软雅黑" panose="020B0503020204020204" pitchFamily="34" charset="-122"/>
              <a:cs typeface="+mj-cs"/>
              <a:sym typeface="+mn-ea"/>
            </a:endParaRPr>
          </a:p>
        </p:txBody>
      </p:sp>
      <p:sp>
        <p:nvSpPr>
          <p:cNvPr id="19" name="任意多边形 18"/>
          <p:cNvSpPr/>
          <p:nvPr userDrawn="1"/>
        </p:nvSpPr>
        <p:spPr>
          <a:xfrm flipH="1" flipV="1">
            <a:off x="-7620" y="5883488"/>
            <a:ext cx="12192000" cy="768349"/>
          </a:xfrm>
          <a:custGeom>
            <a:avLst/>
            <a:gdLst/>
            <a:ahLst/>
            <a:cxnLst/>
            <a:rect l="0" t="0" r="0" b="0"/>
            <a:pathLst>
              <a:path w="5766" h="1008">
                <a:moveTo>
                  <a:pt x="0" y="1008"/>
                </a:moveTo>
                <a:lnTo>
                  <a:pt x="1884" y="1008"/>
                </a:lnTo>
                <a:cubicBezTo>
                  <a:pt x="2088" y="990"/>
                  <a:pt x="2034" y="1005"/>
                  <a:pt x="2152" y="921"/>
                </a:cubicBezTo>
                <a:lnTo>
                  <a:pt x="2560" y="531"/>
                </a:lnTo>
                <a:cubicBezTo>
                  <a:pt x="2683" y="452"/>
                  <a:pt x="2611" y="454"/>
                  <a:pt x="2892" y="448"/>
                </a:cubicBezTo>
                <a:lnTo>
                  <a:pt x="5766" y="461"/>
                </a:lnTo>
                <a:lnTo>
                  <a:pt x="5758" y="0"/>
                </a:lnTo>
                <a:lnTo>
                  <a:pt x="0" y="2"/>
                </a:lnTo>
                <a:lnTo>
                  <a:pt x="0" y="1008"/>
                </a:lnTo>
                <a:close/>
              </a:path>
            </a:pathLst>
          </a:custGeom>
          <a:gradFill rotWithShape="1">
            <a:gsLst>
              <a:gs pos="0">
                <a:schemeClr val="bg1">
                  <a:alpha val="100000"/>
                </a:schemeClr>
              </a:gs>
              <a:gs pos="100000">
                <a:schemeClr val="tx2">
                  <a:lumMod val="20000"/>
                  <a:lumOff val="80000"/>
                </a:schemeClr>
              </a:gs>
            </a:gsLst>
            <a:lin ang="0" scaled="1"/>
            <a:tileRect/>
          </a:gradFill>
          <a:ln w="9525">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p>
        </p:txBody>
      </p:sp>
      <p:grpSp>
        <p:nvGrpSpPr>
          <p:cNvPr id="20" name="Group 10"/>
          <p:cNvGrpSpPr/>
          <p:nvPr userDrawn="1"/>
        </p:nvGrpSpPr>
        <p:grpSpPr bwMode="auto">
          <a:xfrm>
            <a:off x="9160384" y="6070822"/>
            <a:ext cx="380048" cy="380121"/>
            <a:chOff x="0" y="0"/>
            <a:chExt cx="965499" cy="965499"/>
          </a:xfrm>
        </p:grpSpPr>
        <p:sp>
          <p:nvSpPr>
            <p:cNvPr id="21" name="AutoShape 11"/>
            <p:cNvSpPr/>
            <p:nvPr/>
          </p:nvSpPr>
          <p:spPr bwMode="auto">
            <a:xfrm>
              <a:off x="0" y="0"/>
              <a:ext cx="965499" cy="965499"/>
            </a:xfrm>
            <a:custGeom>
              <a:avLst/>
              <a:gdLst>
                <a:gd name="T0" fmla="*/ 482725 w 19679"/>
                <a:gd name="T1" fmla="*/ 529874 h 19679"/>
                <a:gd name="T2" fmla="*/ 482725 w 19679"/>
                <a:gd name="T3" fmla="*/ 529874 h 19679"/>
                <a:gd name="T4" fmla="*/ 482725 w 19679"/>
                <a:gd name="T5" fmla="*/ 529874 h 19679"/>
                <a:gd name="T6" fmla="*/ 482725 w 19679"/>
                <a:gd name="T7" fmla="*/ 529874 h 1967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679" h="19679">
                  <a:moveTo>
                    <a:pt x="16796" y="2881"/>
                  </a:moveTo>
                  <a:cubicBezTo>
                    <a:pt x="20638" y="6724"/>
                    <a:pt x="20638" y="12953"/>
                    <a:pt x="16796" y="16796"/>
                  </a:cubicBezTo>
                  <a:cubicBezTo>
                    <a:pt x="12953" y="20639"/>
                    <a:pt x="6724" y="20639"/>
                    <a:pt x="2881" y="16796"/>
                  </a:cubicBezTo>
                  <a:cubicBezTo>
                    <a:pt x="-961" y="12953"/>
                    <a:pt x="-961" y="6724"/>
                    <a:pt x="2881" y="2881"/>
                  </a:cubicBezTo>
                  <a:cubicBezTo>
                    <a:pt x="6724" y="-961"/>
                    <a:pt x="12953" y="-961"/>
                    <a:pt x="16796" y="2881"/>
                  </a:cubicBezTo>
                  <a:close/>
                </a:path>
              </a:pathLst>
            </a:custGeom>
            <a:gradFill>
              <a:gsLst>
                <a:gs pos="0">
                  <a:schemeClr val="bg1"/>
                </a:gs>
                <a:gs pos="51000">
                  <a:schemeClr val="bg1">
                    <a:lumMod val="95000"/>
                  </a:schemeClr>
                </a:gs>
                <a:gs pos="100000">
                  <a:schemeClr val="bg1">
                    <a:lumMod val="75000"/>
                  </a:schemeClr>
                </a:gs>
              </a:gsLst>
              <a:lin ang="18900000" scaled="0"/>
            </a:gradFill>
            <a:ln>
              <a:noFill/>
            </a:ln>
            <a:effectLst>
              <a:outerShdw blurRad="88900" dist="38100" dir="7680000" algn="tl" rotWithShape="0">
                <a:prstClr val="black">
                  <a:alpha val="3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solidFill>
                  <a:schemeClr val="lt1"/>
                </a:solidFill>
                <a:latin typeface="+mn-lt"/>
                <a:ea typeface="+mn-ea"/>
              </a:endParaRPr>
            </a:p>
          </p:txBody>
        </p:sp>
        <p:sp>
          <p:nvSpPr>
            <p:cNvPr id="22" name="AutoShape 12"/>
            <p:cNvSpPr/>
            <p:nvPr/>
          </p:nvSpPr>
          <p:spPr bwMode="auto">
            <a:xfrm>
              <a:off x="285759" y="283328"/>
              <a:ext cx="393981" cy="393980"/>
            </a:xfrm>
            <a:custGeom>
              <a:avLst/>
              <a:gdLst>
                <a:gd name="T0" fmla="*/ 196991 w 21376"/>
                <a:gd name="T1" fmla="*/ 196990 h 21600"/>
                <a:gd name="T2" fmla="*/ 196991 w 21376"/>
                <a:gd name="T3" fmla="*/ 196990 h 21600"/>
                <a:gd name="T4" fmla="*/ 196991 w 21376"/>
                <a:gd name="T5" fmla="*/ 196990 h 21600"/>
                <a:gd name="T6" fmla="*/ 196991 w 21376"/>
                <a:gd name="T7" fmla="*/ 196990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376" h="21600">
                  <a:moveTo>
                    <a:pt x="21036" y="18604"/>
                  </a:moveTo>
                  <a:cubicBezTo>
                    <a:pt x="21454" y="19261"/>
                    <a:pt x="21486" y="19922"/>
                    <a:pt x="21134" y="20586"/>
                  </a:cubicBezTo>
                  <a:cubicBezTo>
                    <a:pt x="20969" y="20915"/>
                    <a:pt x="20731" y="21168"/>
                    <a:pt x="20427" y="21338"/>
                  </a:cubicBezTo>
                  <a:cubicBezTo>
                    <a:pt x="20122" y="21514"/>
                    <a:pt x="19797" y="21600"/>
                    <a:pt x="19455" y="21600"/>
                  </a:cubicBezTo>
                  <a:lnTo>
                    <a:pt x="1928" y="21600"/>
                  </a:lnTo>
                  <a:cubicBezTo>
                    <a:pt x="1585" y="21600"/>
                    <a:pt x="1263" y="21514"/>
                    <a:pt x="965" y="21338"/>
                  </a:cubicBezTo>
                  <a:cubicBezTo>
                    <a:pt x="663" y="21168"/>
                    <a:pt x="425" y="20915"/>
                    <a:pt x="248" y="20586"/>
                  </a:cubicBezTo>
                  <a:cubicBezTo>
                    <a:pt x="-114" y="19914"/>
                    <a:pt x="-80" y="19250"/>
                    <a:pt x="344" y="18604"/>
                  </a:cubicBezTo>
                  <a:lnTo>
                    <a:pt x="7509" y="7313"/>
                  </a:lnTo>
                  <a:lnTo>
                    <a:pt x="7509" y="2167"/>
                  </a:lnTo>
                  <a:lnTo>
                    <a:pt x="6427" y="2167"/>
                  </a:lnTo>
                  <a:cubicBezTo>
                    <a:pt x="6122" y="2167"/>
                    <a:pt x="5870" y="2061"/>
                    <a:pt x="5670" y="1850"/>
                  </a:cubicBezTo>
                  <a:cubicBezTo>
                    <a:pt x="5473" y="1638"/>
                    <a:pt x="5371" y="1380"/>
                    <a:pt x="5371" y="1072"/>
                  </a:cubicBezTo>
                  <a:cubicBezTo>
                    <a:pt x="5371" y="778"/>
                    <a:pt x="5473" y="528"/>
                    <a:pt x="5670" y="320"/>
                  </a:cubicBezTo>
                  <a:cubicBezTo>
                    <a:pt x="5870" y="108"/>
                    <a:pt x="6122" y="0"/>
                    <a:pt x="6427" y="0"/>
                  </a:cubicBezTo>
                  <a:lnTo>
                    <a:pt x="14953" y="0"/>
                  </a:lnTo>
                  <a:cubicBezTo>
                    <a:pt x="15260" y="0"/>
                    <a:pt x="15515" y="108"/>
                    <a:pt x="15724" y="320"/>
                  </a:cubicBezTo>
                  <a:cubicBezTo>
                    <a:pt x="15933" y="528"/>
                    <a:pt x="16038" y="778"/>
                    <a:pt x="16038" y="1072"/>
                  </a:cubicBezTo>
                  <a:cubicBezTo>
                    <a:pt x="16038" y="1380"/>
                    <a:pt x="15933" y="1638"/>
                    <a:pt x="15724" y="1850"/>
                  </a:cubicBezTo>
                  <a:cubicBezTo>
                    <a:pt x="15515" y="2061"/>
                    <a:pt x="15260" y="2167"/>
                    <a:pt x="14953" y="2167"/>
                  </a:cubicBezTo>
                  <a:lnTo>
                    <a:pt x="13900" y="2167"/>
                  </a:lnTo>
                  <a:lnTo>
                    <a:pt x="13900" y="7339"/>
                  </a:lnTo>
                  <a:lnTo>
                    <a:pt x="21036" y="18604"/>
                  </a:lnTo>
                  <a:close/>
                  <a:moveTo>
                    <a:pt x="5261" y="14865"/>
                  </a:moveTo>
                  <a:lnTo>
                    <a:pt x="16122" y="14865"/>
                  </a:lnTo>
                  <a:lnTo>
                    <a:pt x="11773" y="7974"/>
                  </a:lnTo>
                  <a:lnTo>
                    <a:pt x="11773" y="2167"/>
                  </a:lnTo>
                  <a:lnTo>
                    <a:pt x="9635" y="2167"/>
                  </a:lnTo>
                  <a:lnTo>
                    <a:pt x="9635" y="7947"/>
                  </a:lnTo>
                  <a:lnTo>
                    <a:pt x="5261" y="14865"/>
                  </a:lnTo>
                  <a:close/>
                </a:path>
              </a:pathLst>
            </a:cu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solidFill>
                  <a:schemeClr val="lt1"/>
                </a:solidFill>
                <a:latin typeface="+mn-lt"/>
                <a:ea typeface="+mn-ea"/>
              </a:endParaRPr>
            </a:p>
          </p:txBody>
        </p:sp>
      </p:grpSp>
      <p:grpSp>
        <p:nvGrpSpPr>
          <p:cNvPr id="23" name="Group 13"/>
          <p:cNvGrpSpPr/>
          <p:nvPr userDrawn="1"/>
        </p:nvGrpSpPr>
        <p:grpSpPr bwMode="auto">
          <a:xfrm>
            <a:off x="9697919" y="6070822"/>
            <a:ext cx="380673" cy="380121"/>
            <a:chOff x="0" y="0"/>
            <a:chExt cx="965499" cy="965499"/>
          </a:xfrm>
        </p:grpSpPr>
        <p:sp>
          <p:nvSpPr>
            <p:cNvPr id="24" name="AutoShape 14"/>
            <p:cNvSpPr/>
            <p:nvPr/>
          </p:nvSpPr>
          <p:spPr bwMode="auto">
            <a:xfrm>
              <a:off x="0" y="0"/>
              <a:ext cx="965499" cy="965499"/>
            </a:xfrm>
            <a:custGeom>
              <a:avLst/>
              <a:gdLst>
                <a:gd name="T0" fmla="*/ 482725 w 19679"/>
                <a:gd name="T1" fmla="*/ 529874 h 19679"/>
                <a:gd name="T2" fmla="*/ 482725 w 19679"/>
                <a:gd name="T3" fmla="*/ 529874 h 19679"/>
                <a:gd name="T4" fmla="*/ 482725 w 19679"/>
                <a:gd name="T5" fmla="*/ 529874 h 19679"/>
                <a:gd name="T6" fmla="*/ 482725 w 19679"/>
                <a:gd name="T7" fmla="*/ 529874 h 1967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679" h="19679">
                  <a:moveTo>
                    <a:pt x="16796" y="2881"/>
                  </a:moveTo>
                  <a:cubicBezTo>
                    <a:pt x="20638" y="6724"/>
                    <a:pt x="20638" y="12953"/>
                    <a:pt x="16796" y="16796"/>
                  </a:cubicBezTo>
                  <a:cubicBezTo>
                    <a:pt x="12953" y="20639"/>
                    <a:pt x="6724" y="20639"/>
                    <a:pt x="2881" y="16796"/>
                  </a:cubicBezTo>
                  <a:cubicBezTo>
                    <a:pt x="-961" y="12953"/>
                    <a:pt x="-961" y="6724"/>
                    <a:pt x="2881" y="2881"/>
                  </a:cubicBezTo>
                  <a:cubicBezTo>
                    <a:pt x="6724" y="-961"/>
                    <a:pt x="12953" y="-961"/>
                    <a:pt x="16796" y="2881"/>
                  </a:cubicBezTo>
                  <a:close/>
                </a:path>
              </a:pathLst>
            </a:custGeom>
            <a:gradFill>
              <a:gsLst>
                <a:gs pos="0">
                  <a:schemeClr val="bg1"/>
                </a:gs>
                <a:gs pos="51000">
                  <a:schemeClr val="bg1">
                    <a:lumMod val="95000"/>
                  </a:schemeClr>
                </a:gs>
                <a:gs pos="100000">
                  <a:schemeClr val="bg1">
                    <a:lumMod val="75000"/>
                  </a:schemeClr>
                </a:gs>
              </a:gsLst>
              <a:lin ang="18900000" scaled="0"/>
            </a:gradFill>
            <a:ln>
              <a:noFill/>
            </a:ln>
            <a:effectLst>
              <a:outerShdw blurRad="88900" dist="38100" dir="7680000" algn="tl" rotWithShape="0">
                <a:prstClr val="black">
                  <a:alpha val="3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solidFill>
                  <a:schemeClr val="lt1"/>
                </a:solidFill>
                <a:latin typeface="+mn-lt"/>
                <a:ea typeface="+mn-ea"/>
              </a:endParaRPr>
            </a:p>
          </p:txBody>
        </p:sp>
        <p:sp>
          <p:nvSpPr>
            <p:cNvPr id="25" name="AutoShape 15"/>
            <p:cNvSpPr/>
            <p:nvPr/>
          </p:nvSpPr>
          <p:spPr bwMode="auto">
            <a:xfrm>
              <a:off x="285759" y="283328"/>
              <a:ext cx="393981" cy="393980"/>
            </a:xfrm>
            <a:custGeom>
              <a:avLst/>
              <a:gdLst>
                <a:gd name="T0" fmla="*/ 196991 w 21600"/>
                <a:gd name="T1" fmla="*/ 196990 h 21600"/>
                <a:gd name="T2" fmla="*/ 196991 w 21600"/>
                <a:gd name="T3" fmla="*/ 196990 h 21600"/>
                <a:gd name="T4" fmla="*/ 196991 w 21600"/>
                <a:gd name="T5" fmla="*/ 196990 h 21600"/>
                <a:gd name="T6" fmla="*/ 196991 w 21600"/>
                <a:gd name="T7" fmla="*/ 196990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21328" y="11543"/>
                  </a:moveTo>
                  <a:cubicBezTo>
                    <a:pt x="21492" y="11930"/>
                    <a:pt x="21571" y="12337"/>
                    <a:pt x="21571" y="12758"/>
                  </a:cubicBezTo>
                  <a:cubicBezTo>
                    <a:pt x="21571" y="13464"/>
                    <a:pt x="21388" y="14105"/>
                    <a:pt x="21017" y="14678"/>
                  </a:cubicBezTo>
                  <a:cubicBezTo>
                    <a:pt x="21111" y="15215"/>
                    <a:pt x="21077" y="15745"/>
                    <a:pt x="20924" y="16285"/>
                  </a:cubicBezTo>
                  <a:cubicBezTo>
                    <a:pt x="20769" y="16819"/>
                    <a:pt x="20512" y="17287"/>
                    <a:pt x="20141" y="17697"/>
                  </a:cubicBezTo>
                  <a:cubicBezTo>
                    <a:pt x="20105" y="18451"/>
                    <a:pt x="19901" y="19081"/>
                    <a:pt x="19531" y="19580"/>
                  </a:cubicBezTo>
                  <a:cubicBezTo>
                    <a:pt x="19161" y="20080"/>
                    <a:pt x="18700" y="20481"/>
                    <a:pt x="18146" y="20783"/>
                  </a:cubicBezTo>
                  <a:cubicBezTo>
                    <a:pt x="17593" y="21088"/>
                    <a:pt x="16982" y="21297"/>
                    <a:pt x="16321" y="21419"/>
                  </a:cubicBezTo>
                  <a:cubicBezTo>
                    <a:pt x="15660" y="21540"/>
                    <a:pt x="15010" y="21599"/>
                    <a:pt x="14380" y="21599"/>
                  </a:cubicBezTo>
                  <a:cubicBezTo>
                    <a:pt x="13730" y="21599"/>
                    <a:pt x="13077" y="21554"/>
                    <a:pt x="12424" y="21461"/>
                  </a:cubicBezTo>
                  <a:cubicBezTo>
                    <a:pt x="11772" y="21362"/>
                    <a:pt x="11127" y="21235"/>
                    <a:pt x="10497" y="21074"/>
                  </a:cubicBezTo>
                  <a:cubicBezTo>
                    <a:pt x="9864" y="20894"/>
                    <a:pt x="9237" y="20702"/>
                    <a:pt x="8610" y="20493"/>
                  </a:cubicBezTo>
                  <a:cubicBezTo>
                    <a:pt x="7982" y="20286"/>
                    <a:pt x="7341" y="20182"/>
                    <a:pt x="6680" y="20182"/>
                  </a:cubicBezTo>
                  <a:lnTo>
                    <a:pt x="1607" y="20182"/>
                  </a:lnTo>
                  <a:cubicBezTo>
                    <a:pt x="1167" y="20182"/>
                    <a:pt x="785" y="20029"/>
                    <a:pt x="471" y="19713"/>
                  </a:cubicBezTo>
                  <a:cubicBezTo>
                    <a:pt x="158" y="19405"/>
                    <a:pt x="0" y="19024"/>
                    <a:pt x="0" y="18572"/>
                  </a:cubicBezTo>
                  <a:lnTo>
                    <a:pt x="0" y="9880"/>
                  </a:lnTo>
                  <a:cubicBezTo>
                    <a:pt x="0" y="9440"/>
                    <a:pt x="158" y="9064"/>
                    <a:pt x="471" y="8754"/>
                  </a:cubicBezTo>
                  <a:cubicBezTo>
                    <a:pt x="785" y="8440"/>
                    <a:pt x="1167" y="8285"/>
                    <a:pt x="1607" y="8285"/>
                  </a:cubicBezTo>
                  <a:lnTo>
                    <a:pt x="6315" y="8285"/>
                  </a:lnTo>
                  <a:cubicBezTo>
                    <a:pt x="6558" y="8160"/>
                    <a:pt x="6750" y="8022"/>
                    <a:pt x="6897" y="7872"/>
                  </a:cubicBezTo>
                  <a:cubicBezTo>
                    <a:pt x="7041" y="7723"/>
                    <a:pt x="7197" y="7548"/>
                    <a:pt x="7369" y="7342"/>
                  </a:cubicBezTo>
                  <a:cubicBezTo>
                    <a:pt x="7513" y="7161"/>
                    <a:pt x="7663" y="6986"/>
                    <a:pt x="7810" y="6819"/>
                  </a:cubicBezTo>
                  <a:cubicBezTo>
                    <a:pt x="7957" y="6653"/>
                    <a:pt x="8112" y="6483"/>
                    <a:pt x="8276" y="6311"/>
                  </a:cubicBezTo>
                  <a:cubicBezTo>
                    <a:pt x="8570" y="5997"/>
                    <a:pt x="8918" y="5690"/>
                    <a:pt x="9302" y="5385"/>
                  </a:cubicBezTo>
                  <a:cubicBezTo>
                    <a:pt x="9692" y="5085"/>
                    <a:pt x="9989" y="4749"/>
                    <a:pt x="10195" y="4379"/>
                  </a:cubicBezTo>
                  <a:cubicBezTo>
                    <a:pt x="10339" y="4117"/>
                    <a:pt x="10443" y="3826"/>
                    <a:pt x="10506" y="3507"/>
                  </a:cubicBezTo>
                  <a:cubicBezTo>
                    <a:pt x="10565" y="3188"/>
                    <a:pt x="10627" y="2866"/>
                    <a:pt x="10675" y="2538"/>
                  </a:cubicBezTo>
                  <a:cubicBezTo>
                    <a:pt x="10726" y="2216"/>
                    <a:pt x="10780" y="1900"/>
                    <a:pt x="10845" y="1592"/>
                  </a:cubicBezTo>
                  <a:cubicBezTo>
                    <a:pt x="10907" y="1287"/>
                    <a:pt x="11014" y="1016"/>
                    <a:pt x="11161" y="776"/>
                  </a:cubicBezTo>
                  <a:cubicBezTo>
                    <a:pt x="11311" y="536"/>
                    <a:pt x="11523" y="350"/>
                    <a:pt x="11800" y="208"/>
                  </a:cubicBezTo>
                  <a:cubicBezTo>
                    <a:pt x="12074" y="67"/>
                    <a:pt x="12441" y="0"/>
                    <a:pt x="12902" y="0"/>
                  </a:cubicBezTo>
                  <a:cubicBezTo>
                    <a:pt x="13450" y="0"/>
                    <a:pt x="13956" y="112"/>
                    <a:pt x="14411" y="344"/>
                  </a:cubicBezTo>
                  <a:cubicBezTo>
                    <a:pt x="14869" y="573"/>
                    <a:pt x="15250" y="881"/>
                    <a:pt x="15567" y="1270"/>
                  </a:cubicBezTo>
                  <a:cubicBezTo>
                    <a:pt x="15880" y="1657"/>
                    <a:pt x="16126" y="2101"/>
                    <a:pt x="16304" y="2600"/>
                  </a:cubicBezTo>
                  <a:cubicBezTo>
                    <a:pt x="16479" y="3103"/>
                    <a:pt x="16570" y="3609"/>
                    <a:pt x="16570" y="4123"/>
                  </a:cubicBezTo>
                  <a:cubicBezTo>
                    <a:pt x="16570" y="4653"/>
                    <a:pt x="16491" y="5162"/>
                    <a:pt x="16332" y="5645"/>
                  </a:cubicBezTo>
                  <a:cubicBezTo>
                    <a:pt x="16174" y="6125"/>
                    <a:pt x="15982" y="6610"/>
                    <a:pt x="15759" y="7096"/>
                  </a:cubicBezTo>
                  <a:cubicBezTo>
                    <a:pt x="16072" y="7079"/>
                    <a:pt x="16389" y="7057"/>
                    <a:pt x="16705" y="7034"/>
                  </a:cubicBezTo>
                  <a:cubicBezTo>
                    <a:pt x="17019" y="7011"/>
                    <a:pt x="17335" y="7000"/>
                    <a:pt x="17652" y="7000"/>
                  </a:cubicBezTo>
                  <a:cubicBezTo>
                    <a:pt x="18149" y="7000"/>
                    <a:pt x="18630" y="7048"/>
                    <a:pt x="19099" y="7144"/>
                  </a:cubicBezTo>
                  <a:cubicBezTo>
                    <a:pt x="19568" y="7237"/>
                    <a:pt x="19986" y="7395"/>
                    <a:pt x="20356" y="7616"/>
                  </a:cubicBezTo>
                  <a:cubicBezTo>
                    <a:pt x="20726" y="7839"/>
                    <a:pt x="21026" y="8144"/>
                    <a:pt x="21255" y="8528"/>
                  </a:cubicBezTo>
                  <a:cubicBezTo>
                    <a:pt x="21486" y="8918"/>
                    <a:pt x="21600" y="9409"/>
                    <a:pt x="21600" y="10002"/>
                  </a:cubicBezTo>
                  <a:cubicBezTo>
                    <a:pt x="21600" y="10265"/>
                    <a:pt x="21580" y="10519"/>
                    <a:pt x="21535" y="10773"/>
                  </a:cubicBezTo>
                  <a:cubicBezTo>
                    <a:pt x="21484" y="11030"/>
                    <a:pt x="21419" y="11284"/>
                    <a:pt x="21328" y="11543"/>
                  </a:cubicBezTo>
                  <a:moveTo>
                    <a:pt x="4258" y="18519"/>
                  </a:moveTo>
                  <a:cubicBezTo>
                    <a:pt x="4555" y="18519"/>
                    <a:pt x="4809" y="18417"/>
                    <a:pt x="5024" y="18214"/>
                  </a:cubicBezTo>
                  <a:cubicBezTo>
                    <a:pt x="5233" y="18013"/>
                    <a:pt x="5340" y="17759"/>
                    <a:pt x="5340" y="17454"/>
                  </a:cubicBezTo>
                  <a:cubicBezTo>
                    <a:pt x="5340" y="17155"/>
                    <a:pt x="5233" y="16900"/>
                    <a:pt x="5024" y="16686"/>
                  </a:cubicBezTo>
                  <a:cubicBezTo>
                    <a:pt x="4812" y="16477"/>
                    <a:pt x="4557" y="16372"/>
                    <a:pt x="4258" y="16372"/>
                  </a:cubicBezTo>
                  <a:cubicBezTo>
                    <a:pt x="3941" y="16372"/>
                    <a:pt x="3684" y="16477"/>
                    <a:pt x="3486" y="16686"/>
                  </a:cubicBezTo>
                  <a:cubicBezTo>
                    <a:pt x="3289" y="16900"/>
                    <a:pt x="3190" y="17155"/>
                    <a:pt x="3190" y="17454"/>
                  </a:cubicBezTo>
                  <a:cubicBezTo>
                    <a:pt x="3190" y="17767"/>
                    <a:pt x="3289" y="18024"/>
                    <a:pt x="3486" y="18222"/>
                  </a:cubicBezTo>
                  <a:cubicBezTo>
                    <a:pt x="3681" y="18420"/>
                    <a:pt x="3939" y="18519"/>
                    <a:pt x="4258" y="18519"/>
                  </a:cubicBezTo>
                  <a:moveTo>
                    <a:pt x="19164" y="14342"/>
                  </a:moveTo>
                  <a:cubicBezTo>
                    <a:pt x="19703" y="13901"/>
                    <a:pt x="19975" y="13345"/>
                    <a:pt x="19975" y="12679"/>
                  </a:cubicBezTo>
                  <a:cubicBezTo>
                    <a:pt x="19975" y="12473"/>
                    <a:pt x="19918" y="12281"/>
                    <a:pt x="19805" y="12097"/>
                  </a:cubicBezTo>
                  <a:cubicBezTo>
                    <a:pt x="19695" y="11919"/>
                    <a:pt x="19576" y="11761"/>
                    <a:pt x="19446" y="11623"/>
                  </a:cubicBezTo>
                  <a:cubicBezTo>
                    <a:pt x="19590" y="11363"/>
                    <a:pt x="19720" y="11106"/>
                    <a:pt x="19833" y="10849"/>
                  </a:cubicBezTo>
                  <a:cubicBezTo>
                    <a:pt x="19944" y="10592"/>
                    <a:pt x="20003" y="10312"/>
                    <a:pt x="20003" y="10002"/>
                  </a:cubicBezTo>
                  <a:cubicBezTo>
                    <a:pt x="20003" y="9688"/>
                    <a:pt x="19924" y="9440"/>
                    <a:pt x="19766" y="9251"/>
                  </a:cubicBezTo>
                  <a:cubicBezTo>
                    <a:pt x="19607" y="9070"/>
                    <a:pt x="19415" y="8929"/>
                    <a:pt x="19184" y="8833"/>
                  </a:cubicBezTo>
                  <a:cubicBezTo>
                    <a:pt x="18955" y="8739"/>
                    <a:pt x="18698" y="8683"/>
                    <a:pt x="18418" y="8663"/>
                  </a:cubicBezTo>
                  <a:cubicBezTo>
                    <a:pt x="18138" y="8643"/>
                    <a:pt x="17884" y="8635"/>
                    <a:pt x="17649" y="8635"/>
                  </a:cubicBezTo>
                  <a:cubicBezTo>
                    <a:pt x="17242" y="8635"/>
                    <a:pt x="16835" y="8649"/>
                    <a:pt x="16423" y="8677"/>
                  </a:cubicBezTo>
                  <a:cubicBezTo>
                    <a:pt x="16010" y="8706"/>
                    <a:pt x="15606" y="8720"/>
                    <a:pt x="15199" y="8720"/>
                  </a:cubicBezTo>
                  <a:cubicBezTo>
                    <a:pt x="14917" y="8720"/>
                    <a:pt x="14643" y="8706"/>
                    <a:pt x="14366" y="8677"/>
                  </a:cubicBezTo>
                  <a:cubicBezTo>
                    <a:pt x="14089" y="8649"/>
                    <a:pt x="13829" y="8584"/>
                    <a:pt x="13574" y="8474"/>
                  </a:cubicBezTo>
                  <a:cubicBezTo>
                    <a:pt x="13574" y="8104"/>
                    <a:pt x="13645" y="7754"/>
                    <a:pt x="13792" y="7421"/>
                  </a:cubicBezTo>
                  <a:cubicBezTo>
                    <a:pt x="13936" y="7087"/>
                    <a:pt x="14094" y="6751"/>
                    <a:pt x="14275" y="6413"/>
                  </a:cubicBezTo>
                  <a:cubicBezTo>
                    <a:pt x="14448" y="6074"/>
                    <a:pt x="14606" y="5721"/>
                    <a:pt x="14747" y="5351"/>
                  </a:cubicBezTo>
                  <a:cubicBezTo>
                    <a:pt x="14886" y="4984"/>
                    <a:pt x="14953" y="4574"/>
                    <a:pt x="14953" y="4122"/>
                  </a:cubicBezTo>
                  <a:cubicBezTo>
                    <a:pt x="14953" y="3823"/>
                    <a:pt x="14905" y="3529"/>
                    <a:pt x="14812" y="3236"/>
                  </a:cubicBezTo>
                  <a:cubicBezTo>
                    <a:pt x="14716" y="2945"/>
                    <a:pt x="14583" y="2677"/>
                    <a:pt x="14411" y="2439"/>
                  </a:cubicBezTo>
                  <a:cubicBezTo>
                    <a:pt x="14238" y="2199"/>
                    <a:pt x="14027" y="2002"/>
                    <a:pt x="13775" y="1843"/>
                  </a:cubicBezTo>
                  <a:cubicBezTo>
                    <a:pt x="13521" y="1688"/>
                    <a:pt x="13230" y="1606"/>
                    <a:pt x="12893" y="1606"/>
                  </a:cubicBezTo>
                  <a:lnTo>
                    <a:pt x="12744" y="1606"/>
                  </a:lnTo>
                  <a:cubicBezTo>
                    <a:pt x="12681" y="1606"/>
                    <a:pt x="12631" y="1617"/>
                    <a:pt x="12594" y="1634"/>
                  </a:cubicBezTo>
                  <a:cubicBezTo>
                    <a:pt x="12523" y="1671"/>
                    <a:pt x="12481" y="1705"/>
                    <a:pt x="12472" y="1742"/>
                  </a:cubicBezTo>
                  <a:cubicBezTo>
                    <a:pt x="12464" y="1778"/>
                    <a:pt x="12450" y="1838"/>
                    <a:pt x="12430" y="1920"/>
                  </a:cubicBezTo>
                  <a:cubicBezTo>
                    <a:pt x="12323" y="2450"/>
                    <a:pt x="12221" y="3007"/>
                    <a:pt x="12128" y="3586"/>
                  </a:cubicBezTo>
                  <a:cubicBezTo>
                    <a:pt x="12034" y="4167"/>
                    <a:pt x="11854" y="4698"/>
                    <a:pt x="11596" y="5176"/>
                  </a:cubicBezTo>
                  <a:cubicBezTo>
                    <a:pt x="11334" y="5636"/>
                    <a:pt x="11000" y="6034"/>
                    <a:pt x="10596" y="6367"/>
                  </a:cubicBezTo>
                  <a:cubicBezTo>
                    <a:pt x="10189" y="6701"/>
                    <a:pt x="9802" y="7051"/>
                    <a:pt x="9432" y="7421"/>
                  </a:cubicBezTo>
                  <a:cubicBezTo>
                    <a:pt x="9169" y="7700"/>
                    <a:pt x="8949" y="7954"/>
                    <a:pt x="8771" y="8183"/>
                  </a:cubicBezTo>
                  <a:cubicBezTo>
                    <a:pt x="8593" y="8412"/>
                    <a:pt x="8403" y="8632"/>
                    <a:pt x="8211" y="8833"/>
                  </a:cubicBezTo>
                  <a:cubicBezTo>
                    <a:pt x="8016" y="9036"/>
                    <a:pt x="7799" y="9222"/>
                    <a:pt x="7556" y="9400"/>
                  </a:cubicBezTo>
                  <a:cubicBezTo>
                    <a:pt x="7313" y="9575"/>
                    <a:pt x="7019" y="9736"/>
                    <a:pt x="6674" y="9880"/>
                  </a:cubicBezTo>
                  <a:lnTo>
                    <a:pt x="6646" y="9880"/>
                  </a:lnTo>
                  <a:lnTo>
                    <a:pt x="6646" y="18572"/>
                  </a:lnTo>
                  <a:cubicBezTo>
                    <a:pt x="7279" y="18572"/>
                    <a:pt x="7889" y="18649"/>
                    <a:pt x="8485" y="18795"/>
                  </a:cubicBezTo>
                  <a:cubicBezTo>
                    <a:pt x="9081" y="18945"/>
                    <a:pt x="9683" y="19103"/>
                    <a:pt x="10294" y="19270"/>
                  </a:cubicBezTo>
                  <a:cubicBezTo>
                    <a:pt x="10901" y="19439"/>
                    <a:pt x="11537" y="19592"/>
                    <a:pt x="12207" y="19741"/>
                  </a:cubicBezTo>
                  <a:cubicBezTo>
                    <a:pt x="12874" y="19891"/>
                    <a:pt x="13594" y="19965"/>
                    <a:pt x="14374" y="19965"/>
                  </a:cubicBezTo>
                  <a:cubicBezTo>
                    <a:pt x="14781" y="19965"/>
                    <a:pt x="15222" y="19939"/>
                    <a:pt x="15699" y="19885"/>
                  </a:cubicBezTo>
                  <a:cubicBezTo>
                    <a:pt x="16177" y="19829"/>
                    <a:pt x="16626" y="19710"/>
                    <a:pt x="17047" y="19527"/>
                  </a:cubicBezTo>
                  <a:cubicBezTo>
                    <a:pt x="17468" y="19343"/>
                    <a:pt x="17816" y="19086"/>
                    <a:pt x="18101" y="18762"/>
                  </a:cubicBezTo>
                  <a:cubicBezTo>
                    <a:pt x="18387" y="18440"/>
                    <a:pt x="18525" y="18010"/>
                    <a:pt x="18525" y="17477"/>
                  </a:cubicBezTo>
                  <a:cubicBezTo>
                    <a:pt x="18525" y="17386"/>
                    <a:pt x="18522" y="17304"/>
                    <a:pt x="18517" y="17225"/>
                  </a:cubicBezTo>
                  <a:cubicBezTo>
                    <a:pt x="18503" y="17152"/>
                    <a:pt x="18488" y="17070"/>
                    <a:pt x="18471" y="16980"/>
                  </a:cubicBezTo>
                  <a:cubicBezTo>
                    <a:pt x="18785" y="16836"/>
                    <a:pt x="19028" y="16596"/>
                    <a:pt x="19195" y="16262"/>
                  </a:cubicBezTo>
                  <a:cubicBezTo>
                    <a:pt x="19364" y="15929"/>
                    <a:pt x="19446" y="15593"/>
                    <a:pt x="19446" y="15263"/>
                  </a:cubicBezTo>
                  <a:cubicBezTo>
                    <a:pt x="19449" y="14912"/>
                    <a:pt x="19350" y="14605"/>
                    <a:pt x="19164" y="14342"/>
                  </a:cubicBezTo>
                </a:path>
              </a:pathLst>
            </a:custGeom>
            <a:solidFill>
              <a:schemeClr val="tx1">
                <a:lumMod val="50000"/>
                <a:lumOff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solidFill>
                  <a:schemeClr val="lt1"/>
                </a:solidFill>
                <a:latin typeface="+mn-lt"/>
                <a:ea typeface="+mn-ea"/>
              </a:endParaRPr>
            </a:p>
          </p:txBody>
        </p:sp>
      </p:grpSp>
      <p:grpSp>
        <p:nvGrpSpPr>
          <p:cNvPr id="26" name="Group 16"/>
          <p:cNvGrpSpPr/>
          <p:nvPr userDrawn="1"/>
        </p:nvGrpSpPr>
        <p:grpSpPr bwMode="auto">
          <a:xfrm>
            <a:off x="10236079" y="6070822"/>
            <a:ext cx="380048" cy="380121"/>
            <a:chOff x="0" y="0"/>
            <a:chExt cx="965499" cy="965499"/>
          </a:xfrm>
        </p:grpSpPr>
        <p:sp>
          <p:nvSpPr>
            <p:cNvPr id="27" name="AutoShape 17"/>
            <p:cNvSpPr/>
            <p:nvPr/>
          </p:nvSpPr>
          <p:spPr bwMode="auto">
            <a:xfrm>
              <a:off x="0" y="0"/>
              <a:ext cx="965499" cy="965499"/>
            </a:xfrm>
            <a:custGeom>
              <a:avLst/>
              <a:gdLst>
                <a:gd name="T0" fmla="*/ 482725 w 19679"/>
                <a:gd name="T1" fmla="*/ 529874 h 19679"/>
                <a:gd name="T2" fmla="*/ 482725 w 19679"/>
                <a:gd name="T3" fmla="*/ 529874 h 19679"/>
                <a:gd name="T4" fmla="*/ 482725 w 19679"/>
                <a:gd name="T5" fmla="*/ 529874 h 19679"/>
                <a:gd name="T6" fmla="*/ 482725 w 19679"/>
                <a:gd name="T7" fmla="*/ 529874 h 1967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679" h="19679">
                  <a:moveTo>
                    <a:pt x="16796" y="2881"/>
                  </a:moveTo>
                  <a:cubicBezTo>
                    <a:pt x="20638" y="6724"/>
                    <a:pt x="20638" y="12953"/>
                    <a:pt x="16796" y="16796"/>
                  </a:cubicBezTo>
                  <a:cubicBezTo>
                    <a:pt x="12953" y="20639"/>
                    <a:pt x="6724" y="20639"/>
                    <a:pt x="2881" y="16796"/>
                  </a:cubicBezTo>
                  <a:cubicBezTo>
                    <a:pt x="-961" y="12953"/>
                    <a:pt x="-961" y="6724"/>
                    <a:pt x="2881" y="2881"/>
                  </a:cubicBezTo>
                  <a:cubicBezTo>
                    <a:pt x="6724" y="-961"/>
                    <a:pt x="12953" y="-961"/>
                    <a:pt x="16796" y="2881"/>
                  </a:cubicBezTo>
                  <a:close/>
                </a:path>
              </a:pathLst>
            </a:custGeom>
            <a:gradFill>
              <a:gsLst>
                <a:gs pos="0">
                  <a:schemeClr val="bg1"/>
                </a:gs>
                <a:gs pos="51000">
                  <a:schemeClr val="bg1">
                    <a:lumMod val="95000"/>
                  </a:schemeClr>
                </a:gs>
                <a:gs pos="100000">
                  <a:schemeClr val="bg1">
                    <a:lumMod val="75000"/>
                  </a:schemeClr>
                </a:gs>
              </a:gsLst>
              <a:lin ang="18900000" scaled="0"/>
            </a:gradFill>
            <a:ln>
              <a:noFill/>
            </a:ln>
            <a:effectLst>
              <a:outerShdw blurRad="88900" dist="38100" dir="7680000" algn="tl" rotWithShape="0">
                <a:prstClr val="black">
                  <a:alpha val="3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solidFill>
                  <a:schemeClr val="lt1"/>
                </a:solidFill>
                <a:latin typeface="+mn-lt"/>
                <a:ea typeface="+mn-ea"/>
              </a:endParaRPr>
            </a:p>
          </p:txBody>
        </p:sp>
        <p:sp>
          <p:nvSpPr>
            <p:cNvPr id="30" name="AutoShape 18"/>
            <p:cNvSpPr/>
            <p:nvPr/>
          </p:nvSpPr>
          <p:spPr bwMode="auto">
            <a:xfrm>
              <a:off x="293617" y="264823"/>
              <a:ext cx="393980" cy="393980"/>
            </a:xfrm>
            <a:custGeom>
              <a:avLst/>
              <a:gdLst>
                <a:gd name="T0" fmla="*/ 196990 w 21600"/>
                <a:gd name="T1" fmla="*/ 196990 h 21600"/>
                <a:gd name="T2" fmla="*/ 196990 w 21600"/>
                <a:gd name="T3" fmla="*/ 196990 h 21600"/>
                <a:gd name="T4" fmla="*/ 196990 w 21600"/>
                <a:gd name="T5" fmla="*/ 196990 h 21600"/>
                <a:gd name="T6" fmla="*/ 196990 w 21600"/>
                <a:gd name="T7" fmla="*/ 196990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21600" y="6949"/>
                  </a:moveTo>
                  <a:cubicBezTo>
                    <a:pt x="21600" y="7542"/>
                    <a:pt x="21407" y="8153"/>
                    <a:pt x="21017" y="8781"/>
                  </a:cubicBezTo>
                  <a:cubicBezTo>
                    <a:pt x="20628" y="9416"/>
                    <a:pt x="20109" y="10015"/>
                    <a:pt x="19458" y="10585"/>
                  </a:cubicBezTo>
                  <a:cubicBezTo>
                    <a:pt x="18806" y="11152"/>
                    <a:pt x="18040" y="11651"/>
                    <a:pt x="17159" y="12083"/>
                  </a:cubicBezTo>
                  <a:cubicBezTo>
                    <a:pt x="16275" y="12512"/>
                    <a:pt x="15327" y="12820"/>
                    <a:pt x="14315" y="12996"/>
                  </a:cubicBezTo>
                  <a:cubicBezTo>
                    <a:pt x="13880" y="13090"/>
                    <a:pt x="13492" y="13284"/>
                    <a:pt x="13151" y="13578"/>
                  </a:cubicBezTo>
                  <a:cubicBezTo>
                    <a:pt x="12809" y="13872"/>
                    <a:pt x="12641" y="14204"/>
                    <a:pt x="12641" y="14571"/>
                  </a:cubicBezTo>
                  <a:cubicBezTo>
                    <a:pt x="12641" y="14900"/>
                    <a:pt x="12713" y="15140"/>
                    <a:pt x="12865" y="15293"/>
                  </a:cubicBezTo>
                  <a:cubicBezTo>
                    <a:pt x="13015" y="15449"/>
                    <a:pt x="13177" y="15596"/>
                    <a:pt x="13364" y="15728"/>
                  </a:cubicBezTo>
                  <a:cubicBezTo>
                    <a:pt x="13546" y="15866"/>
                    <a:pt x="13717" y="16010"/>
                    <a:pt x="13874" y="16169"/>
                  </a:cubicBezTo>
                  <a:cubicBezTo>
                    <a:pt x="14032" y="16330"/>
                    <a:pt x="14125" y="16574"/>
                    <a:pt x="14160" y="16903"/>
                  </a:cubicBezTo>
                  <a:cubicBezTo>
                    <a:pt x="14195" y="17117"/>
                    <a:pt x="14187" y="17340"/>
                    <a:pt x="14133" y="17564"/>
                  </a:cubicBezTo>
                  <a:cubicBezTo>
                    <a:pt x="14099" y="17696"/>
                    <a:pt x="14200" y="17805"/>
                    <a:pt x="14432" y="17893"/>
                  </a:cubicBezTo>
                  <a:cubicBezTo>
                    <a:pt x="14667" y="17981"/>
                    <a:pt x="14956" y="18069"/>
                    <a:pt x="15295" y="18154"/>
                  </a:cubicBezTo>
                  <a:cubicBezTo>
                    <a:pt x="15637" y="18236"/>
                    <a:pt x="15987" y="18342"/>
                    <a:pt x="16344" y="18468"/>
                  </a:cubicBezTo>
                  <a:cubicBezTo>
                    <a:pt x="16705" y="18595"/>
                    <a:pt x="16975" y="18756"/>
                    <a:pt x="17164" y="18953"/>
                  </a:cubicBezTo>
                  <a:cubicBezTo>
                    <a:pt x="17266" y="19050"/>
                    <a:pt x="17351" y="19232"/>
                    <a:pt x="17415" y="19511"/>
                  </a:cubicBezTo>
                  <a:cubicBezTo>
                    <a:pt x="17477" y="19790"/>
                    <a:pt x="17519" y="20090"/>
                    <a:pt x="17535" y="20416"/>
                  </a:cubicBezTo>
                  <a:cubicBezTo>
                    <a:pt x="17554" y="20727"/>
                    <a:pt x="17527" y="21000"/>
                    <a:pt x="17463" y="21241"/>
                  </a:cubicBezTo>
                  <a:cubicBezTo>
                    <a:pt x="17394" y="21479"/>
                    <a:pt x="17268" y="21599"/>
                    <a:pt x="17089" y="21599"/>
                  </a:cubicBezTo>
                  <a:lnTo>
                    <a:pt x="4496" y="21599"/>
                  </a:lnTo>
                  <a:cubicBezTo>
                    <a:pt x="4328" y="21599"/>
                    <a:pt x="4205" y="21479"/>
                    <a:pt x="4130" y="21241"/>
                  </a:cubicBezTo>
                  <a:cubicBezTo>
                    <a:pt x="4061" y="21000"/>
                    <a:pt x="4032" y="20727"/>
                    <a:pt x="4048" y="20416"/>
                  </a:cubicBezTo>
                  <a:cubicBezTo>
                    <a:pt x="4066" y="20090"/>
                    <a:pt x="4109" y="19790"/>
                    <a:pt x="4170" y="19511"/>
                  </a:cubicBezTo>
                  <a:cubicBezTo>
                    <a:pt x="4235" y="19232"/>
                    <a:pt x="4317" y="19050"/>
                    <a:pt x="4421" y="18953"/>
                  </a:cubicBezTo>
                  <a:cubicBezTo>
                    <a:pt x="4616" y="18768"/>
                    <a:pt x="4889" y="18606"/>
                    <a:pt x="5239" y="18474"/>
                  </a:cubicBezTo>
                  <a:cubicBezTo>
                    <a:pt x="5588" y="18345"/>
                    <a:pt x="5933" y="18236"/>
                    <a:pt x="6269" y="18154"/>
                  </a:cubicBezTo>
                  <a:cubicBezTo>
                    <a:pt x="6606" y="18069"/>
                    <a:pt x="6897" y="17984"/>
                    <a:pt x="7145" y="17901"/>
                  </a:cubicBezTo>
                  <a:cubicBezTo>
                    <a:pt x="7394" y="17816"/>
                    <a:pt x="7498" y="17705"/>
                    <a:pt x="7463" y="17564"/>
                  </a:cubicBezTo>
                  <a:cubicBezTo>
                    <a:pt x="7428" y="17432"/>
                    <a:pt x="7412" y="17311"/>
                    <a:pt x="7412" y="17205"/>
                  </a:cubicBezTo>
                  <a:lnTo>
                    <a:pt x="7412" y="16903"/>
                  </a:lnTo>
                  <a:cubicBezTo>
                    <a:pt x="7428" y="16574"/>
                    <a:pt x="7519" y="16330"/>
                    <a:pt x="7687" y="16169"/>
                  </a:cubicBezTo>
                  <a:cubicBezTo>
                    <a:pt x="7853" y="16010"/>
                    <a:pt x="8034" y="15866"/>
                    <a:pt x="8224" y="15728"/>
                  </a:cubicBezTo>
                  <a:cubicBezTo>
                    <a:pt x="8416" y="15593"/>
                    <a:pt x="8584" y="15446"/>
                    <a:pt x="8729" y="15293"/>
                  </a:cubicBezTo>
                  <a:cubicBezTo>
                    <a:pt x="8873" y="15140"/>
                    <a:pt x="8945" y="14900"/>
                    <a:pt x="8945" y="14571"/>
                  </a:cubicBezTo>
                  <a:cubicBezTo>
                    <a:pt x="8945" y="14204"/>
                    <a:pt x="8777" y="13875"/>
                    <a:pt x="8440" y="13578"/>
                  </a:cubicBezTo>
                  <a:cubicBezTo>
                    <a:pt x="8104" y="13281"/>
                    <a:pt x="7706" y="13090"/>
                    <a:pt x="7247" y="12996"/>
                  </a:cubicBezTo>
                  <a:cubicBezTo>
                    <a:pt x="6251" y="12811"/>
                    <a:pt x="5311" y="12497"/>
                    <a:pt x="4435" y="12062"/>
                  </a:cubicBezTo>
                  <a:cubicBezTo>
                    <a:pt x="3554" y="11628"/>
                    <a:pt x="2790" y="11128"/>
                    <a:pt x="2133" y="10570"/>
                  </a:cubicBezTo>
                  <a:cubicBezTo>
                    <a:pt x="1479" y="10012"/>
                    <a:pt x="958" y="9416"/>
                    <a:pt x="574" y="8781"/>
                  </a:cubicBezTo>
                  <a:cubicBezTo>
                    <a:pt x="189" y="8153"/>
                    <a:pt x="0" y="7542"/>
                    <a:pt x="0" y="6949"/>
                  </a:cubicBezTo>
                  <a:lnTo>
                    <a:pt x="0" y="4320"/>
                  </a:lnTo>
                  <a:cubicBezTo>
                    <a:pt x="0" y="4009"/>
                    <a:pt x="93" y="3756"/>
                    <a:pt x="285" y="3553"/>
                  </a:cubicBezTo>
                  <a:cubicBezTo>
                    <a:pt x="475" y="3354"/>
                    <a:pt x="712" y="3254"/>
                    <a:pt x="998" y="3254"/>
                  </a:cubicBezTo>
                  <a:lnTo>
                    <a:pt x="5124" y="3254"/>
                  </a:lnTo>
                  <a:cubicBezTo>
                    <a:pt x="5108" y="3139"/>
                    <a:pt x="5097" y="3025"/>
                    <a:pt x="5097" y="2901"/>
                  </a:cubicBezTo>
                  <a:lnTo>
                    <a:pt x="5097" y="2564"/>
                  </a:lnTo>
                  <a:lnTo>
                    <a:pt x="5097" y="2505"/>
                  </a:lnTo>
                  <a:cubicBezTo>
                    <a:pt x="5097" y="2005"/>
                    <a:pt x="5118" y="1594"/>
                    <a:pt x="5156" y="1265"/>
                  </a:cubicBezTo>
                  <a:cubicBezTo>
                    <a:pt x="5193" y="939"/>
                    <a:pt x="5260" y="684"/>
                    <a:pt x="5353" y="499"/>
                  </a:cubicBezTo>
                  <a:cubicBezTo>
                    <a:pt x="5444" y="320"/>
                    <a:pt x="5580" y="187"/>
                    <a:pt x="5754" y="111"/>
                  </a:cubicBezTo>
                  <a:cubicBezTo>
                    <a:pt x="5928" y="38"/>
                    <a:pt x="6165" y="0"/>
                    <a:pt x="6464" y="0"/>
                  </a:cubicBezTo>
                  <a:lnTo>
                    <a:pt x="15132" y="0"/>
                  </a:lnTo>
                  <a:cubicBezTo>
                    <a:pt x="15410" y="0"/>
                    <a:pt x="15645" y="38"/>
                    <a:pt x="15829" y="111"/>
                  </a:cubicBezTo>
                  <a:cubicBezTo>
                    <a:pt x="16011" y="187"/>
                    <a:pt x="16149" y="320"/>
                    <a:pt x="16243" y="499"/>
                  </a:cubicBezTo>
                  <a:cubicBezTo>
                    <a:pt x="16336" y="684"/>
                    <a:pt x="16403" y="939"/>
                    <a:pt x="16435" y="1265"/>
                  </a:cubicBezTo>
                  <a:cubicBezTo>
                    <a:pt x="16470" y="1594"/>
                    <a:pt x="16486" y="2006"/>
                    <a:pt x="16486" y="2505"/>
                  </a:cubicBezTo>
                  <a:lnTo>
                    <a:pt x="16486" y="2863"/>
                  </a:lnTo>
                  <a:cubicBezTo>
                    <a:pt x="16486" y="2989"/>
                    <a:pt x="16478" y="3119"/>
                    <a:pt x="16459" y="3251"/>
                  </a:cubicBezTo>
                  <a:lnTo>
                    <a:pt x="20603" y="3251"/>
                  </a:lnTo>
                  <a:cubicBezTo>
                    <a:pt x="20884" y="3251"/>
                    <a:pt x="21119" y="3351"/>
                    <a:pt x="21314" y="3550"/>
                  </a:cubicBezTo>
                  <a:cubicBezTo>
                    <a:pt x="21503" y="3753"/>
                    <a:pt x="21599" y="4006"/>
                    <a:pt x="21599" y="4317"/>
                  </a:cubicBezTo>
                  <a:lnTo>
                    <a:pt x="21599" y="6949"/>
                  </a:lnTo>
                  <a:lnTo>
                    <a:pt x="21600" y="6949"/>
                  </a:lnTo>
                  <a:close/>
                  <a:moveTo>
                    <a:pt x="6283" y="10550"/>
                  </a:moveTo>
                  <a:cubicBezTo>
                    <a:pt x="6072" y="9798"/>
                    <a:pt x="5882" y="8978"/>
                    <a:pt x="5714" y="8082"/>
                  </a:cubicBezTo>
                  <a:cubicBezTo>
                    <a:pt x="5548" y="7189"/>
                    <a:pt x="5407" y="6299"/>
                    <a:pt x="5287" y="5415"/>
                  </a:cubicBezTo>
                  <a:lnTo>
                    <a:pt x="1962" y="5415"/>
                  </a:lnTo>
                  <a:lnTo>
                    <a:pt x="1962" y="6949"/>
                  </a:lnTo>
                  <a:cubicBezTo>
                    <a:pt x="1962" y="7137"/>
                    <a:pt x="2064" y="7389"/>
                    <a:pt x="2264" y="7709"/>
                  </a:cubicBezTo>
                  <a:cubicBezTo>
                    <a:pt x="2462" y="8029"/>
                    <a:pt x="2753" y="8358"/>
                    <a:pt x="3126" y="8699"/>
                  </a:cubicBezTo>
                  <a:cubicBezTo>
                    <a:pt x="3500" y="9040"/>
                    <a:pt x="3954" y="9381"/>
                    <a:pt x="4488" y="9707"/>
                  </a:cubicBezTo>
                  <a:cubicBezTo>
                    <a:pt x="5022" y="10033"/>
                    <a:pt x="5618" y="10315"/>
                    <a:pt x="6283" y="10550"/>
                  </a:cubicBezTo>
                  <a:moveTo>
                    <a:pt x="19629" y="5415"/>
                  </a:moveTo>
                  <a:lnTo>
                    <a:pt x="16280" y="5415"/>
                  </a:lnTo>
                  <a:cubicBezTo>
                    <a:pt x="16179" y="6299"/>
                    <a:pt x="16043" y="7189"/>
                    <a:pt x="15877" y="8082"/>
                  </a:cubicBezTo>
                  <a:cubicBezTo>
                    <a:pt x="15712" y="8978"/>
                    <a:pt x="15522" y="9798"/>
                    <a:pt x="15308" y="10550"/>
                  </a:cubicBezTo>
                  <a:cubicBezTo>
                    <a:pt x="15973" y="10315"/>
                    <a:pt x="16574" y="10033"/>
                    <a:pt x="17105" y="9707"/>
                  </a:cubicBezTo>
                  <a:cubicBezTo>
                    <a:pt x="17637" y="9381"/>
                    <a:pt x="18091" y="9040"/>
                    <a:pt x="18467" y="8699"/>
                  </a:cubicBezTo>
                  <a:cubicBezTo>
                    <a:pt x="18844" y="8358"/>
                    <a:pt x="19130" y="8029"/>
                    <a:pt x="19330" y="7709"/>
                  </a:cubicBezTo>
                  <a:cubicBezTo>
                    <a:pt x="19530" y="7389"/>
                    <a:pt x="19629" y="7137"/>
                    <a:pt x="19629" y="6949"/>
                  </a:cubicBezTo>
                  <a:lnTo>
                    <a:pt x="19629" y="5415"/>
                  </a:lnTo>
                  <a:close/>
                </a:path>
              </a:pathLst>
            </a:custGeom>
            <a:solidFill>
              <a:schemeClr val="tx1">
                <a:lumMod val="50000"/>
                <a:lumOff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solidFill>
                  <a:schemeClr val="lt1"/>
                </a:solidFill>
                <a:latin typeface="+mn-lt"/>
                <a:ea typeface="+mn-ea"/>
              </a:endParaRPr>
            </a:p>
          </p:txBody>
        </p:sp>
      </p:grpSp>
      <p:grpSp>
        <p:nvGrpSpPr>
          <p:cNvPr id="31" name="Group 19"/>
          <p:cNvGrpSpPr/>
          <p:nvPr userDrawn="1"/>
        </p:nvGrpSpPr>
        <p:grpSpPr bwMode="auto">
          <a:xfrm>
            <a:off x="10773613" y="6070822"/>
            <a:ext cx="380048" cy="380121"/>
            <a:chOff x="0" y="0"/>
            <a:chExt cx="965499" cy="965499"/>
          </a:xfrm>
        </p:grpSpPr>
        <p:sp>
          <p:nvSpPr>
            <p:cNvPr id="32" name="AutoShape 20"/>
            <p:cNvSpPr/>
            <p:nvPr/>
          </p:nvSpPr>
          <p:spPr bwMode="auto">
            <a:xfrm>
              <a:off x="0" y="0"/>
              <a:ext cx="965499" cy="965499"/>
            </a:xfrm>
            <a:custGeom>
              <a:avLst/>
              <a:gdLst>
                <a:gd name="T0" fmla="*/ 482725 w 19679"/>
                <a:gd name="T1" fmla="*/ 529874 h 19679"/>
                <a:gd name="T2" fmla="*/ 482725 w 19679"/>
                <a:gd name="T3" fmla="*/ 529874 h 19679"/>
                <a:gd name="T4" fmla="*/ 482725 w 19679"/>
                <a:gd name="T5" fmla="*/ 529874 h 19679"/>
                <a:gd name="T6" fmla="*/ 482725 w 19679"/>
                <a:gd name="T7" fmla="*/ 529874 h 1967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679" h="19679">
                  <a:moveTo>
                    <a:pt x="16796" y="2881"/>
                  </a:moveTo>
                  <a:cubicBezTo>
                    <a:pt x="20638" y="6724"/>
                    <a:pt x="20638" y="12953"/>
                    <a:pt x="16796" y="16796"/>
                  </a:cubicBezTo>
                  <a:cubicBezTo>
                    <a:pt x="12953" y="20639"/>
                    <a:pt x="6724" y="20639"/>
                    <a:pt x="2881" y="16796"/>
                  </a:cubicBezTo>
                  <a:cubicBezTo>
                    <a:pt x="-961" y="12953"/>
                    <a:pt x="-961" y="6724"/>
                    <a:pt x="2881" y="2881"/>
                  </a:cubicBezTo>
                  <a:cubicBezTo>
                    <a:pt x="6724" y="-961"/>
                    <a:pt x="12953" y="-961"/>
                    <a:pt x="16796" y="2881"/>
                  </a:cubicBezTo>
                  <a:close/>
                </a:path>
              </a:pathLst>
            </a:custGeom>
            <a:gradFill>
              <a:gsLst>
                <a:gs pos="0">
                  <a:schemeClr val="bg1"/>
                </a:gs>
                <a:gs pos="51000">
                  <a:schemeClr val="bg1">
                    <a:lumMod val="95000"/>
                  </a:schemeClr>
                </a:gs>
                <a:gs pos="100000">
                  <a:schemeClr val="bg1">
                    <a:lumMod val="75000"/>
                  </a:schemeClr>
                </a:gs>
              </a:gsLst>
              <a:lin ang="18900000" scaled="0"/>
            </a:gradFill>
            <a:ln>
              <a:noFill/>
            </a:ln>
            <a:effectLst>
              <a:outerShdw blurRad="88900" dist="38100" dir="7680000" algn="tl" rotWithShape="0">
                <a:prstClr val="black">
                  <a:alpha val="3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solidFill>
                  <a:schemeClr val="lt1"/>
                </a:solidFill>
                <a:latin typeface="+mn-lt"/>
                <a:ea typeface="+mn-ea"/>
              </a:endParaRPr>
            </a:p>
          </p:txBody>
        </p:sp>
        <p:sp>
          <p:nvSpPr>
            <p:cNvPr id="33" name="AutoShape 21"/>
            <p:cNvSpPr/>
            <p:nvPr/>
          </p:nvSpPr>
          <p:spPr bwMode="auto">
            <a:xfrm>
              <a:off x="292545" y="314566"/>
              <a:ext cx="380408" cy="307104"/>
            </a:xfrm>
            <a:custGeom>
              <a:avLst/>
              <a:gdLst>
                <a:gd name="T0" fmla="*/ 190204 w 21600"/>
                <a:gd name="T1" fmla="*/ 153552 h 21600"/>
                <a:gd name="T2" fmla="*/ 190204 w 21600"/>
                <a:gd name="T3" fmla="*/ 153552 h 21600"/>
                <a:gd name="T4" fmla="*/ 190204 w 21600"/>
                <a:gd name="T5" fmla="*/ 153552 h 21600"/>
                <a:gd name="T6" fmla="*/ 190204 w 21600"/>
                <a:gd name="T7" fmla="*/ 153552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20263" y="3222"/>
                  </a:moveTo>
                  <a:cubicBezTo>
                    <a:pt x="20632" y="3222"/>
                    <a:pt x="20946" y="3384"/>
                    <a:pt x="21208" y="3713"/>
                  </a:cubicBezTo>
                  <a:cubicBezTo>
                    <a:pt x="21470" y="4042"/>
                    <a:pt x="21600" y="4427"/>
                    <a:pt x="21600" y="4865"/>
                  </a:cubicBezTo>
                  <a:lnTo>
                    <a:pt x="21600" y="19984"/>
                  </a:lnTo>
                  <a:cubicBezTo>
                    <a:pt x="21600" y="20421"/>
                    <a:pt x="21470" y="20803"/>
                    <a:pt x="21208" y="21121"/>
                  </a:cubicBezTo>
                  <a:cubicBezTo>
                    <a:pt x="20946" y="21441"/>
                    <a:pt x="20632" y="21600"/>
                    <a:pt x="20263" y="21600"/>
                  </a:cubicBezTo>
                  <a:lnTo>
                    <a:pt x="1348" y="21600"/>
                  </a:lnTo>
                  <a:cubicBezTo>
                    <a:pt x="981" y="21600"/>
                    <a:pt x="663" y="21441"/>
                    <a:pt x="399" y="21121"/>
                  </a:cubicBezTo>
                  <a:cubicBezTo>
                    <a:pt x="134" y="20803"/>
                    <a:pt x="0" y="20421"/>
                    <a:pt x="0" y="19984"/>
                  </a:cubicBezTo>
                  <a:lnTo>
                    <a:pt x="0" y="4865"/>
                  </a:lnTo>
                  <a:cubicBezTo>
                    <a:pt x="0" y="4427"/>
                    <a:pt x="134" y="4042"/>
                    <a:pt x="399" y="3713"/>
                  </a:cubicBezTo>
                  <a:cubicBezTo>
                    <a:pt x="663" y="3384"/>
                    <a:pt x="981" y="3222"/>
                    <a:pt x="1348" y="3222"/>
                  </a:cubicBezTo>
                  <a:lnTo>
                    <a:pt x="5638" y="3222"/>
                  </a:lnTo>
                  <a:lnTo>
                    <a:pt x="6318" y="1460"/>
                  </a:lnTo>
                  <a:cubicBezTo>
                    <a:pt x="6458" y="1057"/>
                    <a:pt x="6717" y="713"/>
                    <a:pt x="7089" y="425"/>
                  </a:cubicBezTo>
                  <a:cubicBezTo>
                    <a:pt x="7466" y="143"/>
                    <a:pt x="7838" y="0"/>
                    <a:pt x="8203" y="0"/>
                  </a:cubicBezTo>
                  <a:lnTo>
                    <a:pt x="13396" y="0"/>
                  </a:lnTo>
                  <a:cubicBezTo>
                    <a:pt x="13763" y="0"/>
                    <a:pt x="14135" y="143"/>
                    <a:pt x="14510" y="425"/>
                  </a:cubicBezTo>
                  <a:cubicBezTo>
                    <a:pt x="14884" y="713"/>
                    <a:pt x="15146" y="1057"/>
                    <a:pt x="15293" y="1460"/>
                  </a:cubicBezTo>
                  <a:lnTo>
                    <a:pt x="15961" y="3222"/>
                  </a:lnTo>
                  <a:lnTo>
                    <a:pt x="20263" y="3222"/>
                  </a:lnTo>
                  <a:close/>
                  <a:moveTo>
                    <a:pt x="10806" y="19185"/>
                  </a:moveTo>
                  <a:cubicBezTo>
                    <a:pt x="11572" y="19185"/>
                    <a:pt x="12299" y="19002"/>
                    <a:pt x="12987" y="18650"/>
                  </a:cubicBezTo>
                  <a:cubicBezTo>
                    <a:pt x="13672" y="18294"/>
                    <a:pt x="14270" y="17810"/>
                    <a:pt x="14774" y="17196"/>
                  </a:cubicBezTo>
                  <a:cubicBezTo>
                    <a:pt x="15278" y="16582"/>
                    <a:pt x="15677" y="15862"/>
                    <a:pt x="15974" y="15048"/>
                  </a:cubicBezTo>
                  <a:cubicBezTo>
                    <a:pt x="16270" y="14234"/>
                    <a:pt x="16419" y="13356"/>
                    <a:pt x="16419" y="12421"/>
                  </a:cubicBezTo>
                  <a:cubicBezTo>
                    <a:pt x="16419" y="11499"/>
                    <a:pt x="16270" y="10623"/>
                    <a:pt x="15974" y="9795"/>
                  </a:cubicBezTo>
                  <a:cubicBezTo>
                    <a:pt x="15677" y="8966"/>
                    <a:pt x="15278" y="8249"/>
                    <a:pt x="14774" y="7644"/>
                  </a:cubicBezTo>
                  <a:cubicBezTo>
                    <a:pt x="14270" y="7036"/>
                    <a:pt x="13672" y="6557"/>
                    <a:pt x="12987" y="6199"/>
                  </a:cubicBezTo>
                  <a:cubicBezTo>
                    <a:pt x="12299" y="5843"/>
                    <a:pt x="11572" y="5667"/>
                    <a:pt x="10806" y="5667"/>
                  </a:cubicBezTo>
                  <a:cubicBezTo>
                    <a:pt x="10039" y="5667"/>
                    <a:pt x="9312" y="5846"/>
                    <a:pt x="8619" y="6199"/>
                  </a:cubicBezTo>
                  <a:cubicBezTo>
                    <a:pt x="7929" y="6557"/>
                    <a:pt x="7332" y="7036"/>
                    <a:pt x="6827" y="7644"/>
                  </a:cubicBezTo>
                  <a:cubicBezTo>
                    <a:pt x="6323" y="8249"/>
                    <a:pt x="5922" y="8963"/>
                    <a:pt x="5625" y="9789"/>
                  </a:cubicBezTo>
                  <a:cubicBezTo>
                    <a:pt x="5329" y="10612"/>
                    <a:pt x="5180" y="11490"/>
                    <a:pt x="5180" y="12421"/>
                  </a:cubicBezTo>
                  <a:cubicBezTo>
                    <a:pt x="5180" y="13356"/>
                    <a:pt x="5329" y="14234"/>
                    <a:pt x="5625" y="15048"/>
                  </a:cubicBezTo>
                  <a:cubicBezTo>
                    <a:pt x="5922" y="15862"/>
                    <a:pt x="6323" y="16582"/>
                    <a:pt x="6827" y="17196"/>
                  </a:cubicBezTo>
                  <a:cubicBezTo>
                    <a:pt x="7332" y="17810"/>
                    <a:pt x="7929" y="18294"/>
                    <a:pt x="8619" y="18650"/>
                  </a:cubicBezTo>
                  <a:cubicBezTo>
                    <a:pt x="9312" y="19005"/>
                    <a:pt x="10039" y="19185"/>
                    <a:pt x="10806" y="19185"/>
                  </a:cubicBezTo>
                  <a:moveTo>
                    <a:pt x="10806" y="7832"/>
                  </a:moveTo>
                  <a:cubicBezTo>
                    <a:pt x="11337" y="7832"/>
                    <a:pt x="11834" y="7953"/>
                    <a:pt x="12294" y="8191"/>
                  </a:cubicBezTo>
                  <a:cubicBezTo>
                    <a:pt x="12754" y="8432"/>
                    <a:pt x="13158" y="8755"/>
                    <a:pt x="13501" y="9169"/>
                  </a:cubicBezTo>
                  <a:cubicBezTo>
                    <a:pt x="13846" y="9583"/>
                    <a:pt x="14118" y="10068"/>
                    <a:pt x="14316" y="10623"/>
                  </a:cubicBezTo>
                  <a:cubicBezTo>
                    <a:pt x="14515" y="11184"/>
                    <a:pt x="14615" y="11781"/>
                    <a:pt x="14615" y="12421"/>
                  </a:cubicBezTo>
                  <a:cubicBezTo>
                    <a:pt x="14615" y="13056"/>
                    <a:pt x="14515" y="13649"/>
                    <a:pt x="14316" y="14205"/>
                  </a:cubicBezTo>
                  <a:cubicBezTo>
                    <a:pt x="14118" y="14757"/>
                    <a:pt x="13846" y="15245"/>
                    <a:pt x="13501" y="15668"/>
                  </a:cubicBezTo>
                  <a:cubicBezTo>
                    <a:pt x="13158" y="16091"/>
                    <a:pt x="12752" y="16420"/>
                    <a:pt x="12289" y="16661"/>
                  </a:cubicBezTo>
                  <a:cubicBezTo>
                    <a:pt x="11824" y="16899"/>
                    <a:pt x="11330" y="17016"/>
                    <a:pt x="10806" y="17016"/>
                  </a:cubicBezTo>
                  <a:cubicBezTo>
                    <a:pt x="10274" y="17016"/>
                    <a:pt x="9777" y="16899"/>
                    <a:pt x="9312" y="16661"/>
                  </a:cubicBezTo>
                  <a:cubicBezTo>
                    <a:pt x="8847" y="16420"/>
                    <a:pt x="8443" y="16091"/>
                    <a:pt x="8100" y="15668"/>
                  </a:cubicBezTo>
                  <a:cubicBezTo>
                    <a:pt x="7755" y="15245"/>
                    <a:pt x="7483" y="14754"/>
                    <a:pt x="7285" y="14199"/>
                  </a:cubicBezTo>
                  <a:cubicBezTo>
                    <a:pt x="7084" y="13641"/>
                    <a:pt x="6984" y="13044"/>
                    <a:pt x="6984" y="12421"/>
                  </a:cubicBezTo>
                  <a:cubicBezTo>
                    <a:pt x="6984" y="11781"/>
                    <a:pt x="7084" y="11184"/>
                    <a:pt x="7285" y="10623"/>
                  </a:cubicBezTo>
                  <a:cubicBezTo>
                    <a:pt x="7483" y="10068"/>
                    <a:pt x="7755" y="9583"/>
                    <a:pt x="8100" y="9169"/>
                  </a:cubicBezTo>
                  <a:cubicBezTo>
                    <a:pt x="8443" y="8755"/>
                    <a:pt x="8847" y="8431"/>
                    <a:pt x="9312" y="8191"/>
                  </a:cubicBezTo>
                  <a:cubicBezTo>
                    <a:pt x="9777" y="7953"/>
                    <a:pt x="10274" y="7832"/>
                    <a:pt x="10806" y="7832"/>
                  </a:cubicBezTo>
                </a:path>
              </a:pathLst>
            </a:custGeom>
            <a:solidFill>
              <a:schemeClr val="tx1">
                <a:lumMod val="50000"/>
                <a:lumOff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solidFill>
                  <a:schemeClr val="lt1"/>
                </a:solidFill>
                <a:latin typeface="+mn-lt"/>
                <a:ea typeface="+mn-ea"/>
              </a:endParaRPr>
            </a:p>
          </p:txBody>
        </p:sp>
      </p:grpSp>
      <p:grpSp>
        <p:nvGrpSpPr>
          <p:cNvPr id="34" name="Group 22"/>
          <p:cNvGrpSpPr/>
          <p:nvPr userDrawn="1"/>
        </p:nvGrpSpPr>
        <p:grpSpPr bwMode="auto">
          <a:xfrm>
            <a:off x="11311148" y="6070822"/>
            <a:ext cx="380048" cy="380121"/>
            <a:chOff x="0" y="0"/>
            <a:chExt cx="965499" cy="965499"/>
          </a:xfrm>
        </p:grpSpPr>
        <p:sp>
          <p:nvSpPr>
            <p:cNvPr id="35" name="AutoShape 23"/>
            <p:cNvSpPr/>
            <p:nvPr/>
          </p:nvSpPr>
          <p:spPr bwMode="auto">
            <a:xfrm>
              <a:off x="0" y="0"/>
              <a:ext cx="965499" cy="965499"/>
            </a:xfrm>
            <a:custGeom>
              <a:avLst/>
              <a:gdLst>
                <a:gd name="T0" fmla="*/ 482725 w 19679"/>
                <a:gd name="T1" fmla="*/ 529874 h 19679"/>
                <a:gd name="T2" fmla="*/ 482725 w 19679"/>
                <a:gd name="T3" fmla="*/ 529874 h 19679"/>
                <a:gd name="T4" fmla="*/ 482725 w 19679"/>
                <a:gd name="T5" fmla="*/ 529874 h 19679"/>
                <a:gd name="T6" fmla="*/ 482725 w 19679"/>
                <a:gd name="T7" fmla="*/ 529874 h 1967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679" h="19679">
                  <a:moveTo>
                    <a:pt x="16796" y="2881"/>
                  </a:moveTo>
                  <a:cubicBezTo>
                    <a:pt x="20638" y="6724"/>
                    <a:pt x="20638" y="12953"/>
                    <a:pt x="16796" y="16796"/>
                  </a:cubicBezTo>
                  <a:cubicBezTo>
                    <a:pt x="12953" y="20639"/>
                    <a:pt x="6724" y="20639"/>
                    <a:pt x="2881" y="16796"/>
                  </a:cubicBezTo>
                  <a:cubicBezTo>
                    <a:pt x="-961" y="12953"/>
                    <a:pt x="-961" y="6724"/>
                    <a:pt x="2881" y="2881"/>
                  </a:cubicBezTo>
                  <a:cubicBezTo>
                    <a:pt x="6724" y="-961"/>
                    <a:pt x="12953" y="-961"/>
                    <a:pt x="16796" y="2881"/>
                  </a:cubicBezTo>
                  <a:close/>
                </a:path>
              </a:pathLst>
            </a:custGeom>
            <a:gradFill>
              <a:gsLst>
                <a:gs pos="0">
                  <a:schemeClr val="bg1"/>
                </a:gs>
                <a:gs pos="51000">
                  <a:schemeClr val="bg1">
                    <a:lumMod val="95000"/>
                  </a:schemeClr>
                </a:gs>
                <a:gs pos="100000">
                  <a:schemeClr val="bg1">
                    <a:lumMod val="75000"/>
                  </a:schemeClr>
                </a:gs>
              </a:gsLst>
              <a:lin ang="18900000" scaled="0"/>
            </a:gradFill>
            <a:ln>
              <a:noFill/>
            </a:ln>
            <a:effectLst>
              <a:outerShdw blurRad="88900" dist="38100" dir="7680000" algn="tl" rotWithShape="0">
                <a:prstClr val="black">
                  <a:alpha val="3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solidFill>
                  <a:schemeClr val="lt1"/>
                </a:solidFill>
                <a:latin typeface="+mn-lt"/>
                <a:ea typeface="+mn-ea"/>
              </a:endParaRPr>
            </a:p>
          </p:txBody>
        </p:sp>
        <p:sp>
          <p:nvSpPr>
            <p:cNvPr id="36" name="AutoShape 24"/>
            <p:cNvSpPr/>
            <p:nvPr/>
          </p:nvSpPr>
          <p:spPr bwMode="auto">
            <a:xfrm>
              <a:off x="293617" y="331589"/>
              <a:ext cx="380408" cy="296161"/>
            </a:xfrm>
            <a:custGeom>
              <a:avLst/>
              <a:gdLst>
                <a:gd name="T0" fmla="*/ 190204 w 21600"/>
                <a:gd name="T1" fmla="*/ 148081 h 21600"/>
                <a:gd name="T2" fmla="*/ 190204 w 21600"/>
                <a:gd name="T3" fmla="*/ 148081 h 21600"/>
                <a:gd name="T4" fmla="*/ 190204 w 21600"/>
                <a:gd name="T5" fmla="*/ 148081 h 21600"/>
                <a:gd name="T6" fmla="*/ 190204 w 21600"/>
                <a:gd name="T7" fmla="*/ 148081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10782" y="15633"/>
                  </a:moveTo>
                  <a:cubicBezTo>
                    <a:pt x="11211" y="15633"/>
                    <a:pt x="11622" y="15565"/>
                    <a:pt x="12011" y="15416"/>
                  </a:cubicBezTo>
                  <a:cubicBezTo>
                    <a:pt x="12403" y="15272"/>
                    <a:pt x="12778" y="15084"/>
                    <a:pt x="13138" y="14855"/>
                  </a:cubicBezTo>
                  <a:cubicBezTo>
                    <a:pt x="13498" y="14626"/>
                    <a:pt x="13845" y="14361"/>
                    <a:pt x="14181" y="14073"/>
                  </a:cubicBezTo>
                  <a:cubicBezTo>
                    <a:pt x="14516" y="13774"/>
                    <a:pt x="14844" y="13471"/>
                    <a:pt x="15168" y="13160"/>
                  </a:cubicBezTo>
                  <a:cubicBezTo>
                    <a:pt x="16142" y="12226"/>
                    <a:pt x="17126" y="11306"/>
                    <a:pt x="18120" y="10410"/>
                  </a:cubicBezTo>
                  <a:cubicBezTo>
                    <a:pt x="19112" y="9515"/>
                    <a:pt x="20113" y="8616"/>
                    <a:pt x="21120" y="7714"/>
                  </a:cubicBezTo>
                  <a:cubicBezTo>
                    <a:pt x="21198" y="7640"/>
                    <a:pt x="21279" y="7570"/>
                    <a:pt x="21360" y="7496"/>
                  </a:cubicBezTo>
                  <a:cubicBezTo>
                    <a:pt x="21443" y="7429"/>
                    <a:pt x="21524" y="7347"/>
                    <a:pt x="21600" y="7250"/>
                  </a:cubicBezTo>
                  <a:lnTo>
                    <a:pt x="21600" y="19981"/>
                  </a:lnTo>
                  <a:cubicBezTo>
                    <a:pt x="21600" y="20416"/>
                    <a:pt x="21470" y="20800"/>
                    <a:pt x="21208" y="21118"/>
                  </a:cubicBezTo>
                  <a:cubicBezTo>
                    <a:pt x="20946" y="21438"/>
                    <a:pt x="20632" y="21600"/>
                    <a:pt x="20265" y="21600"/>
                  </a:cubicBezTo>
                  <a:lnTo>
                    <a:pt x="1346" y="21600"/>
                  </a:lnTo>
                  <a:cubicBezTo>
                    <a:pt x="979" y="21600"/>
                    <a:pt x="663" y="21438"/>
                    <a:pt x="396" y="21118"/>
                  </a:cubicBezTo>
                  <a:cubicBezTo>
                    <a:pt x="132" y="20803"/>
                    <a:pt x="0" y="20419"/>
                    <a:pt x="0" y="19981"/>
                  </a:cubicBezTo>
                  <a:lnTo>
                    <a:pt x="0" y="7250"/>
                  </a:lnTo>
                  <a:cubicBezTo>
                    <a:pt x="75" y="7347"/>
                    <a:pt x="156" y="7429"/>
                    <a:pt x="239" y="7496"/>
                  </a:cubicBezTo>
                  <a:cubicBezTo>
                    <a:pt x="320" y="7570"/>
                    <a:pt x="401" y="7640"/>
                    <a:pt x="479" y="7714"/>
                  </a:cubicBezTo>
                  <a:cubicBezTo>
                    <a:pt x="1488" y="8616"/>
                    <a:pt x="2487" y="9514"/>
                    <a:pt x="3481" y="10410"/>
                  </a:cubicBezTo>
                  <a:cubicBezTo>
                    <a:pt x="4473" y="11306"/>
                    <a:pt x="5457" y="12223"/>
                    <a:pt x="6434" y="13160"/>
                  </a:cubicBezTo>
                  <a:cubicBezTo>
                    <a:pt x="6738" y="13454"/>
                    <a:pt x="7058" y="13744"/>
                    <a:pt x="7394" y="14038"/>
                  </a:cubicBezTo>
                  <a:cubicBezTo>
                    <a:pt x="7729" y="14338"/>
                    <a:pt x="8079" y="14599"/>
                    <a:pt x="8437" y="14840"/>
                  </a:cubicBezTo>
                  <a:cubicBezTo>
                    <a:pt x="8797" y="15075"/>
                    <a:pt x="9174" y="15269"/>
                    <a:pt x="9568" y="15413"/>
                  </a:cubicBezTo>
                  <a:cubicBezTo>
                    <a:pt x="9965" y="15563"/>
                    <a:pt x="10371" y="15633"/>
                    <a:pt x="10782" y="15633"/>
                  </a:cubicBezTo>
                  <a:moveTo>
                    <a:pt x="10782" y="12413"/>
                  </a:moveTo>
                  <a:cubicBezTo>
                    <a:pt x="10540" y="12413"/>
                    <a:pt x="10278" y="12334"/>
                    <a:pt x="9996" y="12167"/>
                  </a:cubicBezTo>
                  <a:cubicBezTo>
                    <a:pt x="9715" y="12005"/>
                    <a:pt x="9441" y="11806"/>
                    <a:pt x="9171" y="11576"/>
                  </a:cubicBezTo>
                  <a:cubicBezTo>
                    <a:pt x="8900" y="11347"/>
                    <a:pt x="8638" y="11106"/>
                    <a:pt x="8380" y="10854"/>
                  </a:cubicBezTo>
                  <a:cubicBezTo>
                    <a:pt x="8121" y="10601"/>
                    <a:pt x="7896" y="10390"/>
                    <a:pt x="7700" y="10222"/>
                  </a:cubicBezTo>
                  <a:cubicBezTo>
                    <a:pt x="6752" y="9356"/>
                    <a:pt x="5819" y="8507"/>
                    <a:pt x="4891" y="7664"/>
                  </a:cubicBezTo>
                  <a:cubicBezTo>
                    <a:pt x="3966" y="6815"/>
                    <a:pt x="3023" y="5960"/>
                    <a:pt x="2061" y="5087"/>
                  </a:cubicBezTo>
                  <a:cubicBezTo>
                    <a:pt x="1882" y="4920"/>
                    <a:pt x="1672" y="4691"/>
                    <a:pt x="1434" y="4406"/>
                  </a:cubicBezTo>
                  <a:cubicBezTo>
                    <a:pt x="1194" y="4118"/>
                    <a:pt x="974" y="3804"/>
                    <a:pt x="766" y="3460"/>
                  </a:cubicBezTo>
                  <a:cubicBezTo>
                    <a:pt x="560" y="3110"/>
                    <a:pt x="384" y="2761"/>
                    <a:pt x="239" y="2405"/>
                  </a:cubicBezTo>
                  <a:cubicBezTo>
                    <a:pt x="95" y="2050"/>
                    <a:pt x="22" y="1724"/>
                    <a:pt x="22" y="1436"/>
                  </a:cubicBezTo>
                  <a:cubicBezTo>
                    <a:pt x="22" y="1051"/>
                    <a:pt x="164" y="713"/>
                    <a:pt x="443" y="425"/>
                  </a:cubicBezTo>
                  <a:cubicBezTo>
                    <a:pt x="727" y="143"/>
                    <a:pt x="1025" y="0"/>
                    <a:pt x="1346" y="0"/>
                  </a:cubicBezTo>
                  <a:lnTo>
                    <a:pt x="20265" y="0"/>
                  </a:lnTo>
                  <a:cubicBezTo>
                    <a:pt x="20583" y="0"/>
                    <a:pt x="20882" y="143"/>
                    <a:pt x="21161" y="425"/>
                  </a:cubicBezTo>
                  <a:cubicBezTo>
                    <a:pt x="21438" y="713"/>
                    <a:pt x="21577" y="1051"/>
                    <a:pt x="21577" y="1436"/>
                  </a:cubicBezTo>
                  <a:cubicBezTo>
                    <a:pt x="21577" y="1724"/>
                    <a:pt x="21504" y="2050"/>
                    <a:pt x="21360" y="2405"/>
                  </a:cubicBezTo>
                  <a:cubicBezTo>
                    <a:pt x="21215" y="2761"/>
                    <a:pt x="21039" y="3110"/>
                    <a:pt x="20833" y="3460"/>
                  </a:cubicBezTo>
                  <a:cubicBezTo>
                    <a:pt x="20627" y="3804"/>
                    <a:pt x="20402" y="4121"/>
                    <a:pt x="20165" y="4406"/>
                  </a:cubicBezTo>
                  <a:cubicBezTo>
                    <a:pt x="19927" y="4691"/>
                    <a:pt x="19717" y="4923"/>
                    <a:pt x="19538" y="5087"/>
                  </a:cubicBezTo>
                  <a:cubicBezTo>
                    <a:pt x="18578" y="5948"/>
                    <a:pt x="17633" y="6803"/>
                    <a:pt x="16708" y="7652"/>
                  </a:cubicBezTo>
                  <a:cubicBezTo>
                    <a:pt x="15782" y="8501"/>
                    <a:pt x="14844" y="9356"/>
                    <a:pt x="13899" y="10222"/>
                  </a:cubicBezTo>
                  <a:cubicBezTo>
                    <a:pt x="13703" y="10390"/>
                    <a:pt x="13481" y="10601"/>
                    <a:pt x="13226" y="10854"/>
                  </a:cubicBezTo>
                  <a:cubicBezTo>
                    <a:pt x="12971" y="11106"/>
                    <a:pt x="12709" y="11347"/>
                    <a:pt x="12435" y="11576"/>
                  </a:cubicBezTo>
                  <a:cubicBezTo>
                    <a:pt x="12161" y="11806"/>
                    <a:pt x="11884" y="12005"/>
                    <a:pt x="11603" y="12167"/>
                  </a:cubicBezTo>
                  <a:cubicBezTo>
                    <a:pt x="11321" y="12334"/>
                    <a:pt x="11064" y="12413"/>
                    <a:pt x="10829" y="12413"/>
                  </a:cubicBezTo>
                  <a:lnTo>
                    <a:pt x="10804" y="12413"/>
                  </a:lnTo>
                  <a:lnTo>
                    <a:pt x="10782" y="12413"/>
                  </a:lnTo>
                  <a:close/>
                </a:path>
              </a:pathLst>
            </a:custGeom>
            <a:solidFill>
              <a:schemeClr val="tx1">
                <a:lumMod val="50000"/>
                <a:lumOff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solidFill>
                  <a:schemeClr val="lt1"/>
                </a:solidFill>
                <a:latin typeface="+mn-lt"/>
                <a:ea typeface="+mn-ea"/>
              </a:endParaRPr>
            </a:p>
          </p:txBody>
        </p:sp>
      </p:grpSp>
      <p:sp>
        <p:nvSpPr>
          <p:cNvPr id="37" name="任意多边形: 形状 28"/>
          <p:cNvSpPr/>
          <p:nvPr userDrawn="1"/>
        </p:nvSpPr>
        <p:spPr>
          <a:xfrm>
            <a:off x="-7619" y="6662481"/>
            <a:ext cx="11207209" cy="192000"/>
          </a:xfrm>
          <a:custGeom>
            <a:avLst/>
            <a:gdLst>
              <a:gd name="connsiteX0" fmla="*/ 0 w 8405407"/>
              <a:gd name="connsiteY0" fmla="*/ 0 h 152400"/>
              <a:gd name="connsiteX1" fmla="*/ 8405407 w 8405407"/>
              <a:gd name="connsiteY1" fmla="*/ 0 h 152400"/>
              <a:gd name="connsiteX2" fmla="*/ 8294166 w 8405407"/>
              <a:gd name="connsiteY2" fmla="*/ 152400 h 152400"/>
              <a:gd name="connsiteX3" fmla="*/ 0 w 8405407"/>
              <a:gd name="connsiteY3" fmla="*/ 152400 h 152400"/>
            </a:gdLst>
            <a:ahLst/>
            <a:cxnLst>
              <a:cxn ang="0">
                <a:pos x="connsiteX0" y="connsiteY0"/>
              </a:cxn>
              <a:cxn ang="0">
                <a:pos x="connsiteX1" y="connsiteY1"/>
              </a:cxn>
              <a:cxn ang="0">
                <a:pos x="connsiteX2" y="connsiteY2"/>
              </a:cxn>
              <a:cxn ang="0">
                <a:pos x="connsiteX3" y="connsiteY3"/>
              </a:cxn>
            </a:cxnLst>
            <a:rect l="l" t="t" r="r" b="b"/>
            <a:pathLst>
              <a:path w="8405407" h="152400">
                <a:moveTo>
                  <a:pt x="0" y="0"/>
                </a:moveTo>
                <a:lnTo>
                  <a:pt x="8405407" y="0"/>
                </a:lnTo>
                <a:lnTo>
                  <a:pt x="8294166" y="152400"/>
                </a:lnTo>
                <a:lnTo>
                  <a:pt x="0" y="152400"/>
                </a:ln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p>
        </p:txBody>
      </p:sp>
      <p:sp>
        <p:nvSpPr>
          <p:cNvPr id="38" name="任意多边形: 形状 27"/>
          <p:cNvSpPr/>
          <p:nvPr userDrawn="1"/>
        </p:nvSpPr>
        <p:spPr>
          <a:xfrm flipH="1" flipV="1">
            <a:off x="11219155" y="6662481"/>
            <a:ext cx="972527" cy="192000"/>
          </a:xfrm>
          <a:custGeom>
            <a:avLst/>
            <a:gdLst>
              <a:gd name="connsiteX0" fmla="*/ 618154 w 729395"/>
              <a:gd name="connsiteY0" fmla="*/ 152400 h 152400"/>
              <a:gd name="connsiteX1" fmla="*/ 0 w 729395"/>
              <a:gd name="connsiteY1" fmla="*/ 152400 h 152400"/>
              <a:gd name="connsiteX2" fmla="*/ 0 w 729395"/>
              <a:gd name="connsiteY2" fmla="*/ 0 h 152400"/>
              <a:gd name="connsiteX3" fmla="*/ 729395 w 729395"/>
              <a:gd name="connsiteY3" fmla="*/ 0 h 152400"/>
            </a:gdLst>
            <a:ahLst/>
            <a:cxnLst>
              <a:cxn ang="0">
                <a:pos x="connsiteX0" y="connsiteY0"/>
              </a:cxn>
              <a:cxn ang="0">
                <a:pos x="connsiteX1" y="connsiteY1"/>
              </a:cxn>
              <a:cxn ang="0">
                <a:pos x="connsiteX2" y="connsiteY2"/>
              </a:cxn>
              <a:cxn ang="0">
                <a:pos x="connsiteX3" y="connsiteY3"/>
              </a:cxn>
            </a:cxnLst>
            <a:rect l="l" t="t" r="r" b="b"/>
            <a:pathLst>
              <a:path w="729395" h="152400">
                <a:moveTo>
                  <a:pt x="618154" y="152400"/>
                </a:moveTo>
                <a:lnTo>
                  <a:pt x="0" y="152400"/>
                </a:lnTo>
                <a:lnTo>
                  <a:pt x="0" y="0"/>
                </a:lnTo>
                <a:lnTo>
                  <a:pt x="729395" y="0"/>
                </a:lnTo>
                <a:close/>
              </a:path>
            </a:pathLst>
          </a:cu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p>
        </p:txBody>
      </p:sp>
      <p:sp>
        <p:nvSpPr>
          <p:cNvPr id="3" name="副标题 2"/>
          <p:cNvSpPr>
            <a:spLocks noGrp="1"/>
          </p:cNvSpPr>
          <p:nvPr>
            <p:ph type="subTitle" idx="1" hasCustomPrompt="1"/>
            <p:custDataLst>
              <p:tags r:id="rId2"/>
            </p:custDataLst>
          </p:nvPr>
        </p:nvSpPr>
        <p:spPr>
          <a:xfrm>
            <a:off x="1198880" y="3878580"/>
            <a:ext cx="9799320" cy="1154430"/>
          </a:xfrm>
        </p:spPr>
        <p:txBody>
          <a:bodyPr lIns="90000" tIns="46800" rIns="90000" bIns="46800">
            <a:normAutofit/>
          </a:bodyPr>
          <a:lstStyle>
            <a:lvl1pPr marL="0" indent="0" algn="ctr" eaLnBrk="1" fontAlgn="auto" latinLnBrk="0" hangingPunct="1">
              <a:lnSpc>
                <a:spcPct val="110000"/>
              </a:lnSpc>
              <a:buNone/>
              <a:defRPr sz="2800" b="1" u="none" strike="noStrike" kern="1200" cap="none" spc="200" normalizeH="0" baseline="0">
                <a:solidFill>
                  <a:schemeClr val="tx1">
                    <a:lumMod val="75000"/>
                    <a:lumOff val="25000"/>
                  </a:schemeClr>
                </a:solidFill>
                <a:uFillTx/>
                <a:latin typeface="仿宋" panose="02010609060101010101" charset="-122"/>
                <a:ea typeface="仿宋" panose="02010609060101010101"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p>
        </p:txBody>
      </p:sp>
    </p:spTree>
  </p:cSld>
  <p:clrMapOvr>
    <a:masterClrMapping/>
  </p:clrMapOvr>
  <p:transition>
    <p:random/>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1076395" y="114370"/>
            <a:ext cx="10969200" cy="705600"/>
          </a:xfrm>
        </p:spPr>
        <p:txBody>
          <a:bodyPr vert="horz" lIns="90000" tIns="46800" rIns="90000" bIns="46800" rtlCol="0" anchor="ctr" anchorCtr="0">
            <a:normAutofit/>
          </a:bodyPr>
          <a:lstStyle>
            <a:lvl1pPr marL="0" marR="0" algn="l" defTabSz="914400" rtl="0" eaLnBrk="1" fontAlgn="auto" latinLnBrk="0" hangingPunct="1">
              <a:lnSpc>
                <a:spcPct val="100000"/>
              </a:lnSpc>
              <a:buNone/>
              <a:defRPr kumimoji="0" lang="zh-CN" altLang="en-US" sz="3200" b="1" i="0" u="none" strike="noStrike" kern="1200" cap="none" spc="300" normalizeH="0" baseline="0" noProof="1" dirty="0">
                <a:solidFill>
                  <a:schemeClr val="accent1">
                    <a:lumMod val="7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p>
        </p:txBody>
      </p:sp>
      <p:sp>
        <p:nvSpPr>
          <p:cNvPr id="3" name="内容占位符 2"/>
          <p:cNvSpPr>
            <a:spLocks noGrp="1"/>
          </p:cNvSpPr>
          <p:nvPr>
            <p:ph idx="1" hasCustomPrompt="1"/>
            <p:custDataLst>
              <p:tags r:id="rId2"/>
            </p:custDataLst>
          </p:nvPr>
        </p:nvSpPr>
        <p:spPr>
          <a:xfrm>
            <a:off x="608330" y="1227455"/>
            <a:ext cx="10968990" cy="5022215"/>
          </a:xfr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Clr>
                <a:srgbClr val="2094CE"/>
              </a:buClr>
              <a:buSzPct val="80000"/>
              <a:buFont typeface="Arial" panose="020B0604020202020204" pitchFamily="34" charset="0"/>
              <a:buChar char="►"/>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Clr>
                <a:srgbClr val="FF9800"/>
              </a:buClr>
              <a:buSzPct val="90000"/>
              <a:buFont typeface="Arial" panose="020B0604020202020204" pitchFamily="34" charset="0"/>
              <a:buChar char="♦"/>
              <a:tabLst>
                <a:tab pos="1609725" algn="l"/>
              </a:tabLst>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 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29" name="任意多边形: 形状 28"/>
          <p:cNvSpPr/>
          <p:nvPr userDrawn="1"/>
        </p:nvSpPr>
        <p:spPr>
          <a:xfrm>
            <a:off x="-3650" y="6666997"/>
            <a:ext cx="11207209" cy="192000"/>
          </a:xfrm>
          <a:custGeom>
            <a:avLst/>
            <a:gdLst>
              <a:gd name="connsiteX0" fmla="*/ 0 w 8405407"/>
              <a:gd name="connsiteY0" fmla="*/ 0 h 152400"/>
              <a:gd name="connsiteX1" fmla="*/ 8405407 w 8405407"/>
              <a:gd name="connsiteY1" fmla="*/ 0 h 152400"/>
              <a:gd name="connsiteX2" fmla="*/ 8294166 w 8405407"/>
              <a:gd name="connsiteY2" fmla="*/ 152400 h 152400"/>
              <a:gd name="connsiteX3" fmla="*/ 0 w 8405407"/>
              <a:gd name="connsiteY3" fmla="*/ 152400 h 152400"/>
            </a:gdLst>
            <a:ahLst/>
            <a:cxnLst>
              <a:cxn ang="0">
                <a:pos x="connsiteX0" y="connsiteY0"/>
              </a:cxn>
              <a:cxn ang="0">
                <a:pos x="connsiteX1" y="connsiteY1"/>
              </a:cxn>
              <a:cxn ang="0">
                <a:pos x="connsiteX2" y="connsiteY2"/>
              </a:cxn>
              <a:cxn ang="0">
                <a:pos x="connsiteX3" y="connsiteY3"/>
              </a:cxn>
            </a:cxnLst>
            <a:rect l="l" t="t" r="r" b="b"/>
            <a:pathLst>
              <a:path w="8405407" h="152400">
                <a:moveTo>
                  <a:pt x="0" y="0"/>
                </a:moveTo>
                <a:lnTo>
                  <a:pt x="8405407" y="0"/>
                </a:lnTo>
                <a:lnTo>
                  <a:pt x="8294166" y="152400"/>
                </a:lnTo>
                <a:lnTo>
                  <a:pt x="0" y="152400"/>
                </a:ln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p>
        </p:txBody>
      </p:sp>
      <p:sp>
        <p:nvSpPr>
          <p:cNvPr id="28" name="任意多边形: 形状 27"/>
          <p:cNvSpPr/>
          <p:nvPr userDrawn="1"/>
        </p:nvSpPr>
        <p:spPr>
          <a:xfrm flipH="1" flipV="1">
            <a:off x="11223124" y="6666997"/>
            <a:ext cx="972527" cy="192000"/>
          </a:xfrm>
          <a:custGeom>
            <a:avLst/>
            <a:gdLst>
              <a:gd name="connsiteX0" fmla="*/ 618154 w 729395"/>
              <a:gd name="connsiteY0" fmla="*/ 152400 h 152400"/>
              <a:gd name="connsiteX1" fmla="*/ 0 w 729395"/>
              <a:gd name="connsiteY1" fmla="*/ 152400 h 152400"/>
              <a:gd name="connsiteX2" fmla="*/ 0 w 729395"/>
              <a:gd name="connsiteY2" fmla="*/ 0 h 152400"/>
              <a:gd name="connsiteX3" fmla="*/ 729395 w 729395"/>
              <a:gd name="connsiteY3" fmla="*/ 0 h 152400"/>
            </a:gdLst>
            <a:ahLst/>
            <a:cxnLst>
              <a:cxn ang="0">
                <a:pos x="connsiteX0" y="connsiteY0"/>
              </a:cxn>
              <a:cxn ang="0">
                <a:pos x="connsiteX1" y="connsiteY1"/>
              </a:cxn>
              <a:cxn ang="0">
                <a:pos x="connsiteX2" y="connsiteY2"/>
              </a:cxn>
              <a:cxn ang="0">
                <a:pos x="connsiteX3" y="connsiteY3"/>
              </a:cxn>
            </a:cxnLst>
            <a:rect l="l" t="t" r="r" b="b"/>
            <a:pathLst>
              <a:path w="729395" h="152400">
                <a:moveTo>
                  <a:pt x="618154" y="152400"/>
                </a:moveTo>
                <a:lnTo>
                  <a:pt x="0" y="152400"/>
                </a:lnTo>
                <a:lnTo>
                  <a:pt x="0" y="0"/>
                </a:lnTo>
                <a:lnTo>
                  <a:pt x="729395" y="0"/>
                </a:lnTo>
                <a:close/>
              </a:path>
            </a:pathLst>
          </a:cu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p>
        </p:txBody>
      </p:sp>
      <p:cxnSp>
        <p:nvCxnSpPr>
          <p:cNvPr id="22" name="直接连接符 21"/>
          <p:cNvCxnSpPr/>
          <p:nvPr userDrawn="1"/>
        </p:nvCxnSpPr>
        <p:spPr>
          <a:xfrm>
            <a:off x="1003784" y="807477"/>
            <a:ext cx="10199776"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4" name="矩形 23"/>
          <p:cNvSpPr/>
          <p:nvPr userDrawn="1"/>
        </p:nvSpPr>
        <p:spPr>
          <a:xfrm>
            <a:off x="331470" y="250825"/>
            <a:ext cx="431800" cy="431800"/>
          </a:xfrm>
          <a:prstGeom prst="rect">
            <a:avLst/>
          </a:prstGeom>
          <a:noFill/>
          <a:ln w="12700" cmpd="sng">
            <a:solidFill>
              <a:schemeClr val="accent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p>
        </p:txBody>
      </p:sp>
      <p:sp>
        <p:nvSpPr>
          <p:cNvPr id="25" name="矩形 24"/>
          <p:cNvSpPr/>
          <p:nvPr userDrawn="1"/>
        </p:nvSpPr>
        <p:spPr>
          <a:xfrm>
            <a:off x="548005" y="450215"/>
            <a:ext cx="360045" cy="360045"/>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p>
        </p:txBody>
      </p:sp>
      <p:pic>
        <p:nvPicPr>
          <p:cNvPr id="5" name="图片 4" descr="TK5CG72_)U3`D_PXLQ1U9PP"/>
          <p:cNvPicPr>
            <a:picLocks noChangeAspect="1"/>
          </p:cNvPicPr>
          <p:nvPr userDrawn="1"/>
        </p:nvPicPr>
        <p:blipFill>
          <a:blip r:embed="rId5"/>
          <a:stretch>
            <a:fillRect/>
          </a:stretch>
        </p:blipFill>
        <p:spPr>
          <a:xfrm>
            <a:off x="11351895" y="73660"/>
            <a:ext cx="715645" cy="785495"/>
          </a:xfrm>
          <a:prstGeom prst="rect">
            <a:avLst/>
          </a:prstGeom>
        </p:spPr>
      </p:pic>
    </p:spTree>
  </p:cSld>
  <p:clrMapOvr>
    <a:masterClrMapping/>
  </p:clrMapOvr>
  <p:transition>
    <p:random/>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1"/>
            </p:custDataLst>
          </p:nvPr>
        </p:nvSpPr>
        <p:spPr>
          <a:xfrm>
            <a:off x="1990800" y="3848400"/>
            <a:ext cx="7768800" cy="766800"/>
          </a:xfrm>
        </p:spPr>
        <p:txBody>
          <a:bodyPr lIns="90000" tIns="46800" rIns="90000" bIns="46800" anchor="b" anchorCtr="0">
            <a:normAutofit/>
          </a:bodyPr>
          <a:lstStyle>
            <a:lvl1pPr>
              <a:defRPr sz="4400" b="1" i="0" u="none" strike="noStrike" kern="1200" cap="none" spc="300" normalizeH="0" baseline="0">
                <a:solidFill>
                  <a:schemeClr val="tx1">
                    <a:lumMod val="85000"/>
                    <a:lumOff val="15000"/>
                  </a:schemeClr>
                </a:solidFill>
                <a:effectLst/>
                <a:uFillTx/>
              </a:defRPr>
            </a:lvl1pPr>
          </a:lstStyle>
          <a:p>
            <a:r>
              <a:rPr lang="zh-CN" altLang="en-US" dirty="0"/>
              <a:t>单击此处编辑标题</a:t>
            </a:r>
          </a:p>
        </p:txBody>
      </p:sp>
      <p:sp>
        <p:nvSpPr>
          <p:cNvPr id="3" name="文本占位符 2"/>
          <p:cNvSpPr>
            <a:spLocks noGrp="1"/>
          </p:cNvSpPr>
          <p:nvPr>
            <p:ph type="body" idx="1" hasCustomPrompt="1"/>
            <p:custDataLst>
              <p:tags r:id="rId2"/>
            </p:custDataLst>
          </p:nvPr>
        </p:nvSpPr>
        <p:spPr>
          <a:xfrm>
            <a:off x="1990800" y="4615200"/>
            <a:ext cx="7768800" cy="867600"/>
          </a:xfrm>
        </p:spPr>
        <p:txBody>
          <a:bodyPr lIns="90000" tIns="46800" rIns="90000" bIns="46800">
            <a:normAutofit/>
          </a:bodyPr>
          <a:lstStyle>
            <a:lvl1pPr marL="0" indent="0" eaLnBrk="1" fontAlgn="auto" latinLnBrk="0" hangingPunct="1">
              <a:lnSpc>
                <a:spcPct val="130000"/>
              </a:lnSpc>
              <a:buNone/>
              <a:defRPr kumimoji="0" lang="zh-CN" altLang="en-US" sz="1800" b="0" i="0" u="none" strike="noStrike" kern="1200" cap="none" spc="150" normalizeH="0" baseline="0" noProof="1">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2024/5/12</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transition>
    <p:rand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p>
        </p:txBody>
      </p:sp>
      <p:sp>
        <p:nvSpPr>
          <p:cNvPr id="3" name="内容占位符 2"/>
          <p:cNvSpPr>
            <a:spLocks noGrp="1"/>
          </p:cNvSpPr>
          <p:nvPr>
            <p:ph sz="half" idx="1"/>
            <p:custDataLst>
              <p:tags r:id="rId2"/>
            </p:custDataLst>
          </p:nvPr>
        </p:nvSpPr>
        <p:spPr>
          <a:xfrm>
            <a:off x="608400" y="1501200"/>
            <a:ext cx="5176800" cy="4748400"/>
          </a:xfr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4" name="内容占位符 3"/>
          <p:cNvSpPr>
            <a:spLocks noGrp="1"/>
          </p:cNvSpPr>
          <p:nvPr>
            <p:ph sz="half" idx="2"/>
            <p:custDataLst>
              <p:tags r:id="rId3"/>
            </p:custDataLst>
          </p:nvPr>
        </p:nvSpPr>
        <p:spPr>
          <a:xfrm>
            <a:off x="6411600" y="1501200"/>
            <a:ext cx="5176800" cy="4748400"/>
          </a:xfrm>
        </p:spPr>
        <p:txBody>
          <a:bodyPr lIns="90000" tIns="46800" rIns="90000" bIns="46800">
            <a:normAutofit/>
          </a:bodyPr>
          <a:lstStyle>
            <a:lvl1pPr marL="228600" indent="-228600" eaLnBrk="1" fontAlgn="auto" latinLnBrk="0" hangingPunct="1">
              <a:lnSpc>
                <a:spcPct val="130000"/>
              </a:lnSpc>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1pPr>
            <a:lvl2pPr marL="685800" indent="-228600" defTabSz="914400" eaLnBrk="1" fontAlgn="auto" latinLnBrk="0" hangingPunct="1">
              <a:lnSpc>
                <a:spcPct val="120000"/>
              </a:lnSpc>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2pPr>
            <a:lvl3pPr marL="1143000" indent="-228600" eaLnBrk="1" fontAlgn="auto" latinLnBrk="0" hangingPunct="1">
              <a:lnSpc>
                <a:spcPct val="120000"/>
              </a:lnSpc>
              <a:buFont typeface="Arial" panose="020B0604020202020204" pitchFamily="34" charset="0"/>
              <a:buChar char="●"/>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3pPr>
            <a:lvl4pPr marL="1600200" indent="-228600" eaLnBrk="1" fontAlgn="auto" latinLnBrk="0" hangingPunct="1">
              <a:lnSpc>
                <a:spcPct val="120000"/>
              </a:lnSpc>
              <a:buFont typeface="Wingdings" panose="05000000000000000000" charset="0"/>
              <a:buChar char=""/>
              <a:defRPr sz="14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4pPr>
            <a:lvl5pPr eaLnBrk="1" fontAlgn="auto" latinLnBrk="0" hangingPunct="1">
              <a:lnSpc>
                <a:spcPct val="120000"/>
              </a:lnSpc>
              <a:defRPr sz="1400" u="none" strike="noStrike" kern="1200" cap="none" spc="150" normalizeH="0">
                <a:solidFill>
                  <a:schemeClr val="tx1">
                    <a:lumMod val="65000"/>
                    <a:lumOff val="3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4"/>
            </p:custDataLst>
          </p:nvPr>
        </p:nvSpPr>
        <p:spPr/>
        <p:txBody>
          <a:bodyPr/>
          <a:lstStyle/>
          <a:p>
            <a:fld id="{760FBDFE-C587-4B4C-A407-44438C67B59E}" type="datetimeFigureOut">
              <a:rPr lang="zh-CN" altLang="en-US" smtClean="0"/>
              <a:t>2024/5/12</a:t>
            </a:fld>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a:p>
        </p:txBody>
      </p:sp>
    </p:spTree>
  </p:cSld>
  <p:clrMapOvr>
    <a:masterClrMapping/>
  </p:clrMapOvr>
  <p:transition>
    <p:rand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p>
        </p:txBody>
      </p:sp>
      <p:sp>
        <p:nvSpPr>
          <p:cNvPr id="3" name="文本占位符 2"/>
          <p:cNvSpPr>
            <a:spLocks noGrp="1"/>
          </p:cNvSpPr>
          <p:nvPr>
            <p:ph type="body" idx="1" hasCustomPrompt="1"/>
            <p:custDataLst>
              <p:tags r:id="rId2"/>
            </p:custDataLst>
          </p:nvPr>
        </p:nvSpPr>
        <p:spPr>
          <a:xfrm>
            <a:off x="608400" y="1429200"/>
            <a:ext cx="5342400" cy="381600"/>
          </a:xfrm>
        </p:spPr>
        <p:txBody>
          <a:bodyPr lIns="101600" tIns="38100" rIns="76200" bIns="38100" anchor="t" anchorCtr="0">
            <a:normAutofit/>
          </a:bodyPr>
          <a:lstStyle>
            <a:lvl1pPr marL="0" indent="0" eaLnBrk="1" fontAlgn="auto" latinLnBrk="0" hangingPunct="1">
              <a:lnSpc>
                <a:spcPct val="100000"/>
              </a:lnSpc>
              <a:spcAft>
                <a:spcPts val="0"/>
              </a:spcAft>
              <a:buNone/>
              <a:defRPr sz="2000" b="1" u="none" strike="noStrike" kern="1200" cap="none" spc="200" normalizeH="0" baseline="0">
                <a:solidFill>
                  <a:schemeClr val="tx1">
                    <a:lumMod val="75000"/>
                    <a:lumOff val="25000"/>
                  </a:schemeClr>
                </a:solidFill>
                <a:uFillTx/>
                <a:latin typeface="Arial" panose="020B0604020202020204" pitchFamily="34" charset="0"/>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p>
        </p:txBody>
      </p:sp>
      <p:sp>
        <p:nvSpPr>
          <p:cNvPr id="4" name="内容占位符 3"/>
          <p:cNvSpPr>
            <a:spLocks noGrp="1"/>
          </p:cNvSpPr>
          <p:nvPr>
            <p:ph sz="half" idx="2"/>
            <p:custDataLst>
              <p:tags r:id="rId3"/>
            </p:custDataLst>
          </p:nvPr>
        </p:nvSpPr>
        <p:spPr>
          <a:xfrm>
            <a:off x="608400" y="1854000"/>
            <a:ext cx="5342400" cy="43956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5" name="文本占位符 4"/>
          <p:cNvSpPr>
            <a:spLocks noGrp="1"/>
          </p:cNvSpPr>
          <p:nvPr>
            <p:ph type="body" sz="quarter" idx="3" hasCustomPrompt="1"/>
            <p:custDataLst>
              <p:tags r:id="rId4"/>
            </p:custDataLst>
          </p:nvPr>
        </p:nvSpPr>
        <p:spPr>
          <a:xfrm>
            <a:off x="6235750" y="1421729"/>
            <a:ext cx="5342400" cy="381600"/>
          </a:xfrm>
        </p:spPr>
        <p:txBody>
          <a:bodyPr vert="horz" lIns="101600" tIns="38100" rIns="76200" bIns="38100" rtlCol="0" anchor="t" anchorCtr="0">
            <a:norm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1" i="0" u="none" strike="noStrike" kern="1200" cap="none" spc="20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p>
        </p:txBody>
      </p:sp>
      <p:sp>
        <p:nvSpPr>
          <p:cNvPr id="6" name="内容占位符 5"/>
          <p:cNvSpPr>
            <a:spLocks noGrp="1"/>
          </p:cNvSpPr>
          <p:nvPr>
            <p:ph sz="quarter" idx="4"/>
            <p:custDataLst>
              <p:tags r:id="rId5"/>
            </p:custDataLst>
          </p:nvPr>
        </p:nvSpPr>
        <p:spPr>
          <a:xfrm>
            <a:off x="6235750" y="1854000"/>
            <a:ext cx="5342400" cy="43956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7" name="日期占位符 6"/>
          <p:cNvSpPr>
            <a:spLocks noGrp="1"/>
          </p:cNvSpPr>
          <p:nvPr>
            <p:ph type="dt" sz="half" idx="10"/>
            <p:custDataLst>
              <p:tags r:id="rId6"/>
            </p:custDataLst>
          </p:nvPr>
        </p:nvSpPr>
        <p:spPr/>
        <p:txBody>
          <a:bodyPr/>
          <a:lstStyle/>
          <a:p>
            <a:fld id="{760FBDFE-C587-4B4C-A407-44438C67B59E}" type="datetimeFigureOut">
              <a:rPr lang="zh-CN" altLang="en-US" smtClean="0"/>
              <a:t>2024/5/12</a:t>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a:lstStyle/>
          <a:p>
            <a:fld id="{49AE70B2-8BF9-45C0-BB95-33D1B9D3A854}" type="slidenum">
              <a:rPr lang="zh-CN" altLang="en-US" smtClean="0"/>
              <a:t>‹#›</a:t>
            </a:fld>
            <a:endParaRPr lang="zh-CN" altLang="en-US"/>
          </a:p>
        </p:txBody>
      </p:sp>
    </p:spTree>
  </p:cSld>
  <p:clrMapOvr>
    <a:masterClrMapping/>
  </p:clrMapOvr>
  <p:transition>
    <p:rand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单击此处编辑母版标题样式</a:t>
            </a:r>
          </a:p>
        </p:txBody>
      </p:sp>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t>2024/5/12</a:t>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t>‹#›</a:t>
            </a:fld>
            <a:endParaRPr lang="zh-CN" altLang="en-US"/>
          </a:p>
        </p:txBody>
      </p:sp>
    </p:spTree>
  </p:cSld>
  <p:clrMapOvr>
    <a:masterClrMapping/>
  </p:clrMapOvr>
  <p:transition>
    <p:rand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p>
            <a:fld id="{760FBDFE-C587-4B4C-A407-44438C67B59E}" type="datetimeFigureOut">
              <a:rPr lang="zh-CN" altLang="en-US" smtClean="0"/>
              <a:t>2024/5/12</a:t>
            </a:fld>
            <a:endParaRPr lang="zh-CN" altLang="en-US"/>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Tree>
  </p:cSld>
  <p:clrMapOvr>
    <a:masterClrMapping/>
  </p:clrMapOvr>
  <p:transition>
    <p:rand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1"/>
            </p:custDataLst>
          </p:nvPr>
        </p:nvSpPr>
        <p:spPr>
          <a:xfrm>
            <a:off x="608330" y="1555115"/>
            <a:ext cx="5233035" cy="4608195"/>
          </a:xfrm>
        </p:spPr>
        <p:txBody>
          <a:bodyPr vert="horz" lIns="90000" tIns="46800" rIns="90000" bIns="46800" rtlCol="0">
            <a:norm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2"/>
            </p:custDataLst>
          </p:nvPr>
        </p:nvSpPr>
        <p:spPr>
          <a:xfrm>
            <a:off x="6350400" y="1555200"/>
            <a:ext cx="5227200" cy="4608000"/>
          </a:xfrm>
        </p:spPr>
        <p:txBody>
          <a:bodyPr vert="horz" lIns="90000" tIns="46800" rIns="90000" bIns="46800" rtlCol="0">
            <a:normAutofit/>
          </a:bodyPr>
          <a:lstStyle>
            <a:lvl1pPr marL="0" marR="0" lvl="0" indent="0" algn="l" defTabSz="914400" rtl="0" eaLnBrk="1" fontAlgn="auto" latinLnBrk="0" hangingPunct="1">
              <a:lnSpc>
                <a:spcPct val="130000"/>
              </a:lnSpc>
              <a:spcBef>
                <a:spcPts val="0"/>
              </a:spcBef>
              <a:spcAft>
                <a:spcPts val="600"/>
              </a:spcAft>
              <a:buFont typeface="Arial" panose="020B0604020202020204" pitchFamily="34" charset="0"/>
              <a:buNone/>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457200" indent="0" defTabSz="914400" eaLnBrk="1" fontAlgn="auto" latinLnBrk="0" hangingPunct="1">
              <a:buNone/>
              <a:tabLst>
                <a:tab pos="1609725" algn="l"/>
                <a:tab pos="1609725" algn="l"/>
                <a:tab pos="1609725" algn="l"/>
                <a:tab pos="1609725" algn="l"/>
                <a:tab pos="1609725" algn="l"/>
                <a:tab pos="1609725" algn="l"/>
                <a:tab pos="1609725" algn="l"/>
                <a:tab pos="1609725" algn="l"/>
              </a:tabLst>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2pPr>
            <a:lvl3pPr eaLnBrk="1" fontAlgn="auto" latinLnBrk="0" hangingPunct="1">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3pPr>
            <a:lvl4pPr eaLnBrk="1" fontAlgn="auto" latinLnBrk="0" hangingPunct="1">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4pPr>
            <a:lvl5pPr eaLnBrk="1" fontAlgn="auto" latinLnBrk="0" hangingPunct="1">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5pPr>
          </a:lstStyle>
          <a:p>
            <a:pPr lvl="0"/>
            <a:r>
              <a:rPr dirty="0">
                <a:sym typeface="+mn-ea"/>
              </a:rPr>
              <a:t>单击此处编辑母版文本样式</a:t>
            </a:r>
          </a:p>
        </p:txBody>
      </p:sp>
      <p:sp>
        <p:nvSpPr>
          <p:cNvPr id="5" name="日期占位符 4"/>
          <p:cNvSpPr>
            <a:spLocks noGrp="1"/>
          </p:cNvSpPr>
          <p:nvPr>
            <p:ph type="dt" sz="half" idx="10"/>
            <p:custDataLst>
              <p:tags r:id="rId3"/>
            </p:custDataLst>
          </p:nvPr>
        </p:nvSpPr>
        <p:spPr/>
        <p:txBody>
          <a:bodyPr/>
          <a:lstStyle/>
          <a:p>
            <a:fld id="{9EFD9D74-47D9-4702-A33C-335B63B48DBF}" type="datetimeFigureOut">
              <a:rPr lang="zh-CN" altLang="en-US" smtClean="0"/>
              <a:t>2024/5/12</a:t>
            </a:fld>
            <a:endParaRPr lang="zh-CN" altLang="en-US" dirty="0"/>
          </a:p>
        </p:txBody>
      </p:sp>
      <p:sp>
        <p:nvSpPr>
          <p:cNvPr id="6" name="页脚占位符 5"/>
          <p:cNvSpPr>
            <a:spLocks noGrp="1"/>
          </p:cNvSpPr>
          <p:nvPr>
            <p:ph type="ftr" sz="quarter" idx="11"/>
            <p:custDataLst>
              <p:tags r:id="rId4"/>
            </p:custDataLst>
          </p:nvPr>
        </p:nvSpPr>
        <p:spPr/>
        <p:txBody>
          <a:bodyPr/>
          <a:lstStyle/>
          <a:p>
            <a:endParaRPr lang="zh-CN" altLang="en-US" dirty="0"/>
          </a:p>
        </p:txBody>
      </p:sp>
      <p:sp>
        <p:nvSpPr>
          <p:cNvPr id="7" name="灯片编号占位符 6"/>
          <p:cNvSpPr>
            <a:spLocks noGrp="1"/>
          </p:cNvSpPr>
          <p:nvPr>
            <p:ph type="sldNum" sz="quarter" idx="12"/>
            <p:custDataLst>
              <p:tags r:id="rId5"/>
            </p:custDataLst>
          </p:nvPr>
        </p:nvSpPr>
        <p:spPr/>
        <p:txBody>
          <a:bodyPr/>
          <a:lstStyle/>
          <a:p>
            <a:fld id="{FABC47A4-756D-490B-A52F-7D9E2C9FC05F}" type="slidenum">
              <a:rPr lang="zh-CN" altLang="en-US" smtClean="0"/>
              <a:t>‹#›</a:t>
            </a:fld>
            <a:endParaRPr lang="zh-CN" altLang="en-US"/>
          </a:p>
        </p:txBody>
      </p:sp>
      <p:sp>
        <p:nvSpPr>
          <p:cNvPr id="9" name="标题 8"/>
          <p:cNvSpPr>
            <a:spLocks noGrp="1"/>
          </p:cNvSpPr>
          <p:nvPr>
            <p:ph type="title"/>
            <p:custDataLst>
              <p:tags r:id="rId6"/>
            </p:custDataLst>
          </p:nvPr>
        </p:nvSpPr>
        <p:spPr/>
        <p:txBody>
          <a:bodyPr/>
          <a:lstStyle>
            <a:lvl1pPr>
              <a:defRPr baseline="0"/>
            </a:lvl1pPr>
          </a:lstStyle>
          <a:p>
            <a:r>
              <a:rPr lang="zh-CN" altLang="en-US"/>
              <a:t>单击此处编辑母版标题样式</a:t>
            </a:r>
          </a:p>
        </p:txBody>
      </p:sp>
    </p:spTree>
  </p:cSld>
  <p:clrMapOvr>
    <a:masterClrMapping/>
  </p:clrMapOvr>
  <p:transition>
    <p:rand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1"/>
            </p:custDataLst>
          </p:nvPr>
        </p:nvSpPr>
        <p:spPr>
          <a:xfrm>
            <a:off x="10234800" y="914400"/>
            <a:ext cx="1044000" cy="5029200"/>
          </a:xfrm>
        </p:spPr>
        <p:txBody>
          <a:bodyPr vert="eaVert" lIns="90000" tIns="46800" rIns="90000" bIns="46800" rtlCol="0" anchor="ctr" anchorCtr="0">
            <a:normAutofit/>
          </a:bodyPr>
          <a:lstStyle>
            <a:lvl1pPr marL="0" marR="0" lvl="0" algn="l" defTabSz="914400" rtl="0" eaLnBrk="1" fontAlgn="auto" latinLnBrk="0" hangingPunct="1">
              <a:lnSpc>
                <a:spcPct val="100000"/>
              </a:lnSpc>
              <a:spcAft>
                <a:spcPts val="0"/>
              </a:spcAft>
              <a:buNone/>
              <a:defRPr kumimoji="0" lang="zh-CN" altLang="en-US" sz="28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单击此处编辑标题</a:t>
            </a:r>
          </a:p>
        </p:txBody>
      </p:sp>
      <p:sp>
        <p:nvSpPr>
          <p:cNvPr id="3" name="竖排文字占位符 2"/>
          <p:cNvSpPr>
            <a:spLocks noGrp="1"/>
          </p:cNvSpPr>
          <p:nvPr>
            <p:ph type="body" orient="vert" idx="1"/>
            <p:custDataLst>
              <p:tags r:id="rId2"/>
            </p:custDataLst>
          </p:nvPr>
        </p:nvSpPr>
        <p:spPr>
          <a:xfrm>
            <a:off x="914400" y="914400"/>
            <a:ext cx="9169200" cy="5029200"/>
          </a:xfrm>
        </p:spPr>
        <p:txBody>
          <a:bodyPr vert="eaVert" lIns="46800" tIns="46800" rIns="46800" bIns="46800"/>
          <a:lstStyle>
            <a:lvl1pPr marL="228600" indent="-228600" eaLnBrk="1" fontAlgn="auto" latinLnBrk="0" hangingPunct="1">
              <a:lnSpc>
                <a:spcPct val="130000"/>
              </a:lnSpc>
              <a:spcAft>
                <a:spcPts val="1000"/>
              </a:spcAft>
              <a:buFont typeface="Arial" panose="020B0604020202020204" pitchFamily="34" charset="0"/>
              <a:buChar char="●"/>
              <a:defRPr u="none" strike="noStrike" kern="1200" cap="none" spc="150" normalizeH="0" baseline="0">
                <a:solidFill>
                  <a:schemeClr val="tx1">
                    <a:lumMod val="65000"/>
                    <a:lumOff val="35000"/>
                  </a:schemeClr>
                </a:solidFill>
                <a:uFillTx/>
              </a:defRPr>
            </a:lvl1pPr>
            <a:lvl2pPr marL="685800" indent="-228600" defTabSz="914400" eaLnBrk="1" fontAlgn="auto" latinLnBrk="0" hangingPunct="1">
              <a:lnSpc>
                <a:spcPct val="120000"/>
              </a:lnSpc>
              <a:spcAft>
                <a:spcPts val="600"/>
              </a:spcAft>
              <a:buFont typeface="Arial" panose="020B0604020202020204" pitchFamily="34" charset="0"/>
              <a:buChar char="●"/>
              <a:tabLst>
                <a:tab pos="1609725" algn="l"/>
                <a:tab pos="1609725" algn="l"/>
                <a:tab pos="1609725" algn="l"/>
                <a:tab pos="1609725" algn="l"/>
              </a:tabLst>
              <a:defRPr u="none" strike="noStrike" kern="1200" cap="none" spc="150" normalizeH="0" baseline="0">
                <a:solidFill>
                  <a:schemeClr val="tx1">
                    <a:lumMod val="65000"/>
                    <a:lumOff val="35000"/>
                  </a:schemeClr>
                </a:solidFill>
                <a:uFillTx/>
              </a:defRPr>
            </a:lvl2pPr>
            <a:lvl3pPr marL="1143000" indent="-228600" eaLnBrk="1" fontAlgn="auto" latinLnBrk="0" hangingPunct="1">
              <a:lnSpc>
                <a:spcPct val="120000"/>
              </a:lnSpc>
              <a:spcAft>
                <a:spcPts val="600"/>
              </a:spcAft>
              <a:buFont typeface="Arial" panose="020B0604020202020204" pitchFamily="34" charset="0"/>
              <a:buChar char="●"/>
              <a:defRPr u="none" strike="noStrike" kern="1200" cap="none" spc="150" normalizeH="0" baseline="0">
                <a:solidFill>
                  <a:schemeClr val="tx1">
                    <a:lumMod val="65000"/>
                    <a:lumOff val="35000"/>
                  </a:schemeClr>
                </a:solidFill>
                <a:uFillTx/>
              </a:defRPr>
            </a:lvl3pPr>
            <a:lvl4pPr marL="1600200" indent="-228600" eaLnBrk="1" fontAlgn="auto" latinLnBrk="0" hangingPunct="1">
              <a:lnSpc>
                <a:spcPct val="120000"/>
              </a:lnSpc>
              <a:spcAft>
                <a:spcPts val="300"/>
              </a:spcAft>
              <a:buFont typeface="Wingdings" panose="05000000000000000000" charset="0"/>
              <a:buChar char=""/>
              <a:defRPr u="none" strike="noStrike" kern="1200" cap="none" spc="150" normalizeH="0" baseline="0">
                <a:solidFill>
                  <a:schemeClr val="tx1">
                    <a:lumMod val="65000"/>
                    <a:lumOff val="35000"/>
                  </a:schemeClr>
                </a:solidFill>
                <a:uFillTx/>
              </a:defRPr>
            </a:lvl4pPr>
            <a:lvl5pPr marL="2057400" indent="-228600" eaLnBrk="1" fontAlgn="auto" latinLnBrk="0" hangingPunct="1">
              <a:lnSpc>
                <a:spcPct val="120000"/>
              </a:lnSpc>
              <a:spcAft>
                <a:spcPts val="300"/>
              </a:spcAft>
              <a:buFont typeface="Arial" panose="020B0604020202020204" pitchFamily="34" charset="0"/>
              <a:buChar char="•"/>
              <a:defRPr u="none" strike="noStrike" kern="1200" cap="none" spc="150" normalizeH="0" baseline="0">
                <a:solidFill>
                  <a:schemeClr val="tx1">
                    <a:lumMod val="65000"/>
                    <a:lumOff val="35000"/>
                  </a:schemeClr>
                </a:solidFill>
                <a:uFillTx/>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2024/5/12</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transition>
    <p:rand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2024/5/12</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4"/>
            </p:custDataLst>
          </p:nvPr>
        </p:nvSpPr>
        <p:spPr>
          <a:xfrm>
            <a:off x="608400" y="774000"/>
            <a:ext cx="10972800" cy="5482800"/>
          </a:xfrm>
        </p:spPr>
        <p:txBody>
          <a:bodyPr/>
          <a:lstStyle>
            <a:lvl1pPr marL="228600" indent="-228600" eaLnBrk="1" fontAlgn="auto" latinLnBrk="0" hangingPunct="1">
              <a:lnSpc>
                <a:spcPct val="130000"/>
              </a:lnSpc>
              <a:buFont typeface="Arial" panose="020B0604020202020204" pitchFamily="34" charset="0"/>
              <a:buChar char="●"/>
              <a:defRPr u="none" strike="noStrike" kern="1200" cap="none" spc="150" normalizeH="0" baseline="0">
                <a:solidFill>
                  <a:schemeClr val="tx1">
                    <a:lumMod val="65000"/>
                    <a:lumOff val="35000"/>
                  </a:schemeClr>
                </a:solidFill>
                <a:uFillTx/>
              </a:defRPr>
            </a:lvl1pPr>
            <a:lvl2pPr marL="685800" indent="-228600" defTabSz="914400" eaLnBrk="1" fontAlgn="auto" latinLnBrk="0" hangingPunct="1">
              <a:lnSpc>
                <a:spcPct val="120000"/>
              </a:lnSpc>
              <a:buFont typeface="Arial" panose="020B0604020202020204" pitchFamily="34" charset="0"/>
              <a:buChar char="●"/>
              <a:tabLst>
                <a:tab pos="1609725" algn="l"/>
                <a:tab pos="1609725" algn="l"/>
                <a:tab pos="1609725" algn="l"/>
                <a:tab pos="1609725" algn="l"/>
              </a:tabLst>
              <a:defRPr u="none" strike="noStrike" kern="1200" cap="none" spc="150" normalizeH="0" baseline="0">
                <a:solidFill>
                  <a:schemeClr val="tx1">
                    <a:lumMod val="65000"/>
                    <a:lumOff val="35000"/>
                  </a:schemeClr>
                </a:solidFill>
                <a:uFillTx/>
              </a:defRPr>
            </a:lvl2pPr>
            <a:lvl3pPr marL="1143000" indent="-228600" eaLnBrk="1" fontAlgn="auto" latinLnBrk="0" hangingPunct="1">
              <a:lnSpc>
                <a:spcPct val="120000"/>
              </a:lnSpc>
              <a:buFont typeface="Arial" panose="020B0604020202020204" pitchFamily="34" charset="0"/>
              <a:buChar char="●"/>
              <a:defRPr u="none" strike="noStrike" kern="1200" cap="none" spc="150" normalizeH="0" baseline="0">
                <a:solidFill>
                  <a:schemeClr val="tx1">
                    <a:lumMod val="65000"/>
                    <a:lumOff val="35000"/>
                  </a:schemeClr>
                </a:solidFill>
                <a:uFillTx/>
              </a:defRPr>
            </a:lvl3pPr>
            <a:lvl4pPr marL="1600200" indent="-228600" eaLnBrk="1" fontAlgn="auto" latinLnBrk="0" hangingPunct="1">
              <a:lnSpc>
                <a:spcPct val="120000"/>
              </a:lnSpc>
              <a:buFont typeface="Wingdings" panose="05000000000000000000" charset="0"/>
              <a:buChar char=""/>
              <a:defRPr u="none" strike="noStrike" kern="1200" cap="none" spc="150" normalizeH="0" baseline="0">
                <a:solidFill>
                  <a:schemeClr val="tx1">
                    <a:lumMod val="65000"/>
                    <a:lumOff val="35000"/>
                  </a:schemeClr>
                </a:solidFill>
                <a:uFillTx/>
              </a:defRPr>
            </a:lvl4pPr>
            <a:lvl5pPr marL="2057400" indent="-228600" eaLnBrk="1" fontAlgn="auto" latinLnBrk="0" hangingPunct="1">
              <a:lnSpc>
                <a:spcPct val="120000"/>
              </a:lnSpc>
              <a:buFont typeface="Arial" panose="020B0604020202020204" pitchFamily="34" charset="0"/>
              <a:buChar char="•"/>
              <a:defRPr u="none" strike="noStrike" kern="1200" cap="none" spc="150" normalizeH="0" baseline="0">
                <a:solidFill>
                  <a:schemeClr val="tx1">
                    <a:lumMod val="65000"/>
                    <a:lumOff val="35000"/>
                  </a:schemeClr>
                </a:solidFill>
                <a:uFillTx/>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transition>
    <p:rand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2024/5/12</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2" name="标题 1"/>
          <p:cNvSpPr>
            <a:spLocks noGrp="1"/>
          </p:cNvSpPr>
          <p:nvPr>
            <p:ph type="title" hasCustomPrompt="1"/>
            <p:custDataLst>
              <p:tags r:id="rId4"/>
            </p:custDataLst>
          </p:nvPr>
        </p:nvSpPr>
        <p:spPr>
          <a:xfrm>
            <a:off x="1198800" y="2484000"/>
            <a:ext cx="9799200" cy="1018800"/>
          </a:xfrm>
        </p:spPr>
        <p:txBody>
          <a:bodyPr vert="horz" lIns="90000" tIns="46800" rIns="90000" bIns="46800" rtlCol="0" anchor="t" anchorCtr="0">
            <a:normAutofit/>
          </a:bodyPr>
          <a:lstStyle>
            <a:lvl1pPr marL="0" marR="0" algn="ctr" defTabSz="914400" rtl="0" eaLnBrk="1" fontAlgn="auto" latinLnBrk="0" hangingPunct="1">
              <a:lnSpc>
                <a:spcPct val="100000"/>
              </a:lnSpc>
              <a:buNone/>
              <a:defRPr kumimoji="0" lang="zh-CN" altLang="en-US" sz="6000" b="1" i="0" u="none" strike="noStrike" kern="1200" cap="none" spc="300" normalizeH="0" baseline="0" noProof="1" dirty="0">
                <a:solidFill>
                  <a:schemeClr val="tx1">
                    <a:lumMod val="85000"/>
                    <a:lumOff val="15000"/>
                  </a:schemeClr>
                </a:solidFill>
                <a:effectLst/>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单击此处编辑标题</a:t>
            </a:r>
          </a:p>
        </p:txBody>
      </p:sp>
      <p:sp>
        <p:nvSpPr>
          <p:cNvPr id="7" name="文本占位符 6"/>
          <p:cNvSpPr>
            <a:spLocks noGrp="1"/>
          </p:cNvSpPr>
          <p:nvPr>
            <p:ph type="body" sz="quarter" idx="13"/>
            <p:custDataLst>
              <p:tags r:id="rId5"/>
            </p:custDataLst>
          </p:nvPr>
        </p:nvSpPr>
        <p:spPr>
          <a:xfrm>
            <a:off x="1198800" y="3560400"/>
            <a:ext cx="9799200" cy="471600"/>
          </a:xfrm>
        </p:spPr>
        <p:txBody>
          <a:bodyPr lIns="90000" tIns="46800" rIns="90000" bIns="46800">
            <a:normAutofit/>
          </a:bodyPr>
          <a:lstStyle>
            <a:lvl1pPr marL="0" indent="0" algn="ctr">
              <a:lnSpc>
                <a:spcPct val="110000"/>
              </a:lnSpc>
              <a:buNone/>
              <a:defRPr sz="2400" spc="200" baseline="0">
                <a:solidFill>
                  <a:schemeClr val="tx1">
                    <a:lumMod val="65000"/>
                    <a:lumOff val="35000"/>
                  </a:schemeClr>
                </a:solidFill>
              </a:defRPr>
            </a:lvl1pPr>
          </a:lstStyle>
          <a:p>
            <a:pPr lvl="0"/>
            <a:r>
              <a:rPr lang="zh-CN" altLang="en-US" dirty="0"/>
              <a:t>单击此处编辑母版文本样式</a:t>
            </a:r>
          </a:p>
        </p:txBody>
      </p:sp>
    </p:spTree>
  </p:cSld>
  <p:clrMapOvr>
    <a:masterClrMapping/>
  </p:clrMapOvr>
  <p:transition>
    <p:rand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1.xml"/><Relationship Id="rId18" Type="http://schemas.openxmlformats.org/officeDocument/2006/relationships/tags" Target="../tags/tag6.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17" Type="http://schemas.openxmlformats.org/officeDocument/2006/relationships/tags" Target="../tags/tag5.xml"/><Relationship Id="rId2" Type="http://schemas.openxmlformats.org/officeDocument/2006/relationships/slideLayout" Target="../slideLayouts/slideLayout2.xml"/><Relationship Id="rId16" Type="http://schemas.openxmlformats.org/officeDocument/2006/relationships/tags" Target="../tags/tag4.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3.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rgbClr val="FFFFFF"/>
            </a:gs>
            <a:gs pos="100000">
              <a:srgbClr val="D9D9D9"/>
            </a:gs>
          </a:gsLst>
          <a:lin ang="5400000" scaled="0"/>
        </a:gra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4"/>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p>
        </p:txBody>
      </p:sp>
      <p:sp>
        <p:nvSpPr>
          <p:cNvPr id="3" name="文本占位符 2"/>
          <p:cNvSpPr>
            <a:spLocks noGrp="1"/>
          </p:cNvSpPr>
          <p:nvPr>
            <p:ph type="body" idx="1"/>
            <p:custDataLst>
              <p:tags r:id="rId15"/>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16"/>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Arial" panose="020B0604020202020204" pitchFamily="34" charset="0"/>
                <a:ea typeface="微软雅黑" panose="020B0503020204020204" pitchFamily="34" charset="-122"/>
              </a:defRPr>
            </a:lvl1pPr>
          </a:lstStyle>
          <a:p>
            <a:fld id="{760FBDFE-C587-4B4C-A407-44438C67B59E}" type="datetimeFigureOut">
              <a:rPr lang="zh-CN" altLang="en-US" smtClean="0"/>
              <a:t>2024/5/12</a:t>
            </a:fld>
            <a:endParaRPr lang="zh-CN" altLang="en-US"/>
          </a:p>
        </p:txBody>
      </p:sp>
      <p:sp>
        <p:nvSpPr>
          <p:cNvPr id="5" name="页脚占位符 4"/>
          <p:cNvSpPr>
            <a:spLocks noGrp="1"/>
          </p:cNvSpPr>
          <p:nvPr>
            <p:ph type="ftr" sz="quarter" idx="3"/>
            <p:custDataLst>
              <p:tags r:id="rId17"/>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Arial" panose="020B0604020202020204" pitchFamily="34" charset="0"/>
                <a:ea typeface="微软雅黑" panose="020B0503020204020204" pitchFamily="34" charset="-122"/>
              </a:defRPr>
            </a:lvl1pPr>
          </a:lstStyle>
          <a:p>
            <a:endParaRPr lang="zh-CN" altLang="en-US" dirty="0"/>
          </a:p>
        </p:txBody>
      </p:sp>
      <p:sp>
        <p:nvSpPr>
          <p:cNvPr id="6" name="灯片编号占位符 5"/>
          <p:cNvSpPr>
            <a:spLocks noGrp="1"/>
          </p:cNvSpPr>
          <p:nvPr>
            <p:ph type="sldNum" sz="quarter" idx="4"/>
            <p:custDataLst>
              <p:tags r:id="rId18"/>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Arial" panose="020B0604020202020204" pitchFamily="34" charset="0"/>
                <a:ea typeface="微软雅黑" panose="020B0503020204020204" pitchFamily="34" charset="-122"/>
              </a:defRPr>
            </a:lvl1pPr>
          </a:lstStyle>
          <a:p>
            <a:fld id="{49AE70B2-8BF9-45C0-BB95-33D1B9D3A854}" type="slidenum">
              <a:rPr lang="zh-CN" altLang="en-US" smtClean="0"/>
              <a:t>‹#›</a:t>
            </a:fld>
            <a:endParaRPr lang="zh-CN" altLang="en-US" dirty="0"/>
          </a:p>
        </p:txBody>
      </p:sp>
    </p:spTree>
    <p:custDataLst>
      <p:tags r:id="rId13"/>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random/>
  </p:transition>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59.xml"/><Relationship Id="rId1" Type="http://schemas.openxmlformats.org/officeDocument/2006/relationships/tags" Target="../tags/tag58.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slideLayout" Target="../slideLayouts/slideLayout2.xml"/><Relationship Id="rId1" Type="http://schemas.openxmlformats.org/officeDocument/2006/relationships/tags" Target="../tags/tag60.xml"/></Relationships>
</file>

<file path=ppt/slides/_rels/slide3.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slideLayout" Target="../slideLayouts/slideLayout2.xml"/><Relationship Id="rId1" Type="http://schemas.openxmlformats.org/officeDocument/2006/relationships/tags" Target="../tags/tag61.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3.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4.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5.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6.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7.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8.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9.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0.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1.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2.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73.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74.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5.xml"/></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tags" Target="../tags/tag76.xml"/><Relationship Id="rId4" Type="http://schemas.openxmlformats.org/officeDocument/2006/relationships/image" Target="../media/image3.wmf"/></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77.xml"/><Relationship Id="rId4" Type="http://schemas.openxmlformats.org/officeDocument/2006/relationships/image" Target="../media/image2.GIF"/></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slideLayout" Target="../slideLayouts/slideLayout2.xml"/><Relationship Id="rId1" Type="http://schemas.openxmlformats.org/officeDocument/2006/relationships/tags" Target="../tags/tag7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slideLayout" Target="../slideLayouts/slideLayout2.xml"/><Relationship Id="rId1" Type="http://schemas.openxmlformats.org/officeDocument/2006/relationships/tags" Target="../tags/tag7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slideLayout" Target="../slideLayouts/slideLayout2.xml"/><Relationship Id="rId1" Type="http://schemas.openxmlformats.org/officeDocument/2006/relationships/tags" Target="../tags/tag80.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slideLayout" Target="../slideLayouts/slideLayout2.xml"/><Relationship Id="rId1" Type="http://schemas.openxmlformats.org/officeDocument/2006/relationships/tags" Target="../tags/tag81.xml"/></Relationships>
</file>

<file path=ppt/slides/_rels/slide7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75.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oleObject" Target="../embeddings/oleObject3.bin"/><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oleObject" Target="../embeddings/oleObject4.bin"/><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oleObject" Target="../embeddings/oleObject5.bin"/><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3448685" y="2077085"/>
            <a:ext cx="7120890" cy="1236345"/>
          </a:xfrm>
        </p:spPr>
        <p:txBody>
          <a:bodyPr>
            <a:normAutofit/>
          </a:bodyPr>
          <a:lstStyle/>
          <a:p>
            <a:r>
              <a:rPr lang="zh-CN" altLang="zh-CN" sz="4400" dirty="0"/>
              <a:t>第8章  设备管理</a:t>
            </a:r>
            <a:endParaRPr lang="zh-CN" altLang="zh-CN" sz="4400" dirty="0">
              <a:solidFill>
                <a:schemeClr val="accent1">
                  <a:lumMod val="75000"/>
                </a:schemeClr>
              </a:solidFill>
            </a:endParaRPr>
          </a:p>
        </p:txBody>
      </p:sp>
      <p:sp>
        <p:nvSpPr>
          <p:cNvPr id="7" name="矩形 6"/>
          <p:cNvSpPr/>
          <p:nvPr/>
        </p:nvSpPr>
        <p:spPr>
          <a:xfrm flipV="1">
            <a:off x="3229610" y="3371850"/>
            <a:ext cx="6516000" cy="18000"/>
          </a:xfrm>
          <a:prstGeom prst="rect">
            <a:avLst/>
          </a:prstGeom>
          <a:gradFill>
            <a:gsLst>
              <a:gs pos="0">
                <a:schemeClr val="accent1">
                  <a:lumMod val="75000"/>
                </a:schemeClr>
              </a:gs>
              <a:gs pos="68000">
                <a:srgbClr val="90B4E9">
                  <a:alpha val="100000"/>
                </a:srgbClr>
              </a:gs>
              <a:gs pos="100000">
                <a:schemeClr val="bg1"/>
              </a:gs>
            </a:gsLst>
            <a:path path="rect">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809" name="任意多边形 33808"/>
          <p:cNvSpPr/>
          <p:nvPr/>
        </p:nvSpPr>
        <p:spPr>
          <a:xfrm>
            <a:off x="3696970" y="4021773"/>
            <a:ext cx="247650" cy="247650"/>
          </a:xfrm>
          <a:custGeom>
            <a:avLst/>
            <a:gdLst>
              <a:gd name="txL" fmla="*/ 3163 w 21600"/>
              <a:gd name="txT" fmla="*/ 3163 h 21600"/>
              <a:gd name="txR" fmla="*/ 18437 w 21600"/>
              <a:gd name="txB" fmla="*/ 18437 h 21600"/>
            </a:gdLst>
            <a:ahLst/>
            <a:cxnLst>
              <a:cxn ang="270">
                <a:pos x="10800" y="0"/>
              </a:cxn>
              <a:cxn ang="270">
                <a:pos x="3163" y="3163"/>
              </a:cxn>
              <a:cxn ang="180">
                <a:pos x="0" y="10800"/>
              </a:cxn>
              <a:cxn ang="90">
                <a:pos x="3163" y="18437"/>
              </a:cxn>
              <a:cxn ang="90">
                <a:pos x="10800" y="21600"/>
              </a:cxn>
              <a:cxn ang="90">
                <a:pos x="18437" y="18437"/>
              </a:cxn>
              <a:cxn ang="0">
                <a:pos x="21600" y="10800"/>
              </a:cxn>
              <a:cxn ang="270">
                <a:pos x="18437" y="3163"/>
              </a:cxn>
            </a:cxnLst>
            <a:rect l="txL" t="txT" r="txR" b="txB"/>
            <a:pathLst>
              <a:path w="21600" h="21600">
                <a:moveTo>
                  <a:pt x="0" y="10800"/>
                </a:moveTo>
                <a:arcTo wR="10800" hR="10800" stAng="10800000" swAng="5400000"/>
                <a:arcTo wR="10800" hR="10800" stAng="-5400000" swAng="5400000"/>
                <a:arcTo wR="10800" hR="10800" stAng="0" swAng="5400000"/>
                <a:arcTo wR="10800" hR="10800" stAng="5400000" swAng="5400000"/>
                <a:close/>
                <a:moveTo>
                  <a:pt x="5400" y="10800"/>
                </a:moveTo>
                <a:arcTo wR="5400" hR="5400" stAng="10800000" swAng="-5400000"/>
                <a:arcTo wR="5400" hR="5400" stAng="5400000" swAng="-5400000"/>
                <a:arcTo wR="5400" hR="5400" stAng="0" swAng="-5400000"/>
                <a:arcTo wR="5400" hR="5400" stAng="-5400000" swAng="-5400000"/>
                <a:close/>
              </a:path>
            </a:pathLst>
          </a:custGeom>
          <a:gradFill>
            <a:gsLst>
              <a:gs pos="0">
                <a:srgbClr val="14CD68"/>
              </a:gs>
              <a:gs pos="100000">
                <a:srgbClr val="035C7D"/>
              </a:gs>
            </a:gsLst>
            <a:lin ang="5400000" scaled="0"/>
          </a:gradFill>
          <a:ln w="9525">
            <a:noFill/>
          </a:ln>
          <a:effectLst>
            <a:outerShdw dist="28398" dir="1593903" algn="ctr" rotWithShape="0">
              <a:schemeClr val="bg2">
                <a:alpha val="50000"/>
              </a:schemeClr>
            </a:outerShdw>
          </a:effectLst>
        </p:spPr>
        <p:txBody>
          <a:bodyPr/>
          <a:lstStyle/>
          <a:p>
            <a:endParaRPr lang="zh-CN" altLang="en-US"/>
          </a:p>
        </p:txBody>
      </p:sp>
      <p:sp>
        <p:nvSpPr>
          <p:cNvPr id="33810" name="任意多边形 33809"/>
          <p:cNvSpPr/>
          <p:nvPr/>
        </p:nvSpPr>
        <p:spPr>
          <a:xfrm>
            <a:off x="3696970" y="4584383"/>
            <a:ext cx="247650" cy="247650"/>
          </a:xfrm>
          <a:custGeom>
            <a:avLst/>
            <a:gdLst>
              <a:gd name="txL" fmla="*/ 3163 w 21600"/>
              <a:gd name="txT" fmla="*/ 3163 h 21600"/>
              <a:gd name="txR" fmla="*/ 18437 w 21600"/>
              <a:gd name="txB" fmla="*/ 18437 h 21600"/>
            </a:gdLst>
            <a:ahLst/>
            <a:cxnLst>
              <a:cxn ang="270">
                <a:pos x="10800" y="0"/>
              </a:cxn>
              <a:cxn ang="270">
                <a:pos x="3163" y="3163"/>
              </a:cxn>
              <a:cxn ang="180">
                <a:pos x="0" y="10800"/>
              </a:cxn>
              <a:cxn ang="90">
                <a:pos x="3163" y="18437"/>
              </a:cxn>
              <a:cxn ang="90">
                <a:pos x="10800" y="21600"/>
              </a:cxn>
              <a:cxn ang="90">
                <a:pos x="18437" y="18437"/>
              </a:cxn>
              <a:cxn ang="0">
                <a:pos x="21600" y="10800"/>
              </a:cxn>
              <a:cxn ang="270">
                <a:pos x="18437" y="3163"/>
              </a:cxn>
            </a:cxnLst>
            <a:rect l="txL" t="txT" r="txR" b="txB"/>
            <a:pathLst>
              <a:path w="21600" h="21600">
                <a:moveTo>
                  <a:pt x="0" y="10800"/>
                </a:moveTo>
                <a:arcTo wR="10800" hR="10800" stAng="10800000" swAng="5400000"/>
                <a:arcTo wR="10800" hR="10800" stAng="-5400000" swAng="5400000"/>
                <a:arcTo wR="10800" hR="10800" stAng="0" swAng="5400000"/>
                <a:arcTo wR="10800" hR="10800" stAng="5400000" swAng="5400000"/>
                <a:close/>
                <a:moveTo>
                  <a:pt x="5400" y="10800"/>
                </a:moveTo>
                <a:arcTo wR="5400" hR="5400" stAng="10800000" swAng="-5400000"/>
                <a:arcTo wR="5400" hR="5400" stAng="5400000" swAng="-5400000"/>
                <a:arcTo wR="5400" hR="5400" stAng="0" swAng="-5400000"/>
                <a:arcTo wR="5400" hR="5400" stAng="-5400000" swAng="-5400000"/>
                <a:close/>
              </a:path>
            </a:pathLst>
          </a:custGeom>
          <a:gradFill>
            <a:gsLst>
              <a:gs pos="0">
                <a:srgbClr val="FECF40"/>
              </a:gs>
              <a:gs pos="100000">
                <a:srgbClr val="846C21"/>
              </a:gs>
            </a:gsLst>
            <a:lin ang="5400000" scaled="0"/>
          </a:gradFill>
          <a:ln w="9525">
            <a:noFill/>
          </a:ln>
          <a:effectLst>
            <a:outerShdw dist="28398" dir="1593903" algn="ctr" rotWithShape="0">
              <a:schemeClr val="bg2">
                <a:alpha val="50000"/>
              </a:schemeClr>
            </a:outerShdw>
          </a:effectLst>
        </p:spPr>
        <p:txBody>
          <a:bodyPr/>
          <a:lstStyle/>
          <a:p>
            <a:endParaRPr lang="zh-CN" altLang="en-US"/>
          </a:p>
        </p:txBody>
      </p:sp>
      <p:sp>
        <p:nvSpPr>
          <p:cNvPr id="33811" name="任意多边形 33810"/>
          <p:cNvSpPr/>
          <p:nvPr/>
        </p:nvSpPr>
        <p:spPr>
          <a:xfrm>
            <a:off x="3696970" y="5127308"/>
            <a:ext cx="247650" cy="247650"/>
          </a:xfrm>
          <a:custGeom>
            <a:avLst/>
            <a:gdLst>
              <a:gd name="txL" fmla="*/ 3163 w 21600"/>
              <a:gd name="txT" fmla="*/ 3163 h 21600"/>
              <a:gd name="txR" fmla="*/ 18437 w 21600"/>
              <a:gd name="txB" fmla="*/ 18437 h 21600"/>
            </a:gdLst>
            <a:ahLst/>
            <a:cxnLst>
              <a:cxn ang="270">
                <a:pos x="10800" y="0"/>
              </a:cxn>
              <a:cxn ang="270">
                <a:pos x="3163" y="3163"/>
              </a:cxn>
              <a:cxn ang="180">
                <a:pos x="0" y="10800"/>
              </a:cxn>
              <a:cxn ang="90">
                <a:pos x="3163" y="18437"/>
              </a:cxn>
              <a:cxn ang="90">
                <a:pos x="10800" y="21600"/>
              </a:cxn>
              <a:cxn ang="90">
                <a:pos x="18437" y="18437"/>
              </a:cxn>
              <a:cxn ang="0">
                <a:pos x="21600" y="10800"/>
              </a:cxn>
              <a:cxn ang="270">
                <a:pos x="18437" y="3163"/>
              </a:cxn>
            </a:cxnLst>
            <a:rect l="txL" t="txT" r="txR" b="txB"/>
            <a:pathLst>
              <a:path w="21600" h="21600">
                <a:moveTo>
                  <a:pt x="0" y="10800"/>
                </a:moveTo>
                <a:arcTo wR="10800" hR="10800" stAng="10800000" swAng="5400000"/>
                <a:arcTo wR="10800" hR="10800" stAng="-5400000" swAng="5400000"/>
                <a:arcTo wR="10800" hR="10800" stAng="0" swAng="5400000"/>
                <a:arcTo wR="10800" hR="10800" stAng="5400000" swAng="5400000"/>
                <a:close/>
                <a:moveTo>
                  <a:pt x="5400" y="10800"/>
                </a:moveTo>
                <a:arcTo wR="5400" hR="5400" stAng="10800000" swAng="-5400000"/>
                <a:arcTo wR="5400" hR="5400" stAng="5400000" swAng="-5400000"/>
                <a:arcTo wR="5400" hR="5400" stAng="0" swAng="-5400000"/>
                <a:arcTo wR="5400" hR="5400" stAng="-5400000" swAng="-5400000"/>
                <a:close/>
              </a:path>
            </a:pathLst>
          </a:custGeom>
          <a:gradFill>
            <a:gsLst>
              <a:gs pos="0">
                <a:srgbClr val="C8A1E5"/>
              </a:gs>
              <a:gs pos="100000">
                <a:srgbClr val="692B99"/>
              </a:gs>
            </a:gsLst>
            <a:lin ang="5400000" scaled="0"/>
          </a:gradFill>
          <a:ln w="9525">
            <a:noFill/>
          </a:ln>
          <a:effectLst>
            <a:outerShdw dist="28398" dir="1593903" algn="ctr" rotWithShape="0">
              <a:schemeClr val="bg2">
                <a:alpha val="50000"/>
              </a:schemeClr>
            </a:outerShdw>
          </a:effectLst>
        </p:spPr>
        <p:txBody>
          <a:bodyPr/>
          <a:lstStyle/>
          <a:p>
            <a:endParaRPr lang="zh-CN" altLang="en-US"/>
          </a:p>
        </p:txBody>
      </p:sp>
      <p:pic>
        <p:nvPicPr>
          <p:cNvPr id="5" name="图片 4" descr="TK5CG72_)U3`D_PXLQ1U9PP"/>
          <p:cNvPicPr>
            <a:picLocks noChangeAspect="1"/>
          </p:cNvPicPr>
          <p:nvPr userDrawn="1"/>
        </p:nvPicPr>
        <p:blipFill>
          <a:blip r:embed="rId4"/>
          <a:stretch>
            <a:fillRect/>
          </a:stretch>
        </p:blipFill>
        <p:spPr>
          <a:xfrm>
            <a:off x="1272540" y="1724660"/>
            <a:ext cx="1560195" cy="1711960"/>
          </a:xfrm>
          <a:prstGeom prst="rect">
            <a:avLst/>
          </a:prstGeom>
        </p:spPr>
      </p:pic>
      <p:sp>
        <p:nvSpPr>
          <p:cNvPr id="6" name="副标题 5">
            <a:extLst>
              <a:ext uri="{FF2B5EF4-FFF2-40B4-BE49-F238E27FC236}">
                <a16:creationId xmlns:a16="http://schemas.microsoft.com/office/drawing/2014/main" id="{40000AFD-57F3-4335-BBC2-9EE9F47AA197}"/>
              </a:ext>
            </a:extLst>
          </p:cNvPr>
          <p:cNvSpPr>
            <a:spLocks noGrp="1"/>
          </p:cNvSpPr>
          <p:nvPr>
            <p:ph type="subTitle" idx="1"/>
          </p:nvPr>
        </p:nvSpPr>
        <p:spPr/>
        <p:txBody>
          <a:bodyPr/>
          <a:lstStyle/>
          <a:p>
            <a:endParaRPr lang="zh-CN" altLang="en-US" dirty="0"/>
          </a:p>
        </p:txBody>
      </p:sp>
    </p:spTree>
    <p:custDataLst>
      <p:tags r:id="rId1"/>
    </p:custDataLst>
  </p:cSld>
  <p:clrMapOvr>
    <a:masterClrMapping/>
  </p:clrMapOvr>
  <p:transition>
    <p:random/>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76325" y="114300"/>
            <a:ext cx="9387205" cy="705485"/>
          </a:xfrm>
        </p:spPr>
        <p:txBody>
          <a:bodyPr/>
          <a:lstStyle/>
          <a:p>
            <a:pPr algn="ctr"/>
            <a:r>
              <a:rPr lang="zh-CN" altLang="en-US"/>
              <a:t>本章目录</a:t>
            </a:r>
          </a:p>
        </p:txBody>
      </p:sp>
      <p:sp>
        <p:nvSpPr>
          <p:cNvPr id="3" name="内容占位符 2"/>
          <p:cNvSpPr>
            <a:spLocks noGrp="1"/>
          </p:cNvSpPr>
          <p:nvPr>
            <p:ph idx="1"/>
          </p:nvPr>
        </p:nvSpPr>
        <p:spPr>
          <a:xfrm>
            <a:off x="3636010" y="1227455"/>
            <a:ext cx="4850765" cy="4727575"/>
          </a:xfrm>
        </p:spPr>
        <p:txBody>
          <a:bodyPr>
            <a:normAutofit/>
          </a:bodyPr>
          <a:lstStyle/>
          <a:p>
            <a:pPr>
              <a:buBlip>
                <a:blip r:embed="rId3"/>
              </a:buBlip>
            </a:pPr>
            <a:r>
              <a:rPr lang="en-US" altLang="zh-CN" dirty="0"/>
              <a:t> 8.1 I/O</a:t>
            </a:r>
            <a:r>
              <a:rPr lang="zh-CN" altLang="en-US" dirty="0"/>
              <a:t>系统的组成</a:t>
            </a:r>
            <a:endParaRPr lang="en-US" altLang="zh-CN" dirty="0"/>
          </a:p>
          <a:p>
            <a:pPr>
              <a:buBlip>
                <a:blip r:embed="rId3"/>
              </a:buBlip>
            </a:pPr>
            <a:r>
              <a:rPr lang="en-US" altLang="zh-CN" dirty="0">
                <a:solidFill>
                  <a:srgbClr val="0000FF"/>
                </a:solidFill>
              </a:rPr>
              <a:t> 8.2 I/O</a:t>
            </a:r>
            <a:r>
              <a:rPr lang="zh-CN" altLang="en-US" dirty="0">
                <a:solidFill>
                  <a:srgbClr val="0000FF"/>
                </a:solidFill>
              </a:rPr>
              <a:t>控制方式</a:t>
            </a:r>
            <a:endParaRPr lang="en-US" altLang="zh-CN" dirty="0">
              <a:solidFill>
                <a:srgbClr val="0000FF"/>
              </a:solidFill>
            </a:endParaRPr>
          </a:p>
          <a:p>
            <a:pPr>
              <a:buBlip>
                <a:blip r:embed="rId3"/>
              </a:buBlip>
            </a:pPr>
            <a:r>
              <a:rPr lang="en-US" altLang="zh-CN" dirty="0">
                <a:solidFill>
                  <a:srgbClr val="0000FF"/>
                </a:solidFill>
              </a:rPr>
              <a:t> 8.3 </a:t>
            </a:r>
            <a:r>
              <a:rPr lang="zh-CN" altLang="en-US" dirty="0">
                <a:solidFill>
                  <a:srgbClr val="0000FF"/>
                </a:solidFill>
              </a:rPr>
              <a:t>缓冲技术</a:t>
            </a:r>
            <a:endParaRPr lang="en-US" altLang="zh-CN" dirty="0">
              <a:solidFill>
                <a:srgbClr val="0000FF"/>
              </a:solidFill>
            </a:endParaRPr>
          </a:p>
          <a:p>
            <a:pPr>
              <a:buBlip>
                <a:blip r:embed="rId3"/>
              </a:buBlip>
            </a:pPr>
            <a:r>
              <a:rPr lang="en-US" altLang="zh-CN" dirty="0"/>
              <a:t> 8.4 </a:t>
            </a:r>
            <a:r>
              <a:rPr lang="zh-CN" altLang="en-US" dirty="0"/>
              <a:t>设备分配</a:t>
            </a:r>
            <a:endParaRPr lang="en-US" altLang="zh-CN" dirty="0"/>
          </a:p>
          <a:p>
            <a:pPr>
              <a:buBlip>
                <a:blip r:embed="rId3"/>
              </a:buBlip>
            </a:pPr>
            <a:r>
              <a:rPr lang="en-US" altLang="zh-CN" dirty="0"/>
              <a:t> 8.5 I/O</a:t>
            </a:r>
            <a:r>
              <a:rPr lang="zh-CN" altLang="en-US" dirty="0"/>
              <a:t>软件</a:t>
            </a:r>
            <a:endParaRPr lang="en-US" altLang="zh-CN" dirty="0"/>
          </a:p>
          <a:p>
            <a:pPr>
              <a:buBlip>
                <a:blip r:embed="rId3"/>
              </a:buBlip>
            </a:pPr>
            <a:r>
              <a:rPr lang="en-US" altLang="zh-CN" dirty="0">
                <a:solidFill>
                  <a:srgbClr val="0000FF"/>
                </a:solidFill>
              </a:rPr>
              <a:t> 8.6 </a:t>
            </a:r>
            <a:r>
              <a:rPr lang="zh-CN" altLang="en-US" dirty="0">
                <a:solidFill>
                  <a:srgbClr val="0000FF"/>
                </a:solidFill>
              </a:rPr>
              <a:t>磁盘调度和管理</a:t>
            </a:r>
            <a:endParaRPr lang="en-US" altLang="zh-CN" dirty="0">
              <a:solidFill>
                <a:srgbClr val="0000FF"/>
              </a:solidFill>
            </a:endParaRPr>
          </a:p>
          <a:p>
            <a:pPr>
              <a:buBlip>
                <a:blip r:embed="rId3"/>
              </a:buBlip>
            </a:pPr>
            <a:endParaRPr lang="en-US" altLang="zh-CN" u="dottedHeavy" dirty="0"/>
          </a:p>
        </p:txBody>
      </p:sp>
    </p:spTree>
    <p:custDataLst>
      <p:tags r:id="rId1"/>
    </p:custDataLst>
  </p:cSld>
  <p:clrMapOvr>
    <a:masterClrMapping/>
  </p:clrMapOvr>
  <p:transition>
    <p:random/>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76325" y="114300"/>
            <a:ext cx="9387205" cy="705485"/>
          </a:xfrm>
        </p:spPr>
        <p:txBody>
          <a:bodyPr>
            <a:normAutofit/>
          </a:bodyPr>
          <a:lstStyle/>
          <a:p>
            <a:pPr algn="ctr"/>
            <a:r>
              <a:rPr lang="en-US" altLang="zh-CN" dirty="0"/>
              <a:t>8.1 I/O</a:t>
            </a:r>
            <a:r>
              <a:rPr lang="zh-CN" altLang="en-US" dirty="0"/>
              <a:t>系统的组成</a:t>
            </a:r>
            <a:endParaRPr lang="en-US" altLang="zh-CN" dirty="0"/>
          </a:p>
        </p:txBody>
      </p:sp>
      <p:sp>
        <p:nvSpPr>
          <p:cNvPr id="3" name="内容占位符 2"/>
          <p:cNvSpPr>
            <a:spLocks noGrp="1"/>
          </p:cNvSpPr>
          <p:nvPr>
            <p:ph idx="1"/>
          </p:nvPr>
        </p:nvSpPr>
        <p:spPr>
          <a:xfrm>
            <a:off x="2569210" y="1444943"/>
            <a:ext cx="7722235" cy="1772920"/>
          </a:xfrm>
        </p:spPr>
        <p:txBody>
          <a:bodyPr/>
          <a:lstStyle/>
          <a:p>
            <a:pPr>
              <a:buBlip>
                <a:blip r:embed="rId3"/>
              </a:buBlip>
            </a:pPr>
            <a:r>
              <a:rPr lang="en-US" altLang="zh-CN" dirty="0"/>
              <a:t> 8.1.1 I/O</a:t>
            </a:r>
            <a:r>
              <a:rPr lang="zh-CN" altLang="en-US" dirty="0"/>
              <a:t>系统中各种模块之间的层次结构</a:t>
            </a:r>
            <a:endParaRPr lang="en-US" altLang="zh-CN" dirty="0"/>
          </a:p>
          <a:p>
            <a:pPr>
              <a:buBlip>
                <a:blip r:embed="rId3"/>
              </a:buBlip>
            </a:pPr>
            <a:r>
              <a:rPr lang="en-US" altLang="zh-CN" dirty="0"/>
              <a:t> 8.1.2 I/O</a:t>
            </a:r>
            <a:r>
              <a:rPr lang="zh-CN" altLang="en-US" dirty="0"/>
              <a:t>设备和设备控制器</a:t>
            </a:r>
            <a:endParaRPr lang="en-US" altLang="zh-CN" dirty="0"/>
          </a:p>
        </p:txBody>
      </p:sp>
    </p:spTree>
    <p:custDataLst>
      <p:tags r:id="rId1"/>
    </p:custDataLst>
  </p:cSld>
  <p:clrMapOvr>
    <a:masterClrMapping/>
  </p:clrMapOvr>
  <p:transition>
    <p:random/>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设备管理</a:t>
            </a:r>
            <a:endParaRPr lang="zh-CN" altLang="en-US" dirty="0"/>
          </a:p>
        </p:txBody>
      </p:sp>
      <p:sp>
        <p:nvSpPr>
          <p:cNvPr id="3" name="内容占位符 2"/>
          <p:cNvSpPr>
            <a:spLocks noGrp="1"/>
          </p:cNvSpPr>
          <p:nvPr>
            <p:ph idx="1"/>
          </p:nvPr>
        </p:nvSpPr>
        <p:spPr/>
        <p:txBody>
          <a:bodyPr/>
          <a:lstStyle/>
          <a:p>
            <a:r>
              <a:rPr lang="zh-CN" altLang="zh-CN" dirty="0"/>
              <a:t>设备管理是对计算机</a:t>
            </a:r>
            <a:r>
              <a:rPr lang="en-US" altLang="zh-CN" dirty="0"/>
              <a:t>I/O</a:t>
            </a:r>
            <a:r>
              <a:rPr lang="zh-CN" altLang="zh-CN" dirty="0"/>
              <a:t>设备的管理，是操作系统的主要功能之一。</a:t>
            </a:r>
            <a:endParaRPr lang="en-US" altLang="zh-CN" dirty="0"/>
          </a:p>
          <a:p>
            <a:r>
              <a:rPr lang="zh-CN" altLang="zh-CN" dirty="0"/>
              <a:t>计算机系统中存在着大量的</a:t>
            </a:r>
            <a:r>
              <a:rPr lang="en-US" altLang="zh-CN" dirty="0"/>
              <a:t>I/O</a:t>
            </a:r>
            <a:r>
              <a:rPr lang="zh-CN" altLang="zh-CN" dirty="0"/>
              <a:t>设备，其性能和应用特点可能完全不同，所以要建立一个通用的、一致的设备访问接口，使用户和应用程序开发人员能够方便地使用</a:t>
            </a:r>
            <a:r>
              <a:rPr lang="en-US" altLang="zh-CN" dirty="0"/>
              <a:t>I/O</a:t>
            </a:r>
            <a:r>
              <a:rPr lang="zh-CN" altLang="zh-CN" dirty="0"/>
              <a:t>设备，而无须关心每种设备各自的特性。</a:t>
            </a:r>
          </a:p>
          <a:p>
            <a:endParaRPr lang="zh-CN" altLang="en-US" dirty="0"/>
          </a:p>
        </p:txBody>
      </p:sp>
    </p:spTree>
    <p:custDataLst>
      <p:tags r:id="rId1"/>
    </p:custDataLst>
    <p:extLst>
      <p:ext uri="{BB962C8B-B14F-4D97-AF65-F5344CB8AC3E}">
        <p14:creationId xmlns:p14="http://schemas.microsoft.com/office/powerpoint/2010/main" val="3141154511"/>
      </p:ext>
    </p:extLst>
  </p:cSld>
  <p:clrMapOvr>
    <a:masterClrMapping/>
  </p:clrMapOvr>
  <p:transition>
    <p:random/>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设备管理</a:t>
            </a:r>
            <a:endParaRPr lang="zh-CN" altLang="en-US" dirty="0"/>
          </a:p>
        </p:txBody>
      </p:sp>
      <p:sp>
        <p:nvSpPr>
          <p:cNvPr id="3" name="内容占位符 2"/>
          <p:cNvSpPr>
            <a:spLocks noGrp="1"/>
          </p:cNvSpPr>
          <p:nvPr>
            <p:ph idx="1"/>
          </p:nvPr>
        </p:nvSpPr>
        <p:spPr/>
        <p:txBody>
          <a:bodyPr/>
          <a:lstStyle/>
          <a:p>
            <a:r>
              <a:rPr lang="zh-CN" altLang="zh-CN" dirty="0"/>
              <a:t>设备管理是对计算机</a:t>
            </a:r>
            <a:r>
              <a:rPr lang="en-US" altLang="zh-CN" dirty="0"/>
              <a:t>I/O</a:t>
            </a:r>
            <a:r>
              <a:rPr lang="zh-CN" altLang="zh-CN" dirty="0"/>
              <a:t>设备的管理，是操作系统的主要功能之一。</a:t>
            </a:r>
            <a:endParaRPr lang="en-US" altLang="zh-CN" dirty="0"/>
          </a:p>
          <a:p>
            <a:r>
              <a:rPr lang="zh-CN" altLang="zh-CN" dirty="0"/>
              <a:t>计算机系统中存在着大量的</a:t>
            </a:r>
            <a:r>
              <a:rPr lang="en-US" altLang="zh-CN" dirty="0"/>
              <a:t>I/O</a:t>
            </a:r>
            <a:r>
              <a:rPr lang="zh-CN" altLang="zh-CN" dirty="0"/>
              <a:t>设备，其性能和应用特点可能完全不同，所以要建立一个通用的、一致的设备访问接口，使用户和应用程序开发人员能够方便地使用</a:t>
            </a:r>
            <a:r>
              <a:rPr lang="en-US" altLang="zh-CN" dirty="0"/>
              <a:t>I/O</a:t>
            </a:r>
            <a:r>
              <a:rPr lang="zh-CN" altLang="zh-CN" dirty="0"/>
              <a:t>设备，而无须关心每种设备各自的特性。</a:t>
            </a:r>
          </a:p>
          <a:p>
            <a:endParaRPr lang="zh-CN" altLang="en-US" dirty="0"/>
          </a:p>
        </p:txBody>
      </p:sp>
    </p:spTree>
    <p:custDataLst>
      <p:tags r:id="rId1"/>
    </p:custDataLst>
    <p:extLst>
      <p:ext uri="{BB962C8B-B14F-4D97-AF65-F5344CB8AC3E}">
        <p14:creationId xmlns:p14="http://schemas.microsoft.com/office/powerpoint/2010/main" val="2925887424"/>
      </p:ext>
    </p:extLst>
  </p:cSld>
  <p:clrMapOvr>
    <a:masterClrMapping/>
  </p:clrMapOvr>
  <p:transition>
    <p:random/>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8.1 I/O</a:t>
            </a:r>
            <a:r>
              <a:rPr lang="zh-CN" altLang="en-US" dirty="0"/>
              <a:t>系统的组成</a:t>
            </a:r>
          </a:p>
        </p:txBody>
      </p:sp>
      <p:sp>
        <p:nvSpPr>
          <p:cNvPr id="3" name="内容占位符 2"/>
          <p:cNvSpPr>
            <a:spLocks noGrp="1"/>
          </p:cNvSpPr>
          <p:nvPr>
            <p:ph idx="1"/>
          </p:nvPr>
        </p:nvSpPr>
        <p:spPr>
          <a:xfrm>
            <a:off x="618490" y="1105536"/>
            <a:ext cx="10968990" cy="1837690"/>
          </a:xfrm>
        </p:spPr>
        <p:txBody>
          <a:bodyPr/>
          <a:lstStyle/>
          <a:p>
            <a:pPr marL="0" indent="0">
              <a:buNone/>
            </a:pPr>
            <a:r>
              <a:rPr lang="zh-CN" altLang="zh-CN" b="1" dirty="0"/>
              <a:t>8.1.1 I/O系统中各种模块之间的层次结构</a:t>
            </a:r>
            <a:endParaRPr lang="zh-CN" altLang="zh-CN" dirty="0"/>
          </a:p>
          <a:p>
            <a:pPr marL="0" indent="0">
              <a:buNone/>
            </a:pPr>
            <a:r>
              <a:rPr lang="zh-CN" altLang="zh-CN" dirty="0"/>
              <a:t>为了进一步描述</a:t>
            </a:r>
            <a:r>
              <a:rPr lang="en-US" altLang="zh-CN" dirty="0"/>
              <a:t>I/O</a:t>
            </a:r>
            <a:r>
              <a:rPr lang="zh-CN" altLang="zh-CN" dirty="0"/>
              <a:t>系统中主要模块之间的关系，我们在图</a:t>
            </a:r>
            <a:r>
              <a:rPr lang="en-US" altLang="zh-CN" dirty="0"/>
              <a:t>8-1</a:t>
            </a:r>
            <a:r>
              <a:rPr lang="zh-CN" altLang="zh-CN" dirty="0"/>
              <a:t>中给出了</a:t>
            </a:r>
            <a:r>
              <a:rPr lang="en-US" altLang="zh-CN" dirty="0"/>
              <a:t>I/O</a:t>
            </a:r>
            <a:r>
              <a:rPr lang="zh-CN" altLang="zh-CN" dirty="0"/>
              <a:t>系统中各模块之间的层次结构视图。</a:t>
            </a:r>
            <a:endParaRPr lang="zh-CN" altLang="en-US" dirty="0"/>
          </a:p>
        </p:txBody>
      </p:sp>
    </p:spTree>
    <p:custDataLst>
      <p:tags r:id="rId1"/>
    </p:custDataLst>
    <p:extLst>
      <p:ext uri="{BB962C8B-B14F-4D97-AF65-F5344CB8AC3E}">
        <p14:creationId xmlns:p14="http://schemas.microsoft.com/office/powerpoint/2010/main" val="3610534078"/>
      </p:ext>
    </p:extLst>
  </p:cSld>
  <p:clrMapOvr>
    <a:masterClrMapping/>
  </p:clrMapOvr>
  <p:transition>
    <p:random/>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94"/>
          <p:cNvSpPr>
            <a:spLocks noChangeArrowheads="1"/>
          </p:cNvSpPr>
          <p:nvPr/>
        </p:nvSpPr>
        <p:spPr bwMode="auto">
          <a:xfrm>
            <a:off x="152400" y="152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6" name="画布 800"/>
          <p:cNvGrpSpPr>
            <a:grpSpLocks noChangeAspect="1"/>
          </p:cNvGrpSpPr>
          <p:nvPr/>
        </p:nvGrpSpPr>
        <p:grpSpPr bwMode="auto">
          <a:xfrm>
            <a:off x="1328578" y="179991"/>
            <a:ext cx="9300048" cy="6525609"/>
            <a:chOff x="0" y="0"/>
            <a:chExt cx="45491" cy="31927"/>
          </a:xfrm>
        </p:grpSpPr>
        <p:sp>
          <p:nvSpPr>
            <p:cNvPr id="7" name="Rectangle 93"/>
            <p:cNvSpPr>
              <a:spLocks noChangeArrowheads="1"/>
            </p:cNvSpPr>
            <p:nvPr/>
          </p:nvSpPr>
          <p:spPr bwMode="auto">
            <a:xfrm>
              <a:off x="0" y="0"/>
              <a:ext cx="45491" cy="319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400" b="1"/>
            </a:p>
          </p:txBody>
        </p:sp>
        <p:sp>
          <p:nvSpPr>
            <p:cNvPr id="8" name="矩形 47"/>
            <p:cNvSpPr>
              <a:spLocks noChangeArrowheads="1"/>
            </p:cNvSpPr>
            <p:nvPr/>
          </p:nvSpPr>
          <p:spPr bwMode="auto">
            <a:xfrm>
              <a:off x="1905" y="685"/>
              <a:ext cx="31394" cy="1982"/>
            </a:xfrm>
            <a:prstGeom prst="rect">
              <a:avLst/>
            </a:prstGeom>
            <a:solidFill>
              <a:srgbClr val="FFFFFF"/>
            </a:solidFill>
            <a:ln w="9525">
              <a:solidFill>
                <a:srgbClr val="000000"/>
              </a:solidFill>
              <a:round/>
              <a:headEnd/>
              <a:tailEnd/>
            </a:ln>
          </p:spPr>
          <p:txBody>
            <a:bodyPr vert="horz" wrap="square" lIns="0" tIns="0" rIns="0" bIns="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1" i="0" u="none" strike="noStrike" cap="none" normalizeH="0" baseline="0">
                  <a:ln>
                    <a:noFill/>
                  </a:ln>
                  <a:effectLst/>
                  <a:latin typeface="Calibri" pitchFamily="34" charset="0"/>
                  <a:ea typeface="宋体" pitchFamily="2" charset="-122"/>
                  <a:cs typeface="宋体" pitchFamily="2" charset="-122"/>
                </a:rPr>
                <a:t>应 用 程 序</a:t>
              </a:r>
              <a:endParaRPr kumimoji="0" lang="zh-CN" sz="1400" b="1" i="0" u="none" strike="noStrike" cap="none" normalizeH="0" baseline="0">
                <a:ln>
                  <a:noFill/>
                </a:ln>
                <a:effectLst/>
                <a:latin typeface="Arial" pitchFamily="34" charset="0"/>
                <a:ea typeface="宋体" pitchFamily="2" charset="-122"/>
                <a:cs typeface="宋体" pitchFamily="2" charset="-122"/>
              </a:endParaRPr>
            </a:p>
          </p:txBody>
        </p:sp>
        <p:sp>
          <p:nvSpPr>
            <p:cNvPr id="9" name="直接箭头连接符 48"/>
            <p:cNvSpPr>
              <a:spLocks noChangeShapeType="1"/>
            </p:cNvSpPr>
            <p:nvPr/>
          </p:nvSpPr>
          <p:spPr bwMode="auto">
            <a:xfrm>
              <a:off x="4419" y="2667"/>
              <a:ext cx="0" cy="1225"/>
            </a:xfrm>
            <a:prstGeom prst="straightConnector1">
              <a:avLst/>
            </a:prstGeom>
            <a:noFill/>
            <a:ln w="9525">
              <a:solidFill>
                <a:srgbClr val="000000"/>
              </a:solidFill>
              <a:round/>
              <a:headEnd type="none" w="sm" len="med"/>
              <a:tailEnd type="triangle" w="sm"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1400" b="1"/>
            </a:p>
          </p:txBody>
        </p:sp>
        <p:sp>
          <p:nvSpPr>
            <p:cNvPr id="10" name="直接箭头连接符 54"/>
            <p:cNvSpPr>
              <a:spLocks noChangeShapeType="1"/>
            </p:cNvSpPr>
            <p:nvPr/>
          </p:nvSpPr>
          <p:spPr bwMode="auto">
            <a:xfrm>
              <a:off x="10179" y="2667"/>
              <a:ext cx="0" cy="1225"/>
            </a:xfrm>
            <a:prstGeom prst="straightConnector1">
              <a:avLst/>
            </a:prstGeom>
            <a:noFill/>
            <a:ln w="9525">
              <a:solidFill>
                <a:srgbClr val="000000"/>
              </a:solidFill>
              <a:round/>
              <a:headEnd type="none" w="sm" len="med"/>
              <a:tailEnd type="triangle" w="sm"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1400" b="1"/>
            </a:p>
          </p:txBody>
        </p:sp>
        <p:sp>
          <p:nvSpPr>
            <p:cNvPr id="11" name="直接箭头连接符 55"/>
            <p:cNvSpPr>
              <a:spLocks noChangeShapeType="1"/>
            </p:cNvSpPr>
            <p:nvPr/>
          </p:nvSpPr>
          <p:spPr bwMode="auto">
            <a:xfrm>
              <a:off x="4419" y="6858"/>
              <a:ext cx="0" cy="1225"/>
            </a:xfrm>
            <a:prstGeom prst="straightConnector1">
              <a:avLst/>
            </a:prstGeom>
            <a:noFill/>
            <a:ln w="9525">
              <a:solidFill>
                <a:srgbClr val="000000"/>
              </a:solidFill>
              <a:round/>
              <a:headEnd type="none" w="sm" len="med"/>
              <a:tailEnd type="triangle" w="sm"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1400" b="1"/>
            </a:p>
          </p:txBody>
        </p:sp>
        <p:sp>
          <p:nvSpPr>
            <p:cNvPr id="12" name="直接箭头连接符 56"/>
            <p:cNvSpPr>
              <a:spLocks noChangeShapeType="1"/>
            </p:cNvSpPr>
            <p:nvPr/>
          </p:nvSpPr>
          <p:spPr bwMode="auto">
            <a:xfrm flipH="1">
              <a:off x="10179" y="6858"/>
              <a:ext cx="0" cy="1225"/>
            </a:xfrm>
            <a:prstGeom prst="straightConnector1">
              <a:avLst/>
            </a:prstGeom>
            <a:noFill/>
            <a:ln w="9525">
              <a:solidFill>
                <a:srgbClr val="000000"/>
              </a:solidFill>
              <a:round/>
              <a:headEnd type="none" w="sm" len="med"/>
              <a:tailEnd type="triangle" w="sm"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1400" b="1"/>
            </a:p>
          </p:txBody>
        </p:sp>
        <p:sp>
          <p:nvSpPr>
            <p:cNvPr id="13" name="直接箭头连接符 57"/>
            <p:cNvSpPr>
              <a:spLocks noChangeShapeType="1"/>
            </p:cNvSpPr>
            <p:nvPr/>
          </p:nvSpPr>
          <p:spPr bwMode="auto">
            <a:xfrm>
              <a:off x="13608" y="2667"/>
              <a:ext cx="0" cy="5441"/>
            </a:xfrm>
            <a:prstGeom prst="straightConnector1">
              <a:avLst/>
            </a:prstGeom>
            <a:noFill/>
            <a:ln w="9525">
              <a:solidFill>
                <a:srgbClr val="000000"/>
              </a:solidFill>
              <a:round/>
              <a:headEnd type="none" w="sm" len="med"/>
              <a:tailEnd type="triangle" w="sm"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1400" b="1"/>
            </a:p>
          </p:txBody>
        </p:sp>
        <p:sp>
          <p:nvSpPr>
            <p:cNvPr id="14" name="直接箭头连接符 58"/>
            <p:cNvSpPr>
              <a:spLocks noChangeShapeType="1"/>
            </p:cNvSpPr>
            <p:nvPr/>
          </p:nvSpPr>
          <p:spPr bwMode="auto">
            <a:xfrm>
              <a:off x="7816" y="8305"/>
              <a:ext cx="0" cy="3099"/>
            </a:xfrm>
            <a:prstGeom prst="straightConnector1">
              <a:avLst/>
            </a:prstGeom>
            <a:noFill/>
            <a:ln w="9525">
              <a:solidFill>
                <a:srgbClr val="000000"/>
              </a:solidFill>
              <a:round/>
              <a:headEnd type="none" w="sm" len="med"/>
              <a:tailEnd type="triangle" w="sm"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1400" b="1"/>
            </a:p>
          </p:txBody>
        </p:sp>
        <p:sp>
          <p:nvSpPr>
            <p:cNvPr id="15" name="直接箭头连接符 59"/>
            <p:cNvSpPr>
              <a:spLocks noChangeShapeType="1"/>
            </p:cNvSpPr>
            <p:nvPr/>
          </p:nvSpPr>
          <p:spPr bwMode="auto">
            <a:xfrm>
              <a:off x="4419" y="12954"/>
              <a:ext cx="0" cy="1225"/>
            </a:xfrm>
            <a:prstGeom prst="straightConnector1">
              <a:avLst/>
            </a:prstGeom>
            <a:noFill/>
            <a:ln w="9525">
              <a:solidFill>
                <a:srgbClr val="000000"/>
              </a:solidFill>
              <a:round/>
              <a:headEnd type="none" w="sm" len="med"/>
              <a:tailEnd type="triangle" w="sm"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1400" b="1"/>
            </a:p>
          </p:txBody>
        </p:sp>
        <p:sp>
          <p:nvSpPr>
            <p:cNvPr id="16" name="直接箭头连接符 60"/>
            <p:cNvSpPr>
              <a:spLocks noChangeShapeType="1"/>
            </p:cNvSpPr>
            <p:nvPr/>
          </p:nvSpPr>
          <p:spPr bwMode="auto">
            <a:xfrm flipH="1">
              <a:off x="10179" y="12954"/>
              <a:ext cx="6" cy="1225"/>
            </a:xfrm>
            <a:prstGeom prst="straightConnector1">
              <a:avLst/>
            </a:prstGeom>
            <a:noFill/>
            <a:ln w="9525">
              <a:solidFill>
                <a:srgbClr val="000000"/>
              </a:solidFill>
              <a:round/>
              <a:headEnd type="none" w="sm" len="med"/>
              <a:tailEnd type="triangle" w="sm"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1400" b="1"/>
            </a:p>
          </p:txBody>
        </p:sp>
        <p:sp>
          <p:nvSpPr>
            <p:cNvPr id="17" name="直接箭头连接符 61"/>
            <p:cNvSpPr>
              <a:spLocks noChangeShapeType="1"/>
            </p:cNvSpPr>
            <p:nvPr/>
          </p:nvSpPr>
          <p:spPr bwMode="auto">
            <a:xfrm>
              <a:off x="4311" y="21316"/>
              <a:ext cx="0" cy="1226"/>
            </a:xfrm>
            <a:prstGeom prst="straightConnector1">
              <a:avLst/>
            </a:prstGeom>
            <a:noFill/>
            <a:ln w="9525">
              <a:solidFill>
                <a:srgbClr val="000000"/>
              </a:solidFill>
              <a:round/>
              <a:headEnd type="none" w="sm" len="med"/>
              <a:tailEnd type="triangle" w="sm" len="med"/>
            </a:ln>
            <a:effectLst>
              <a:outerShdw dist="20000" dir="5400000" rotWithShape="0">
                <a:srgbClr val="000000">
                  <a:alpha val="37999"/>
                </a:srgbClr>
              </a:outerShdw>
            </a:effectLst>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1400" b="1"/>
            </a:p>
          </p:txBody>
        </p:sp>
        <p:sp>
          <p:nvSpPr>
            <p:cNvPr id="18" name="直接箭头连接符 62"/>
            <p:cNvSpPr>
              <a:spLocks noChangeShapeType="1"/>
            </p:cNvSpPr>
            <p:nvPr/>
          </p:nvSpPr>
          <p:spPr bwMode="auto">
            <a:xfrm>
              <a:off x="10179" y="21316"/>
              <a:ext cx="0" cy="1226"/>
            </a:xfrm>
            <a:prstGeom prst="straightConnector1">
              <a:avLst/>
            </a:prstGeom>
            <a:noFill/>
            <a:ln w="9525">
              <a:solidFill>
                <a:srgbClr val="000000"/>
              </a:solidFill>
              <a:round/>
              <a:headEnd type="none" w="sm" len="med"/>
              <a:tailEnd type="triangle" w="sm" len="med"/>
            </a:ln>
            <a:effectLst>
              <a:outerShdw dist="20000" dir="5400000" rotWithShape="0">
                <a:srgbClr val="000000">
                  <a:alpha val="37999"/>
                </a:srgbClr>
              </a:outerShdw>
            </a:effectLst>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1400" b="1"/>
            </a:p>
          </p:txBody>
        </p:sp>
        <p:sp>
          <p:nvSpPr>
            <p:cNvPr id="19" name="直接箭头连接符 63"/>
            <p:cNvSpPr>
              <a:spLocks noChangeShapeType="1"/>
            </p:cNvSpPr>
            <p:nvPr/>
          </p:nvSpPr>
          <p:spPr bwMode="auto">
            <a:xfrm>
              <a:off x="4425" y="27051"/>
              <a:ext cx="0" cy="1225"/>
            </a:xfrm>
            <a:prstGeom prst="straightConnector1">
              <a:avLst/>
            </a:prstGeom>
            <a:noFill/>
            <a:ln w="9525">
              <a:solidFill>
                <a:srgbClr val="000000"/>
              </a:solidFill>
              <a:round/>
              <a:headEnd type="none" w="sm" len="med"/>
              <a:tailEnd type="triangle" w="sm" len="med"/>
            </a:ln>
            <a:effectLst>
              <a:outerShdw dist="20000" dir="5400000" rotWithShape="0">
                <a:srgbClr val="000000">
                  <a:alpha val="37999"/>
                </a:srgbClr>
              </a:outerShdw>
            </a:effectLst>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1400" b="1"/>
            </a:p>
          </p:txBody>
        </p:sp>
        <p:sp>
          <p:nvSpPr>
            <p:cNvPr id="20" name="直接箭头连接符 64"/>
            <p:cNvSpPr>
              <a:spLocks noChangeShapeType="1"/>
            </p:cNvSpPr>
            <p:nvPr/>
          </p:nvSpPr>
          <p:spPr bwMode="auto">
            <a:xfrm>
              <a:off x="10185" y="27031"/>
              <a:ext cx="0" cy="1226"/>
            </a:xfrm>
            <a:prstGeom prst="straightConnector1">
              <a:avLst/>
            </a:prstGeom>
            <a:noFill/>
            <a:ln w="9525">
              <a:solidFill>
                <a:srgbClr val="000000"/>
              </a:solidFill>
              <a:round/>
              <a:headEnd type="none" w="sm" len="med"/>
              <a:tailEnd type="triangle" w="sm" len="med"/>
            </a:ln>
            <a:effectLst>
              <a:outerShdw dist="20000" dir="5400000" rotWithShape="0">
                <a:srgbClr val="000000">
                  <a:alpha val="37999"/>
                </a:srgbClr>
              </a:outerShdw>
            </a:effectLst>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1400" b="1"/>
            </a:p>
          </p:txBody>
        </p:sp>
        <p:sp>
          <p:nvSpPr>
            <p:cNvPr id="21" name="矩形 49"/>
            <p:cNvSpPr>
              <a:spLocks noChangeArrowheads="1"/>
            </p:cNvSpPr>
            <p:nvPr/>
          </p:nvSpPr>
          <p:spPr bwMode="auto">
            <a:xfrm>
              <a:off x="1905" y="3867"/>
              <a:ext cx="4724" cy="2991"/>
            </a:xfrm>
            <a:prstGeom prst="rect">
              <a:avLst/>
            </a:prstGeom>
            <a:solidFill>
              <a:srgbClr val="FFFFFF"/>
            </a:solidFill>
            <a:ln w="9525">
              <a:solidFill>
                <a:srgbClr val="000000"/>
              </a:solidFill>
              <a:round/>
              <a:headEnd/>
              <a:tailEnd/>
            </a:ln>
          </p:spPr>
          <p:txBody>
            <a:bodyPr vert="horz" wrap="square" lIns="0" tIns="0" rIns="0" bIns="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1" i="0" u="none" strike="noStrike" cap="none" normalizeH="0" baseline="0">
                  <a:ln>
                    <a:noFill/>
                  </a:ln>
                  <a:effectLst/>
                  <a:latin typeface="Calibri" pitchFamily="34" charset="0"/>
                  <a:ea typeface="宋体" pitchFamily="2" charset="-122"/>
                  <a:cs typeface="宋体" pitchFamily="2" charset="-122"/>
                </a:rPr>
                <a:t>文件系统</a:t>
              </a:r>
              <a:endParaRPr kumimoji="0" lang="zh-CN" sz="1400" b="1" i="0" u="none" strike="noStrike" cap="none" normalizeH="0" baseline="0">
                <a:ln>
                  <a:noFill/>
                </a:ln>
                <a:effectLst/>
                <a:latin typeface="Arial" pitchFamily="34" charset="0"/>
                <a:ea typeface="宋体" pitchFamily="2" charset="-122"/>
                <a:cs typeface="宋体" pitchFamily="2" charset="-122"/>
              </a:endParaRPr>
            </a:p>
          </p:txBody>
        </p:sp>
        <p:sp>
          <p:nvSpPr>
            <p:cNvPr id="22" name="矩形 67"/>
            <p:cNvSpPr>
              <a:spLocks noChangeArrowheads="1"/>
            </p:cNvSpPr>
            <p:nvPr/>
          </p:nvSpPr>
          <p:spPr bwMode="auto">
            <a:xfrm>
              <a:off x="7816" y="3867"/>
              <a:ext cx="5061" cy="2984"/>
            </a:xfrm>
            <a:prstGeom prst="rect">
              <a:avLst/>
            </a:prstGeom>
            <a:solidFill>
              <a:srgbClr val="FFFFFF"/>
            </a:solidFill>
            <a:ln w="9525">
              <a:solidFill>
                <a:srgbClr val="000000"/>
              </a:solidFill>
              <a:round/>
              <a:headEnd/>
              <a:tailEnd/>
            </a:ln>
          </p:spPr>
          <p:txBody>
            <a:bodyPr vert="horz" wrap="square" lIns="0" tIns="0" rIns="0" bIns="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1" i="0" u="none" strike="noStrike" cap="none" normalizeH="0" baseline="0">
                  <a:ln>
                    <a:noFill/>
                  </a:ln>
                  <a:effectLst/>
                  <a:latin typeface="Arial" pitchFamily="34" charset="0"/>
                  <a:ea typeface="宋体" pitchFamily="2" charset="-122"/>
                  <a:cs typeface="Times New Roman" pitchFamily="18" charset="0"/>
                </a:rPr>
                <a:t>虚拟内存</a:t>
              </a:r>
              <a:endParaRPr kumimoji="0" lang="zh-CN" sz="1400" b="1" i="0" u="none" strike="noStrike" cap="none" normalizeH="0" baseline="0">
                <a:ln>
                  <a:noFill/>
                </a:ln>
                <a:effectLst/>
                <a:latin typeface="Arial" pitchFamily="34" charset="0"/>
                <a:ea typeface="宋体" pitchFamily="2" charset="-122"/>
                <a:cs typeface="宋体" pitchFamily="2" charset="-122"/>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zh-CN" sz="1400" b="1" i="0" u="none" strike="noStrike" cap="none" normalizeH="0" baseline="0">
                  <a:ln>
                    <a:noFill/>
                  </a:ln>
                  <a:effectLst/>
                  <a:latin typeface="Arial" pitchFamily="34" charset="0"/>
                  <a:ea typeface="宋体" pitchFamily="2" charset="-122"/>
                  <a:cs typeface="Times New Roman" pitchFamily="18" charset="0"/>
                </a:rPr>
                <a:t>管理</a:t>
              </a:r>
              <a:endParaRPr kumimoji="0" lang="zh-CN" sz="1400" b="1" i="0" u="none" strike="noStrike" cap="none" normalizeH="0" baseline="0">
                <a:ln>
                  <a:noFill/>
                </a:ln>
                <a:effectLst/>
                <a:latin typeface="Arial" pitchFamily="34" charset="0"/>
                <a:ea typeface="宋体" pitchFamily="2" charset="-122"/>
                <a:cs typeface="宋体" pitchFamily="2" charset="-122"/>
              </a:endParaRPr>
            </a:p>
          </p:txBody>
        </p:sp>
        <p:sp>
          <p:nvSpPr>
            <p:cNvPr id="23" name="矩形 51"/>
            <p:cNvSpPr>
              <a:spLocks noChangeArrowheads="1"/>
            </p:cNvSpPr>
            <p:nvPr/>
          </p:nvSpPr>
          <p:spPr bwMode="auto">
            <a:xfrm>
              <a:off x="1905" y="7905"/>
              <a:ext cx="12274" cy="362"/>
            </a:xfrm>
            <a:prstGeom prst="rect">
              <a:avLst/>
            </a:prstGeom>
            <a:solidFill>
              <a:srgbClr val="FFFFFF"/>
            </a:solidFill>
            <a:ln w="9525">
              <a:solidFill>
                <a:srgbClr val="000000"/>
              </a:solidFill>
              <a:round/>
              <a:headEnd/>
              <a:tailEnd/>
            </a:ln>
          </p:spPr>
          <p:txBody>
            <a:bodyPr vert="horz" wrap="square" lIns="0" tIns="0" rIns="0" bIns="0" numCol="1" anchor="ctr" anchorCtr="0" compatLnSpc="1">
              <a:prstTxWarp prst="textNoShape">
                <a:avLst/>
              </a:prstTxWarp>
            </a:bodyPr>
            <a:lstStyle/>
            <a:p>
              <a:endParaRPr lang="zh-CN" altLang="en-US" sz="1400" b="1"/>
            </a:p>
          </p:txBody>
        </p:sp>
        <p:sp>
          <p:nvSpPr>
            <p:cNvPr id="24" name="矩形 69"/>
            <p:cNvSpPr>
              <a:spLocks noChangeArrowheads="1"/>
            </p:cNvSpPr>
            <p:nvPr/>
          </p:nvSpPr>
          <p:spPr bwMode="auto">
            <a:xfrm>
              <a:off x="1898" y="14141"/>
              <a:ext cx="5055" cy="2984"/>
            </a:xfrm>
            <a:prstGeom prst="rect">
              <a:avLst/>
            </a:prstGeom>
            <a:solidFill>
              <a:srgbClr val="FFFFFF"/>
            </a:solidFill>
            <a:ln w="9525">
              <a:solidFill>
                <a:srgbClr val="000000"/>
              </a:solidFill>
              <a:round/>
              <a:headEnd/>
              <a:tailEnd/>
            </a:ln>
          </p:spPr>
          <p:txBody>
            <a:bodyPr vert="horz" wrap="square" lIns="0" tIns="0" rIns="0" bIns="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effectLst/>
                  <a:latin typeface="Arial" pitchFamily="34" charset="0"/>
                  <a:ea typeface="宋体" pitchFamily="2" charset="-122"/>
                  <a:cs typeface="Times New Roman" pitchFamily="18" charset="0"/>
                </a:rPr>
                <a:t>CD-ROM</a:t>
              </a:r>
              <a:endParaRPr kumimoji="0" lang="en-US" altLang="zh-CN" sz="1400" b="1" i="0" u="none" strike="noStrike" cap="none" normalizeH="0" baseline="0">
                <a:ln>
                  <a:noFill/>
                </a:ln>
                <a:effectLst/>
                <a:latin typeface="Arial" pitchFamily="34" charset="0"/>
                <a:ea typeface="宋体" pitchFamily="2" charset="-122"/>
                <a:cs typeface="宋体" pitchFamily="2" charset="-122"/>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1400" b="1" i="0" u="none" strike="noStrike" cap="none" normalizeH="0" baseline="0">
                  <a:ln>
                    <a:noFill/>
                  </a:ln>
                  <a:effectLst/>
                  <a:latin typeface="Arial" pitchFamily="34" charset="0"/>
                  <a:ea typeface="宋体" pitchFamily="2" charset="-122"/>
                  <a:cs typeface="Times New Roman" pitchFamily="18" charset="0"/>
                </a:rPr>
                <a:t>驱动程序</a:t>
              </a:r>
              <a:endParaRPr kumimoji="0" lang="zh-CN" altLang="en-US" sz="1400" b="1" i="0" u="none" strike="noStrike" cap="none" normalizeH="0" baseline="0">
                <a:ln>
                  <a:noFill/>
                </a:ln>
                <a:effectLst/>
                <a:latin typeface="Arial" pitchFamily="34" charset="0"/>
                <a:ea typeface="宋体" pitchFamily="2" charset="-122"/>
                <a:cs typeface="宋体" pitchFamily="2" charset="-122"/>
              </a:endParaRPr>
            </a:p>
          </p:txBody>
        </p:sp>
        <p:sp>
          <p:nvSpPr>
            <p:cNvPr id="25" name="矩形 70"/>
            <p:cNvSpPr>
              <a:spLocks noChangeArrowheads="1"/>
            </p:cNvSpPr>
            <p:nvPr/>
          </p:nvSpPr>
          <p:spPr bwMode="auto">
            <a:xfrm>
              <a:off x="7816" y="14128"/>
              <a:ext cx="5055" cy="2985"/>
            </a:xfrm>
            <a:prstGeom prst="rect">
              <a:avLst/>
            </a:prstGeom>
            <a:solidFill>
              <a:srgbClr val="FFFFFF"/>
            </a:solidFill>
            <a:ln w="9525">
              <a:solidFill>
                <a:srgbClr val="000000"/>
              </a:solidFill>
              <a:round/>
              <a:headEnd/>
              <a:tailEnd/>
            </a:ln>
          </p:spPr>
          <p:txBody>
            <a:bodyPr vert="horz" wrap="square" lIns="0" tIns="0" rIns="0" bIns="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1" i="0" u="none" strike="noStrike" cap="none" normalizeH="0" baseline="0">
                  <a:ln>
                    <a:noFill/>
                  </a:ln>
                  <a:effectLst/>
                  <a:latin typeface="Arial" pitchFamily="34" charset="0"/>
                  <a:ea typeface="宋体" pitchFamily="2" charset="-122"/>
                  <a:cs typeface="Times New Roman" pitchFamily="18" charset="0"/>
                </a:rPr>
                <a:t>硬盘</a:t>
              </a:r>
              <a:endParaRPr kumimoji="0" lang="zh-CN" sz="1400" b="1" i="0" u="none" strike="noStrike" cap="none" normalizeH="0" baseline="0">
                <a:ln>
                  <a:noFill/>
                </a:ln>
                <a:effectLst/>
                <a:latin typeface="Arial" pitchFamily="34" charset="0"/>
                <a:ea typeface="宋体" pitchFamily="2" charset="-122"/>
                <a:cs typeface="宋体" pitchFamily="2" charset="-122"/>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zh-CN" sz="1400" b="1" i="0" u="none" strike="noStrike" cap="none" normalizeH="0" baseline="0">
                  <a:ln>
                    <a:noFill/>
                  </a:ln>
                  <a:effectLst/>
                  <a:latin typeface="Arial" pitchFamily="34" charset="0"/>
                  <a:ea typeface="宋体" pitchFamily="2" charset="-122"/>
                  <a:cs typeface="Times New Roman" pitchFamily="18" charset="0"/>
                </a:rPr>
                <a:t>驱动程序</a:t>
              </a:r>
              <a:endParaRPr kumimoji="0" lang="zh-CN" sz="1400" b="1" i="0" u="none" strike="noStrike" cap="none" normalizeH="0" baseline="0">
                <a:ln>
                  <a:noFill/>
                </a:ln>
                <a:effectLst/>
                <a:latin typeface="Arial" pitchFamily="34" charset="0"/>
                <a:ea typeface="宋体" pitchFamily="2" charset="-122"/>
                <a:cs typeface="宋体" pitchFamily="2" charset="-122"/>
              </a:endParaRPr>
            </a:p>
          </p:txBody>
        </p:sp>
        <p:sp>
          <p:nvSpPr>
            <p:cNvPr id="26" name="矩形 52"/>
            <p:cNvSpPr>
              <a:spLocks noChangeArrowheads="1"/>
            </p:cNvSpPr>
            <p:nvPr/>
          </p:nvSpPr>
          <p:spPr bwMode="auto">
            <a:xfrm>
              <a:off x="1905" y="11353"/>
              <a:ext cx="10972" cy="1601"/>
            </a:xfrm>
            <a:prstGeom prst="rect">
              <a:avLst/>
            </a:prstGeom>
            <a:solidFill>
              <a:srgbClr val="FFFFFF"/>
            </a:solidFill>
            <a:ln w="9525">
              <a:solidFill>
                <a:srgbClr val="000000"/>
              </a:solidFill>
              <a:round/>
              <a:headEnd/>
              <a:tailEnd/>
            </a:ln>
          </p:spPr>
          <p:txBody>
            <a:bodyPr vert="horz" wrap="square" lIns="0" tIns="0" rIns="0" bIns="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1" i="0" u="none" strike="noStrike" cap="none" normalizeH="0" baseline="0">
                  <a:ln>
                    <a:noFill/>
                  </a:ln>
                  <a:effectLst/>
                  <a:latin typeface="Calibri" pitchFamily="34" charset="0"/>
                  <a:ea typeface="宋体" pitchFamily="2" charset="-122"/>
                  <a:cs typeface="宋体" pitchFamily="2" charset="-122"/>
                </a:rPr>
                <a:t>块设备管理</a:t>
              </a:r>
              <a:endParaRPr kumimoji="0" lang="zh-CN" sz="1400" b="1" i="0" u="none" strike="noStrike" cap="none" normalizeH="0" baseline="0">
                <a:ln>
                  <a:noFill/>
                </a:ln>
                <a:effectLst/>
                <a:latin typeface="Arial" pitchFamily="34" charset="0"/>
                <a:ea typeface="宋体" pitchFamily="2" charset="-122"/>
                <a:cs typeface="宋体" pitchFamily="2" charset="-122"/>
              </a:endParaRPr>
            </a:p>
          </p:txBody>
        </p:sp>
        <p:sp>
          <p:nvSpPr>
            <p:cNvPr id="27" name="矩形 72"/>
            <p:cNvSpPr>
              <a:spLocks noChangeArrowheads="1"/>
            </p:cNvSpPr>
            <p:nvPr/>
          </p:nvSpPr>
          <p:spPr bwMode="auto">
            <a:xfrm>
              <a:off x="1898" y="8534"/>
              <a:ext cx="5055" cy="190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1" i="0" u="none" strike="noStrike" cap="none" normalizeH="0" baseline="0">
                  <a:ln>
                    <a:noFill/>
                  </a:ln>
                  <a:effectLst/>
                  <a:latin typeface="Arial" pitchFamily="34" charset="0"/>
                  <a:ea typeface="宋体" pitchFamily="2" charset="-122"/>
                  <a:cs typeface="Times New Roman" pitchFamily="18" charset="0"/>
                </a:rPr>
                <a:t>块设备接口</a:t>
              </a:r>
              <a:endParaRPr kumimoji="0" lang="zh-CN" sz="1400" b="1" i="0" u="none" strike="noStrike" cap="none" normalizeH="0" baseline="0">
                <a:ln>
                  <a:noFill/>
                </a:ln>
                <a:effectLst/>
                <a:latin typeface="Arial" pitchFamily="34" charset="0"/>
                <a:ea typeface="宋体" pitchFamily="2" charset="-122"/>
                <a:cs typeface="宋体" pitchFamily="2" charset="-122"/>
              </a:endParaRPr>
            </a:p>
          </p:txBody>
        </p:sp>
        <p:sp>
          <p:nvSpPr>
            <p:cNvPr id="28" name="矩形 73"/>
            <p:cNvSpPr>
              <a:spLocks noChangeArrowheads="1"/>
            </p:cNvSpPr>
            <p:nvPr/>
          </p:nvSpPr>
          <p:spPr bwMode="auto">
            <a:xfrm>
              <a:off x="8426" y="8502"/>
              <a:ext cx="5055" cy="273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1" i="0" u="none" strike="noStrike" cap="none" normalizeH="0" baseline="0">
                  <a:ln>
                    <a:noFill/>
                  </a:ln>
                  <a:effectLst/>
                  <a:latin typeface="Arial" pitchFamily="34" charset="0"/>
                  <a:ea typeface="宋体" pitchFamily="2" charset="-122"/>
                  <a:cs typeface="Times New Roman" pitchFamily="18" charset="0"/>
                </a:rPr>
                <a:t>打开</a:t>
              </a:r>
              <a:r>
                <a:rPr kumimoji="0" lang="en-US" altLang="zh-CN" sz="1400" b="1" i="0" u="none" strike="noStrike" cap="none" normalizeH="0" baseline="0">
                  <a:ln>
                    <a:noFill/>
                  </a:ln>
                  <a:effectLst/>
                  <a:latin typeface="Arial" pitchFamily="34" charset="0"/>
                  <a:ea typeface="宋体" pitchFamily="2" charset="-122"/>
                  <a:cs typeface="Times New Roman" pitchFamily="18" charset="0"/>
                </a:rPr>
                <a:t>/</a:t>
              </a:r>
              <a:r>
                <a:rPr kumimoji="0" lang="zh-CN" altLang="en-US" sz="1400" b="1" i="0" u="none" strike="noStrike" cap="none" normalizeH="0" baseline="0">
                  <a:ln>
                    <a:noFill/>
                  </a:ln>
                  <a:effectLst/>
                  <a:latin typeface="Arial" pitchFamily="34" charset="0"/>
                  <a:ea typeface="宋体" pitchFamily="2" charset="-122"/>
                  <a:cs typeface="Times New Roman" pitchFamily="18" charset="0"/>
                </a:rPr>
                <a:t>关闭</a:t>
              </a:r>
              <a:endParaRPr kumimoji="0" lang="zh-CN" altLang="en-US" sz="1400" b="1" i="0" u="none" strike="noStrike" cap="none" normalizeH="0" baseline="0">
                <a:ln>
                  <a:noFill/>
                </a:ln>
                <a:effectLst/>
                <a:latin typeface="Arial" pitchFamily="34" charset="0"/>
                <a:ea typeface="宋体" pitchFamily="2" charset="-122"/>
                <a:cs typeface="宋体" pitchFamily="2" charset="-122"/>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1400" b="1" i="0" u="none" strike="noStrike" cap="none" normalizeH="0" baseline="0">
                  <a:ln>
                    <a:noFill/>
                  </a:ln>
                  <a:effectLst/>
                  <a:latin typeface="Arial" pitchFamily="34" charset="0"/>
                  <a:ea typeface="宋体" pitchFamily="2" charset="-122"/>
                  <a:cs typeface="Times New Roman" pitchFamily="18" charset="0"/>
                </a:rPr>
                <a:t>读</a:t>
              </a:r>
              <a:r>
                <a:rPr kumimoji="0" lang="en-US" altLang="zh-CN" sz="1400" b="1" i="0" u="none" strike="noStrike" cap="none" normalizeH="0" baseline="0">
                  <a:ln>
                    <a:noFill/>
                  </a:ln>
                  <a:effectLst/>
                  <a:latin typeface="Arial" pitchFamily="34" charset="0"/>
                  <a:ea typeface="宋体" pitchFamily="2" charset="-122"/>
                  <a:cs typeface="Times New Roman" pitchFamily="18" charset="0"/>
                </a:rPr>
                <a:t>/</a:t>
              </a:r>
              <a:r>
                <a:rPr kumimoji="0" lang="zh-CN" altLang="en-US" sz="1400" b="1" i="0" u="none" strike="noStrike" cap="none" normalizeH="0" baseline="0">
                  <a:ln>
                    <a:noFill/>
                  </a:ln>
                  <a:effectLst/>
                  <a:latin typeface="Arial" pitchFamily="34" charset="0"/>
                  <a:ea typeface="宋体" pitchFamily="2" charset="-122"/>
                  <a:cs typeface="Times New Roman" pitchFamily="18" charset="0"/>
                </a:rPr>
                <a:t>写</a:t>
              </a:r>
              <a:endParaRPr kumimoji="0" lang="zh-CN" altLang="en-US" sz="1400" b="1" i="0" u="none" strike="noStrike" cap="none" normalizeH="0" baseline="0">
                <a:ln>
                  <a:noFill/>
                </a:ln>
                <a:effectLst/>
                <a:latin typeface="Arial" pitchFamily="34" charset="0"/>
                <a:ea typeface="宋体" pitchFamily="2" charset="-122"/>
                <a:cs typeface="宋体" pitchFamily="2" charset="-122"/>
              </a:endParaRPr>
            </a:p>
          </p:txBody>
        </p:sp>
        <p:sp>
          <p:nvSpPr>
            <p:cNvPr id="29" name="直接箭头连接符 74"/>
            <p:cNvSpPr>
              <a:spLocks noChangeShapeType="1"/>
            </p:cNvSpPr>
            <p:nvPr/>
          </p:nvSpPr>
          <p:spPr bwMode="auto">
            <a:xfrm>
              <a:off x="4425" y="17164"/>
              <a:ext cx="0" cy="1225"/>
            </a:xfrm>
            <a:prstGeom prst="straightConnector1">
              <a:avLst/>
            </a:prstGeom>
            <a:noFill/>
            <a:ln w="9525">
              <a:solidFill>
                <a:srgbClr val="000000"/>
              </a:solidFill>
              <a:round/>
              <a:headEnd type="none" w="sm" len="med"/>
              <a:tailEnd type="triangle" w="sm" len="med"/>
            </a:ln>
            <a:effectLst>
              <a:outerShdw dist="20000" dir="5400000" rotWithShape="0">
                <a:srgbClr val="000000">
                  <a:alpha val="37999"/>
                </a:srgbClr>
              </a:outerShdw>
            </a:effectLst>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1400" b="1"/>
            </a:p>
          </p:txBody>
        </p:sp>
        <p:sp>
          <p:nvSpPr>
            <p:cNvPr id="30" name="直接箭头连接符 75"/>
            <p:cNvSpPr>
              <a:spLocks noChangeShapeType="1"/>
            </p:cNvSpPr>
            <p:nvPr/>
          </p:nvSpPr>
          <p:spPr bwMode="auto">
            <a:xfrm>
              <a:off x="10185" y="17164"/>
              <a:ext cx="0" cy="1225"/>
            </a:xfrm>
            <a:prstGeom prst="straightConnector1">
              <a:avLst/>
            </a:prstGeom>
            <a:noFill/>
            <a:ln w="9525">
              <a:solidFill>
                <a:srgbClr val="000000"/>
              </a:solidFill>
              <a:round/>
              <a:headEnd type="none" w="sm" len="med"/>
              <a:tailEnd type="triangle" w="sm" len="med"/>
            </a:ln>
            <a:effectLst>
              <a:outerShdw dist="20000" dir="5400000" rotWithShape="0">
                <a:srgbClr val="000000">
                  <a:alpha val="37999"/>
                </a:srgbClr>
              </a:outerShdw>
            </a:effectLst>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1400" b="1"/>
            </a:p>
          </p:txBody>
        </p:sp>
        <p:sp>
          <p:nvSpPr>
            <p:cNvPr id="31" name="矩形 76"/>
            <p:cNvSpPr>
              <a:spLocks noChangeArrowheads="1"/>
            </p:cNvSpPr>
            <p:nvPr/>
          </p:nvSpPr>
          <p:spPr bwMode="auto">
            <a:xfrm>
              <a:off x="1905" y="18351"/>
              <a:ext cx="5054" cy="2985"/>
            </a:xfrm>
            <a:prstGeom prst="rect">
              <a:avLst/>
            </a:prstGeom>
            <a:solidFill>
              <a:srgbClr val="FFFFFF"/>
            </a:solidFill>
            <a:ln w="9525">
              <a:solidFill>
                <a:srgbClr val="000000"/>
              </a:solidFill>
              <a:round/>
              <a:headEnd/>
              <a:tailEnd/>
            </a:ln>
          </p:spPr>
          <p:txBody>
            <a:bodyPr vert="horz" wrap="square" lIns="0" tIns="0" rIns="0" bIns="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effectLst/>
                  <a:latin typeface="Arial" pitchFamily="34" charset="0"/>
                  <a:ea typeface="宋体" pitchFamily="2" charset="-122"/>
                  <a:cs typeface="Times New Roman" pitchFamily="18" charset="0"/>
                </a:rPr>
                <a:t>CD-ROM</a:t>
              </a:r>
              <a:endParaRPr kumimoji="0" lang="en-US" altLang="zh-CN" sz="1400" b="1" i="0" u="none" strike="noStrike" cap="none" normalizeH="0" baseline="0">
                <a:ln>
                  <a:noFill/>
                </a:ln>
                <a:effectLst/>
                <a:latin typeface="Arial" pitchFamily="34" charset="0"/>
                <a:ea typeface="宋体" pitchFamily="2" charset="-122"/>
                <a:cs typeface="宋体" pitchFamily="2" charset="-122"/>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1400" b="1" i="0" u="none" strike="noStrike" cap="none" normalizeH="0" baseline="0">
                  <a:ln>
                    <a:noFill/>
                  </a:ln>
                  <a:effectLst/>
                  <a:latin typeface="Arial" pitchFamily="34" charset="0"/>
                  <a:ea typeface="宋体" pitchFamily="2" charset="-122"/>
                  <a:cs typeface="Times New Roman" pitchFamily="18" charset="0"/>
                </a:rPr>
                <a:t>中断处理程序</a:t>
              </a:r>
              <a:endParaRPr kumimoji="0" lang="zh-CN" altLang="en-US" sz="1400" b="1" i="0" u="none" strike="noStrike" cap="none" normalizeH="0" baseline="0">
                <a:ln>
                  <a:noFill/>
                </a:ln>
                <a:effectLst/>
                <a:latin typeface="Arial" pitchFamily="34" charset="0"/>
                <a:ea typeface="宋体" pitchFamily="2" charset="-122"/>
                <a:cs typeface="宋体" pitchFamily="2" charset="-122"/>
              </a:endParaRPr>
            </a:p>
          </p:txBody>
        </p:sp>
        <p:sp>
          <p:nvSpPr>
            <p:cNvPr id="32" name="矩形 77"/>
            <p:cNvSpPr>
              <a:spLocks noChangeArrowheads="1"/>
            </p:cNvSpPr>
            <p:nvPr/>
          </p:nvSpPr>
          <p:spPr bwMode="auto">
            <a:xfrm>
              <a:off x="7823" y="18332"/>
              <a:ext cx="5054" cy="2984"/>
            </a:xfrm>
            <a:prstGeom prst="rect">
              <a:avLst/>
            </a:prstGeom>
            <a:solidFill>
              <a:srgbClr val="FFFFFF"/>
            </a:solidFill>
            <a:ln w="9525">
              <a:solidFill>
                <a:srgbClr val="000000"/>
              </a:solidFill>
              <a:round/>
              <a:headEnd/>
              <a:tailEnd/>
            </a:ln>
          </p:spPr>
          <p:txBody>
            <a:bodyPr vert="horz" wrap="square" lIns="0" tIns="0" rIns="0" bIns="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1" i="0" u="none" strike="noStrike" cap="none" normalizeH="0" baseline="0">
                  <a:ln>
                    <a:noFill/>
                  </a:ln>
                  <a:effectLst/>
                  <a:latin typeface="Arial" pitchFamily="34" charset="0"/>
                  <a:ea typeface="宋体" pitchFamily="2" charset="-122"/>
                  <a:cs typeface="Times New Roman" pitchFamily="18" charset="0"/>
                </a:rPr>
                <a:t>硬盘</a:t>
              </a:r>
              <a:endParaRPr kumimoji="0" lang="zh-CN" sz="1400" b="1" i="0" u="none" strike="noStrike" cap="none" normalizeH="0" baseline="0">
                <a:ln>
                  <a:noFill/>
                </a:ln>
                <a:effectLst/>
                <a:latin typeface="Arial" pitchFamily="34" charset="0"/>
                <a:ea typeface="宋体" pitchFamily="2" charset="-122"/>
                <a:cs typeface="宋体" pitchFamily="2" charset="-122"/>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zh-CN" sz="1400" b="1" i="0" u="none" strike="noStrike" cap="none" normalizeH="0" baseline="0">
                  <a:ln>
                    <a:noFill/>
                  </a:ln>
                  <a:effectLst/>
                  <a:latin typeface="Arial" pitchFamily="34" charset="0"/>
                  <a:ea typeface="宋体" pitchFamily="2" charset="-122"/>
                  <a:cs typeface="Times New Roman" pitchFamily="18" charset="0"/>
                </a:rPr>
                <a:t>中断处理程序</a:t>
              </a:r>
              <a:endParaRPr kumimoji="0" lang="zh-CN" sz="1400" b="1" i="0" u="none" strike="noStrike" cap="none" normalizeH="0" baseline="0">
                <a:ln>
                  <a:noFill/>
                </a:ln>
                <a:effectLst/>
                <a:latin typeface="Arial" pitchFamily="34" charset="0"/>
                <a:ea typeface="宋体" pitchFamily="2" charset="-122"/>
                <a:cs typeface="宋体" pitchFamily="2" charset="-122"/>
              </a:endParaRPr>
            </a:p>
          </p:txBody>
        </p:sp>
        <p:sp>
          <p:nvSpPr>
            <p:cNvPr id="33" name="直接箭头连接符 78"/>
            <p:cNvSpPr>
              <a:spLocks noChangeShapeType="1"/>
            </p:cNvSpPr>
            <p:nvPr/>
          </p:nvSpPr>
          <p:spPr bwMode="auto">
            <a:xfrm>
              <a:off x="4425" y="22955"/>
              <a:ext cx="0" cy="1225"/>
            </a:xfrm>
            <a:prstGeom prst="straightConnector1">
              <a:avLst/>
            </a:prstGeom>
            <a:noFill/>
            <a:ln w="9525">
              <a:solidFill>
                <a:srgbClr val="000000"/>
              </a:solidFill>
              <a:round/>
              <a:headEnd type="none" w="sm" len="med"/>
              <a:tailEnd type="triangle" w="sm" len="med"/>
            </a:ln>
            <a:effectLst>
              <a:outerShdw dist="20000" dir="5400000" rotWithShape="0">
                <a:srgbClr val="000000">
                  <a:alpha val="37999"/>
                </a:srgbClr>
              </a:outerShdw>
            </a:effectLst>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1400" b="1"/>
            </a:p>
          </p:txBody>
        </p:sp>
        <p:sp>
          <p:nvSpPr>
            <p:cNvPr id="34" name="直接箭头连接符 79"/>
            <p:cNvSpPr>
              <a:spLocks noChangeShapeType="1"/>
            </p:cNvSpPr>
            <p:nvPr/>
          </p:nvSpPr>
          <p:spPr bwMode="auto">
            <a:xfrm>
              <a:off x="10185" y="22955"/>
              <a:ext cx="0" cy="1225"/>
            </a:xfrm>
            <a:prstGeom prst="straightConnector1">
              <a:avLst/>
            </a:prstGeom>
            <a:noFill/>
            <a:ln w="9525">
              <a:solidFill>
                <a:srgbClr val="000000"/>
              </a:solidFill>
              <a:round/>
              <a:headEnd type="none" w="sm" len="med"/>
              <a:tailEnd type="triangle" w="sm" len="med"/>
            </a:ln>
            <a:effectLst>
              <a:outerShdw dist="20000" dir="5400000" rotWithShape="0">
                <a:srgbClr val="000000">
                  <a:alpha val="37999"/>
                </a:srgbClr>
              </a:outerShdw>
            </a:effectLst>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1400" b="1"/>
            </a:p>
          </p:txBody>
        </p:sp>
        <p:sp>
          <p:nvSpPr>
            <p:cNvPr id="35" name="矩形 80"/>
            <p:cNvSpPr>
              <a:spLocks noChangeArrowheads="1"/>
            </p:cNvSpPr>
            <p:nvPr/>
          </p:nvSpPr>
          <p:spPr bwMode="auto">
            <a:xfrm>
              <a:off x="1905" y="24066"/>
              <a:ext cx="5054" cy="2985"/>
            </a:xfrm>
            <a:prstGeom prst="rect">
              <a:avLst/>
            </a:prstGeom>
            <a:solidFill>
              <a:srgbClr val="FFFFFF"/>
            </a:solidFill>
            <a:ln w="9525">
              <a:solidFill>
                <a:srgbClr val="000000"/>
              </a:solidFill>
              <a:round/>
              <a:headEnd/>
              <a:tailEnd/>
            </a:ln>
          </p:spPr>
          <p:txBody>
            <a:bodyPr vert="horz" wrap="square" lIns="0" tIns="0" rIns="0" bIns="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effectLst/>
                  <a:latin typeface="Arial" pitchFamily="34" charset="0"/>
                  <a:ea typeface="宋体" pitchFamily="2" charset="-122"/>
                  <a:cs typeface="Times New Roman" pitchFamily="18" charset="0"/>
                </a:rPr>
                <a:t>CD-ROM</a:t>
              </a:r>
              <a:endParaRPr kumimoji="0" lang="en-US" altLang="zh-CN" sz="1400" b="1" i="0" u="none" strike="noStrike" cap="none" normalizeH="0" baseline="0">
                <a:ln>
                  <a:noFill/>
                </a:ln>
                <a:effectLst/>
                <a:latin typeface="Arial" pitchFamily="34" charset="0"/>
                <a:ea typeface="宋体" pitchFamily="2" charset="-122"/>
                <a:cs typeface="宋体" pitchFamily="2" charset="-122"/>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1400" b="1" i="0" u="none" strike="noStrike" cap="none" normalizeH="0" baseline="0">
                  <a:ln>
                    <a:noFill/>
                  </a:ln>
                  <a:effectLst/>
                  <a:latin typeface="Arial" pitchFamily="34" charset="0"/>
                  <a:ea typeface="宋体" pitchFamily="2" charset="-122"/>
                  <a:cs typeface="Times New Roman" pitchFamily="18" charset="0"/>
                </a:rPr>
                <a:t>控制器</a:t>
              </a:r>
              <a:endParaRPr kumimoji="0" lang="zh-CN" altLang="en-US" sz="1400" b="1" i="0" u="none" strike="noStrike" cap="none" normalizeH="0" baseline="0">
                <a:ln>
                  <a:noFill/>
                </a:ln>
                <a:effectLst/>
                <a:latin typeface="Arial" pitchFamily="34" charset="0"/>
                <a:ea typeface="宋体" pitchFamily="2" charset="-122"/>
                <a:cs typeface="宋体" pitchFamily="2" charset="-122"/>
              </a:endParaRPr>
            </a:p>
          </p:txBody>
        </p:sp>
        <p:sp>
          <p:nvSpPr>
            <p:cNvPr id="36" name="矩形 81"/>
            <p:cNvSpPr>
              <a:spLocks noChangeArrowheads="1"/>
            </p:cNvSpPr>
            <p:nvPr/>
          </p:nvSpPr>
          <p:spPr bwMode="auto">
            <a:xfrm>
              <a:off x="7823" y="24047"/>
              <a:ext cx="5054" cy="2984"/>
            </a:xfrm>
            <a:prstGeom prst="rect">
              <a:avLst/>
            </a:prstGeom>
            <a:solidFill>
              <a:srgbClr val="FFFFFF"/>
            </a:solidFill>
            <a:ln w="9525">
              <a:solidFill>
                <a:srgbClr val="000000"/>
              </a:solidFill>
              <a:round/>
              <a:headEnd/>
              <a:tailEnd/>
            </a:ln>
          </p:spPr>
          <p:txBody>
            <a:bodyPr vert="horz" wrap="square" lIns="0" tIns="0" rIns="0" bIns="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1" i="0" u="none" strike="noStrike" cap="none" normalizeH="0" baseline="0">
                  <a:ln>
                    <a:noFill/>
                  </a:ln>
                  <a:effectLst/>
                  <a:latin typeface="Arial" pitchFamily="34" charset="0"/>
                  <a:ea typeface="宋体" pitchFamily="2" charset="-122"/>
                  <a:cs typeface="Times New Roman" pitchFamily="18" charset="0"/>
                </a:rPr>
                <a:t>硬盘</a:t>
              </a:r>
              <a:endParaRPr kumimoji="0" lang="zh-CN" sz="1400" b="1" i="0" u="none" strike="noStrike" cap="none" normalizeH="0" baseline="0">
                <a:ln>
                  <a:noFill/>
                </a:ln>
                <a:effectLst/>
                <a:latin typeface="Arial" pitchFamily="34" charset="0"/>
                <a:ea typeface="宋体" pitchFamily="2" charset="-122"/>
                <a:cs typeface="宋体" pitchFamily="2" charset="-122"/>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zh-CN" sz="1400" b="1" i="0" u="none" strike="noStrike" cap="none" normalizeH="0" baseline="0">
                  <a:ln>
                    <a:noFill/>
                  </a:ln>
                  <a:effectLst/>
                  <a:latin typeface="Arial" pitchFamily="34" charset="0"/>
                  <a:ea typeface="宋体" pitchFamily="2" charset="-122"/>
                  <a:cs typeface="Times New Roman" pitchFamily="18" charset="0"/>
                </a:rPr>
                <a:t>控制器</a:t>
              </a:r>
              <a:endParaRPr kumimoji="0" lang="zh-CN" sz="1400" b="1" i="0" u="none" strike="noStrike" cap="none" normalizeH="0" baseline="0">
                <a:ln>
                  <a:noFill/>
                </a:ln>
                <a:effectLst/>
                <a:latin typeface="Arial" pitchFamily="34" charset="0"/>
                <a:ea typeface="宋体" pitchFamily="2" charset="-122"/>
                <a:cs typeface="宋体" pitchFamily="2" charset="-122"/>
              </a:endParaRPr>
            </a:p>
          </p:txBody>
        </p:sp>
        <p:sp>
          <p:nvSpPr>
            <p:cNvPr id="37" name="矩形 53"/>
            <p:cNvSpPr>
              <a:spLocks noChangeArrowheads="1"/>
            </p:cNvSpPr>
            <p:nvPr/>
          </p:nvSpPr>
          <p:spPr bwMode="auto">
            <a:xfrm>
              <a:off x="1905" y="22479"/>
              <a:ext cx="30562" cy="361"/>
            </a:xfrm>
            <a:prstGeom prst="rect">
              <a:avLst/>
            </a:prstGeom>
            <a:solidFill>
              <a:srgbClr val="FFFFFF"/>
            </a:solidFill>
            <a:ln w="9525">
              <a:solidFill>
                <a:srgbClr val="000000"/>
              </a:solidFill>
              <a:round/>
              <a:headEnd/>
              <a:tailEnd/>
            </a:ln>
          </p:spPr>
          <p:txBody>
            <a:bodyPr vert="horz" wrap="square" lIns="0" tIns="0" rIns="0" bIns="0" numCol="1" anchor="ctr" anchorCtr="0" compatLnSpc="1">
              <a:prstTxWarp prst="textNoShape">
                <a:avLst/>
              </a:prstTxWarp>
            </a:bodyPr>
            <a:lstStyle/>
            <a:p>
              <a:endParaRPr lang="zh-CN" altLang="en-US" sz="1400" b="1"/>
            </a:p>
          </p:txBody>
        </p:sp>
        <p:sp>
          <p:nvSpPr>
            <p:cNvPr id="38" name="椭圆 145408"/>
            <p:cNvSpPr>
              <a:spLocks noChangeArrowheads="1"/>
            </p:cNvSpPr>
            <p:nvPr/>
          </p:nvSpPr>
          <p:spPr bwMode="auto">
            <a:xfrm>
              <a:off x="2286" y="28327"/>
              <a:ext cx="4343" cy="3219"/>
            </a:xfrm>
            <a:prstGeom prst="ellipse">
              <a:avLst/>
            </a:prstGeom>
            <a:solidFill>
              <a:srgbClr val="FFFFFF"/>
            </a:solidFill>
            <a:ln w="9525">
              <a:solidFill>
                <a:srgbClr val="000000"/>
              </a:solidFill>
              <a:round/>
              <a:headEnd/>
              <a:tailEnd/>
            </a:ln>
          </p:spPr>
          <p:txBody>
            <a:bodyPr vert="horz" wrap="square" lIns="0" tIns="0" rIns="0" bIns="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1" i="0" u="none" strike="noStrike" cap="none" normalizeH="0" baseline="0">
                  <a:ln>
                    <a:noFill/>
                  </a:ln>
                  <a:effectLst/>
                  <a:latin typeface="Calibri" pitchFamily="34" charset="0"/>
                  <a:ea typeface="宋体" pitchFamily="2" charset="-122"/>
                  <a:cs typeface="宋体" pitchFamily="2" charset="-122"/>
                </a:rPr>
                <a:t>光盘</a:t>
              </a:r>
              <a:endParaRPr kumimoji="0" lang="zh-CN" sz="1400" b="1" i="0" u="none" strike="noStrike" cap="none" normalizeH="0" baseline="0">
                <a:ln>
                  <a:noFill/>
                </a:ln>
                <a:effectLst/>
                <a:latin typeface="Arial" pitchFamily="34" charset="0"/>
                <a:ea typeface="宋体" pitchFamily="2" charset="-122"/>
                <a:cs typeface="宋体" pitchFamily="2" charset="-122"/>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zh-CN" sz="1400" b="1" i="0" u="none" strike="noStrike" cap="none" normalizeH="0" baseline="0">
                  <a:ln>
                    <a:noFill/>
                  </a:ln>
                  <a:effectLst/>
                  <a:latin typeface="Calibri" pitchFamily="34" charset="0"/>
                  <a:ea typeface="宋体" pitchFamily="2" charset="-122"/>
                  <a:cs typeface="宋体" pitchFamily="2" charset="-122"/>
                </a:rPr>
                <a:t>驱动器</a:t>
              </a:r>
              <a:endParaRPr kumimoji="0" lang="zh-CN" sz="1400" b="1" i="0" u="none" strike="noStrike" cap="none" normalizeH="0" baseline="0">
                <a:ln>
                  <a:noFill/>
                </a:ln>
                <a:effectLst/>
                <a:latin typeface="Arial" pitchFamily="34" charset="0"/>
                <a:ea typeface="宋体" pitchFamily="2" charset="-122"/>
                <a:cs typeface="宋体" pitchFamily="2" charset="-122"/>
              </a:endParaRPr>
            </a:p>
          </p:txBody>
        </p:sp>
        <p:sp>
          <p:nvSpPr>
            <p:cNvPr id="39" name="椭圆 84"/>
            <p:cNvSpPr>
              <a:spLocks noChangeArrowheads="1"/>
            </p:cNvSpPr>
            <p:nvPr/>
          </p:nvSpPr>
          <p:spPr bwMode="auto">
            <a:xfrm>
              <a:off x="8045" y="28162"/>
              <a:ext cx="4343" cy="3213"/>
            </a:xfrm>
            <a:prstGeom prst="ellipse">
              <a:avLst/>
            </a:prstGeom>
            <a:solidFill>
              <a:srgbClr val="FFFFFF"/>
            </a:solidFill>
            <a:ln w="9525">
              <a:solidFill>
                <a:srgbClr val="000000"/>
              </a:solidFill>
              <a:round/>
              <a:headEnd/>
              <a:tailEnd/>
            </a:ln>
          </p:spPr>
          <p:txBody>
            <a:bodyPr vert="horz" wrap="square" lIns="0" tIns="0" rIns="0" bIns="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1" i="0" u="none" strike="noStrike" cap="none" normalizeH="0" baseline="0">
                  <a:ln>
                    <a:noFill/>
                  </a:ln>
                  <a:effectLst/>
                  <a:latin typeface="Arial" pitchFamily="34" charset="0"/>
                  <a:ea typeface="宋体" pitchFamily="2" charset="-122"/>
                  <a:cs typeface="Times New Roman" pitchFamily="18" charset="0"/>
                </a:rPr>
                <a:t>硬盘</a:t>
              </a:r>
              <a:endParaRPr kumimoji="0" lang="zh-CN" sz="1400" b="1" i="0" u="none" strike="noStrike" cap="none" normalizeH="0" baseline="0">
                <a:ln>
                  <a:noFill/>
                </a:ln>
                <a:effectLst/>
                <a:latin typeface="Arial" pitchFamily="34" charset="0"/>
                <a:ea typeface="宋体" pitchFamily="2" charset="-122"/>
                <a:cs typeface="宋体" pitchFamily="2" charset="-122"/>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zh-CN" sz="1400" b="1" i="0" u="none" strike="noStrike" cap="none" normalizeH="0" baseline="0">
                  <a:ln>
                    <a:noFill/>
                  </a:ln>
                  <a:effectLst/>
                  <a:latin typeface="Arial" pitchFamily="34" charset="0"/>
                  <a:ea typeface="宋体" pitchFamily="2" charset="-122"/>
                  <a:cs typeface="Times New Roman" pitchFamily="18" charset="0"/>
                </a:rPr>
                <a:t>驱动器</a:t>
              </a:r>
              <a:endParaRPr kumimoji="0" lang="zh-CN" sz="1400" b="1" i="0" u="none" strike="noStrike" cap="none" normalizeH="0" baseline="0">
                <a:ln>
                  <a:noFill/>
                </a:ln>
                <a:effectLst/>
                <a:latin typeface="Arial" pitchFamily="34" charset="0"/>
                <a:ea typeface="宋体" pitchFamily="2" charset="-122"/>
                <a:cs typeface="宋体" pitchFamily="2" charset="-122"/>
              </a:endParaRPr>
            </a:p>
          </p:txBody>
        </p:sp>
        <p:sp>
          <p:nvSpPr>
            <p:cNvPr id="40" name="矩形 145409"/>
            <p:cNvSpPr>
              <a:spLocks noChangeArrowheads="1"/>
            </p:cNvSpPr>
            <p:nvPr/>
          </p:nvSpPr>
          <p:spPr bwMode="auto">
            <a:xfrm>
              <a:off x="13087" y="18923"/>
              <a:ext cx="1295" cy="147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400" b="1" i="0" u="none" strike="noStrike" cap="none" normalizeH="0" baseline="0">
                  <a:ln>
                    <a:noFill/>
                  </a:ln>
                  <a:effectLst/>
                  <a:latin typeface="Calibri" pitchFamily="34" charset="0"/>
                  <a:ea typeface="宋体" pitchFamily="2" charset="-122"/>
                  <a:cs typeface="宋体" pitchFamily="2" charset="-122"/>
                </a:rPr>
                <a:t>…</a:t>
              </a:r>
              <a:endParaRPr kumimoji="0" lang="zh-CN" altLang="zh-CN" sz="1400" b="1" i="0" u="none" strike="noStrike" cap="none" normalizeH="0" baseline="0">
                <a:ln>
                  <a:noFill/>
                </a:ln>
                <a:effectLst/>
                <a:latin typeface="Arial" pitchFamily="34" charset="0"/>
                <a:ea typeface="宋体" pitchFamily="2" charset="-122"/>
                <a:cs typeface="宋体" pitchFamily="2" charset="-122"/>
              </a:endParaRPr>
            </a:p>
          </p:txBody>
        </p:sp>
        <p:sp>
          <p:nvSpPr>
            <p:cNvPr id="41" name="矩形 86"/>
            <p:cNvSpPr>
              <a:spLocks noChangeArrowheads="1"/>
            </p:cNvSpPr>
            <p:nvPr/>
          </p:nvSpPr>
          <p:spPr bwMode="auto">
            <a:xfrm>
              <a:off x="13023" y="14751"/>
              <a:ext cx="1296" cy="147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effectLst/>
                  <a:latin typeface="Arial" pitchFamily="34" charset="0"/>
                  <a:ea typeface="宋体" pitchFamily="2" charset="-122"/>
                  <a:cs typeface="Times New Roman" pitchFamily="18" charset="0"/>
                </a:rPr>
                <a:t>…</a:t>
              </a:r>
              <a:endParaRPr kumimoji="0" lang="en-US" altLang="zh-CN" sz="1400" b="1" i="0" u="none" strike="noStrike" cap="none" normalizeH="0" baseline="0">
                <a:ln>
                  <a:noFill/>
                </a:ln>
                <a:effectLst/>
                <a:latin typeface="Arial" pitchFamily="34" charset="0"/>
                <a:ea typeface="宋体" pitchFamily="2" charset="-122"/>
                <a:cs typeface="宋体" pitchFamily="2" charset="-122"/>
              </a:endParaRPr>
            </a:p>
          </p:txBody>
        </p:sp>
        <p:sp>
          <p:nvSpPr>
            <p:cNvPr id="42" name="矩形 87"/>
            <p:cNvSpPr>
              <a:spLocks noChangeArrowheads="1"/>
            </p:cNvSpPr>
            <p:nvPr/>
          </p:nvSpPr>
          <p:spPr bwMode="auto">
            <a:xfrm>
              <a:off x="13100" y="24714"/>
              <a:ext cx="1295" cy="147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effectLst/>
                  <a:latin typeface="Arial" pitchFamily="34" charset="0"/>
                  <a:ea typeface="宋体" pitchFamily="2" charset="-122"/>
                  <a:cs typeface="Times New Roman" pitchFamily="18" charset="0"/>
                </a:rPr>
                <a:t>…</a:t>
              </a:r>
              <a:endParaRPr kumimoji="0" lang="en-US" altLang="zh-CN" sz="1400" b="1" i="0" u="none" strike="noStrike" cap="none" normalizeH="0" baseline="0">
                <a:ln>
                  <a:noFill/>
                </a:ln>
                <a:effectLst/>
                <a:latin typeface="Arial" pitchFamily="34" charset="0"/>
                <a:ea typeface="宋体" pitchFamily="2" charset="-122"/>
                <a:cs typeface="宋体" pitchFamily="2" charset="-122"/>
              </a:endParaRPr>
            </a:p>
          </p:txBody>
        </p:sp>
        <p:sp>
          <p:nvSpPr>
            <p:cNvPr id="43" name="直接箭头连接符 88"/>
            <p:cNvSpPr>
              <a:spLocks noChangeShapeType="1"/>
            </p:cNvSpPr>
            <p:nvPr/>
          </p:nvSpPr>
          <p:spPr bwMode="auto">
            <a:xfrm>
              <a:off x="20440" y="8280"/>
              <a:ext cx="0" cy="3092"/>
            </a:xfrm>
            <a:prstGeom prst="straightConnector1">
              <a:avLst/>
            </a:prstGeom>
            <a:noFill/>
            <a:ln w="9525">
              <a:solidFill>
                <a:srgbClr val="000000"/>
              </a:solidFill>
              <a:round/>
              <a:headEnd type="none" w="sm" len="med"/>
              <a:tailEnd type="triangle" w="sm"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1400" b="1"/>
            </a:p>
          </p:txBody>
        </p:sp>
        <p:sp>
          <p:nvSpPr>
            <p:cNvPr id="44" name="直接箭头连接符 89"/>
            <p:cNvSpPr>
              <a:spLocks noChangeShapeType="1"/>
            </p:cNvSpPr>
            <p:nvPr/>
          </p:nvSpPr>
          <p:spPr bwMode="auto">
            <a:xfrm>
              <a:off x="17043" y="12934"/>
              <a:ext cx="0" cy="1220"/>
            </a:xfrm>
            <a:prstGeom prst="straightConnector1">
              <a:avLst/>
            </a:prstGeom>
            <a:noFill/>
            <a:ln w="9525">
              <a:solidFill>
                <a:srgbClr val="000000"/>
              </a:solidFill>
              <a:round/>
              <a:headEnd type="none" w="sm" len="med"/>
              <a:tailEnd type="triangle" w="sm"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1400" b="1"/>
            </a:p>
          </p:txBody>
        </p:sp>
        <p:sp>
          <p:nvSpPr>
            <p:cNvPr id="45" name="直接箭头连接符 90"/>
            <p:cNvSpPr>
              <a:spLocks noChangeShapeType="1"/>
            </p:cNvSpPr>
            <p:nvPr/>
          </p:nvSpPr>
          <p:spPr bwMode="auto">
            <a:xfrm flipH="1">
              <a:off x="22802" y="12934"/>
              <a:ext cx="0" cy="1220"/>
            </a:xfrm>
            <a:prstGeom prst="straightConnector1">
              <a:avLst/>
            </a:prstGeom>
            <a:noFill/>
            <a:ln w="9525">
              <a:solidFill>
                <a:srgbClr val="000000"/>
              </a:solidFill>
              <a:round/>
              <a:headEnd type="none" w="sm" len="med"/>
              <a:tailEnd type="triangle" w="sm"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1400" b="1"/>
            </a:p>
          </p:txBody>
        </p:sp>
        <p:sp>
          <p:nvSpPr>
            <p:cNvPr id="46" name="直接箭头连接符 91"/>
            <p:cNvSpPr>
              <a:spLocks noChangeShapeType="1"/>
            </p:cNvSpPr>
            <p:nvPr/>
          </p:nvSpPr>
          <p:spPr bwMode="auto">
            <a:xfrm>
              <a:off x="16935" y="21297"/>
              <a:ext cx="0" cy="1220"/>
            </a:xfrm>
            <a:prstGeom prst="straightConnector1">
              <a:avLst/>
            </a:prstGeom>
            <a:noFill/>
            <a:ln w="9525">
              <a:solidFill>
                <a:srgbClr val="000000"/>
              </a:solidFill>
              <a:round/>
              <a:headEnd type="none" w="sm" len="med"/>
              <a:tailEnd type="triangle" w="sm" len="med"/>
            </a:ln>
            <a:effectLst>
              <a:outerShdw dist="20000" dir="5400000" rotWithShape="0">
                <a:srgbClr val="000000">
                  <a:alpha val="37999"/>
                </a:srgbClr>
              </a:outerShdw>
            </a:effectLst>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1400" b="1"/>
            </a:p>
          </p:txBody>
        </p:sp>
        <p:sp>
          <p:nvSpPr>
            <p:cNvPr id="47" name="直接箭头连接符 92"/>
            <p:cNvSpPr>
              <a:spLocks noChangeShapeType="1"/>
            </p:cNvSpPr>
            <p:nvPr/>
          </p:nvSpPr>
          <p:spPr bwMode="auto">
            <a:xfrm>
              <a:off x="22802" y="21297"/>
              <a:ext cx="0" cy="1220"/>
            </a:xfrm>
            <a:prstGeom prst="straightConnector1">
              <a:avLst/>
            </a:prstGeom>
            <a:noFill/>
            <a:ln w="9525">
              <a:solidFill>
                <a:srgbClr val="000000"/>
              </a:solidFill>
              <a:round/>
              <a:headEnd type="none" w="sm" len="med"/>
              <a:tailEnd type="triangle" w="sm" len="med"/>
            </a:ln>
            <a:effectLst>
              <a:outerShdw dist="20000" dir="5400000" rotWithShape="0">
                <a:srgbClr val="000000">
                  <a:alpha val="37999"/>
                </a:srgbClr>
              </a:outerShdw>
            </a:effectLst>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1400" b="1"/>
            </a:p>
          </p:txBody>
        </p:sp>
        <p:sp>
          <p:nvSpPr>
            <p:cNvPr id="48" name="直接箭头连接符 93"/>
            <p:cNvSpPr>
              <a:spLocks noChangeShapeType="1"/>
            </p:cNvSpPr>
            <p:nvPr/>
          </p:nvSpPr>
          <p:spPr bwMode="auto">
            <a:xfrm>
              <a:off x="17049" y="27031"/>
              <a:ext cx="0" cy="1220"/>
            </a:xfrm>
            <a:prstGeom prst="straightConnector1">
              <a:avLst/>
            </a:prstGeom>
            <a:noFill/>
            <a:ln w="9525">
              <a:solidFill>
                <a:srgbClr val="000000"/>
              </a:solidFill>
              <a:round/>
              <a:headEnd type="none" w="sm" len="med"/>
              <a:tailEnd type="triangle" w="sm" len="med"/>
            </a:ln>
            <a:effectLst>
              <a:outerShdw dist="20000" dir="5400000" rotWithShape="0">
                <a:srgbClr val="000000">
                  <a:alpha val="37999"/>
                </a:srgbClr>
              </a:outerShdw>
            </a:effectLst>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1400" b="1"/>
            </a:p>
          </p:txBody>
        </p:sp>
        <p:sp>
          <p:nvSpPr>
            <p:cNvPr id="49" name="直接箭头连接符 94"/>
            <p:cNvSpPr>
              <a:spLocks noChangeShapeType="1"/>
            </p:cNvSpPr>
            <p:nvPr/>
          </p:nvSpPr>
          <p:spPr bwMode="auto">
            <a:xfrm>
              <a:off x="22809" y="27012"/>
              <a:ext cx="0" cy="1220"/>
            </a:xfrm>
            <a:prstGeom prst="straightConnector1">
              <a:avLst/>
            </a:prstGeom>
            <a:noFill/>
            <a:ln w="9525">
              <a:solidFill>
                <a:srgbClr val="000000"/>
              </a:solidFill>
              <a:round/>
              <a:headEnd type="none" w="sm" len="med"/>
              <a:tailEnd type="triangle" w="sm" len="med"/>
            </a:ln>
            <a:effectLst>
              <a:outerShdw dist="20000" dir="5400000" rotWithShape="0">
                <a:srgbClr val="000000">
                  <a:alpha val="37999"/>
                </a:srgbClr>
              </a:outerShdw>
            </a:effectLst>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1400" b="1"/>
            </a:p>
          </p:txBody>
        </p:sp>
        <p:sp>
          <p:nvSpPr>
            <p:cNvPr id="50" name="矩形 95"/>
            <p:cNvSpPr>
              <a:spLocks noChangeArrowheads="1"/>
            </p:cNvSpPr>
            <p:nvPr/>
          </p:nvSpPr>
          <p:spPr bwMode="auto">
            <a:xfrm>
              <a:off x="14528" y="7886"/>
              <a:ext cx="12281" cy="362"/>
            </a:xfrm>
            <a:prstGeom prst="rect">
              <a:avLst/>
            </a:prstGeom>
            <a:solidFill>
              <a:srgbClr val="FFFFFF"/>
            </a:solidFill>
            <a:ln w="9525">
              <a:solidFill>
                <a:srgbClr val="000000"/>
              </a:solidFill>
              <a:round/>
              <a:headEnd/>
              <a:tailEnd/>
            </a:ln>
          </p:spPr>
          <p:txBody>
            <a:bodyPr vert="horz" wrap="square" lIns="0" tIns="0" rIns="0" bIns="0" numCol="1"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400" b="1" i="0" u="none" strike="noStrike" cap="none" normalizeH="0" baseline="0">
                <a:ln>
                  <a:noFill/>
                </a:ln>
                <a:effectLst/>
                <a:latin typeface="Arial" pitchFamily="34" charset="0"/>
                <a:ea typeface="宋体" pitchFamily="2" charset="-122"/>
                <a:cs typeface="宋体" pitchFamily="2" charset="-122"/>
              </a:endParaRPr>
            </a:p>
          </p:txBody>
        </p:sp>
        <p:sp>
          <p:nvSpPr>
            <p:cNvPr id="51" name="矩形 96"/>
            <p:cNvSpPr>
              <a:spLocks noChangeArrowheads="1"/>
            </p:cNvSpPr>
            <p:nvPr/>
          </p:nvSpPr>
          <p:spPr bwMode="auto">
            <a:xfrm>
              <a:off x="14522" y="14122"/>
              <a:ext cx="5055" cy="2984"/>
            </a:xfrm>
            <a:prstGeom prst="rect">
              <a:avLst/>
            </a:prstGeom>
            <a:solidFill>
              <a:srgbClr val="FFFFFF"/>
            </a:solidFill>
            <a:ln w="9525">
              <a:solidFill>
                <a:srgbClr val="000000"/>
              </a:solidFill>
              <a:round/>
              <a:headEnd/>
              <a:tailEnd/>
            </a:ln>
          </p:spPr>
          <p:txBody>
            <a:bodyPr vert="horz" wrap="square" lIns="0" tIns="0" rIns="0" bIns="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1" i="0" u="none" strike="noStrike" cap="none" normalizeH="0" baseline="0">
                  <a:ln>
                    <a:noFill/>
                  </a:ln>
                  <a:effectLst/>
                  <a:latin typeface="Arial" pitchFamily="34" charset="0"/>
                  <a:ea typeface="宋体" pitchFamily="2" charset="-122"/>
                  <a:cs typeface="Times New Roman" pitchFamily="18" charset="0"/>
                </a:rPr>
                <a:t>键盘</a:t>
              </a:r>
              <a:endParaRPr kumimoji="0" lang="zh-CN" sz="1400" b="1" i="0" u="none" strike="noStrike" cap="none" normalizeH="0" baseline="0">
                <a:ln>
                  <a:noFill/>
                </a:ln>
                <a:effectLst/>
                <a:latin typeface="Arial" pitchFamily="34" charset="0"/>
                <a:ea typeface="宋体" pitchFamily="2" charset="-122"/>
                <a:cs typeface="宋体" pitchFamily="2" charset="-122"/>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zh-CN" sz="1400" b="1" i="0" u="none" strike="noStrike" cap="none" normalizeH="0" baseline="0">
                  <a:ln>
                    <a:noFill/>
                  </a:ln>
                  <a:effectLst/>
                  <a:latin typeface="Arial" pitchFamily="34" charset="0"/>
                  <a:ea typeface="宋体" pitchFamily="2" charset="-122"/>
                  <a:cs typeface="Times New Roman" pitchFamily="18" charset="0"/>
                </a:rPr>
                <a:t>驱动程序</a:t>
              </a:r>
              <a:endParaRPr kumimoji="0" lang="zh-CN" sz="1400" b="1" i="0" u="none" strike="noStrike" cap="none" normalizeH="0" baseline="0">
                <a:ln>
                  <a:noFill/>
                </a:ln>
                <a:effectLst/>
                <a:latin typeface="Arial" pitchFamily="34" charset="0"/>
                <a:ea typeface="宋体" pitchFamily="2" charset="-122"/>
                <a:cs typeface="宋体" pitchFamily="2" charset="-122"/>
              </a:endParaRPr>
            </a:p>
          </p:txBody>
        </p:sp>
        <p:sp>
          <p:nvSpPr>
            <p:cNvPr id="52" name="矩形 97"/>
            <p:cNvSpPr>
              <a:spLocks noChangeArrowheads="1"/>
            </p:cNvSpPr>
            <p:nvPr/>
          </p:nvSpPr>
          <p:spPr bwMode="auto">
            <a:xfrm>
              <a:off x="20440" y="14103"/>
              <a:ext cx="5055" cy="2984"/>
            </a:xfrm>
            <a:prstGeom prst="rect">
              <a:avLst/>
            </a:prstGeom>
            <a:solidFill>
              <a:srgbClr val="FFFFFF"/>
            </a:solidFill>
            <a:ln w="9525">
              <a:solidFill>
                <a:srgbClr val="000000"/>
              </a:solidFill>
              <a:round/>
              <a:headEnd/>
              <a:tailEnd/>
            </a:ln>
          </p:spPr>
          <p:txBody>
            <a:bodyPr vert="horz" wrap="square" lIns="0" tIns="0" rIns="0" bIns="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1" i="0" u="none" strike="noStrike" cap="none" normalizeH="0" baseline="0">
                  <a:ln>
                    <a:noFill/>
                  </a:ln>
                  <a:effectLst/>
                  <a:latin typeface="Arial" pitchFamily="34" charset="0"/>
                  <a:ea typeface="宋体" pitchFamily="2" charset="-122"/>
                  <a:cs typeface="Times New Roman" pitchFamily="18" charset="0"/>
                </a:rPr>
                <a:t>打印机</a:t>
              </a:r>
              <a:endParaRPr kumimoji="0" lang="zh-CN" sz="1400" b="1" i="0" u="none" strike="noStrike" cap="none" normalizeH="0" baseline="0">
                <a:ln>
                  <a:noFill/>
                </a:ln>
                <a:effectLst/>
                <a:latin typeface="Arial" pitchFamily="34" charset="0"/>
                <a:ea typeface="宋体" pitchFamily="2" charset="-122"/>
                <a:cs typeface="宋体" pitchFamily="2" charset="-122"/>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zh-CN" sz="1400" b="1" i="0" u="none" strike="noStrike" cap="none" normalizeH="0" baseline="0">
                  <a:ln>
                    <a:noFill/>
                  </a:ln>
                  <a:effectLst/>
                  <a:latin typeface="Arial" pitchFamily="34" charset="0"/>
                  <a:ea typeface="宋体" pitchFamily="2" charset="-122"/>
                  <a:cs typeface="Times New Roman" pitchFamily="18" charset="0"/>
                </a:rPr>
                <a:t>驱动程序</a:t>
              </a:r>
              <a:endParaRPr kumimoji="0" lang="zh-CN" sz="1400" b="1" i="0" u="none" strike="noStrike" cap="none" normalizeH="0" baseline="0">
                <a:ln>
                  <a:noFill/>
                </a:ln>
                <a:effectLst/>
                <a:latin typeface="Arial" pitchFamily="34" charset="0"/>
                <a:ea typeface="宋体" pitchFamily="2" charset="-122"/>
                <a:cs typeface="宋体" pitchFamily="2" charset="-122"/>
              </a:endParaRPr>
            </a:p>
          </p:txBody>
        </p:sp>
        <p:sp>
          <p:nvSpPr>
            <p:cNvPr id="53" name="矩形 98"/>
            <p:cNvSpPr>
              <a:spLocks noChangeArrowheads="1"/>
            </p:cNvSpPr>
            <p:nvPr/>
          </p:nvSpPr>
          <p:spPr bwMode="auto">
            <a:xfrm>
              <a:off x="14528" y="11334"/>
              <a:ext cx="10973" cy="1600"/>
            </a:xfrm>
            <a:prstGeom prst="rect">
              <a:avLst/>
            </a:prstGeom>
            <a:solidFill>
              <a:srgbClr val="FFFFFF"/>
            </a:solidFill>
            <a:ln w="9525">
              <a:solidFill>
                <a:srgbClr val="000000"/>
              </a:solidFill>
              <a:round/>
              <a:headEnd/>
              <a:tailEnd/>
            </a:ln>
          </p:spPr>
          <p:txBody>
            <a:bodyPr vert="horz" wrap="square" lIns="0" tIns="0" rIns="0" bIns="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1" i="0" u="none" strike="noStrike" cap="none" normalizeH="0" baseline="0">
                  <a:ln>
                    <a:noFill/>
                  </a:ln>
                  <a:effectLst/>
                  <a:latin typeface="Arial" pitchFamily="34" charset="0"/>
                  <a:ea typeface="宋体" pitchFamily="2" charset="-122"/>
                  <a:cs typeface="Times New Roman" pitchFamily="18" charset="0"/>
                </a:rPr>
                <a:t>流设备管理</a:t>
              </a:r>
              <a:endParaRPr kumimoji="0" lang="zh-CN" sz="1400" b="1" i="0" u="none" strike="noStrike" cap="none" normalizeH="0" baseline="0">
                <a:ln>
                  <a:noFill/>
                </a:ln>
                <a:effectLst/>
                <a:latin typeface="Arial" pitchFamily="34" charset="0"/>
                <a:ea typeface="宋体" pitchFamily="2" charset="-122"/>
                <a:cs typeface="宋体" pitchFamily="2" charset="-122"/>
              </a:endParaRPr>
            </a:p>
          </p:txBody>
        </p:sp>
        <p:sp>
          <p:nvSpPr>
            <p:cNvPr id="54" name="矩形 99"/>
            <p:cNvSpPr>
              <a:spLocks noChangeArrowheads="1"/>
            </p:cNvSpPr>
            <p:nvPr/>
          </p:nvSpPr>
          <p:spPr bwMode="auto">
            <a:xfrm>
              <a:off x="14522" y="8509"/>
              <a:ext cx="5055" cy="190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1" i="0" u="none" strike="noStrike" cap="none" normalizeH="0" baseline="0">
                  <a:ln>
                    <a:noFill/>
                  </a:ln>
                  <a:effectLst/>
                  <a:latin typeface="Arial" pitchFamily="34" charset="0"/>
                  <a:ea typeface="宋体" pitchFamily="2" charset="-122"/>
                  <a:cs typeface="Times New Roman" pitchFamily="18" charset="0"/>
                </a:rPr>
                <a:t>流设备接口</a:t>
              </a:r>
              <a:endParaRPr kumimoji="0" lang="zh-CN" sz="1400" b="1" i="0" u="none" strike="noStrike" cap="none" normalizeH="0" baseline="0">
                <a:ln>
                  <a:noFill/>
                </a:ln>
                <a:effectLst/>
                <a:latin typeface="Arial" pitchFamily="34" charset="0"/>
                <a:ea typeface="宋体" pitchFamily="2" charset="-122"/>
                <a:cs typeface="宋体" pitchFamily="2" charset="-122"/>
              </a:endParaRPr>
            </a:p>
          </p:txBody>
        </p:sp>
        <p:sp>
          <p:nvSpPr>
            <p:cNvPr id="55" name="矩形 100"/>
            <p:cNvSpPr>
              <a:spLocks noChangeArrowheads="1"/>
            </p:cNvSpPr>
            <p:nvPr/>
          </p:nvSpPr>
          <p:spPr bwMode="auto">
            <a:xfrm>
              <a:off x="21050" y="8483"/>
              <a:ext cx="5054" cy="284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1" i="0" u="none" strike="noStrike" cap="none" normalizeH="0" baseline="0">
                  <a:ln>
                    <a:noFill/>
                  </a:ln>
                  <a:effectLst/>
                  <a:latin typeface="Arial" pitchFamily="34" charset="0"/>
                  <a:ea typeface="宋体" pitchFamily="2" charset="-122"/>
                  <a:cs typeface="Times New Roman" pitchFamily="18" charset="0"/>
                </a:rPr>
                <a:t>打开</a:t>
              </a:r>
              <a:r>
                <a:rPr kumimoji="0" lang="en-US" altLang="zh-CN" sz="1400" b="1" i="0" u="none" strike="noStrike" cap="none" normalizeH="0" baseline="0">
                  <a:ln>
                    <a:noFill/>
                  </a:ln>
                  <a:effectLst/>
                  <a:latin typeface="Arial" pitchFamily="34" charset="0"/>
                  <a:ea typeface="宋体" pitchFamily="2" charset="-122"/>
                  <a:cs typeface="Times New Roman" pitchFamily="18" charset="0"/>
                </a:rPr>
                <a:t>/</a:t>
              </a:r>
              <a:r>
                <a:rPr kumimoji="0" lang="zh-CN" altLang="en-US" sz="1400" b="1" i="0" u="none" strike="noStrike" cap="none" normalizeH="0" baseline="0">
                  <a:ln>
                    <a:noFill/>
                  </a:ln>
                  <a:effectLst/>
                  <a:latin typeface="Arial" pitchFamily="34" charset="0"/>
                  <a:ea typeface="宋体" pitchFamily="2" charset="-122"/>
                  <a:cs typeface="Times New Roman" pitchFamily="18" charset="0"/>
                </a:rPr>
                <a:t>关闭</a:t>
              </a:r>
              <a:endParaRPr kumimoji="0" lang="zh-CN" altLang="en-US" sz="1400" b="1" i="0" u="none" strike="noStrike" cap="none" normalizeH="0" baseline="0">
                <a:ln>
                  <a:noFill/>
                </a:ln>
                <a:effectLst/>
                <a:latin typeface="Arial" pitchFamily="34" charset="0"/>
                <a:ea typeface="宋体" pitchFamily="2" charset="-122"/>
                <a:cs typeface="宋体" pitchFamily="2" charset="-122"/>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1400" b="1" i="0" u="none" strike="noStrike" cap="none" normalizeH="0" baseline="0">
                  <a:ln>
                    <a:noFill/>
                  </a:ln>
                  <a:effectLst/>
                  <a:latin typeface="Arial" pitchFamily="34" charset="0"/>
                  <a:ea typeface="宋体" pitchFamily="2" charset="-122"/>
                  <a:cs typeface="Times New Roman" pitchFamily="18" charset="0"/>
                </a:rPr>
                <a:t>取</a:t>
              </a:r>
              <a:r>
                <a:rPr kumimoji="0" lang="en-US" altLang="zh-CN" sz="1400" b="1" i="0" u="none" strike="noStrike" cap="none" normalizeH="0" baseline="0">
                  <a:ln>
                    <a:noFill/>
                  </a:ln>
                  <a:effectLst/>
                  <a:latin typeface="Arial" pitchFamily="34" charset="0"/>
                  <a:ea typeface="宋体" pitchFamily="2" charset="-122"/>
                  <a:cs typeface="Times New Roman" pitchFamily="18" charset="0"/>
                </a:rPr>
                <a:t>/</a:t>
              </a:r>
              <a:r>
                <a:rPr kumimoji="0" lang="zh-CN" altLang="en-US" sz="1400" b="1" i="0" u="none" strike="noStrike" cap="none" normalizeH="0" baseline="0">
                  <a:ln>
                    <a:noFill/>
                  </a:ln>
                  <a:effectLst/>
                  <a:latin typeface="Arial" pitchFamily="34" charset="0"/>
                  <a:ea typeface="宋体" pitchFamily="2" charset="-122"/>
                  <a:cs typeface="Times New Roman" pitchFamily="18" charset="0"/>
                </a:rPr>
                <a:t>放</a:t>
              </a:r>
              <a:endParaRPr kumimoji="0" lang="zh-CN" altLang="en-US" sz="1400" b="1" i="0" u="none" strike="noStrike" cap="none" normalizeH="0" baseline="0">
                <a:ln>
                  <a:noFill/>
                </a:ln>
                <a:effectLst/>
                <a:latin typeface="Arial" pitchFamily="34" charset="0"/>
                <a:ea typeface="宋体" pitchFamily="2" charset="-122"/>
                <a:cs typeface="宋体" pitchFamily="2" charset="-122"/>
              </a:endParaRPr>
            </a:p>
          </p:txBody>
        </p:sp>
        <p:sp>
          <p:nvSpPr>
            <p:cNvPr id="56" name="直接箭头连接符 101"/>
            <p:cNvSpPr>
              <a:spLocks noChangeShapeType="1"/>
            </p:cNvSpPr>
            <p:nvPr/>
          </p:nvSpPr>
          <p:spPr bwMode="auto">
            <a:xfrm>
              <a:off x="17049" y="17145"/>
              <a:ext cx="0" cy="1219"/>
            </a:xfrm>
            <a:prstGeom prst="straightConnector1">
              <a:avLst/>
            </a:prstGeom>
            <a:noFill/>
            <a:ln w="9525">
              <a:solidFill>
                <a:srgbClr val="000000"/>
              </a:solidFill>
              <a:round/>
              <a:headEnd type="none" w="sm" len="med"/>
              <a:tailEnd type="triangle" w="sm" len="med"/>
            </a:ln>
            <a:effectLst>
              <a:outerShdw dist="20000" dir="5400000" rotWithShape="0">
                <a:srgbClr val="000000">
                  <a:alpha val="37999"/>
                </a:srgbClr>
              </a:outerShdw>
            </a:effectLst>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1400" b="1"/>
            </a:p>
          </p:txBody>
        </p:sp>
        <p:sp>
          <p:nvSpPr>
            <p:cNvPr id="57" name="直接箭头连接符 102"/>
            <p:cNvSpPr>
              <a:spLocks noChangeShapeType="1"/>
            </p:cNvSpPr>
            <p:nvPr/>
          </p:nvSpPr>
          <p:spPr bwMode="auto">
            <a:xfrm>
              <a:off x="22809" y="17145"/>
              <a:ext cx="0" cy="1219"/>
            </a:xfrm>
            <a:prstGeom prst="straightConnector1">
              <a:avLst/>
            </a:prstGeom>
            <a:noFill/>
            <a:ln w="9525">
              <a:solidFill>
                <a:srgbClr val="000000"/>
              </a:solidFill>
              <a:round/>
              <a:headEnd type="none" w="sm" len="med"/>
              <a:tailEnd type="triangle" w="sm" len="med"/>
            </a:ln>
            <a:effectLst>
              <a:outerShdw dist="20000" dir="5400000" rotWithShape="0">
                <a:srgbClr val="000000">
                  <a:alpha val="37999"/>
                </a:srgbClr>
              </a:outerShdw>
            </a:effectLst>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1400" b="1"/>
            </a:p>
          </p:txBody>
        </p:sp>
        <p:sp>
          <p:nvSpPr>
            <p:cNvPr id="58" name="矩形 103"/>
            <p:cNvSpPr>
              <a:spLocks noChangeArrowheads="1"/>
            </p:cNvSpPr>
            <p:nvPr/>
          </p:nvSpPr>
          <p:spPr bwMode="auto">
            <a:xfrm>
              <a:off x="14528" y="18332"/>
              <a:ext cx="5055" cy="2984"/>
            </a:xfrm>
            <a:prstGeom prst="rect">
              <a:avLst/>
            </a:prstGeom>
            <a:solidFill>
              <a:srgbClr val="FFFFFF"/>
            </a:solidFill>
            <a:ln w="9525">
              <a:solidFill>
                <a:srgbClr val="000000"/>
              </a:solidFill>
              <a:round/>
              <a:headEnd/>
              <a:tailEnd/>
            </a:ln>
          </p:spPr>
          <p:txBody>
            <a:bodyPr vert="horz" wrap="square" lIns="0" tIns="0" rIns="0" bIns="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1" i="0" u="none" strike="noStrike" cap="none" normalizeH="0" baseline="0">
                  <a:ln>
                    <a:noFill/>
                  </a:ln>
                  <a:effectLst/>
                  <a:latin typeface="Arial" pitchFamily="34" charset="0"/>
                  <a:ea typeface="宋体" pitchFamily="2" charset="-122"/>
                  <a:cs typeface="Times New Roman" pitchFamily="18" charset="0"/>
                </a:rPr>
                <a:t>键盘</a:t>
              </a:r>
              <a:endParaRPr kumimoji="0" lang="zh-CN" sz="1400" b="1" i="0" u="none" strike="noStrike" cap="none" normalizeH="0" baseline="0">
                <a:ln>
                  <a:noFill/>
                </a:ln>
                <a:effectLst/>
                <a:latin typeface="Arial" pitchFamily="34" charset="0"/>
                <a:ea typeface="宋体" pitchFamily="2" charset="-122"/>
                <a:cs typeface="宋体" pitchFamily="2" charset="-122"/>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zh-CN" sz="1400" b="1" i="0" u="none" strike="noStrike" cap="none" normalizeH="0" baseline="0">
                  <a:ln>
                    <a:noFill/>
                  </a:ln>
                  <a:effectLst/>
                  <a:latin typeface="Arial" pitchFamily="34" charset="0"/>
                  <a:ea typeface="宋体" pitchFamily="2" charset="-122"/>
                  <a:cs typeface="Times New Roman" pitchFamily="18" charset="0"/>
                </a:rPr>
                <a:t>中断处理程序</a:t>
              </a:r>
              <a:endParaRPr kumimoji="0" lang="zh-CN" sz="1400" b="1" i="0" u="none" strike="noStrike" cap="none" normalizeH="0" baseline="0">
                <a:ln>
                  <a:noFill/>
                </a:ln>
                <a:effectLst/>
                <a:latin typeface="Arial" pitchFamily="34" charset="0"/>
                <a:ea typeface="宋体" pitchFamily="2" charset="-122"/>
                <a:cs typeface="宋体" pitchFamily="2" charset="-122"/>
              </a:endParaRPr>
            </a:p>
          </p:txBody>
        </p:sp>
        <p:sp>
          <p:nvSpPr>
            <p:cNvPr id="59" name="矩形 104"/>
            <p:cNvSpPr>
              <a:spLocks noChangeArrowheads="1"/>
            </p:cNvSpPr>
            <p:nvPr/>
          </p:nvSpPr>
          <p:spPr bwMode="auto">
            <a:xfrm>
              <a:off x="20447" y="18313"/>
              <a:ext cx="5054" cy="2984"/>
            </a:xfrm>
            <a:prstGeom prst="rect">
              <a:avLst/>
            </a:prstGeom>
            <a:solidFill>
              <a:srgbClr val="FFFFFF"/>
            </a:solidFill>
            <a:ln w="9525">
              <a:solidFill>
                <a:srgbClr val="000000"/>
              </a:solidFill>
              <a:round/>
              <a:headEnd/>
              <a:tailEnd/>
            </a:ln>
          </p:spPr>
          <p:txBody>
            <a:bodyPr vert="horz" wrap="square" lIns="0" tIns="0" rIns="0" bIns="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1" i="0" u="none" strike="noStrike" cap="none" normalizeH="0" baseline="0">
                  <a:ln>
                    <a:noFill/>
                  </a:ln>
                  <a:effectLst/>
                  <a:latin typeface="Arial" pitchFamily="34" charset="0"/>
                  <a:ea typeface="宋体" pitchFamily="2" charset="-122"/>
                  <a:cs typeface="Times New Roman" pitchFamily="18" charset="0"/>
                </a:rPr>
                <a:t>打印机</a:t>
              </a:r>
              <a:endParaRPr kumimoji="0" lang="zh-CN" sz="1400" b="1" i="0" u="none" strike="noStrike" cap="none" normalizeH="0" baseline="0">
                <a:ln>
                  <a:noFill/>
                </a:ln>
                <a:effectLst/>
                <a:latin typeface="Arial" pitchFamily="34" charset="0"/>
                <a:ea typeface="宋体" pitchFamily="2" charset="-122"/>
                <a:cs typeface="宋体" pitchFamily="2" charset="-122"/>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zh-CN" sz="1400" b="1" i="0" u="none" strike="noStrike" cap="none" normalizeH="0" baseline="0">
                  <a:ln>
                    <a:noFill/>
                  </a:ln>
                  <a:effectLst/>
                  <a:latin typeface="Arial" pitchFamily="34" charset="0"/>
                  <a:ea typeface="宋体" pitchFamily="2" charset="-122"/>
                  <a:cs typeface="Times New Roman" pitchFamily="18" charset="0"/>
                </a:rPr>
                <a:t>中断处理程序</a:t>
              </a:r>
              <a:endParaRPr kumimoji="0" lang="zh-CN" sz="1400" b="1" i="0" u="none" strike="noStrike" cap="none" normalizeH="0" baseline="0">
                <a:ln>
                  <a:noFill/>
                </a:ln>
                <a:effectLst/>
                <a:latin typeface="Arial" pitchFamily="34" charset="0"/>
                <a:ea typeface="宋体" pitchFamily="2" charset="-122"/>
                <a:cs typeface="宋体" pitchFamily="2" charset="-122"/>
              </a:endParaRPr>
            </a:p>
          </p:txBody>
        </p:sp>
        <p:sp>
          <p:nvSpPr>
            <p:cNvPr id="60" name="直接箭头连接符 105"/>
            <p:cNvSpPr>
              <a:spLocks noChangeShapeType="1"/>
            </p:cNvSpPr>
            <p:nvPr/>
          </p:nvSpPr>
          <p:spPr bwMode="auto">
            <a:xfrm>
              <a:off x="17049" y="22936"/>
              <a:ext cx="0" cy="1219"/>
            </a:xfrm>
            <a:prstGeom prst="straightConnector1">
              <a:avLst/>
            </a:prstGeom>
            <a:noFill/>
            <a:ln w="9525">
              <a:solidFill>
                <a:srgbClr val="000000"/>
              </a:solidFill>
              <a:round/>
              <a:headEnd type="none" w="sm" len="med"/>
              <a:tailEnd type="triangle" w="sm" len="med"/>
            </a:ln>
            <a:effectLst>
              <a:outerShdw dist="20000" dir="5400000" rotWithShape="0">
                <a:srgbClr val="000000">
                  <a:alpha val="37999"/>
                </a:srgbClr>
              </a:outerShdw>
            </a:effectLst>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1400" b="1"/>
            </a:p>
          </p:txBody>
        </p:sp>
        <p:sp>
          <p:nvSpPr>
            <p:cNvPr id="61" name="直接箭头连接符 106"/>
            <p:cNvSpPr>
              <a:spLocks noChangeShapeType="1"/>
            </p:cNvSpPr>
            <p:nvPr/>
          </p:nvSpPr>
          <p:spPr bwMode="auto">
            <a:xfrm>
              <a:off x="22809" y="22936"/>
              <a:ext cx="0" cy="1219"/>
            </a:xfrm>
            <a:prstGeom prst="straightConnector1">
              <a:avLst/>
            </a:prstGeom>
            <a:noFill/>
            <a:ln w="9525">
              <a:solidFill>
                <a:srgbClr val="000000"/>
              </a:solidFill>
              <a:round/>
              <a:headEnd type="none" w="sm" len="med"/>
              <a:tailEnd type="triangle" w="sm" len="med"/>
            </a:ln>
            <a:effectLst>
              <a:outerShdw dist="20000" dir="5400000" rotWithShape="0">
                <a:srgbClr val="000000">
                  <a:alpha val="37999"/>
                </a:srgbClr>
              </a:outerShdw>
            </a:effectLst>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1400" b="1"/>
            </a:p>
          </p:txBody>
        </p:sp>
        <p:sp>
          <p:nvSpPr>
            <p:cNvPr id="62" name="矩形 107"/>
            <p:cNvSpPr>
              <a:spLocks noChangeArrowheads="1"/>
            </p:cNvSpPr>
            <p:nvPr/>
          </p:nvSpPr>
          <p:spPr bwMode="auto">
            <a:xfrm>
              <a:off x="14528" y="24047"/>
              <a:ext cx="5055" cy="2984"/>
            </a:xfrm>
            <a:prstGeom prst="rect">
              <a:avLst/>
            </a:prstGeom>
            <a:solidFill>
              <a:srgbClr val="FFFFFF"/>
            </a:solidFill>
            <a:ln w="9525">
              <a:solidFill>
                <a:srgbClr val="000000"/>
              </a:solidFill>
              <a:round/>
              <a:headEnd/>
              <a:tailEnd/>
            </a:ln>
          </p:spPr>
          <p:txBody>
            <a:bodyPr vert="horz" wrap="square" lIns="0" tIns="0" rIns="0" bIns="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1" i="0" u="none" strike="noStrike" cap="none" normalizeH="0" baseline="0">
                  <a:ln>
                    <a:noFill/>
                  </a:ln>
                  <a:effectLst/>
                  <a:latin typeface="Arial" pitchFamily="34" charset="0"/>
                  <a:ea typeface="宋体" pitchFamily="2" charset="-122"/>
                  <a:cs typeface="Times New Roman" pitchFamily="18" charset="0"/>
                </a:rPr>
                <a:t>键盘</a:t>
              </a:r>
              <a:endParaRPr kumimoji="0" lang="zh-CN" sz="1400" b="1" i="0" u="none" strike="noStrike" cap="none" normalizeH="0" baseline="0">
                <a:ln>
                  <a:noFill/>
                </a:ln>
                <a:effectLst/>
                <a:latin typeface="Arial" pitchFamily="34" charset="0"/>
                <a:ea typeface="宋体" pitchFamily="2" charset="-122"/>
                <a:cs typeface="宋体" pitchFamily="2" charset="-122"/>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zh-CN" sz="1400" b="1" i="0" u="none" strike="noStrike" cap="none" normalizeH="0" baseline="0">
                  <a:ln>
                    <a:noFill/>
                  </a:ln>
                  <a:effectLst/>
                  <a:latin typeface="Arial" pitchFamily="34" charset="0"/>
                  <a:ea typeface="宋体" pitchFamily="2" charset="-122"/>
                  <a:cs typeface="Times New Roman" pitchFamily="18" charset="0"/>
                </a:rPr>
                <a:t>控制器</a:t>
              </a:r>
              <a:endParaRPr kumimoji="0" lang="zh-CN" sz="1400" b="1" i="0" u="none" strike="noStrike" cap="none" normalizeH="0" baseline="0">
                <a:ln>
                  <a:noFill/>
                </a:ln>
                <a:effectLst/>
                <a:latin typeface="Arial" pitchFamily="34" charset="0"/>
                <a:ea typeface="宋体" pitchFamily="2" charset="-122"/>
                <a:cs typeface="宋体" pitchFamily="2" charset="-122"/>
              </a:endParaRPr>
            </a:p>
          </p:txBody>
        </p:sp>
        <p:sp>
          <p:nvSpPr>
            <p:cNvPr id="63" name="矩形 108"/>
            <p:cNvSpPr>
              <a:spLocks noChangeArrowheads="1"/>
            </p:cNvSpPr>
            <p:nvPr/>
          </p:nvSpPr>
          <p:spPr bwMode="auto">
            <a:xfrm>
              <a:off x="20447" y="24028"/>
              <a:ext cx="5054" cy="2984"/>
            </a:xfrm>
            <a:prstGeom prst="rect">
              <a:avLst/>
            </a:prstGeom>
            <a:solidFill>
              <a:srgbClr val="FFFFFF"/>
            </a:solidFill>
            <a:ln w="9525">
              <a:solidFill>
                <a:srgbClr val="000000"/>
              </a:solidFill>
              <a:round/>
              <a:headEnd/>
              <a:tailEnd/>
            </a:ln>
          </p:spPr>
          <p:txBody>
            <a:bodyPr vert="horz" wrap="square" lIns="0" tIns="0" rIns="0" bIns="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1" i="0" u="none" strike="noStrike" cap="none" normalizeH="0" baseline="0">
                  <a:ln>
                    <a:noFill/>
                  </a:ln>
                  <a:effectLst/>
                  <a:latin typeface="Arial" pitchFamily="34" charset="0"/>
                  <a:ea typeface="宋体" pitchFamily="2" charset="-122"/>
                  <a:cs typeface="Times New Roman" pitchFamily="18" charset="0"/>
                </a:rPr>
                <a:t>打印机</a:t>
              </a:r>
              <a:endParaRPr kumimoji="0" lang="zh-CN" sz="1400" b="1" i="0" u="none" strike="noStrike" cap="none" normalizeH="0" baseline="0">
                <a:ln>
                  <a:noFill/>
                </a:ln>
                <a:effectLst/>
                <a:latin typeface="Arial" pitchFamily="34" charset="0"/>
                <a:ea typeface="宋体" pitchFamily="2" charset="-122"/>
                <a:cs typeface="宋体" pitchFamily="2" charset="-122"/>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zh-CN" sz="1400" b="1" i="0" u="none" strike="noStrike" cap="none" normalizeH="0" baseline="0">
                  <a:ln>
                    <a:noFill/>
                  </a:ln>
                  <a:effectLst/>
                  <a:latin typeface="Arial" pitchFamily="34" charset="0"/>
                  <a:ea typeface="宋体" pitchFamily="2" charset="-122"/>
                  <a:cs typeface="Times New Roman" pitchFamily="18" charset="0"/>
                </a:rPr>
                <a:t>控制器</a:t>
              </a:r>
              <a:endParaRPr kumimoji="0" lang="zh-CN" sz="1400" b="1" i="0" u="none" strike="noStrike" cap="none" normalizeH="0" baseline="0">
                <a:ln>
                  <a:noFill/>
                </a:ln>
                <a:effectLst/>
                <a:latin typeface="Arial" pitchFamily="34" charset="0"/>
                <a:ea typeface="宋体" pitchFamily="2" charset="-122"/>
                <a:cs typeface="宋体" pitchFamily="2" charset="-122"/>
              </a:endParaRPr>
            </a:p>
          </p:txBody>
        </p:sp>
        <p:sp>
          <p:nvSpPr>
            <p:cNvPr id="64" name="椭圆 109"/>
            <p:cNvSpPr>
              <a:spLocks noChangeArrowheads="1"/>
            </p:cNvSpPr>
            <p:nvPr/>
          </p:nvSpPr>
          <p:spPr bwMode="auto">
            <a:xfrm>
              <a:off x="14909" y="28308"/>
              <a:ext cx="4344" cy="3213"/>
            </a:xfrm>
            <a:prstGeom prst="ellipse">
              <a:avLst/>
            </a:prstGeom>
            <a:solidFill>
              <a:srgbClr val="FFFFFF"/>
            </a:solidFill>
            <a:ln w="9525">
              <a:solidFill>
                <a:srgbClr val="000000"/>
              </a:solidFill>
              <a:round/>
              <a:headEnd/>
              <a:tailEnd/>
            </a:ln>
          </p:spPr>
          <p:txBody>
            <a:bodyPr vert="horz" wrap="square" lIns="0" tIns="0" rIns="0" bIns="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1" i="0" u="none" strike="noStrike" cap="none" normalizeH="0" baseline="0">
                  <a:ln>
                    <a:noFill/>
                  </a:ln>
                  <a:effectLst/>
                  <a:latin typeface="Arial" pitchFamily="34" charset="0"/>
                  <a:ea typeface="宋体" pitchFamily="2" charset="-122"/>
                  <a:cs typeface="Times New Roman" pitchFamily="18" charset="0"/>
                </a:rPr>
                <a:t>键盘</a:t>
              </a:r>
              <a:endParaRPr kumimoji="0" lang="zh-CN" sz="1400" b="1" i="0" u="none" strike="noStrike" cap="none" normalizeH="0" baseline="0">
                <a:ln>
                  <a:noFill/>
                </a:ln>
                <a:effectLst/>
                <a:latin typeface="Arial" pitchFamily="34" charset="0"/>
                <a:ea typeface="宋体" pitchFamily="2" charset="-122"/>
                <a:cs typeface="宋体" pitchFamily="2" charset="-122"/>
              </a:endParaRPr>
            </a:p>
          </p:txBody>
        </p:sp>
        <p:sp>
          <p:nvSpPr>
            <p:cNvPr id="65" name="椭圆 110"/>
            <p:cNvSpPr>
              <a:spLocks noChangeArrowheads="1"/>
            </p:cNvSpPr>
            <p:nvPr/>
          </p:nvSpPr>
          <p:spPr bwMode="auto">
            <a:xfrm>
              <a:off x="20669" y="28143"/>
              <a:ext cx="4343" cy="3213"/>
            </a:xfrm>
            <a:prstGeom prst="ellipse">
              <a:avLst/>
            </a:prstGeom>
            <a:solidFill>
              <a:srgbClr val="FFFFFF"/>
            </a:solidFill>
            <a:ln w="9525">
              <a:solidFill>
                <a:srgbClr val="000000"/>
              </a:solidFill>
              <a:round/>
              <a:headEnd/>
              <a:tailEnd/>
            </a:ln>
          </p:spPr>
          <p:txBody>
            <a:bodyPr vert="horz" wrap="square" lIns="0" tIns="0" rIns="0" bIns="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1" i="0" u="none" strike="noStrike" cap="none" normalizeH="0" baseline="0">
                  <a:ln>
                    <a:noFill/>
                  </a:ln>
                  <a:effectLst/>
                  <a:latin typeface="Arial" pitchFamily="34" charset="0"/>
                  <a:ea typeface="宋体" pitchFamily="2" charset="-122"/>
                  <a:cs typeface="Times New Roman" pitchFamily="18" charset="0"/>
                </a:rPr>
                <a:t>打印机</a:t>
              </a:r>
              <a:endParaRPr kumimoji="0" lang="zh-CN" sz="1400" b="1" i="0" u="none" strike="noStrike" cap="none" normalizeH="0" baseline="0">
                <a:ln>
                  <a:noFill/>
                </a:ln>
                <a:effectLst/>
                <a:latin typeface="Arial" pitchFamily="34" charset="0"/>
                <a:ea typeface="宋体" pitchFamily="2" charset="-122"/>
                <a:cs typeface="宋体" pitchFamily="2" charset="-122"/>
              </a:endParaRPr>
            </a:p>
          </p:txBody>
        </p:sp>
        <p:sp>
          <p:nvSpPr>
            <p:cNvPr id="66" name="矩形 111"/>
            <p:cNvSpPr>
              <a:spLocks noChangeArrowheads="1"/>
            </p:cNvSpPr>
            <p:nvPr/>
          </p:nvSpPr>
          <p:spPr bwMode="auto">
            <a:xfrm>
              <a:off x="25711" y="18903"/>
              <a:ext cx="1295" cy="147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effectLst/>
                  <a:latin typeface="Arial" pitchFamily="34" charset="0"/>
                  <a:ea typeface="宋体" pitchFamily="2" charset="-122"/>
                  <a:cs typeface="Times New Roman" pitchFamily="18" charset="0"/>
                </a:rPr>
                <a:t>…</a:t>
              </a:r>
              <a:endParaRPr kumimoji="0" lang="en-US" altLang="zh-CN" sz="1400" b="1" i="0" u="none" strike="noStrike" cap="none" normalizeH="0" baseline="0">
                <a:ln>
                  <a:noFill/>
                </a:ln>
                <a:effectLst/>
                <a:latin typeface="Arial" pitchFamily="34" charset="0"/>
                <a:ea typeface="宋体" pitchFamily="2" charset="-122"/>
                <a:cs typeface="宋体" pitchFamily="2" charset="-122"/>
              </a:endParaRPr>
            </a:p>
          </p:txBody>
        </p:sp>
        <p:sp>
          <p:nvSpPr>
            <p:cNvPr id="67" name="矩形 112"/>
            <p:cNvSpPr>
              <a:spLocks noChangeArrowheads="1"/>
            </p:cNvSpPr>
            <p:nvPr/>
          </p:nvSpPr>
          <p:spPr bwMode="auto">
            <a:xfrm>
              <a:off x="25647" y="14732"/>
              <a:ext cx="1296" cy="147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400" b="1" i="0" u="none" strike="noStrike" cap="none" normalizeH="0" baseline="0">
                  <a:ln>
                    <a:noFill/>
                  </a:ln>
                  <a:effectLst/>
                  <a:latin typeface="Arial" pitchFamily="34" charset="0"/>
                  <a:ea typeface="宋体" pitchFamily="2" charset="-122"/>
                  <a:cs typeface="Times New Roman" pitchFamily="18" charset="0"/>
                </a:rPr>
                <a:t>…</a:t>
              </a:r>
              <a:endParaRPr kumimoji="0" lang="zh-CN" altLang="zh-CN" sz="1400" b="1" i="0" u="none" strike="noStrike" cap="none" normalizeH="0" baseline="0">
                <a:ln>
                  <a:noFill/>
                </a:ln>
                <a:effectLst/>
                <a:latin typeface="Arial" pitchFamily="34" charset="0"/>
                <a:ea typeface="宋体" pitchFamily="2" charset="-122"/>
                <a:cs typeface="宋体" pitchFamily="2" charset="-122"/>
              </a:endParaRPr>
            </a:p>
          </p:txBody>
        </p:sp>
        <p:sp>
          <p:nvSpPr>
            <p:cNvPr id="68" name="矩形 113"/>
            <p:cNvSpPr>
              <a:spLocks noChangeArrowheads="1"/>
            </p:cNvSpPr>
            <p:nvPr/>
          </p:nvSpPr>
          <p:spPr bwMode="auto">
            <a:xfrm>
              <a:off x="25723" y="24695"/>
              <a:ext cx="1296" cy="147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400" b="1" i="0" u="none" strike="noStrike" cap="none" normalizeH="0" baseline="0">
                  <a:ln>
                    <a:noFill/>
                  </a:ln>
                  <a:effectLst/>
                  <a:latin typeface="Arial" pitchFamily="34" charset="0"/>
                  <a:ea typeface="宋体" pitchFamily="2" charset="-122"/>
                  <a:cs typeface="Times New Roman" pitchFamily="18" charset="0"/>
                </a:rPr>
                <a:t>…</a:t>
              </a:r>
              <a:endParaRPr kumimoji="0" lang="zh-CN" altLang="zh-CN" sz="1400" b="1" i="0" u="none" strike="noStrike" cap="none" normalizeH="0" baseline="0">
                <a:ln>
                  <a:noFill/>
                </a:ln>
                <a:effectLst/>
                <a:latin typeface="Arial" pitchFamily="34" charset="0"/>
                <a:ea typeface="宋体" pitchFamily="2" charset="-122"/>
                <a:cs typeface="宋体" pitchFamily="2" charset="-122"/>
              </a:endParaRPr>
            </a:p>
          </p:txBody>
        </p:sp>
        <p:sp>
          <p:nvSpPr>
            <p:cNvPr id="69" name="直接箭头连接符 114"/>
            <p:cNvSpPr>
              <a:spLocks noChangeShapeType="1"/>
            </p:cNvSpPr>
            <p:nvPr/>
          </p:nvSpPr>
          <p:spPr bwMode="auto">
            <a:xfrm>
              <a:off x="20383" y="2647"/>
              <a:ext cx="0" cy="5252"/>
            </a:xfrm>
            <a:prstGeom prst="straightConnector1">
              <a:avLst/>
            </a:prstGeom>
            <a:noFill/>
            <a:ln w="9525">
              <a:solidFill>
                <a:srgbClr val="000000"/>
              </a:solidFill>
              <a:round/>
              <a:headEnd type="none" w="sm" len="med"/>
              <a:tailEnd type="triangle" w="sm"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1400" b="1"/>
            </a:p>
          </p:txBody>
        </p:sp>
        <p:sp>
          <p:nvSpPr>
            <p:cNvPr id="70" name="直接箭头连接符 115"/>
            <p:cNvSpPr>
              <a:spLocks noChangeShapeType="1"/>
            </p:cNvSpPr>
            <p:nvPr/>
          </p:nvSpPr>
          <p:spPr bwMode="auto">
            <a:xfrm>
              <a:off x="30480" y="8267"/>
              <a:ext cx="0" cy="3093"/>
            </a:xfrm>
            <a:prstGeom prst="straightConnector1">
              <a:avLst/>
            </a:prstGeom>
            <a:noFill/>
            <a:ln w="9525">
              <a:solidFill>
                <a:srgbClr val="000000"/>
              </a:solidFill>
              <a:round/>
              <a:headEnd type="none" w="sm" len="med"/>
              <a:tailEnd type="triangle" w="sm"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1400" b="1"/>
            </a:p>
          </p:txBody>
        </p:sp>
        <p:sp>
          <p:nvSpPr>
            <p:cNvPr id="71" name="直接箭头连接符 116"/>
            <p:cNvSpPr>
              <a:spLocks noChangeShapeType="1"/>
            </p:cNvSpPr>
            <p:nvPr/>
          </p:nvSpPr>
          <p:spPr bwMode="auto">
            <a:xfrm>
              <a:off x="29902" y="12922"/>
              <a:ext cx="0" cy="1219"/>
            </a:xfrm>
            <a:prstGeom prst="straightConnector1">
              <a:avLst/>
            </a:prstGeom>
            <a:noFill/>
            <a:ln w="9525">
              <a:solidFill>
                <a:srgbClr val="000000"/>
              </a:solidFill>
              <a:round/>
              <a:headEnd type="none" w="sm" len="med"/>
              <a:tailEnd type="triangle" w="sm"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1400" b="1"/>
            </a:p>
          </p:txBody>
        </p:sp>
        <p:sp>
          <p:nvSpPr>
            <p:cNvPr id="72" name="直接箭头连接符 118"/>
            <p:cNvSpPr>
              <a:spLocks noChangeShapeType="1"/>
            </p:cNvSpPr>
            <p:nvPr/>
          </p:nvSpPr>
          <p:spPr bwMode="auto">
            <a:xfrm>
              <a:off x="29794" y="21285"/>
              <a:ext cx="0" cy="1219"/>
            </a:xfrm>
            <a:prstGeom prst="straightConnector1">
              <a:avLst/>
            </a:prstGeom>
            <a:noFill/>
            <a:ln w="9525">
              <a:solidFill>
                <a:srgbClr val="000000"/>
              </a:solidFill>
              <a:round/>
              <a:headEnd type="none" w="sm" len="med"/>
              <a:tailEnd type="triangle" w="sm" len="med"/>
            </a:ln>
            <a:effectLst>
              <a:outerShdw dist="20000" dir="5400000" rotWithShape="0">
                <a:srgbClr val="000000">
                  <a:alpha val="37999"/>
                </a:srgbClr>
              </a:outerShdw>
            </a:effectLst>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1400" b="1"/>
            </a:p>
          </p:txBody>
        </p:sp>
        <p:sp>
          <p:nvSpPr>
            <p:cNvPr id="73" name="直接箭头连接符 120"/>
            <p:cNvSpPr>
              <a:spLocks noChangeShapeType="1"/>
            </p:cNvSpPr>
            <p:nvPr/>
          </p:nvSpPr>
          <p:spPr bwMode="auto">
            <a:xfrm>
              <a:off x="29908" y="27019"/>
              <a:ext cx="0" cy="1219"/>
            </a:xfrm>
            <a:prstGeom prst="straightConnector1">
              <a:avLst/>
            </a:prstGeom>
            <a:noFill/>
            <a:ln w="9525">
              <a:solidFill>
                <a:srgbClr val="000000"/>
              </a:solidFill>
              <a:round/>
              <a:headEnd type="none" w="sm" len="med"/>
              <a:tailEnd type="triangle" w="sm"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1400" b="1"/>
            </a:p>
          </p:txBody>
        </p:sp>
        <p:sp>
          <p:nvSpPr>
            <p:cNvPr id="74" name="矩形 122"/>
            <p:cNvSpPr>
              <a:spLocks noChangeArrowheads="1"/>
            </p:cNvSpPr>
            <p:nvPr/>
          </p:nvSpPr>
          <p:spPr bwMode="auto">
            <a:xfrm>
              <a:off x="27387" y="7874"/>
              <a:ext cx="6477" cy="361"/>
            </a:xfrm>
            <a:prstGeom prst="rect">
              <a:avLst/>
            </a:prstGeom>
            <a:solidFill>
              <a:srgbClr val="FFFFFF"/>
            </a:solidFill>
            <a:ln w="9525">
              <a:solidFill>
                <a:srgbClr val="000000"/>
              </a:solidFill>
              <a:round/>
              <a:headEnd/>
              <a:tailEnd/>
            </a:ln>
          </p:spPr>
          <p:txBody>
            <a:bodyPr vert="horz" wrap="square" lIns="0" tIns="0" rIns="0" bIns="0" numCol="1"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effectLst/>
                  <a:latin typeface="Arial" pitchFamily="34" charset="0"/>
                  <a:ea typeface="宋体" pitchFamily="2" charset="-122"/>
                  <a:cs typeface="Times New Roman" pitchFamily="18" charset="0"/>
                </a:rPr>
                <a:t> </a:t>
              </a:r>
              <a:endParaRPr kumimoji="0" lang="en-US" altLang="zh-CN" sz="1400" b="1" i="0" u="none" strike="noStrike" cap="none" normalizeH="0" baseline="0">
                <a:ln>
                  <a:noFill/>
                </a:ln>
                <a:effectLst/>
                <a:latin typeface="Arial" pitchFamily="34" charset="0"/>
                <a:ea typeface="宋体" pitchFamily="2" charset="-122"/>
                <a:cs typeface="宋体" pitchFamily="2" charset="-122"/>
              </a:endParaRPr>
            </a:p>
          </p:txBody>
        </p:sp>
        <p:sp>
          <p:nvSpPr>
            <p:cNvPr id="75" name="矩形 123"/>
            <p:cNvSpPr>
              <a:spLocks noChangeAspect="1" noChangeArrowheads="1"/>
            </p:cNvSpPr>
            <p:nvPr/>
          </p:nvSpPr>
          <p:spPr bwMode="auto">
            <a:xfrm>
              <a:off x="27381" y="14109"/>
              <a:ext cx="5054" cy="2985"/>
            </a:xfrm>
            <a:prstGeom prst="rect">
              <a:avLst/>
            </a:prstGeom>
            <a:solidFill>
              <a:srgbClr val="FFFFFF"/>
            </a:solidFill>
            <a:ln w="9525">
              <a:solidFill>
                <a:srgbClr val="000000"/>
              </a:solidFill>
              <a:round/>
              <a:headEnd/>
              <a:tailEnd/>
            </a:ln>
          </p:spPr>
          <p:txBody>
            <a:bodyPr vert="horz" wrap="square" lIns="0" tIns="0" rIns="0" bIns="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1" i="0" u="none" strike="noStrike" cap="none" normalizeH="0" baseline="0" dirty="0">
                  <a:ln>
                    <a:noFill/>
                  </a:ln>
                  <a:effectLst/>
                  <a:latin typeface="Arial" pitchFamily="34" charset="0"/>
                  <a:ea typeface="宋体" pitchFamily="2" charset="-122"/>
                  <a:cs typeface="Times New Roman" pitchFamily="18" charset="0"/>
                </a:rPr>
                <a:t>网络</a:t>
              </a:r>
              <a:endParaRPr kumimoji="0" lang="zh-CN" sz="1400" b="1" i="0" u="none" strike="noStrike" cap="none" normalizeH="0" baseline="0" dirty="0">
                <a:ln>
                  <a:noFill/>
                </a:ln>
                <a:effectLst/>
                <a:latin typeface="Arial" pitchFamily="34" charset="0"/>
                <a:ea typeface="宋体" pitchFamily="2" charset="-122"/>
                <a:cs typeface="宋体" pitchFamily="2" charset="-122"/>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zh-CN" sz="1400" b="1" i="0" u="none" strike="noStrike" cap="none" normalizeH="0" baseline="0" dirty="0">
                  <a:ln>
                    <a:noFill/>
                  </a:ln>
                  <a:effectLst/>
                  <a:latin typeface="Arial" pitchFamily="34" charset="0"/>
                  <a:ea typeface="宋体" pitchFamily="2" charset="-122"/>
                  <a:cs typeface="Times New Roman" pitchFamily="18" charset="0"/>
                </a:rPr>
                <a:t>驱动程序</a:t>
              </a:r>
              <a:endParaRPr kumimoji="0" lang="zh-CN" sz="1400" b="1" i="0" u="none" strike="noStrike" cap="none" normalizeH="0" baseline="0" dirty="0">
                <a:ln>
                  <a:noFill/>
                </a:ln>
                <a:effectLst/>
                <a:latin typeface="Arial" pitchFamily="34" charset="0"/>
                <a:ea typeface="宋体" pitchFamily="2" charset="-122"/>
                <a:cs typeface="宋体" pitchFamily="2" charset="-122"/>
              </a:endParaRPr>
            </a:p>
          </p:txBody>
        </p:sp>
        <p:sp>
          <p:nvSpPr>
            <p:cNvPr id="76" name="矩形 125"/>
            <p:cNvSpPr>
              <a:spLocks noChangeArrowheads="1"/>
            </p:cNvSpPr>
            <p:nvPr/>
          </p:nvSpPr>
          <p:spPr bwMode="auto">
            <a:xfrm>
              <a:off x="27387" y="11322"/>
              <a:ext cx="6522" cy="1632"/>
            </a:xfrm>
            <a:prstGeom prst="rect">
              <a:avLst/>
            </a:prstGeom>
            <a:solidFill>
              <a:srgbClr val="FFFFFF"/>
            </a:solidFill>
            <a:ln w="9525">
              <a:solidFill>
                <a:srgbClr val="000000"/>
              </a:solidFill>
              <a:round/>
              <a:headEnd/>
              <a:tailEnd/>
            </a:ln>
          </p:spPr>
          <p:txBody>
            <a:bodyPr vert="horz" wrap="square" lIns="0" tIns="0" rIns="0" bIns="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1" i="0" u="none" strike="noStrike" cap="none" normalizeH="0" baseline="0">
                  <a:ln>
                    <a:noFill/>
                  </a:ln>
                  <a:effectLst/>
                  <a:latin typeface="Arial" pitchFamily="34" charset="0"/>
                  <a:ea typeface="宋体" pitchFamily="2" charset="-122"/>
                  <a:cs typeface="Times New Roman" pitchFamily="18" charset="0"/>
                </a:rPr>
                <a:t>网络通信软件</a:t>
              </a:r>
              <a:endParaRPr kumimoji="0" lang="zh-CN" sz="1400" b="1" i="0" u="none" strike="noStrike" cap="none" normalizeH="0" baseline="0">
                <a:ln>
                  <a:noFill/>
                </a:ln>
                <a:effectLst/>
                <a:latin typeface="Arial" pitchFamily="34" charset="0"/>
                <a:ea typeface="宋体" pitchFamily="2" charset="-122"/>
                <a:cs typeface="宋体" pitchFamily="2" charset="-122"/>
              </a:endParaRPr>
            </a:p>
          </p:txBody>
        </p:sp>
        <p:sp>
          <p:nvSpPr>
            <p:cNvPr id="77" name="矩形 126"/>
            <p:cNvSpPr>
              <a:spLocks noChangeArrowheads="1"/>
            </p:cNvSpPr>
            <p:nvPr/>
          </p:nvSpPr>
          <p:spPr bwMode="auto">
            <a:xfrm>
              <a:off x="27152" y="8496"/>
              <a:ext cx="3023" cy="281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1" i="0" u="none" strike="noStrike" cap="none" normalizeH="0" baseline="0">
                  <a:ln>
                    <a:noFill/>
                  </a:ln>
                  <a:effectLst/>
                  <a:latin typeface="Arial" pitchFamily="34" charset="0"/>
                  <a:ea typeface="宋体" pitchFamily="2" charset="-122"/>
                  <a:cs typeface="Times New Roman" pitchFamily="18" charset="0"/>
                </a:rPr>
                <a:t>网络</a:t>
              </a:r>
              <a:endParaRPr kumimoji="0" lang="zh-CN" sz="1400" b="1" i="0" u="none" strike="noStrike" cap="none" normalizeH="0" baseline="0">
                <a:ln>
                  <a:noFill/>
                </a:ln>
                <a:effectLst/>
                <a:latin typeface="Arial" pitchFamily="34" charset="0"/>
                <a:ea typeface="宋体" pitchFamily="2" charset="-122"/>
                <a:cs typeface="宋体" pitchFamily="2" charset="-122"/>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zh-CN" sz="1400" b="1" i="0" u="none" strike="noStrike" cap="none" normalizeH="0" baseline="0">
                  <a:ln>
                    <a:noFill/>
                  </a:ln>
                  <a:effectLst/>
                  <a:latin typeface="Arial" pitchFamily="34" charset="0"/>
                  <a:ea typeface="宋体" pitchFamily="2" charset="-122"/>
                  <a:cs typeface="Times New Roman" pitchFamily="18" charset="0"/>
                </a:rPr>
                <a:t>接口</a:t>
              </a:r>
              <a:endParaRPr kumimoji="0" lang="zh-CN" sz="1400" b="1" i="0" u="none" strike="noStrike" cap="none" normalizeH="0" baseline="0">
                <a:ln>
                  <a:noFill/>
                </a:ln>
                <a:effectLst/>
                <a:latin typeface="Arial" pitchFamily="34" charset="0"/>
                <a:ea typeface="宋体" pitchFamily="2" charset="-122"/>
                <a:cs typeface="宋体" pitchFamily="2" charset="-122"/>
              </a:endParaRPr>
            </a:p>
          </p:txBody>
        </p:sp>
        <p:sp>
          <p:nvSpPr>
            <p:cNvPr id="78" name="矩形 127"/>
            <p:cNvSpPr>
              <a:spLocks noChangeArrowheads="1"/>
            </p:cNvSpPr>
            <p:nvPr/>
          </p:nvSpPr>
          <p:spPr bwMode="auto">
            <a:xfrm>
              <a:off x="25962" y="8359"/>
              <a:ext cx="4445" cy="284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1" i="0" u="none" strike="noStrike" cap="none" normalizeH="0" baseline="0" dirty="0">
                  <a:ln>
                    <a:noFill/>
                  </a:ln>
                  <a:effectLst/>
                  <a:latin typeface="Arial" pitchFamily="34" charset="0"/>
                  <a:ea typeface="宋体" pitchFamily="2" charset="-122"/>
                  <a:cs typeface="Times New Roman" pitchFamily="18" charset="0"/>
                </a:rPr>
                <a:t>打开</a:t>
              </a:r>
              <a:r>
                <a:rPr kumimoji="0" lang="en-US" altLang="zh-CN" sz="1400" b="1" i="0" u="none" strike="noStrike" cap="none" normalizeH="0" baseline="0" dirty="0">
                  <a:ln>
                    <a:noFill/>
                  </a:ln>
                  <a:effectLst/>
                  <a:latin typeface="Arial" pitchFamily="34" charset="0"/>
                  <a:ea typeface="宋体" pitchFamily="2" charset="-122"/>
                  <a:cs typeface="Times New Roman" pitchFamily="18" charset="0"/>
                </a:rPr>
                <a:t>/</a:t>
              </a:r>
              <a:r>
                <a:rPr kumimoji="0" lang="zh-CN" altLang="en-US" sz="1400" b="1" i="0" u="none" strike="noStrike" cap="none" normalizeH="0" baseline="0" dirty="0">
                  <a:ln>
                    <a:noFill/>
                  </a:ln>
                  <a:effectLst/>
                  <a:latin typeface="Arial" pitchFamily="34" charset="0"/>
                  <a:ea typeface="宋体" pitchFamily="2" charset="-122"/>
                  <a:cs typeface="Times New Roman" pitchFamily="18" charset="0"/>
                </a:rPr>
                <a:t>关闭</a:t>
              </a:r>
              <a:endParaRPr kumimoji="0" lang="zh-CN" altLang="en-US" sz="1400" b="1" i="0" u="none" strike="noStrike" cap="none" normalizeH="0" baseline="0" dirty="0">
                <a:ln>
                  <a:noFill/>
                </a:ln>
                <a:effectLst/>
                <a:latin typeface="Arial" pitchFamily="34" charset="0"/>
                <a:ea typeface="宋体" pitchFamily="2" charset="-122"/>
                <a:cs typeface="宋体" pitchFamily="2" charset="-122"/>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1400" b="1" i="0" u="none" strike="noStrike" cap="none" normalizeH="0" baseline="0" dirty="0">
                  <a:ln>
                    <a:noFill/>
                  </a:ln>
                  <a:effectLst/>
                  <a:latin typeface="Arial" pitchFamily="34" charset="0"/>
                  <a:ea typeface="宋体" pitchFamily="2" charset="-122"/>
                  <a:cs typeface="Times New Roman" pitchFamily="18" charset="0"/>
                </a:rPr>
                <a:t>发送</a:t>
              </a:r>
              <a:r>
                <a:rPr kumimoji="0" lang="en-US" altLang="zh-CN" sz="1400" b="1" i="0" u="none" strike="noStrike" cap="none" normalizeH="0" baseline="0" dirty="0">
                  <a:ln>
                    <a:noFill/>
                  </a:ln>
                  <a:effectLst/>
                  <a:latin typeface="Arial" pitchFamily="34" charset="0"/>
                  <a:ea typeface="宋体" pitchFamily="2" charset="-122"/>
                  <a:cs typeface="Times New Roman" pitchFamily="18" charset="0"/>
                </a:rPr>
                <a:t>/</a:t>
              </a:r>
              <a:r>
                <a:rPr kumimoji="0" lang="zh-CN" altLang="en-US" sz="1400" b="1" i="0" u="none" strike="noStrike" cap="none" normalizeH="0" baseline="0" dirty="0">
                  <a:ln>
                    <a:noFill/>
                  </a:ln>
                  <a:effectLst/>
                  <a:latin typeface="Arial" pitchFamily="34" charset="0"/>
                  <a:ea typeface="宋体" pitchFamily="2" charset="-122"/>
                  <a:cs typeface="Times New Roman" pitchFamily="18" charset="0"/>
                </a:rPr>
                <a:t>接收</a:t>
              </a:r>
              <a:endParaRPr kumimoji="0" lang="zh-CN" altLang="en-US" sz="1400" b="1" i="0" u="none" strike="noStrike" cap="none" normalizeH="0" baseline="0" dirty="0">
                <a:ln>
                  <a:noFill/>
                </a:ln>
                <a:effectLst/>
                <a:latin typeface="Arial" pitchFamily="34" charset="0"/>
                <a:ea typeface="宋体" pitchFamily="2" charset="-122"/>
                <a:cs typeface="宋体" pitchFamily="2" charset="-122"/>
              </a:endParaRPr>
            </a:p>
          </p:txBody>
        </p:sp>
        <p:sp>
          <p:nvSpPr>
            <p:cNvPr id="79" name="直接箭头连接符 128"/>
            <p:cNvSpPr>
              <a:spLocks noChangeShapeType="1"/>
            </p:cNvSpPr>
            <p:nvPr/>
          </p:nvSpPr>
          <p:spPr bwMode="auto">
            <a:xfrm>
              <a:off x="29908" y="17132"/>
              <a:ext cx="0" cy="1219"/>
            </a:xfrm>
            <a:prstGeom prst="straightConnector1">
              <a:avLst/>
            </a:prstGeom>
            <a:noFill/>
            <a:ln w="9525">
              <a:solidFill>
                <a:srgbClr val="000000"/>
              </a:solidFill>
              <a:round/>
              <a:headEnd type="none" w="sm" len="med"/>
              <a:tailEnd type="triangle" w="sm" len="med"/>
            </a:ln>
            <a:effectLst>
              <a:outerShdw dist="20000" dir="5400000" rotWithShape="0">
                <a:srgbClr val="000000">
                  <a:alpha val="37999"/>
                </a:srgbClr>
              </a:outerShdw>
            </a:effectLst>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1400" b="1"/>
            </a:p>
          </p:txBody>
        </p:sp>
        <p:sp>
          <p:nvSpPr>
            <p:cNvPr id="80" name="矩形 130"/>
            <p:cNvSpPr>
              <a:spLocks noChangeArrowheads="1"/>
            </p:cNvSpPr>
            <p:nvPr/>
          </p:nvSpPr>
          <p:spPr bwMode="auto">
            <a:xfrm>
              <a:off x="27387" y="18319"/>
              <a:ext cx="5055" cy="2985"/>
            </a:xfrm>
            <a:prstGeom prst="rect">
              <a:avLst/>
            </a:prstGeom>
            <a:solidFill>
              <a:srgbClr val="FFFFFF"/>
            </a:solidFill>
            <a:ln w="9525">
              <a:solidFill>
                <a:srgbClr val="000000"/>
              </a:solidFill>
              <a:round/>
              <a:headEnd/>
              <a:tailEnd/>
            </a:ln>
          </p:spPr>
          <p:txBody>
            <a:bodyPr vert="horz" wrap="square" lIns="0" tIns="0" rIns="0" bIns="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1" i="0" u="none" strike="noStrike" cap="none" normalizeH="0" baseline="0">
                  <a:ln>
                    <a:noFill/>
                  </a:ln>
                  <a:effectLst/>
                  <a:latin typeface="Arial" pitchFamily="34" charset="0"/>
                  <a:ea typeface="宋体" pitchFamily="2" charset="-122"/>
                  <a:cs typeface="Times New Roman" pitchFamily="18" charset="0"/>
                </a:rPr>
                <a:t>网络</a:t>
              </a:r>
              <a:endParaRPr kumimoji="0" lang="zh-CN" sz="1400" b="1" i="0" u="none" strike="noStrike" cap="none" normalizeH="0" baseline="0">
                <a:ln>
                  <a:noFill/>
                </a:ln>
                <a:effectLst/>
                <a:latin typeface="Arial" pitchFamily="34" charset="0"/>
                <a:ea typeface="宋体" pitchFamily="2" charset="-122"/>
                <a:cs typeface="宋体" pitchFamily="2" charset="-122"/>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zh-CN" sz="1400" b="1" i="0" u="none" strike="noStrike" cap="none" normalizeH="0" baseline="0">
                  <a:ln>
                    <a:noFill/>
                  </a:ln>
                  <a:effectLst/>
                  <a:latin typeface="Arial" pitchFamily="34" charset="0"/>
                  <a:ea typeface="宋体" pitchFamily="2" charset="-122"/>
                  <a:cs typeface="Times New Roman" pitchFamily="18" charset="0"/>
                </a:rPr>
                <a:t>中断处理程序</a:t>
              </a:r>
              <a:endParaRPr kumimoji="0" lang="zh-CN" sz="1400" b="1" i="0" u="none" strike="noStrike" cap="none" normalizeH="0" baseline="0">
                <a:ln>
                  <a:noFill/>
                </a:ln>
                <a:effectLst/>
                <a:latin typeface="Arial" pitchFamily="34" charset="0"/>
                <a:ea typeface="宋体" pitchFamily="2" charset="-122"/>
                <a:cs typeface="宋体" pitchFamily="2" charset="-122"/>
              </a:endParaRPr>
            </a:p>
          </p:txBody>
        </p:sp>
        <p:sp>
          <p:nvSpPr>
            <p:cNvPr id="81" name="直接箭头连接符 132"/>
            <p:cNvSpPr>
              <a:spLocks noChangeShapeType="1"/>
            </p:cNvSpPr>
            <p:nvPr/>
          </p:nvSpPr>
          <p:spPr bwMode="auto">
            <a:xfrm>
              <a:off x="29908" y="22923"/>
              <a:ext cx="0" cy="1219"/>
            </a:xfrm>
            <a:prstGeom prst="straightConnector1">
              <a:avLst/>
            </a:prstGeom>
            <a:noFill/>
            <a:ln w="9525">
              <a:solidFill>
                <a:srgbClr val="000000"/>
              </a:solidFill>
              <a:round/>
              <a:headEnd type="none" w="sm" len="med"/>
              <a:tailEnd type="triangle" w="sm" len="med"/>
            </a:ln>
            <a:effectLst>
              <a:outerShdw dist="20000" dir="5400000" rotWithShape="0">
                <a:srgbClr val="000000">
                  <a:alpha val="37999"/>
                </a:srgbClr>
              </a:outerShdw>
            </a:effectLst>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1400" b="1"/>
            </a:p>
          </p:txBody>
        </p:sp>
        <p:sp>
          <p:nvSpPr>
            <p:cNvPr id="82" name="矩形 134"/>
            <p:cNvSpPr>
              <a:spLocks noChangeArrowheads="1"/>
            </p:cNvSpPr>
            <p:nvPr/>
          </p:nvSpPr>
          <p:spPr bwMode="auto">
            <a:xfrm>
              <a:off x="27387" y="24034"/>
              <a:ext cx="5055" cy="2985"/>
            </a:xfrm>
            <a:prstGeom prst="rect">
              <a:avLst/>
            </a:prstGeom>
            <a:solidFill>
              <a:srgbClr val="FFFFFF"/>
            </a:solidFill>
            <a:ln w="9525">
              <a:solidFill>
                <a:srgbClr val="000000"/>
              </a:solidFill>
              <a:round/>
              <a:headEnd/>
              <a:tailEnd/>
            </a:ln>
          </p:spPr>
          <p:txBody>
            <a:bodyPr vert="horz" wrap="square" lIns="0" tIns="0" rIns="0" bIns="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1" i="0" u="none" strike="noStrike" cap="none" normalizeH="0" baseline="0">
                  <a:ln>
                    <a:noFill/>
                  </a:ln>
                  <a:effectLst/>
                  <a:latin typeface="Arial" pitchFamily="34" charset="0"/>
                  <a:ea typeface="宋体" pitchFamily="2" charset="-122"/>
                  <a:cs typeface="Times New Roman" pitchFamily="18" charset="0"/>
                </a:rPr>
                <a:t>网络</a:t>
              </a:r>
              <a:endParaRPr kumimoji="0" lang="zh-CN" sz="1400" b="1" i="0" u="none" strike="noStrike" cap="none" normalizeH="0" baseline="0">
                <a:ln>
                  <a:noFill/>
                </a:ln>
                <a:effectLst/>
                <a:latin typeface="Arial" pitchFamily="34" charset="0"/>
                <a:ea typeface="宋体" pitchFamily="2" charset="-122"/>
                <a:cs typeface="宋体" pitchFamily="2" charset="-122"/>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zh-CN" sz="1400" b="1" i="0" u="none" strike="noStrike" cap="none" normalizeH="0" baseline="0">
                  <a:ln>
                    <a:noFill/>
                  </a:ln>
                  <a:effectLst/>
                  <a:latin typeface="Arial" pitchFamily="34" charset="0"/>
                  <a:ea typeface="宋体" pitchFamily="2" charset="-122"/>
                  <a:cs typeface="Times New Roman" pitchFamily="18" charset="0"/>
                </a:rPr>
                <a:t>控制器</a:t>
              </a:r>
              <a:endParaRPr kumimoji="0" lang="zh-CN" sz="1400" b="1" i="0" u="none" strike="noStrike" cap="none" normalizeH="0" baseline="0">
                <a:ln>
                  <a:noFill/>
                </a:ln>
                <a:effectLst/>
                <a:latin typeface="Arial" pitchFamily="34" charset="0"/>
                <a:ea typeface="宋体" pitchFamily="2" charset="-122"/>
                <a:cs typeface="宋体" pitchFamily="2" charset="-122"/>
              </a:endParaRPr>
            </a:p>
          </p:txBody>
        </p:sp>
        <p:sp>
          <p:nvSpPr>
            <p:cNvPr id="83" name="椭圆 136"/>
            <p:cNvSpPr>
              <a:spLocks noChangeArrowheads="1"/>
            </p:cNvSpPr>
            <p:nvPr/>
          </p:nvSpPr>
          <p:spPr bwMode="auto">
            <a:xfrm>
              <a:off x="27768" y="28295"/>
              <a:ext cx="4343" cy="3213"/>
            </a:xfrm>
            <a:prstGeom prst="ellipse">
              <a:avLst/>
            </a:prstGeom>
            <a:solidFill>
              <a:srgbClr val="FFFFFF"/>
            </a:solidFill>
            <a:ln w="9525">
              <a:solidFill>
                <a:srgbClr val="000000"/>
              </a:solidFill>
              <a:round/>
              <a:headEnd/>
              <a:tailEnd/>
            </a:ln>
          </p:spPr>
          <p:txBody>
            <a:bodyPr vert="horz" wrap="square" lIns="0" tIns="0" rIns="0" bIns="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1" i="0" u="none" strike="noStrike" cap="none" normalizeH="0" baseline="0">
                  <a:ln>
                    <a:noFill/>
                  </a:ln>
                  <a:effectLst/>
                  <a:latin typeface="Arial" pitchFamily="34" charset="0"/>
                  <a:ea typeface="宋体" pitchFamily="2" charset="-122"/>
                  <a:cs typeface="Times New Roman" pitchFamily="18" charset="0"/>
                </a:rPr>
                <a:t>网络</a:t>
              </a:r>
              <a:endParaRPr kumimoji="0" lang="zh-CN" sz="1400" b="1" i="0" u="none" strike="noStrike" cap="none" normalizeH="0" baseline="0">
                <a:ln>
                  <a:noFill/>
                </a:ln>
                <a:effectLst/>
                <a:latin typeface="Arial" pitchFamily="34" charset="0"/>
                <a:ea typeface="宋体" pitchFamily="2" charset="-122"/>
                <a:cs typeface="宋体" pitchFamily="2" charset="-122"/>
              </a:endParaRPr>
            </a:p>
          </p:txBody>
        </p:sp>
        <p:sp>
          <p:nvSpPr>
            <p:cNvPr id="84" name="直接箭头连接符 141"/>
            <p:cNvSpPr>
              <a:spLocks noChangeShapeType="1"/>
            </p:cNvSpPr>
            <p:nvPr/>
          </p:nvSpPr>
          <p:spPr bwMode="auto">
            <a:xfrm>
              <a:off x="30492" y="2628"/>
              <a:ext cx="0" cy="5252"/>
            </a:xfrm>
            <a:prstGeom prst="straightConnector1">
              <a:avLst/>
            </a:prstGeom>
            <a:noFill/>
            <a:ln w="9525">
              <a:solidFill>
                <a:srgbClr val="000000"/>
              </a:solidFill>
              <a:round/>
              <a:headEnd type="none" w="sm" len="med"/>
              <a:tailEnd type="triangle" w="sm"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1400" b="1"/>
            </a:p>
          </p:txBody>
        </p:sp>
        <p:sp>
          <p:nvSpPr>
            <p:cNvPr id="85" name="矩形 142"/>
            <p:cNvSpPr>
              <a:spLocks noChangeArrowheads="1"/>
            </p:cNvSpPr>
            <p:nvPr/>
          </p:nvSpPr>
          <p:spPr bwMode="auto">
            <a:xfrm>
              <a:off x="32785" y="18923"/>
              <a:ext cx="1295" cy="147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400" b="1" i="0" u="none" strike="noStrike" cap="none" normalizeH="0" baseline="0">
                  <a:ln>
                    <a:noFill/>
                  </a:ln>
                  <a:effectLst/>
                  <a:latin typeface="Arial" pitchFamily="34" charset="0"/>
                  <a:ea typeface="宋体" pitchFamily="2" charset="-122"/>
                  <a:cs typeface="Times New Roman" pitchFamily="18" charset="0"/>
                </a:rPr>
                <a:t>…</a:t>
              </a:r>
              <a:endParaRPr kumimoji="0" lang="zh-CN" altLang="zh-CN" sz="1400" b="1" i="0" u="none" strike="noStrike" cap="none" normalizeH="0" baseline="0">
                <a:ln>
                  <a:noFill/>
                </a:ln>
                <a:effectLst/>
                <a:latin typeface="Arial" pitchFamily="34" charset="0"/>
                <a:ea typeface="宋体" pitchFamily="2" charset="-122"/>
                <a:cs typeface="宋体" pitchFamily="2" charset="-122"/>
              </a:endParaRPr>
            </a:p>
          </p:txBody>
        </p:sp>
        <p:sp>
          <p:nvSpPr>
            <p:cNvPr id="86" name="矩形 143"/>
            <p:cNvSpPr>
              <a:spLocks noChangeArrowheads="1"/>
            </p:cNvSpPr>
            <p:nvPr/>
          </p:nvSpPr>
          <p:spPr bwMode="auto">
            <a:xfrm>
              <a:off x="32721" y="14751"/>
              <a:ext cx="1295" cy="147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400" b="1" i="0" u="none" strike="noStrike" cap="none" normalizeH="0" baseline="0" dirty="0">
                  <a:ln>
                    <a:noFill/>
                  </a:ln>
                  <a:effectLst/>
                  <a:latin typeface="Arial" pitchFamily="34" charset="0"/>
                  <a:ea typeface="宋体" pitchFamily="2" charset="-122"/>
                  <a:cs typeface="Times New Roman" pitchFamily="18" charset="0"/>
                </a:rPr>
                <a:t>…</a:t>
              </a:r>
              <a:endParaRPr kumimoji="0" lang="zh-CN" altLang="zh-CN" sz="1400" b="1" i="0" u="none" strike="noStrike" cap="none" normalizeH="0" baseline="0" dirty="0">
                <a:ln>
                  <a:noFill/>
                </a:ln>
                <a:effectLst/>
                <a:latin typeface="Arial" pitchFamily="34" charset="0"/>
                <a:ea typeface="宋体" pitchFamily="2" charset="-122"/>
                <a:cs typeface="宋体" pitchFamily="2" charset="-122"/>
              </a:endParaRPr>
            </a:p>
          </p:txBody>
        </p:sp>
        <p:sp>
          <p:nvSpPr>
            <p:cNvPr id="87" name="矩形 144"/>
            <p:cNvSpPr>
              <a:spLocks noChangeArrowheads="1"/>
            </p:cNvSpPr>
            <p:nvPr/>
          </p:nvSpPr>
          <p:spPr bwMode="auto">
            <a:xfrm>
              <a:off x="32797" y="24714"/>
              <a:ext cx="1296" cy="147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400" b="1" i="0" u="none" strike="noStrike" cap="none" normalizeH="0" baseline="0" dirty="0">
                  <a:ln>
                    <a:noFill/>
                  </a:ln>
                  <a:effectLst/>
                  <a:latin typeface="Arial" pitchFamily="34" charset="0"/>
                  <a:ea typeface="宋体" pitchFamily="2" charset="-122"/>
                  <a:cs typeface="Times New Roman" pitchFamily="18" charset="0"/>
                </a:rPr>
                <a:t>…</a:t>
              </a:r>
              <a:endParaRPr kumimoji="0" lang="zh-CN" altLang="zh-CN" sz="1400" b="1" i="0" u="none" strike="noStrike" cap="none" normalizeH="0" baseline="0" dirty="0">
                <a:ln>
                  <a:noFill/>
                </a:ln>
                <a:effectLst/>
                <a:latin typeface="Arial" pitchFamily="34" charset="0"/>
                <a:ea typeface="宋体" pitchFamily="2" charset="-122"/>
                <a:cs typeface="宋体" pitchFamily="2" charset="-122"/>
              </a:endParaRPr>
            </a:p>
          </p:txBody>
        </p:sp>
        <p:sp>
          <p:nvSpPr>
            <p:cNvPr id="88" name="矩形 145"/>
            <p:cNvSpPr>
              <a:spLocks noChangeArrowheads="1"/>
            </p:cNvSpPr>
            <p:nvPr/>
          </p:nvSpPr>
          <p:spPr bwMode="auto">
            <a:xfrm>
              <a:off x="35534" y="685"/>
              <a:ext cx="5055" cy="190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1" i="0" u="none" strike="noStrike" cap="none" normalizeH="0" baseline="0" dirty="0">
                  <a:ln>
                    <a:noFill/>
                  </a:ln>
                  <a:solidFill>
                    <a:srgbClr val="0000FF"/>
                  </a:solidFill>
                  <a:effectLst/>
                  <a:latin typeface="Arial" pitchFamily="34" charset="0"/>
                  <a:ea typeface="宋体" pitchFamily="2" charset="-122"/>
                  <a:cs typeface="Times New Roman" pitchFamily="18" charset="0"/>
                </a:rPr>
                <a:t>用户层软件</a:t>
              </a:r>
              <a:endParaRPr kumimoji="0" lang="zh-CN" sz="1400" b="1" i="0" u="none" strike="noStrike" cap="none" normalizeH="0" baseline="0" dirty="0">
                <a:ln>
                  <a:noFill/>
                </a:ln>
                <a:solidFill>
                  <a:srgbClr val="0000FF"/>
                </a:solidFill>
                <a:effectLst/>
                <a:latin typeface="Arial" pitchFamily="34" charset="0"/>
                <a:ea typeface="宋体" pitchFamily="2" charset="-122"/>
                <a:cs typeface="宋体" pitchFamily="2" charset="-122"/>
              </a:endParaRPr>
            </a:p>
          </p:txBody>
        </p:sp>
        <p:sp>
          <p:nvSpPr>
            <p:cNvPr id="89" name="矩形 146"/>
            <p:cNvSpPr>
              <a:spLocks noChangeArrowheads="1"/>
            </p:cNvSpPr>
            <p:nvPr/>
          </p:nvSpPr>
          <p:spPr bwMode="auto">
            <a:xfrm>
              <a:off x="36849" y="6826"/>
              <a:ext cx="6331" cy="190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effectLst/>
                  <a:latin typeface="Arial" pitchFamily="34" charset="0"/>
                  <a:ea typeface="宋体" pitchFamily="2" charset="-122"/>
                  <a:cs typeface="Times New Roman" pitchFamily="18" charset="0"/>
                </a:rPr>
                <a:t>I/O</a:t>
              </a:r>
              <a:r>
                <a:rPr kumimoji="0" lang="zh-CN" altLang="en-US" sz="1400" b="1" i="0" u="none" strike="noStrike" cap="none" normalizeH="0" baseline="0">
                  <a:ln>
                    <a:noFill/>
                  </a:ln>
                  <a:effectLst/>
                  <a:latin typeface="Arial" pitchFamily="34" charset="0"/>
                  <a:ea typeface="宋体" pitchFamily="2" charset="-122"/>
                  <a:cs typeface="Times New Roman" pitchFamily="18" charset="0"/>
                </a:rPr>
                <a:t>系统接口</a:t>
              </a:r>
              <a:endParaRPr kumimoji="0" lang="zh-CN" altLang="en-US" sz="1400" b="1" i="0" u="none" strike="noStrike" cap="none" normalizeH="0" baseline="0">
                <a:ln>
                  <a:noFill/>
                </a:ln>
                <a:effectLst/>
                <a:latin typeface="Arial" pitchFamily="34" charset="0"/>
                <a:ea typeface="宋体" pitchFamily="2" charset="-122"/>
                <a:cs typeface="宋体" pitchFamily="2" charset="-122"/>
              </a:endParaRPr>
            </a:p>
          </p:txBody>
        </p:sp>
        <p:sp>
          <p:nvSpPr>
            <p:cNvPr id="90" name="右大括号 145410"/>
            <p:cNvSpPr>
              <a:spLocks/>
            </p:cNvSpPr>
            <p:nvPr/>
          </p:nvSpPr>
          <p:spPr bwMode="auto">
            <a:xfrm>
              <a:off x="35814" y="8712"/>
              <a:ext cx="1079" cy="3816"/>
            </a:xfrm>
            <a:prstGeom prst="rightBrace">
              <a:avLst>
                <a:gd name="adj1" fmla="val 8334"/>
                <a:gd name="adj2" fmla="val 50000"/>
              </a:avLst>
            </a:prstGeom>
            <a:noFill/>
            <a:ln w="9525">
              <a:solidFill>
                <a:srgbClr val="000000"/>
              </a:solidFill>
              <a:round/>
              <a:headEnd type="none" w="sm" len="med"/>
              <a:tailEnd type="none" w="sm" len="me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endParaRPr lang="zh-CN" altLang="en-US" sz="1400" b="1"/>
            </a:p>
          </p:txBody>
        </p:sp>
        <p:sp>
          <p:nvSpPr>
            <p:cNvPr id="91" name="矩形 148"/>
            <p:cNvSpPr>
              <a:spLocks noChangeArrowheads="1"/>
            </p:cNvSpPr>
            <p:nvPr/>
          </p:nvSpPr>
          <p:spPr bwMode="auto">
            <a:xfrm>
              <a:off x="37458" y="9645"/>
              <a:ext cx="7347" cy="190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1" i="0" u="none" strike="noStrike" cap="none" normalizeH="0" baseline="0" dirty="0">
                  <a:ln>
                    <a:noFill/>
                  </a:ln>
                  <a:solidFill>
                    <a:srgbClr val="0000FF"/>
                  </a:solidFill>
                  <a:effectLst/>
                  <a:latin typeface="Arial" pitchFamily="34" charset="0"/>
                  <a:ea typeface="宋体" pitchFamily="2" charset="-122"/>
                  <a:cs typeface="宋体" pitchFamily="2" charset="-122"/>
                </a:rPr>
                <a:t>设备独立性软件</a:t>
              </a:r>
            </a:p>
          </p:txBody>
        </p:sp>
        <p:sp>
          <p:nvSpPr>
            <p:cNvPr id="92" name="右大括号 150"/>
            <p:cNvSpPr>
              <a:spLocks/>
            </p:cNvSpPr>
            <p:nvPr/>
          </p:nvSpPr>
          <p:spPr bwMode="auto">
            <a:xfrm>
              <a:off x="34899" y="13093"/>
              <a:ext cx="1080" cy="3810"/>
            </a:xfrm>
            <a:prstGeom prst="rightBrace">
              <a:avLst>
                <a:gd name="adj1" fmla="val 8313"/>
                <a:gd name="adj2" fmla="val 50000"/>
              </a:avLst>
            </a:prstGeom>
            <a:noFill/>
            <a:ln w="9525">
              <a:solidFill>
                <a:srgbClr val="000000"/>
              </a:solidFill>
              <a:round/>
              <a:headEnd type="none" w="sm" len="med"/>
              <a:tailEnd type="none" w="sm" len="me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400" b="1" i="0" u="none" strike="noStrike" cap="none" normalizeH="0" baseline="0">
                <a:ln>
                  <a:noFill/>
                </a:ln>
                <a:effectLst/>
                <a:latin typeface="Arial" pitchFamily="34" charset="0"/>
                <a:ea typeface="宋体" pitchFamily="2" charset="-122"/>
                <a:cs typeface="宋体" pitchFamily="2" charset="-122"/>
              </a:endParaRPr>
            </a:p>
          </p:txBody>
        </p:sp>
        <p:sp>
          <p:nvSpPr>
            <p:cNvPr id="93" name="矩形 151"/>
            <p:cNvSpPr>
              <a:spLocks noChangeArrowheads="1"/>
            </p:cNvSpPr>
            <p:nvPr/>
          </p:nvSpPr>
          <p:spPr bwMode="auto">
            <a:xfrm>
              <a:off x="36544" y="14027"/>
              <a:ext cx="7340" cy="190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1" i="0" u="none" strike="noStrike" cap="none" normalizeH="0" baseline="0" dirty="0">
                  <a:ln>
                    <a:noFill/>
                  </a:ln>
                  <a:solidFill>
                    <a:srgbClr val="0000FF"/>
                  </a:solidFill>
                  <a:effectLst/>
                  <a:latin typeface="Arial" pitchFamily="34" charset="0"/>
                  <a:ea typeface="宋体" pitchFamily="2" charset="-122"/>
                  <a:cs typeface="宋体" pitchFamily="2" charset="-122"/>
                </a:rPr>
                <a:t>设备驱动程序</a:t>
              </a:r>
            </a:p>
          </p:txBody>
        </p:sp>
        <p:sp>
          <p:nvSpPr>
            <p:cNvPr id="94" name="右大括号 152"/>
            <p:cNvSpPr>
              <a:spLocks/>
            </p:cNvSpPr>
            <p:nvPr/>
          </p:nvSpPr>
          <p:spPr bwMode="auto">
            <a:xfrm>
              <a:off x="35001" y="17564"/>
              <a:ext cx="1079" cy="3810"/>
            </a:xfrm>
            <a:prstGeom prst="rightBrace">
              <a:avLst>
                <a:gd name="adj1" fmla="val 8321"/>
                <a:gd name="adj2" fmla="val 50000"/>
              </a:avLst>
            </a:prstGeom>
            <a:noFill/>
            <a:ln w="9525">
              <a:solidFill>
                <a:srgbClr val="000000"/>
              </a:solidFill>
              <a:round/>
              <a:headEnd type="none" w="sm" len="med"/>
              <a:tailEnd type="none" w="sm" len="me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effectLst/>
                  <a:latin typeface="Arial" pitchFamily="34" charset="0"/>
                  <a:ea typeface="宋体" pitchFamily="2" charset="-122"/>
                  <a:cs typeface="Times New Roman" pitchFamily="18" charset="0"/>
                </a:rPr>
                <a:t> </a:t>
              </a:r>
              <a:endParaRPr kumimoji="0" lang="en-US" altLang="zh-CN" sz="1400" b="1" i="0" u="none" strike="noStrike" cap="none" normalizeH="0" baseline="0">
                <a:ln>
                  <a:noFill/>
                </a:ln>
                <a:effectLst/>
                <a:latin typeface="Arial" pitchFamily="34" charset="0"/>
                <a:ea typeface="宋体" pitchFamily="2" charset="-122"/>
                <a:cs typeface="宋体" pitchFamily="2" charset="-122"/>
              </a:endParaRPr>
            </a:p>
          </p:txBody>
        </p:sp>
        <p:sp>
          <p:nvSpPr>
            <p:cNvPr id="95" name="矩形 153"/>
            <p:cNvSpPr>
              <a:spLocks noChangeArrowheads="1"/>
            </p:cNvSpPr>
            <p:nvPr/>
          </p:nvSpPr>
          <p:spPr bwMode="auto">
            <a:xfrm>
              <a:off x="36645" y="18497"/>
              <a:ext cx="7341" cy="190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1" i="0" u="none" strike="noStrike" cap="none" normalizeH="0" baseline="0" dirty="0">
                  <a:ln>
                    <a:noFill/>
                  </a:ln>
                  <a:solidFill>
                    <a:srgbClr val="0000FF"/>
                  </a:solidFill>
                  <a:effectLst/>
                  <a:latin typeface="Arial" pitchFamily="34" charset="0"/>
                  <a:ea typeface="宋体" pitchFamily="2" charset="-122"/>
                  <a:cs typeface="宋体" pitchFamily="2" charset="-122"/>
                </a:rPr>
                <a:t>中断处理</a:t>
              </a:r>
              <a:r>
                <a:rPr lang="zh-CN" altLang="en-US" sz="1400" b="1" dirty="0">
                  <a:solidFill>
                    <a:srgbClr val="0000FF"/>
                  </a:solidFill>
                  <a:latin typeface="Arial" pitchFamily="34" charset="0"/>
                  <a:ea typeface="宋体" pitchFamily="2" charset="-122"/>
                </a:rPr>
                <a:t>程序</a:t>
              </a:r>
            </a:p>
          </p:txBody>
        </p:sp>
        <p:sp>
          <p:nvSpPr>
            <p:cNvPr id="96" name="右大括号 154"/>
            <p:cNvSpPr>
              <a:spLocks/>
            </p:cNvSpPr>
            <p:nvPr/>
          </p:nvSpPr>
          <p:spPr bwMode="auto">
            <a:xfrm>
              <a:off x="34899" y="23444"/>
              <a:ext cx="1080" cy="3810"/>
            </a:xfrm>
            <a:prstGeom prst="rightBrace">
              <a:avLst>
                <a:gd name="adj1" fmla="val 8313"/>
                <a:gd name="adj2" fmla="val 50000"/>
              </a:avLst>
            </a:prstGeom>
            <a:noFill/>
            <a:ln w="9525">
              <a:solidFill>
                <a:srgbClr val="000000"/>
              </a:solidFill>
              <a:round/>
              <a:headEnd type="none" w="sm" len="med"/>
              <a:tailEnd type="none" w="sm" len="me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effectLst/>
                  <a:latin typeface="Arial" pitchFamily="34" charset="0"/>
                  <a:ea typeface="宋体" pitchFamily="2" charset="-122"/>
                  <a:cs typeface="Times New Roman" pitchFamily="18" charset="0"/>
                </a:rPr>
                <a:t> </a:t>
              </a:r>
              <a:endParaRPr kumimoji="0" lang="en-US" altLang="zh-CN" sz="1400" b="1" i="0" u="none" strike="noStrike" cap="none" normalizeH="0" baseline="0">
                <a:ln>
                  <a:noFill/>
                </a:ln>
                <a:effectLst/>
                <a:latin typeface="Arial" pitchFamily="34" charset="0"/>
                <a:ea typeface="宋体" pitchFamily="2" charset="-122"/>
                <a:cs typeface="宋体" pitchFamily="2" charset="-122"/>
              </a:endParaRPr>
            </a:p>
          </p:txBody>
        </p:sp>
        <p:sp>
          <p:nvSpPr>
            <p:cNvPr id="97" name="矩形 155"/>
            <p:cNvSpPr>
              <a:spLocks noChangeArrowheads="1"/>
            </p:cNvSpPr>
            <p:nvPr/>
          </p:nvSpPr>
          <p:spPr bwMode="auto">
            <a:xfrm>
              <a:off x="36544" y="24377"/>
              <a:ext cx="7340" cy="190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1" i="0" u="none" strike="noStrike" cap="none" normalizeH="0" baseline="0" dirty="0">
                  <a:ln>
                    <a:noFill/>
                  </a:ln>
                  <a:solidFill>
                    <a:srgbClr val="0000FF"/>
                  </a:solidFill>
                  <a:effectLst/>
                  <a:latin typeface="Arial" pitchFamily="34" charset="0"/>
                  <a:ea typeface="宋体" pitchFamily="2" charset="-122"/>
                  <a:cs typeface="宋体" pitchFamily="2" charset="-122"/>
                </a:rPr>
                <a:t>设备控制器</a:t>
              </a:r>
            </a:p>
          </p:txBody>
        </p:sp>
        <p:sp>
          <p:nvSpPr>
            <p:cNvPr id="98" name="矩形 156"/>
            <p:cNvSpPr>
              <a:spLocks noChangeArrowheads="1"/>
            </p:cNvSpPr>
            <p:nvPr/>
          </p:nvSpPr>
          <p:spPr bwMode="auto">
            <a:xfrm>
              <a:off x="35788" y="21590"/>
              <a:ext cx="6325" cy="190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a:ln>
                    <a:noFill/>
                  </a:ln>
                  <a:effectLst/>
                  <a:latin typeface="Arial" pitchFamily="34" charset="0"/>
                  <a:ea typeface="宋体" pitchFamily="2" charset="-122"/>
                  <a:cs typeface="Times New Roman" pitchFamily="18" charset="0"/>
                </a:rPr>
                <a:t>RW/HW</a:t>
              </a:r>
              <a:r>
                <a:rPr kumimoji="0" lang="zh-CN" altLang="en-US" sz="1400" b="1" i="0" u="none" strike="noStrike" cap="none" normalizeH="0" baseline="0" dirty="0">
                  <a:ln>
                    <a:noFill/>
                  </a:ln>
                  <a:effectLst/>
                  <a:latin typeface="Arial" pitchFamily="34" charset="0"/>
                  <a:ea typeface="宋体" pitchFamily="2" charset="-122"/>
                  <a:cs typeface="Times New Roman" pitchFamily="18" charset="0"/>
                </a:rPr>
                <a:t>接口</a:t>
              </a:r>
              <a:endParaRPr kumimoji="0" lang="zh-CN" altLang="en-US" sz="1400" b="1" i="0" u="none" strike="noStrike" cap="none" normalizeH="0" baseline="0" dirty="0">
                <a:ln>
                  <a:noFill/>
                </a:ln>
                <a:effectLst/>
                <a:latin typeface="Arial" pitchFamily="34" charset="0"/>
                <a:ea typeface="宋体" pitchFamily="2" charset="-122"/>
                <a:cs typeface="宋体" pitchFamily="2" charset="-122"/>
              </a:endParaRPr>
            </a:p>
          </p:txBody>
        </p:sp>
      </p:grpSp>
      <p:sp>
        <p:nvSpPr>
          <p:cNvPr id="99" name="TextBox 98"/>
          <p:cNvSpPr txBox="1"/>
          <p:nvPr/>
        </p:nvSpPr>
        <p:spPr>
          <a:xfrm>
            <a:off x="675640" y="593528"/>
            <a:ext cx="538480" cy="5355312"/>
          </a:xfrm>
          <a:prstGeom prst="rect">
            <a:avLst/>
          </a:prstGeom>
          <a:noFill/>
        </p:spPr>
        <p:txBody>
          <a:bodyPr wrap="square" rtlCol="0">
            <a:spAutoFit/>
          </a:bodyPr>
          <a:lstStyle/>
          <a:p>
            <a:r>
              <a:rPr lang="zh-CN" altLang="zh-CN" dirty="0"/>
              <a:t>图</a:t>
            </a:r>
            <a:r>
              <a:rPr lang="en-US" altLang="zh-CN" dirty="0"/>
              <a:t>8-1</a:t>
            </a:r>
          </a:p>
          <a:p>
            <a:r>
              <a:rPr lang="en-US" altLang="zh-CN" dirty="0"/>
              <a:t>  I/O</a:t>
            </a:r>
            <a:r>
              <a:rPr lang="zh-CN" altLang="zh-CN" dirty="0"/>
              <a:t>系统中各种模块之间的层次结构</a:t>
            </a:r>
          </a:p>
          <a:p>
            <a:endParaRPr lang="zh-CN" altLang="en-US" dirty="0"/>
          </a:p>
        </p:txBody>
      </p:sp>
      <p:sp>
        <p:nvSpPr>
          <p:cNvPr id="2" name="文本框 1">
            <a:extLst>
              <a:ext uri="{FF2B5EF4-FFF2-40B4-BE49-F238E27FC236}">
                <a16:creationId xmlns:a16="http://schemas.microsoft.com/office/drawing/2014/main" id="{141A5E2E-CB4D-4DA9-A391-F8668EDF9C14}"/>
              </a:ext>
            </a:extLst>
          </p:cNvPr>
          <p:cNvSpPr txBox="1"/>
          <p:nvPr/>
        </p:nvSpPr>
        <p:spPr>
          <a:xfrm>
            <a:off x="9912750" y="1566729"/>
            <a:ext cx="1936739" cy="523220"/>
          </a:xfrm>
          <a:prstGeom prst="rect">
            <a:avLst/>
          </a:prstGeom>
          <a:noFill/>
        </p:spPr>
        <p:txBody>
          <a:bodyPr wrap="square" rtlCol="0">
            <a:spAutoFit/>
          </a:bodyPr>
          <a:lstStyle/>
          <a:p>
            <a:r>
              <a:rPr lang="en-US" altLang="zh-CN" sz="1400" dirty="0"/>
              <a:t> I/O</a:t>
            </a:r>
            <a:r>
              <a:rPr lang="zh-CN" altLang="zh-CN" sz="1400" dirty="0"/>
              <a:t>系统接口是</a:t>
            </a:r>
            <a:r>
              <a:rPr lang="en-US" altLang="zh-CN" sz="1400" dirty="0"/>
              <a:t>I/O</a:t>
            </a:r>
            <a:r>
              <a:rPr lang="zh-CN" altLang="zh-CN" sz="1400" dirty="0"/>
              <a:t>系统与高层之间的接口</a:t>
            </a:r>
            <a:endParaRPr lang="zh-CN" altLang="en-US" sz="1400" dirty="0"/>
          </a:p>
        </p:txBody>
      </p:sp>
    </p:spTree>
    <p:custDataLst>
      <p:tags r:id="rId1"/>
    </p:custDataLst>
    <p:extLst>
      <p:ext uri="{BB962C8B-B14F-4D97-AF65-F5344CB8AC3E}">
        <p14:creationId xmlns:p14="http://schemas.microsoft.com/office/powerpoint/2010/main" val="2233447668"/>
      </p:ext>
    </p:extLst>
  </p:cSld>
  <p:clrMapOvr>
    <a:masterClrMapping/>
  </p:clrMapOvr>
  <p:transition>
    <p:random/>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a:t>
            </a:r>
            <a:r>
              <a:rPr lang="en-US" altLang="zh-CN" dirty="0"/>
              <a:t>1</a:t>
            </a:r>
            <a:r>
              <a:rPr lang="zh-CN" altLang="zh-CN" dirty="0"/>
              <a:t>）块设备接口</a:t>
            </a:r>
            <a:r>
              <a:rPr lang="en-US" altLang="zh-CN" dirty="0"/>
              <a:t> </a:t>
            </a:r>
            <a:endParaRPr lang="zh-CN" altLang="en-US" dirty="0"/>
          </a:p>
        </p:txBody>
      </p:sp>
      <p:sp>
        <p:nvSpPr>
          <p:cNvPr id="3" name="内容占位符 2"/>
          <p:cNvSpPr>
            <a:spLocks noGrp="1"/>
          </p:cNvSpPr>
          <p:nvPr>
            <p:ph idx="1"/>
          </p:nvPr>
        </p:nvSpPr>
        <p:spPr>
          <a:xfrm>
            <a:off x="608330" y="1227456"/>
            <a:ext cx="10968990" cy="3182620"/>
          </a:xfrm>
        </p:spPr>
        <p:txBody>
          <a:bodyPr/>
          <a:lstStyle/>
          <a:p>
            <a:pPr marL="0" indent="0">
              <a:buNone/>
            </a:pPr>
            <a:r>
              <a:rPr lang="zh-CN" altLang="zh-CN" dirty="0"/>
              <a:t>块设备接口是块设备管理软件与上层的接口。</a:t>
            </a:r>
            <a:endParaRPr lang="en-US" altLang="zh-CN" dirty="0"/>
          </a:p>
          <a:p>
            <a:pPr marL="0" indent="0">
              <a:buNone/>
            </a:pPr>
            <a:r>
              <a:rPr lang="zh-CN" altLang="zh-CN" dirty="0">
                <a:solidFill>
                  <a:srgbClr val="0000FF"/>
                </a:solidFill>
              </a:rPr>
              <a:t>数据传输以数据块为单位进行的设备称为块设备，最常见的是磁盘。</a:t>
            </a:r>
            <a:endParaRPr lang="en-US" altLang="zh-CN" dirty="0">
              <a:solidFill>
                <a:srgbClr val="0000FF"/>
              </a:solidFill>
            </a:endParaRPr>
          </a:p>
          <a:p>
            <a:pPr marL="0" indent="0">
              <a:buNone/>
            </a:pPr>
            <a:r>
              <a:rPr lang="zh-CN" altLang="zh-CN" dirty="0">
                <a:solidFill>
                  <a:srgbClr val="0000FF"/>
                </a:solidFill>
              </a:rPr>
              <a:t>磁盘的地址需要用磁道号和扇区号表示</a:t>
            </a:r>
            <a:r>
              <a:rPr lang="zh-CN" altLang="zh-CN" dirty="0"/>
              <a:t>，当上层发来读命令的时候，该接口会将抽象的命令</a:t>
            </a:r>
            <a:r>
              <a:rPr lang="zh-CN" altLang="zh-CN" dirty="0">
                <a:solidFill>
                  <a:srgbClr val="0000FF"/>
                </a:solidFill>
              </a:rPr>
              <a:t>转换为磁盘的盘面、磁道和扇区</a:t>
            </a:r>
            <a:r>
              <a:rPr lang="zh-CN" altLang="zh-CN" dirty="0"/>
              <a:t>。</a:t>
            </a:r>
            <a:endParaRPr lang="en-US" altLang="zh-CN" dirty="0"/>
          </a:p>
          <a:p>
            <a:pPr marL="0" indent="0">
              <a:buNone/>
            </a:pPr>
            <a:r>
              <a:rPr lang="zh-CN" altLang="zh-CN" dirty="0"/>
              <a:t>块设备的基本特征是传输速率较高、可寻址。</a:t>
            </a:r>
          </a:p>
        </p:txBody>
      </p:sp>
    </p:spTree>
    <p:custDataLst>
      <p:tags r:id="rId1"/>
    </p:custDataLst>
    <p:extLst>
      <p:ext uri="{BB962C8B-B14F-4D97-AF65-F5344CB8AC3E}">
        <p14:creationId xmlns:p14="http://schemas.microsoft.com/office/powerpoint/2010/main" val="816952389"/>
      </p:ext>
    </p:extLst>
  </p:cSld>
  <p:clrMapOvr>
    <a:masterClrMapping/>
  </p:clrMapOvr>
  <p:transition>
    <p:random/>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08330" y="1227456"/>
            <a:ext cx="10968990" cy="3411219"/>
          </a:xfrm>
        </p:spPr>
        <p:txBody>
          <a:bodyPr/>
          <a:lstStyle/>
          <a:p>
            <a:pPr marL="0" indent="0">
              <a:buNone/>
            </a:pPr>
            <a:r>
              <a:rPr lang="zh-CN" altLang="zh-CN" dirty="0"/>
              <a:t>（</a:t>
            </a:r>
            <a:r>
              <a:rPr lang="en-US" altLang="zh-CN" dirty="0"/>
              <a:t>2</a:t>
            </a:r>
            <a:r>
              <a:rPr lang="zh-CN" altLang="zh-CN" dirty="0"/>
              <a:t>）流设备接口</a:t>
            </a:r>
            <a:endParaRPr lang="en-US" altLang="zh-CN" dirty="0"/>
          </a:p>
          <a:p>
            <a:pPr marL="0" indent="0">
              <a:buNone/>
            </a:pPr>
            <a:r>
              <a:rPr lang="zh-CN" altLang="zh-CN" dirty="0">
                <a:solidFill>
                  <a:srgbClr val="0000FF"/>
                </a:solidFill>
              </a:rPr>
              <a:t>流设备接口又称字符设备接口</a:t>
            </a:r>
            <a:r>
              <a:rPr lang="zh-CN" altLang="zh-CN" dirty="0"/>
              <a:t>，是流设备管理程序与高层之间的接口。</a:t>
            </a:r>
            <a:endParaRPr lang="en-US" altLang="zh-CN" dirty="0"/>
          </a:p>
          <a:p>
            <a:pPr marL="0" indent="0">
              <a:buNone/>
            </a:pPr>
            <a:r>
              <a:rPr lang="zh-CN" altLang="zh-CN" dirty="0">
                <a:solidFill>
                  <a:srgbClr val="0000FF"/>
                </a:solidFill>
              </a:rPr>
              <a:t>传输数据以字节为单位的设备称为字符设备，也称流设备。</a:t>
            </a:r>
            <a:endParaRPr lang="en-US" altLang="zh-CN" dirty="0">
              <a:solidFill>
                <a:srgbClr val="0000FF"/>
              </a:solidFill>
            </a:endParaRPr>
          </a:p>
          <a:p>
            <a:pPr marL="0" indent="0">
              <a:buNone/>
            </a:pPr>
            <a:r>
              <a:rPr lang="zh-CN" altLang="zh-CN" dirty="0">
                <a:solidFill>
                  <a:srgbClr val="0000FF"/>
                </a:solidFill>
              </a:rPr>
              <a:t>常见的是键盘，打印机。</a:t>
            </a:r>
            <a:endParaRPr lang="en-US" altLang="zh-CN" dirty="0">
              <a:solidFill>
                <a:srgbClr val="0000FF"/>
              </a:solidFill>
            </a:endParaRPr>
          </a:p>
          <a:p>
            <a:pPr marL="0" indent="0">
              <a:buNone/>
            </a:pPr>
            <a:r>
              <a:rPr lang="zh-CN" altLang="zh-CN" dirty="0"/>
              <a:t>字符设备的基本特征是传输速率较低、不可寻址。</a:t>
            </a:r>
          </a:p>
        </p:txBody>
      </p:sp>
    </p:spTree>
    <p:custDataLst>
      <p:tags r:id="rId1"/>
    </p:custDataLst>
    <p:extLst>
      <p:ext uri="{BB962C8B-B14F-4D97-AF65-F5344CB8AC3E}">
        <p14:creationId xmlns:p14="http://schemas.microsoft.com/office/powerpoint/2010/main" val="3496620259"/>
      </p:ext>
    </p:extLst>
  </p:cSld>
  <p:clrMapOvr>
    <a:masterClrMapping/>
  </p:clrMapOvr>
  <p:transition>
    <p:random/>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3" name="内容占位符 2"/>
          <p:cNvSpPr>
            <a:spLocks noGrp="1"/>
          </p:cNvSpPr>
          <p:nvPr>
            <p:ph idx="1"/>
          </p:nvPr>
        </p:nvSpPr>
        <p:spPr>
          <a:xfrm>
            <a:off x="608330" y="1227456"/>
            <a:ext cx="10968990" cy="2325370"/>
          </a:xfrm>
        </p:spPr>
        <p:txBody>
          <a:bodyPr/>
          <a:lstStyle/>
          <a:p>
            <a:pPr marL="0" indent="0">
              <a:buNone/>
            </a:pPr>
            <a:r>
              <a:rPr lang="zh-CN" altLang="zh-CN" dirty="0"/>
              <a:t>（</a:t>
            </a:r>
            <a:r>
              <a:rPr lang="en-US" altLang="zh-CN" dirty="0"/>
              <a:t>3</a:t>
            </a:r>
            <a:r>
              <a:rPr lang="zh-CN" altLang="zh-CN" dirty="0"/>
              <a:t>）网络通信接口</a:t>
            </a:r>
            <a:endParaRPr lang="en-US" altLang="zh-CN" dirty="0"/>
          </a:p>
          <a:p>
            <a:pPr marL="0" indent="0">
              <a:buNone/>
            </a:pPr>
            <a:r>
              <a:rPr lang="zh-CN" altLang="zh-CN" dirty="0"/>
              <a:t>操作系统提供了网络通信接口，把计算机连接到网络上，以实现网络环境下的通信、网络资源管理、网络应用等特定功能。</a:t>
            </a:r>
          </a:p>
        </p:txBody>
      </p:sp>
    </p:spTree>
    <p:custDataLst>
      <p:tags r:id="rId1"/>
    </p:custDataLst>
    <p:extLst>
      <p:ext uri="{BB962C8B-B14F-4D97-AF65-F5344CB8AC3E}">
        <p14:creationId xmlns:p14="http://schemas.microsoft.com/office/powerpoint/2010/main" val="2457916493"/>
      </p:ext>
    </p:extLst>
  </p:cSld>
  <p:clrMapOvr>
    <a:masterClrMapping/>
  </p:clrMapOvr>
  <p:transition>
    <p:random/>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8.1.2 I/O设备和设备控制器</a:t>
            </a:r>
          </a:p>
        </p:txBody>
      </p:sp>
      <p:sp>
        <p:nvSpPr>
          <p:cNvPr id="3" name="内容占位符 2"/>
          <p:cNvSpPr>
            <a:spLocks noGrp="1"/>
          </p:cNvSpPr>
          <p:nvPr>
            <p:ph idx="1"/>
          </p:nvPr>
        </p:nvSpPr>
        <p:spPr>
          <a:xfrm>
            <a:off x="608330" y="1227455"/>
            <a:ext cx="10968990" cy="1515745"/>
          </a:xfrm>
        </p:spPr>
        <p:txBody>
          <a:bodyPr>
            <a:normAutofit/>
          </a:bodyPr>
          <a:lstStyle/>
          <a:p>
            <a:pPr marL="0" indent="0">
              <a:buNone/>
            </a:pPr>
            <a:r>
              <a:rPr lang="en-US" altLang="zh-CN" b="1" dirty="0"/>
              <a:t>1. I/O</a:t>
            </a:r>
            <a:r>
              <a:rPr lang="zh-CN" altLang="zh-CN" b="1" dirty="0"/>
              <a:t>设备的类型 </a:t>
            </a:r>
            <a:endParaRPr lang="zh-CN" altLang="zh-CN" dirty="0"/>
          </a:p>
          <a:p>
            <a:pPr marL="0" indent="0">
              <a:buNone/>
            </a:pPr>
            <a:r>
              <a:rPr lang="zh-CN" altLang="zh-CN" dirty="0"/>
              <a:t>从不同的角度可以对设备进行不同的分类。</a:t>
            </a:r>
          </a:p>
        </p:txBody>
      </p:sp>
      <p:sp>
        <p:nvSpPr>
          <p:cNvPr id="4" name="内容占位符 2">
            <a:extLst>
              <a:ext uri="{FF2B5EF4-FFF2-40B4-BE49-F238E27FC236}">
                <a16:creationId xmlns:a16="http://schemas.microsoft.com/office/drawing/2014/main" id="{96D7DD07-B024-4D50-B2F4-CE7A9A20E88D}"/>
              </a:ext>
            </a:extLst>
          </p:cNvPr>
          <p:cNvSpPr txBox="1">
            <a:spLocks/>
          </p:cNvSpPr>
          <p:nvPr/>
        </p:nvSpPr>
        <p:spPr>
          <a:xfrm>
            <a:off x="836930" y="2743200"/>
            <a:ext cx="6554470" cy="3106420"/>
          </a:xfrm>
          <a:prstGeom prst="rect">
            <a:avLst/>
          </a:prstGeo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Clr>
                <a:srgbClr val="2094CE"/>
              </a:buClr>
              <a:buSzPct val="80000"/>
              <a:buFont typeface="Arial" panose="020B0604020202020204" pitchFamily="34" charset="0"/>
              <a:buChar char="►"/>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Clr>
                <a:srgbClr val="FF9800"/>
              </a:buClr>
              <a:buSzPct val="90000"/>
              <a:buFont typeface="Arial" panose="020B0604020202020204" pitchFamily="34" charset="0"/>
              <a:buChar char="♦"/>
              <a:tabLst>
                <a:tab pos="1609725" algn="l"/>
              </a:tabLst>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zh-CN" altLang="en-US" dirty="0"/>
              <a:t>（</a:t>
            </a:r>
            <a:r>
              <a:rPr lang="en-US" altLang="zh-CN" dirty="0"/>
              <a:t>1</a:t>
            </a:r>
            <a:r>
              <a:rPr lang="zh-CN" altLang="en-US" dirty="0"/>
              <a:t>）按传输速率：</a:t>
            </a:r>
          </a:p>
          <a:p>
            <a:pPr marL="0" indent="0">
              <a:buFont typeface="Arial" panose="020B0604020202020204" pitchFamily="34" charset="0"/>
              <a:buNone/>
            </a:pPr>
            <a:r>
              <a:rPr lang="zh-CN" altLang="en-US" dirty="0"/>
              <a:t>	①低速设备、</a:t>
            </a:r>
          </a:p>
          <a:p>
            <a:pPr marL="0" indent="0">
              <a:buFont typeface="Arial" panose="020B0604020202020204" pitchFamily="34" charset="0"/>
              <a:buNone/>
            </a:pPr>
            <a:r>
              <a:rPr lang="zh-CN" altLang="en-US" dirty="0"/>
              <a:t>	②中速设备、</a:t>
            </a:r>
          </a:p>
          <a:p>
            <a:pPr marL="0" indent="0">
              <a:buFont typeface="Arial" panose="020B0604020202020204" pitchFamily="34" charset="0"/>
              <a:buNone/>
            </a:pPr>
            <a:r>
              <a:rPr lang="zh-CN" altLang="en-US" dirty="0"/>
              <a:t>	③高速设备。</a:t>
            </a:r>
          </a:p>
        </p:txBody>
      </p:sp>
    </p:spTree>
    <p:custDataLst>
      <p:tags r:id="rId1"/>
    </p:custDataLst>
    <p:extLst>
      <p:ext uri="{BB962C8B-B14F-4D97-AF65-F5344CB8AC3E}">
        <p14:creationId xmlns:p14="http://schemas.microsoft.com/office/powerpoint/2010/main" val="2042575531"/>
      </p:ext>
    </p:extLst>
  </p:cSld>
  <p:clrMapOvr>
    <a:masterClrMapping/>
  </p:clrMapOvr>
  <p:transition>
    <p:random/>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 I/O</a:t>
            </a:r>
            <a:r>
              <a:rPr lang="zh-CN" altLang="zh-CN" dirty="0"/>
              <a:t>设备的类型 </a:t>
            </a:r>
          </a:p>
        </p:txBody>
      </p:sp>
      <p:sp>
        <p:nvSpPr>
          <p:cNvPr id="3" name="内容占位符 2"/>
          <p:cNvSpPr>
            <a:spLocks noGrp="1"/>
          </p:cNvSpPr>
          <p:nvPr>
            <p:ph idx="1"/>
          </p:nvPr>
        </p:nvSpPr>
        <p:spPr>
          <a:xfrm>
            <a:off x="608330" y="1227456"/>
            <a:ext cx="5182870" cy="1868170"/>
          </a:xfrm>
        </p:spPr>
        <p:txBody>
          <a:bodyPr>
            <a:normAutofit/>
          </a:bodyPr>
          <a:lstStyle/>
          <a:p>
            <a:pPr marL="0" indent="0">
              <a:buNone/>
            </a:pPr>
            <a:r>
              <a:rPr lang="zh-CN" altLang="zh-CN" dirty="0"/>
              <a:t>（</a:t>
            </a:r>
            <a:r>
              <a:rPr lang="en-US" altLang="zh-CN" dirty="0"/>
              <a:t>2</a:t>
            </a:r>
            <a:r>
              <a:rPr lang="zh-CN" altLang="zh-CN" dirty="0"/>
              <a:t>）按设备的使用特性</a:t>
            </a:r>
            <a:r>
              <a:rPr lang="zh-CN" altLang="en-US" dirty="0"/>
              <a:t>：</a:t>
            </a:r>
            <a:endParaRPr lang="en-US" altLang="zh-CN" dirty="0"/>
          </a:p>
          <a:p>
            <a:pPr marL="0" indent="0">
              <a:buNone/>
            </a:pPr>
            <a:r>
              <a:rPr lang="en-US" altLang="zh-CN" dirty="0"/>
              <a:t>	①</a:t>
            </a:r>
            <a:r>
              <a:rPr lang="zh-CN" altLang="zh-CN" dirty="0"/>
              <a:t>存储设备</a:t>
            </a:r>
            <a:r>
              <a:rPr lang="zh-CN" altLang="en-US" dirty="0"/>
              <a:t>、</a:t>
            </a:r>
            <a:endParaRPr lang="en-US" altLang="zh-CN" dirty="0"/>
          </a:p>
          <a:p>
            <a:pPr marL="0" indent="0">
              <a:buNone/>
            </a:pPr>
            <a:r>
              <a:rPr lang="en-US" altLang="zh-CN" dirty="0"/>
              <a:t>	②I/O</a:t>
            </a:r>
            <a:r>
              <a:rPr lang="zh-CN" altLang="zh-CN" dirty="0"/>
              <a:t>设备。</a:t>
            </a:r>
            <a:endParaRPr lang="en-US" altLang="zh-CN" dirty="0"/>
          </a:p>
        </p:txBody>
      </p:sp>
      <p:sp>
        <p:nvSpPr>
          <p:cNvPr id="4" name="内容占位符 2">
            <a:extLst>
              <a:ext uri="{FF2B5EF4-FFF2-40B4-BE49-F238E27FC236}">
                <a16:creationId xmlns:a16="http://schemas.microsoft.com/office/drawing/2014/main" id="{E2648CDA-D9EE-43AC-A2AB-0D5CD1F66019}"/>
              </a:ext>
            </a:extLst>
          </p:cNvPr>
          <p:cNvSpPr txBox="1">
            <a:spLocks/>
          </p:cNvSpPr>
          <p:nvPr/>
        </p:nvSpPr>
        <p:spPr>
          <a:xfrm>
            <a:off x="608330" y="3494406"/>
            <a:ext cx="4849495" cy="1990408"/>
          </a:xfrm>
          <a:prstGeom prst="rect">
            <a:avLst/>
          </a:prstGeo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Clr>
                <a:srgbClr val="2094CE"/>
              </a:buClr>
              <a:buSzPct val="80000"/>
              <a:buFont typeface="Arial" panose="020B0604020202020204" pitchFamily="34" charset="0"/>
              <a:buChar char="►"/>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Clr>
                <a:srgbClr val="FF9800"/>
              </a:buClr>
              <a:buSzPct val="90000"/>
              <a:buFont typeface="Arial" panose="020B0604020202020204" pitchFamily="34" charset="0"/>
              <a:buChar char="♦"/>
              <a:tabLst>
                <a:tab pos="1609725" algn="l"/>
              </a:tabLst>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zh-CN" altLang="en-US"/>
              <a:t>（</a:t>
            </a:r>
            <a:r>
              <a:rPr lang="en-US" altLang="zh-CN"/>
              <a:t>3</a:t>
            </a:r>
            <a:r>
              <a:rPr lang="zh-CN" altLang="en-US"/>
              <a:t>）按信息交换的单位：</a:t>
            </a:r>
          </a:p>
          <a:p>
            <a:pPr marL="0" indent="0">
              <a:buFont typeface="Arial" panose="020B0604020202020204" pitchFamily="34" charset="0"/>
              <a:buNone/>
            </a:pPr>
            <a:r>
              <a:rPr lang="zh-CN" altLang="en-US"/>
              <a:t>	 ①块设备、</a:t>
            </a:r>
          </a:p>
          <a:p>
            <a:pPr marL="0" indent="0">
              <a:buFont typeface="Arial" panose="020B0604020202020204" pitchFamily="34" charset="0"/>
              <a:buNone/>
            </a:pPr>
            <a:r>
              <a:rPr lang="zh-CN" altLang="en-US"/>
              <a:t>	 ②字符设备。</a:t>
            </a:r>
          </a:p>
        </p:txBody>
      </p:sp>
    </p:spTree>
    <p:custDataLst>
      <p:tags r:id="rId1"/>
    </p:custDataLst>
    <p:extLst>
      <p:ext uri="{BB962C8B-B14F-4D97-AF65-F5344CB8AC3E}">
        <p14:creationId xmlns:p14="http://schemas.microsoft.com/office/powerpoint/2010/main" val="2501732877"/>
      </p:ext>
    </p:extLst>
  </p:cSld>
  <p:clrMapOvr>
    <a:masterClrMapping/>
  </p:clrMapOvr>
  <p:transition>
    <p:random/>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 I/O</a:t>
            </a:r>
            <a:r>
              <a:rPr lang="zh-CN" altLang="zh-CN" dirty="0"/>
              <a:t>设备的类型 </a:t>
            </a:r>
          </a:p>
        </p:txBody>
      </p:sp>
      <p:sp>
        <p:nvSpPr>
          <p:cNvPr id="3" name="内容占位符 2"/>
          <p:cNvSpPr>
            <a:spLocks noGrp="1"/>
          </p:cNvSpPr>
          <p:nvPr>
            <p:ph idx="1"/>
          </p:nvPr>
        </p:nvSpPr>
        <p:spPr/>
        <p:txBody>
          <a:bodyPr>
            <a:normAutofit/>
          </a:bodyPr>
          <a:lstStyle/>
          <a:p>
            <a:pPr marL="0" indent="0">
              <a:buNone/>
            </a:pPr>
            <a:r>
              <a:rPr lang="zh-CN" altLang="en-US" dirty="0"/>
              <a:t>（</a:t>
            </a:r>
            <a:r>
              <a:rPr lang="en-US" altLang="zh-CN" dirty="0"/>
              <a:t>4</a:t>
            </a:r>
            <a:r>
              <a:rPr lang="zh-CN" altLang="en-US" dirty="0"/>
              <a:t>）按设备的共享属性：</a:t>
            </a:r>
            <a:endParaRPr lang="en-US" altLang="zh-CN" dirty="0"/>
          </a:p>
          <a:p>
            <a:pPr marL="0" indent="0">
              <a:buNone/>
            </a:pPr>
            <a:r>
              <a:rPr lang="en-US" altLang="zh-CN" dirty="0"/>
              <a:t>	</a:t>
            </a:r>
            <a:r>
              <a:rPr lang="zh-CN" altLang="en-US" dirty="0"/>
              <a:t>①独占设备、</a:t>
            </a:r>
            <a:endParaRPr lang="en-US" altLang="zh-CN" dirty="0"/>
          </a:p>
          <a:p>
            <a:pPr marL="0" indent="0">
              <a:buNone/>
            </a:pPr>
            <a:r>
              <a:rPr lang="en-US" altLang="zh-CN" dirty="0"/>
              <a:t>	</a:t>
            </a:r>
            <a:r>
              <a:rPr lang="zh-CN" altLang="en-US" dirty="0"/>
              <a:t>②共享设备、</a:t>
            </a:r>
            <a:endParaRPr lang="en-US" altLang="zh-CN" dirty="0"/>
          </a:p>
          <a:p>
            <a:pPr marL="0" indent="0">
              <a:buNone/>
            </a:pPr>
            <a:r>
              <a:rPr lang="en-US" altLang="zh-CN" dirty="0"/>
              <a:t>	</a:t>
            </a:r>
            <a:r>
              <a:rPr lang="zh-CN" altLang="en-US" dirty="0"/>
              <a:t>③虚拟设备。</a:t>
            </a:r>
            <a:endParaRPr lang="zh-CN" altLang="zh-CN" dirty="0"/>
          </a:p>
        </p:txBody>
      </p:sp>
    </p:spTree>
    <p:custDataLst>
      <p:tags r:id="rId1"/>
    </p:custDataLst>
    <p:extLst>
      <p:ext uri="{BB962C8B-B14F-4D97-AF65-F5344CB8AC3E}">
        <p14:creationId xmlns:p14="http://schemas.microsoft.com/office/powerpoint/2010/main" val="2921843861"/>
      </p:ext>
    </p:extLst>
  </p:cSld>
  <p:clrMapOvr>
    <a:masterClrMapping/>
  </p:clrMapOvr>
  <p:transition>
    <p:random/>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 </a:t>
            </a:r>
            <a:r>
              <a:rPr lang="zh-CN" altLang="zh-CN" dirty="0"/>
              <a:t>设备控制器</a:t>
            </a:r>
          </a:p>
        </p:txBody>
      </p:sp>
      <p:sp>
        <p:nvSpPr>
          <p:cNvPr id="3" name="内容占位符 2"/>
          <p:cNvSpPr>
            <a:spLocks noGrp="1"/>
          </p:cNvSpPr>
          <p:nvPr>
            <p:ph idx="1"/>
          </p:nvPr>
        </p:nvSpPr>
        <p:spPr>
          <a:xfrm>
            <a:off x="608330" y="1227455"/>
            <a:ext cx="10859770" cy="3058795"/>
          </a:xfrm>
        </p:spPr>
        <p:txBody>
          <a:bodyPr/>
          <a:lstStyle/>
          <a:p>
            <a:pPr marL="0" indent="0">
              <a:buNone/>
            </a:pPr>
            <a:r>
              <a:rPr lang="zh-CN" altLang="zh-CN" dirty="0"/>
              <a:t>通常，</a:t>
            </a:r>
            <a:r>
              <a:rPr lang="en-US" altLang="zh-CN" dirty="0"/>
              <a:t>CPU</a:t>
            </a:r>
            <a:r>
              <a:rPr lang="zh-CN" altLang="zh-CN" dirty="0"/>
              <a:t>不是直接与设备通信，而是与设备控制器通信。</a:t>
            </a:r>
            <a:endParaRPr lang="en-US" altLang="zh-CN" dirty="0"/>
          </a:p>
          <a:p>
            <a:pPr marL="0" indent="0">
              <a:buNone/>
            </a:pPr>
            <a:r>
              <a:rPr lang="zh-CN" altLang="zh-CN" dirty="0">
                <a:solidFill>
                  <a:srgbClr val="0000FF"/>
                </a:solidFill>
              </a:rPr>
              <a:t>设备控制器是</a:t>
            </a:r>
            <a:r>
              <a:rPr lang="en-US" altLang="zh-CN" dirty="0">
                <a:solidFill>
                  <a:srgbClr val="0000FF"/>
                </a:solidFill>
              </a:rPr>
              <a:t>CPU</a:t>
            </a:r>
            <a:r>
              <a:rPr lang="zh-CN" altLang="zh-CN" dirty="0">
                <a:solidFill>
                  <a:srgbClr val="0000FF"/>
                </a:solidFill>
              </a:rPr>
              <a:t>与</a:t>
            </a:r>
            <a:r>
              <a:rPr lang="en-US" altLang="zh-CN" dirty="0">
                <a:solidFill>
                  <a:srgbClr val="0000FF"/>
                </a:solidFill>
              </a:rPr>
              <a:t>I/O</a:t>
            </a:r>
            <a:r>
              <a:rPr lang="zh-CN" altLang="zh-CN" dirty="0">
                <a:solidFill>
                  <a:srgbClr val="0000FF"/>
                </a:solidFill>
              </a:rPr>
              <a:t>设备之间的接口，它接收从</a:t>
            </a:r>
            <a:r>
              <a:rPr lang="en-US" altLang="zh-CN" dirty="0">
                <a:solidFill>
                  <a:srgbClr val="0000FF"/>
                </a:solidFill>
              </a:rPr>
              <a:t>CPU</a:t>
            </a:r>
            <a:r>
              <a:rPr lang="zh-CN" altLang="zh-CN" dirty="0">
                <a:solidFill>
                  <a:srgbClr val="0000FF"/>
                </a:solidFill>
              </a:rPr>
              <a:t>发来的命令，并去控制</a:t>
            </a:r>
            <a:r>
              <a:rPr lang="en-US" altLang="zh-CN" dirty="0">
                <a:solidFill>
                  <a:srgbClr val="0000FF"/>
                </a:solidFill>
              </a:rPr>
              <a:t>I/O</a:t>
            </a:r>
            <a:r>
              <a:rPr lang="zh-CN" altLang="zh-CN" dirty="0">
                <a:solidFill>
                  <a:srgbClr val="0000FF"/>
                </a:solidFill>
              </a:rPr>
              <a:t>设备工作。</a:t>
            </a:r>
            <a:endParaRPr lang="en-US" altLang="zh-CN" dirty="0">
              <a:solidFill>
                <a:srgbClr val="0000FF"/>
              </a:solidFill>
            </a:endParaRPr>
          </a:p>
          <a:p>
            <a:pPr marL="0" indent="0">
              <a:buNone/>
            </a:pPr>
            <a:r>
              <a:rPr lang="zh-CN" altLang="zh-CN" dirty="0"/>
              <a:t>它是一个</a:t>
            </a:r>
            <a:r>
              <a:rPr lang="zh-CN" altLang="zh-CN" dirty="0">
                <a:solidFill>
                  <a:srgbClr val="0000FF"/>
                </a:solidFill>
              </a:rPr>
              <a:t>可编址</a:t>
            </a:r>
            <a:r>
              <a:rPr lang="zh-CN" altLang="zh-CN" dirty="0"/>
              <a:t>设备，当仅控制一个设备时，只有一个唯一的设备地址，若控制器连接了多个设备时，就应该具有多个设备地址。</a:t>
            </a:r>
          </a:p>
        </p:txBody>
      </p:sp>
    </p:spTree>
    <p:custDataLst>
      <p:tags r:id="rId1"/>
    </p:custDataLst>
    <p:extLst>
      <p:ext uri="{BB962C8B-B14F-4D97-AF65-F5344CB8AC3E}">
        <p14:creationId xmlns:p14="http://schemas.microsoft.com/office/powerpoint/2010/main" val="3699987680"/>
      </p:ext>
    </p:extLst>
  </p:cSld>
  <p:clrMapOvr>
    <a:masterClrMapping/>
  </p:clrMapOvr>
  <p:transition>
    <p:random/>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zh-CN" dirty="0"/>
              <a:t>（</a:t>
            </a:r>
            <a:r>
              <a:rPr lang="en-US" altLang="zh-CN" dirty="0"/>
              <a:t>1</a:t>
            </a:r>
            <a:r>
              <a:rPr lang="zh-CN" altLang="zh-CN" dirty="0"/>
              <a:t>）设备控制器的功能</a:t>
            </a:r>
            <a:endParaRPr lang="zh-CN" altLang="en-US" dirty="0"/>
          </a:p>
        </p:txBody>
      </p:sp>
      <p:sp>
        <p:nvSpPr>
          <p:cNvPr id="3" name="内容占位符 2"/>
          <p:cNvSpPr>
            <a:spLocks noGrp="1"/>
          </p:cNvSpPr>
          <p:nvPr>
            <p:ph idx="1"/>
          </p:nvPr>
        </p:nvSpPr>
        <p:spPr>
          <a:xfrm>
            <a:off x="608330" y="1227456"/>
            <a:ext cx="10968990" cy="1228726"/>
          </a:xfrm>
        </p:spPr>
        <p:txBody>
          <a:bodyPr/>
          <a:lstStyle/>
          <a:p>
            <a:pPr marL="0" indent="0">
              <a:buNone/>
            </a:pPr>
            <a:r>
              <a:rPr lang="en-US" altLang="zh-CN" dirty="0"/>
              <a:t>①</a:t>
            </a:r>
            <a:r>
              <a:rPr lang="zh-CN" altLang="zh-CN" dirty="0"/>
              <a:t>接收和识别来自</a:t>
            </a:r>
            <a:r>
              <a:rPr lang="en-US" altLang="zh-CN" dirty="0"/>
              <a:t>CPU</a:t>
            </a:r>
            <a:r>
              <a:rPr lang="zh-CN" altLang="zh-CN" dirty="0"/>
              <a:t>的各种指令。</a:t>
            </a:r>
            <a:endParaRPr lang="en-US" altLang="zh-CN" dirty="0"/>
          </a:p>
          <a:p>
            <a:pPr marL="0" indent="0">
              <a:buNone/>
            </a:pPr>
            <a:r>
              <a:rPr lang="en-US" altLang="zh-CN" dirty="0"/>
              <a:t>②</a:t>
            </a:r>
            <a:r>
              <a:rPr lang="zh-CN" altLang="zh-CN" dirty="0"/>
              <a:t>数据传输。</a:t>
            </a:r>
          </a:p>
        </p:txBody>
      </p:sp>
      <p:sp>
        <p:nvSpPr>
          <p:cNvPr id="4" name="内容占位符 2">
            <a:extLst>
              <a:ext uri="{FF2B5EF4-FFF2-40B4-BE49-F238E27FC236}">
                <a16:creationId xmlns:a16="http://schemas.microsoft.com/office/drawing/2014/main" id="{689AA32C-183D-4050-A2BD-F8860BBB9099}"/>
              </a:ext>
            </a:extLst>
          </p:cNvPr>
          <p:cNvSpPr txBox="1">
            <a:spLocks/>
          </p:cNvSpPr>
          <p:nvPr/>
        </p:nvSpPr>
        <p:spPr>
          <a:xfrm>
            <a:off x="608330" y="2456181"/>
            <a:ext cx="10564495" cy="1087120"/>
          </a:xfrm>
          <a:prstGeom prst="rect">
            <a:avLst/>
          </a:prstGeo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Clr>
                <a:srgbClr val="2094CE"/>
              </a:buClr>
              <a:buSzPct val="80000"/>
              <a:buFont typeface="Arial" panose="020B0604020202020204" pitchFamily="34" charset="0"/>
              <a:buChar char="►"/>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Clr>
                <a:srgbClr val="FF9800"/>
              </a:buClr>
              <a:buSzPct val="90000"/>
              <a:buFont typeface="Arial" panose="020B0604020202020204" pitchFamily="34" charset="0"/>
              <a:buChar char="♦"/>
              <a:tabLst>
                <a:tab pos="1609725" algn="l"/>
              </a:tabLst>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zh-CN" altLang="en-US" dirty="0"/>
              <a:t>③记录设备的状态。 在控制器中设置一个</a:t>
            </a:r>
            <a:r>
              <a:rPr lang="zh-CN" altLang="en-US" dirty="0">
                <a:solidFill>
                  <a:srgbClr val="0000FF"/>
                </a:solidFill>
              </a:rPr>
              <a:t>状态寄存器</a:t>
            </a:r>
            <a:r>
              <a:rPr lang="zh-CN" altLang="en-US" dirty="0"/>
              <a:t>，保存设备的当前状态，</a:t>
            </a:r>
            <a:r>
              <a:rPr lang="en-US" altLang="zh-CN" dirty="0"/>
              <a:t>CPU</a:t>
            </a:r>
            <a:r>
              <a:rPr lang="zh-CN" altLang="en-US" dirty="0"/>
              <a:t>可以通过访问该寄存器来了解设备的状态。</a:t>
            </a:r>
          </a:p>
        </p:txBody>
      </p:sp>
      <p:sp>
        <p:nvSpPr>
          <p:cNvPr id="5" name="内容占位符 2">
            <a:extLst>
              <a:ext uri="{FF2B5EF4-FFF2-40B4-BE49-F238E27FC236}">
                <a16:creationId xmlns:a16="http://schemas.microsoft.com/office/drawing/2014/main" id="{1A281009-3799-48F1-B0C3-AAC82AA8C99D}"/>
              </a:ext>
            </a:extLst>
          </p:cNvPr>
          <p:cNvSpPr txBox="1">
            <a:spLocks/>
          </p:cNvSpPr>
          <p:nvPr/>
        </p:nvSpPr>
        <p:spPr>
          <a:xfrm>
            <a:off x="608330" y="3561081"/>
            <a:ext cx="7250880" cy="840738"/>
          </a:xfrm>
          <a:prstGeom prst="rect">
            <a:avLst/>
          </a:prstGeo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Clr>
                <a:srgbClr val="2094CE"/>
              </a:buClr>
              <a:buSzPct val="80000"/>
              <a:buFont typeface="Arial" panose="020B0604020202020204" pitchFamily="34" charset="0"/>
              <a:buChar char="►"/>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Clr>
                <a:srgbClr val="FF9800"/>
              </a:buClr>
              <a:buSzPct val="90000"/>
              <a:buFont typeface="Arial" panose="020B0604020202020204" pitchFamily="34" charset="0"/>
              <a:buChar char="♦"/>
              <a:tabLst>
                <a:tab pos="1609725" algn="l"/>
              </a:tabLst>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zh-CN" altLang="en-US" dirty="0"/>
              <a:t>④识别设备地址和寄存器地址。</a:t>
            </a:r>
            <a:r>
              <a:rPr lang="en-US" altLang="zh-CN" dirty="0"/>
              <a:t> </a:t>
            </a:r>
            <a:endParaRPr lang="zh-CN" altLang="en-US" dirty="0"/>
          </a:p>
        </p:txBody>
      </p:sp>
    </p:spTree>
    <p:custDataLst>
      <p:tags r:id="rId1"/>
    </p:custDataLst>
    <p:extLst>
      <p:ext uri="{BB962C8B-B14F-4D97-AF65-F5344CB8AC3E}">
        <p14:creationId xmlns:p14="http://schemas.microsoft.com/office/powerpoint/2010/main" val="1659733813"/>
      </p:ext>
    </p:extLst>
  </p:cSld>
  <p:clrMapOvr>
    <a:masterClrMapping/>
  </p:clrMapOvr>
  <p:transition>
    <p:random/>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a:t>
            </a:r>
            <a:r>
              <a:rPr lang="en-US" altLang="zh-CN" dirty="0"/>
              <a:t>1</a:t>
            </a:r>
            <a:r>
              <a:rPr lang="zh-CN" altLang="zh-CN" dirty="0"/>
              <a:t>）设备控制器的功能</a:t>
            </a:r>
            <a:endParaRPr lang="zh-CN" altLang="en-US" dirty="0"/>
          </a:p>
        </p:txBody>
      </p:sp>
      <p:sp>
        <p:nvSpPr>
          <p:cNvPr id="3" name="内容占位符 2"/>
          <p:cNvSpPr>
            <a:spLocks noGrp="1"/>
          </p:cNvSpPr>
          <p:nvPr>
            <p:ph idx="1"/>
          </p:nvPr>
        </p:nvSpPr>
        <p:spPr>
          <a:xfrm>
            <a:off x="608330" y="1227456"/>
            <a:ext cx="10968990" cy="1677670"/>
          </a:xfrm>
        </p:spPr>
        <p:txBody>
          <a:bodyPr/>
          <a:lstStyle/>
          <a:p>
            <a:pPr marL="0" indent="0">
              <a:buNone/>
            </a:pPr>
            <a:r>
              <a:rPr lang="en-US" altLang="zh-CN" dirty="0"/>
              <a:t>⑤</a:t>
            </a:r>
            <a:r>
              <a:rPr lang="zh-CN" altLang="zh-CN" dirty="0"/>
              <a:t>数据缓冲。</a:t>
            </a:r>
            <a:r>
              <a:rPr lang="en-US" altLang="zh-CN" dirty="0"/>
              <a:t>I/O</a:t>
            </a:r>
            <a:r>
              <a:rPr lang="zh-CN" altLang="zh-CN" dirty="0"/>
              <a:t>设备的传输速率一般较低，</a:t>
            </a:r>
            <a:r>
              <a:rPr lang="en-US" altLang="zh-CN" dirty="0"/>
              <a:t>CPU</a:t>
            </a:r>
            <a:r>
              <a:rPr lang="zh-CN" altLang="zh-CN" dirty="0"/>
              <a:t>和内存的传输速率</a:t>
            </a:r>
            <a:r>
              <a:rPr lang="zh-CN" altLang="en-US" dirty="0"/>
              <a:t>要</a:t>
            </a:r>
            <a:r>
              <a:rPr lang="zh-CN" altLang="zh-CN" dirty="0"/>
              <a:t>高得多，所以在控制器中必须设置缓冲区。</a:t>
            </a:r>
          </a:p>
        </p:txBody>
      </p:sp>
      <p:sp>
        <p:nvSpPr>
          <p:cNvPr id="4" name="内容占位符 2">
            <a:extLst>
              <a:ext uri="{FF2B5EF4-FFF2-40B4-BE49-F238E27FC236}">
                <a16:creationId xmlns:a16="http://schemas.microsoft.com/office/drawing/2014/main" id="{814EFA91-96A4-4D63-A15B-66E37BB9A787}"/>
              </a:ext>
            </a:extLst>
          </p:cNvPr>
          <p:cNvSpPr txBox="1">
            <a:spLocks/>
          </p:cNvSpPr>
          <p:nvPr/>
        </p:nvSpPr>
        <p:spPr>
          <a:xfrm>
            <a:off x="608330" y="3380106"/>
            <a:ext cx="10688320" cy="1886375"/>
          </a:xfrm>
          <a:prstGeom prst="rect">
            <a:avLst/>
          </a:prstGeo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Clr>
                <a:srgbClr val="2094CE"/>
              </a:buClr>
              <a:buSzPct val="80000"/>
              <a:buFont typeface="Arial" panose="020B0604020202020204" pitchFamily="34" charset="0"/>
              <a:buChar char="►"/>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Clr>
                <a:srgbClr val="FF9800"/>
              </a:buClr>
              <a:buSzPct val="90000"/>
              <a:buFont typeface="Arial" panose="020B0604020202020204" pitchFamily="34" charset="0"/>
              <a:buChar char="♦"/>
              <a:tabLst>
                <a:tab pos="1609725" algn="l"/>
              </a:tabLst>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zh-CN" altLang="en-US" dirty="0"/>
              <a:t>⑥差错控制。对</a:t>
            </a:r>
            <a:r>
              <a:rPr lang="en-US" altLang="zh-CN" dirty="0"/>
              <a:t>I/O</a:t>
            </a:r>
            <a:r>
              <a:rPr lang="zh-CN" altLang="en-US" dirty="0"/>
              <a:t>设备传送来的数据进行差错检测。如果发现传送中出现错误，则将差错检测码置位，并向</a:t>
            </a:r>
            <a:r>
              <a:rPr lang="en-US" altLang="zh-CN" dirty="0"/>
              <a:t>CPU</a:t>
            </a:r>
            <a:r>
              <a:rPr lang="zh-CN" altLang="en-US" dirty="0"/>
              <a:t>报告，</a:t>
            </a:r>
            <a:r>
              <a:rPr lang="en-US" altLang="zh-CN" dirty="0"/>
              <a:t>CPU</a:t>
            </a:r>
            <a:r>
              <a:rPr lang="zh-CN" altLang="en-US" dirty="0"/>
              <a:t>将本次传送来的数据作废，并重新进行一次传送。</a:t>
            </a:r>
          </a:p>
        </p:txBody>
      </p:sp>
    </p:spTree>
    <p:custDataLst>
      <p:tags r:id="rId1"/>
    </p:custDataLst>
    <p:extLst>
      <p:ext uri="{BB962C8B-B14F-4D97-AF65-F5344CB8AC3E}">
        <p14:creationId xmlns:p14="http://schemas.microsoft.com/office/powerpoint/2010/main" val="2668709762"/>
      </p:ext>
    </p:extLst>
  </p:cSld>
  <p:clrMapOvr>
    <a:masterClrMapping/>
  </p:clrMapOvr>
  <p:transition>
    <p:random/>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zh-CN" dirty="0"/>
              <a:t>（</a:t>
            </a:r>
            <a:r>
              <a:rPr lang="en-US" altLang="zh-CN" dirty="0"/>
              <a:t>2</a:t>
            </a:r>
            <a:r>
              <a:rPr lang="zh-CN" altLang="zh-CN" dirty="0"/>
              <a:t>）设备控制器的组成</a:t>
            </a:r>
            <a:endParaRPr lang="zh-CN" altLang="en-US" dirty="0"/>
          </a:p>
        </p:txBody>
      </p:sp>
      <p:sp>
        <p:nvSpPr>
          <p:cNvPr id="3" name="内容占位符 2"/>
          <p:cNvSpPr>
            <a:spLocks noGrp="1"/>
          </p:cNvSpPr>
          <p:nvPr>
            <p:ph idx="1"/>
          </p:nvPr>
        </p:nvSpPr>
        <p:spPr/>
        <p:txBody>
          <a:bodyPr>
            <a:normAutofit/>
          </a:bodyPr>
          <a:lstStyle/>
          <a:p>
            <a:pPr marL="0" indent="0">
              <a:buNone/>
            </a:pPr>
            <a:r>
              <a:rPr lang="zh-CN" altLang="zh-CN" dirty="0"/>
              <a:t>设备控制器</a:t>
            </a:r>
            <a:r>
              <a:rPr lang="zh-CN" altLang="en-US" dirty="0"/>
              <a:t>一般由三部分组成：</a:t>
            </a:r>
            <a:endParaRPr lang="en-US" altLang="zh-CN" dirty="0"/>
          </a:p>
          <a:p>
            <a:pPr marL="0" indent="0">
              <a:buNone/>
            </a:pPr>
            <a:r>
              <a:rPr lang="en-US" altLang="zh-CN" dirty="0"/>
              <a:t>	1) </a:t>
            </a:r>
            <a:r>
              <a:rPr lang="zh-CN" altLang="zh-CN" dirty="0"/>
              <a:t>设备控制器与</a:t>
            </a:r>
            <a:r>
              <a:rPr lang="en-US" altLang="zh-CN" dirty="0"/>
              <a:t>CPU</a:t>
            </a:r>
            <a:r>
              <a:rPr lang="zh-CN" altLang="zh-CN" dirty="0"/>
              <a:t>的接口</a:t>
            </a:r>
            <a:endParaRPr lang="en-US" altLang="zh-CN" dirty="0"/>
          </a:p>
          <a:p>
            <a:pPr marL="0" indent="0">
              <a:buNone/>
            </a:pPr>
            <a:r>
              <a:rPr lang="en-US" altLang="zh-CN" dirty="0"/>
              <a:t>	2) </a:t>
            </a:r>
            <a:r>
              <a:rPr lang="zh-CN" altLang="zh-CN" dirty="0"/>
              <a:t>设备控制器与设备的接口</a:t>
            </a:r>
            <a:endParaRPr lang="en-US" altLang="zh-CN" dirty="0"/>
          </a:p>
          <a:p>
            <a:pPr marL="0" indent="0">
              <a:buNone/>
            </a:pPr>
            <a:r>
              <a:rPr lang="en-US" altLang="zh-CN" dirty="0"/>
              <a:t>	3) I/O</a:t>
            </a:r>
            <a:r>
              <a:rPr lang="zh-CN" altLang="zh-CN" dirty="0"/>
              <a:t>逻辑</a:t>
            </a:r>
            <a:endParaRPr lang="zh-CN" altLang="en-US" dirty="0"/>
          </a:p>
        </p:txBody>
      </p:sp>
      <p:sp>
        <p:nvSpPr>
          <p:cNvPr id="5"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custDataLst>
      <p:tags r:id="rId1"/>
    </p:custDataLst>
    <p:extLst>
      <p:ext uri="{BB962C8B-B14F-4D97-AF65-F5344CB8AC3E}">
        <p14:creationId xmlns:p14="http://schemas.microsoft.com/office/powerpoint/2010/main" val="2347588705"/>
      </p:ext>
    </p:extLst>
  </p:cSld>
  <p:clrMapOvr>
    <a:masterClrMapping/>
  </p:clrMapOvr>
  <p:transition>
    <p:random/>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zh-CN" dirty="0"/>
              <a:t>（</a:t>
            </a:r>
            <a:r>
              <a:rPr lang="en-US" altLang="zh-CN" dirty="0"/>
              <a:t>2</a:t>
            </a:r>
            <a:r>
              <a:rPr lang="zh-CN" altLang="zh-CN" dirty="0"/>
              <a:t>）设备控制器的组成</a:t>
            </a:r>
            <a:endParaRPr lang="zh-CN" altLang="en-US" dirty="0"/>
          </a:p>
        </p:txBody>
      </p:sp>
      <p:sp>
        <p:nvSpPr>
          <p:cNvPr id="5"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6" name="对象 5"/>
          <p:cNvGraphicFramePr>
            <a:graphicFrameLocks noChangeAspect="1"/>
          </p:cNvGraphicFramePr>
          <p:nvPr>
            <p:extLst>
              <p:ext uri="{D42A27DB-BD31-4B8C-83A1-F6EECF244321}">
                <p14:modId xmlns:p14="http://schemas.microsoft.com/office/powerpoint/2010/main" val="126585865"/>
              </p:ext>
            </p:extLst>
          </p:nvPr>
        </p:nvGraphicFramePr>
        <p:xfrm>
          <a:off x="792479" y="1087120"/>
          <a:ext cx="10265871" cy="4693920"/>
        </p:xfrm>
        <a:graphic>
          <a:graphicData uri="http://schemas.openxmlformats.org/presentationml/2006/ole">
            <mc:AlternateContent xmlns:mc="http://schemas.openxmlformats.org/markup-compatibility/2006">
              <mc:Choice xmlns:v="urn:schemas-microsoft-com:vml" Requires="v">
                <p:oleObj name="Visio" r:id="rId3" imgW="3916680" imgH="1790700" progId="Visio.Drawing.11">
                  <p:embed/>
                </p:oleObj>
              </mc:Choice>
              <mc:Fallback>
                <p:oleObj name="Visio" r:id="rId3" imgW="3916680" imgH="1790700" progId="Visio.Drawing.11">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2479" y="1087120"/>
                        <a:ext cx="10265871" cy="4693920"/>
                      </a:xfrm>
                      <a:prstGeom prst="rect">
                        <a:avLst/>
                      </a:prstGeom>
                      <a:noFill/>
                    </p:spPr>
                  </p:pic>
                </p:oleObj>
              </mc:Fallback>
            </mc:AlternateContent>
          </a:graphicData>
        </a:graphic>
      </p:graphicFrame>
      <p:sp>
        <p:nvSpPr>
          <p:cNvPr id="7" name="矩形 6"/>
          <p:cNvSpPr/>
          <p:nvPr/>
        </p:nvSpPr>
        <p:spPr>
          <a:xfrm>
            <a:off x="3436298" y="5885934"/>
            <a:ext cx="4092262" cy="461665"/>
          </a:xfrm>
          <a:prstGeom prst="rect">
            <a:avLst/>
          </a:prstGeom>
        </p:spPr>
        <p:txBody>
          <a:bodyPr wrap="square">
            <a:spAutoFit/>
          </a:bodyPr>
          <a:lstStyle/>
          <a:p>
            <a:r>
              <a:rPr lang="zh-CN" altLang="zh-CN" sz="2400" dirty="0"/>
              <a:t>图</a:t>
            </a:r>
            <a:r>
              <a:rPr lang="en-US" altLang="zh-CN" sz="2400" dirty="0"/>
              <a:t>8-2 </a:t>
            </a:r>
            <a:r>
              <a:rPr lang="zh-CN" altLang="zh-CN" sz="2400" dirty="0"/>
              <a:t>设备控制器的组成</a:t>
            </a:r>
          </a:p>
        </p:txBody>
      </p:sp>
    </p:spTree>
    <p:custDataLst>
      <p:tags r:id="rId1"/>
    </p:custDataLst>
    <p:extLst>
      <p:ext uri="{BB962C8B-B14F-4D97-AF65-F5344CB8AC3E}">
        <p14:creationId xmlns:p14="http://schemas.microsoft.com/office/powerpoint/2010/main" val="1095691674"/>
      </p:ext>
    </p:extLst>
  </p:cSld>
  <p:clrMapOvr>
    <a:masterClrMapping/>
  </p:clrMapOvr>
  <p:transition>
    <p:random/>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76325" y="114300"/>
            <a:ext cx="9387205" cy="705485"/>
          </a:xfrm>
        </p:spPr>
        <p:txBody>
          <a:bodyPr/>
          <a:lstStyle/>
          <a:p>
            <a:pPr algn="ctr"/>
            <a:r>
              <a:rPr lang="zh-CN" altLang="zh-CN" dirty="0"/>
              <a:t>8.2 I/O控制方式</a:t>
            </a:r>
            <a:endParaRPr lang="en-US" altLang="zh-CN" dirty="0"/>
          </a:p>
        </p:txBody>
      </p:sp>
      <p:sp>
        <p:nvSpPr>
          <p:cNvPr id="3" name="内容占位符 2"/>
          <p:cNvSpPr>
            <a:spLocks noGrp="1"/>
          </p:cNvSpPr>
          <p:nvPr>
            <p:ph idx="1"/>
          </p:nvPr>
        </p:nvSpPr>
        <p:spPr>
          <a:xfrm>
            <a:off x="2845597" y="1211957"/>
            <a:ext cx="7722235" cy="3542030"/>
          </a:xfrm>
        </p:spPr>
        <p:txBody>
          <a:bodyPr>
            <a:normAutofit/>
          </a:bodyPr>
          <a:lstStyle/>
          <a:p>
            <a:pPr>
              <a:buBlip>
                <a:blip r:embed="rId4"/>
              </a:buBlip>
            </a:pPr>
            <a:r>
              <a:rPr lang="en-US" altLang="zh-CN" sz="2800" dirty="0"/>
              <a:t>8.2.1 </a:t>
            </a:r>
            <a:r>
              <a:rPr lang="zh-CN" altLang="en-US" sz="2800" dirty="0"/>
              <a:t>直接程序控制方式</a:t>
            </a:r>
            <a:endParaRPr lang="en-US" altLang="zh-CN" sz="2800" dirty="0"/>
          </a:p>
          <a:p>
            <a:pPr>
              <a:buBlip>
                <a:blip r:embed="rId4"/>
              </a:buBlip>
            </a:pPr>
            <a:r>
              <a:rPr lang="en-US" altLang="zh-CN" sz="2800" dirty="0"/>
              <a:t>8.2.2 </a:t>
            </a:r>
            <a:r>
              <a:rPr lang="zh-CN" altLang="en-US" sz="2800" dirty="0"/>
              <a:t>中断控制方式</a:t>
            </a:r>
            <a:endParaRPr lang="en-US" altLang="zh-CN" sz="2800" dirty="0"/>
          </a:p>
          <a:p>
            <a:pPr>
              <a:buBlip>
                <a:blip r:embed="rId4"/>
              </a:buBlip>
            </a:pPr>
            <a:r>
              <a:rPr lang="en-US" altLang="zh-CN" sz="2800" dirty="0"/>
              <a:t>8.2.3 </a:t>
            </a:r>
            <a:r>
              <a:rPr lang="zh-CN" altLang="en-US" sz="2800" dirty="0"/>
              <a:t>直接存储器访问方式</a:t>
            </a:r>
            <a:endParaRPr lang="en-US" altLang="zh-CN" sz="2800" dirty="0"/>
          </a:p>
          <a:p>
            <a:pPr>
              <a:buBlip>
                <a:blip r:embed="rId4"/>
              </a:buBlip>
            </a:pPr>
            <a:r>
              <a:rPr lang="en-US" altLang="zh-CN" sz="2800" dirty="0"/>
              <a:t>8.2.4 </a:t>
            </a:r>
            <a:r>
              <a:rPr lang="zh-CN" altLang="en-US" sz="2800" dirty="0"/>
              <a:t>通道方式</a:t>
            </a:r>
            <a:endParaRPr lang="en-US" altLang="zh-CN" sz="2800" dirty="0"/>
          </a:p>
          <a:p>
            <a:pPr>
              <a:buBlip>
                <a:blip r:embed="rId4"/>
              </a:buBlip>
            </a:pPr>
            <a:endParaRPr lang="en-US" altLang="zh-CN" sz="2800" dirty="0"/>
          </a:p>
        </p:txBody>
      </p:sp>
    </p:spTree>
    <p:custDataLst>
      <p:tags r:id="rId1"/>
    </p:custDataLst>
    <p:extLst>
      <p:ext uri="{BB962C8B-B14F-4D97-AF65-F5344CB8AC3E}">
        <p14:creationId xmlns:p14="http://schemas.microsoft.com/office/powerpoint/2010/main" val="1839043928"/>
      </p:ext>
    </p:extLst>
  </p:cSld>
  <p:clrMapOvr>
    <a:masterClrMapping/>
  </p:clrMapOvr>
  <p:transition>
    <p:random/>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zh-CN" dirty="0"/>
              <a:t>8.2.1 直接程序控制方式</a:t>
            </a:r>
            <a:endParaRPr lang="zh-CN" altLang="en-US" dirty="0"/>
          </a:p>
        </p:txBody>
      </p:sp>
      <p:sp>
        <p:nvSpPr>
          <p:cNvPr id="3" name="内容占位符 2"/>
          <p:cNvSpPr>
            <a:spLocks noGrp="1"/>
          </p:cNvSpPr>
          <p:nvPr>
            <p:ph idx="1"/>
          </p:nvPr>
        </p:nvSpPr>
        <p:spPr>
          <a:xfrm>
            <a:off x="608330" y="1227455"/>
            <a:ext cx="5303769" cy="2395419"/>
          </a:xfrm>
        </p:spPr>
        <p:txBody>
          <a:bodyPr>
            <a:noAutofit/>
          </a:bodyPr>
          <a:lstStyle/>
          <a:p>
            <a:r>
              <a:rPr lang="zh-CN" altLang="zh-CN" dirty="0"/>
              <a:t>直接程序控制方式由用户进程直接控制内存或</a:t>
            </a:r>
            <a:r>
              <a:rPr lang="en-US" altLang="zh-CN" dirty="0"/>
              <a:t>CPU</a:t>
            </a:r>
            <a:r>
              <a:rPr lang="zh-CN" altLang="zh-CN" dirty="0"/>
              <a:t>和外围设备之间的信息传送。</a:t>
            </a:r>
            <a:endParaRPr lang="en-US" altLang="zh-CN" dirty="0"/>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6" name="图片 5">
            <a:extLst>
              <a:ext uri="{FF2B5EF4-FFF2-40B4-BE49-F238E27FC236}">
                <a16:creationId xmlns:a16="http://schemas.microsoft.com/office/drawing/2014/main" id="{94A84B69-D0F1-4B31-A5F5-4A4F10F1B0EE}"/>
              </a:ext>
            </a:extLst>
          </p:cNvPr>
          <p:cNvPicPr>
            <a:picLocks noChangeAspect="1"/>
          </p:cNvPicPr>
          <p:nvPr/>
        </p:nvPicPr>
        <p:blipFill>
          <a:blip r:embed="rId2"/>
          <a:stretch>
            <a:fillRect/>
          </a:stretch>
        </p:blipFill>
        <p:spPr>
          <a:xfrm>
            <a:off x="6696592" y="157211"/>
            <a:ext cx="3894244" cy="6121304"/>
          </a:xfrm>
          <a:prstGeom prst="rect">
            <a:avLst/>
          </a:prstGeom>
        </p:spPr>
      </p:pic>
    </p:spTree>
    <p:extLst>
      <p:ext uri="{BB962C8B-B14F-4D97-AF65-F5344CB8AC3E}">
        <p14:creationId xmlns:p14="http://schemas.microsoft.com/office/powerpoint/2010/main" val="2323484406"/>
      </p:ext>
    </p:extLst>
  </p:cSld>
  <p:clrMapOvr>
    <a:masterClrMapping/>
  </p:clrMapOvr>
  <p:transition>
    <p:random/>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8.2.2 中断控制方式</a:t>
            </a:r>
            <a:endParaRPr lang="zh-CN" altLang="en-US" dirty="0"/>
          </a:p>
        </p:txBody>
      </p:sp>
      <p:sp>
        <p:nvSpPr>
          <p:cNvPr id="3" name="内容占位符 2"/>
          <p:cNvSpPr>
            <a:spLocks noGrp="1"/>
          </p:cNvSpPr>
          <p:nvPr>
            <p:ph idx="1"/>
          </p:nvPr>
        </p:nvSpPr>
        <p:spPr>
          <a:xfrm>
            <a:off x="608330" y="1227456"/>
            <a:ext cx="3662728" cy="624494"/>
          </a:xfrm>
        </p:spPr>
        <p:txBody>
          <a:bodyPr/>
          <a:lstStyle/>
          <a:p>
            <a:r>
              <a:rPr lang="zh-CN" altLang="zh-CN" dirty="0"/>
              <a:t>中断控制方式的思想</a:t>
            </a:r>
            <a:endParaRPr lang="zh-CN" altLang="en-US" dirty="0"/>
          </a:p>
        </p:txBody>
      </p:sp>
      <p:pic>
        <p:nvPicPr>
          <p:cNvPr id="5" name="图片 4">
            <a:extLst>
              <a:ext uri="{FF2B5EF4-FFF2-40B4-BE49-F238E27FC236}">
                <a16:creationId xmlns:a16="http://schemas.microsoft.com/office/drawing/2014/main" id="{8101D3A4-CF88-4C13-9195-95B0CE4FBFC9}"/>
              </a:ext>
            </a:extLst>
          </p:cNvPr>
          <p:cNvPicPr>
            <a:picLocks noChangeAspect="1"/>
          </p:cNvPicPr>
          <p:nvPr/>
        </p:nvPicPr>
        <p:blipFill>
          <a:blip r:embed="rId3"/>
          <a:stretch>
            <a:fillRect/>
          </a:stretch>
        </p:blipFill>
        <p:spPr>
          <a:xfrm>
            <a:off x="5958791" y="271703"/>
            <a:ext cx="3266231" cy="6198938"/>
          </a:xfrm>
          <a:prstGeom prst="rect">
            <a:avLst/>
          </a:prstGeom>
        </p:spPr>
      </p:pic>
    </p:spTree>
    <p:extLst>
      <p:ext uri="{BB962C8B-B14F-4D97-AF65-F5344CB8AC3E}">
        <p14:creationId xmlns:p14="http://schemas.microsoft.com/office/powerpoint/2010/main" val="1479850836"/>
      </p:ext>
    </p:extLst>
  </p:cSld>
  <p:clrMapOvr>
    <a:masterClrMapping/>
  </p:clrMapOvr>
  <p:transition>
    <p:random/>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8.2.3 直接存储器访问方式</a:t>
            </a:r>
            <a:r>
              <a:rPr lang="en-US" altLang="zh-CN" dirty="0"/>
              <a:t>DMA</a:t>
            </a:r>
            <a:endParaRPr lang="zh-CN" altLang="en-US" dirty="0"/>
          </a:p>
        </p:txBody>
      </p:sp>
      <p:sp>
        <p:nvSpPr>
          <p:cNvPr id="3" name="内容占位符 2"/>
          <p:cNvSpPr>
            <a:spLocks noGrp="1"/>
          </p:cNvSpPr>
          <p:nvPr>
            <p:ph idx="1"/>
          </p:nvPr>
        </p:nvSpPr>
        <p:spPr>
          <a:xfrm>
            <a:off x="608330" y="1227456"/>
            <a:ext cx="10968990" cy="1770388"/>
          </a:xfrm>
        </p:spPr>
        <p:txBody>
          <a:bodyPr>
            <a:normAutofit/>
          </a:bodyPr>
          <a:lstStyle/>
          <a:p>
            <a:r>
              <a:rPr lang="zh-CN" altLang="zh-CN" sz="2800" dirty="0"/>
              <a:t>在</a:t>
            </a:r>
            <a:r>
              <a:rPr lang="en-US" altLang="zh-CN" sz="2800" dirty="0"/>
              <a:t>DMA</a:t>
            </a:r>
            <a:r>
              <a:rPr lang="zh-CN" altLang="zh-CN" sz="2800" dirty="0"/>
              <a:t>控制器的控制下，在设备和内存之间开辟</a:t>
            </a:r>
            <a:r>
              <a:rPr lang="zh-CN" altLang="zh-CN" sz="2800" dirty="0">
                <a:solidFill>
                  <a:srgbClr val="0000FF"/>
                </a:solidFill>
              </a:rPr>
              <a:t>直接数据交换通道</a:t>
            </a:r>
            <a:r>
              <a:rPr lang="zh-CN" altLang="zh-CN" sz="2800" dirty="0"/>
              <a:t>，</a:t>
            </a:r>
            <a:r>
              <a:rPr lang="zh-CN" altLang="zh-CN" sz="2800" dirty="0">
                <a:solidFill>
                  <a:srgbClr val="0000FF"/>
                </a:solidFill>
              </a:rPr>
              <a:t>成批地交换数据，而不必让</a:t>
            </a:r>
            <a:r>
              <a:rPr lang="en-US" altLang="zh-CN" sz="2800" dirty="0">
                <a:solidFill>
                  <a:srgbClr val="0000FF"/>
                </a:solidFill>
              </a:rPr>
              <a:t>CPU</a:t>
            </a:r>
            <a:r>
              <a:rPr lang="zh-CN" altLang="zh-CN" sz="2800" dirty="0">
                <a:solidFill>
                  <a:srgbClr val="0000FF"/>
                </a:solidFill>
              </a:rPr>
              <a:t>干预</a:t>
            </a:r>
            <a:r>
              <a:rPr lang="zh-CN" altLang="zh-CN" sz="2800" dirty="0"/>
              <a:t>。</a:t>
            </a:r>
            <a:endParaRPr lang="zh-CN" altLang="en-US" sz="2800" dirty="0"/>
          </a:p>
        </p:txBody>
      </p:sp>
      <p:sp>
        <p:nvSpPr>
          <p:cNvPr id="4" name="内容占位符 2">
            <a:extLst>
              <a:ext uri="{FF2B5EF4-FFF2-40B4-BE49-F238E27FC236}">
                <a16:creationId xmlns:a16="http://schemas.microsoft.com/office/drawing/2014/main" id="{3778A5AD-FF8E-4665-BB37-6E35AB92EA30}"/>
              </a:ext>
            </a:extLst>
          </p:cNvPr>
          <p:cNvSpPr txBox="1">
            <a:spLocks/>
          </p:cNvSpPr>
          <p:nvPr/>
        </p:nvSpPr>
        <p:spPr>
          <a:xfrm>
            <a:off x="608330" y="3241449"/>
            <a:ext cx="10968990" cy="1180079"/>
          </a:xfrm>
          <a:prstGeom prst="rect">
            <a:avLst/>
          </a:prstGeo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Clr>
                <a:srgbClr val="2094CE"/>
              </a:buClr>
              <a:buSzPct val="80000"/>
              <a:buFont typeface="Arial" panose="020B0604020202020204" pitchFamily="34" charset="0"/>
              <a:buChar char="►"/>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Clr>
                <a:srgbClr val="FF9800"/>
              </a:buClr>
              <a:buSzPct val="90000"/>
              <a:buFont typeface="Arial" panose="020B0604020202020204" pitchFamily="34" charset="0"/>
              <a:buChar char="♦"/>
              <a:tabLst>
                <a:tab pos="1609725" algn="l"/>
              </a:tabLst>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2800" dirty="0"/>
              <a:t>DMA</a:t>
            </a:r>
            <a:r>
              <a:rPr lang="zh-CN" altLang="en-US" sz="2800" dirty="0"/>
              <a:t>控制器可大致分为主机与控制器的接口、控制器与块设备的接口以及</a:t>
            </a:r>
            <a:r>
              <a:rPr lang="en-US" altLang="zh-CN" sz="2800" dirty="0"/>
              <a:t>I/O</a:t>
            </a:r>
            <a:r>
              <a:rPr lang="zh-CN" altLang="en-US" sz="2800" dirty="0"/>
              <a:t>控制逻辑三大部分。</a:t>
            </a:r>
          </a:p>
        </p:txBody>
      </p:sp>
    </p:spTree>
    <p:extLst>
      <p:ext uri="{BB962C8B-B14F-4D97-AF65-F5344CB8AC3E}">
        <p14:creationId xmlns:p14="http://schemas.microsoft.com/office/powerpoint/2010/main" val="1548672302"/>
      </p:ext>
    </p:extLst>
  </p:cSld>
  <p:clrMapOvr>
    <a:masterClrMapping/>
  </p:clrMapOvr>
  <p:transition>
    <p:random/>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66"/>
          <p:cNvSpPr>
            <a:spLocks noChangeArrowheads="1"/>
          </p:cNvSpPr>
          <p:nvPr/>
        </p:nvSpPr>
        <p:spPr bwMode="auto">
          <a:xfrm>
            <a:off x="152400" y="-47655"/>
            <a:ext cx="18473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sz="2000"/>
          </a:p>
        </p:txBody>
      </p:sp>
      <p:grpSp>
        <p:nvGrpSpPr>
          <p:cNvPr id="27" name="画布 708"/>
          <p:cNvGrpSpPr>
            <a:grpSpLocks noChangeAspect="1"/>
          </p:cNvGrpSpPr>
          <p:nvPr/>
        </p:nvGrpSpPr>
        <p:grpSpPr bwMode="auto">
          <a:xfrm>
            <a:off x="575968" y="193706"/>
            <a:ext cx="10993120" cy="5392996"/>
            <a:chOff x="0" y="0"/>
            <a:chExt cx="45491" cy="22326"/>
          </a:xfrm>
        </p:grpSpPr>
        <p:sp>
          <p:nvSpPr>
            <p:cNvPr id="28" name="Rectangle 65"/>
            <p:cNvSpPr>
              <a:spLocks noChangeAspect="1" noChangeArrowheads="1"/>
            </p:cNvSpPr>
            <p:nvPr/>
          </p:nvSpPr>
          <p:spPr bwMode="auto">
            <a:xfrm>
              <a:off x="0" y="0"/>
              <a:ext cx="45491" cy="22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2000"/>
            </a:p>
          </p:txBody>
        </p:sp>
        <p:sp>
          <p:nvSpPr>
            <p:cNvPr id="29" name="矩形 117"/>
            <p:cNvSpPr>
              <a:spLocks noChangeArrowheads="1"/>
            </p:cNvSpPr>
            <p:nvPr/>
          </p:nvSpPr>
          <p:spPr bwMode="auto">
            <a:xfrm>
              <a:off x="10791" y="5638"/>
              <a:ext cx="6172" cy="13831"/>
            </a:xfrm>
            <a:prstGeom prst="rect">
              <a:avLst/>
            </a:prstGeom>
            <a:solidFill>
              <a:srgbClr val="FFFFFF"/>
            </a:solidFill>
            <a:ln w="9525">
              <a:solidFill>
                <a:srgbClr val="000000"/>
              </a:solidFill>
              <a:round/>
              <a:headEnd/>
              <a:tailEnd/>
            </a:ln>
          </p:spPr>
          <p:txBody>
            <a:bodyPr vert="horz" wrap="square" lIns="0" tIns="0" rIns="0" bIns="0" numCol="1"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20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30" name="矩形 7"/>
            <p:cNvSpPr>
              <a:spLocks noChangeArrowheads="1"/>
            </p:cNvSpPr>
            <p:nvPr/>
          </p:nvSpPr>
          <p:spPr bwMode="auto">
            <a:xfrm>
              <a:off x="2133" y="5638"/>
              <a:ext cx="6172" cy="13831"/>
            </a:xfrm>
            <a:prstGeom prst="rect">
              <a:avLst/>
            </a:prstGeom>
            <a:solidFill>
              <a:srgbClr val="FFFFFF"/>
            </a:solidFill>
            <a:ln w="9525">
              <a:solidFill>
                <a:srgbClr val="000000"/>
              </a:solidFill>
              <a:round/>
              <a:headEnd/>
              <a:tailEnd/>
            </a:ln>
          </p:spPr>
          <p:txBody>
            <a:bodyPr vert="horz" wrap="square" lIns="0" tIns="0" rIns="0" bIns="0" numCol="1" anchor="ctr" anchorCtr="0" compatLnSpc="1">
              <a:prstTxWarp prst="textNoShape">
                <a:avLst/>
              </a:prstTxWarp>
            </a:bodyPr>
            <a:lstStyle/>
            <a:p>
              <a:endParaRPr lang="zh-CN" altLang="en-US" sz="2000"/>
            </a:p>
          </p:txBody>
        </p:sp>
        <p:sp>
          <p:nvSpPr>
            <p:cNvPr id="31" name="矩形 119"/>
            <p:cNvSpPr>
              <a:spLocks noChangeArrowheads="1"/>
            </p:cNvSpPr>
            <p:nvPr/>
          </p:nvSpPr>
          <p:spPr bwMode="auto">
            <a:xfrm>
              <a:off x="21612" y="5638"/>
              <a:ext cx="21441" cy="13640"/>
            </a:xfrm>
            <a:prstGeom prst="rect">
              <a:avLst/>
            </a:prstGeom>
            <a:solidFill>
              <a:srgbClr val="FFFFFF"/>
            </a:solidFill>
            <a:ln w="9525">
              <a:solidFill>
                <a:srgbClr val="000000"/>
              </a:solidFill>
              <a:round/>
              <a:headEnd/>
              <a:tailEnd/>
            </a:ln>
          </p:spPr>
          <p:txBody>
            <a:bodyPr vert="horz" wrap="square" lIns="0" tIns="0" rIns="0" bIns="0" numCol="1"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20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32" name="矩形 121"/>
            <p:cNvSpPr>
              <a:spLocks noChangeArrowheads="1"/>
            </p:cNvSpPr>
            <p:nvPr/>
          </p:nvSpPr>
          <p:spPr bwMode="auto">
            <a:xfrm>
              <a:off x="31137" y="6981"/>
              <a:ext cx="3153" cy="9554"/>
            </a:xfrm>
            <a:prstGeom prst="rect">
              <a:avLst/>
            </a:prstGeom>
            <a:solidFill>
              <a:srgbClr val="FFFFFF"/>
            </a:solidFill>
            <a:ln w="9525">
              <a:solidFill>
                <a:srgbClr val="000000"/>
              </a:solidFill>
              <a:round/>
              <a:headEnd/>
              <a:tailEnd/>
            </a:ln>
          </p:spPr>
          <p:txBody>
            <a:bodyPr vert="horz" wrap="square" lIns="0" tIns="0" rIns="0" bIns="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I/O</a:t>
              </a:r>
              <a:endParaRPr kumimoji="0" lang="en-US" altLang="zh-CN" sz="2000" b="0" i="0" u="none" strike="noStrike" cap="none" normalizeH="0" baseline="0">
                <a:ln>
                  <a:noFill/>
                </a:ln>
                <a:solidFill>
                  <a:schemeClr val="tx1"/>
                </a:solidFill>
                <a:effectLst/>
                <a:latin typeface="Arial" pitchFamily="34" charset="0"/>
                <a:ea typeface="宋体" pitchFamily="2" charset="-122"/>
                <a:cs typeface="宋体" pitchFamily="2" charset="-122"/>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2000" b="0" i="0" u="none" strike="noStrike" cap="none" normalizeH="0" baseline="0">
                  <a:ln>
                    <a:noFill/>
                  </a:ln>
                  <a:solidFill>
                    <a:schemeClr val="tx1"/>
                  </a:solidFill>
                  <a:effectLst/>
                  <a:latin typeface="Times New Roman" pitchFamily="18" charset="0"/>
                  <a:ea typeface="宋体" pitchFamily="2" charset="-122"/>
                  <a:cs typeface="宋体" pitchFamily="2" charset="-122"/>
                </a:rPr>
                <a:t>控</a:t>
              </a:r>
              <a:endParaRPr kumimoji="0" lang="zh-CN" altLang="en-US" sz="2000" b="0" i="0" u="none" strike="noStrike" cap="none" normalizeH="0" baseline="0">
                <a:ln>
                  <a:noFill/>
                </a:ln>
                <a:solidFill>
                  <a:schemeClr val="tx1"/>
                </a:solidFill>
                <a:effectLst/>
                <a:latin typeface="Arial" pitchFamily="34" charset="0"/>
                <a:ea typeface="宋体" pitchFamily="2" charset="-122"/>
                <a:cs typeface="宋体" pitchFamily="2" charset="-122"/>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2000" b="0" i="0" u="none" strike="noStrike" cap="none" normalizeH="0" baseline="0">
                  <a:ln>
                    <a:noFill/>
                  </a:ln>
                  <a:solidFill>
                    <a:schemeClr val="tx1"/>
                  </a:solidFill>
                  <a:effectLst/>
                  <a:latin typeface="Times New Roman" pitchFamily="18" charset="0"/>
                  <a:ea typeface="宋体" pitchFamily="2" charset="-122"/>
                  <a:cs typeface="宋体" pitchFamily="2" charset="-122"/>
                </a:rPr>
                <a:t>制</a:t>
              </a:r>
              <a:endParaRPr kumimoji="0" lang="zh-CN" altLang="en-US" sz="2000" b="0" i="0" u="none" strike="noStrike" cap="none" normalizeH="0" baseline="0">
                <a:ln>
                  <a:noFill/>
                </a:ln>
                <a:solidFill>
                  <a:schemeClr val="tx1"/>
                </a:solidFill>
                <a:effectLst/>
                <a:latin typeface="Arial" pitchFamily="34" charset="0"/>
                <a:ea typeface="宋体" pitchFamily="2" charset="-122"/>
                <a:cs typeface="宋体" pitchFamily="2" charset="-122"/>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2000" b="0" i="0" u="none" strike="noStrike" cap="none" normalizeH="0" baseline="0">
                  <a:ln>
                    <a:noFill/>
                  </a:ln>
                  <a:solidFill>
                    <a:schemeClr val="tx1"/>
                  </a:solidFill>
                  <a:effectLst/>
                  <a:latin typeface="Times New Roman" pitchFamily="18" charset="0"/>
                  <a:ea typeface="宋体" pitchFamily="2" charset="-122"/>
                  <a:cs typeface="宋体" pitchFamily="2" charset="-122"/>
                </a:rPr>
                <a:t>逻</a:t>
              </a:r>
              <a:endParaRPr kumimoji="0" lang="zh-CN" altLang="en-US" sz="2000" b="0" i="0" u="none" strike="noStrike" cap="none" normalizeH="0" baseline="0">
                <a:ln>
                  <a:noFill/>
                </a:ln>
                <a:solidFill>
                  <a:schemeClr val="tx1"/>
                </a:solidFill>
                <a:effectLst/>
                <a:latin typeface="Arial" pitchFamily="34" charset="0"/>
                <a:ea typeface="宋体" pitchFamily="2" charset="-122"/>
                <a:cs typeface="宋体" pitchFamily="2" charset="-122"/>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2000" b="0" i="0" u="none" strike="noStrike" cap="none" normalizeH="0" baseline="0">
                  <a:ln>
                    <a:noFill/>
                  </a:ln>
                  <a:solidFill>
                    <a:schemeClr val="tx1"/>
                  </a:solidFill>
                  <a:effectLst/>
                  <a:latin typeface="Times New Roman" pitchFamily="18" charset="0"/>
                  <a:ea typeface="宋体" pitchFamily="2" charset="-122"/>
                  <a:cs typeface="宋体" pitchFamily="2" charset="-122"/>
                </a:rPr>
                <a:t>辑</a:t>
              </a:r>
              <a:endParaRPr kumimoji="0" lang="zh-CN" altLang="en-US" sz="20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33" name="矩形 124"/>
            <p:cNvSpPr>
              <a:spLocks noChangeArrowheads="1"/>
            </p:cNvSpPr>
            <p:nvPr/>
          </p:nvSpPr>
          <p:spPr bwMode="auto">
            <a:xfrm>
              <a:off x="23440" y="7162"/>
              <a:ext cx="4906" cy="1829"/>
            </a:xfrm>
            <a:prstGeom prst="rect">
              <a:avLst/>
            </a:prstGeom>
            <a:solidFill>
              <a:srgbClr val="FFFFFF"/>
            </a:solidFill>
            <a:ln w="9525">
              <a:solidFill>
                <a:srgbClr val="000000"/>
              </a:solidFill>
              <a:round/>
              <a:headEnd/>
              <a:tailEnd/>
            </a:ln>
          </p:spPr>
          <p:txBody>
            <a:bodyPr vert="horz" wrap="square" lIns="0" tIns="0" rIns="0" bIns="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Calibri" pitchFamily="34" charset="0"/>
                  <a:ea typeface="宋体" pitchFamily="2" charset="-122"/>
                  <a:cs typeface="宋体" pitchFamily="2" charset="-122"/>
                </a:rPr>
                <a:t>DR</a:t>
              </a:r>
              <a:endParaRPr kumimoji="0" lang="en-US" altLang="zh-CN" sz="20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34" name="矩形 129"/>
            <p:cNvSpPr>
              <a:spLocks noChangeArrowheads="1"/>
            </p:cNvSpPr>
            <p:nvPr/>
          </p:nvSpPr>
          <p:spPr bwMode="auto">
            <a:xfrm>
              <a:off x="23444" y="9572"/>
              <a:ext cx="4902" cy="1829"/>
            </a:xfrm>
            <a:prstGeom prst="rect">
              <a:avLst/>
            </a:prstGeom>
            <a:solidFill>
              <a:srgbClr val="FFFFFF"/>
            </a:solidFill>
            <a:ln w="9525">
              <a:solidFill>
                <a:srgbClr val="000000"/>
              </a:solidFill>
              <a:round/>
              <a:headEnd/>
              <a:tailEnd/>
            </a:ln>
          </p:spPr>
          <p:txBody>
            <a:bodyPr vert="horz" wrap="square" lIns="0" tIns="0" rIns="0" bIns="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MAR</a:t>
              </a:r>
              <a:endParaRPr kumimoji="0" lang="en-US" altLang="zh-CN" sz="20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35" name="矩形 131"/>
            <p:cNvSpPr>
              <a:spLocks noChangeArrowheads="1"/>
            </p:cNvSpPr>
            <p:nvPr/>
          </p:nvSpPr>
          <p:spPr bwMode="auto">
            <a:xfrm>
              <a:off x="23517" y="12087"/>
              <a:ext cx="4902" cy="1828"/>
            </a:xfrm>
            <a:prstGeom prst="rect">
              <a:avLst/>
            </a:prstGeom>
            <a:solidFill>
              <a:srgbClr val="FFFFFF"/>
            </a:solidFill>
            <a:ln w="9525">
              <a:solidFill>
                <a:srgbClr val="000000"/>
              </a:solidFill>
              <a:round/>
              <a:headEnd/>
              <a:tailEnd/>
            </a:ln>
          </p:spPr>
          <p:txBody>
            <a:bodyPr vert="horz" wrap="square" lIns="0" tIns="0" rIns="0" bIns="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DC</a:t>
              </a:r>
              <a:endParaRPr kumimoji="0" lang="en-US" altLang="zh-CN" sz="20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36" name="矩形 133"/>
            <p:cNvSpPr>
              <a:spLocks noChangeArrowheads="1"/>
            </p:cNvSpPr>
            <p:nvPr/>
          </p:nvSpPr>
          <p:spPr bwMode="auto">
            <a:xfrm>
              <a:off x="23523" y="14493"/>
              <a:ext cx="4902" cy="1829"/>
            </a:xfrm>
            <a:prstGeom prst="rect">
              <a:avLst/>
            </a:prstGeom>
            <a:solidFill>
              <a:srgbClr val="FFFFFF"/>
            </a:solidFill>
            <a:ln w="9525">
              <a:solidFill>
                <a:srgbClr val="000000"/>
              </a:solidFill>
              <a:round/>
              <a:headEnd/>
              <a:tailEnd/>
            </a:ln>
          </p:spPr>
          <p:txBody>
            <a:bodyPr vert="horz" wrap="square" lIns="0" tIns="0" rIns="0" bIns="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CR</a:t>
              </a:r>
              <a:endParaRPr kumimoji="0" lang="en-US" altLang="zh-CN" sz="20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37" name="矩形 135"/>
            <p:cNvSpPr>
              <a:spLocks noChangeArrowheads="1"/>
            </p:cNvSpPr>
            <p:nvPr/>
          </p:nvSpPr>
          <p:spPr bwMode="auto">
            <a:xfrm>
              <a:off x="36966" y="7162"/>
              <a:ext cx="4902" cy="2410"/>
            </a:xfrm>
            <a:prstGeom prst="rect">
              <a:avLst/>
            </a:prstGeom>
            <a:solidFill>
              <a:srgbClr val="FFFFFF"/>
            </a:solidFill>
            <a:ln w="9525">
              <a:solidFill>
                <a:srgbClr val="000000"/>
              </a:solidFill>
              <a:round/>
              <a:headEnd/>
              <a:tailEnd/>
            </a:ln>
          </p:spPr>
          <p:txBody>
            <a:bodyPr vert="horz" wrap="square" lIns="0" tIns="0" rIns="0" bIns="0" numCol="1"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20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38" name="矩形 137"/>
            <p:cNvSpPr>
              <a:spLocks noChangeArrowheads="1"/>
            </p:cNvSpPr>
            <p:nvPr/>
          </p:nvSpPr>
          <p:spPr bwMode="auto">
            <a:xfrm>
              <a:off x="36972" y="13455"/>
              <a:ext cx="4902" cy="2867"/>
            </a:xfrm>
            <a:prstGeom prst="rect">
              <a:avLst/>
            </a:prstGeom>
            <a:solidFill>
              <a:srgbClr val="FFFFFF"/>
            </a:solidFill>
            <a:ln w="9525">
              <a:solidFill>
                <a:srgbClr val="000000"/>
              </a:solidFill>
              <a:round/>
              <a:headEnd/>
              <a:tailEnd/>
            </a:ln>
          </p:spPr>
          <p:txBody>
            <a:bodyPr vert="horz" wrap="square" lIns="0" tIns="0" rIns="0" bIns="0" numCol="1"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20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39" name="矩形 138"/>
            <p:cNvSpPr>
              <a:spLocks noChangeArrowheads="1"/>
            </p:cNvSpPr>
            <p:nvPr/>
          </p:nvSpPr>
          <p:spPr bwMode="auto">
            <a:xfrm>
              <a:off x="36966" y="10153"/>
              <a:ext cx="4902" cy="1829"/>
            </a:xfrm>
            <a:prstGeom prst="rect">
              <a:avLst/>
            </a:prstGeom>
            <a:solidFill>
              <a:srgbClr val="FFFFFF"/>
            </a:solidFill>
            <a:ln w="9525">
              <a:solidFill>
                <a:srgbClr val="FFFFFF"/>
              </a:solidFill>
              <a:round/>
              <a:headEnd/>
              <a:tailEnd/>
            </a:ln>
          </p:spPr>
          <p:txBody>
            <a:bodyPr vert="horz" wrap="square" lIns="0" tIns="0" rIns="0" bIns="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2000" b="0" i="0" u="none" strike="noStrike" cap="none" normalizeH="0" baseline="0">
                  <a:ln>
                    <a:noFill/>
                  </a:ln>
                  <a:solidFill>
                    <a:schemeClr val="tx1"/>
                  </a:solidFill>
                  <a:effectLst/>
                  <a:latin typeface="Arial" pitchFamily="34" charset="0"/>
                  <a:ea typeface="宋体" pitchFamily="2" charset="-122"/>
                  <a:cs typeface="宋体" pitchFamily="2" charset="-122"/>
                </a:rPr>
                <a:t>┇</a:t>
              </a:r>
            </a:p>
          </p:txBody>
        </p:sp>
        <p:sp>
          <p:nvSpPr>
            <p:cNvPr id="40" name="矩形 159"/>
            <p:cNvSpPr>
              <a:spLocks noChangeArrowheads="1"/>
            </p:cNvSpPr>
            <p:nvPr/>
          </p:nvSpPr>
          <p:spPr bwMode="auto">
            <a:xfrm>
              <a:off x="2981" y="19783"/>
              <a:ext cx="4902" cy="182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CPU</a:t>
              </a:r>
              <a:endParaRPr kumimoji="0" lang="en-US" altLang="zh-CN" sz="20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41" name="矩形 162"/>
            <p:cNvSpPr>
              <a:spLocks noChangeArrowheads="1"/>
            </p:cNvSpPr>
            <p:nvPr/>
          </p:nvSpPr>
          <p:spPr bwMode="auto">
            <a:xfrm>
              <a:off x="11283" y="19850"/>
              <a:ext cx="4902" cy="182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2000" b="0" i="0" u="none" strike="noStrike" cap="none" normalizeH="0" baseline="0">
                  <a:ln>
                    <a:noFill/>
                  </a:ln>
                  <a:solidFill>
                    <a:schemeClr val="tx1"/>
                  </a:solidFill>
                  <a:effectLst/>
                  <a:latin typeface="Times New Roman" pitchFamily="18" charset="0"/>
                  <a:ea typeface="宋体" pitchFamily="2" charset="-122"/>
                  <a:cs typeface="宋体" pitchFamily="2" charset="-122"/>
                </a:rPr>
                <a:t>内存</a:t>
              </a:r>
              <a:endParaRPr kumimoji="0" lang="zh-CN" sz="20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42" name="矩形 163"/>
            <p:cNvSpPr>
              <a:spLocks noChangeArrowheads="1"/>
            </p:cNvSpPr>
            <p:nvPr/>
          </p:nvSpPr>
          <p:spPr bwMode="auto">
            <a:xfrm>
              <a:off x="21129" y="19735"/>
              <a:ext cx="9312" cy="182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2000" b="0" i="0" u="none" strike="noStrike" cap="none" normalizeH="0" baseline="0">
                  <a:ln>
                    <a:noFill/>
                  </a:ln>
                  <a:solidFill>
                    <a:schemeClr val="tx1"/>
                  </a:solidFill>
                  <a:effectLst/>
                  <a:latin typeface="Times New Roman" pitchFamily="18" charset="0"/>
                  <a:ea typeface="宋体" pitchFamily="2" charset="-122"/>
                  <a:cs typeface="宋体" pitchFamily="2" charset="-122"/>
                </a:rPr>
                <a:t>主机与控制器接口</a:t>
              </a:r>
              <a:endParaRPr kumimoji="0" lang="zh-CN" sz="20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43" name="矩形 164"/>
            <p:cNvSpPr>
              <a:spLocks noChangeArrowheads="1"/>
            </p:cNvSpPr>
            <p:nvPr/>
          </p:nvSpPr>
          <p:spPr bwMode="auto">
            <a:xfrm>
              <a:off x="32559" y="19783"/>
              <a:ext cx="10836" cy="182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2000" b="0" i="0" u="none" strike="noStrike" cap="none" normalizeH="0" baseline="0">
                  <a:ln>
                    <a:noFill/>
                  </a:ln>
                  <a:solidFill>
                    <a:schemeClr val="tx1"/>
                  </a:solidFill>
                  <a:effectLst/>
                  <a:latin typeface="Times New Roman" pitchFamily="18" charset="0"/>
                  <a:ea typeface="宋体" pitchFamily="2" charset="-122"/>
                  <a:cs typeface="宋体" pitchFamily="2" charset="-122"/>
                </a:rPr>
                <a:t>控制器与块设备接口</a:t>
              </a:r>
              <a:endParaRPr kumimoji="0" lang="zh-CN" sz="20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44" name="文本框 26"/>
            <p:cNvSpPr txBox="1">
              <a:spLocks noChangeArrowheads="1"/>
            </p:cNvSpPr>
            <p:nvPr/>
          </p:nvSpPr>
          <p:spPr bwMode="auto">
            <a:xfrm>
              <a:off x="17183" y="3238"/>
              <a:ext cx="4578" cy="206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2000" b="0" i="0" u="none" strike="noStrike" cap="none" normalizeH="0" baseline="0">
                  <a:ln>
                    <a:noFill/>
                  </a:ln>
                  <a:solidFill>
                    <a:schemeClr val="tx1"/>
                  </a:solidFill>
                  <a:effectLst/>
                  <a:latin typeface="Arial" pitchFamily="34" charset="0"/>
                  <a:ea typeface="宋体" pitchFamily="2" charset="-122"/>
                  <a:cs typeface="Times New Roman" pitchFamily="18" charset="0"/>
                </a:rPr>
                <a:t>系统总线</a:t>
              </a:r>
              <a:endParaRPr kumimoji="0" lang="zh-CN" sz="20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45" name="文本框 26"/>
            <p:cNvSpPr txBox="1">
              <a:spLocks noChangeArrowheads="1"/>
            </p:cNvSpPr>
            <p:nvPr/>
          </p:nvSpPr>
          <p:spPr bwMode="auto">
            <a:xfrm>
              <a:off x="30442" y="2972"/>
              <a:ext cx="5486" cy="228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none" lIns="0" tIns="3600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Arial" pitchFamily="34" charset="0"/>
                  <a:ea typeface="宋体" pitchFamily="2" charset="-122"/>
                  <a:cs typeface="Times New Roman" pitchFamily="18" charset="0"/>
                </a:rPr>
                <a:t>DMA</a:t>
              </a:r>
              <a:r>
                <a:rPr kumimoji="0" lang="zh-CN" altLang="en-US" sz="2000" b="0" i="0" u="none" strike="noStrike" cap="none" normalizeH="0" baseline="0">
                  <a:ln>
                    <a:noFill/>
                  </a:ln>
                  <a:solidFill>
                    <a:schemeClr val="tx1"/>
                  </a:solidFill>
                  <a:effectLst/>
                  <a:latin typeface="Arial" pitchFamily="34" charset="0"/>
                  <a:ea typeface="宋体" pitchFamily="2" charset="-122"/>
                  <a:cs typeface="Times New Roman" pitchFamily="18" charset="0"/>
                </a:rPr>
                <a:t>控制器</a:t>
              </a:r>
              <a:endParaRPr kumimoji="0" lang="zh-CN" altLang="en-US" sz="20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46" name="左右箭头 1"/>
            <p:cNvSpPr>
              <a:spLocks noChangeArrowheads="1"/>
            </p:cNvSpPr>
            <p:nvPr/>
          </p:nvSpPr>
          <p:spPr bwMode="auto">
            <a:xfrm>
              <a:off x="2133" y="1562"/>
              <a:ext cx="42215" cy="1371"/>
            </a:xfrm>
            <a:prstGeom prst="leftRightArrow">
              <a:avLst>
                <a:gd name="adj1" fmla="val 50000"/>
                <a:gd name="adj2" fmla="val 49893"/>
              </a:avLst>
            </a:prstGeom>
            <a:solidFill>
              <a:srgbClr val="FFFFFF"/>
            </a:solidFill>
            <a:ln w="6350">
              <a:solidFill>
                <a:srgbClr val="000000"/>
              </a:solidFill>
              <a:round/>
              <a:headEnd/>
              <a:tailEnd/>
            </a:ln>
          </p:spPr>
          <p:txBody>
            <a:bodyPr vert="horz" wrap="square" lIns="91440" tIns="45720" rIns="91440" bIns="45720" numCol="1" anchor="ctr" anchorCtr="0" compatLnSpc="1">
              <a:prstTxWarp prst="textNoShape">
                <a:avLst/>
              </a:prstTxWarp>
            </a:bodyPr>
            <a:lstStyle/>
            <a:p>
              <a:endParaRPr lang="zh-CN" altLang="en-US" sz="2000"/>
            </a:p>
          </p:txBody>
        </p:sp>
        <p:sp>
          <p:nvSpPr>
            <p:cNvPr id="47" name="上下箭头 11"/>
            <p:cNvSpPr>
              <a:spLocks noChangeArrowheads="1"/>
            </p:cNvSpPr>
            <p:nvPr/>
          </p:nvSpPr>
          <p:spPr bwMode="auto">
            <a:xfrm>
              <a:off x="4038" y="2781"/>
              <a:ext cx="1219" cy="2781"/>
            </a:xfrm>
            <a:prstGeom prst="upDownArrow">
              <a:avLst>
                <a:gd name="adj1" fmla="val 50000"/>
                <a:gd name="adj2" fmla="val 50000"/>
              </a:avLst>
            </a:prstGeom>
            <a:solidFill>
              <a:srgbClr val="FFFFFF"/>
            </a:solidFill>
            <a:ln w="6350">
              <a:solidFill>
                <a:srgbClr val="000000"/>
              </a:solidFill>
              <a:round/>
              <a:headEnd/>
              <a:tailEnd/>
            </a:ln>
          </p:spPr>
          <p:txBody>
            <a:bodyPr vert="horz" wrap="square" lIns="91440" tIns="45720" rIns="91440" bIns="45720" numCol="1" anchor="ctr" anchorCtr="0" compatLnSpc="1">
              <a:prstTxWarp prst="textNoShape">
                <a:avLst/>
              </a:prstTxWarp>
            </a:bodyPr>
            <a:lstStyle/>
            <a:p>
              <a:endParaRPr lang="zh-CN" altLang="en-US" sz="2000"/>
            </a:p>
          </p:txBody>
        </p:sp>
        <p:sp>
          <p:nvSpPr>
            <p:cNvPr id="48" name="上下箭头 412"/>
            <p:cNvSpPr>
              <a:spLocks noChangeArrowheads="1"/>
            </p:cNvSpPr>
            <p:nvPr/>
          </p:nvSpPr>
          <p:spPr bwMode="auto">
            <a:xfrm>
              <a:off x="12772" y="2638"/>
              <a:ext cx="1220" cy="2781"/>
            </a:xfrm>
            <a:prstGeom prst="upDownArrow">
              <a:avLst>
                <a:gd name="adj1" fmla="val 50000"/>
                <a:gd name="adj2" fmla="val 49959"/>
              </a:avLst>
            </a:prstGeom>
            <a:solidFill>
              <a:srgbClr val="FFFFFF"/>
            </a:solidFill>
            <a:ln w="6350">
              <a:solidFill>
                <a:srgbClr val="000000"/>
              </a:solidFill>
              <a:round/>
              <a:headEnd/>
              <a:tailEnd/>
            </a:ln>
          </p:spPr>
          <p:txBody>
            <a:bodyPr vert="horz" wrap="square" lIns="91440" tIns="45720" rIns="91440" bIns="45720" numCol="1"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20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49" name="上下箭头 413"/>
            <p:cNvSpPr>
              <a:spLocks noChangeArrowheads="1"/>
            </p:cNvSpPr>
            <p:nvPr/>
          </p:nvSpPr>
          <p:spPr bwMode="auto">
            <a:xfrm>
              <a:off x="24583" y="2723"/>
              <a:ext cx="1220" cy="2782"/>
            </a:xfrm>
            <a:prstGeom prst="upDownArrow">
              <a:avLst>
                <a:gd name="adj1" fmla="val 50000"/>
                <a:gd name="adj2" fmla="val 49977"/>
              </a:avLst>
            </a:prstGeom>
            <a:solidFill>
              <a:srgbClr val="FFFFFF"/>
            </a:solidFill>
            <a:ln w="6350">
              <a:solidFill>
                <a:srgbClr val="000000"/>
              </a:solidFill>
              <a:round/>
              <a:headEnd/>
              <a:tailEnd/>
            </a:ln>
          </p:spPr>
          <p:txBody>
            <a:bodyPr vert="horz" wrap="square" lIns="91440" tIns="45720" rIns="91440" bIns="45720" numCol="1"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20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grpSp>
      <p:sp>
        <p:nvSpPr>
          <p:cNvPr id="51" name="矩形 50"/>
          <p:cNvSpPr/>
          <p:nvPr/>
        </p:nvSpPr>
        <p:spPr>
          <a:xfrm>
            <a:off x="1699058" y="5954738"/>
            <a:ext cx="8132562" cy="323165"/>
          </a:xfrm>
          <a:prstGeom prst="rect">
            <a:avLst/>
          </a:prstGeom>
          <a:ln>
            <a:noFill/>
          </a:ln>
        </p:spPr>
        <p:style>
          <a:lnRef idx="2">
            <a:schemeClr val="dk1"/>
          </a:lnRef>
          <a:fillRef idx="1">
            <a:schemeClr val="lt1"/>
          </a:fillRef>
          <a:effectRef idx="0">
            <a:schemeClr val="dk1"/>
          </a:effectRef>
          <a:fontRef idx="minor">
            <a:schemeClr val="dk1"/>
          </a:fontRef>
        </p:style>
        <p:txBody>
          <a:bodyPr wrap="square">
            <a:spAutoFit/>
          </a:bodyPr>
          <a:lstStyle/>
          <a:p>
            <a:pPr marL="1333500" indent="266700" algn="ctr">
              <a:lnSpc>
                <a:spcPts val="1800"/>
              </a:lnSpc>
              <a:spcAft>
                <a:spcPts val="0"/>
              </a:spcAft>
            </a:pPr>
            <a:r>
              <a:rPr lang="zh-CN" altLang="zh-CN" sz="2000" kern="100" dirty="0">
                <a:latin typeface="Times New Roman"/>
                <a:ea typeface="宋体"/>
                <a:cs typeface="Times New Roman"/>
              </a:rPr>
              <a:t>图</a:t>
            </a:r>
            <a:r>
              <a:rPr lang="en-US" altLang="zh-CN" sz="2000" kern="100" dirty="0">
                <a:latin typeface="Times New Roman"/>
                <a:ea typeface="宋体"/>
                <a:cs typeface="Times New Roman"/>
              </a:rPr>
              <a:t>8-4  DMA</a:t>
            </a:r>
            <a:r>
              <a:rPr lang="zh-CN" altLang="zh-CN" sz="2000" kern="100" dirty="0">
                <a:latin typeface="Times New Roman"/>
                <a:ea typeface="宋体"/>
                <a:cs typeface="Times New Roman"/>
              </a:rPr>
              <a:t>控制器的组成</a:t>
            </a:r>
            <a:endParaRPr lang="zh-CN" altLang="zh-CN" sz="2000" kern="100" dirty="0">
              <a:effectLst/>
              <a:latin typeface="Calibri"/>
              <a:ea typeface="宋体"/>
              <a:cs typeface="Times New Roman"/>
            </a:endParaRPr>
          </a:p>
        </p:txBody>
      </p:sp>
    </p:spTree>
    <p:extLst>
      <p:ext uri="{BB962C8B-B14F-4D97-AF65-F5344CB8AC3E}">
        <p14:creationId xmlns:p14="http://schemas.microsoft.com/office/powerpoint/2010/main" val="680819498"/>
      </p:ext>
    </p:extLst>
  </p:cSld>
  <p:clrMapOvr>
    <a:masterClrMapping/>
  </p:clrMapOvr>
  <p:transition>
    <p:random/>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8.2.4 </a:t>
            </a:r>
            <a:r>
              <a:rPr lang="zh-CN" altLang="zh-CN" dirty="0"/>
              <a:t>通道方式</a:t>
            </a:r>
            <a:endParaRPr lang="zh-CN" altLang="en-US" dirty="0"/>
          </a:p>
        </p:txBody>
      </p:sp>
      <p:sp>
        <p:nvSpPr>
          <p:cNvPr id="3" name="内容占位符 2"/>
          <p:cNvSpPr>
            <a:spLocks noGrp="1"/>
          </p:cNvSpPr>
          <p:nvPr>
            <p:ph idx="1"/>
          </p:nvPr>
        </p:nvSpPr>
        <p:spPr>
          <a:xfrm>
            <a:off x="724077" y="972812"/>
            <a:ext cx="10968990" cy="1075907"/>
          </a:xfrm>
        </p:spPr>
        <p:txBody>
          <a:bodyPr>
            <a:normAutofit fontScale="92500" lnSpcReduction="10000"/>
          </a:bodyPr>
          <a:lstStyle/>
          <a:p>
            <a:r>
              <a:rPr lang="zh-CN" altLang="zh-CN" dirty="0"/>
              <a:t>通道是专门进行</a:t>
            </a:r>
            <a:r>
              <a:rPr lang="en-US" altLang="zh-CN" dirty="0"/>
              <a:t>I/O</a:t>
            </a:r>
            <a:r>
              <a:rPr lang="zh-CN" altLang="zh-CN" dirty="0"/>
              <a:t>操作的处理机，具有执行</a:t>
            </a:r>
            <a:r>
              <a:rPr lang="en-US" altLang="zh-CN" dirty="0"/>
              <a:t>I/O</a:t>
            </a:r>
            <a:r>
              <a:rPr lang="zh-CN" altLang="zh-CN" dirty="0"/>
              <a:t>指令的能力，并通过执行通道程序来控制</a:t>
            </a:r>
            <a:r>
              <a:rPr lang="en-US" altLang="zh-CN" dirty="0"/>
              <a:t>I/O</a:t>
            </a:r>
            <a:r>
              <a:rPr lang="zh-CN" altLang="zh-CN" dirty="0"/>
              <a:t>操作。</a:t>
            </a:r>
          </a:p>
          <a:p>
            <a:endParaRPr lang="zh-CN" altLang="en-US" dirty="0"/>
          </a:p>
        </p:txBody>
      </p:sp>
      <p:sp>
        <p:nvSpPr>
          <p:cNvPr id="4" name="内容占位符 2">
            <a:extLst>
              <a:ext uri="{FF2B5EF4-FFF2-40B4-BE49-F238E27FC236}">
                <a16:creationId xmlns:a16="http://schemas.microsoft.com/office/drawing/2014/main" id="{C1B4E35B-5B5B-4E66-8BBB-585EE1B9F441}"/>
              </a:ext>
            </a:extLst>
          </p:cNvPr>
          <p:cNvSpPr txBox="1">
            <a:spLocks/>
          </p:cNvSpPr>
          <p:nvPr/>
        </p:nvSpPr>
        <p:spPr>
          <a:xfrm>
            <a:off x="724076" y="2274425"/>
            <a:ext cx="10968990" cy="3049929"/>
          </a:xfrm>
          <a:prstGeom prst="rect">
            <a:avLst/>
          </a:prstGeo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Clr>
                <a:srgbClr val="2094CE"/>
              </a:buClr>
              <a:buSzPct val="80000"/>
              <a:buFont typeface="Arial" panose="020B0604020202020204" pitchFamily="34" charset="0"/>
              <a:buChar char="►"/>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Clr>
                <a:srgbClr val="FF9800"/>
              </a:buClr>
              <a:buSzPct val="90000"/>
              <a:buFont typeface="Arial" panose="020B0604020202020204" pitchFamily="34" charset="0"/>
              <a:buChar char="♦"/>
              <a:tabLst>
                <a:tab pos="1609725" algn="l"/>
              </a:tabLst>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sz="2800" dirty="0">
                <a:solidFill>
                  <a:srgbClr val="C00000"/>
                </a:solidFill>
                <a:latin typeface="黑体" pitchFamily="2" charset="-122"/>
                <a:ea typeface="黑体" pitchFamily="2" charset="-122"/>
              </a:rPr>
              <a:t>引入原因</a:t>
            </a:r>
            <a:r>
              <a:rPr lang="zh-CN" altLang="en-US" sz="2200" dirty="0">
                <a:solidFill>
                  <a:schemeClr val="tx1">
                    <a:lumMod val="75000"/>
                    <a:lumOff val="25000"/>
                  </a:schemeClr>
                </a:solidFill>
                <a:latin typeface="微软雅黑" pitchFamily="34" charset="-122"/>
              </a:rPr>
              <a:t>：虽然设备控制器可以大大减少</a:t>
            </a:r>
            <a:r>
              <a:rPr lang="en-US" altLang="zh-CN" sz="2200" dirty="0">
                <a:solidFill>
                  <a:schemeClr val="tx1">
                    <a:lumMod val="75000"/>
                    <a:lumOff val="25000"/>
                  </a:schemeClr>
                </a:solidFill>
                <a:latin typeface="微软雅黑" pitchFamily="34" charset="-122"/>
              </a:rPr>
              <a:t>CPU</a:t>
            </a:r>
            <a:r>
              <a:rPr lang="zh-CN" altLang="en-US" sz="2200" dirty="0">
                <a:solidFill>
                  <a:schemeClr val="tx1">
                    <a:lumMod val="75000"/>
                    <a:lumOff val="25000"/>
                  </a:schemeClr>
                </a:solidFill>
                <a:latin typeface="微软雅黑" pitchFamily="34" charset="-122"/>
              </a:rPr>
              <a:t>对</a:t>
            </a:r>
            <a:r>
              <a:rPr lang="en-US" altLang="zh-CN" sz="2200" dirty="0">
                <a:solidFill>
                  <a:schemeClr val="tx1">
                    <a:lumMod val="75000"/>
                    <a:lumOff val="25000"/>
                  </a:schemeClr>
                </a:solidFill>
                <a:latin typeface="微软雅黑" pitchFamily="34" charset="-122"/>
              </a:rPr>
              <a:t>I/O</a:t>
            </a:r>
            <a:r>
              <a:rPr lang="zh-CN" altLang="en-US" sz="2200" dirty="0">
                <a:solidFill>
                  <a:schemeClr val="tx1">
                    <a:lumMod val="75000"/>
                    <a:lumOff val="25000"/>
                  </a:schemeClr>
                </a:solidFill>
                <a:latin typeface="微软雅黑" pitchFamily="34" charset="-122"/>
              </a:rPr>
              <a:t>的干预，但当设备较多时，</a:t>
            </a:r>
            <a:r>
              <a:rPr lang="en-US" altLang="zh-CN" sz="2200" dirty="0">
                <a:solidFill>
                  <a:schemeClr val="tx1">
                    <a:lumMod val="75000"/>
                    <a:lumOff val="25000"/>
                  </a:schemeClr>
                </a:solidFill>
                <a:latin typeface="微软雅黑" pitchFamily="34" charset="-122"/>
              </a:rPr>
              <a:t>CPU</a:t>
            </a:r>
            <a:r>
              <a:rPr lang="zh-CN" altLang="en-US" sz="2200" dirty="0">
                <a:solidFill>
                  <a:schemeClr val="tx1">
                    <a:lumMod val="75000"/>
                    <a:lumOff val="25000"/>
                  </a:schemeClr>
                </a:solidFill>
                <a:latin typeface="微软雅黑" pitchFamily="34" charset="-122"/>
              </a:rPr>
              <a:t>的负担仍然很重。</a:t>
            </a:r>
          </a:p>
          <a:p>
            <a:pPr>
              <a:defRPr/>
            </a:pPr>
            <a:r>
              <a:rPr lang="zh-CN" altLang="en-US" b="1" dirty="0">
                <a:solidFill>
                  <a:srgbClr val="0000FF"/>
                </a:solidFill>
              </a:rPr>
              <a:t>工作过程</a:t>
            </a:r>
            <a:r>
              <a:rPr lang="zh-CN" altLang="en-US" dirty="0">
                <a:latin typeface="微软雅黑" pitchFamily="34" charset="-122"/>
              </a:rPr>
              <a:t>：</a:t>
            </a:r>
            <a:r>
              <a:rPr lang="en-US" altLang="zh-CN" dirty="0">
                <a:latin typeface="微软雅黑" pitchFamily="34" charset="-122"/>
              </a:rPr>
              <a:t>CPU</a:t>
            </a:r>
            <a:r>
              <a:rPr lang="zh-CN" altLang="en-US" dirty="0">
                <a:latin typeface="微软雅黑" pitchFamily="34" charset="-122"/>
              </a:rPr>
              <a:t>需要传送大量数据时，只需向通道发送一条指令即可，通道接收到该指令后，便根据指令要求执行通道程序，完成规定的</a:t>
            </a:r>
            <a:r>
              <a:rPr lang="en-US" altLang="zh-CN" dirty="0">
                <a:latin typeface="微软雅黑" pitchFamily="34" charset="-122"/>
              </a:rPr>
              <a:t>I/O</a:t>
            </a:r>
            <a:r>
              <a:rPr lang="zh-CN" altLang="en-US" dirty="0">
                <a:latin typeface="微软雅黑" pitchFamily="34" charset="-122"/>
              </a:rPr>
              <a:t>操作，任务完成后向</a:t>
            </a:r>
            <a:r>
              <a:rPr lang="en-US" altLang="zh-CN" dirty="0">
                <a:latin typeface="微软雅黑" pitchFamily="34" charset="-122"/>
              </a:rPr>
              <a:t>CPU</a:t>
            </a:r>
            <a:r>
              <a:rPr lang="zh-CN" altLang="en-US" dirty="0">
                <a:latin typeface="微软雅黑" pitchFamily="34" charset="-122"/>
              </a:rPr>
              <a:t>发出中断信号。</a:t>
            </a:r>
          </a:p>
        </p:txBody>
      </p:sp>
      <p:sp>
        <p:nvSpPr>
          <p:cNvPr id="5" name="文本框 4">
            <a:extLst>
              <a:ext uri="{FF2B5EF4-FFF2-40B4-BE49-F238E27FC236}">
                <a16:creationId xmlns:a16="http://schemas.microsoft.com/office/drawing/2014/main" id="{42CC0010-2E85-4064-8211-0EFB59EEF716}"/>
              </a:ext>
            </a:extLst>
          </p:cNvPr>
          <p:cNvSpPr txBox="1"/>
          <p:nvPr/>
        </p:nvSpPr>
        <p:spPr>
          <a:xfrm>
            <a:off x="901579" y="5324354"/>
            <a:ext cx="10613984" cy="523220"/>
          </a:xfrm>
          <a:prstGeom prst="rect">
            <a:avLst/>
          </a:prstGeom>
          <a:noFill/>
        </p:spPr>
        <p:txBody>
          <a:bodyPr wrap="square" rtlCol="0">
            <a:spAutoFit/>
          </a:bodyPr>
          <a:lstStyle/>
          <a:p>
            <a:r>
              <a:rPr lang="zh-CN" altLang="en-US" sz="2800" dirty="0">
                <a:solidFill>
                  <a:srgbClr val="C00000"/>
                </a:solidFill>
                <a:latin typeface="黑体" pitchFamily="2" charset="-122"/>
                <a:ea typeface="黑体" pitchFamily="2" charset="-122"/>
              </a:rPr>
              <a:t>通道的类型</a:t>
            </a:r>
            <a:r>
              <a:rPr lang="zh-CN" altLang="en-US" sz="2400" dirty="0">
                <a:solidFill>
                  <a:schemeClr val="tx1">
                    <a:lumMod val="75000"/>
                    <a:lumOff val="25000"/>
                  </a:schemeClr>
                </a:solidFill>
              </a:rPr>
              <a:t>：</a:t>
            </a:r>
            <a:r>
              <a:rPr lang="zh-CN" altLang="zh-CN" sz="2400" dirty="0">
                <a:solidFill>
                  <a:schemeClr val="tx1">
                    <a:lumMod val="75000"/>
                    <a:lumOff val="25000"/>
                  </a:schemeClr>
                </a:solidFill>
                <a:latin typeface="微软雅黑" pitchFamily="34" charset="-122"/>
              </a:rPr>
              <a:t>字节多路通道、数据选择通道和数组多路通道</a:t>
            </a:r>
            <a:endParaRPr lang="en-US" altLang="zh-CN" sz="2400" dirty="0">
              <a:solidFill>
                <a:schemeClr val="tx1">
                  <a:lumMod val="75000"/>
                  <a:lumOff val="25000"/>
                </a:schemeClr>
              </a:solidFill>
              <a:latin typeface="微软雅黑" pitchFamily="34" charset="-122"/>
            </a:endParaRPr>
          </a:p>
        </p:txBody>
      </p:sp>
    </p:spTree>
    <p:extLst>
      <p:ext uri="{BB962C8B-B14F-4D97-AF65-F5344CB8AC3E}">
        <p14:creationId xmlns:p14="http://schemas.microsoft.com/office/powerpoint/2010/main" val="4184543454"/>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5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B5DE054-DAAA-4F48-8E13-7F2CBD18363D}"/>
              </a:ext>
            </a:extLst>
          </p:cNvPr>
          <p:cNvSpPr>
            <a:spLocks noGrp="1"/>
          </p:cNvSpPr>
          <p:nvPr>
            <p:ph type="title"/>
          </p:nvPr>
        </p:nvSpPr>
        <p:spPr/>
        <p:txBody>
          <a:bodyPr/>
          <a:lstStyle/>
          <a:p>
            <a:pPr>
              <a:defRPr/>
            </a:pPr>
            <a:r>
              <a:rPr lang="zh-CN" altLang="en-US" dirty="0"/>
              <a:t>通道</a:t>
            </a:r>
          </a:p>
        </p:txBody>
      </p:sp>
      <p:sp>
        <p:nvSpPr>
          <p:cNvPr id="3" name="内容占位符 2">
            <a:extLst>
              <a:ext uri="{FF2B5EF4-FFF2-40B4-BE49-F238E27FC236}">
                <a16:creationId xmlns:a16="http://schemas.microsoft.com/office/drawing/2014/main" id="{8A4DAD14-2DA4-4A25-8AB7-249FDE80EB81}"/>
              </a:ext>
            </a:extLst>
          </p:cNvPr>
          <p:cNvSpPr>
            <a:spLocks noGrp="1"/>
          </p:cNvSpPr>
          <p:nvPr>
            <p:ph idx="1"/>
          </p:nvPr>
        </p:nvSpPr>
        <p:spPr>
          <a:xfrm>
            <a:off x="608330" y="819971"/>
            <a:ext cx="10968990" cy="5429700"/>
          </a:xfrm>
        </p:spPr>
        <p:txBody>
          <a:bodyPr/>
          <a:lstStyle/>
          <a:p>
            <a:pPr>
              <a:defRPr/>
            </a:pPr>
            <a:r>
              <a:rPr lang="zh-CN" altLang="en-US" sz="2800" dirty="0">
                <a:solidFill>
                  <a:srgbClr val="C00000"/>
                </a:solidFill>
                <a:latin typeface="黑体" pitchFamily="2" charset="-122"/>
                <a:ea typeface="黑体" pitchFamily="2" charset="-122"/>
              </a:rPr>
              <a:t>通道的类型</a:t>
            </a:r>
            <a:r>
              <a:rPr lang="zh-CN" altLang="en-US" dirty="0">
                <a:solidFill>
                  <a:schemeClr val="tx1">
                    <a:lumMod val="75000"/>
                    <a:lumOff val="25000"/>
                  </a:schemeClr>
                </a:solidFill>
              </a:rPr>
              <a:t>：</a:t>
            </a:r>
            <a:r>
              <a:rPr lang="zh-CN" altLang="zh-CN" dirty="0">
                <a:solidFill>
                  <a:schemeClr val="tx1">
                    <a:lumMod val="75000"/>
                    <a:lumOff val="25000"/>
                  </a:schemeClr>
                </a:solidFill>
                <a:latin typeface="微软雅黑" pitchFamily="34" charset="-122"/>
              </a:rPr>
              <a:t>字节多路通道、数据选择通道和数组多路通道</a:t>
            </a:r>
            <a:endParaRPr lang="en-US" altLang="zh-CN" dirty="0">
              <a:solidFill>
                <a:schemeClr val="tx1">
                  <a:lumMod val="75000"/>
                  <a:lumOff val="25000"/>
                </a:schemeClr>
              </a:solidFill>
              <a:latin typeface="微软雅黑" pitchFamily="34" charset="-122"/>
            </a:endParaRPr>
          </a:p>
          <a:p>
            <a:pPr lvl="1">
              <a:defRPr/>
            </a:pPr>
            <a:r>
              <a:rPr lang="zh-CN" altLang="zh-CN" b="1" dirty="0"/>
              <a:t>字节多路通道</a:t>
            </a:r>
            <a:r>
              <a:rPr lang="zh-CN" altLang="en-US" dirty="0"/>
              <a:t>：</a:t>
            </a:r>
            <a:r>
              <a:rPr lang="zh-CN" altLang="zh-CN" dirty="0"/>
              <a:t>指以字节为信息传输单位的通道。它通常含有几十个到数百个非分配型子通道，每个子通道连接一台</a:t>
            </a:r>
            <a:r>
              <a:rPr lang="en-US" altLang="zh-CN" dirty="0"/>
              <a:t>I/O</a:t>
            </a:r>
            <a:r>
              <a:rPr lang="zh-CN" altLang="zh-CN" dirty="0"/>
              <a:t>设备，这些子通道按时间片轮转方式共享主通道</a:t>
            </a:r>
            <a:r>
              <a:rPr lang="zh-CN" altLang="en-US" dirty="0"/>
              <a:t>。</a:t>
            </a:r>
            <a:endParaRPr lang="en-US" altLang="zh-CN" dirty="0"/>
          </a:p>
          <a:p>
            <a:pPr lvl="1">
              <a:defRPr/>
            </a:pPr>
            <a:endParaRPr lang="en-US" altLang="zh-CN" dirty="0"/>
          </a:p>
          <a:p>
            <a:pPr lvl="1">
              <a:defRPr/>
            </a:pPr>
            <a:endParaRPr lang="en-US" altLang="zh-CN" dirty="0"/>
          </a:p>
          <a:p>
            <a:pPr lvl="1">
              <a:defRPr/>
            </a:pPr>
            <a:endParaRPr lang="en-US" altLang="zh-CN" sz="1600" dirty="0"/>
          </a:p>
          <a:p>
            <a:pPr lvl="1">
              <a:defRPr/>
            </a:pPr>
            <a:endParaRPr lang="en-US" altLang="zh-CN" sz="1200" dirty="0"/>
          </a:p>
          <a:p>
            <a:pPr lvl="2">
              <a:defRPr/>
            </a:pPr>
            <a:r>
              <a:rPr lang="zh-CN" altLang="en-US" b="1" dirty="0">
                <a:solidFill>
                  <a:srgbClr val="0000FF"/>
                </a:solidFill>
              </a:rPr>
              <a:t>特点</a:t>
            </a:r>
            <a:r>
              <a:rPr lang="zh-CN" altLang="en-US" dirty="0">
                <a:solidFill>
                  <a:schemeClr val="tx1">
                    <a:lumMod val="85000"/>
                    <a:lumOff val="15000"/>
                  </a:schemeClr>
                </a:solidFill>
              </a:rPr>
              <a:t>：传输速率较低，</a:t>
            </a:r>
            <a:r>
              <a:rPr lang="zh-CN" altLang="zh-CN" dirty="0"/>
              <a:t>只适用于连接打印机、卡片输入</a:t>
            </a:r>
            <a:r>
              <a:rPr lang="en-US" altLang="zh-CN" dirty="0"/>
              <a:t>/</a:t>
            </a:r>
            <a:r>
              <a:rPr lang="zh-CN" altLang="zh-CN" dirty="0"/>
              <a:t>输出机等低速或中速</a:t>
            </a:r>
            <a:r>
              <a:rPr lang="en-US" altLang="zh-CN" dirty="0"/>
              <a:t>I/O</a:t>
            </a:r>
            <a:r>
              <a:rPr lang="zh-CN" altLang="zh-CN" dirty="0"/>
              <a:t>设备，不适用于高速</a:t>
            </a:r>
            <a:r>
              <a:rPr lang="en-US" altLang="zh-CN" dirty="0"/>
              <a:t>I/O</a:t>
            </a:r>
            <a:r>
              <a:rPr lang="zh-CN" altLang="zh-CN" dirty="0"/>
              <a:t>设备。</a:t>
            </a:r>
          </a:p>
        </p:txBody>
      </p:sp>
      <p:pic>
        <p:nvPicPr>
          <p:cNvPr id="61442" name="Picture 2">
            <a:extLst>
              <a:ext uri="{FF2B5EF4-FFF2-40B4-BE49-F238E27FC236}">
                <a16:creationId xmlns:a16="http://schemas.microsoft.com/office/drawing/2014/main" id="{BD807298-6A45-4187-AD83-B9F00645BA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75957" y="2935147"/>
            <a:ext cx="5003800" cy="1625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61442"/>
                                        </p:tgtEl>
                                        <p:attrNameLst>
                                          <p:attrName>style.visibility</p:attrName>
                                        </p:attrNameLst>
                                      </p:cBhvr>
                                      <p:to>
                                        <p:strVal val="visible"/>
                                      </p:to>
                                    </p:set>
                                    <p:animEffect transition="in" filter="fade">
                                      <p:cBhvr>
                                        <p:cTn id="10" dur="500"/>
                                        <p:tgtEl>
                                          <p:spTgt spid="61442"/>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animEffect transition="in" filter="fade">
                                      <p:cBhvr>
                                        <p:cTn id="15"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65BA242-A6D3-4419-827D-E7EC84AAF3AB}"/>
              </a:ext>
            </a:extLst>
          </p:cNvPr>
          <p:cNvSpPr>
            <a:spLocks noGrp="1"/>
          </p:cNvSpPr>
          <p:nvPr>
            <p:ph type="title"/>
          </p:nvPr>
        </p:nvSpPr>
        <p:spPr/>
        <p:txBody>
          <a:bodyPr/>
          <a:lstStyle/>
          <a:p>
            <a:pPr>
              <a:defRPr/>
            </a:pPr>
            <a:r>
              <a:rPr lang="zh-CN" altLang="en-US" dirty="0"/>
              <a:t>通道</a:t>
            </a:r>
          </a:p>
        </p:txBody>
      </p:sp>
      <p:sp>
        <p:nvSpPr>
          <p:cNvPr id="3" name="内容占位符 2">
            <a:extLst>
              <a:ext uri="{FF2B5EF4-FFF2-40B4-BE49-F238E27FC236}">
                <a16:creationId xmlns:a16="http://schemas.microsoft.com/office/drawing/2014/main" id="{EFC4B085-6F69-4660-92F7-F15D4E58CB3B}"/>
              </a:ext>
            </a:extLst>
          </p:cNvPr>
          <p:cNvSpPr>
            <a:spLocks noGrp="1"/>
          </p:cNvSpPr>
          <p:nvPr>
            <p:ph idx="1"/>
          </p:nvPr>
        </p:nvSpPr>
        <p:spPr/>
        <p:txBody>
          <a:bodyPr/>
          <a:lstStyle/>
          <a:p>
            <a:pPr>
              <a:defRPr/>
            </a:pPr>
            <a:r>
              <a:rPr lang="zh-CN" altLang="en-US" sz="2800" dirty="0">
                <a:solidFill>
                  <a:srgbClr val="C00000"/>
                </a:solidFill>
                <a:latin typeface="黑体" pitchFamily="2" charset="-122"/>
                <a:ea typeface="黑体" pitchFamily="2" charset="-122"/>
              </a:rPr>
              <a:t>通道的类型</a:t>
            </a:r>
            <a:r>
              <a:rPr lang="zh-CN" altLang="en-US" sz="2200" dirty="0">
                <a:solidFill>
                  <a:schemeClr val="tx1">
                    <a:lumMod val="75000"/>
                    <a:lumOff val="25000"/>
                  </a:schemeClr>
                </a:solidFill>
              </a:rPr>
              <a:t>：</a:t>
            </a:r>
            <a:r>
              <a:rPr lang="zh-CN" altLang="zh-CN" sz="2200" dirty="0">
                <a:solidFill>
                  <a:schemeClr val="tx1">
                    <a:lumMod val="75000"/>
                    <a:lumOff val="25000"/>
                  </a:schemeClr>
                </a:solidFill>
                <a:latin typeface="微软雅黑" pitchFamily="34" charset="-122"/>
              </a:rPr>
              <a:t>字节多路通道、数</a:t>
            </a:r>
            <a:r>
              <a:rPr lang="zh-CN" altLang="en-US" sz="2200" dirty="0">
                <a:solidFill>
                  <a:schemeClr val="tx1">
                    <a:lumMod val="75000"/>
                    <a:lumOff val="25000"/>
                  </a:schemeClr>
                </a:solidFill>
                <a:latin typeface="微软雅黑" pitchFamily="34" charset="-122"/>
              </a:rPr>
              <a:t>组</a:t>
            </a:r>
            <a:r>
              <a:rPr lang="zh-CN" altLang="zh-CN" sz="2200" dirty="0">
                <a:solidFill>
                  <a:schemeClr val="tx1">
                    <a:lumMod val="75000"/>
                    <a:lumOff val="25000"/>
                  </a:schemeClr>
                </a:solidFill>
                <a:latin typeface="微软雅黑" pitchFamily="34" charset="-122"/>
              </a:rPr>
              <a:t>选择通道和数组多路通道</a:t>
            </a:r>
            <a:endParaRPr lang="en-US" altLang="zh-CN" sz="2200" dirty="0">
              <a:solidFill>
                <a:schemeClr val="tx1">
                  <a:lumMod val="75000"/>
                  <a:lumOff val="25000"/>
                </a:schemeClr>
              </a:solidFill>
              <a:latin typeface="微软雅黑" pitchFamily="34" charset="-122"/>
            </a:endParaRPr>
          </a:p>
          <a:p>
            <a:pPr lvl="1">
              <a:defRPr/>
            </a:pPr>
            <a:r>
              <a:rPr lang="zh-CN" altLang="en-US" b="1" dirty="0"/>
              <a:t>数组选择</a:t>
            </a:r>
            <a:r>
              <a:rPr lang="zh-CN" altLang="zh-CN" b="1" dirty="0"/>
              <a:t>通道</a:t>
            </a:r>
            <a:r>
              <a:rPr lang="zh-CN" altLang="en-US" dirty="0"/>
              <a:t>：</a:t>
            </a:r>
            <a:r>
              <a:rPr lang="zh-CN" altLang="zh-CN" dirty="0"/>
              <a:t>指按数组方式进行数据传送的通道。它可以连接多台高速设备，但只含有一个分配型子通道，</a:t>
            </a:r>
            <a:r>
              <a:rPr lang="zh-CN" altLang="en-US" dirty="0"/>
              <a:t>该</a:t>
            </a:r>
            <a:r>
              <a:rPr lang="zh-CN" altLang="zh-CN" dirty="0"/>
              <a:t>子通道按</a:t>
            </a:r>
            <a:r>
              <a:rPr lang="zh-CN" altLang="en-US" dirty="0"/>
              <a:t>独占方式使用。</a:t>
            </a:r>
            <a:endParaRPr lang="en-US" altLang="zh-CN" dirty="0"/>
          </a:p>
          <a:p>
            <a:pPr lvl="2">
              <a:spcBef>
                <a:spcPts val="600"/>
              </a:spcBef>
              <a:defRPr/>
            </a:pPr>
            <a:r>
              <a:rPr lang="zh-CN" altLang="en-US" b="1" dirty="0">
                <a:solidFill>
                  <a:srgbClr val="0000FF"/>
                </a:solidFill>
              </a:rPr>
              <a:t>工作过程</a:t>
            </a:r>
            <a:r>
              <a:rPr lang="zh-CN" altLang="en-US" dirty="0"/>
              <a:t>：</a:t>
            </a:r>
            <a:r>
              <a:rPr lang="zh-CN" altLang="zh-CN" dirty="0"/>
              <a:t>在一段时间内，只能控制一台设备进行数据传送，</a:t>
            </a:r>
            <a:r>
              <a:rPr lang="zh-CN" altLang="en-US" dirty="0"/>
              <a:t>即该</a:t>
            </a:r>
            <a:r>
              <a:rPr lang="zh-CN" altLang="zh-CN" dirty="0"/>
              <a:t>设备</a:t>
            </a:r>
            <a:r>
              <a:rPr lang="zh-CN" altLang="en-US" dirty="0"/>
              <a:t>独占</a:t>
            </a:r>
            <a:r>
              <a:rPr lang="zh-CN" altLang="zh-CN" dirty="0"/>
              <a:t>通道，即使无数据传送，通道被闲置，也不允许其它设备使用，直至数据传送完毕后才释放该通道。</a:t>
            </a:r>
            <a:endParaRPr lang="en-US" altLang="zh-CN" dirty="0"/>
          </a:p>
          <a:p>
            <a:pPr lvl="2">
              <a:defRPr/>
            </a:pPr>
            <a:r>
              <a:rPr lang="zh-CN" altLang="en-US" b="1" dirty="0">
                <a:solidFill>
                  <a:srgbClr val="0000FF"/>
                </a:solidFill>
              </a:rPr>
              <a:t>特点</a:t>
            </a:r>
            <a:r>
              <a:rPr lang="zh-CN" altLang="en-US" dirty="0"/>
              <a:t>：具</a:t>
            </a:r>
            <a:r>
              <a:rPr lang="zh-CN" altLang="zh-CN" dirty="0"/>
              <a:t>有很高的传输速率，但通道利用率很低</a:t>
            </a:r>
            <a:r>
              <a:rPr lang="zh-CN" altLang="en-US" dirty="0"/>
              <a:t>，</a:t>
            </a:r>
            <a:r>
              <a:rPr lang="zh-CN" altLang="zh-CN" dirty="0"/>
              <a:t>适用于连接高速外部设备，如磁盘，磁鼓等。</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8E33AC0-EBFF-4984-B25A-D2523F2A8B6E}"/>
              </a:ext>
            </a:extLst>
          </p:cNvPr>
          <p:cNvSpPr>
            <a:spLocks noGrp="1"/>
          </p:cNvSpPr>
          <p:nvPr>
            <p:ph type="title"/>
          </p:nvPr>
        </p:nvSpPr>
        <p:spPr/>
        <p:txBody>
          <a:bodyPr/>
          <a:lstStyle/>
          <a:p>
            <a:pPr>
              <a:defRPr/>
            </a:pPr>
            <a:r>
              <a:rPr lang="zh-CN" altLang="en-US" dirty="0"/>
              <a:t>通道</a:t>
            </a:r>
          </a:p>
        </p:txBody>
      </p:sp>
      <p:sp>
        <p:nvSpPr>
          <p:cNvPr id="3" name="内容占位符 2">
            <a:extLst>
              <a:ext uri="{FF2B5EF4-FFF2-40B4-BE49-F238E27FC236}">
                <a16:creationId xmlns:a16="http://schemas.microsoft.com/office/drawing/2014/main" id="{03CFA5EE-A947-4F57-9F7A-4784AE5512A3}"/>
              </a:ext>
            </a:extLst>
          </p:cNvPr>
          <p:cNvSpPr>
            <a:spLocks noGrp="1"/>
          </p:cNvSpPr>
          <p:nvPr>
            <p:ph idx="1"/>
          </p:nvPr>
        </p:nvSpPr>
        <p:spPr/>
        <p:txBody>
          <a:bodyPr/>
          <a:lstStyle/>
          <a:p>
            <a:pPr>
              <a:defRPr/>
            </a:pPr>
            <a:r>
              <a:rPr lang="zh-CN" altLang="en-US" sz="2800" dirty="0">
                <a:solidFill>
                  <a:srgbClr val="C00000"/>
                </a:solidFill>
                <a:latin typeface="黑体" pitchFamily="2" charset="-122"/>
                <a:ea typeface="黑体" pitchFamily="2" charset="-122"/>
              </a:rPr>
              <a:t>通道的类型</a:t>
            </a:r>
            <a:r>
              <a:rPr lang="zh-CN" altLang="en-US" sz="2200" dirty="0">
                <a:solidFill>
                  <a:schemeClr val="tx1">
                    <a:lumMod val="75000"/>
                    <a:lumOff val="25000"/>
                  </a:schemeClr>
                </a:solidFill>
              </a:rPr>
              <a:t>：</a:t>
            </a:r>
            <a:r>
              <a:rPr lang="zh-CN" altLang="zh-CN" sz="2200" dirty="0">
                <a:solidFill>
                  <a:schemeClr val="tx1">
                    <a:lumMod val="75000"/>
                    <a:lumOff val="25000"/>
                  </a:schemeClr>
                </a:solidFill>
                <a:latin typeface="微软雅黑" pitchFamily="34" charset="-122"/>
              </a:rPr>
              <a:t>字节多路通道、数</a:t>
            </a:r>
            <a:r>
              <a:rPr lang="zh-CN" altLang="en-US" sz="2200" dirty="0">
                <a:solidFill>
                  <a:schemeClr val="tx1">
                    <a:lumMod val="75000"/>
                    <a:lumOff val="25000"/>
                  </a:schemeClr>
                </a:solidFill>
                <a:latin typeface="微软雅黑" pitchFamily="34" charset="-122"/>
              </a:rPr>
              <a:t>组</a:t>
            </a:r>
            <a:r>
              <a:rPr lang="zh-CN" altLang="zh-CN" sz="2200" dirty="0">
                <a:solidFill>
                  <a:schemeClr val="tx1">
                    <a:lumMod val="75000"/>
                    <a:lumOff val="25000"/>
                  </a:schemeClr>
                </a:solidFill>
                <a:latin typeface="微软雅黑" pitchFamily="34" charset="-122"/>
              </a:rPr>
              <a:t>选择通道和数组多路通道</a:t>
            </a:r>
            <a:endParaRPr lang="en-US" altLang="zh-CN" sz="2200" dirty="0">
              <a:solidFill>
                <a:schemeClr val="tx1">
                  <a:lumMod val="75000"/>
                  <a:lumOff val="25000"/>
                </a:schemeClr>
              </a:solidFill>
              <a:latin typeface="微软雅黑" pitchFamily="34" charset="-122"/>
            </a:endParaRPr>
          </a:p>
          <a:p>
            <a:pPr lvl="1">
              <a:defRPr/>
            </a:pPr>
            <a:r>
              <a:rPr lang="zh-CN" altLang="en-US" b="1" dirty="0"/>
              <a:t>数组多路</a:t>
            </a:r>
            <a:r>
              <a:rPr lang="zh-CN" altLang="zh-CN" b="1" dirty="0"/>
              <a:t>通道</a:t>
            </a:r>
            <a:r>
              <a:rPr lang="zh-CN" altLang="en-US" dirty="0"/>
              <a:t>：指</a:t>
            </a:r>
            <a:r>
              <a:rPr lang="zh-CN" altLang="zh-CN" dirty="0"/>
              <a:t>将数组选择通道传输速率高和字节多路通道能使各子通道（设备）分时并行操作的优点相结合而形成的一种新通道</a:t>
            </a:r>
            <a:r>
              <a:rPr lang="zh-CN" altLang="en-US" dirty="0"/>
              <a:t>，</a:t>
            </a:r>
            <a:r>
              <a:rPr lang="zh-CN" altLang="zh-CN" dirty="0"/>
              <a:t>它含有多个非分配型子通道</a:t>
            </a:r>
            <a:r>
              <a:rPr lang="zh-CN" altLang="en-US" dirty="0"/>
              <a:t>。</a:t>
            </a:r>
            <a:endParaRPr lang="en-US" altLang="zh-CN" dirty="0"/>
          </a:p>
          <a:p>
            <a:pPr lvl="2">
              <a:spcBef>
                <a:spcPts val="600"/>
              </a:spcBef>
              <a:defRPr/>
            </a:pPr>
            <a:r>
              <a:rPr lang="zh-CN" altLang="en-US" b="1" dirty="0">
                <a:solidFill>
                  <a:srgbClr val="0000FF"/>
                </a:solidFill>
              </a:rPr>
              <a:t>特点</a:t>
            </a:r>
            <a:r>
              <a:rPr lang="zh-CN" altLang="en-US" dirty="0"/>
              <a:t>：</a:t>
            </a:r>
            <a:r>
              <a:rPr lang="zh-CN" altLang="zh-CN" dirty="0"/>
              <a:t>既有很高的数据传送率，又能获得满意的通道利用率。广泛用于连接多台高、中速的外围设备。</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76325" y="114300"/>
            <a:ext cx="9387205" cy="705485"/>
          </a:xfrm>
        </p:spPr>
        <p:txBody>
          <a:bodyPr/>
          <a:lstStyle/>
          <a:p>
            <a:pPr algn="ctr"/>
            <a:r>
              <a:rPr lang="en-US" altLang="zh-CN" dirty="0"/>
              <a:t>8.3 </a:t>
            </a:r>
            <a:r>
              <a:rPr lang="zh-CN" altLang="en-US" dirty="0"/>
              <a:t>缓冲技术</a:t>
            </a:r>
            <a:endParaRPr lang="en-US" altLang="zh-CN" dirty="0"/>
          </a:p>
        </p:txBody>
      </p:sp>
      <p:sp>
        <p:nvSpPr>
          <p:cNvPr id="3" name="内容占位符 2"/>
          <p:cNvSpPr>
            <a:spLocks noGrp="1"/>
          </p:cNvSpPr>
          <p:nvPr>
            <p:ph idx="1"/>
          </p:nvPr>
        </p:nvSpPr>
        <p:spPr>
          <a:xfrm>
            <a:off x="2845597" y="1211957"/>
            <a:ext cx="5928013" cy="3035952"/>
          </a:xfrm>
        </p:spPr>
        <p:txBody>
          <a:bodyPr>
            <a:normAutofit/>
          </a:bodyPr>
          <a:lstStyle/>
          <a:p>
            <a:pPr>
              <a:buBlip>
                <a:blip r:embed="rId3"/>
              </a:buBlip>
            </a:pPr>
            <a:r>
              <a:rPr lang="en-US" altLang="zh-CN" sz="2800" dirty="0"/>
              <a:t>8.3.1 </a:t>
            </a:r>
            <a:r>
              <a:rPr lang="zh-CN" altLang="en-US" sz="2800" dirty="0"/>
              <a:t>缓冲技术的引入</a:t>
            </a:r>
            <a:endParaRPr lang="en-US" altLang="zh-CN" sz="2800" dirty="0"/>
          </a:p>
          <a:p>
            <a:pPr>
              <a:buBlip>
                <a:blip r:embed="rId3"/>
              </a:buBlip>
            </a:pPr>
            <a:r>
              <a:rPr lang="en-US" altLang="zh-CN" sz="2800" dirty="0"/>
              <a:t>8.3.2 </a:t>
            </a:r>
            <a:r>
              <a:rPr lang="zh-CN" altLang="en-US" sz="2800" dirty="0"/>
              <a:t>单缓冲和双缓冲</a:t>
            </a:r>
            <a:endParaRPr lang="en-US" altLang="zh-CN" sz="2800" dirty="0"/>
          </a:p>
          <a:p>
            <a:pPr>
              <a:buBlip>
                <a:blip r:embed="rId3"/>
              </a:buBlip>
            </a:pPr>
            <a:r>
              <a:rPr lang="en-US" altLang="zh-CN" sz="2800" dirty="0"/>
              <a:t>8.3.3 </a:t>
            </a:r>
            <a:r>
              <a:rPr lang="zh-CN" altLang="en-US" sz="2800" dirty="0"/>
              <a:t>环形缓冲</a:t>
            </a:r>
            <a:endParaRPr lang="en-US" altLang="zh-CN" sz="2800" dirty="0"/>
          </a:p>
          <a:p>
            <a:pPr>
              <a:buBlip>
                <a:blip r:embed="rId3"/>
              </a:buBlip>
            </a:pPr>
            <a:r>
              <a:rPr lang="en-US" altLang="zh-CN" sz="2800" dirty="0"/>
              <a:t>8.3.4 </a:t>
            </a:r>
            <a:r>
              <a:rPr lang="zh-CN" altLang="en-US" sz="2800" dirty="0"/>
              <a:t>缓冲池</a:t>
            </a:r>
            <a:endParaRPr lang="en-US" altLang="zh-CN" sz="2800" dirty="0"/>
          </a:p>
          <a:p>
            <a:pPr>
              <a:buBlip>
                <a:blip r:embed="rId3"/>
              </a:buBlip>
            </a:pPr>
            <a:endParaRPr lang="en-US" altLang="zh-CN" sz="2800" dirty="0"/>
          </a:p>
        </p:txBody>
      </p:sp>
    </p:spTree>
    <p:custDataLst>
      <p:tags r:id="rId1"/>
    </p:custDataLst>
    <p:extLst>
      <p:ext uri="{BB962C8B-B14F-4D97-AF65-F5344CB8AC3E}">
        <p14:creationId xmlns:p14="http://schemas.microsoft.com/office/powerpoint/2010/main" val="3757371212"/>
      </p:ext>
    </p:extLst>
  </p:cSld>
  <p:clrMapOvr>
    <a:masterClrMapping/>
  </p:clrMapOvr>
  <p:transition>
    <p:random/>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zh-CN" dirty="0"/>
              <a:t>8.3 缓冲技术</a:t>
            </a:r>
            <a:endParaRPr lang="zh-CN" altLang="en-US" dirty="0"/>
          </a:p>
        </p:txBody>
      </p:sp>
      <p:sp>
        <p:nvSpPr>
          <p:cNvPr id="3" name="内容占位符 2"/>
          <p:cNvSpPr>
            <a:spLocks noGrp="1"/>
          </p:cNvSpPr>
          <p:nvPr>
            <p:ph idx="1"/>
          </p:nvPr>
        </p:nvSpPr>
        <p:spPr>
          <a:xfrm>
            <a:off x="608330" y="1227455"/>
            <a:ext cx="10968990" cy="2488018"/>
          </a:xfrm>
        </p:spPr>
        <p:txBody>
          <a:bodyPr>
            <a:normAutofit/>
          </a:bodyPr>
          <a:lstStyle/>
          <a:p>
            <a:pPr marL="0" indent="0">
              <a:lnSpc>
                <a:spcPct val="150000"/>
              </a:lnSpc>
              <a:buNone/>
            </a:pPr>
            <a:r>
              <a:rPr lang="en-US" altLang="zh-CN" sz="2800" dirty="0"/>
              <a:t>     </a:t>
            </a:r>
            <a:r>
              <a:rPr lang="zh-CN" altLang="zh-CN" sz="2800" dirty="0"/>
              <a:t>为了</a:t>
            </a:r>
            <a:r>
              <a:rPr lang="zh-CN" altLang="zh-CN" sz="2800" dirty="0">
                <a:solidFill>
                  <a:srgbClr val="0000FF"/>
                </a:solidFill>
              </a:rPr>
              <a:t>缓和</a:t>
            </a:r>
            <a:r>
              <a:rPr lang="en-US" altLang="zh-CN" sz="2800" dirty="0">
                <a:solidFill>
                  <a:srgbClr val="0000FF"/>
                </a:solidFill>
              </a:rPr>
              <a:t>CPU</a:t>
            </a:r>
            <a:r>
              <a:rPr lang="zh-CN" altLang="zh-CN" sz="2800" dirty="0">
                <a:solidFill>
                  <a:srgbClr val="0000FF"/>
                </a:solidFill>
              </a:rPr>
              <a:t>和</a:t>
            </a:r>
            <a:r>
              <a:rPr lang="en-US" altLang="zh-CN" sz="2800" dirty="0">
                <a:solidFill>
                  <a:srgbClr val="0000FF"/>
                </a:solidFill>
              </a:rPr>
              <a:t>I/O</a:t>
            </a:r>
            <a:r>
              <a:rPr lang="zh-CN" altLang="zh-CN" sz="2800" dirty="0">
                <a:solidFill>
                  <a:srgbClr val="0000FF"/>
                </a:solidFill>
              </a:rPr>
              <a:t>设备速度不匹配的矛盾</a:t>
            </a:r>
            <a:r>
              <a:rPr lang="zh-CN" altLang="zh-CN" sz="2800" dirty="0"/>
              <a:t>，</a:t>
            </a:r>
            <a:r>
              <a:rPr lang="zh-CN" altLang="zh-CN" sz="2800" dirty="0">
                <a:solidFill>
                  <a:srgbClr val="0000FF"/>
                </a:solidFill>
              </a:rPr>
              <a:t>提高</a:t>
            </a:r>
            <a:r>
              <a:rPr lang="en-US" altLang="zh-CN" sz="2800" dirty="0">
                <a:solidFill>
                  <a:srgbClr val="0000FF"/>
                </a:solidFill>
              </a:rPr>
              <a:t>CPU</a:t>
            </a:r>
            <a:r>
              <a:rPr lang="zh-CN" altLang="zh-CN" sz="2800" dirty="0">
                <a:solidFill>
                  <a:srgbClr val="0000FF"/>
                </a:solidFill>
              </a:rPr>
              <a:t>和</a:t>
            </a:r>
            <a:r>
              <a:rPr lang="en-US" altLang="zh-CN" sz="2800" dirty="0">
                <a:solidFill>
                  <a:srgbClr val="0000FF"/>
                </a:solidFill>
              </a:rPr>
              <a:t>I/O</a:t>
            </a:r>
            <a:r>
              <a:rPr lang="zh-CN" altLang="zh-CN" sz="2800" dirty="0">
                <a:solidFill>
                  <a:srgbClr val="0000FF"/>
                </a:solidFill>
              </a:rPr>
              <a:t>设备的并行性</a:t>
            </a:r>
            <a:r>
              <a:rPr lang="zh-CN" altLang="zh-CN" sz="2800" dirty="0"/>
              <a:t>，在现代操作系统中，几乎所有的</a:t>
            </a:r>
            <a:r>
              <a:rPr lang="en-US" altLang="zh-CN" sz="2800" dirty="0"/>
              <a:t>I/O</a:t>
            </a:r>
            <a:r>
              <a:rPr lang="zh-CN" altLang="zh-CN" sz="2800" dirty="0"/>
              <a:t>设备在与处理机交换数据时都使用了缓冲区，并提供获得和释放缓冲区的手段。</a:t>
            </a:r>
          </a:p>
          <a:p>
            <a:pPr marL="0" indent="0">
              <a:lnSpc>
                <a:spcPct val="150000"/>
              </a:lnSpc>
              <a:buNone/>
            </a:pPr>
            <a:endParaRPr lang="zh-CN" altLang="en-US" sz="2800" dirty="0"/>
          </a:p>
        </p:txBody>
      </p:sp>
    </p:spTree>
    <p:extLst>
      <p:ext uri="{BB962C8B-B14F-4D97-AF65-F5344CB8AC3E}">
        <p14:creationId xmlns:p14="http://schemas.microsoft.com/office/powerpoint/2010/main" val="2441261871"/>
      </p:ext>
    </p:extLst>
  </p:cSld>
  <p:clrMapOvr>
    <a:masterClrMapping/>
  </p:clrMapOvr>
  <p:transition>
    <p:random/>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zh-CN" dirty="0"/>
              <a:t>8.3.1 缓冲技术的引入</a:t>
            </a:r>
            <a:endParaRPr lang="zh-CN" altLang="en-US" dirty="0"/>
          </a:p>
        </p:txBody>
      </p:sp>
      <p:sp>
        <p:nvSpPr>
          <p:cNvPr id="3" name="内容占位符 2"/>
          <p:cNvSpPr>
            <a:spLocks noGrp="1"/>
          </p:cNvSpPr>
          <p:nvPr>
            <p:ph idx="1"/>
          </p:nvPr>
        </p:nvSpPr>
        <p:spPr>
          <a:xfrm>
            <a:off x="358815" y="1227455"/>
            <a:ext cx="11574683" cy="1816687"/>
          </a:xfrm>
        </p:spPr>
        <p:txBody>
          <a:bodyPr>
            <a:normAutofit lnSpcReduction="10000"/>
          </a:bodyPr>
          <a:lstStyle/>
          <a:p>
            <a:pPr marL="0" indent="0">
              <a:buNone/>
            </a:pPr>
            <a:r>
              <a:rPr lang="en-US" altLang="zh-CN" sz="2800" dirty="0"/>
              <a:t>	</a:t>
            </a:r>
            <a:r>
              <a:rPr lang="zh-CN" altLang="zh-CN" sz="2800" dirty="0">
                <a:solidFill>
                  <a:srgbClr val="0000FF"/>
                </a:solidFill>
              </a:rPr>
              <a:t>引入缓冲管理的原因</a:t>
            </a:r>
            <a:r>
              <a:rPr lang="zh-CN" altLang="zh-CN" sz="2800" dirty="0"/>
              <a:t>主要有以下几个方面：</a:t>
            </a:r>
          </a:p>
          <a:p>
            <a:pPr marL="0" indent="0">
              <a:buNone/>
            </a:pPr>
            <a:r>
              <a:rPr lang="zh-CN" altLang="zh-CN" sz="2800" dirty="0"/>
              <a:t>（</a:t>
            </a:r>
            <a:r>
              <a:rPr lang="en-US" altLang="zh-CN" sz="2800" dirty="0"/>
              <a:t>1</a:t>
            </a:r>
            <a:r>
              <a:rPr lang="zh-CN" altLang="zh-CN" sz="2800" dirty="0"/>
              <a:t>）缓和</a:t>
            </a:r>
            <a:r>
              <a:rPr lang="en-US" altLang="zh-CN" sz="2800" dirty="0"/>
              <a:t>CPU</a:t>
            </a:r>
            <a:r>
              <a:rPr lang="zh-CN" altLang="zh-CN" sz="2800" dirty="0"/>
              <a:t>与</a:t>
            </a:r>
            <a:r>
              <a:rPr lang="en-US" altLang="zh-CN" sz="2800" dirty="0"/>
              <a:t>I/O</a:t>
            </a:r>
            <a:r>
              <a:rPr lang="zh-CN" altLang="zh-CN" sz="2800" dirty="0"/>
              <a:t>设备间速度不匹配的矛盾，提高</a:t>
            </a:r>
            <a:r>
              <a:rPr lang="en-US" altLang="zh-CN" sz="2800" dirty="0"/>
              <a:t>CPU</a:t>
            </a:r>
            <a:r>
              <a:rPr lang="zh-CN" altLang="zh-CN" sz="2800" dirty="0"/>
              <a:t>和</a:t>
            </a:r>
            <a:r>
              <a:rPr lang="en-US" altLang="zh-CN" sz="2800" dirty="0"/>
              <a:t>I/O</a:t>
            </a:r>
            <a:r>
              <a:rPr lang="zh-CN" altLang="zh-CN" sz="2800" dirty="0"/>
              <a:t>设备之间的并行性。</a:t>
            </a:r>
          </a:p>
        </p:txBody>
      </p:sp>
      <p:sp>
        <p:nvSpPr>
          <p:cNvPr id="4" name="内容占位符 2">
            <a:extLst>
              <a:ext uri="{FF2B5EF4-FFF2-40B4-BE49-F238E27FC236}">
                <a16:creationId xmlns:a16="http://schemas.microsoft.com/office/drawing/2014/main" id="{CE541831-8A75-4A91-B86D-66F7D0BDA547}"/>
              </a:ext>
            </a:extLst>
          </p:cNvPr>
          <p:cNvSpPr txBox="1">
            <a:spLocks/>
          </p:cNvSpPr>
          <p:nvPr/>
        </p:nvSpPr>
        <p:spPr>
          <a:xfrm>
            <a:off x="358814" y="3518317"/>
            <a:ext cx="11498789" cy="3032466"/>
          </a:xfrm>
          <a:prstGeom prst="rect">
            <a:avLst/>
          </a:prstGeo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Clr>
                <a:srgbClr val="2094CE"/>
              </a:buClr>
              <a:buSzPct val="80000"/>
              <a:buFont typeface="Arial" panose="020B0604020202020204" pitchFamily="34" charset="0"/>
              <a:buChar char="►"/>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Clr>
                <a:srgbClr val="FF9800"/>
              </a:buClr>
              <a:buSzPct val="90000"/>
              <a:buFont typeface="Arial" panose="020B0604020202020204" pitchFamily="34" charset="0"/>
              <a:buChar char="♦"/>
              <a:tabLst>
                <a:tab pos="1609725" algn="l"/>
              </a:tabLst>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zh-CN" altLang="en-US" sz="2800" dirty="0"/>
              <a:t>（</a:t>
            </a:r>
            <a:r>
              <a:rPr lang="en-US" altLang="zh-CN" sz="2800" dirty="0"/>
              <a:t>2</a:t>
            </a:r>
            <a:r>
              <a:rPr lang="zh-CN" altLang="en-US" sz="2800" dirty="0"/>
              <a:t>）减少</a:t>
            </a:r>
            <a:r>
              <a:rPr lang="en-US" altLang="zh-CN" sz="2800" dirty="0"/>
              <a:t>CPU</a:t>
            </a:r>
            <a:r>
              <a:rPr lang="zh-CN" altLang="en-US" sz="2800" dirty="0"/>
              <a:t>的中断频率，放宽对中断响应时间的限制。</a:t>
            </a:r>
          </a:p>
          <a:p>
            <a:pPr lvl="1"/>
            <a:r>
              <a:rPr lang="zh-CN" altLang="en-US" sz="2800" dirty="0">
                <a:latin typeface="华文新魏" panose="02010800040101010101" pitchFamily="2" charset="-122"/>
                <a:ea typeface="华文新魏" panose="02010800040101010101" pitchFamily="2" charset="-122"/>
              </a:rPr>
              <a:t>假设使用中断方式传输</a:t>
            </a:r>
            <a:r>
              <a:rPr lang="en-US" altLang="zh-CN" sz="2800" dirty="0">
                <a:latin typeface="华文新魏" panose="02010800040101010101" pitchFamily="2" charset="-122"/>
                <a:ea typeface="华文新魏" panose="02010800040101010101" pitchFamily="2" charset="-122"/>
              </a:rPr>
              <a:t>1000</a:t>
            </a:r>
            <a:r>
              <a:rPr lang="zh-CN" altLang="en-US" sz="2800" dirty="0">
                <a:latin typeface="华文新魏" panose="02010800040101010101" pitchFamily="2" charset="-122"/>
                <a:ea typeface="华文新魏" panose="02010800040101010101" pitchFamily="2" charset="-122"/>
              </a:rPr>
              <a:t>个字节，如果在</a:t>
            </a:r>
            <a:r>
              <a:rPr lang="en-US" altLang="zh-CN" sz="2800" dirty="0">
                <a:latin typeface="华文新魏" panose="02010800040101010101" pitchFamily="2" charset="-122"/>
                <a:ea typeface="华文新魏" panose="02010800040101010101" pitchFamily="2" charset="-122"/>
              </a:rPr>
              <a:t>I/O</a:t>
            </a:r>
            <a:r>
              <a:rPr lang="zh-CN" altLang="en-US" sz="2800" dirty="0">
                <a:latin typeface="华文新魏" panose="02010800040101010101" pitchFamily="2" charset="-122"/>
                <a:ea typeface="华文新魏" panose="02010800040101010101" pitchFamily="2" charset="-122"/>
              </a:rPr>
              <a:t>控制器中只有一个字节长度的数据寄存器，那么传输就可能需要</a:t>
            </a:r>
            <a:r>
              <a:rPr lang="en-US" altLang="zh-CN" sz="2800" dirty="0">
                <a:latin typeface="华文新魏" panose="02010800040101010101" pitchFamily="2" charset="-122"/>
                <a:ea typeface="华文新魏" panose="02010800040101010101" pitchFamily="2" charset="-122"/>
              </a:rPr>
              <a:t>1000</a:t>
            </a:r>
            <a:r>
              <a:rPr lang="zh-CN" altLang="en-US" sz="2800" dirty="0">
                <a:latin typeface="华文新魏" panose="02010800040101010101" pitchFamily="2" charset="-122"/>
                <a:ea typeface="华文新魏" panose="02010800040101010101" pitchFamily="2" charset="-122"/>
              </a:rPr>
              <a:t>次中断；而如果增加一个</a:t>
            </a:r>
            <a:r>
              <a:rPr lang="en-US" altLang="zh-CN" sz="2800" dirty="0">
                <a:latin typeface="华文新魏" panose="02010800040101010101" pitchFamily="2" charset="-122"/>
                <a:ea typeface="华文新魏" panose="02010800040101010101" pitchFamily="2" charset="-122"/>
              </a:rPr>
              <a:t>500</a:t>
            </a:r>
            <a:r>
              <a:rPr lang="zh-CN" altLang="en-US" sz="2800" dirty="0">
                <a:latin typeface="华文新魏" panose="02010800040101010101" pitchFamily="2" charset="-122"/>
                <a:ea typeface="华文新魏" panose="02010800040101010101" pitchFamily="2" charset="-122"/>
              </a:rPr>
              <a:t>个字节的缓冲区，则</a:t>
            </a:r>
            <a:r>
              <a:rPr lang="en-US" altLang="zh-CN" sz="2800" dirty="0">
                <a:latin typeface="华文新魏" panose="02010800040101010101" pitchFamily="2" charset="-122"/>
                <a:ea typeface="华文新魏" panose="02010800040101010101" pitchFamily="2" charset="-122"/>
              </a:rPr>
              <a:t>I/O</a:t>
            </a:r>
            <a:r>
              <a:rPr lang="zh-CN" altLang="en-US" sz="2800" dirty="0">
                <a:latin typeface="华文新魏" panose="02010800040101010101" pitchFamily="2" charset="-122"/>
                <a:ea typeface="华文新魏" panose="02010800040101010101" pitchFamily="2" charset="-122"/>
              </a:rPr>
              <a:t>控制器对</a:t>
            </a:r>
            <a:r>
              <a:rPr lang="en-US" altLang="zh-CN" sz="2800" dirty="0">
                <a:latin typeface="华文新魏" panose="02010800040101010101" pitchFamily="2" charset="-122"/>
                <a:ea typeface="华文新魏" panose="02010800040101010101" pitchFamily="2" charset="-122"/>
              </a:rPr>
              <a:t>CPU</a:t>
            </a:r>
            <a:r>
              <a:rPr lang="zh-CN" altLang="en-US" sz="2800" dirty="0">
                <a:latin typeface="华文新魏" panose="02010800040101010101" pitchFamily="2" charset="-122"/>
                <a:ea typeface="华文新魏" panose="02010800040101010101" pitchFamily="2" charset="-122"/>
              </a:rPr>
              <a:t>的中断次数将降低为</a:t>
            </a:r>
            <a:r>
              <a:rPr lang="en-US" altLang="zh-CN" sz="2800" dirty="0">
                <a:latin typeface="华文新魏" panose="02010800040101010101" pitchFamily="2" charset="-122"/>
                <a:ea typeface="华文新魏" panose="02010800040101010101" pitchFamily="2" charset="-122"/>
              </a:rPr>
              <a:t>2</a:t>
            </a:r>
            <a:r>
              <a:rPr lang="zh-CN" altLang="en-US" sz="2800" dirty="0">
                <a:latin typeface="华文新魏" panose="02010800040101010101" pitchFamily="2" charset="-122"/>
                <a:ea typeface="华文新魏" panose="02010800040101010101" pitchFamily="2" charset="-122"/>
              </a:rPr>
              <a:t>次，从而大大减少了</a:t>
            </a:r>
            <a:r>
              <a:rPr lang="en-US" altLang="zh-CN" sz="2800" dirty="0">
                <a:latin typeface="华文新魏" panose="02010800040101010101" pitchFamily="2" charset="-122"/>
                <a:ea typeface="华文新魏" panose="02010800040101010101" pitchFamily="2" charset="-122"/>
              </a:rPr>
              <a:t>CPU</a:t>
            </a:r>
            <a:r>
              <a:rPr lang="zh-CN" altLang="en-US" sz="2800" dirty="0">
                <a:latin typeface="华文新魏" panose="02010800040101010101" pitchFamily="2" charset="-122"/>
                <a:ea typeface="华文新魏" panose="02010800040101010101" pitchFamily="2" charset="-122"/>
              </a:rPr>
              <a:t>的中断处理时间。</a:t>
            </a:r>
          </a:p>
          <a:p>
            <a:pPr marL="0" indent="0">
              <a:buFont typeface="Arial" panose="020B0604020202020204" pitchFamily="34" charset="0"/>
              <a:buNone/>
            </a:pPr>
            <a:endParaRPr lang="zh-CN" altLang="en-US" sz="2800" dirty="0"/>
          </a:p>
        </p:txBody>
      </p:sp>
    </p:spTree>
    <p:extLst>
      <p:ext uri="{BB962C8B-B14F-4D97-AF65-F5344CB8AC3E}">
        <p14:creationId xmlns:p14="http://schemas.microsoft.com/office/powerpoint/2010/main" val="550388759"/>
      </p:ext>
    </p:extLst>
  </p:cSld>
  <p:clrMapOvr>
    <a:masterClrMapping/>
  </p:clrMapOvr>
  <p:transition>
    <p:random/>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zh-CN" dirty="0"/>
              <a:t>8.3.1 缓冲技术的引入</a:t>
            </a:r>
            <a:endParaRPr lang="zh-CN" altLang="en-US" dirty="0"/>
          </a:p>
        </p:txBody>
      </p:sp>
      <p:sp>
        <p:nvSpPr>
          <p:cNvPr id="3" name="内容占位符 2"/>
          <p:cNvSpPr>
            <a:spLocks noGrp="1"/>
          </p:cNvSpPr>
          <p:nvPr>
            <p:ph idx="1"/>
          </p:nvPr>
        </p:nvSpPr>
        <p:spPr>
          <a:xfrm>
            <a:off x="608330" y="1227456"/>
            <a:ext cx="10968990" cy="3078326"/>
          </a:xfrm>
        </p:spPr>
        <p:txBody>
          <a:bodyPr>
            <a:normAutofit/>
          </a:bodyPr>
          <a:lstStyle/>
          <a:p>
            <a:pPr marL="0" indent="0">
              <a:lnSpc>
                <a:spcPct val="160000"/>
              </a:lnSpc>
              <a:buNone/>
            </a:pPr>
            <a:r>
              <a:rPr lang="zh-CN" altLang="zh-CN" sz="2800" dirty="0"/>
              <a:t>（</a:t>
            </a:r>
            <a:r>
              <a:rPr lang="en-US" altLang="zh-CN" sz="2800" dirty="0"/>
              <a:t>3</a:t>
            </a:r>
            <a:r>
              <a:rPr lang="zh-CN" altLang="zh-CN" sz="2800" dirty="0"/>
              <a:t>）解决数据粒度不匹配的问题。</a:t>
            </a:r>
          </a:p>
          <a:p>
            <a:pPr>
              <a:lnSpc>
                <a:spcPct val="160000"/>
              </a:lnSpc>
            </a:pPr>
            <a:r>
              <a:rPr lang="zh-CN" altLang="zh-CN" sz="2800" dirty="0"/>
              <a:t>数据粒度</a:t>
            </a:r>
            <a:r>
              <a:rPr lang="zh-CN" altLang="en-US" sz="2800" dirty="0"/>
              <a:t>就是数据的发送端和接收端所使用的</a:t>
            </a:r>
            <a:r>
              <a:rPr lang="zh-CN" altLang="zh-CN" sz="2800" dirty="0"/>
              <a:t>数据单元</a:t>
            </a:r>
            <a:r>
              <a:rPr lang="zh-CN" altLang="en-US" sz="2800" dirty="0"/>
              <a:t>的</a:t>
            </a:r>
            <a:r>
              <a:rPr lang="zh-CN" altLang="zh-CN" sz="2800" dirty="0"/>
              <a:t>大小</a:t>
            </a:r>
            <a:r>
              <a:rPr lang="zh-CN" altLang="en-US" sz="2800" dirty="0"/>
              <a:t>。在</a:t>
            </a:r>
            <a:r>
              <a:rPr lang="zh-CN" altLang="zh-CN" sz="2800" dirty="0"/>
              <a:t>缓冲区</a:t>
            </a:r>
            <a:r>
              <a:rPr lang="zh-CN" altLang="en-US" sz="2800" dirty="0"/>
              <a:t>中可以把大的数据块分割成多个小的数据块，也可以把许多小的数据块合并成一个大的数据块。</a:t>
            </a:r>
          </a:p>
        </p:txBody>
      </p:sp>
    </p:spTree>
    <p:extLst>
      <p:ext uri="{BB962C8B-B14F-4D97-AF65-F5344CB8AC3E}">
        <p14:creationId xmlns:p14="http://schemas.microsoft.com/office/powerpoint/2010/main" val="2778000950"/>
      </p:ext>
    </p:extLst>
  </p:cSld>
  <p:clrMapOvr>
    <a:masterClrMapping/>
  </p:clrMapOvr>
  <p:transition>
    <p:random/>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zh-CN" dirty="0"/>
              <a:t>8.3.2 单缓冲和双缓冲</a:t>
            </a:r>
            <a:endParaRPr lang="zh-CN" altLang="en-US" dirty="0"/>
          </a:p>
        </p:txBody>
      </p:sp>
      <p:sp>
        <p:nvSpPr>
          <p:cNvPr id="3" name="内容占位符 2"/>
          <p:cNvSpPr>
            <a:spLocks noGrp="1"/>
          </p:cNvSpPr>
          <p:nvPr>
            <p:ph idx="1"/>
          </p:nvPr>
        </p:nvSpPr>
        <p:spPr>
          <a:xfrm>
            <a:off x="608330" y="1227456"/>
            <a:ext cx="10968990" cy="1087482"/>
          </a:xfrm>
        </p:spPr>
        <p:txBody>
          <a:bodyPr>
            <a:normAutofit lnSpcReduction="10000"/>
          </a:bodyPr>
          <a:lstStyle/>
          <a:p>
            <a:pPr marL="0" indent="0">
              <a:buNone/>
            </a:pPr>
            <a:r>
              <a:rPr lang="en-US" altLang="zh-CN" sz="2800" dirty="0"/>
              <a:t>	</a:t>
            </a:r>
            <a:r>
              <a:rPr lang="zh-CN" altLang="zh-CN" sz="2800" dirty="0"/>
              <a:t>根据系统设置的缓冲区个数不同，可以将缓冲分为单缓冲、双缓冲、环形缓冲和缓冲池。</a:t>
            </a:r>
            <a:endParaRPr lang="zh-CN" altLang="en-US" sz="2800" dirty="0"/>
          </a:p>
        </p:txBody>
      </p:sp>
    </p:spTree>
    <p:extLst>
      <p:ext uri="{BB962C8B-B14F-4D97-AF65-F5344CB8AC3E}">
        <p14:creationId xmlns:p14="http://schemas.microsoft.com/office/powerpoint/2010/main" val="3586522554"/>
      </p:ext>
    </p:extLst>
  </p:cSld>
  <p:clrMapOvr>
    <a:masterClrMapping/>
  </p:clrMapOvr>
  <p:transition>
    <p:random/>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1. </a:t>
            </a:r>
            <a:r>
              <a:rPr lang="zh-CN" altLang="zh-CN" dirty="0"/>
              <a:t>单缓冲</a:t>
            </a:r>
            <a:endParaRPr lang="zh-CN" altLang="en-US" dirty="0"/>
          </a:p>
        </p:txBody>
      </p:sp>
      <p:sp>
        <p:nvSpPr>
          <p:cNvPr id="3" name="内容占位符 2"/>
          <p:cNvSpPr>
            <a:spLocks noGrp="1"/>
          </p:cNvSpPr>
          <p:nvPr>
            <p:ph idx="1"/>
          </p:nvPr>
        </p:nvSpPr>
        <p:spPr>
          <a:xfrm>
            <a:off x="608330" y="991893"/>
            <a:ext cx="10968990" cy="1681859"/>
          </a:xfrm>
        </p:spPr>
        <p:txBody>
          <a:bodyPr>
            <a:normAutofit/>
          </a:bodyPr>
          <a:lstStyle/>
          <a:p>
            <a:pPr marL="0" indent="0">
              <a:buNone/>
            </a:pPr>
            <a:r>
              <a:rPr lang="zh-CN" altLang="zh-CN" dirty="0"/>
              <a:t>单缓冲是在设备和处理机之间设置</a:t>
            </a:r>
            <a:r>
              <a:rPr lang="zh-CN" altLang="zh-CN" dirty="0">
                <a:solidFill>
                  <a:srgbClr val="FF0000"/>
                </a:solidFill>
              </a:rPr>
              <a:t>一个</a:t>
            </a:r>
            <a:r>
              <a:rPr lang="zh-CN" altLang="zh-CN" dirty="0"/>
              <a:t>缓冲区。设备和处理机交换数据时，先把被交换数据写入缓冲区，然后，需要数据的设备或处理机从缓冲区取走数据。</a:t>
            </a:r>
            <a:endParaRPr lang="zh-CN" altLang="en-US" dirty="0"/>
          </a:p>
        </p:txBody>
      </p:sp>
      <p:pic>
        <p:nvPicPr>
          <p:cNvPr id="4" name="图片 411">
            <a:extLst>
              <a:ext uri="{FF2B5EF4-FFF2-40B4-BE49-F238E27FC236}">
                <a16:creationId xmlns:a16="http://schemas.microsoft.com/office/drawing/2014/main" id="{D7950A13-31FB-4A67-B37D-96E98232671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4712" y="3070345"/>
            <a:ext cx="9676225" cy="2472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23254419"/>
      </p:ext>
    </p:extLst>
  </p:cSld>
  <p:clrMapOvr>
    <a:masterClrMapping/>
  </p:clrMapOvr>
  <p:transition>
    <p:random/>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 </a:t>
            </a:r>
            <a:r>
              <a:rPr lang="zh-CN" altLang="zh-CN" dirty="0"/>
              <a:t>双缓冲</a:t>
            </a:r>
            <a:endParaRPr lang="zh-CN" altLang="en-US" dirty="0"/>
          </a:p>
        </p:txBody>
      </p:sp>
      <p:sp>
        <p:nvSpPr>
          <p:cNvPr id="3" name="内容占位符 2"/>
          <p:cNvSpPr>
            <a:spLocks noGrp="1"/>
          </p:cNvSpPr>
          <p:nvPr>
            <p:ph idx="1"/>
          </p:nvPr>
        </p:nvSpPr>
        <p:spPr>
          <a:xfrm>
            <a:off x="608330" y="1227456"/>
            <a:ext cx="10968990" cy="705600"/>
          </a:xfrm>
        </p:spPr>
        <p:txBody>
          <a:bodyPr>
            <a:normAutofit/>
          </a:bodyPr>
          <a:lstStyle/>
          <a:p>
            <a:r>
              <a:rPr lang="zh-CN" altLang="zh-CN" dirty="0"/>
              <a:t>引入双缓冲可以提高处理机与设备的并行操作程度。双缓冲区如图</a:t>
            </a:r>
            <a:r>
              <a:rPr lang="en-US" altLang="zh-CN" dirty="0"/>
              <a:t>8-6</a:t>
            </a:r>
            <a:r>
              <a:rPr lang="zh-CN" altLang="zh-CN" dirty="0"/>
              <a:t>所示。</a:t>
            </a:r>
          </a:p>
        </p:txBody>
      </p:sp>
      <p:pic>
        <p:nvPicPr>
          <p:cNvPr id="4" name="图片 410">
            <a:extLst>
              <a:ext uri="{FF2B5EF4-FFF2-40B4-BE49-F238E27FC236}">
                <a16:creationId xmlns:a16="http://schemas.microsoft.com/office/drawing/2014/main" id="{C5865B59-9113-49DE-8672-092995D2535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6395" y="2593484"/>
            <a:ext cx="9303767" cy="2331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4180705"/>
      </p:ext>
    </p:extLst>
  </p:cSld>
  <p:clrMapOvr>
    <a:masterClrMapping/>
  </p:clrMapOvr>
  <p:transition>
    <p:random/>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zh-CN" dirty="0"/>
              <a:t>8.3.3 环形缓冲</a:t>
            </a:r>
            <a:endParaRPr lang="zh-CN" altLang="en-US" dirty="0"/>
          </a:p>
        </p:txBody>
      </p:sp>
      <p:sp>
        <p:nvSpPr>
          <p:cNvPr id="3" name="内容占位符 2"/>
          <p:cNvSpPr>
            <a:spLocks noGrp="1"/>
          </p:cNvSpPr>
          <p:nvPr>
            <p:ph idx="1"/>
          </p:nvPr>
        </p:nvSpPr>
        <p:spPr>
          <a:xfrm>
            <a:off x="0" y="1071257"/>
            <a:ext cx="10968990" cy="5022215"/>
          </a:xfrm>
        </p:spPr>
        <p:txBody>
          <a:bodyPr/>
          <a:lstStyle/>
          <a:p>
            <a:pPr marL="0" indent="0">
              <a:buNone/>
            </a:pPr>
            <a:r>
              <a:rPr lang="zh-CN" altLang="zh-CN" dirty="0"/>
              <a:t>环形缓冲又称循环缓冲、多缓冲。如图</a:t>
            </a:r>
            <a:r>
              <a:rPr lang="en-US" altLang="zh-CN" dirty="0"/>
              <a:t>8-7</a:t>
            </a:r>
            <a:r>
              <a:rPr lang="zh-CN" altLang="zh-CN" dirty="0"/>
              <a:t>所示。</a:t>
            </a:r>
          </a:p>
          <a:p>
            <a:pPr marL="0" indent="0">
              <a:buNone/>
            </a:pPr>
            <a:endParaRPr lang="zh-CN" altLang="en-US" dirty="0"/>
          </a:p>
        </p:txBody>
      </p:sp>
      <p:grpSp>
        <p:nvGrpSpPr>
          <p:cNvPr id="4" name="画布 676">
            <a:extLst>
              <a:ext uri="{FF2B5EF4-FFF2-40B4-BE49-F238E27FC236}">
                <a16:creationId xmlns:a16="http://schemas.microsoft.com/office/drawing/2014/main" id="{8A0F640E-6943-4509-A2B4-4E095FB07FFD}"/>
              </a:ext>
            </a:extLst>
          </p:cNvPr>
          <p:cNvGrpSpPr>
            <a:grpSpLocks/>
          </p:cNvGrpSpPr>
          <p:nvPr/>
        </p:nvGrpSpPr>
        <p:grpSpPr bwMode="auto">
          <a:xfrm>
            <a:off x="298632" y="2060286"/>
            <a:ext cx="8349126" cy="3527714"/>
            <a:chOff x="0" y="0"/>
            <a:chExt cx="41765" cy="24003"/>
          </a:xfrm>
        </p:grpSpPr>
        <p:sp>
          <p:nvSpPr>
            <p:cNvPr id="5" name="Rectangle 21">
              <a:extLst>
                <a:ext uri="{FF2B5EF4-FFF2-40B4-BE49-F238E27FC236}">
                  <a16:creationId xmlns:a16="http://schemas.microsoft.com/office/drawing/2014/main" id="{62A46562-8177-48E4-A363-6E506233AA6C}"/>
                </a:ext>
              </a:extLst>
            </p:cNvPr>
            <p:cNvSpPr>
              <a:spLocks noChangeArrowheads="1"/>
            </p:cNvSpPr>
            <p:nvPr/>
          </p:nvSpPr>
          <p:spPr bwMode="auto">
            <a:xfrm>
              <a:off x="0" y="0"/>
              <a:ext cx="41757" cy="240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2400"/>
            </a:p>
          </p:txBody>
        </p:sp>
        <p:sp>
          <p:nvSpPr>
            <p:cNvPr id="6" name="椭圆 2">
              <a:extLst>
                <a:ext uri="{FF2B5EF4-FFF2-40B4-BE49-F238E27FC236}">
                  <a16:creationId xmlns:a16="http://schemas.microsoft.com/office/drawing/2014/main" id="{F99D3983-0AD3-461D-AB81-57B09A6B3832}"/>
                </a:ext>
              </a:extLst>
            </p:cNvPr>
            <p:cNvSpPr>
              <a:spLocks noChangeArrowheads="1"/>
            </p:cNvSpPr>
            <p:nvPr/>
          </p:nvSpPr>
          <p:spPr bwMode="auto">
            <a:xfrm>
              <a:off x="9880" y="1524"/>
              <a:ext cx="21446" cy="20802"/>
            </a:xfrm>
            <a:prstGeom prst="ellipse">
              <a:avLst/>
            </a:prstGeom>
            <a:solidFill>
              <a:srgbClr val="FFFFFF"/>
            </a:solidFill>
            <a:ln w="6350">
              <a:solidFill>
                <a:srgbClr val="000000"/>
              </a:solidFill>
              <a:round/>
              <a:headEnd/>
              <a:tailEnd/>
            </a:ln>
          </p:spPr>
          <p:txBody>
            <a:bodyPr vert="horz" wrap="square" lIns="91440" tIns="45720" rIns="91440" bIns="45720" numCol="1" anchor="ctr" anchorCtr="0" compatLnSpc="1">
              <a:prstTxWarp prst="textNoShape">
                <a:avLst/>
              </a:prstTxWarp>
            </a:bodyPr>
            <a:lstStyle/>
            <a:p>
              <a:endParaRPr lang="zh-CN" altLang="en-US" sz="2400"/>
            </a:p>
          </p:txBody>
        </p:sp>
        <p:sp>
          <p:nvSpPr>
            <p:cNvPr id="7" name="文本框 4">
              <a:extLst>
                <a:ext uri="{FF2B5EF4-FFF2-40B4-BE49-F238E27FC236}">
                  <a16:creationId xmlns:a16="http://schemas.microsoft.com/office/drawing/2014/main" id="{C9E55A37-364E-4B58-92B8-091FCF96A713}"/>
                </a:ext>
              </a:extLst>
            </p:cNvPr>
            <p:cNvSpPr txBox="1">
              <a:spLocks noChangeArrowheads="1"/>
            </p:cNvSpPr>
            <p:nvPr/>
          </p:nvSpPr>
          <p:spPr bwMode="auto">
            <a:xfrm>
              <a:off x="24163" y="1905"/>
              <a:ext cx="3046" cy="2209"/>
            </a:xfrm>
            <a:prstGeom prst="rect">
              <a:avLst/>
            </a:prstGeom>
            <a:solidFill>
              <a:srgbClr val="FFFFFF"/>
            </a:solidFill>
            <a:ln w="6350">
              <a:solidFill>
                <a:srgbClr val="000000"/>
              </a:solidFill>
              <a:round/>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rgbClr val="00B050"/>
                  </a:solidFill>
                  <a:effectLst/>
                  <a:latin typeface="Times New Roman" pitchFamily="18" charset="0"/>
                  <a:ea typeface="宋体" pitchFamily="2" charset="-122"/>
                  <a:cs typeface="Times New Roman" pitchFamily="18" charset="0"/>
                </a:rPr>
                <a:t>R</a:t>
              </a:r>
              <a:endParaRPr kumimoji="0" lang="en-US" altLang="zh-CN" sz="2400" b="0" i="0" u="none" strike="noStrike" cap="none" normalizeH="0" baseline="0" dirty="0">
                <a:ln>
                  <a:noFill/>
                </a:ln>
                <a:solidFill>
                  <a:srgbClr val="00B050"/>
                </a:solidFill>
                <a:effectLst/>
                <a:latin typeface="Arial" pitchFamily="34" charset="0"/>
                <a:ea typeface="宋体" pitchFamily="2" charset="-122"/>
                <a:cs typeface="宋体" pitchFamily="2" charset="-122"/>
              </a:endParaRPr>
            </a:p>
          </p:txBody>
        </p:sp>
        <p:sp>
          <p:nvSpPr>
            <p:cNvPr id="8" name="文本框 4">
              <a:extLst>
                <a:ext uri="{FF2B5EF4-FFF2-40B4-BE49-F238E27FC236}">
                  <a16:creationId xmlns:a16="http://schemas.microsoft.com/office/drawing/2014/main" id="{2F1C7992-9A5B-4C21-9A6B-192FD02C4B8F}"/>
                </a:ext>
              </a:extLst>
            </p:cNvPr>
            <p:cNvSpPr txBox="1">
              <a:spLocks noChangeArrowheads="1"/>
            </p:cNvSpPr>
            <p:nvPr/>
          </p:nvSpPr>
          <p:spPr bwMode="auto">
            <a:xfrm>
              <a:off x="18952" y="428"/>
              <a:ext cx="3042" cy="2210"/>
            </a:xfrm>
            <a:prstGeom prst="rect">
              <a:avLst/>
            </a:prstGeom>
            <a:solidFill>
              <a:srgbClr val="FFFFFF"/>
            </a:solidFill>
            <a:ln>
              <a:noFill/>
            </a:ln>
            <a:extLst>
              <a:ext uri="{91240B29-F687-4F45-9708-019B960494DF}">
                <a14:hiddenLine xmlns:a14="http://schemas.microsoft.com/office/drawing/2010/main" w="6350">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a:t>
              </a:r>
              <a:endParaRPr kumimoji="0" lang="zh-CN" altLang="zh-CN" sz="24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9" name="文本框 4">
              <a:extLst>
                <a:ext uri="{FF2B5EF4-FFF2-40B4-BE49-F238E27FC236}">
                  <a16:creationId xmlns:a16="http://schemas.microsoft.com/office/drawing/2014/main" id="{B77C68EC-47D7-49CB-B9FC-CD933567D964}"/>
                </a:ext>
              </a:extLst>
            </p:cNvPr>
            <p:cNvSpPr txBox="1">
              <a:spLocks noChangeArrowheads="1"/>
            </p:cNvSpPr>
            <p:nvPr/>
          </p:nvSpPr>
          <p:spPr bwMode="auto">
            <a:xfrm>
              <a:off x="13618" y="1905"/>
              <a:ext cx="3042" cy="2209"/>
            </a:xfrm>
            <a:prstGeom prst="rect">
              <a:avLst/>
            </a:prstGeom>
            <a:solidFill>
              <a:srgbClr val="FFFFFF"/>
            </a:solidFill>
            <a:ln w="6350">
              <a:solidFill>
                <a:srgbClr val="000000"/>
              </a:solidFill>
              <a:round/>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rgbClr val="00B050"/>
                  </a:solidFill>
                  <a:effectLst/>
                  <a:latin typeface="Times New Roman" pitchFamily="18" charset="0"/>
                  <a:ea typeface="宋体" pitchFamily="2" charset="-122"/>
                  <a:cs typeface="Times New Roman" pitchFamily="18" charset="0"/>
                </a:rPr>
                <a:t>R</a:t>
              </a:r>
              <a:endParaRPr kumimoji="0" lang="en-US" altLang="zh-CN" sz="2400" b="0" i="0" u="none" strike="noStrike" cap="none" normalizeH="0" baseline="0" dirty="0">
                <a:ln>
                  <a:noFill/>
                </a:ln>
                <a:solidFill>
                  <a:srgbClr val="00B050"/>
                </a:solidFill>
                <a:effectLst/>
                <a:latin typeface="Arial" pitchFamily="34" charset="0"/>
                <a:ea typeface="宋体" pitchFamily="2" charset="-122"/>
                <a:cs typeface="宋体" pitchFamily="2" charset="-122"/>
              </a:endParaRPr>
            </a:p>
          </p:txBody>
        </p:sp>
        <p:sp>
          <p:nvSpPr>
            <p:cNvPr id="10" name="文本框 4">
              <a:extLst>
                <a:ext uri="{FF2B5EF4-FFF2-40B4-BE49-F238E27FC236}">
                  <a16:creationId xmlns:a16="http://schemas.microsoft.com/office/drawing/2014/main" id="{06565D46-D62F-4AFD-9AC4-2AD160027794}"/>
                </a:ext>
              </a:extLst>
            </p:cNvPr>
            <p:cNvSpPr txBox="1">
              <a:spLocks noChangeArrowheads="1"/>
            </p:cNvSpPr>
            <p:nvPr/>
          </p:nvSpPr>
          <p:spPr bwMode="auto">
            <a:xfrm>
              <a:off x="9708" y="6324"/>
              <a:ext cx="3042" cy="2210"/>
            </a:xfrm>
            <a:prstGeom prst="rect">
              <a:avLst/>
            </a:prstGeom>
            <a:solidFill>
              <a:srgbClr val="FFFFFF"/>
            </a:solidFill>
            <a:ln w="6350">
              <a:solidFill>
                <a:srgbClr val="000000"/>
              </a:solidFill>
              <a:round/>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rgbClr val="00B050"/>
                  </a:solidFill>
                  <a:effectLst/>
                  <a:latin typeface="Times New Roman" pitchFamily="18" charset="0"/>
                  <a:ea typeface="宋体" pitchFamily="2" charset="-122"/>
                  <a:cs typeface="Times New Roman" pitchFamily="18" charset="0"/>
                </a:rPr>
                <a:t>R</a:t>
              </a:r>
              <a:endParaRPr kumimoji="0" lang="en-US" altLang="zh-CN" sz="2400" b="0" i="0" u="none" strike="noStrike" cap="none" normalizeH="0" baseline="0" dirty="0">
                <a:ln>
                  <a:noFill/>
                </a:ln>
                <a:solidFill>
                  <a:srgbClr val="00B050"/>
                </a:solidFill>
                <a:effectLst/>
                <a:latin typeface="Arial" pitchFamily="34" charset="0"/>
                <a:ea typeface="宋体" pitchFamily="2" charset="-122"/>
                <a:cs typeface="宋体" pitchFamily="2" charset="-122"/>
              </a:endParaRPr>
            </a:p>
          </p:txBody>
        </p:sp>
        <p:sp>
          <p:nvSpPr>
            <p:cNvPr id="11" name="文本框 4">
              <a:extLst>
                <a:ext uri="{FF2B5EF4-FFF2-40B4-BE49-F238E27FC236}">
                  <a16:creationId xmlns:a16="http://schemas.microsoft.com/office/drawing/2014/main" id="{EA1D1CD1-E7AB-4FF0-9066-589EFA2F0A31}"/>
                </a:ext>
              </a:extLst>
            </p:cNvPr>
            <p:cNvSpPr txBox="1">
              <a:spLocks noChangeArrowheads="1"/>
            </p:cNvSpPr>
            <p:nvPr/>
          </p:nvSpPr>
          <p:spPr bwMode="auto">
            <a:xfrm>
              <a:off x="8361" y="12391"/>
              <a:ext cx="3041" cy="2210"/>
            </a:xfrm>
            <a:prstGeom prst="rect">
              <a:avLst/>
            </a:prstGeom>
            <a:solidFill>
              <a:srgbClr val="FFFFFF"/>
            </a:solidFill>
            <a:ln w="6350">
              <a:solidFill>
                <a:srgbClr val="000000"/>
              </a:solidFill>
              <a:round/>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rgbClr val="00B050"/>
                  </a:solidFill>
                  <a:effectLst/>
                  <a:latin typeface="Times New Roman" pitchFamily="18" charset="0"/>
                  <a:ea typeface="宋体" pitchFamily="2" charset="-122"/>
                  <a:cs typeface="Times New Roman" pitchFamily="18" charset="0"/>
                </a:rPr>
                <a:t>R</a:t>
              </a:r>
              <a:endParaRPr kumimoji="0" lang="en-US" altLang="zh-CN" sz="2400" b="0" i="0" u="none" strike="noStrike" cap="none" normalizeH="0" baseline="0" dirty="0">
                <a:ln>
                  <a:noFill/>
                </a:ln>
                <a:solidFill>
                  <a:srgbClr val="00B050"/>
                </a:solidFill>
                <a:effectLst/>
                <a:latin typeface="Arial" pitchFamily="34" charset="0"/>
                <a:ea typeface="宋体" pitchFamily="2" charset="-122"/>
                <a:cs typeface="宋体" pitchFamily="2" charset="-122"/>
              </a:endParaRPr>
            </a:p>
          </p:txBody>
        </p:sp>
        <p:sp>
          <p:nvSpPr>
            <p:cNvPr id="12" name="文本框 4">
              <a:extLst>
                <a:ext uri="{FF2B5EF4-FFF2-40B4-BE49-F238E27FC236}">
                  <a16:creationId xmlns:a16="http://schemas.microsoft.com/office/drawing/2014/main" id="{7CF60264-5F0F-4116-A2C0-E1766682FEB4}"/>
                </a:ext>
              </a:extLst>
            </p:cNvPr>
            <p:cNvSpPr txBox="1">
              <a:spLocks noChangeArrowheads="1"/>
            </p:cNvSpPr>
            <p:nvPr/>
          </p:nvSpPr>
          <p:spPr bwMode="auto">
            <a:xfrm>
              <a:off x="19645" y="21202"/>
              <a:ext cx="3035" cy="2210"/>
            </a:xfrm>
            <a:prstGeom prst="rect">
              <a:avLst/>
            </a:prstGeom>
            <a:solidFill>
              <a:srgbClr val="FFFFFF"/>
            </a:solidFill>
            <a:ln>
              <a:noFill/>
            </a:ln>
            <a:extLst>
              <a:ext uri="{91240B29-F687-4F45-9708-019B960494DF}">
                <a14:hiddenLine xmlns:a14="http://schemas.microsoft.com/office/drawing/2010/main" w="6350">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2400" b="0" i="0" u="none" strike="noStrike" cap="none" normalizeH="0" baseline="0">
                  <a:ln>
                    <a:noFill/>
                  </a:ln>
                  <a:solidFill>
                    <a:schemeClr val="tx1"/>
                  </a:solidFill>
                  <a:effectLst/>
                  <a:latin typeface="Arial" pitchFamily="34" charset="0"/>
                  <a:ea typeface="宋体" pitchFamily="2" charset="-122"/>
                  <a:cs typeface="宋体" pitchFamily="2" charset="-122"/>
                </a:rPr>
                <a:t>…</a:t>
              </a:r>
            </a:p>
          </p:txBody>
        </p:sp>
        <p:sp>
          <p:nvSpPr>
            <p:cNvPr id="13" name="文本框 4">
              <a:extLst>
                <a:ext uri="{FF2B5EF4-FFF2-40B4-BE49-F238E27FC236}">
                  <a16:creationId xmlns:a16="http://schemas.microsoft.com/office/drawing/2014/main" id="{A3207CAB-05A9-42BE-A8F9-93FB6A497C07}"/>
                </a:ext>
              </a:extLst>
            </p:cNvPr>
            <p:cNvSpPr txBox="1">
              <a:spLocks noChangeArrowheads="1"/>
            </p:cNvSpPr>
            <p:nvPr/>
          </p:nvSpPr>
          <p:spPr bwMode="auto">
            <a:xfrm>
              <a:off x="10583" y="16735"/>
              <a:ext cx="3035" cy="2209"/>
            </a:xfrm>
            <a:prstGeom prst="rect">
              <a:avLst/>
            </a:prstGeom>
            <a:solidFill>
              <a:srgbClr val="FFFFFF"/>
            </a:solidFill>
            <a:ln w="6350">
              <a:solidFill>
                <a:srgbClr val="000000"/>
              </a:solidFill>
              <a:round/>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rgbClr val="692B99"/>
                  </a:solidFill>
                  <a:effectLst/>
                  <a:latin typeface="Times New Roman" pitchFamily="18" charset="0"/>
                  <a:ea typeface="宋体" pitchFamily="2" charset="-122"/>
                  <a:cs typeface="Times New Roman" pitchFamily="18" charset="0"/>
                </a:rPr>
                <a:t>G</a:t>
              </a:r>
              <a:endParaRPr kumimoji="0" lang="en-US" altLang="zh-CN" sz="2400" b="0" i="0" u="none" strike="noStrike" cap="none" normalizeH="0" baseline="0" dirty="0">
                <a:ln>
                  <a:noFill/>
                </a:ln>
                <a:solidFill>
                  <a:srgbClr val="692B99"/>
                </a:solidFill>
                <a:effectLst/>
                <a:latin typeface="Arial" pitchFamily="34" charset="0"/>
                <a:ea typeface="宋体" pitchFamily="2" charset="-122"/>
                <a:cs typeface="宋体" pitchFamily="2" charset="-122"/>
              </a:endParaRPr>
            </a:p>
          </p:txBody>
        </p:sp>
        <p:sp>
          <p:nvSpPr>
            <p:cNvPr id="14" name="文本框 4">
              <a:extLst>
                <a:ext uri="{FF2B5EF4-FFF2-40B4-BE49-F238E27FC236}">
                  <a16:creationId xmlns:a16="http://schemas.microsoft.com/office/drawing/2014/main" id="{E8EE26C0-66AA-4A22-935B-466D035122CF}"/>
                </a:ext>
              </a:extLst>
            </p:cNvPr>
            <p:cNvSpPr txBox="1">
              <a:spLocks noChangeArrowheads="1"/>
            </p:cNvSpPr>
            <p:nvPr/>
          </p:nvSpPr>
          <p:spPr bwMode="auto">
            <a:xfrm>
              <a:off x="14533" y="20116"/>
              <a:ext cx="3029" cy="2210"/>
            </a:xfrm>
            <a:prstGeom prst="rect">
              <a:avLst/>
            </a:prstGeom>
            <a:solidFill>
              <a:srgbClr val="FFFFFF"/>
            </a:solidFill>
            <a:ln w="6350">
              <a:solidFill>
                <a:srgbClr val="000000"/>
              </a:solidFill>
              <a:round/>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rgbClr val="692B99"/>
                  </a:solidFill>
                  <a:effectLst/>
                  <a:latin typeface="Times New Roman" pitchFamily="18" charset="0"/>
                  <a:ea typeface="宋体" pitchFamily="2" charset="-122"/>
                  <a:cs typeface="Times New Roman" pitchFamily="18" charset="0"/>
                </a:rPr>
                <a:t>G</a:t>
              </a:r>
              <a:endParaRPr kumimoji="0" lang="en-US" altLang="zh-CN" sz="2400" b="0" i="0" u="none" strike="noStrike" cap="none" normalizeH="0" baseline="0" dirty="0">
                <a:ln>
                  <a:noFill/>
                </a:ln>
                <a:solidFill>
                  <a:srgbClr val="692B99"/>
                </a:solidFill>
                <a:effectLst/>
                <a:latin typeface="Arial" pitchFamily="34" charset="0"/>
                <a:ea typeface="宋体" pitchFamily="2" charset="-122"/>
                <a:cs typeface="宋体" pitchFamily="2" charset="-122"/>
              </a:endParaRPr>
            </a:p>
          </p:txBody>
        </p:sp>
        <p:sp>
          <p:nvSpPr>
            <p:cNvPr id="15" name="文本框 4">
              <a:extLst>
                <a:ext uri="{FF2B5EF4-FFF2-40B4-BE49-F238E27FC236}">
                  <a16:creationId xmlns:a16="http://schemas.microsoft.com/office/drawing/2014/main" id="{04B36E3E-EF18-48C2-BCDA-9454DD380BF8}"/>
                </a:ext>
              </a:extLst>
            </p:cNvPr>
            <p:cNvSpPr txBox="1">
              <a:spLocks noChangeArrowheads="1"/>
            </p:cNvSpPr>
            <p:nvPr/>
          </p:nvSpPr>
          <p:spPr bwMode="auto">
            <a:xfrm>
              <a:off x="25810" y="18944"/>
              <a:ext cx="3029" cy="2210"/>
            </a:xfrm>
            <a:prstGeom prst="rect">
              <a:avLst/>
            </a:prstGeom>
            <a:solidFill>
              <a:srgbClr val="FFFFFF"/>
            </a:solidFill>
            <a:ln w="6350">
              <a:solidFill>
                <a:srgbClr val="000000"/>
              </a:solidFill>
              <a:round/>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rgbClr val="692B99"/>
                  </a:solidFill>
                  <a:effectLst/>
                  <a:latin typeface="Times New Roman" pitchFamily="18" charset="0"/>
                  <a:ea typeface="宋体" pitchFamily="2" charset="-122"/>
                  <a:cs typeface="Times New Roman" pitchFamily="18" charset="0"/>
                </a:rPr>
                <a:t>G</a:t>
              </a:r>
              <a:endParaRPr kumimoji="0" lang="en-US" altLang="zh-CN" sz="2400" b="0" i="0" u="none" strike="noStrike" cap="none" normalizeH="0" baseline="0" dirty="0">
                <a:ln>
                  <a:noFill/>
                </a:ln>
                <a:solidFill>
                  <a:srgbClr val="692B99"/>
                </a:solidFill>
                <a:effectLst/>
                <a:latin typeface="Arial" pitchFamily="34" charset="0"/>
                <a:ea typeface="宋体" pitchFamily="2" charset="-122"/>
                <a:cs typeface="宋体" pitchFamily="2" charset="-122"/>
              </a:endParaRPr>
            </a:p>
          </p:txBody>
        </p:sp>
        <p:sp>
          <p:nvSpPr>
            <p:cNvPr id="16" name="文本框 4">
              <a:extLst>
                <a:ext uri="{FF2B5EF4-FFF2-40B4-BE49-F238E27FC236}">
                  <a16:creationId xmlns:a16="http://schemas.microsoft.com/office/drawing/2014/main" id="{7358BA1E-93F1-449B-BB0C-8386AE596E53}"/>
                </a:ext>
              </a:extLst>
            </p:cNvPr>
            <p:cNvSpPr txBox="1">
              <a:spLocks noChangeArrowheads="1"/>
            </p:cNvSpPr>
            <p:nvPr/>
          </p:nvSpPr>
          <p:spPr bwMode="auto">
            <a:xfrm>
              <a:off x="28838" y="14601"/>
              <a:ext cx="3029" cy="2210"/>
            </a:xfrm>
            <a:prstGeom prst="rect">
              <a:avLst/>
            </a:prstGeom>
            <a:solidFill>
              <a:srgbClr val="FFFFFF"/>
            </a:solidFill>
            <a:ln w="6350">
              <a:solidFill>
                <a:srgbClr val="000000"/>
              </a:solidFill>
              <a:round/>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rgbClr val="692B99"/>
                  </a:solidFill>
                  <a:effectLst/>
                  <a:latin typeface="Times New Roman" pitchFamily="18" charset="0"/>
                  <a:ea typeface="宋体" pitchFamily="2" charset="-122"/>
                  <a:cs typeface="Times New Roman" pitchFamily="18" charset="0"/>
                </a:rPr>
                <a:t>G</a:t>
              </a:r>
              <a:endParaRPr kumimoji="0" lang="en-US" altLang="zh-CN" sz="2400" b="0" i="0" u="none" strike="noStrike" cap="none" normalizeH="0" baseline="0" dirty="0">
                <a:ln>
                  <a:noFill/>
                </a:ln>
                <a:solidFill>
                  <a:srgbClr val="692B99"/>
                </a:solidFill>
                <a:effectLst/>
                <a:latin typeface="Arial" pitchFamily="34" charset="0"/>
                <a:ea typeface="宋体" pitchFamily="2" charset="-122"/>
                <a:cs typeface="宋体" pitchFamily="2" charset="-122"/>
              </a:endParaRPr>
            </a:p>
          </p:txBody>
        </p:sp>
        <p:sp>
          <p:nvSpPr>
            <p:cNvPr id="17" name="文本框 4">
              <a:extLst>
                <a:ext uri="{FF2B5EF4-FFF2-40B4-BE49-F238E27FC236}">
                  <a16:creationId xmlns:a16="http://schemas.microsoft.com/office/drawing/2014/main" id="{364D4CB7-8270-42D1-854E-1F674581D50E}"/>
                </a:ext>
              </a:extLst>
            </p:cNvPr>
            <p:cNvSpPr txBox="1">
              <a:spLocks noChangeArrowheads="1"/>
            </p:cNvSpPr>
            <p:nvPr/>
          </p:nvSpPr>
          <p:spPr bwMode="auto">
            <a:xfrm>
              <a:off x="29773" y="9777"/>
              <a:ext cx="3029" cy="2210"/>
            </a:xfrm>
            <a:prstGeom prst="rect">
              <a:avLst/>
            </a:prstGeom>
            <a:solidFill>
              <a:srgbClr val="FFFFFF"/>
            </a:solidFill>
            <a:ln w="6350">
              <a:solidFill>
                <a:srgbClr val="000000"/>
              </a:solidFill>
              <a:round/>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rgbClr val="692B99"/>
                  </a:solidFill>
                  <a:effectLst/>
                  <a:latin typeface="Times New Roman" pitchFamily="18" charset="0"/>
                  <a:ea typeface="宋体" pitchFamily="2" charset="-122"/>
                  <a:cs typeface="Times New Roman" pitchFamily="18" charset="0"/>
                </a:rPr>
                <a:t>G</a:t>
              </a:r>
              <a:endParaRPr kumimoji="0" lang="en-US" altLang="zh-CN" sz="2400" b="0" i="0" u="none" strike="noStrike" cap="none" normalizeH="0" baseline="0" dirty="0">
                <a:ln>
                  <a:noFill/>
                </a:ln>
                <a:solidFill>
                  <a:srgbClr val="692B99"/>
                </a:solidFill>
                <a:effectLst/>
                <a:latin typeface="Arial" pitchFamily="34" charset="0"/>
                <a:ea typeface="宋体" pitchFamily="2" charset="-122"/>
                <a:cs typeface="宋体" pitchFamily="2" charset="-122"/>
              </a:endParaRPr>
            </a:p>
          </p:txBody>
        </p:sp>
        <p:sp>
          <p:nvSpPr>
            <p:cNvPr id="18" name="文本框 4">
              <a:extLst>
                <a:ext uri="{FF2B5EF4-FFF2-40B4-BE49-F238E27FC236}">
                  <a16:creationId xmlns:a16="http://schemas.microsoft.com/office/drawing/2014/main" id="{412BA38B-89DE-4F4C-98A9-E84E00476C88}"/>
                </a:ext>
              </a:extLst>
            </p:cNvPr>
            <p:cNvSpPr txBox="1">
              <a:spLocks noChangeArrowheads="1"/>
            </p:cNvSpPr>
            <p:nvPr/>
          </p:nvSpPr>
          <p:spPr bwMode="auto">
            <a:xfrm>
              <a:off x="28296" y="5076"/>
              <a:ext cx="3029" cy="2210"/>
            </a:xfrm>
            <a:prstGeom prst="rect">
              <a:avLst/>
            </a:prstGeom>
            <a:solidFill>
              <a:srgbClr val="FFFFFF"/>
            </a:solidFill>
            <a:ln w="6350">
              <a:solidFill>
                <a:srgbClr val="000000"/>
              </a:solidFill>
              <a:round/>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rgbClr val="692B99"/>
                  </a:solidFill>
                  <a:effectLst/>
                  <a:latin typeface="Arial" pitchFamily="34" charset="0"/>
                  <a:ea typeface="宋体" pitchFamily="2" charset="-122"/>
                  <a:cs typeface="宋体" pitchFamily="2" charset="-122"/>
                </a:rPr>
                <a:t>C</a:t>
              </a:r>
            </a:p>
          </p:txBody>
        </p:sp>
        <p:sp>
          <p:nvSpPr>
            <p:cNvPr id="19" name="文本框 4">
              <a:extLst>
                <a:ext uri="{FF2B5EF4-FFF2-40B4-BE49-F238E27FC236}">
                  <a16:creationId xmlns:a16="http://schemas.microsoft.com/office/drawing/2014/main" id="{F16D7A9F-7813-446F-944B-FC07810F6F07}"/>
                </a:ext>
              </a:extLst>
            </p:cNvPr>
            <p:cNvSpPr txBox="1">
              <a:spLocks noChangeArrowheads="1"/>
            </p:cNvSpPr>
            <p:nvPr/>
          </p:nvSpPr>
          <p:spPr bwMode="auto">
            <a:xfrm>
              <a:off x="37238" y="10229"/>
              <a:ext cx="4070" cy="1963"/>
            </a:xfrm>
            <a:prstGeom prst="rect">
              <a:avLst/>
            </a:prstGeom>
            <a:solidFill>
              <a:srgbClr val="FFFFFF"/>
            </a:solidFill>
            <a:ln>
              <a:noFill/>
            </a:ln>
            <a:extLst>
              <a:ext uri="{91240B29-F687-4F45-9708-019B960494DF}">
                <a14:hiddenLine xmlns:a14="http://schemas.microsoft.com/office/drawing/2010/main" w="6350">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dirty="0" err="1">
                  <a:ln>
                    <a:noFill/>
                  </a:ln>
                  <a:effectLst/>
                  <a:latin typeface="Arial" pitchFamily="34" charset="0"/>
                  <a:ea typeface="宋体" pitchFamily="2" charset="-122"/>
                  <a:cs typeface="宋体" pitchFamily="2" charset="-122"/>
                </a:rPr>
                <a:t>Nextg</a:t>
              </a:r>
              <a:endParaRPr kumimoji="0" lang="en-US" altLang="zh-CN" sz="2000" b="0" i="0" u="none" strike="noStrike" cap="none" normalizeH="0" baseline="0" dirty="0">
                <a:ln>
                  <a:noFill/>
                </a:ln>
                <a:effectLst/>
                <a:latin typeface="Arial" pitchFamily="34" charset="0"/>
                <a:ea typeface="宋体" pitchFamily="2" charset="-122"/>
                <a:cs typeface="宋体" pitchFamily="2" charset="-122"/>
              </a:endParaRPr>
            </a:p>
          </p:txBody>
        </p:sp>
        <p:sp>
          <p:nvSpPr>
            <p:cNvPr id="20" name="直接箭头连接符 19">
              <a:extLst>
                <a:ext uri="{FF2B5EF4-FFF2-40B4-BE49-F238E27FC236}">
                  <a16:creationId xmlns:a16="http://schemas.microsoft.com/office/drawing/2014/main" id="{7A305ADF-F18F-466B-9B7B-345169552CC3}"/>
                </a:ext>
              </a:extLst>
            </p:cNvPr>
            <p:cNvSpPr>
              <a:spLocks noChangeShapeType="1"/>
            </p:cNvSpPr>
            <p:nvPr/>
          </p:nvSpPr>
          <p:spPr bwMode="auto">
            <a:xfrm flipH="1">
              <a:off x="32802" y="11087"/>
              <a:ext cx="4435" cy="0"/>
            </a:xfrm>
            <a:prstGeom prst="straightConnector1">
              <a:avLst/>
            </a:prstGeom>
            <a:noFill/>
            <a:ln w="9525">
              <a:solidFill>
                <a:srgbClr val="000000"/>
              </a:solidFill>
              <a:round/>
              <a:headEnd/>
              <a:tailEnd type="arrow"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2400"/>
            </a:p>
          </p:txBody>
        </p:sp>
        <p:sp>
          <p:nvSpPr>
            <p:cNvPr id="21" name="文本框 4">
              <a:extLst>
                <a:ext uri="{FF2B5EF4-FFF2-40B4-BE49-F238E27FC236}">
                  <a16:creationId xmlns:a16="http://schemas.microsoft.com/office/drawing/2014/main" id="{501E3A37-28C6-4342-A9D1-6E5C42038BC3}"/>
                </a:ext>
              </a:extLst>
            </p:cNvPr>
            <p:cNvSpPr txBox="1">
              <a:spLocks noChangeArrowheads="1"/>
            </p:cNvSpPr>
            <p:nvPr/>
          </p:nvSpPr>
          <p:spPr bwMode="auto">
            <a:xfrm>
              <a:off x="36629" y="4924"/>
              <a:ext cx="5136" cy="2210"/>
            </a:xfrm>
            <a:prstGeom prst="rect">
              <a:avLst/>
            </a:prstGeom>
            <a:solidFill>
              <a:srgbClr val="FFFFFF"/>
            </a:solidFill>
            <a:ln>
              <a:noFill/>
            </a:ln>
            <a:extLst>
              <a:ext uri="{91240B29-F687-4F45-9708-019B960494DF}">
                <a14:hiddenLine xmlns:a14="http://schemas.microsoft.com/office/drawing/2010/main" w="6350">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dirty="0">
                  <a:ln>
                    <a:noFill/>
                  </a:ln>
                  <a:solidFill>
                    <a:srgbClr val="0000FF"/>
                  </a:solidFill>
                  <a:effectLst/>
                  <a:latin typeface="Arial" pitchFamily="34" charset="0"/>
                  <a:ea typeface="宋体" pitchFamily="2" charset="-122"/>
                  <a:cs typeface="宋体" pitchFamily="2" charset="-122"/>
                </a:rPr>
                <a:t>Current</a:t>
              </a:r>
            </a:p>
          </p:txBody>
        </p:sp>
        <p:sp>
          <p:nvSpPr>
            <p:cNvPr id="22" name="直接箭头连接符 21">
              <a:extLst>
                <a:ext uri="{FF2B5EF4-FFF2-40B4-BE49-F238E27FC236}">
                  <a16:creationId xmlns:a16="http://schemas.microsoft.com/office/drawing/2014/main" id="{F97A43A0-D479-487E-A7CD-D83D79E0FA70}"/>
                </a:ext>
              </a:extLst>
            </p:cNvPr>
            <p:cNvSpPr>
              <a:spLocks noChangeShapeType="1"/>
            </p:cNvSpPr>
            <p:nvPr/>
          </p:nvSpPr>
          <p:spPr bwMode="auto">
            <a:xfrm flipH="1">
              <a:off x="31325" y="6181"/>
              <a:ext cx="4876" cy="0"/>
            </a:xfrm>
            <a:prstGeom prst="straightConnector1">
              <a:avLst/>
            </a:prstGeom>
            <a:noFill/>
            <a:ln w="9525">
              <a:solidFill>
                <a:srgbClr val="000000"/>
              </a:solidFill>
              <a:round/>
              <a:headEnd/>
              <a:tailEnd type="arrow"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2400"/>
            </a:p>
          </p:txBody>
        </p:sp>
        <p:sp>
          <p:nvSpPr>
            <p:cNvPr id="23" name="文本框 4">
              <a:extLst>
                <a:ext uri="{FF2B5EF4-FFF2-40B4-BE49-F238E27FC236}">
                  <a16:creationId xmlns:a16="http://schemas.microsoft.com/office/drawing/2014/main" id="{09E3AD74-F55E-4459-8C9F-1746A53137D7}"/>
                </a:ext>
              </a:extLst>
            </p:cNvPr>
            <p:cNvSpPr txBox="1">
              <a:spLocks noChangeArrowheads="1"/>
            </p:cNvSpPr>
            <p:nvPr/>
          </p:nvSpPr>
          <p:spPr bwMode="auto">
            <a:xfrm>
              <a:off x="359" y="12391"/>
              <a:ext cx="3611" cy="2210"/>
            </a:xfrm>
            <a:prstGeom prst="rect">
              <a:avLst/>
            </a:prstGeom>
            <a:solidFill>
              <a:srgbClr val="FFFFFF"/>
            </a:solidFill>
            <a:ln>
              <a:noFill/>
            </a:ln>
            <a:extLst>
              <a:ext uri="{91240B29-F687-4F45-9708-019B960494DF}">
                <a14:hiddenLine xmlns:a14="http://schemas.microsoft.com/office/drawing/2010/main" w="6350">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Arial" pitchFamily="34" charset="0"/>
                  <a:ea typeface="宋体" pitchFamily="2" charset="-122"/>
                  <a:cs typeface="宋体" pitchFamily="2" charset="-122"/>
                </a:rPr>
                <a:t>Nexti</a:t>
              </a:r>
            </a:p>
          </p:txBody>
        </p:sp>
        <p:sp>
          <p:nvSpPr>
            <p:cNvPr id="24" name="直接箭头连接符 23">
              <a:extLst>
                <a:ext uri="{FF2B5EF4-FFF2-40B4-BE49-F238E27FC236}">
                  <a16:creationId xmlns:a16="http://schemas.microsoft.com/office/drawing/2014/main" id="{0717A657-1FF3-40E1-B778-30E4B9B05122}"/>
                </a:ext>
              </a:extLst>
            </p:cNvPr>
            <p:cNvSpPr>
              <a:spLocks noChangeShapeType="1"/>
            </p:cNvSpPr>
            <p:nvPr/>
          </p:nvSpPr>
          <p:spPr bwMode="auto">
            <a:xfrm>
              <a:off x="3970" y="13496"/>
              <a:ext cx="4391" cy="0"/>
            </a:xfrm>
            <a:prstGeom prst="straightConnector1">
              <a:avLst/>
            </a:prstGeom>
            <a:noFill/>
            <a:ln w="9525">
              <a:solidFill>
                <a:srgbClr val="000000"/>
              </a:solidFill>
              <a:round/>
              <a:headEnd/>
              <a:tailEnd type="arrow"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2400"/>
            </a:p>
          </p:txBody>
        </p:sp>
      </p:grpSp>
      <p:sp>
        <p:nvSpPr>
          <p:cNvPr id="25" name="文本框 24">
            <a:extLst>
              <a:ext uri="{FF2B5EF4-FFF2-40B4-BE49-F238E27FC236}">
                <a16:creationId xmlns:a16="http://schemas.microsoft.com/office/drawing/2014/main" id="{6739CE32-991D-89A6-C8E1-15B6DDDE1C1D}"/>
              </a:ext>
            </a:extLst>
          </p:cNvPr>
          <p:cNvSpPr txBox="1"/>
          <p:nvPr/>
        </p:nvSpPr>
        <p:spPr>
          <a:xfrm>
            <a:off x="8780496" y="1791031"/>
            <a:ext cx="3253774" cy="3046988"/>
          </a:xfrm>
          <a:prstGeom prst="rect">
            <a:avLst/>
          </a:prstGeom>
          <a:noFill/>
        </p:spPr>
        <p:txBody>
          <a:bodyPr wrap="square" rtlCol="0">
            <a:spAutoFit/>
          </a:bodyPr>
          <a:lstStyle/>
          <a:p>
            <a:pPr marL="0" indent="0">
              <a:buNone/>
            </a:pPr>
            <a:r>
              <a:rPr lang="en-US" altLang="zh-CN" sz="2400" dirty="0">
                <a:solidFill>
                  <a:srgbClr val="00B050"/>
                </a:solidFill>
              </a:rPr>
              <a:t>①</a:t>
            </a:r>
            <a:r>
              <a:rPr lang="zh-CN" altLang="zh-CN" sz="2400" dirty="0">
                <a:solidFill>
                  <a:srgbClr val="00B050"/>
                </a:solidFill>
              </a:rPr>
              <a:t>可用于存放数据的空缓冲区</a:t>
            </a:r>
            <a:r>
              <a:rPr lang="en-US" altLang="zh-CN" sz="2400" dirty="0">
                <a:solidFill>
                  <a:srgbClr val="00B050"/>
                </a:solidFill>
              </a:rPr>
              <a:t>R</a:t>
            </a:r>
            <a:r>
              <a:rPr lang="zh-CN" altLang="zh-CN" sz="2400" dirty="0">
                <a:solidFill>
                  <a:srgbClr val="00B050"/>
                </a:solidFill>
              </a:rPr>
              <a:t>。</a:t>
            </a:r>
            <a:endParaRPr lang="en-US" altLang="zh-CN" sz="2400" dirty="0">
              <a:solidFill>
                <a:srgbClr val="00B050"/>
              </a:solidFill>
            </a:endParaRPr>
          </a:p>
          <a:p>
            <a:pPr marL="0" indent="0">
              <a:buNone/>
            </a:pPr>
            <a:endParaRPr lang="zh-CN" altLang="zh-CN" sz="2400" dirty="0"/>
          </a:p>
          <a:p>
            <a:pPr marL="0" indent="0">
              <a:buNone/>
            </a:pPr>
            <a:r>
              <a:rPr lang="en-US" altLang="zh-CN" sz="2400" dirty="0">
                <a:solidFill>
                  <a:srgbClr val="692B99"/>
                </a:solidFill>
              </a:rPr>
              <a:t>②</a:t>
            </a:r>
            <a:r>
              <a:rPr lang="zh-CN" altLang="zh-CN" sz="2400" dirty="0">
                <a:solidFill>
                  <a:srgbClr val="692B99"/>
                </a:solidFill>
              </a:rPr>
              <a:t>已装满数据的满缓冲区</a:t>
            </a:r>
            <a:r>
              <a:rPr lang="en-US" altLang="zh-CN" sz="2400" dirty="0">
                <a:solidFill>
                  <a:srgbClr val="692B99"/>
                </a:solidFill>
              </a:rPr>
              <a:t>G</a:t>
            </a:r>
            <a:r>
              <a:rPr lang="zh-CN" altLang="zh-CN" sz="2400" dirty="0">
                <a:solidFill>
                  <a:srgbClr val="692B99"/>
                </a:solidFill>
              </a:rPr>
              <a:t>。</a:t>
            </a:r>
            <a:endParaRPr lang="en-US" altLang="zh-CN" sz="2400" dirty="0">
              <a:solidFill>
                <a:srgbClr val="692B99"/>
              </a:solidFill>
            </a:endParaRPr>
          </a:p>
          <a:p>
            <a:pPr marL="0" indent="0">
              <a:buNone/>
            </a:pPr>
            <a:endParaRPr lang="zh-CN" altLang="zh-CN" sz="2400" dirty="0"/>
          </a:p>
          <a:p>
            <a:pPr marL="0" indent="0">
              <a:buNone/>
            </a:pPr>
            <a:r>
              <a:rPr lang="en-US" altLang="zh-CN" sz="2400" dirty="0"/>
              <a:t>③</a:t>
            </a:r>
            <a:r>
              <a:rPr lang="zh-CN" altLang="zh-CN" sz="2400" dirty="0"/>
              <a:t>计算进程正在使用的当前工作缓冲区</a:t>
            </a:r>
            <a:r>
              <a:rPr lang="en-US" altLang="zh-CN" sz="2400" dirty="0"/>
              <a:t>C</a:t>
            </a:r>
            <a:r>
              <a:rPr lang="zh-CN" altLang="zh-CN" sz="2400" dirty="0"/>
              <a:t>。</a:t>
            </a:r>
            <a:endParaRPr lang="en-US" altLang="zh-CN" sz="2400" dirty="0"/>
          </a:p>
        </p:txBody>
      </p:sp>
    </p:spTree>
    <p:extLst>
      <p:ext uri="{BB962C8B-B14F-4D97-AF65-F5344CB8AC3E}">
        <p14:creationId xmlns:p14="http://schemas.microsoft.com/office/powerpoint/2010/main" val="3155446731"/>
      </p:ext>
    </p:extLst>
  </p:cSld>
  <p:clrMapOvr>
    <a:masterClrMapping/>
  </p:clrMapOvr>
  <p:transition>
    <p:random/>
  </p:transition>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zh-CN" dirty="0"/>
              <a:t>环形缓冲区的组成</a:t>
            </a:r>
            <a:endParaRPr lang="zh-CN" altLang="en-US" dirty="0"/>
          </a:p>
        </p:txBody>
      </p:sp>
      <p:sp>
        <p:nvSpPr>
          <p:cNvPr id="3" name="内容占位符 2"/>
          <p:cNvSpPr>
            <a:spLocks noGrp="1"/>
          </p:cNvSpPr>
          <p:nvPr>
            <p:ph idx="1"/>
          </p:nvPr>
        </p:nvSpPr>
        <p:spPr>
          <a:xfrm>
            <a:off x="373458" y="849005"/>
            <a:ext cx="9106551" cy="5331628"/>
          </a:xfrm>
        </p:spPr>
        <p:txBody>
          <a:bodyPr>
            <a:noAutofit/>
          </a:bodyPr>
          <a:lstStyle/>
          <a:p>
            <a:pPr marL="0" indent="0">
              <a:buNone/>
            </a:pPr>
            <a:r>
              <a:rPr lang="en-US" altLang="zh-CN" dirty="0"/>
              <a:t>(2) </a:t>
            </a:r>
            <a:r>
              <a:rPr lang="zh-CN" altLang="zh-CN" dirty="0"/>
              <a:t>多个指针。作为输入的环形缓冲区可以设置三个指针：</a:t>
            </a:r>
          </a:p>
          <a:p>
            <a:pPr marL="0" indent="0">
              <a:buNone/>
            </a:pPr>
            <a:r>
              <a:rPr lang="en-US" altLang="zh-CN" dirty="0"/>
              <a:t>①</a:t>
            </a:r>
            <a:r>
              <a:rPr lang="zh-CN" altLang="zh-CN" dirty="0"/>
              <a:t>指向计算进程下一个可用缓冲区</a:t>
            </a:r>
            <a:r>
              <a:rPr lang="en-US" altLang="zh-CN" dirty="0"/>
              <a:t>G</a:t>
            </a:r>
            <a:r>
              <a:rPr lang="zh-CN" altLang="zh-CN" dirty="0"/>
              <a:t>的指针</a:t>
            </a:r>
            <a:r>
              <a:rPr lang="en-US" altLang="zh-CN" dirty="0" err="1"/>
              <a:t>Nextg</a:t>
            </a:r>
            <a:r>
              <a:rPr lang="zh-CN" altLang="zh-CN" dirty="0"/>
              <a:t>。</a:t>
            </a:r>
          </a:p>
          <a:p>
            <a:pPr marL="0" indent="0">
              <a:buNone/>
            </a:pPr>
            <a:r>
              <a:rPr lang="en-US" altLang="zh-CN" dirty="0"/>
              <a:t>②</a:t>
            </a:r>
            <a:r>
              <a:rPr lang="zh-CN" altLang="zh-CN" dirty="0"/>
              <a:t>指向输入进程下一个可用的空缓冲区</a:t>
            </a:r>
            <a:r>
              <a:rPr lang="en-US" altLang="zh-CN" dirty="0"/>
              <a:t>R</a:t>
            </a:r>
            <a:r>
              <a:rPr lang="zh-CN" altLang="zh-CN" dirty="0"/>
              <a:t>的指针</a:t>
            </a:r>
            <a:r>
              <a:rPr lang="en-US" altLang="zh-CN" dirty="0" err="1"/>
              <a:t>Nexti</a:t>
            </a:r>
            <a:r>
              <a:rPr lang="en-US" altLang="zh-CN" dirty="0"/>
              <a:t> </a:t>
            </a:r>
            <a:r>
              <a:rPr lang="zh-CN" altLang="zh-CN" dirty="0"/>
              <a:t>。</a:t>
            </a:r>
          </a:p>
          <a:p>
            <a:pPr marL="0" indent="0">
              <a:buNone/>
            </a:pPr>
            <a:r>
              <a:rPr lang="en-US" altLang="zh-CN" dirty="0"/>
              <a:t>③</a:t>
            </a:r>
            <a:r>
              <a:rPr lang="zh-CN" altLang="zh-CN" dirty="0"/>
              <a:t>指向计算进程当前正在使用的缓冲区</a:t>
            </a:r>
            <a:r>
              <a:rPr lang="en-US" altLang="zh-CN" dirty="0"/>
              <a:t>C</a:t>
            </a:r>
            <a:r>
              <a:rPr lang="zh-CN" altLang="zh-CN" dirty="0"/>
              <a:t>的指针</a:t>
            </a:r>
            <a:r>
              <a:rPr lang="en-US" altLang="zh-CN" dirty="0"/>
              <a:t>Current</a:t>
            </a:r>
            <a:r>
              <a:rPr lang="zh-CN" altLang="zh-CN" dirty="0"/>
              <a:t>。</a:t>
            </a:r>
          </a:p>
          <a:p>
            <a:pPr marL="0" indent="0">
              <a:buNone/>
            </a:pPr>
            <a:endParaRPr lang="zh-CN" altLang="en-US" dirty="0"/>
          </a:p>
        </p:txBody>
      </p:sp>
      <p:grpSp>
        <p:nvGrpSpPr>
          <p:cNvPr id="5" name="画布 676"/>
          <p:cNvGrpSpPr>
            <a:grpSpLocks noChangeAspect="1"/>
          </p:cNvGrpSpPr>
          <p:nvPr/>
        </p:nvGrpSpPr>
        <p:grpSpPr bwMode="auto">
          <a:xfrm>
            <a:off x="3869388" y="3345292"/>
            <a:ext cx="5965491" cy="3428277"/>
            <a:chOff x="0" y="0"/>
            <a:chExt cx="41757" cy="24003"/>
          </a:xfrm>
        </p:grpSpPr>
        <p:sp>
          <p:nvSpPr>
            <p:cNvPr id="6" name="Rectangle 23"/>
            <p:cNvSpPr>
              <a:spLocks noChangeArrowheads="1"/>
            </p:cNvSpPr>
            <p:nvPr/>
          </p:nvSpPr>
          <p:spPr bwMode="auto">
            <a:xfrm>
              <a:off x="0" y="0"/>
              <a:ext cx="41757" cy="240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100"/>
            </a:p>
          </p:txBody>
        </p:sp>
        <p:sp>
          <p:nvSpPr>
            <p:cNvPr id="7" name="椭圆 2"/>
            <p:cNvSpPr>
              <a:spLocks noChangeArrowheads="1"/>
            </p:cNvSpPr>
            <p:nvPr/>
          </p:nvSpPr>
          <p:spPr bwMode="auto">
            <a:xfrm>
              <a:off x="9880" y="1524"/>
              <a:ext cx="21446" cy="20802"/>
            </a:xfrm>
            <a:prstGeom prst="ellipse">
              <a:avLst/>
            </a:prstGeom>
            <a:solidFill>
              <a:srgbClr val="FFFFFF"/>
            </a:solidFill>
            <a:ln w="6350">
              <a:solidFill>
                <a:srgbClr val="000000"/>
              </a:solidFill>
              <a:round/>
              <a:headEnd/>
              <a:tailEnd/>
            </a:ln>
          </p:spPr>
          <p:txBody>
            <a:bodyPr vert="horz" wrap="square" lIns="91440" tIns="45720" rIns="91440" bIns="45720" numCol="1" anchor="ctr" anchorCtr="0" compatLnSpc="1">
              <a:prstTxWarp prst="textNoShape">
                <a:avLst/>
              </a:prstTxWarp>
            </a:bodyPr>
            <a:lstStyle/>
            <a:p>
              <a:endParaRPr lang="zh-CN" altLang="en-US" sz="1100"/>
            </a:p>
          </p:txBody>
        </p:sp>
        <p:sp>
          <p:nvSpPr>
            <p:cNvPr id="8" name="文本框 4"/>
            <p:cNvSpPr txBox="1">
              <a:spLocks noChangeArrowheads="1"/>
            </p:cNvSpPr>
            <p:nvPr/>
          </p:nvSpPr>
          <p:spPr bwMode="auto">
            <a:xfrm>
              <a:off x="24163" y="1905"/>
              <a:ext cx="3046" cy="2209"/>
            </a:xfrm>
            <a:prstGeom prst="rect">
              <a:avLst/>
            </a:prstGeom>
            <a:solidFill>
              <a:srgbClr val="FFFFFF"/>
            </a:solidFill>
            <a:ln w="6350">
              <a:solidFill>
                <a:srgbClr val="000000"/>
              </a:solidFill>
              <a:round/>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R</a:t>
              </a:r>
              <a:endParaRPr kumimoji="0" lang="en-US" altLang="zh-CN" sz="11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9" name="文本框 4"/>
            <p:cNvSpPr txBox="1">
              <a:spLocks noChangeArrowheads="1"/>
            </p:cNvSpPr>
            <p:nvPr/>
          </p:nvSpPr>
          <p:spPr bwMode="auto">
            <a:xfrm>
              <a:off x="18952" y="428"/>
              <a:ext cx="3042" cy="2210"/>
            </a:xfrm>
            <a:prstGeom prst="rect">
              <a:avLst/>
            </a:prstGeom>
            <a:solidFill>
              <a:srgbClr val="FFFFFF"/>
            </a:solidFill>
            <a:ln>
              <a:noFill/>
            </a:ln>
            <a:extLst>
              <a:ext uri="{91240B29-F687-4F45-9708-019B960494DF}">
                <a14:hiddenLine xmlns:a14="http://schemas.microsoft.com/office/drawing/2010/main" w="6350">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a:t>
              </a:r>
              <a:endParaRPr kumimoji="0" lang="zh-CN" altLang="zh-CN" sz="11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10" name="文本框 4"/>
            <p:cNvSpPr txBox="1">
              <a:spLocks noChangeArrowheads="1"/>
            </p:cNvSpPr>
            <p:nvPr/>
          </p:nvSpPr>
          <p:spPr bwMode="auto">
            <a:xfrm>
              <a:off x="13618" y="1905"/>
              <a:ext cx="3042" cy="2209"/>
            </a:xfrm>
            <a:prstGeom prst="rect">
              <a:avLst/>
            </a:prstGeom>
            <a:solidFill>
              <a:srgbClr val="FFFFFF"/>
            </a:solidFill>
            <a:ln w="6350">
              <a:solidFill>
                <a:srgbClr val="000000"/>
              </a:solidFill>
              <a:round/>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R</a:t>
              </a:r>
              <a:endParaRPr kumimoji="0" lang="en-US" altLang="zh-CN" sz="11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11" name="文本框 4"/>
            <p:cNvSpPr txBox="1">
              <a:spLocks noChangeArrowheads="1"/>
            </p:cNvSpPr>
            <p:nvPr/>
          </p:nvSpPr>
          <p:spPr bwMode="auto">
            <a:xfrm>
              <a:off x="9708" y="6324"/>
              <a:ext cx="3042" cy="2210"/>
            </a:xfrm>
            <a:prstGeom prst="rect">
              <a:avLst/>
            </a:prstGeom>
            <a:solidFill>
              <a:srgbClr val="FFFFFF"/>
            </a:solidFill>
            <a:ln w="6350">
              <a:solidFill>
                <a:srgbClr val="000000"/>
              </a:solidFill>
              <a:round/>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R</a:t>
              </a:r>
              <a:endParaRPr kumimoji="0" lang="en-US" altLang="zh-CN" sz="11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12" name="文本框 4"/>
            <p:cNvSpPr txBox="1">
              <a:spLocks noChangeArrowheads="1"/>
            </p:cNvSpPr>
            <p:nvPr/>
          </p:nvSpPr>
          <p:spPr bwMode="auto">
            <a:xfrm>
              <a:off x="8361" y="12391"/>
              <a:ext cx="3041" cy="2210"/>
            </a:xfrm>
            <a:prstGeom prst="rect">
              <a:avLst/>
            </a:prstGeom>
            <a:solidFill>
              <a:srgbClr val="FFFFFF"/>
            </a:solidFill>
            <a:ln w="6350">
              <a:solidFill>
                <a:srgbClr val="000000"/>
              </a:solidFill>
              <a:round/>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R</a:t>
              </a:r>
              <a:endParaRPr kumimoji="0" lang="en-US" altLang="zh-CN" sz="11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13" name="文本框 4"/>
            <p:cNvSpPr txBox="1">
              <a:spLocks noChangeArrowheads="1"/>
            </p:cNvSpPr>
            <p:nvPr/>
          </p:nvSpPr>
          <p:spPr bwMode="auto">
            <a:xfrm>
              <a:off x="19645" y="21202"/>
              <a:ext cx="3035" cy="2210"/>
            </a:xfrm>
            <a:prstGeom prst="rect">
              <a:avLst/>
            </a:prstGeom>
            <a:solidFill>
              <a:srgbClr val="FFFFFF"/>
            </a:solidFill>
            <a:ln>
              <a:noFill/>
            </a:ln>
            <a:extLst>
              <a:ext uri="{91240B29-F687-4F45-9708-019B960494DF}">
                <a14:hiddenLine xmlns:a14="http://schemas.microsoft.com/office/drawing/2010/main" w="6350">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100" b="0" i="0" u="none" strike="noStrike" cap="none" normalizeH="0" baseline="0">
                  <a:ln>
                    <a:noFill/>
                  </a:ln>
                  <a:solidFill>
                    <a:schemeClr val="tx1"/>
                  </a:solidFill>
                  <a:effectLst/>
                  <a:latin typeface="Arial" pitchFamily="34" charset="0"/>
                  <a:ea typeface="宋体" pitchFamily="2" charset="-122"/>
                  <a:cs typeface="宋体" pitchFamily="2" charset="-122"/>
                </a:rPr>
                <a:t>…</a:t>
              </a:r>
            </a:p>
          </p:txBody>
        </p:sp>
        <p:sp>
          <p:nvSpPr>
            <p:cNvPr id="14" name="文本框 4"/>
            <p:cNvSpPr txBox="1">
              <a:spLocks noChangeArrowheads="1"/>
            </p:cNvSpPr>
            <p:nvPr/>
          </p:nvSpPr>
          <p:spPr bwMode="auto">
            <a:xfrm>
              <a:off x="10583" y="16735"/>
              <a:ext cx="3035" cy="2209"/>
            </a:xfrm>
            <a:prstGeom prst="rect">
              <a:avLst/>
            </a:prstGeom>
            <a:solidFill>
              <a:srgbClr val="FFFFFF"/>
            </a:solidFill>
            <a:ln w="6350">
              <a:solidFill>
                <a:srgbClr val="000000"/>
              </a:solidFill>
              <a:round/>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G</a:t>
              </a:r>
              <a:endParaRPr kumimoji="0" lang="en-US" altLang="zh-CN" sz="11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15" name="文本框 4"/>
            <p:cNvSpPr txBox="1">
              <a:spLocks noChangeArrowheads="1"/>
            </p:cNvSpPr>
            <p:nvPr/>
          </p:nvSpPr>
          <p:spPr bwMode="auto">
            <a:xfrm>
              <a:off x="14533" y="20116"/>
              <a:ext cx="3029" cy="2210"/>
            </a:xfrm>
            <a:prstGeom prst="rect">
              <a:avLst/>
            </a:prstGeom>
            <a:solidFill>
              <a:srgbClr val="FFFFFF"/>
            </a:solidFill>
            <a:ln w="6350">
              <a:solidFill>
                <a:srgbClr val="000000"/>
              </a:solidFill>
              <a:round/>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G</a:t>
              </a:r>
              <a:endParaRPr kumimoji="0" lang="en-US" altLang="zh-CN" sz="11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16" name="文本框 4"/>
            <p:cNvSpPr txBox="1">
              <a:spLocks noChangeArrowheads="1"/>
            </p:cNvSpPr>
            <p:nvPr/>
          </p:nvSpPr>
          <p:spPr bwMode="auto">
            <a:xfrm>
              <a:off x="25810" y="18944"/>
              <a:ext cx="3029" cy="2210"/>
            </a:xfrm>
            <a:prstGeom prst="rect">
              <a:avLst/>
            </a:prstGeom>
            <a:solidFill>
              <a:srgbClr val="FFFFFF"/>
            </a:solidFill>
            <a:ln w="6350">
              <a:solidFill>
                <a:srgbClr val="000000"/>
              </a:solidFill>
              <a:round/>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G</a:t>
              </a:r>
              <a:endParaRPr kumimoji="0" lang="en-US" altLang="zh-CN" sz="11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17" name="文本框 4"/>
            <p:cNvSpPr txBox="1">
              <a:spLocks noChangeArrowheads="1"/>
            </p:cNvSpPr>
            <p:nvPr/>
          </p:nvSpPr>
          <p:spPr bwMode="auto">
            <a:xfrm>
              <a:off x="28838" y="14601"/>
              <a:ext cx="3029" cy="2210"/>
            </a:xfrm>
            <a:prstGeom prst="rect">
              <a:avLst/>
            </a:prstGeom>
            <a:solidFill>
              <a:srgbClr val="FFFFFF"/>
            </a:solidFill>
            <a:ln w="6350">
              <a:solidFill>
                <a:srgbClr val="000000"/>
              </a:solidFill>
              <a:round/>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G</a:t>
              </a:r>
              <a:endParaRPr kumimoji="0" lang="en-US" altLang="zh-CN" sz="11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18" name="文本框 4"/>
            <p:cNvSpPr txBox="1">
              <a:spLocks noChangeArrowheads="1"/>
            </p:cNvSpPr>
            <p:nvPr/>
          </p:nvSpPr>
          <p:spPr bwMode="auto">
            <a:xfrm>
              <a:off x="29773" y="9982"/>
              <a:ext cx="3029" cy="2210"/>
            </a:xfrm>
            <a:prstGeom prst="rect">
              <a:avLst/>
            </a:prstGeom>
            <a:solidFill>
              <a:srgbClr val="FFFFFF"/>
            </a:solidFill>
            <a:ln w="6350">
              <a:solidFill>
                <a:srgbClr val="000000"/>
              </a:solidFill>
              <a:round/>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G</a:t>
              </a:r>
              <a:endParaRPr kumimoji="0" lang="en-US" altLang="zh-CN" sz="11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19" name="文本框 4"/>
            <p:cNvSpPr txBox="1">
              <a:spLocks noChangeArrowheads="1"/>
            </p:cNvSpPr>
            <p:nvPr/>
          </p:nvSpPr>
          <p:spPr bwMode="auto">
            <a:xfrm>
              <a:off x="28296" y="5076"/>
              <a:ext cx="3029" cy="2210"/>
            </a:xfrm>
            <a:prstGeom prst="rect">
              <a:avLst/>
            </a:prstGeom>
            <a:solidFill>
              <a:srgbClr val="FFFFFF"/>
            </a:solidFill>
            <a:ln w="6350">
              <a:solidFill>
                <a:srgbClr val="000000"/>
              </a:solidFill>
              <a:round/>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1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C</a:t>
              </a:r>
              <a:endParaRPr kumimoji="0" lang="en-US" altLang="zh-CN" sz="11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sp>
          <p:nvSpPr>
            <p:cNvPr id="20" name="文本框 4"/>
            <p:cNvSpPr txBox="1">
              <a:spLocks noChangeArrowheads="1"/>
            </p:cNvSpPr>
            <p:nvPr/>
          </p:nvSpPr>
          <p:spPr bwMode="auto">
            <a:xfrm>
              <a:off x="37238" y="10229"/>
              <a:ext cx="4070" cy="1963"/>
            </a:xfrm>
            <a:prstGeom prst="rect">
              <a:avLst/>
            </a:prstGeom>
            <a:solidFill>
              <a:srgbClr val="FFFFFF"/>
            </a:solidFill>
            <a:ln>
              <a:noFill/>
            </a:ln>
            <a:extLst>
              <a:ext uri="{91240B29-F687-4F45-9708-019B960494DF}">
                <a14:hiddenLine xmlns:a14="http://schemas.microsoft.com/office/drawing/2010/main" w="6350">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chemeClr val="tx1"/>
                  </a:solidFill>
                  <a:effectLst/>
                  <a:latin typeface="Arial" pitchFamily="34" charset="0"/>
                  <a:ea typeface="宋体" pitchFamily="2" charset="-122"/>
                  <a:cs typeface="宋体" pitchFamily="2" charset="-122"/>
                </a:rPr>
                <a:t>Nextg</a:t>
              </a:r>
            </a:p>
          </p:txBody>
        </p:sp>
        <p:sp>
          <p:nvSpPr>
            <p:cNvPr id="21" name="直接箭头连接符 20"/>
            <p:cNvSpPr>
              <a:spLocks noChangeShapeType="1"/>
            </p:cNvSpPr>
            <p:nvPr/>
          </p:nvSpPr>
          <p:spPr bwMode="auto">
            <a:xfrm flipH="1">
              <a:off x="32802" y="11087"/>
              <a:ext cx="4435" cy="0"/>
            </a:xfrm>
            <a:prstGeom prst="straightConnector1">
              <a:avLst/>
            </a:prstGeom>
            <a:noFill/>
            <a:ln w="9525">
              <a:solidFill>
                <a:srgbClr val="000000"/>
              </a:solidFill>
              <a:round/>
              <a:headEnd/>
              <a:tailEnd type="arrow"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1100"/>
            </a:p>
          </p:txBody>
        </p:sp>
        <p:sp>
          <p:nvSpPr>
            <p:cNvPr id="22" name="文本框 4"/>
            <p:cNvSpPr txBox="1">
              <a:spLocks noChangeArrowheads="1"/>
            </p:cNvSpPr>
            <p:nvPr/>
          </p:nvSpPr>
          <p:spPr bwMode="auto">
            <a:xfrm>
              <a:off x="36629" y="4924"/>
              <a:ext cx="5136" cy="2210"/>
            </a:xfrm>
            <a:prstGeom prst="rect">
              <a:avLst/>
            </a:prstGeom>
            <a:solidFill>
              <a:srgbClr val="FFFFFF"/>
            </a:solidFill>
            <a:ln>
              <a:noFill/>
            </a:ln>
            <a:extLst>
              <a:ext uri="{91240B29-F687-4F45-9708-019B960494DF}">
                <a14:hiddenLine xmlns:a14="http://schemas.microsoft.com/office/drawing/2010/main" w="6350">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chemeClr val="tx1"/>
                  </a:solidFill>
                  <a:effectLst/>
                  <a:latin typeface="Arial" pitchFamily="34" charset="0"/>
                  <a:ea typeface="宋体" pitchFamily="2" charset="-122"/>
                  <a:cs typeface="宋体" pitchFamily="2" charset="-122"/>
                </a:rPr>
                <a:t>Current</a:t>
              </a:r>
            </a:p>
          </p:txBody>
        </p:sp>
        <p:sp>
          <p:nvSpPr>
            <p:cNvPr id="23" name="直接箭头连接符 22"/>
            <p:cNvSpPr>
              <a:spLocks noChangeShapeType="1"/>
            </p:cNvSpPr>
            <p:nvPr/>
          </p:nvSpPr>
          <p:spPr bwMode="auto">
            <a:xfrm flipH="1">
              <a:off x="31325" y="6181"/>
              <a:ext cx="4876" cy="0"/>
            </a:xfrm>
            <a:prstGeom prst="straightConnector1">
              <a:avLst/>
            </a:prstGeom>
            <a:noFill/>
            <a:ln w="9525">
              <a:solidFill>
                <a:srgbClr val="000000"/>
              </a:solidFill>
              <a:round/>
              <a:headEnd/>
              <a:tailEnd type="arrow"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1100"/>
            </a:p>
          </p:txBody>
        </p:sp>
        <p:sp>
          <p:nvSpPr>
            <p:cNvPr id="24" name="文本框 4"/>
            <p:cNvSpPr txBox="1">
              <a:spLocks noChangeArrowheads="1"/>
            </p:cNvSpPr>
            <p:nvPr/>
          </p:nvSpPr>
          <p:spPr bwMode="auto">
            <a:xfrm>
              <a:off x="359" y="12391"/>
              <a:ext cx="3611" cy="2210"/>
            </a:xfrm>
            <a:prstGeom prst="rect">
              <a:avLst/>
            </a:prstGeom>
            <a:solidFill>
              <a:srgbClr val="FFFFFF"/>
            </a:solidFill>
            <a:ln>
              <a:noFill/>
            </a:ln>
            <a:extLst>
              <a:ext uri="{91240B29-F687-4F45-9708-019B960494DF}">
                <a14:hiddenLine xmlns:a14="http://schemas.microsoft.com/office/drawing/2010/main" w="6350">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chemeClr val="tx1"/>
                  </a:solidFill>
                  <a:effectLst/>
                  <a:latin typeface="Arial" pitchFamily="34" charset="0"/>
                  <a:ea typeface="宋体" pitchFamily="2" charset="-122"/>
                  <a:cs typeface="宋体" pitchFamily="2" charset="-122"/>
                </a:rPr>
                <a:t>Nexti</a:t>
              </a:r>
            </a:p>
          </p:txBody>
        </p:sp>
        <p:sp>
          <p:nvSpPr>
            <p:cNvPr id="25" name="直接箭头连接符 24"/>
            <p:cNvSpPr>
              <a:spLocks noChangeShapeType="1"/>
            </p:cNvSpPr>
            <p:nvPr/>
          </p:nvSpPr>
          <p:spPr bwMode="auto">
            <a:xfrm>
              <a:off x="3970" y="13496"/>
              <a:ext cx="4391" cy="0"/>
            </a:xfrm>
            <a:prstGeom prst="straightConnector1">
              <a:avLst/>
            </a:prstGeom>
            <a:noFill/>
            <a:ln w="9525">
              <a:solidFill>
                <a:srgbClr val="000000"/>
              </a:solidFill>
              <a:round/>
              <a:headEnd/>
              <a:tailEnd type="arrow"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1100"/>
            </a:p>
          </p:txBody>
        </p:sp>
      </p:grpSp>
    </p:spTree>
    <p:extLst>
      <p:ext uri="{BB962C8B-B14F-4D97-AF65-F5344CB8AC3E}">
        <p14:creationId xmlns:p14="http://schemas.microsoft.com/office/powerpoint/2010/main" val="3324436826"/>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zh-CN" dirty="0"/>
              <a:t>8.3.4 缓冲池</a:t>
            </a:r>
            <a:endParaRPr lang="zh-CN" altLang="en-US" dirty="0"/>
          </a:p>
        </p:txBody>
      </p:sp>
      <p:sp>
        <p:nvSpPr>
          <p:cNvPr id="3" name="内容占位符 2"/>
          <p:cNvSpPr>
            <a:spLocks noGrp="1"/>
          </p:cNvSpPr>
          <p:nvPr>
            <p:ph idx="1"/>
          </p:nvPr>
        </p:nvSpPr>
        <p:spPr>
          <a:xfrm>
            <a:off x="608330" y="1227455"/>
            <a:ext cx="10758009" cy="1156929"/>
          </a:xfrm>
        </p:spPr>
        <p:txBody>
          <a:bodyPr>
            <a:noAutofit/>
          </a:bodyPr>
          <a:lstStyle/>
          <a:p>
            <a:r>
              <a:rPr lang="zh-CN" altLang="zh-CN" dirty="0"/>
              <a:t>缓冲池是对多个缓冲区进行统一管理，既可用于输入又可用于输出的公用的缓冲结构，池中的缓冲区可供多个进程共享。</a:t>
            </a:r>
            <a:endParaRPr lang="zh-CN" altLang="en-US" dirty="0"/>
          </a:p>
        </p:txBody>
      </p:sp>
      <p:sp>
        <p:nvSpPr>
          <p:cNvPr id="4" name="内容占位符 2">
            <a:extLst>
              <a:ext uri="{FF2B5EF4-FFF2-40B4-BE49-F238E27FC236}">
                <a16:creationId xmlns:a16="http://schemas.microsoft.com/office/drawing/2014/main" id="{C17386FC-2F8D-48C4-A7D7-155CDAAF6112}"/>
              </a:ext>
            </a:extLst>
          </p:cNvPr>
          <p:cNvSpPr txBox="1">
            <a:spLocks/>
          </p:cNvSpPr>
          <p:nvPr/>
        </p:nvSpPr>
        <p:spPr>
          <a:xfrm>
            <a:off x="608330" y="2998380"/>
            <a:ext cx="10968990" cy="1897710"/>
          </a:xfrm>
          <a:prstGeom prst="rect">
            <a:avLst/>
          </a:prstGeom>
        </p:spPr>
        <p:txBody>
          <a:bodyPr vert="horz" lIns="90000" tIns="46800" rIns="90000" bIns="46800" rtlCol="0">
            <a:noAutofit/>
          </a:bodyPr>
          <a:lstStyle>
            <a:lvl1pPr marL="228600" marR="0" lvl="0" indent="-228600" algn="l" defTabSz="914400" rtl="0" eaLnBrk="1" fontAlgn="auto" latinLnBrk="0" hangingPunct="1">
              <a:lnSpc>
                <a:spcPct val="130000"/>
              </a:lnSpc>
              <a:spcBef>
                <a:spcPts val="0"/>
              </a:spcBef>
              <a:spcAft>
                <a:spcPts val="1000"/>
              </a:spcAft>
              <a:buClr>
                <a:srgbClr val="2094CE"/>
              </a:buClr>
              <a:buSzPct val="80000"/>
              <a:buFont typeface="Arial" panose="020B0604020202020204" pitchFamily="34" charset="0"/>
              <a:buChar char="►"/>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Clr>
                <a:srgbClr val="FF9800"/>
              </a:buClr>
              <a:buSzPct val="90000"/>
              <a:buFont typeface="Arial" panose="020B0604020202020204" pitchFamily="34" charset="0"/>
              <a:buChar char="♦"/>
              <a:tabLst>
                <a:tab pos="1609725" algn="l"/>
              </a:tabLst>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t>缓冲池中的每个缓冲区由缓冲首部和缓冲区主体两部分组成。</a:t>
            </a:r>
            <a:endParaRPr lang="en-US" altLang="zh-CN" dirty="0"/>
          </a:p>
          <a:p>
            <a:pPr lvl="1"/>
            <a:r>
              <a:rPr lang="zh-CN" altLang="en-US" dirty="0"/>
              <a:t>缓冲首部用于标识和管理该缓冲区，缓冲区主体用于存放数据。</a:t>
            </a:r>
            <a:endParaRPr lang="en-US" altLang="zh-CN" dirty="0"/>
          </a:p>
          <a:p>
            <a:pPr lvl="1"/>
            <a:r>
              <a:rPr lang="zh-CN" altLang="en-US" dirty="0"/>
              <a:t>缓冲首部包括缓冲区号、设备号、设备上的数据块号（块设备时）、互斥标识（同步信号量）以及缓冲队列链接指针等。</a:t>
            </a:r>
          </a:p>
          <a:p>
            <a:endParaRPr lang="zh-CN" altLang="en-US" dirty="0"/>
          </a:p>
        </p:txBody>
      </p:sp>
    </p:spTree>
    <p:extLst>
      <p:ext uri="{BB962C8B-B14F-4D97-AF65-F5344CB8AC3E}">
        <p14:creationId xmlns:p14="http://schemas.microsoft.com/office/powerpoint/2010/main" val="4065034115"/>
      </p:ext>
    </p:extLst>
  </p:cSld>
  <p:clrMapOvr>
    <a:masterClrMapping/>
  </p:clrMapOvr>
  <p:transition>
    <p:random/>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 </a:t>
            </a:r>
            <a:r>
              <a:rPr lang="zh-CN" altLang="zh-CN" dirty="0"/>
              <a:t>缓冲池的组成 </a:t>
            </a:r>
            <a:endParaRPr lang="zh-CN" altLang="en-US" dirty="0"/>
          </a:p>
        </p:txBody>
      </p:sp>
      <p:sp>
        <p:nvSpPr>
          <p:cNvPr id="3" name="内容占位符 2"/>
          <p:cNvSpPr>
            <a:spLocks noGrp="1"/>
          </p:cNvSpPr>
          <p:nvPr>
            <p:ph idx="1"/>
          </p:nvPr>
        </p:nvSpPr>
        <p:spPr>
          <a:xfrm>
            <a:off x="437885" y="1100134"/>
            <a:ext cx="10968990" cy="4999724"/>
          </a:xfrm>
        </p:spPr>
        <p:txBody>
          <a:bodyPr>
            <a:noAutofit/>
          </a:bodyPr>
          <a:lstStyle/>
          <a:p>
            <a:pPr marL="0" indent="0">
              <a:buNone/>
            </a:pPr>
            <a:r>
              <a:rPr lang="zh-CN" altLang="zh-CN" dirty="0">
                <a:solidFill>
                  <a:srgbClr val="0000FF"/>
                </a:solidFill>
              </a:rPr>
              <a:t>缓冲池中至少应含有空缓冲区、装满输入数据的缓冲区和装满输出数据的缓冲区三种类型。</a:t>
            </a:r>
            <a:r>
              <a:rPr lang="zh-CN" altLang="zh-CN" dirty="0"/>
              <a:t>为方便管理，将相同类型的缓冲区链成一个队列，故可形成以下三个队列： </a:t>
            </a:r>
          </a:p>
          <a:p>
            <a:pPr marL="0" indent="0">
              <a:buNone/>
            </a:pPr>
            <a:r>
              <a:rPr lang="zh-CN" altLang="zh-CN" dirty="0"/>
              <a:t>（</a:t>
            </a:r>
            <a:r>
              <a:rPr lang="en-US" altLang="zh-CN" dirty="0"/>
              <a:t>1</a:t>
            </a:r>
            <a:r>
              <a:rPr lang="zh-CN" altLang="zh-CN" dirty="0"/>
              <a:t>）空缓冲队列</a:t>
            </a:r>
            <a:r>
              <a:rPr lang="en-US" altLang="zh-CN" dirty="0" err="1"/>
              <a:t>emq</a:t>
            </a:r>
            <a:r>
              <a:rPr lang="zh-CN" altLang="zh-CN" dirty="0"/>
              <a:t>。由空缓冲区所链接成的队列。设置队首指针</a:t>
            </a:r>
            <a:r>
              <a:rPr lang="en-US" altLang="zh-CN" dirty="0"/>
              <a:t>F(</a:t>
            </a:r>
            <a:r>
              <a:rPr lang="en-US" altLang="zh-CN" dirty="0" err="1"/>
              <a:t>emq</a:t>
            </a:r>
            <a:r>
              <a:rPr lang="en-US" altLang="zh-CN" dirty="0"/>
              <a:t>)</a:t>
            </a:r>
            <a:r>
              <a:rPr lang="zh-CN" altLang="zh-CN" dirty="0"/>
              <a:t>和队尾指针</a:t>
            </a:r>
            <a:r>
              <a:rPr lang="en-US" altLang="zh-CN" dirty="0"/>
              <a:t>L(</a:t>
            </a:r>
            <a:r>
              <a:rPr lang="en-US" altLang="zh-CN" dirty="0" err="1"/>
              <a:t>emq</a:t>
            </a:r>
            <a:r>
              <a:rPr lang="en-US" altLang="zh-CN" dirty="0"/>
              <a:t>)</a:t>
            </a:r>
            <a:r>
              <a:rPr lang="zh-CN" altLang="zh-CN" dirty="0"/>
              <a:t>分别指向该队列的首、尾缓冲区。</a:t>
            </a:r>
          </a:p>
          <a:p>
            <a:pPr marL="0" indent="0">
              <a:buNone/>
            </a:pPr>
            <a:r>
              <a:rPr lang="zh-CN" altLang="zh-CN" dirty="0"/>
              <a:t>（</a:t>
            </a:r>
            <a:r>
              <a:rPr lang="en-US" altLang="zh-CN" dirty="0"/>
              <a:t>2</a:t>
            </a:r>
            <a:r>
              <a:rPr lang="zh-CN" altLang="zh-CN" dirty="0"/>
              <a:t>）输入队列</a:t>
            </a:r>
            <a:r>
              <a:rPr lang="en-US" altLang="zh-CN" dirty="0" err="1"/>
              <a:t>inq</a:t>
            </a:r>
            <a:r>
              <a:rPr lang="zh-CN" altLang="zh-CN" dirty="0"/>
              <a:t>。由装满输入数据的缓冲区所链接成的队列。设置队首指针</a:t>
            </a:r>
            <a:r>
              <a:rPr lang="en-US" altLang="zh-CN" dirty="0"/>
              <a:t>F(</a:t>
            </a:r>
            <a:r>
              <a:rPr lang="en-US" altLang="zh-CN" dirty="0" err="1"/>
              <a:t>inq</a:t>
            </a:r>
            <a:r>
              <a:rPr lang="en-US" altLang="zh-CN" dirty="0"/>
              <a:t>)</a:t>
            </a:r>
            <a:r>
              <a:rPr lang="zh-CN" altLang="zh-CN" dirty="0"/>
              <a:t>和队尾指针</a:t>
            </a:r>
            <a:r>
              <a:rPr lang="en-US" altLang="zh-CN" dirty="0"/>
              <a:t>L(</a:t>
            </a:r>
            <a:r>
              <a:rPr lang="en-US" altLang="zh-CN" dirty="0" err="1"/>
              <a:t>inq</a:t>
            </a:r>
            <a:r>
              <a:rPr lang="en-US" altLang="zh-CN" dirty="0"/>
              <a:t>)</a:t>
            </a:r>
            <a:r>
              <a:rPr lang="zh-CN" altLang="zh-CN" dirty="0"/>
              <a:t>分别指向该队列的首、尾缓冲区。</a:t>
            </a:r>
          </a:p>
          <a:p>
            <a:pPr marL="0" indent="0">
              <a:buNone/>
            </a:pPr>
            <a:r>
              <a:rPr lang="zh-CN" altLang="zh-CN" dirty="0"/>
              <a:t>（</a:t>
            </a:r>
            <a:r>
              <a:rPr lang="en-US" altLang="zh-CN" dirty="0"/>
              <a:t>3</a:t>
            </a:r>
            <a:r>
              <a:rPr lang="zh-CN" altLang="zh-CN" dirty="0"/>
              <a:t>）输出队列</a:t>
            </a:r>
            <a:r>
              <a:rPr lang="en-US" altLang="zh-CN" dirty="0" err="1"/>
              <a:t>outq</a:t>
            </a:r>
            <a:r>
              <a:rPr lang="zh-CN" altLang="zh-CN" dirty="0"/>
              <a:t>。由装满输出数据的缓冲区所链接成的队列。设置队首指针</a:t>
            </a:r>
            <a:r>
              <a:rPr lang="en-US" altLang="zh-CN" dirty="0"/>
              <a:t>F(</a:t>
            </a:r>
            <a:r>
              <a:rPr lang="en-US" altLang="zh-CN" dirty="0" err="1"/>
              <a:t>outq</a:t>
            </a:r>
            <a:r>
              <a:rPr lang="en-US" altLang="zh-CN" dirty="0"/>
              <a:t>)</a:t>
            </a:r>
            <a:r>
              <a:rPr lang="zh-CN" altLang="zh-CN" dirty="0"/>
              <a:t>和队尾指针</a:t>
            </a:r>
            <a:r>
              <a:rPr lang="en-US" altLang="zh-CN" dirty="0"/>
              <a:t>L(</a:t>
            </a:r>
            <a:r>
              <a:rPr lang="en-US" altLang="zh-CN" dirty="0" err="1"/>
              <a:t>outq</a:t>
            </a:r>
            <a:r>
              <a:rPr lang="en-US" altLang="zh-CN" dirty="0"/>
              <a:t>)</a:t>
            </a:r>
            <a:r>
              <a:rPr lang="zh-CN" altLang="zh-CN" dirty="0"/>
              <a:t>分别指向该队列的首、尾缓冲区。</a:t>
            </a:r>
          </a:p>
          <a:p>
            <a:pPr marL="0" indent="0">
              <a:buNone/>
            </a:pPr>
            <a:endParaRPr lang="zh-CN" altLang="en-US" dirty="0"/>
          </a:p>
        </p:txBody>
      </p:sp>
    </p:spTree>
    <p:extLst>
      <p:ext uri="{BB962C8B-B14F-4D97-AF65-F5344CB8AC3E}">
        <p14:creationId xmlns:p14="http://schemas.microsoft.com/office/powerpoint/2010/main" val="2802537314"/>
      </p:ext>
    </p:extLst>
  </p:cSld>
  <p:clrMapOvr>
    <a:masterClrMapping/>
  </p:clrMapOvr>
  <p:transition>
    <p:random/>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2. </a:t>
            </a:r>
            <a:r>
              <a:rPr lang="zh-CN" altLang="zh-CN" dirty="0"/>
              <a:t>缓冲池的工作方式</a:t>
            </a:r>
            <a:endParaRPr lang="zh-CN" altLang="en-US" dirty="0"/>
          </a:p>
        </p:txBody>
      </p:sp>
      <p:sp>
        <p:nvSpPr>
          <p:cNvPr id="3" name="内容占位符 2"/>
          <p:cNvSpPr>
            <a:spLocks noGrp="1"/>
          </p:cNvSpPr>
          <p:nvPr>
            <p:ph idx="1"/>
          </p:nvPr>
        </p:nvSpPr>
        <p:spPr/>
        <p:txBody>
          <a:bodyPr/>
          <a:lstStyle/>
          <a:p>
            <a:r>
              <a:rPr lang="zh-CN" altLang="zh-CN" dirty="0"/>
              <a:t>缓冲区可工作在收容输入、提取输入、收容输出和提取输出四种工作方式，如图</a:t>
            </a:r>
            <a:r>
              <a:rPr lang="en-US" altLang="zh-CN" dirty="0"/>
              <a:t>8-8</a:t>
            </a:r>
            <a:r>
              <a:rPr lang="zh-CN" altLang="zh-CN" dirty="0"/>
              <a:t>所示。</a:t>
            </a:r>
          </a:p>
          <a:p>
            <a:endParaRPr lang="zh-CN" altLang="en-US" dirty="0"/>
          </a:p>
        </p:txBody>
      </p:sp>
      <p:pic>
        <p:nvPicPr>
          <p:cNvPr id="4" name="图片 409">
            <a:extLst>
              <a:ext uri="{FF2B5EF4-FFF2-40B4-BE49-F238E27FC236}">
                <a16:creationId xmlns:a16="http://schemas.microsoft.com/office/drawing/2014/main" id="{B7E805D5-6C12-4E4A-A8EF-96C97CE37B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45057" y="2586916"/>
            <a:ext cx="8647561"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矩形 4">
            <a:extLst>
              <a:ext uri="{FF2B5EF4-FFF2-40B4-BE49-F238E27FC236}">
                <a16:creationId xmlns:a16="http://schemas.microsoft.com/office/drawing/2014/main" id="{B42C6148-E52D-4CB4-9AAC-0A454CF5D5A3}"/>
              </a:ext>
            </a:extLst>
          </p:cNvPr>
          <p:cNvSpPr/>
          <p:nvPr/>
        </p:nvSpPr>
        <p:spPr>
          <a:xfrm>
            <a:off x="4310896" y="5113312"/>
            <a:ext cx="3570208" cy="461665"/>
          </a:xfrm>
          <a:prstGeom prst="rect">
            <a:avLst/>
          </a:prstGeom>
        </p:spPr>
        <p:txBody>
          <a:bodyPr wrap="none">
            <a:spAutoFit/>
          </a:bodyPr>
          <a:lstStyle/>
          <a:p>
            <a:r>
              <a:rPr lang="zh-CN" altLang="zh-CN" sz="2400" dirty="0"/>
              <a:t>图</a:t>
            </a:r>
            <a:r>
              <a:rPr lang="en-US" altLang="zh-CN" sz="2400" dirty="0"/>
              <a:t>8-8  </a:t>
            </a:r>
            <a:r>
              <a:rPr lang="zh-CN" altLang="zh-CN" sz="2400" dirty="0"/>
              <a:t>缓冲池的工作方式</a:t>
            </a:r>
          </a:p>
        </p:txBody>
      </p:sp>
    </p:spTree>
    <p:extLst>
      <p:ext uri="{BB962C8B-B14F-4D97-AF65-F5344CB8AC3E}">
        <p14:creationId xmlns:p14="http://schemas.microsoft.com/office/powerpoint/2010/main" val="95860899"/>
      </p:ext>
    </p:extLst>
  </p:cSld>
  <p:clrMapOvr>
    <a:masterClrMapping/>
  </p:clrMapOvr>
  <p:transition>
    <p:random/>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 </a:t>
            </a:r>
            <a:r>
              <a:rPr lang="zh-CN" altLang="zh-CN" dirty="0"/>
              <a:t>缓冲池的组成 </a:t>
            </a:r>
            <a:endParaRPr lang="zh-CN" altLang="en-US" dirty="0"/>
          </a:p>
        </p:txBody>
      </p:sp>
      <p:sp>
        <p:nvSpPr>
          <p:cNvPr id="3" name="内容占位符 2"/>
          <p:cNvSpPr>
            <a:spLocks noGrp="1"/>
          </p:cNvSpPr>
          <p:nvPr>
            <p:ph idx="1"/>
          </p:nvPr>
        </p:nvSpPr>
        <p:spPr>
          <a:xfrm>
            <a:off x="608330" y="1227455"/>
            <a:ext cx="10968990" cy="4085325"/>
          </a:xfrm>
        </p:spPr>
        <p:txBody>
          <a:bodyPr>
            <a:normAutofit/>
          </a:bodyPr>
          <a:lstStyle/>
          <a:p>
            <a:pPr marL="0" indent="0">
              <a:buNone/>
            </a:pPr>
            <a:r>
              <a:rPr lang="zh-CN" altLang="zh-CN" dirty="0"/>
              <a:t>系统或用户进程从这三种队列中申请和取出缓冲区，并用得到的缓冲区进行存取数据操作，操作结束后再将缓冲区放入相应的队列，这些缓冲区被称为工作缓冲区。在缓冲池中有</a:t>
            </a:r>
            <a:r>
              <a:rPr lang="en-US" altLang="zh-CN" dirty="0"/>
              <a:t>4</a:t>
            </a:r>
            <a:r>
              <a:rPr lang="zh-CN" altLang="zh-CN" dirty="0"/>
              <a:t>种工作缓冲区，如图</a:t>
            </a:r>
            <a:r>
              <a:rPr lang="en-US" altLang="zh-CN" dirty="0"/>
              <a:t>8-8</a:t>
            </a:r>
            <a:r>
              <a:rPr lang="zh-CN" altLang="zh-CN" dirty="0"/>
              <a:t>所示。</a:t>
            </a:r>
          </a:p>
          <a:p>
            <a:pPr marL="0" indent="0">
              <a:buNone/>
            </a:pPr>
            <a:r>
              <a:rPr lang="zh-CN" altLang="zh-CN" dirty="0"/>
              <a:t>（</a:t>
            </a:r>
            <a:r>
              <a:rPr lang="en-US" altLang="zh-CN" dirty="0"/>
              <a:t>1</a:t>
            </a:r>
            <a:r>
              <a:rPr lang="zh-CN" altLang="zh-CN" dirty="0"/>
              <a:t>）用于收容设备输入数据的工作缓冲区</a:t>
            </a:r>
            <a:r>
              <a:rPr lang="en-US" altLang="zh-CN" dirty="0" err="1"/>
              <a:t>hin</a:t>
            </a:r>
            <a:endParaRPr lang="zh-CN" altLang="zh-CN" dirty="0"/>
          </a:p>
          <a:p>
            <a:pPr marL="0" indent="0">
              <a:buNone/>
            </a:pPr>
            <a:r>
              <a:rPr lang="zh-CN" altLang="zh-CN" dirty="0"/>
              <a:t>（</a:t>
            </a:r>
            <a:r>
              <a:rPr lang="en-US" altLang="zh-CN" dirty="0"/>
              <a:t>2</a:t>
            </a:r>
            <a:r>
              <a:rPr lang="zh-CN" altLang="zh-CN" dirty="0"/>
              <a:t>）用于提取设备输入数据的工作缓冲区</a:t>
            </a:r>
            <a:r>
              <a:rPr lang="en-US" altLang="zh-CN" dirty="0"/>
              <a:t>sin</a:t>
            </a:r>
            <a:endParaRPr lang="zh-CN" altLang="zh-CN" dirty="0"/>
          </a:p>
          <a:p>
            <a:pPr marL="0" indent="0">
              <a:buNone/>
            </a:pPr>
            <a:r>
              <a:rPr lang="zh-CN" altLang="zh-CN" dirty="0"/>
              <a:t>（</a:t>
            </a:r>
            <a:r>
              <a:rPr lang="en-US" altLang="zh-CN" dirty="0"/>
              <a:t>3</a:t>
            </a:r>
            <a:r>
              <a:rPr lang="zh-CN" altLang="zh-CN" dirty="0"/>
              <a:t>）用于收容</a:t>
            </a:r>
            <a:r>
              <a:rPr lang="en-US" altLang="zh-CN" dirty="0"/>
              <a:t>CPU</a:t>
            </a:r>
            <a:r>
              <a:rPr lang="zh-CN" altLang="zh-CN" dirty="0"/>
              <a:t>输出数据的工作缓冲区</a:t>
            </a:r>
            <a:r>
              <a:rPr lang="en-US" altLang="zh-CN" dirty="0" err="1"/>
              <a:t>hout</a:t>
            </a:r>
            <a:endParaRPr lang="zh-CN" altLang="zh-CN" dirty="0"/>
          </a:p>
          <a:p>
            <a:pPr marL="0" indent="0">
              <a:buNone/>
            </a:pPr>
            <a:r>
              <a:rPr lang="zh-CN" altLang="zh-CN" dirty="0"/>
              <a:t>（</a:t>
            </a:r>
            <a:r>
              <a:rPr lang="en-US" altLang="zh-CN" dirty="0"/>
              <a:t>4</a:t>
            </a:r>
            <a:r>
              <a:rPr lang="zh-CN" altLang="zh-CN" dirty="0"/>
              <a:t>）用于提取</a:t>
            </a:r>
            <a:r>
              <a:rPr lang="en-US" altLang="zh-CN" dirty="0"/>
              <a:t>CPU</a:t>
            </a:r>
            <a:r>
              <a:rPr lang="zh-CN" altLang="zh-CN" dirty="0"/>
              <a:t>输出数据的工作缓冲区</a:t>
            </a:r>
            <a:r>
              <a:rPr lang="en-US" altLang="zh-CN" dirty="0" err="1"/>
              <a:t>sout</a:t>
            </a:r>
            <a:endParaRPr lang="zh-CN" altLang="zh-CN" dirty="0"/>
          </a:p>
          <a:p>
            <a:pPr marL="0" indent="0">
              <a:buNone/>
            </a:pPr>
            <a:endParaRPr lang="zh-CN" altLang="en-US" dirty="0"/>
          </a:p>
        </p:txBody>
      </p:sp>
    </p:spTree>
    <p:extLst>
      <p:ext uri="{BB962C8B-B14F-4D97-AF65-F5344CB8AC3E}">
        <p14:creationId xmlns:p14="http://schemas.microsoft.com/office/powerpoint/2010/main" val="1968128200"/>
      </p:ext>
    </p:extLst>
  </p:cSld>
  <p:clrMapOvr>
    <a:masterClrMapping/>
  </p:clrMapOvr>
  <p:transition>
    <p:random/>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76325" y="114300"/>
            <a:ext cx="9387205" cy="705485"/>
          </a:xfrm>
        </p:spPr>
        <p:txBody>
          <a:bodyPr/>
          <a:lstStyle/>
          <a:p>
            <a:pPr algn="ctr"/>
            <a:r>
              <a:rPr lang="en-US" altLang="zh-CN" dirty="0"/>
              <a:t>8.4 </a:t>
            </a:r>
            <a:r>
              <a:rPr lang="zh-CN" altLang="en-US" dirty="0"/>
              <a:t>设备分配</a:t>
            </a:r>
            <a:endParaRPr lang="en-US" altLang="zh-CN" dirty="0"/>
          </a:p>
        </p:txBody>
      </p:sp>
      <p:sp>
        <p:nvSpPr>
          <p:cNvPr id="3" name="内容占位符 2"/>
          <p:cNvSpPr>
            <a:spLocks noGrp="1"/>
          </p:cNvSpPr>
          <p:nvPr>
            <p:ph idx="1"/>
          </p:nvPr>
        </p:nvSpPr>
        <p:spPr>
          <a:xfrm>
            <a:off x="2234882" y="1188808"/>
            <a:ext cx="7722235" cy="2920205"/>
          </a:xfrm>
        </p:spPr>
        <p:txBody>
          <a:bodyPr>
            <a:normAutofit/>
          </a:bodyPr>
          <a:lstStyle/>
          <a:p>
            <a:pPr>
              <a:buBlip>
                <a:blip r:embed="rId3"/>
              </a:buBlip>
            </a:pPr>
            <a:r>
              <a:rPr lang="en-US" altLang="zh-CN" sz="2800" dirty="0"/>
              <a:t>8.4.1 </a:t>
            </a:r>
            <a:r>
              <a:rPr lang="zh-CN" altLang="en-US" sz="2800" dirty="0"/>
              <a:t>设备分配中的数据结构</a:t>
            </a:r>
            <a:endParaRPr lang="en-US" altLang="zh-CN" sz="2800" dirty="0"/>
          </a:p>
          <a:p>
            <a:pPr>
              <a:buBlip>
                <a:blip r:embed="rId3"/>
              </a:buBlip>
            </a:pPr>
            <a:r>
              <a:rPr lang="en-US" altLang="zh-CN" sz="2800" dirty="0"/>
              <a:t>8.4.2 </a:t>
            </a:r>
            <a:r>
              <a:rPr lang="zh-CN" altLang="en-US" sz="2800" dirty="0"/>
              <a:t>设备分配时应考虑的若干因素</a:t>
            </a:r>
            <a:endParaRPr lang="en-US" altLang="zh-CN" sz="2800" dirty="0"/>
          </a:p>
          <a:p>
            <a:pPr>
              <a:buBlip>
                <a:blip r:embed="rId3"/>
              </a:buBlip>
            </a:pPr>
            <a:r>
              <a:rPr lang="en-US" altLang="zh-CN" sz="2800" dirty="0"/>
              <a:t>8.4.4 </a:t>
            </a:r>
            <a:r>
              <a:rPr lang="zh-CN" altLang="en-US" sz="2800" dirty="0"/>
              <a:t>独占设备的分配程序</a:t>
            </a:r>
            <a:endParaRPr lang="en-US" altLang="zh-CN" sz="2800" dirty="0"/>
          </a:p>
          <a:p>
            <a:pPr>
              <a:buBlip>
                <a:blip r:embed="rId3"/>
              </a:buBlip>
            </a:pPr>
            <a:r>
              <a:rPr lang="en-US" altLang="zh-CN" sz="2800" dirty="0"/>
              <a:t>8.4.5 </a:t>
            </a:r>
            <a:r>
              <a:rPr lang="en-US" altLang="zh-CN" sz="2800" dirty="0" err="1"/>
              <a:t>SPOOLing</a:t>
            </a:r>
            <a:r>
              <a:rPr lang="zh-CN" altLang="en-US" sz="2800" dirty="0"/>
              <a:t>技术</a:t>
            </a:r>
            <a:endParaRPr lang="en-US" altLang="zh-CN" sz="2800" dirty="0"/>
          </a:p>
          <a:p>
            <a:pPr>
              <a:buBlip>
                <a:blip r:embed="rId3"/>
              </a:buBlip>
            </a:pPr>
            <a:endParaRPr lang="en-US" altLang="zh-CN" sz="2800" dirty="0"/>
          </a:p>
          <a:p>
            <a:pPr>
              <a:buBlip>
                <a:blip r:embed="rId3"/>
              </a:buBlip>
            </a:pPr>
            <a:endParaRPr lang="en-US" altLang="zh-CN" sz="2800" dirty="0"/>
          </a:p>
        </p:txBody>
      </p:sp>
    </p:spTree>
    <p:custDataLst>
      <p:tags r:id="rId1"/>
    </p:custDataLst>
    <p:extLst>
      <p:ext uri="{BB962C8B-B14F-4D97-AF65-F5344CB8AC3E}">
        <p14:creationId xmlns:p14="http://schemas.microsoft.com/office/powerpoint/2010/main" val="282626856"/>
      </p:ext>
    </p:extLst>
  </p:cSld>
  <p:clrMapOvr>
    <a:masterClrMapping/>
  </p:clrMapOvr>
  <p:transition>
    <p:random/>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zh-CN" dirty="0"/>
              <a:t>8.4.1 设备分配中的数据结构 </a:t>
            </a:r>
            <a:endParaRPr lang="zh-CN" altLang="en-US" dirty="0"/>
          </a:p>
        </p:txBody>
      </p:sp>
      <p:sp>
        <p:nvSpPr>
          <p:cNvPr id="3" name="内容占位符 2"/>
          <p:cNvSpPr>
            <a:spLocks noGrp="1"/>
          </p:cNvSpPr>
          <p:nvPr>
            <p:ph idx="1"/>
          </p:nvPr>
        </p:nvSpPr>
        <p:spPr>
          <a:xfrm>
            <a:off x="492583" y="1105734"/>
            <a:ext cx="10968990" cy="1654641"/>
          </a:xfrm>
        </p:spPr>
        <p:txBody>
          <a:bodyPr/>
          <a:lstStyle/>
          <a:p>
            <a:r>
              <a:rPr lang="zh-CN" altLang="zh-CN" dirty="0"/>
              <a:t>为了实现对</a:t>
            </a:r>
            <a:r>
              <a:rPr lang="en-US" altLang="zh-CN" dirty="0"/>
              <a:t>I/O</a:t>
            </a:r>
            <a:r>
              <a:rPr lang="zh-CN" altLang="zh-CN" dirty="0"/>
              <a:t>设备的管理和控制，需要对每台设备、通道、控制器的情况进行登记。设备分配依据的主要数据结构有设备控制表（</a:t>
            </a:r>
            <a:r>
              <a:rPr lang="en-US" altLang="zh-CN" dirty="0"/>
              <a:t>DCT</a:t>
            </a:r>
            <a:r>
              <a:rPr lang="zh-CN" altLang="zh-CN" dirty="0"/>
              <a:t>）、控制器控制表（</a:t>
            </a:r>
            <a:r>
              <a:rPr lang="en-US" altLang="zh-CN" dirty="0"/>
              <a:t>COCT</a:t>
            </a:r>
            <a:r>
              <a:rPr lang="zh-CN" altLang="zh-CN" dirty="0"/>
              <a:t>）、通道控制表（</a:t>
            </a:r>
            <a:r>
              <a:rPr lang="en-US" altLang="zh-CN" dirty="0"/>
              <a:t>CHCT</a:t>
            </a:r>
            <a:r>
              <a:rPr lang="zh-CN" altLang="zh-CN" dirty="0"/>
              <a:t>）和系统设备表（</a:t>
            </a:r>
            <a:r>
              <a:rPr lang="en-US" altLang="zh-CN" dirty="0"/>
              <a:t>SDT</a:t>
            </a:r>
            <a:r>
              <a:rPr lang="zh-CN" altLang="zh-CN" dirty="0"/>
              <a:t>。</a:t>
            </a:r>
          </a:p>
          <a:p>
            <a:endParaRPr lang="zh-CN" altLang="en-US" dirty="0"/>
          </a:p>
        </p:txBody>
      </p:sp>
    </p:spTree>
    <p:extLst>
      <p:ext uri="{BB962C8B-B14F-4D97-AF65-F5344CB8AC3E}">
        <p14:creationId xmlns:p14="http://schemas.microsoft.com/office/powerpoint/2010/main" val="1398720343"/>
      </p:ext>
    </p:extLst>
  </p:cSld>
  <p:clrMapOvr>
    <a:masterClrMapping/>
  </p:clrMapOvr>
  <p:transition>
    <p:random/>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zh-CN" dirty="0"/>
              <a:t>图</a:t>
            </a:r>
            <a:r>
              <a:rPr lang="en-US" altLang="zh-CN" dirty="0"/>
              <a:t> 8-9  </a:t>
            </a:r>
            <a:r>
              <a:rPr lang="zh-CN" altLang="zh-CN" dirty="0"/>
              <a:t>设备分配中的数据结构</a:t>
            </a:r>
            <a:endParaRPr lang="zh-CN" altLang="en-US" dirty="0"/>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4182433308"/>
              </p:ext>
            </p:extLst>
          </p:nvPr>
        </p:nvGraphicFramePr>
        <p:xfrm>
          <a:off x="1044575" y="934720"/>
          <a:ext cx="8942705" cy="5665774"/>
        </p:xfrm>
        <a:graphic>
          <a:graphicData uri="http://schemas.openxmlformats.org/presentationml/2006/ole">
            <mc:AlternateContent xmlns:mc="http://schemas.openxmlformats.org/markup-compatibility/2006">
              <mc:Choice xmlns:v="urn:schemas-microsoft-com:vml" Requires="v">
                <p:oleObj name="Visio" r:id="rId2" imgW="5054511" imgH="3203496" progId="Visio.Drawing.11">
                  <p:embed/>
                </p:oleObj>
              </mc:Choice>
              <mc:Fallback>
                <p:oleObj name="Visio" r:id="rId2" imgW="5054511" imgH="3203496" progId="Visio.Drawing.11">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4575" y="934720"/>
                        <a:ext cx="8942705" cy="5665774"/>
                      </a:xfrm>
                      <a:prstGeom prst="rect">
                        <a:avLst/>
                      </a:prstGeom>
                      <a:noFill/>
                    </p:spPr>
                  </p:pic>
                </p:oleObj>
              </mc:Fallback>
            </mc:AlternateContent>
          </a:graphicData>
        </a:graphic>
      </p:graphicFrame>
    </p:spTree>
    <p:extLst>
      <p:ext uri="{BB962C8B-B14F-4D97-AF65-F5344CB8AC3E}">
        <p14:creationId xmlns:p14="http://schemas.microsoft.com/office/powerpoint/2010/main" val="200342153"/>
      </p:ext>
    </p:extLst>
  </p:cSld>
  <p:clrMapOvr>
    <a:masterClrMapping/>
  </p:clrMapOvr>
  <p:transition>
    <p:random/>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1. </a:t>
            </a:r>
            <a:r>
              <a:rPr lang="zh-CN" altLang="zh-CN" dirty="0"/>
              <a:t>设备控制表</a:t>
            </a:r>
            <a:r>
              <a:rPr lang="en-US" altLang="zh-CN" dirty="0"/>
              <a:t>DCT </a:t>
            </a:r>
            <a:endParaRPr lang="zh-CN" altLang="en-US" dirty="0"/>
          </a:p>
        </p:txBody>
      </p:sp>
      <p:sp>
        <p:nvSpPr>
          <p:cNvPr id="3" name="内容占位符 2"/>
          <p:cNvSpPr>
            <a:spLocks noGrp="1"/>
          </p:cNvSpPr>
          <p:nvPr>
            <p:ph idx="1"/>
          </p:nvPr>
        </p:nvSpPr>
        <p:spPr>
          <a:xfrm>
            <a:off x="608330" y="1227456"/>
            <a:ext cx="10968990" cy="2927856"/>
          </a:xfrm>
        </p:spPr>
        <p:txBody>
          <a:bodyPr>
            <a:normAutofit/>
          </a:bodyPr>
          <a:lstStyle/>
          <a:p>
            <a:pPr marL="0" indent="0">
              <a:buNone/>
            </a:pPr>
            <a:r>
              <a:rPr lang="zh-CN" altLang="zh-CN" dirty="0"/>
              <a:t>设备控制表中的内容通常有以下几个方面：</a:t>
            </a:r>
          </a:p>
          <a:p>
            <a:pPr marL="0" indent="0">
              <a:buNone/>
            </a:pPr>
            <a:r>
              <a:rPr lang="zh-CN" altLang="zh-CN" dirty="0"/>
              <a:t>（</a:t>
            </a:r>
            <a:r>
              <a:rPr lang="en-US" altLang="zh-CN" dirty="0"/>
              <a:t>1</a:t>
            </a:r>
            <a:r>
              <a:rPr lang="zh-CN" altLang="zh-CN" dirty="0"/>
              <a:t>）设备类型。反映设备的特性，如是字符设备、块设备还是终端设备。</a:t>
            </a:r>
          </a:p>
          <a:p>
            <a:pPr marL="0" indent="0">
              <a:buNone/>
            </a:pPr>
            <a:r>
              <a:rPr lang="zh-CN" altLang="zh-CN" dirty="0"/>
              <a:t>（</a:t>
            </a:r>
            <a:r>
              <a:rPr lang="en-US" altLang="zh-CN" dirty="0"/>
              <a:t>2</a:t>
            </a:r>
            <a:r>
              <a:rPr lang="zh-CN" altLang="zh-CN" dirty="0"/>
              <a:t>）设备标识符。用于区别设备的编号。</a:t>
            </a:r>
          </a:p>
          <a:p>
            <a:pPr marL="0" indent="0">
              <a:buNone/>
            </a:pPr>
            <a:r>
              <a:rPr lang="zh-CN" altLang="zh-CN" dirty="0"/>
              <a:t>（</a:t>
            </a:r>
            <a:r>
              <a:rPr lang="en-US" altLang="zh-CN" dirty="0"/>
              <a:t>3</a:t>
            </a:r>
            <a:r>
              <a:rPr lang="zh-CN" altLang="zh-CN" dirty="0"/>
              <a:t>）设备状态。指设备当前是空闲还是忙。</a:t>
            </a:r>
          </a:p>
        </p:txBody>
      </p:sp>
      <p:sp>
        <p:nvSpPr>
          <p:cNvPr id="4" name="内容占位符 2">
            <a:extLst>
              <a:ext uri="{FF2B5EF4-FFF2-40B4-BE49-F238E27FC236}">
                <a16:creationId xmlns:a16="http://schemas.microsoft.com/office/drawing/2014/main" id="{DA344325-61C6-49D2-ACFE-B71B8BB75813}"/>
              </a:ext>
            </a:extLst>
          </p:cNvPr>
          <p:cNvSpPr txBox="1">
            <a:spLocks/>
          </p:cNvSpPr>
          <p:nvPr/>
        </p:nvSpPr>
        <p:spPr>
          <a:xfrm>
            <a:off x="573605" y="3704436"/>
            <a:ext cx="10968990" cy="1654641"/>
          </a:xfrm>
          <a:prstGeom prst="rect">
            <a:avLst/>
          </a:prstGeo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Clr>
                <a:srgbClr val="2094CE"/>
              </a:buClr>
              <a:buSzPct val="80000"/>
              <a:buFont typeface="Arial" panose="020B0604020202020204" pitchFamily="34" charset="0"/>
              <a:buChar char="►"/>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Clr>
                <a:srgbClr val="FF9800"/>
              </a:buClr>
              <a:buSzPct val="90000"/>
              <a:buFont typeface="Arial" panose="020B0604020202020204" pitchFamily="34" charset="0"/>
              <a:buChar char="♦"/>
              <a:tabLst>
                <a:tab pos="1609725" algn="l"/>
              </a:tabLst>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dirty="0"/>
              <a:t>（</a:t>
            </a:r>
            <a:r>
              <a:rPr lang="en-US" altLang="zh-CN" dirty="0"/>
              <a:t>4</a:t>
            </a:r>
            <a:r>
              <a:rPr lang="zh-CN" altLang="en-US" dirty="0"/>
              <a:t>）指向控制器控制表</a:t>
            </a:r>
            <a:r>
              <a:rPr lang="en-US" altLang="zh-CN" dirty="0"/>
              <a:t>COCT</a:t>
            </a:r>
            <a:r>
              <a:rPr lang="zh-CN" altLang="en-US" dirty="0"/>
              <a:t>的指针。指向该设备所连接的控制器的控制表</a:t>
            </a:r>
            <a:r>
              <a:rPr lang="en-US" altLang="zh-CN" dirty="0"/>
              <a:t>COCT</a:t>
            </a:r>
            <a:r>
              <a:rPr lang="zh-CN" altLang="en-US" dirty="0"/>
              <a:t>。</a:t>
            </a:r>
          </a:p>
          <a:p>
            <a:pPr marL="0" indent="0">
              <a:buNone/>
            </a:pPr>
            <a:r>
              <a:rPr lang="zh-CN" altLang="en-US" dirty="0"/>
              <a:t>（</a:t>
            </a:r>
            <a:r>
              <a:rPr lang="en-US" altLang="zh-CN" dirty="0"/>
              <a:t>5</a:t>
            </a:r>
            <a:r>
              <a:rPr lang="zh-CN" altLang="en-US" dirty="0"/>
              <a:t>）重复执行次数或时间。</a:t>
            </a:r>
          </a:p>
        </p:txBody>
      </p:sp>
    </p:spTree>
    <p:extLst>
      <p:ext uri="{BB962C8B-B14F-4D97-AF65-F5344CB8AC3E}">
        <p14:creationId xmlns:p14="http://schemas.microsoft.com/office/powerpoint/2010/main" val="3545838389"/>
      </p:ext>
    </p:extLst>
  </p:cSld>
  <p:clrMapOvr>
    <a:masterClrMapping/>
  </p:clrMapOvr>
  <p:transition>
    <p:random/>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1. </a:t>
            </a:r>
            <a:r>
              <a:rPr lang="zh-CN" altLang="zh-CN" dirty="0"/>
              <a:t>设备控制表</a:t>
            </a:r>
            <a:r>
              <a:rPr lang="en-US" altLang="zh-CN" dirty="0"/>
              <a:t>DCT </a:t>
            </a:r>
            <a:endParaRPr lang="zh-CN" altLang="en-US" dirty="0"/>
          </a:p>
        </p:txBody>
      </p:sp>
      <p:sp>
        <p:nvSpPr>
          <p:cNvPr id="3" name="内容占位符 2"/>
          <p:cNvSpPr>
            <a:spLocks noGrp="1"/>
          </p:cNvSpPr>
          <p:nvPr>
            <p:ph idx="1"/>
          </p:nvPr>
        </p:nvSpPr>
        <p:spPr>
          <a:xfrm>
            <a:off x="611505" y="1239031"/>
            <a:ext cx="10968990" cy="1342124"/>
          </a:xfrm>
        </p:spPr>
        <p:txBody>
          <a:bodyPr>
            <a:normAutofit/>
          </a:bodyPr>
          <a:lstStyle/>
          <a:p>
            <a:r>
              <a:rPr lang="zh-CN" altLang="zh-CN" dirty="0"/>
              <a:t>（</a:t>
            </a:r>
            <a:r>
              <a:rPr lang="en-US" altLang="zh-CN" dirty="0"/>
              <a:t>6</a:t>
            </a:r>
            <a:r>
              <a:rPr lang="zh-CN" altLang="zh-CN" dirty="0"/>
              <a:t>）设备队列的队首指针。即设备等待队列指针。</a:t>
            </a:r>
            <a:endParaRPr lang="en-US" altLang="zh-CN" dirty="0"/>
          </a:p>
          <a:p>
            <a:r>
              <a:rPr lang="zh-CN" altLang="zh-CN" dirty="0"/>
              <a:t>（</a:t>
            </a:r>
            <a:r>
              <a:rPr lang="en-US" altLang="zh-CN" dirty="0"/>
              <a:t>7</a:t>
            </a:r>
            <a:r>
              <a:rPr lang="zh-CN" altLang="zh-CN" dirty="0"/>
              <a:t>）设备队列的队尾指针。指向设备等待队列的队尾。</a:t>
            </a:r>
            <a:endParaRPr lang="zh-CN" altLang="en-US" dirty="0"/>
          </a:p>
        </p:txBody>
      </p:sp>
    </p:spTree>
    <p:extLst>
      <p:ext uri="{BB962C8B-B14F-4D97-AF65-F5344CB8AC3E}">
        <p14:creationId xmlns:p14="http://schemas.microsoft.com/office/powerpoint/2010/main" val="672131406"/>
      </p:ext>
    </p:extLst>
  </p:cSld>
  <p:clrMapOvr>
    <a:masterClrMapping/>
  </p:clrMapOvr>
  <p:transition>
    <p:random/>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 </a:t>
            </a:r>
            <a:r>
              <a:rPr lang="zh-CN" altLang="zh-CN" dirty="0"/>
              <a:t>控制器控制表、 通道控制表和系统设备表</a:t>
            </a:r>
            <a:endParaRPr lang="zh-CN" altLang="en-US" dirty="0"/>
          </a:p>
        </p:txBody>
      </p:sp>
      <p:sp>
        <p:nvSpPr>
          <p:cNvPr id="3" name="内容占位符 2"/>
          <p:cNvSpPr>
            <a:spLocks noGrp="1"/>
          </p:cNvSpPr>
          <p:nvPr>
            <p:ph idx="1"/>
          </p:nvPr>
        </p:nvSpPr>
        <p:spPr>
          <a:xfrm>
            <a:off x="608330" y="1227456"/>
            <a:ext cx="10968990" cy="1156930"/>
          </a:xfrm>
        </p:spPr>
        <p:txBody>
          <a:bodyPr>
            <a:normAutofit lnSpcReduction="10000"/>
          </a:bodyPr>
          <a:lstStyle/>
          <a:p>
            <a:r>
              <a:rPr lang="zh-CN" altLang="zh-CN" dirty="0"/>
              <a:t>（</a:t>
            </a:r>
            <a:r>
              <a:rPr lang="en-US" altLang="zh-CN" dirty="0"/>
              <a:t>1</a:t>
            </a:r>
            <a:r>
              <a:rPr lang="zh-CN" altLang="zh-CN" dirty="0"/>
              <a:t>）控制器控制表</a:t>
            </a:r>
            <a:r>
              <a:rPr lang="en-US" altLang="zh-CN" dirty="0"/>
              <a:t>COCT</a:t>
            </a:r>
            <a:r>
              <a:rPr lang="zh-CN" altLang="zh-CN" dirty="0"/>
              <a:t>。控制器控制表</a:t>
            </a:r>
            <a:r>
              <a:rPr lang="en-US" altLang="zh-CN" dirty="0"/>
              <a:t>( Controller Control Table</a:t>
            </a:r>
            <a:r>
              <a:rPr lang="zh-CN" altLang="zh-CN" dirty="0"/>
              <a:t>，</a:t>
            </a:r>
            <a:r>
              <a:rPr lang="en-US" altLang="zh-CN" dirty="0"/>
              <a:t>COCT)</a:t>
            </a:r>
            <a:r>
              <a:rPr lang="zh-CN" altLang="zh-CN" dirty="0"/>
              <a:t>反映控制器的使用情况和与通道的连接情况。</a:t>
            </a:r>
          </a:p>
          <a:p>
            <a:endParaRPr lang="zh-CN" altLang="en-US" dirty="0"/>
          </a:p>
        </p:txBody>
      </p:sp>
      <p:sp>
        <p:nvSpPr>
          <p:cNvPr id="4" name="内容占位符 2">
            <a:extLst>
              <a:ext uri="{FF2B5EF4-FFF2-40B4-BE49-F238E27FC236}">
                <a16:creationId xmlns:a16="http://schemas.microsoft.com/office/drawing/2014/main" id="{2F4A6723-D938-4E00-91D3-43F58FAD7149}"/>
              </a:ext>
            </a:extLst>
          </p:cNvPr>
          <p:cNvSpPr txBox="1">
            <a:spLocks/>
          </p:cNvSpPr>
          <p:nvPr/>
        </p:nvSpPr>
        <p:spPr>
          <a:xfrm>
            <a:off x="633408" y="2479446"/>
            <a:ext cx="10968990" cy="1156930"/>
          </a:xfrm>
          <a:prstGeom prst="rect">
            <a:avLst/>
          </a:prstGeo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Clr>
                <a:srgbClr val="2094CE"/>
              </a:buClr>
              <a:buSzPct val="80000"/>
              <a:buFont typeface="Arial" panose="020B0604020202020204" pitchFamily="34" charset="0"/>
              <a:buChar char="►"/>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Clr>
                <a:srgbClr val="FF9800"/>
              </a:buClr>
              <a:buSzPct val="90000"/>
              <a:buFont typeface="Arial" panose="020B0604020202020204" pitchFamily="34" charset="0"/>
              <a:buChar char="♦"/>
              <a:tabLst>
                <a:tab pos="1609725" algn="l"/>
              </a:tabLst>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a:t>（</a:t>
            </a:r>
            <a:r>
              <a:rPr lang="en-US" altLang="zh-CN"/>
              <a:t>2</a:t>
            </a:r>
            <a:r>
              <a:rPr lang="zh-CN" altLang="en-US"/>
              <a:t>）通道控制表</a:t>
            </a:r>
            <a:r>
              <a:rPr lang="en-US" altLang="zh-CN"/>
              <a:t>CHCT</a:t>
            </a:r>
            <a:r>
              <a:rPr lang="zh-CN" altLang="en-US"/>
              <a:t>。在通道控制方式的系统中，为每个通道都设置了一张通道控制表</a:t>
            </a:r>
            <a:r>
              <a:rPr lang="en-US" altLang="zh-CN"/>
              <a:t>(Channel control Table, CHCT)</a:t>
            </a:r>
            <a:r>
              <a:rPr lang="zh-CN" altLang="en-US"/>
              <a:t>。</a:t>
            </a:r>
            <a:endParaRPr lang="en-US"/>
          </a:p>
        </p:txBody>
      </p:sp>
      <p:sp>
        <p:nvSpPr>
          <p:cNvPr id="5" name="内容占位符 2">
            <a:extLst>
              <a:ext uri="{FF2B5EF4-FFF2-40B4-BE49-F238E27FC236}">
                <a16:creationId xmlns:a16="http://schemas.microsoft.com/office/drawing/2014/main" id="{93BD06FF-34D0-40AB-B5A7-790B75864A66}"/>
              </a:ext>
            </a:extLst>
          </p:cNvPr>
          <p:cNvSpPr txBox="1">
            <a:spLocks/>
          </p:cNvSpPr>
          <p:nvPr/>
        </p:nvSpPr>
        <p:spPr>
          <a:xfrm>
            <a:off x="608330" y="3739161"/>
            <a:ext cx="10968990" cy="1180079"/>
          </a:xfrm>
          <a:prstGeom prst="rect">
            <a:avLst/>
          </a:prstGeo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Clr>
                <a:srgbClr val="2094CE"/>
              </a:buClr>
              <a:buSzPct val="80000"/>
              <a:buFont typeface="Arial" panose="020B0604020202020204" pitchFamily="34" charset="0"/>
              <a:buChar char="►"/>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Clr>
                <a:srgbClr val="FF9800"/>
              </a:buClr>
              <a:buSzPct val="90000"/>
              <a:buFont typeface="Arial" panose="020B0604020202020204" pitchFamily="34" charset="0"/>
              <a:buChar char="♦"/>
              <a:tabLst>
                <a:tab pos="1609725" algn="l"/>
              </a:tabLst>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a:t>（</a:t>
            </a:r>
            <a:r>
              <a:rPr lang="en-US" altLang="zh-CN"/>
              <a:t>3</a:t>
            </a:r>
            <a:r>
              <a:rPr lang="zh-CN" altLang="en-US"/>
              <a:t>）系统设备表</a:t>
            </a:r>
            <a:r>
              <a:rPr lang="en-US" altLang="zh-CN"/>
              <a:t>SDT</a:t>
            </a:r>
            <a:r>
              <a:rPr lang="zh-CN" altLang="en-US"/>
              <a:t>。整个系统配备一张系统设备表，它记录了已经被连接到系统的所有设备，为每一个物理设备设置一个表项。</a:t>
            </a:r>
          </a:p>
        </p:txBody>
      </p:sp>
    </p:spTree>
    <p:extLst>
      <p:ext uri="{BB962C8B-B14F-4D97-AF65-F5344CB8AC3E}">
        <p14:creationId xmlns:p14="http://schemas.microsoft.com/office/powerpoint/2010/main" val="720186026"/>
      </p:ext>
    </p:extLst>
  </p:cSld>
  <p:clrMapOvr>
    <a:masterClrMapping/>
  </p:clrMapOvr>
  <p:transition>
    <p:random/>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zh-CN" dirty="0"/>
              <a:t>8.4.2 设备分配时应考虑的若干因素</a:t>
            </a:r>
            <a:endParaRPr lang="zh-CN" altLang="en-US" dirty="0"/>
          </a:p>
        </p:txBody>
      </p:sp>
      <p:sp>
        <p:nvSpPr>
          <p:cNvPr id="3" name="内容占位符 2"/>
          <p:cNvSpPr>
            <a:spLocks noGrp="1"/>
          </p:cNvSpPr>
          <p:nvPr>
            <p:ph idx="1"/>
          </p:nvPr>
        </p:nvSpPr>
        <p:spPr>
          <a:xfrm>
            <a:off x="608330" y="1227455"/>
            <a:ext cx="10968990" cy="3251948"/>
          </a:xfrm>
        </p:spPr>
        <p:txBody>
          <a:bodyPr>
            <a:normAutofit/>
          </a:bodyPr>
          <a:lstStyle/>
          <a:p>
            <a:r>
              <a:rPr lang="zh-CN" altLang="zh-CN" dirty="0"/>
              <a:t>设备分配的总原则</a:t>
            </a:r>
            <a:r>
              <a:rPr lang="zh-CN" altLang="en-US" dirty="0"/>
              <a:t>：</a:t>
            </a:r>
            <a:endParaRPr lang="en-US" altLang="zh-CN" dirty="0"/>
          </a:p>
          <a:p>
            <a:r>
              <a:rPr lang="zh-CN" altLang="zh-CN" dirty="0"/>
              <a:t>既要充分发挥设备的使用效率，</a:t>
            </a:r>
            <a:endParaRPr lang="en-US" altLang="zh-CN" dirty="0"/>
          </a:p>
          <a:p>
            <a:r>
              <a:rPr lang="zh-CN" altLang="zh-CN" dirty="0"/>
              <a:t>尽可能的让设备忙，</a:t>
            </a:r>
            <a:endParaRPr lang="en-US" altLang="zh-CN" dirty="0"/>
          </a:p>
          <a:p>
            <a:r>
              <a:rPr lang="zh-CN" altLang="zh-CN" dirty="0"/>
              <a:t>又要避免由于不合理的分配方法造成进程死锁。</a:t>
            </a:r>
            <a:endParaRPr lang="en-US" altLang="zh-CN" dirty="0"/>
          </a:p>
          <a:p>
            <a:r>
              <a:rPr lang="zh-CN" altLang="zh-CN" dirty="0"/>
              <a:t>把用户程序和具体物理设备隔离开来。</a:t>
            </a:r>
          </a:p>
          <a:p>
            <a:endParaRPr lang="zh-CN" altLang="en-US" dirty="0"/>
          </a:p>
        </p:txBody>
      </p:sp>
    </p:spTree>
    <p:extLst>
      <p:ext uri="{BB962C8B-B14F-4D97-AF65-F5344CB8AC3E}">
        <p14:creationId xmlns:p14="http://schemas.microsoft.com/office/powerpoint/2010/main" val="2430992758"/>
      </p:ext>
    </p:extLst>
  </p:cSld>
  <p:clrMapOvr>
    <a:masterClrMapping/>
  </p:clrMapOvr>
  <p:transition>
    <p:random/>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1. </a:t>
            </a:r>
            <a:r>
              <a:rPr lang="zh-CN" altLang="zh-CN" dirty="0"/>
              <a:t>设备的固有属性</a:t>
            </a:r>
            <a:endParaRPr lang="zh-CN" altLang="en-US" dirty="0"/>
          </a:p>
        </p:txBody>
      </p:sp>
      <p:sp>
        <p:nvSpPr>
          <p:cNvPr id="3" name="内容占位符 2"/>
          <p:cNvSpPr>
            <a:spLocks noGrp="1"/>
          </p:cNvSpPr>
          <p:nvPr>
            <p:ph idx="1"/>
          </p:nvPr>
        </p:nvSpPr>
        <p:spPr>
          <a:xfrm>
            <a:off x="608330" y="1227455"/>
            <a:ext cx="10968990" cy="3182499"/>
          </a:xfrm>
        </p:spPr>
        <p:txBody>
          <a:bodyPr>
            <a:normAutofit/>
          </a:bodyPr>
          <a:lstStyle/>
          <a:p>
            <a:r>
              <a:rPr lang="zh-CN" altLang="zh-CN" dirty="0"/>
              <a:t>在分配设备时，首先考虑与设备分配有关的设备属性，设备的固有属性可分成三类：</a:t>
            </a:r>
          </a:p>
          <a:p>
            <a:r>
              <a:rPr lang="zh-CN" altLang="zh-CN" dirty="0"/>
              <a:t>（</a:t>
            </a:r>
            <a:r>
              <a:rPr lang="en-US" altLang="zh-CN" dirty="0"/>
              <a:t>1</a:t>
            </a:r>
            <a:r>
              <a:rPr lang="zh-CN" altLang="zh-CN" dirty="0"/>
              <a:t>）独占设备。</a:t>
            </a:r>
            <a:endParaRPr lang="en-US" altLang="zh-CN" dirty="0"/>
          </a:p>
          <a:p>
            <a:r>
              <a:rPr lang="zh-CN" altLang="zh-CN" dirty="0"/>
              <a:t>（</a:t>
            </a:r>
            <a:r>
              <a:rPr lang="en-US" altLang="zh-CN" dirty="0"/>
              <a:t>2</a:t>
            </a:r>
            <a:r>
              <a:rPr lang="zh-CN" altLang="zh-CN" dirty="0"/>
              <a:t>）共享设备。</a:t>
            </a:r>
          </a:p>
          <a:p>
            <a:r>
              <a:rPr lang="zh-CN" altLang="zh-CN" dirty="0"/>
              <a:t>（</a:t>
            </a:r>
            <a:r>
              <a:rPr lang="en-US" altLang="zh-CN" dirty="0"/>
              <a:t>3</a:t>
            </a:r>
            <a:r>
              <a:rPr lang="zh-CN" altLang="zh-CN" dirty="0"/>
              <a:t>）虚拟设备。</a:t>
            </a:r>
            <a:endParaRPr lang="zh-CN" altLang="en-US" dirty="0"/>
          </a:p>
        </p:txBody>
      </p:sp>
    </p:spTree>
    <p:extLst>
      <p:ext uri="{BB962C8B-B14F-4D97-AF65-F5344CB8AC3E}">
        <p14:creationId xmlns:p14="http://schemas.microsoft.com/office/powerpoint/2010/main" val="863444673"/>
      </p:ext>
    </p:extLst>
  </p:cSld>
  <p:clrMapOvr>
    <a:masterClrMapping/>
  </p:clrMapOvr>
  <p:transition>
    <p:random/>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2. </a:t>
            </a:r>
            <a:r>
              <a:rPr lang="zh-CN" altLang="zh-CN" dirty="0"/>
              <a:t>设备分配算法</a:t>
            </a:r>
            <a:endParaRPr lang="zh-CN" altLang="en-US" dirty="0"/>
          </a:p>
        </p:txBody>
      </p:sp>
      <p:sp>
        <p:nvSpPr>
          <p:cNvPr id="3" name="内容占位符 2"/>
          <p:cNvSpPr>
            <a:spLocks noGrp="1"/>
          </p:cNvSpPr>
          <p:nvPr>
            <p:ph idx="1"/>
          </p:nvPr>
        </p:nvSpPr>
        <p:spPr>
          <a:xfrm>
            <a:off x="608330" y="1227455"/>
            <a:ext cx="10968990" cy="2201545"/>
          </a:xfrm>
        </p:spPr>
        <p:txBody>
          <a:bodyPr>
            <a:normAutofit/>
          </a:bodyPr>
          <a:lstStyle/>
          <a:p>
            <a:r>
              <a:rPr lang="zh-CN" altLang="zh-CN" dirty="0"/>
              <a:t>一般只采用两种分配算法：</a:t>
            </a:r>
          </a:p>
          <a:p>
            <a:r>
              <a:rPr lang="zh-CN" altLang="zh-CN" dirty="0"/>
              <a:t>（</a:t>
            </a:r>
            <a:r>
              <a:rPr lang="en-US" altLang="zh-CN" dirty="0"/>
              <a:t>1</a:t>
            </a:r>
            <a:r>
              <a:rPr lang="zh-CN" altLang="zh-CN" dirty="0"/>
              <a:t>）先来先服务（先请求先分配）。</a:t>
            </a:r>
          </a:p>
          <a:p>
            <a:r>
              <a:rPr lang="zh-CN" altLang="zh-CN" dirty="0"/>
              <a:t>（</a:t>
            </a:r>
            <a:r>
              <a:rPr lang="en-US" altLang="zh-CN" dirty="0"/>
              <a:t>2</a:t>
            </a:r>
            <a:r>
              <a:rPr lang="zh-CN" altLang="zh-CN" dirty="0"/>
              <a:t>）优先级高者优先。</a:t>
            </a:r>
            <a:endParaRPr lang="zh-CN" altLang="en-US" dirty="0"/>
          </a:p>
        </p:txBody>
      </p:sp>
    </p:spTree>
    <p:extLst>
      <p:ext uri="{BB962C8B-B14F-4D97-AF65-F5344CB8AC3E}">
        <p14:creationId xmlns:p14="http://schemas.microsoft.com/office/powerpoint/2010/main" val="4117156207"/>
      </p:ext>
    </p:extLst>
  </p:cSld>
  <p:clrMapOvr>
    <a:masterClrMapping/>
  </p:clrMapOvr>
  <p:transition>
    <p:random/>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3. </a:t>
            </a:r>
            <a:r>
              <a:rPr lang="zh-CN" altLang="zh-CN" dirty="0"/>
              <a:t>设备分配中的安全性</a:t>
            </a:r>
            <a:endParaRPr lang="zh-CN" altLang="en-US" dirty="0"/>
          </a:p>
        </p:txBody>
      </p:sp>
      <p:sp>
        <p:nvSpPr>
          <p:cNvPr id="3" name="内容占位符 2"/>
          <p:cNvSpPr>
            <a:spLocks noGrp="1"/>
          </p:cNvSpPr>
          <p:nvPr>
            <p:ph idx="1"/>
          </p:nvPr>
        </p:nvSpPr>
        <p:spPr/>
        <p:txBody>
          <a:bodyPr>
            <a:normAutofit/>
          </a:bodyPr>
          <a:lstStyle/>
          <a:p>
            <a:r>
              <a:rPr lang="zh-CN" altLang="zh-CN" dirty="0"/>
              <a:t>从进程运行的安全性上考虑，设备分配有如下两种方式：</a:t>
            </a:r>
          </a:p>
          <a:p>
            <a:r>
              <a:rPr lang="zh-CN" altLang="zh-CN" dirty="0"/>
              <a:t>（</a:t>
            </a:r>
            <a:r>
              <a:rPr lang="en-US" altLang="zh-CN" dirty="0"/>
              <a:t>1</a:t>
            </a:r>
            <a:r>
              <a:rPr lang="zh-CN" altLang="zh-CN" dirty="0"/>
              <a:t>）安全分配方式。在这种分配方式中，当进程通过系统调用发出</a:t>
            </a:r>
            <a:r>
              <a:rPr lang="en-US" altLang="zh-CN" dirty="0"/>
              <a:t>I/O</a:t>
            </a:r>
            <a:r>
              <a:rPr lang="zh-CN" altLang="zh-CN" dirty="0"/>
              <a:t>请求后，进程立即进入阻塞状态，直到所提出的</a:t>
            </a:r>
            <a:r>
              <a:rPr lang="en-US" altLang="zh-CN" dirty="0"/>
              <a:t>I/O</a:t>
            </a:r>
            <a:r>
              <a:rPr lang="zh-CN" altLang="zh-CN" dirty="0"/>
              <a:t>请求完成才被唤醒。</a:t>
            </a:r>
            <a:endParaRPr lang="zh-CN" altLang="en-US" dirty="0"/>
          </a:p>
        </p:txBody>
      </p:sp>
    </p:spTree>
    <p:extLst>
      <p:ext uri="{BB962C8B-B14F-4D97-AF65-F5344CB8AC3E}">
        <p14:creationId xmlns:p14="http://schemas.microsoft.com/office/powerpoint/2010/main" val="2062228444"/>
      </p:ext>
    </p:extLst>
  </p:cSld>
  <p:clrMapOvr>
    <a:masterClrMapping/>
  </p:clrMapOvr>
  <p:transition>
    <p:random/>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3. </a:t>
            </a:r>
            <a:r>
              <a:rPr lang="zh-CN" altLang="zh-CN" dirty="0"/>
              <a:t>设备分配中的安全性</a:t>
            </a:r>
            <a:endParaRPr lang="zh-CN" altLang="en-US" dirty="0"/>
          </a:p>
        </p:txBody>
      </p:sp>
      <p:sp>
        <p:nvSpPr>
          <p:cNvPr id="3" name="内容占位符 2"/>
          <p:cNvSpPr>
            <a:spLocks noGrp="1"/>
          </p:cNvSpPr>
          <p:nvPr>
            <p:ph idx="1"/>
          </p:nvPr>
        </p:nvSpPr>
        <p:spPr>
          <a:xfrm>
            <a:off x="608330" y="1227455"/>
            <a:ext cx="11185880" cy="5022215"/>
          </a:xfrm>
        </p:spPr>
        <p:txBody>
          <a:bodyPr>
            <a:normAutofit/>
          </a:bodyPr>
          <a:lstStyle/>
          <a:p>
            <a:r>
              <a:rPr lang="zh-CN" altLang="zh-CN" dirty="0"/>
              <a:t>（</a:t>
            </a:r>
            <a:r>
              <a:rPr lang="en-US" altLang="zh-CN" dirty="0"/>
              <a:t>2</a:t>
            </a:r>
            <a:r>
              <a:rPr lang="zh-CN" altLang="zh-CN" dirty="0"/>
              <a:t>）不安全分配方式。在这种分配方式中，进程发出</a:t>
            </a:r>
            <a:r>
              <a:rPr lang="en-US" altLang="zh-CN" dirty="0"/>
              <a:t>I/O</a:t>
            </a:r>
            <a:r>
              <a:rPr lang="zh-CN" altLang="zh-CN" dirty="0"/>
              <a:t>请求后继续运行，在运行过程中可以发出第二个</a:t>
            </a:r>
            <a:r>
              <a:rPr lang="en-US" altLang="zh-CN" dirty="0"/>
              <a:t>I/O</a:t>
            </a:r>
            <a:r>
              <a:rPr lang="zh-CN" altLang="zh-CN" dirty="0"/>
              <a:t>请求、第三个</a:t>
            </a:r>
            <a:r>
              <a:rPr lang="en-US" altLang="zh-CN" dirty="0"/>
              <a:t>I/O</a:t>
            </a:r>
            <a:r>
              <a:rPr lang="zh-CN" altLang="zh-CN" dirty="0"/>
              <a:t>请求、</a:t>
            </a:r>
            <a:r>
              <a:rPr lang="en-US" altLang="zh-CN" dirty="0"/>
              <a:t>……</a:t>
            </a:r>
            <a:r>
              <a:rPr lang="zh-CN" altLang="zh-CN" dirty="0"/>
              <a:t>仅当进程所请求的设备已经被另一个进程占用时，请求进程才进入阻塞状态。</a:t>
            </a:r>
            <a:endParaRPr lang="zh-CN" altLang="en-US" dirty="0"/>
          </a:p>
        </p:txBody>
      </p:sp>
    </p:spTree>
    <p:extLst>
      <p:ext uri="{BB962C8B-B14F-4D97-AF65-F5344CB8AC3E}">
        <p14:creationId xmlns:p14="http://schemas.microsoft.com/office/powerpoint/2010/main" val="83358026"/>
      </p:ext>
    </p:extLst>
  </p:cSld>
  <p:clrMapOvr>
    <a:masterClrMapping/>
  </p:clrMapOvr>
  <p:transition>
    <p:random/>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zh-CN" dirty="0"/>
              <a:t>8.4.5 SPOOLing技术</a:t>
            </a:r>
            <a:endParaRPr lang="zh-CN" altLang="en-US" dirty="0"/>
          </a:p>
        </p:txBody>
      </p:sp>
      <p:sp>
        <p:nvSpPr>
          <p:cNvPr id="3" name="内容占位符 2"/>
          <p:cNvSpPr>
            <a:spLocks noGrp="1"/>
          </p:cNvSpPr>
          <p:nvPr>
            <p:ph idx="1"/>
          </p:nvPr>
        </p:nvSpPr>
        <p:spPr>
          <a:xfrm>
            <a:off x="608330" y="1227455"/>
            <a:ext cx="10968990" cy="2638489"/>
          </a:xfrm>
        </p:spPr>
        <p:txBody>
          <a:bodyPr/>
          <a:lstStyle/>
          <a:p>
            <a:r>
              <a:rPr lang="zh-CN" altLang="zh-CN" dirty="0"/>
              <a:t>虚拟性是操作系统的四大特征之一。通过多道程序技术可以将一个物理</a:t>
            </a:r>
            <a:r>
              <a:rPr lang="en-US" altLang="zh-CN" dirty="0"/>
              <a:t>CPU</a:t>
            </a:r>
            <a:r>
              <a:rPr lang="zh-CN" altLang="zh-CN" dirty="0"/>
              <a:t>虚拟为多个逻辑</a:t>
            </a:r>
            <a:r>
              <a:rPr lang="en-US" altLang="zh-CN" dirty="0"/>
              <a:t>CPU</a:t>
            </a:r>
            <a:r>
              <a:rPr lang="zh-CN" altLang="zh-CN" dirty="0"/>
              <a:t>，使得多个用户共享一台主机；而通过</a:t>
            </a:r>
            <a:r>
              <a:rPr lang="en-US" altLang="zh-CN" dirty="0" err="1"/>
              <a:t>SPOOLing</a:t>
            </a:r>
            <a:r>
              <a:rPr lang="zh-CN" altLang="zh-CN" dirty="0"/>
              <a:t>技术便可将一台物理设备虚拟为多台逻辑设备，允许多个用户共享一台物理设备。</a:t>
            </a:r>
          </a:p>
          <a:p>
            <a:endParaRPr lang="zh-CN" altLang="en-US" dirty="0"/>
          </a:p>
        </p:txBody>
      </p:sp>
    </p:spTree>
    <p:extLst>
      <p:ext uri="{BB962C8B-B14F-4D97-AF65-F5344CB8AC3E}">
        <p14:creationId xmlns:p14="http://schemas.microsoft.com/office/powerpoint/2010/main" val="1279187854"/>
      </p:ext>
    </p:extLst>
  </p:cSld>
  <p:clrMapOvr>
    <a:masterClrMapping/>
  </p:clrMapOvr>
  <p:transition>
    <p:random/>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1. </a:t>
            </a:r>
            <a:r>
              <a:rPr lang="zh-CN" altLang="zh-CN" dirty="0"/>
              <a:t>假脱机技术</a:t>
            </a:r>
            <a:endParaRPr lang="zh-CN" altLang="en-US" dirty="0"/>
          </a:p>
        </p:txBody>
      </p:sp>
      <p:sp>
        <p:nvSpPr>
          <p:cNvPr id="3" name="内容占位符 2"/>
          <p:cNvSpPr>
            <a:spLocks noGrp="1"/>
          </p:cNvSpPr>
          <p:nvPr>
            <p:ph idx="1"/>
          </p:nvPr>
        </p:nvSpPr>
        <p:spPr>
          <a:xfrm>
            <a:off x="402955" y="1227455"/>
            <a:ext cx="11344759" cy="2201545"/>
          </a:xfrm>
        </p:spPr>
        <p:txBody>
          <a:bodyPr>
            <a:normAutofit/>
          </a:bodyPr>
          <a:lstStyle/>
          <a:p>
            <a:r>
              <a:rPr lang="en-US" altLang="zh-CN" dirty="0"/>
              <a:t> </a:t>
            </a:r>
            <a:r>
              <a:rPr lang="zh-CN" altLang="zh-CN" dirty="0"/>
              <a:t>输入作业时，用一台专用的外围控制机把作业输入到高速磁盘中，然后把高速磁盘连接到大型主机上，主机高速读取磁盘上的信息。作业输出时，由主机把输出结果写入高速磁盘，然后将高速磁盘连接到另一台专用的外围控制机上，在外围控制机的控制下，在低速输出设备上输出作业结果。</a:t>
            </a:r>
            <a:endParaRPr lang="zh-CN" altLang="en-US" dirty="0"/>
          </a:p>
        </p:txBody>
      </p:sp>
    </p:spTree>
    <p:extLst>
      <p:ext uri="{BB962C8B-B14F-4D97-AF65-F5344CB8AC3E}">
        <p14:creationId xmlns:p14="http://schemas.microsoft.com/office/powerpoint/2010/main" val="208419451"/>
      </p:ext>
    </p:extLst>
  </p:cSld>
  <p:clrMapOvr>
    <a:masterClrMapping/>
  </p:clrMapOvr>
  <p:transition>
    <p:random/>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 </a:t>
            </a:r>
            <a:r>
              <a:rPr lang="zh-CN" altLang="zh-CN" dirty="0"/>
              <a:t>假脱机技术</a:t>
            </a:r>
            <a:endParaRPr lang="zh-CN" altLang="en-US" dirty="0"/>
          </a:p>
        </p:txBody>
      </p:sp>
      <p:sp>
        <p:nvSpPr>
          <p:cNvPr id="3" name="内容占位符 2"/>
          <p:cNvSpPr>
            <a:spLocks noGrp="1"/>
          </p:cNvSpPr>
          <p:nvPr>
            <p:ph idx="1"/>
          </p:nvPr>
        </p:nvSpPr>
        <p:spPr/>
        <p:txBody>
          <a:bodyPr>
            <a:normAutofit/>
          </a:bodyPr>
          <a:lstStyle/>
          <a:p>
            <a:r>
              <a:rPr lang="en-US" altLang="zh-CN" dirty="0"/>
              <a:t>	</a:t>
            </a:r>
            <a:r>
              <a:rPr lang="zh-CN" altLang="zh-CN" dirty="0"/>
              <a:t>在出现了多道程序系统后，完全可以使用多道程序中的一道程序来模拟脱机输入时的外围控制机，把低速</a:t>
            </a:r>
            <a:r>
              <a:rPr lang="en-US" altLang="zh-CN" dirty="0"/>
              <a:t>I/O</a:t>
            </a:r>
            <a:r>
              <a:rPr lang="zh-CN" altLang="zh-CN" dirty="0"/>
              <a:t>设备上的数据传送到高速的磁盘上，再用其中的另一道程序来模拟脱机输出时外围控制机，把数据从磁盘传送到低速的输出设备上，便可在</a:t>
            </a:r>
            <a:r>
              <a:rPr lang="en-US" altLang="zh-CN" dirty="0"/>
              <a:t>CPU</a:t>
            </a:r>
            <a:r>
              <a:rPr lang="zh-CN" altLang="zh-CN" dirty="0"/>
              <a:t>的直接控制下，实现脱机输入、输出功能。这种外围设备同时联机操作技术称为</a:t>
            </a:r>
            <a:r>
              <a:rPr lang="en-US" altLang="zh-CN" dirty="0" err="1"/>
              <a:t>SPOOLing</a:t>
            </a:r>
            <a:r>
              <a:rPr lang="zh-CN" altLang="zh-CN" dirty="0"/>
              <a:t>（</a:t>
            </a:r>
            <a:r>
              <a:rPr lang="en-US" altLang="zh-CN" dirty="0"/>
              <a:t>Simultaneous Peripheral Operations On-Line</a:t>
            </a:r>
            <a:r>
              <a:rPr lang="zh-CN" altLang="zh-CN" dirty="0"/>
              <a:t>）技术，也称为假脱机技术。</a:t>
            </a:r>
          </a:p>
          <a:p>
            <a:endParaRPr lang="zh-CN" altLang="en-US" dirty="0"/>
          </a:p>
        </p:txBody>
      </p:sp>
    </p:spTree>
    <p:extLst>
      <p:ext uri="{BB962C8B-B14F-4D97-AF65-F5344CB8AC3E}">
        <p14:creationId xmlns:p14="http://schemas.microsoft.com/office/powerpoint/2010/main" val="1369302617"/>
      </p:ext>
    </p:extLst>
  </p:cSld>
  <p:clrMapOvr>
    <a:masterClrMapping/>
  </p:clrMapOvr>
  <p:transition>
    <p:random/>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2. </a:t>
            </a:r>
            <a:r>
              <a:rPr lang="en-US" altLang="zh-CN" dirty="0" err="1"/>
              <a:t>SPOOLing</a:t>
            </a:r>
            <a:r>
              <a:rPr lang="zh-CN" altLang="zh-CN" dirty="0"/>
              <a:t>系统的组成</a:t>
            </a:r>
            <a:endParaRPr lang="zh-CN" altLang="en-US" dirty="0"/>
          </a:p>
        </p:txBody>
      </p:sp>
      <p:sp>
        <p:nvSpPr>
          <p:cNvPr id="3" name="内容占位符 2"/>
          <p:cNvSpPr>
            <a:spLocks noGrp="1"/>
          </p:cNvSpPr>
          <p:nvPr>
            <p:ph idx="1"/>
          </p:nvPr>
        </p:nvSpPr>
        <p:spPr/>
        <p:txBody>
          <a:bodyPr>
            <a:normAutofit/>
          </a:bodyPr>
          <a:lstStyle/>
          <a:p>
            <a:r>
              <a:rPr lang="en-US" altLang="zh-CN" dirty="0" err="1"/>
              <a:t>SPOOLing</a:t>
            </a:r>
            <a:r>
              <a:rPr lang="zh-CN" altLang="zh-CN" dirty="0"/>
              <a:t>系统是对脱机输入、脱机输出工作的模拟，它必须有高速随机外存的支持，通常是采用磁盘。</a:t>
            </a:r>
            <a:r>
              <a:rPr lang="en-US" altLang="zh-CN" dirty="0" err="1"/>
              <a:t>SPOOLing</a:t>
            </a:r>
            <a:r>
              <a:rPr lang="zh-CN" altLang="zh-CN" dirty="0"/>
              <a:t>系统主要有以下四部分：</a:t>
            </a:r>
          </a:p>
          <a:p>
            <a:r>
              <a:rPr lang="zh-CN" altLang="zh-CN" dirty="0"/>
              <a:t>（</a:t>
            </a:r>
            <a:r>
              <a:rPr lang="en-US" altLang="zh-CN" dirty="0"/>
              <a:t>1</a:t>
            </a:r>
            <a:r>
              <a:rPr lang="zh-CN" altLang="zh-CN" dirty="0"/>
              <a:t>）输入井和输出井</a:t>
            </a:r>
          </a:p>
          <a:p>
            <a:r>
              <a:rPr lang="zh-CN" altLang="zh-CN" dirty="0"/>
              <a:t>（</a:t>
            </a:r>
            <a:r>
              <a:rPr lang="en-US" altLang="zh-CN" dirty="0"/>
              <a:t>2</a:t>
            </a:r>
            <a:r>
              <a:rPr lang="zh-CN" altLang="zh-CN" dirty="0"/>
              <a:t>）输入缓冲区和输出缓冲区</a:t>
            </a:r>
          </a:p>
          <a:p>
            <a:r>
              <a:rPr lang="zh-CN" altLang="zh-CN" dirty="0"/>
              <a:t>（</a:t>
            </a:r>
            <a:r>
              <a:rPr lang="en-US" altLang="zh-CN" dirty="0"/>
              <a:t>3</a:t>
            </a:r>
            <a:r>
              <a:rPr lang="zh-CN" altLang="zh-CN" dirty="0"/>
              <a:t>）输入进程</a:t>
            </a:r>
            <a:r>
              <a:rPr lang="en-US" altLang="zh-CN" dirty="0" err="1"/>
              <a:t>Spi</a:t>
            </a:r>
            <a:r>
              <a:rPr lang="zh-CN" altLang="zh-CN" dirty="0"/>
              <a:t>和输出进程</a:t>
            </a:r>
            <a:r>
              <a:rPr lang="en-US" altLang="zh-CN" dirty="0" err="1"/>
              <a:t>Spo</a:t>
            </a:r>
            <a:endParaRPr lang="zh-CN" altLang="zh-CN" dirty="0"/>
          </a:p>
          <a:p>
            <a:r>
              <a:rPr lang="zh-CN" altLang="zh-CN" dirty="0"/>
              <a:t>（</a:t>
            </a:r>
            <a:r>
              <a:rPr lang="en-US" altLang="zh-CN" dirty="0"/>
              <a:t>4</a:t>
            </a:r>
            <a:r>
              <a:rPr lang="zh-CN" altLang="zh-CN" dirty="0"/>
              <a:t>）井管理程序。</a:t>
            </a:r>
            <a:endParaRPr lang="zh-CN" altLang="en-US" dirty="0"/>
          </a:p>
        </p:txBody>
      </p:sp>
    </p:spTree>
    <p:extLst>
      <p:ext uri="{BB962C8B-B14F-4D97-AF65-F5344CB8AC3E}">
        <p14:creationId xmlns:p14="http://schemas.microsoft.com/office/powerpoint/2010/main" val="2463785483"/>
      </p:ext>
    </p:extLst>
  </p:cSld>
  <p:clrMapOvr>
    <a:masterClrMapping/>
  </p:clrMapOvr>
  <p:transition>
    <p:random/>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SPOOLing</a:t>
            </a:r>
            <a:r>
              <a:rPr lang="zh-CN" altLang="zh-CN" dirty="0"/>
              <a:t>系统的组成</a:t>
            </a:r>
            <a:endParaRPr lang="zh-CN" altLang="en-US" dirty="0"/>
          </a:p>
        </p:txBody>
      </p:sp>
      <p:pic>
        <p:nvPicPr>
          <p:cNvPr id="11266" name="图片 408" descr="1566658696(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9600" y="1117600"/>
            <a:ext cx="7386320" cy="34147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矩形 3"/>
          <p:cNvSpPr/>
          <p:nvPr/>
        </p:nvSpPr>
        <p:spPr>
          <a:xfrm>
            <a:off x="3853584" y="5438894"/>
            <a:ext cx="4267130" cy="461665"/>
          </a:xfrm>
          <a:prstGeom prst="rect">
            <a:avLst/>
          </a:prstGeom>
        </p:spPr>
        <p:txBody>
          <a:bodyPr wrap="none">
            <a:spAutoFit/>
          </a:bodyPr>
          <a:lstStyle/>
          <a:p>
            <a:r>
              <a:rPr lang="zh-CN" altLang="zh-CN" sz="2400" dirty="0"/>
              <a:t>图</a:t>
            </a:r>
            <a:r>
              <a:rPr lang="en-US" altLang="zh-CN" sz="2400" dirty="0"/>
              <a:t>8-11  </a:t>
            </a:r>
            <a:r>
              <a:rPr lang="en-US" altLang="zh-CN" sz="2400" dirty="0" err="1"/>
              <a:t>SPOOLing</a:t>
            </a:r>
            <a:r>
              <a:rPr lang="zh-CN" altLang="zh-CN" sz="2400" dirty="0"/>
              <a:t>系统的组成</a:t>
            </a:r>
          </a:p>
        </p:txBody>
      </p:sp>
    </p:spTree>
    <p:extLst>
      <p:ext uri="{BB962C8B-B14F-4D97-AF65-F5344CB8AC3E}">
        <p14:creationId xmlns:p14="http://schemas.microsoft.com/office/powerpoint/2010/main" val="3806717089"/>
      </p:ext>
    </p:extLst>
  </p:cSld>
  <p:clrMapOvr>
    <a:masterClrMapping/>
  </p:clrMapOvr>
  <p:transition>
    <p:random/>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4. </a:t>
            </a:r>
            <a:r>
              <a:rPr lang="zh-CN" altLang="zh-CN" dirty="0"/>
              <a:t>共享打印机</a:t>
            </a:r>
            <a:endParaRPr lang="zh-CN" altLang="en-US" dirty="0"/>
          </a:p>
        </p:txBody>
      </p:sp>
      <p:sp>
        <p:nvSpPr>
          <p:cNvPr id="3" name="内容占位符 2"/>
          <p:cNvSpPr>
            <a:spLocks noGrp="1"/>
          </p:cNvSpPr>
          <p:nvPr>
            <p:ph idx="1"/>
          </p:nvPr>
        </p:nvSpPr>
        <p:spPr/>
        <p:txBody>
          <a:bodyPr>
            <a:normAutofit/>
          </a:bodyPr>
          <a:lstStyle/>
          <a:p>
            <a:r>
              <a:rPr lang="zh-CN" altLang="zh-CN" sz="2200" dirty="0"/>
              <a:t>利用</a:t>
            </a:r>
            <a:r>
              <a:rPr lang="en-US" altLang="zh-CN" sz="2200" dirty="0" err="1"/>
              <a:t>SPOOLing</a:t>
            </a:r>
            <a:r>
              <a:rPr lang="zh-CN" altLang="zh-CN" sz="2200" dirty="0"/>
              <a:t>技术，可将打印机虚拟为一台可供多个用户共享的设备。共享打印机技术当前已被广泛地应用于多用户系统和局域网络中。当用户进程请求打印输出时，</a:t>
            </a:r>
            <a:r>
              <a:rPr lang="en-US" altLang="zh-CN" sz="2200" dirty="0" err="1"/>
              <a:t>SPOOLing</a:t>
            </a:r>
            <a:r>
              <a:rPr lang="zh-CN" altLang="zh-CN" sz="2200" dirty="0"/>
              <a:t>系统同意为他打印输出，但并不真正把打印机分配给该用户进程，而只为他做两件事：</a:t>
            </a:r>
          </a:p>
          <a:p>
            <a:r>
              <a:rPr lang="zh-CN" altLang="zh-CN" sz="2200" dirty="0"/>
              <a:t>（</a:t>
            </a:r>
            <a:r>
              <a:rPr lang="en-US" altLang="zh-CN" sz="2200" dirty="0"/>
              <a:t>1</a:t>
            </a:r>
            <a:r>
              <a:rPr lang="zh-CN" altLang="zh-CN" sz="2200" dirty="0"/>
              <a:t>）由输出进程在输出井中为之申请一空闲盘块区，并将要打印的数据送入其中。</a:t>
            </a:r>
          </a:p>
          <a:p>
            <a:r>
              <a:rPr lang="zh-CN" altLang="zh-CN" sz="2200" dirty="0"/>
              <a:t>（</a:t>
            </a:r>
            <a:r>
              <a:rPr lang="en-US" altLang="zh-CN" sz="2200" dirty="0"/>
              <a:t>2</a:t>
            </a:r>
            <a:r>
              <a:rPr lang="zh-CN" altLang="zh-CN" sz="2200" dirty="0"/>
              <a:t>）输出进程再为用户进程申请一张空白的用户请求打印表，将打印要求填入其中，再挂到请求打印队列上。如果还有进程要求打印输出，系统仍可接受该请求，也同样为该进程做上述两件事。</a:t>
            </a:r>
          </a:p>
          <a:p>
            <a:endParaRPr lang="zh-CN" altLang="en-US" sz="2200" dirty="0"/>
          </a:p>
        </p:txBody>
      </p:sp>
    </p:spTree>
    <p:extLst>
      <p:ext uri="{BB962C8B-B14F-4D97-AF65-F5344CB8AC3E}">
        <p14:creationId xmlns:p14="http://schemas.microsoft.com/office/powerpoint/2010/main" val="2504461760"/>
      </p:ext>
    </p:extLst>
  </p:cSld>
  <p:clrMapOvr>
    <a:masterClrMapping/>
  </p:clrMapOvr>
  <p:transition>
    <p:random/>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4. </a:t>
            </a:r>
            <a:r>
              <a:rPr lang="zh-CN" altLang="zh-CN" dirty="0"/>
              <a:t>共享打印机</a:t>
            </a:r>
            <a:endParaRPr lang="zh-CN" altLang="en-US" dirty="0"/>
          </a:p>
        </p:txBody>
      </p:sp>
      <p:sp>
        <p:nvSpPr>
          <p:cNvPr id="3" name="内容占位符 2"/>
          <p:cNvSpPr>
            <a:spLocks noGrp="1"/>
          </p:cNvSpPr>
          <p:nvPr>
            <p:ph idx="1"/>
          </p:nvPr>
        </p:nvSpPr>
        <p:spPr/>
        <p:txBody>
          <a:bodyPr>
            <a:normAutofit/>
          </a:bodyPr>
          <a:lstStyle/>
          <a:p>
            <a:r>
              <a:rPr lang="zh-CN" altLang="zh-CN" dirty="0"/>
              <a:t>如果打印机空闲，输出进程将从请求打印队列的队首取出一张请求打印表，根据表中的要求将要打印的数据从输出井传送到内存缓冲区，再由打印机进行打印。打印完后，输出进程再查看请求打印队列中是否还有等待打印的请求表。若有，又取出第一张表，并根据其中的要求进行打印，如此下去，直至请求队列空为止，输出进程才将自己阻塞起来，直到下次再有打印请求时才被唤醒。</a:t>
            </a:r>
          </a:p>
          <a:p>
            <a:endParaRPr lang="zh-CN" altLang="en-US" dirty="0"/>
          </a:p>
        </p:txBody>
      </p:sp>
    </p:spTree>
    <p:extLst>
      <p:ext uri="{BB962C8B-B14F-4D97-AF65-F5344CB8AC3E}">
        <p14:creationId xmlns:p14="http://schemas.microsoft.com/office/powerpoint/2010/main" val="3089182626"/>
      </p:ext>
    </p:extLst>
  </p:cSld>
  <p:clrMapOvr>
    <a:masterClrMapping/>
  </p:clrMapOvr>
  <p:transition>
    <p:random/>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76325" y="114300"/>
            <a:ext cx="9387205" cy="705485"/>
          </a:xfrm>
        </p:spPr>
        <p:txBody>
          <a:bodyPr/>
          <a:lstStyle/>
          <a:p>
            <a:pPr algn="ctr"/>
            <a:r>
              <a:rPr lang="en-US" altLang="zh-CN" dirty="0"/>
              <a:t>8.5 I/O</a:t>
            </a:r>
            <a:r>
              <a:rPr lang="zh-CN" altLang="en-US" dirty="0"/>
              <a:t>软件</a:t>
            </a:r>
            <a:endParaRPr lang="en-US" altLang="zh-CN" dirty="0"/>
          </a:p>
        </p:txBody>
      </p:sp>
      <p:sp>
        <p:nvSpPr>
          <p:cNvPr id="3" name="内容占位符 2"/>
          <p:cNvSpPr>
            <a:spLocks noGrp="1"/>
          </p:cNvSpPr>
          <p:nvPr>
            <p:ph idx="1"/>
          </p:nvPr>
        </p:nvSpPr>
        <p:spPr>
          <a:xfrm>
            <a:off x="2845597" y="1211957"/>
            <a:ext cx="7722235" cy="3542030"/>
          </a:xfrm>
        </p:spPr>
        <p:txBody>
          <a:bodyPr>
            <a:normAutofit/>
          </a:bodyPr>
          <a:lstStyle/>
          <a:p>
            <a:pPr>
              <a:buBlip>
                <a:blip r:embed="rId3"/>
              </a:buBlip>
            </a:pPr>
            <a:r>
              <a:rPr lang="en-US" altLang="zh-CN" dirty="0"/>
              <a:t>8.5.1 I/O</a:t>
            </a:r>
            <a:r>
              <a:rPr lang="zh-CN" altLang="en-US" dirty="0"/>
              <a:t>软件的目标</a:t>
            </a:r>
            <a:endParaRPr lang="en-US" altLang="zh-CN" dirty="0"/>
          </a:p>
          <a:p>
            <a:pPr>
              <a:buBlip>
                <a:blip r:embed="rId3"/>
              </a:buBlip>
            </a:pPr>
            <a:r>
              <a:rPr lang="en-US" altLang="zh-CN" dirty="0"/>
              <a:t>8.5.2 I/O</a:t>
            </a:r>
            <a:r>
              <a:rPr lang="zh-CN" altLang="en-US" dirty="0"/>
              <a:t>软件的层次结构</a:t>
            </a:r>
            <a:endParaRPr lang="en-US" altLang="zh-CN" dirty="0"/>
          </a:p>
          <a:p>
            <a:pPr>
              <a:buBlip>
                <a:blip r:embed="rId3"/>
              </a:buBlip>
            </a:pPr>
            <a:r>
              <a:rPr lang="en-US" altLang="zh-CN" dirty="0"/>
              <a:t>8.5.3 </a:t>
            </a:r>
            <a:r>
              <a:rPr lang="zh-CN" altLang="en-US" dirty="0"/>
              <a:t>中断处理程序</a:t>
            </a:r>
            <a:endParaRPr lang="en-US" altLang="zh-CN" dirty="0"/>
          </a:p>
          <a:p>
            <a:pPr>
              <a:buBlip>
                <a:blip r:embed="rId3"/>
              </a:buBlip>
            </a:pPr>
            <a:r>
              <a:rPr lang="en-US" altLang="zh-CN" dirty="0"/>
              <a:t>8.5.4 </a:t>
            </a:r>
            <a:r>
              <a:rPr lang="zh-CN" altLang="en-US" dirty="0"/>
              <a:t>设备驱动程序</a:t>
            </a:r>
            <a:endParaRPr lang="en-US" altLang="zh-CN" dirty="0"/>
          </a:p>
          <a:p>
            <a:pPr>
              <a:buBlip>
                <a:blip r:embed="rId3"/>
              </a:buBlip>
            </a:pPr>
            <a:r>
              <a:rPr lang="en-US" altLang="zh-CN" dirty="0"/>
              <a:t>8.5.5 </a:t>
            </a:r>
            <a:r>
              <a:rPr lang="zh-CN" altLang="en-US" dirty="0"/>
              <a:t>设备独立性软件</a:t>
            </a:r>
            <a:endParaRPr lang="en-US" altLang="zh-CN" dirty="0"/>
          </a:p>
          <a:p>
            <a:pPr>
              <a:buBlip>
                <a:blip r:embed="rId3"/>
              </a:buBlip>
            </a:pPr>
            <a:endParaRPr lang="en-US" altLang="zh-CN" dirty="0"/>
          </a:p>
          <a:p>
            <a:pPr>
              <a:buBlip>
                <a:blip r:embed="rId3"/>
              </a:buBlip>
            </a:pPr>
            <a:endParaRPr lang="en-US" altLang="zh-CN" dirty="0"/>
          </a:p>
        </p:txBody>
      </p:sp>
    </p:spTree>
    <p:custDataLst>
      <p:tags r:id="rId1"/>
    </p:custDataLst>
    <p:extLst>
      <p:ext uri="{BB962C8B-B14F-4D97-AF65-F5344CB8AC3E}">
        <p14:creationId xmlns:p14="http://schemas.microsoft.com/office/powerpoint/2010/main" val="282626856"/>
      </p:ext>
    </p:extLst>
  </p:cSld>
  <p:clrMapOvr>
    <a:masterClrMapping/>
  </p:clrMapOvr>
  <p:transition>
    <p:random/>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8.5 I/O</a:t>
            </a:r>
            <a:r>
              <a:rPr lang="zh-CN" altLang="zh-CN" dirty="0"/>
              <a:t>软件</a:t>
            </a:r>
            <a:endParaRPr lang="zh-CN" altLang="en-US" dirty="0"/>
          </a:p>
        </p:txBody>
      </p:sp>
      <p:sp>
        <p:nvSpPr>
          <p:cNvPr id="3" name="内容占位符 2"/>
          <p:cNvSpPr>
            <a:spLocks noGrp="1"/>
          </p:cNvSpPr>
          <p:nvPr>
            <p:ph idx="1"/>
          </p:nvPr>
        </p:nvSpPr>
        <p:spPr/>
        <p:txBody>
          <a:bodyPr/>
          <a:lstStyle/>
          <a:p>
            <a:r>
              <a:rPr lang="en-US" altLang="zh-CN" dirty="0"/>
              <a:t>I/O</a:t>
            </a:r>
            <a:r>
              <a:rPr lang="zh-CN" altLang="zh-CN" dirty="0"/>
              <a:t>软件是使用</a:t>
            </a:r>
            <a:r>
              <a:rPr lang="en-US" altLang="zh-CN" dirty="0"/>
              <a:t>I/O</a:t>
            </a:r>
            <a:r>
              <a:rPr lang="zh-CN" altLang="zh-CN" dirty="0"/>
              <a:t>设备，与</a:t>
            </a:r>
            <a:r>
              <a:rPr lang="en-US" altLang="zh-CN" dirty="0"/>
              <a:t>I/O</a:t>
            </a:r>
            <a:r>
              <a:rPr lang="zh-CN" altLang="zh-CN" dirty="0"/>
              <a:t>操作相关软件的集合。</a:t>
            </a:r>
          </a:p>
          <a:p>
            <a:endParaRPr lang="zh-CN" altLang="en-US" dirty="0"/>
          </a:p>
        </p:txBody>
      </p:sp>
    </p:spTree>
    <p:extLst>
      <p:ext uri="{BB962C8B-B14F-4D97-AF65-F5344CB8AC3E}">
        <p14:creationId xmlns:p14="http://schemas.microsoft.com/office/powerpoint/2010/main" val="3688524515"/>
      </p:ext>
    </p:extLst>
  </p:cSld>
  <p:clrMapOvr>
    <a:masterClrMapping/>
  </p:clrMapOvr>
  <p:transition>
    <p:random/>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zh-CN" dirty="0"/>
              <a:t>8.5.1 I/O软件的目标</a:t>
            </a:r>
            <a:endParaRPr lang="zh-CN" altLang="en-US" dirty="0"/>
          </a:p>
        </p:txBody>
      </p:sp>
      <p:sp>
        <p:nvSpPr>
          <p:cNvPr id="3" name="内容占位符 2"/>
          <p:cNvSpPr>
            <a:spLocks noGrp="1"/>
          </p:cNvSpPr>
          <p:nvPr>
            <p:ph idx="1"/>
          </p:nvPr>
        </p:nvSpPr>
        <p:spPr>
          <a:xfrm>
            <a:off x="2315210" y="1014095"/>
            <a:ext cx="7326630" cy="5022215"/>
          </a:xfrm>
        </p:spPr>
        <p:txBody>
          <a:bodyPr>
            <a:normAutofit/>
          </a:bodyPr>
          <a:lstStyle/>
          <a:p>
            <a:pPr marL="0" indent="0">
              <a:buNone/>
            </a:pPr>
            <a:r>
              <a:rPr lang="en-US" altLang="zh-CN" b="1" dirty="0"/>
              <a:t>1. </a:t>
            </a:r>
            <a:r>
              <a:rPr lang="zh-CN" altLang="zh-CN" b="1" dirty="0"/>
              <a:t>设备独立性</a:t>
            </a:r>
            <a:endParaRPr lang="zh-CN" altLang="zh-CN" dirty="0"/>
          </a:p>
          <a:p>
            <a:pPr marL="0" indent="0">
              <a:buNone/>
            </a:pPr>
            <a:r>
              <a:rPr lang="en-US" altLang="zh-CN" b="1" dirty="0"/>
              <a:t>2. </a:t>
            </a:r>
            <a:r>
              <a:rPr lang="zh-CN" altLang="zh-CN" b="1" dirty="0"/>
              <a:t>统一命名</a:t>
            </a:r>
            <a:endParaRPr lang="zh-CN" altLang="zh-CN" dirty="0"/>
          </a:p>
          <a:p>
            <a:pPr marL="0" indent="0">
              <a:buNone/>
            </a:pPr>
            <a:r>
              <a:rPr lang="en-US" altLang="zh-CN" b="1" dirty="0"/>
              <a:t>3. </a:t>
            </a:r>
            <a:r>
              <a:rPr lang="zh-CN" altLang="zh-CN" b="1" dirty="0"/>
              <a:t>错误处理</a:t>
            </a:r>
            <a:endParaRPr lang="en-US" altLang="zh-CN" b="1" dirty="0"/>
          </a:p>
          <a:p>
            <a:pPr marL="0" indent="0">
              <a:buNone/>
            </a:pPr>
            <a:r>
              <a:rPr lang="en-US" altLang="zh-CN" b="1" dirty="0"/>
              <a:t>4. </a:t>
            </a:r>
            <a:r>
              <a:rPr lang="zh-CN" altLang="en-US" b="1" dirty="0"/>
              <a:t>数据传输</a:t>
            </a:r>
            <a:endParaRPr lang="zh-CN" altLang="zh-CN" dirty="0"/>
          </a:p>
          <a:p>
            <a:pPr marL="0" indent="0">
              <a:buNone/>
            </a:pPr>
            <a:r>
              <a:rPr lang="en-US" altLang="zh-CN" b="1" dirty="0"/>
              <a:t>5. </a:t>
            </a:r>
            <a:r>
              <a:rPr lang="zh-CN" altLang="zh-CN" b="1" dirty="0"/>
              <a:t>缓冲</a:t>
            </a:r>
            <a:endParaRPr lang="zh-CN" altLang="zh-CN" dirty="0"/>
          </a:p>
          <a:p>
            <a:pPr marL="0" indent="0">
              <a:buNone/>
            </a:pPr>
            <a:r>
              <a:rPr lang="en-US" altLang="zh-CN" b="1" dirty="0"/>
              <a:t>6. </a:t>
            </a:r>
            <a:r>
              <a:rPr lang="zh-CN" altLang="zh-CN" b="1" dirty="0"/>
              <a:t>共享设备和独占设备</a:t>
            </a:r>
            <a:endParaRPr lang="zh-CN" altLang="zh-CN" dirty="0"/>
          </a:p>
          <a:p>
            <a:pPr marL="0" indent="0">
              <a:buNone/>
            </a:pPr>
            <a:endParaRPr lang="zh-CN" altLang="zh-CN" dirty="0"/>
          </a:p>
          <a:p>
            <a:pPr marL="0" indent="0">
              <a:buNone/>
            </a:pPr>
            <a:endParaRPr lang="zh-CN" altLang="en-US" dirty="0"/>
          </a:p>
        </p:txBody>
      </p:sp>
    </p:spTree>
    <p:extLst>
      <p:ext uri="{BB962C8B-B14F-4D97-AF65-F5344CB8AC3E}">
        <p14:creationId xmlns:p14="http://schemas.microsoft.com/office/powerpoint/2010/main" val="2609342491"/>
      </p:ext>
    </p:extLst>
  </p:cSld>
  <p:clrMapOvr>
    <a:masterClrMapping/>
  </p:clrMapOvr>
  <p:transition>
    <p:random/>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zh-CN" dirty="0"/>
              <a:t>8.5.2 I/O软件的层次结构</a:t>
            </a:r>
            <a:endParaRPr lang="zh-CN" altLang="en-US" dirty="0"/>
          </a:p>
        </p:txBody>
      </p:sp>
      <p:sp>
        <p:nvSpPr>
          <p:cNvPr id="3" name="内容占位符 2"/>
          <p:cNvSpPr>
            <a:spLocks noGrp="1"/>
          </p:cNvSpPr>
          <p:nvPr>
            <p:ph idx="1"/>
          </p:nvPr>
        </p:nvSpPr>
        <p:spPr/>
        <p:txBody>
          <a:bodyPr/>
          <a:lstStyle/>
          <a:p>
            <a:r>
              <a:rPr lang="en-US" altLang="zh-CN" dirty="0"/>
              <a:t>I/O</a:t>
            </a:r>
            <a:r>
              <a:rPr lang="zh-CN" altLang="zh-CN" dirty="0"/>
              <a:t>软件通常分为</a:t>
            </a:r>
            <a:r>
              <a:rPr lang="en-US" altLang="zh-CN" dirty="0"/>
              <a:t>4</a:t>
            </a:r>
            <a:r>
              <a:rPr lang="zh-CN" altLang="zh-CN" dirty="0"/>
              <a:t>个层次，从上往下依次是：用户级</a:t>
            </a:r>
            <a:r>
              <a:rPr lang="en-US" altLang="zh-CN" dirty="0"/>
              <a:t>I/O</a:t>
            </a:r>
            <a:r>
              <a:rPr lang="zh-CN" altLang="zh-CN" dirty="0"/>
              <a:t>软件、与设备无关的</a:t>
            </a:r>
            <a:r>
              <a:rPr lang="en-US" altLang="zh-CN" dirty="0"/>
              <a:t>I/O</a:t>
            </a:r>
            <a:r>
              <a:rPr lang="zh-CN" altLang="zh-CN" dirty="0"/>
              <a:t>软件、设备驱动程序、中断处理程序。如图</a:t>
            </a:r>
            <a:r>
              <a:rPr lang="en-US" altLang="zh-CN" dirty="0"/>
              <a:t>8-12</a:t>
            </a:r>
            <a:r>
              <a:rPr lang="zh-CN" altLang="zh-CN" dirty="0"/>
              <a:t>所示。</a:t>
            </a:r>
          </a:p>
          <a:p>
            <a:endParaRPr lang="zh-CN" altLang="en-US" dirty="0"/>
          </a:p>
        </p:txBody>
      </p:sp>
    </p:spTree>
    <p:extLst>
      <p:ext uri="{BB962C8B-B14F-4D97-AF65-F5344CB8AC3E}">
        <p14:creationId xmlns:p14="http://schemas.microsoft.com/office/powerpoint/2010/main" val="609158682"/>
      </p:ext>
    </p:extLst>
  </p:cSld>
  <p:clrMapOvr>
    <a:masterClrMapping/>
  </p:clrMapOvr>
  <p:transition>
    <p:random/>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12299" name="Picture 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0239" y="913810"/>
            <a:ext cx="11088931" cy="40069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 name="矩形 13"/>
          <p:cNvSpPr/>
          <p:nvPr/>
        </p:nvSpPr>
        <p:spPr>
          <a:xfrm>
            <a:off x="3876000" y="5134094"/>
            <a:ext cx="4150495" cy="461665"/>
          </a:xfrm>
          <a:prstGeom prst="rect">
            <a:avLst/>
          </a:prstGeom>
        </p:spPr>
        <p:txBody>
          <a:bodyPr wrap="none">
            <a:spAutoFit/>
          </a:bodyPr>
          <a:lstStyle/>
          <a:p>
            <a:r>
              <a:rPr lang="zh-CN" altLang="zh-CN" sz="2400" dirty="0"/>
              <a:t>图</a:t>
            </a:r>
            <a:r>
              <a:rPr lang="en-US" altLang="zh-CN" sz="2400" dirty="0"/>
              <a:t>8-12  I/O</a:t>
            </a:r>
            <a:r>
              <a:rPr lang="zh-CN" altLang="zh-CN" sz="2400" dirty="0"/>
              <a:t>软件的分层结构图</a:t>
            </a:r>
          </a:p>
        </p:txBody>
      </p:sp>
    </p:spTree>
    <p:extLst>
      <p:ext uri="{BB962C8B-B14F-4D97-AF65-F5344CB8AC3E}">
        <p14:creationId xmlns:p14="http://schemas.microsoft.com/office/powerpoint/2010/main" val="3702027770"/>
      </p:ext>
    </p:extLst>
  </p:cSld>
  <p:clrMapOvr>
    <a:masterClrMapping/>
  </p:clrMapOvr>
  <p:transition>
    <p:random/>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zh-CN" dirty="0"/>
              <a:t>8.5.3 中断处理程序</a:t>
            </a:r>
            <a:endParaRPr lang="zh-CN" altLang="en-US" dirty="0"/>
          </a:p>
        </p:txBody>
      </p:sp>
      <p:sp>
        <p:nvSpPr>
          <p:cNvPr id="3" name="内容占位符 2"/>
          <p:cNvSpPr>
            <a:spLocks noGrp="1"/>
          </p:cNvSpPr>
          <p:nvPr>
            <p:ph idx="1"/>
          </p:nvPr>
        </p:nvSpPr>
        <p:spPr/>
        <p:txBody>
          <a:bodyPr>
            <a:normAutofit/>
          </a:bodyPr>
          <a:lstStyle/>
          <a:p>
            <a:r>
              <a:rPr lang="zh-CN" altLang="zh-CN" dirty="0"/>
              <a:t>在设备控制器的控制下，</a:t>
            </a:r>
            <a:r>
              <a:rPr lang="en-US" altLang="zh-CN" dirty="0"/>
              <a:t>I/O</a:t>
            </a:r>
            <a:r>
              <a:rPr lang="zh-CN" altLang="zh-CN" dirty="0"/>
              <a:t>设备完成了</a:t>
            </a:r>
            <a:r>
              <a:rPr lang="en-US" altLang="zh-CN" dirty="0"/>
              <a:t>I/O</a:t>
            </a:r>
            <a:r>
              <a:rPr lang="zh-CN" altLang="zh-CN" dirty="0"/>
              <a:t>操作后，控制器向</a:t>
            </a:r>
            <a:r>
              <a:rPr lang="en-US" altLang="zh-CN" dirty="0"/>
              <a:t>CPU</a:t>
            </a:r>
            <a:r>
              <a:rPr lang="zh-CN" altLang="zh-CN" dirty="0"/>
              <a:t>发出一中断请求，</a:t>
            </a:r>
            <a:r>
              <a:rPr lang="en-US" altLang="zh-CN" dirty="0"/>
              <a:t>CPU</a:t>
            </a:r>
            <a:r>
              <a:rPr lang="zh-CN" altLang="zh-CN" dirty="0"/>
              <a:t>响应后便中止当前正在运行的程序，转向处理中断事件的程序段中去执行，这种处理中断的子程序就是中断处理程序，又称为中断服务程序。中断处理程序的处理过程</a:t>
            </a:r>
            <a:r>
              <a:rPr lang="zh-CN" altLang="en-US" dirty="0"/>
              <a:t>大致</a:t>
            </a:r>
            <a:r>
              <a:rPr lang="zh-CN" altLang="zh-CN" dirty="0"/>
              <a:t>包含了以下几个步骤：</a:t>
            </a:r>
          </a:p>
        </p:txBody>
      </p:sp>
    </p:spTree>
    <p:extLst>
      <p:ext uri="{BB962C8B-B14F-4D97-AF65-F5344CB8AC3E}">
        <p14:creationId xmlns:p14="http://schemas.microsoft.com/office/powerpoint/2010/main" val="3616613508"/>
      </p:ext>
    </p:extLst>
  </p:cSld>
  <p:clrMapOvr>
    <a:masterClrMapping/>
  </p:clrMapOvr>
  <p:transition>
    <p:random/>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zh-CN" dirty="0"/>
              <a:t>8.5.3 中断处理程序</a:t>
            </a:r>
            <a:endParaRPr lang="zh-CN" altLang="en-US" dirty="0"/>
          </a:p>
        </p:txBody>
      </p:sp>
      <p:sp>
        <p:nvSpPr>
          <p:cNvPr id="3" name="内容占位符 2"/>
          <p:cNvSpPr>
            <a:spLocks noGrp="1"/>
          </p:cNvSpPr>
          <p:nvPr>
            <p:ph idx="1"/>
          </p:nvPr>
        </p:nvSpPr>
        <p:spPr>
          <a:xfrm>
            <a:off x="608330" y="1227455"/>
            <a:ext cx="10968990" cy="1688465"/>
          </a:xfrm>
        </p:spPr>
        <p:txBody>
          <a:bodyPr>
            <a:normAutofit lnSpcReduction="10000"/>
          </a:bodyPr>
          <a:lstStyle/>
          <a:p>
            <a:pPr marL="0" indent="0">
              <a:buNone/>
            </a:pPr>
            <a:r>
              <a:rPr lang="zh-CN" altLang="zh-CN" dirty="0"/>
              <a:t>（</a:t>
            </a:r>
            <a:r>
              <a:rPr lang="en-US" altLang="zh-CN" dirty="0"/>
              <a:t>1</a:t>
            </a:r>
            <a:r>
              <a:rPr lang="zh-CN" altLang="zh-CN" dirty="0"/>
              <a:t>）首先，</a:t>
            </a:r>
            <a:r>
              <a:rPr lang="en-US" altLang="zh-CN" dirty="0"/>
              <a:t>CPU</a:t>
            </a:r>
            <a:r>
              <a:rPr lang="zh-CN" altLang="zh-CN" dirty="0"/>
              <a:t>检查响应中断的条件是否满足。</a:t>
            </a:r>
            <a:endParaRPr lang="en-US" altLang="zh-CN" dirty="0"/>
          </a:p>
          <a:p>
            <a:pPr marL="0" indent="0">
              <a:buNone/>
            </a:pPr>
            <a:r>
              <a:rPr lang="zh-CN" altLang="zh-CN" dirty="0"/>
              <a:t>（</a:t>
            </a:r>
            <a:r>
              <a:rPr lang="en-US" altLang="zh-CN" dirty="0"/>
              <a:t>2</a:t>
            </a:r>
            <a:r>
              <a:rPr lang="zh-CN" altLang="zh-CN" dirty="0"/>
              <a:t>）如果</a:t>
            </a:r>
            <a:r>
              <a:rPr lang="en-US" altLang="zh-CN" dirty="0"/>
              <a:t>CPU</a:t>
            </a:r>
            <a:r>
              <a:rPr lang="zh-CN" altLang="zh-CN" dirty="0"/>
              <a:t>响应中断，则</a:t>
            </a:r>
            <a:r>
              <a:rPr lang="en-US" altLang="zh-CN" dirty="0"/>
              <a:t>CPU</a:t>
            </a:r>
            <a:r>
              <a:rPr lang="zh-CN" altLang="zh-CN" dirty="0"/>
              <a:t>关中断，使其进入不可再次响应中断的状态。</a:t>
            </a:r>
            <a:endParaRPr lang="en-US" altLang="zh-CN" dirty="0"/>
          </a:p>
          <a:p>
            <a:pPr marL="0" indent="0">
              <a:buNone/>
            </a:pPr>
            <a:endParaRPr lang="zh-CN" altLang="zh-CN" dirty="0"/>
          </a:p>
        </p:txBody>
      </p:sp>
      <p:sp>
        <p:nvSpPr>
          <p:cNvPr id="4" name="内容占位符 2"/>
          <p:cNvSpPr txBox="1">
            <a:spLocks/>
          </p:cNvSpPr>
          <p:nvPr/>
        </p:nvSpPr>
        <p:spPr>
          <a:xfrm>
            <a:off x="608330" y="3117215"/>
            <a:ext cx="10968990" cy="1332865"/>
          </a:xfrm>
          <a:prstGeom prst="rect">
            <a:avLst/>
          </a:prstGeo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Clr>
                <a:srgbClr val="2094CE"/>
              </a:buClr>
              <a:buSzPct val="80000"/>
              <a:buFont typeface="Arial" panose="020B0604020202020204" pitchFamily="34" charset="0"/>
              <a:buChar char="►"/>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Clr>
                <a:srgbClr val="FF9800"/>
              </a:buClr>
              <a:buSzPct val="90000"/>
              <a:buFont typeface="Arial" panose="020B0604020202020204" pitchFamily="34" charset="0"/>
              <a:buChar char="♦"/>
              <a:tabLst>
                <a:tab pos="1609725" algn="l"/>
              </a:tabLst>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a:t>（</a:t>
            </a:r>
            <a:r>
              <a:rPr lang="en-US" altLang="zh-CN"/>
              <a:t>3</a:t>
            </a:r>
            <a:r>
              <a:rPr lang="zh-CN" altLang="en-US"/>
              <a:t>）保存被中断进程现场。</a:t>
            </a:r>
          </a:p>
          <a:p>
            <a:pPr marL="0" indent="0">
              <a:buNone/>
            </a:pPr>
            <a:r>
              <a:rPr lang="zh-CN" altLang="en-US"/>
              <a:t>（</a:t>
            </a:r>
            <a:r>
              <a:rPr lang="en-US" altLang="zh-CN"/>
              <a:t>4</a:t>
            </a:r>
            <a:r>
              <a:rPr lang="zh-CN" altLang="en-US"/>
              <a:t>）分析中断原因，调用中断处理子程序。</a:t>
            </a:r>
          </a:p>
        </p:txBody>
      </p:sp>
      <p:sp>
        <p:nvSpPr>
          <p:cNvPr id="5" name="内容占位符 2"/>
          <p:cNvSpPr txBox="1">
            <a:spLocks/>
          </p:cNvSpPr>
          <p:nvPr/>
        </p:nvSpPr>
        <p:spPr>
          <a:xfrm>
            <a:off x="608330" y="4590415"/>
            <a:ext cx="10968990" cy="1312545"/>
          </a:xfrm>
          <a:prstGeom prst="rect">
            <a:avLst/>
          </a:prstGeo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Clr>
                <a:srgbClr val="2094CE"/>
              </a:buClr>
              <a:buSzPct val="80000"/>
              <a:buFont typeface="Arial" panose="020B0604020202020204" pitchFamily="34" charset="0"/>
              <a:buChar char="►"/>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Clr>
                <a:srgbClr val="FF9800"/>
              </a:buClr>
              <a:buSzPct val="90000"/>
              <a:buFont typeface="Arial" panose="020B0604020202020204" pitchFamily="34" charset="0"/>
              <a:buChar char="♦"/>
              <a:tabLst>
                <a:tab pos="1609725" algn="l"/>
              </a:tabLst>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a:t>（</a:t>
            </a:r>
            <a:r>
              <a:rPr lang="en-US" altLang="zh-CN"/>
              <a:t>5</a:t>
            </a:r>
            <a:r>
              <a:rPr lang="zh-CN" altLang="en-US"/>
              <a:t>）执行中断处理子程序。</a:t>
            </a:r>
          </a:p>
          <a:p>
            <a:pPr marL="0" indent="0">
              <a:buNone/>
            </a:pPr>
            <a:r>
              <a:rPr lang="zh-CN" altLang="en-US"/>
              <a:t>（</a:t>
            </a:r>
            <a:r>
              <a:rPr lang="en-US" altLang="zh-CN"/>
              <a:t>6</a:t>
            </a:r>
            <a:r>
              <a:rPr lang="zh-CN" altLang="en-US"/>
              <a:t>）退出中断，恢复被中断进程的现场或调度新进程占据处理机。</a:t>
            </a:r>
          </a:p>
          <a:p>
            <a:pPr marL="0" indent="0">
              <a:buNone/>
            </a:pPr>
            <a:endParaRPr lang="zh-CN" altLang="en-US"/>
          </a:p>
        </p:txBody>
      </p:sp>
    </p:spTree>
    <p:extLst>
      <p:ext uri="{BB962C8B-B14F-4D97-AF65-F5344CB8AC3E}">
        <p14:creationId xmlns:p14="http://schemas.microsoft.com/office/powerpoint/2010/main" val="423472659"/>
      </p:ext>
    </p:extLst>
  </p:cSld>
  <p:clrMapOvr>
    <a:masterClrMapping/>
  </p:clrMapOvr>
  <p:transition>
    <p:random/>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zh-CN" dirty="0"/>
              <a:t>8.5.4 设备驱动程序</a:t>
            </a:r>
            <a:endParaRPr lang="zh-CN" altLang="en-US" dirty="0"/>
          </a:p>
        </p:txBody>
      </p:sp>
      <p:sp>
        <p:nvSpPr>
          <p:cNvPr id="3" name="内容占位符 2"/>
          <p:cNvSpPr>
            <a:spLocks noGrp="1"/>
          </p:cNvSpPr>
          <p:nvPr>
            <p:ph idx="1"/>
          </p:nvPr>
        </p:nvSpPr>
        <p:spPr/>
        <p:txBody>
          <a:bodyPr>
            <a:normAutofit/>
          </a:bodyPr>
          <a:lstStyle/>
          <a:p>
            <a:r>
              <a:rPr lang="zh-CN" altLang="zh-CN" dirty="0"/>
              <a:t>设备驱动程序与硬件直接相关，负责具体实现系统对设备发出的操作指令，驱动</a:t>
            </a:r>
            <a:r>
              <a:rPr lang="en-US" altLang="zh-CN" dirty="0"/>
              <a:t>I/O</a:t>
            </a:r>
            <a:r>
              <a:rPr lang="zh-CN" altLang="zh-CN" dirty="0"/>
              <a:t>设备工作的驱动程序。</a:t>
            </a:r>
          </a:p>
          <a:p>
            <a:r>
              <a:rPr lang="zh-CN" altLang="zh-CN" dirty="0"/>
              <a:t>通常，每一类设备配置一个设备驱动程序。</a:t>
            </a:r>
            <a:endParaRPr lang="en-US" altLang="zh-CN" dirty="0"/>
          </a:p>
        </p:txBody>
      </p:sp>
    </p:spTree>
    <p:extLst>
      <p:ext uri="{BB962C8B-B14F-4D97-AF65-F5344CB8AC3E}">
        <p14:creationId xmlns:p14="http://schemas.microsoft.com/office/powerpoint/2010/main" val="5751633"/>
      </p:ext>
    </p:extLst>
  </p:cSld>
  <p:clrMapOvr>
    <a:masterClrMapping/>
  </p:clrMapOvr>
  <p:transition>
    <p:random/>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zh-CN" dirty="0"/>
              <a:t>8.5.4 设备驱动程序</a:t>
            </a:r>
            <a:endParaRPr lang="zh-CN" altLang="en-US" dirty="0"/>
          </a:p>
        </p:txBody>
      </p:sp>
      <p:sp>
        <p:nvSpPr>
          <p:cNvPr id="3" name="内容占位符 2"/>
          <p:cNvSpPr>
            <a:spLocks noGrp="1"/>
          </p:cNvSpPr>
          <p:nvPr>
            <p:ph idx="1"/>
          </p:nvPr>
        </p:nvSpPr>
        <p:spPr/>
        <p:txBody>
          <a:bodyPr>
            <a:normAutofit/>
          </a:bodyPr>
          <a:lstStyle/>
          <a:p>
            <a:r>
              <a:rPr lang="zh-CN" altLang="zh-CN" dirty="0"/>
              <a:t>设备驱动程序向上层用户程序提供一组标准接口，设备具体的差别被设备驱动程序所封装，用于接收上层软件发来的抽象</a:t>
            </a:r>
            <a:r>
              <a:rPr lang="en-US" altLang="zh-CN" dirty="0"/>
              <a:t>I/O</a:t>
            </a:r>
            <a:r>
              <a:rPr lang="zh-CN" altLang="zh-CN" dirty="0"/>
              <a:t>要求，如</a:t>
            </a:r>
            <a:r>
              <a:rPr lang="en-US" altLang="zh-CN" dirty="0"/>
              <a:t>read</a:t>
            </a:r>
            <a:r>
              <a:rPr lang="zh-CN" altLang="zh-CN" dirty="0"/>
              <a:t>和</a:t>
            </a:r>
            <a:r>
              <a:rPr lang="en-US" altLang="zh-CN" dirty="0"/>
              <a:t>write</a:t>
            </a:r>
            <a:r>
              <a:rPr lang="zh-CN" altLang="zh-CN" dirty="0"/>
              <a:t>命令，转换为具体要求后，发送给设备控制器，控制</a:t>
            </a:r>
            <a:r>
              <a:rPr lang="en-US" altLang="zh-CN" dirty="0"/>
              <a:t>I/O</a:t>
            </a:r>
            <a:r>
              <a:rPr lang="zh-CN" altLang="zh-CN" dirty="0"/>
              <a:t>设备工作；它也将由设备控制器发来的信号传送给上层软件。</a:t>
            </a:r>
            <a:endParaRPr lang="zh-CN" altLang="en-US" dirty="0"/>
          </a:p>
        </p:txBody>
      </p:sp>
    </p:spTree>
    <p:extLst>
      <p:ext uri="{BB962C8B-B14F-4D97-AF65-F5344CB8AC3E}">
        <p14:creationId xmlns:p14="http://schemas.microsoft.com/office/powerpoint/2010/main" val="3032715665"/>
      </p:ext>
    </p:extLst>
  </p:cSld>
  <p:clrMapOvr>
    <a:masterClrMapping/>
  </p:clrMapOvr>
  <p:transition>
    <p:random/>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I/O</a:t>
            </a:r>
            <a:r>
              <a:rPr lang="zh-CN" altLang="zh-CN" dirty="0"/>
              <a:t>设备驱动程序具有如下功能 ：</a:t>
            </a:r>
            <a:endParaRPr lang="zh-CN" altLang="en-US" dirty="0"/>
          </a:p>
        </p:txBody>
      </p:sp>
      <p:sp>
        <p:nvSpPr>
          <p:cNvPr id="3" name="内容占位符 2"/>
          <p:cNvSpPr>
            <a:spLocks noGrp="1"/>
          </p:cNvSpPr>
          <p:nvPr>
            <p:ph idx="1"/>
          </p:nvPr>
        </p:nvSpPr>
        <p:spPr>
          <a:xfrm>
            <a:off x="418454" y="1227455"/>
            <a:ext cx="11360258" cy="2201545"/>
          </a:xfrm>
        </p:spPr>
        <p:txBody>
          <a:bodyPr>
            <a:normAutofit/>
          </a:bodyPr>
          <a:lstStyle/>
          <a:p>
            <a:pPr marL="0" indent="0">
              <a:buNone/>
            </a:pPr>
            <a:r>
              <a:rPr lang="zh-CN" altLang="zh-CN" dirty="0"/>
              <a:t>（</a:t>
            </a:r>
            <a:r>
              <a:rPr lang="en-US" altLang="zh-CN" dirty="0"/>
              <a:t>1</a:t>
            </a:r>
            <a:r>
              <a:rPr lang="zh-CN" altLang="zh-CN" dirty="0"/>
              <a:t>）接收由</a:t>
            </a:r>
            <a:r>
              <a:rPr lang="en-US" altLang="zh-CN" dirty="0"/>
              <a:t>I/O</a:t>
            </a:r>
            <a:r>
              <a:rPr lang="zh-CN" altLang="zh-CN" dirty="0"/>
              <a:t>进程发来的命令和参数，并将命令中的抽象要求转换为具体要求，例如，将磁盘块号转换为磁盘的盘面、磁道号及扇区号。</a:t>
            </a:r>
          </a:p>
          <a:p>
            <a:pPr marL="0" indent="0">
              <a:buNone/>
            </a:pPr>
            <a:r>
              <a:rPr lang="zh-CN" altLang="zh-CN" dirty="0"/>
              <a:t>（</a:t>
            </a:r>
            <a:r>
              <a:rPr lang="en-US" altLang="zh-CN" dirty="0"/>
              <a:t>2</a:t>
            </a:r>
            <a:r>
              <a:rPr lang="zh-CN" altLang="zh-CN" dirty="0"/>
              <a:t>）检查用户</a:t>
            </a:r>
            <a:r>
              <a:rPr lang="en-US" altLang="zh-CN" dirty="0"/>
              <a:t>I/O</a:t>
            </a:r>
            <a:r>
              <a:rPr lang="zh-CN" altLang="zh-CN" dirty="0"/>
              <a:t>请求的合法性，了解</a:t>
            </a:r>
            <a:r>
              <a:rPr lang="en-US" altLang="zh-CN" dirty="0"/>
              <a:t>I/O</a:t>
            </a:r>
            <a:r>
              <a:rPr lang="zh-CN" altLang="zh-CN" dirty="0"/>
              <a:t>设备的状态，传递有关参数，设置设备的工作方式。 </a:t>
            </a:r>
          </a:p>
        </p:txBody>
      </p:sp>
      <p:sp>
        <p:nvSpPr>
          <p:cNvPr id="4" name="内容占位符 2"/>
          <p:cNvSpPr txBox="1">
            <a:spLocks/>
          </p:cNvSpPr>
          <p:nvPr/>
        </p:nvSpPr>
        <p:spPr>
          <a:xfrm>
            <a:off x="486410" y="3320415"/>
            <a:ext cx="10968990" cy="1139825"/>
          </a:xfrm>
          <a:prstGeom prst="rect">
            <a:avLst/>
          </a:prstGeom>
        </p:spPr>
        <p:txBody>
          <a:bodyPr vert="horz" lIns="90000" tIns="46800" rIns="90000" bIns="46800" rtlCol="0">
            <a:normAutofit lnSpcReduction="10000"/>
          </a:bodyPr>
          <a:lstStyle>
            <a:lvl1pPr marL="228600" marR="0" lvl="0" indent="-228600" algn="l" defTabSz="914400" rtl="0" eaLnBrk="1" fontAlgn="auto" latinLnBrk="0" hangingPunct="1">
              <a:lnSpc>
                <a:spcPct val="130000"/>
              </a:lnSpc>
              <a:spcBef>
                <a:spcPts val="0"/>
              </a:spcBef>
              <a:spcAft>
                <a:spcPts val="1000"/>
              </a:spcAft>
              <a:buClr>
                <a:srgbClr val="2094CE"/>
              </a:buClr>
              <a:buSzPct val="80000"/>
              <a:buFont typeface="Arial" panose="020B0604020202020204" pitchFamily="34" charset="0"/>
              <a:buChar char="►"/>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Clr>
                <a:srgbClr val="FF9800"/>
              </a:buClr>
              <a:buSzPct val="90000"/>
              <a:buFont typeface="Arial" panose="020B0604020202020204" pitchFamily="34" charset="0"/>
              <a:buChar char="♦"/>
              <a:tabLst>
                <a:tab pos="1609725" algn="l"/>
              </a:tabLst>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a:t>（</a:t>
            </a:r>
            <a:r>
              <a:rPr lang="en-US" altLang="zh-CN"/>
              <a:t>3</a:t>
            </a:r>
            <a:r>
              <a:rPr lang="zh-CN" altLang="en-US"/>
              <a:t>）发出</a:t>
            </a:r>
            <a:r>
              <a:rPr lang="en-US" altLang="zh-CN"/>
              <a:t>I/O</a:t>
            </a:r>
            <a:r>
              <a:rPr lang="zh-CN" altLang="en-US"/>
              <a:t>命令。如果设备是空闲的，则立即启动设备去完成指定的</a:t>
            </a:r>
            <a:r>
              <a:rPr lang="en-US" altLang="zh-CN"/>
              <a:t>I/O</a:t>
            </a:r>
            <a:r>
              <a:rPr lang="zh-CN" altLang="en-US"/>
              <a:t>操作；如果设备处于忙碌状态，则将请求者的</a:t>
            </a:r>
            <a:r>
              <a:rPr lang="en-US" altLang="zh-CN"/>
              <a:t>PCB</a:t>
            </a:r>
            <a:r>
              <a:rPr lang="zh-CN" altLang="en-US"/>
              <a:t>挂在设备队列上等待。</a:t>
            </a:r>
          </a:p>
          <a:p>
            <a:pPr marL="0" indent="0">
              <a:buNone/>
            </a:pPr>
            <a:endParaRPr lang="zh-CN" altLang="en-US"/>
          </a:p>
        </p:txBody>
      </p:sp>
      <p:sp>
        <p:nvSpPr>
          <p:cNvPr id="5" name="内容占位符 2">
            <a:extLst>
              <a:ext uri="{FF2B5EF4-FFF2-40B4-BE49-F238E27FC236}">
                <a16:creationId xmlns:a16="http://schemas.microsoft.com/office/drawing/2014/main" id="{3088095D-35F9-D46A-898D-49196FD7D2AD}"/>
              </a:ext>
            </a:extLst>
          </p:cNvPr>
          <p:cNvSpPr txBox="1">
            <a:spLocks/>
          </p:cNvSpPr>
          <p:nvPr/>
        </p:nvSpPr>
        <p:spPr>
          <a:xfrm>
            <a:off x="506730" y="4366895"/>
            <a:ext cx="10968990" cy="2201545"/>
          </a:xfrm>
          <a:prstGeom prst="rect">
            <a:avLst/>
          </a:prstGeom>
        </p:spPr>
        <p:txBody>
          <a:bodyPr vert="horz" lIns="90000" tIns="46800" rIns="90000" bIns="46800" rtlCol="0">
            <a:normAutofit lnSpcReduction="10000"/>
          </a:bodyPr>
          <a:lstStyle>
            <a:lvl1pPr marL="228600" marR="0" lvl="0" indent="-228600" algn="l" defTabSz="914400" rtl="0" eaLnBrk="1" fontAlgn="auto" latinLnBrk="0" hangingPunct="1">
              <a:lnSpc>
                <a:spcPct val="130000"/>
              </a:lnSpc>
              <a:spcBef>
                <a:spcPts val="0"/>
              </a:spcBef>
              <a:spcAft>
                <a:spcPts val="1000"/>
              </a:spcAft>
              <a:buClr>
                <a:srgbClr val="2094CE"/>
              </a:buClr>
              <a:buSzPct val="80000"/>
              <a:buFont typeface="Arial" panose="020B0604020202020204" pitchFamily="34" charset="0"/>
              <a:buChar char="►"/>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Clr>
                <a:srgbClr val="FF9800"/>
              </a:buClr>
              <a:buSzPct val="90000"/>
              <a:buFont typeface="Arial" panose="020B0604020202020204" pitchFamily="34" charset="0"/>
              <a:buChar char="♦"/>
              <a:tabLst>
                <a:tab pos="1609725" algn="l"/>
              </a:tabLst>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a:t>（</a:t>
            </a:r>
            <a:r>
              <a:rPr lang="en-US" altLang="zh-CN"/>
              <a:t>4</a:t>
            </a:r>
            <a:r>
              <a:rPr lang="zh-CN" altLang="en-US"/>
              <a:t>）响应由控制器或通道发来的中断请求，并根据中断类型转到相应的中断处理程序进行处理。</a:t>
            </a:r>
          </a:p>
          <a:p>
            <a:pPr marL="0" indent="0">
              <a:buNone/>
            </a:pPr>
            <a:r>
              <a:rPr lang="zh-CN" altLang="en-US"/>
              <a:t>（</a:t>
            </a:r>
            <a:r>
              <a:rPr lang="en-US" altLang="zh-CN"/>
              <a:t>5</a:t>
            </a:r>
            <a:r>
              <a:rPr lang="zh-CN" altLang="en-US"/>
              <a:t>）对于设置有通道的计算机系统，</a:t>
            </a:r>
            <a:r>
              <a:rPr lang="en-US" altLang="zh-CN"/>
              <a:t>I/O</a:t>
            </a:r>
            <a:r>
              <a:rPr lang="zh-CN" altLang="en-US"/>
              <a:t>操作是由通道执行通道程序来完成的，驱动程序还应能够根据用户的</a:t>
            </a:r>
            <a:r>
              <a:rPr lang="en-US" altLang="zh-CN"/>
              <a:t>I/O</a:t>
            </a:r>
            <a:r>
              <a:rPr lang="zh-CN" altLang="en-US"/>
              <a:t>请求，自动地构成通道程序。 </a:t>
            </a:r>
          </a:p>
          <a:p>
            <a:pPr marL="0" indent="0">
              <a:buNone/>
            </a:pPr>
            <a:endParaRPr lang="zh-CN" altLang="en-US"/>
          </a:p>
        </p:txBody>
      </p:sp>
    </p:spTree>
    <p:extLst>
      <p:ext uri="{BB962C8B-B14F-4D97-AF65-F5344CB8AC3E}">
        <p14:creationId xmlns:p14="http://schemas.microsoft.com/office/powerpoint/2010/main" val="3970773153"/>
      </p:ext>
    </p:extLst>
  </p:cSld>
  <p:clrMapOvr>
    <a:masterClrMapping/>
  </p:clrMapOvr>
  <p:transition>
    <p:random/>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zh-CN" dirty="0"/>
              <a:t>8.5.5 设备独立性软件</a:t>
            </a:r>
            <a:endParaRPr lang="zh-CN" altLang="en-US" dirty="0"/>
          </a:p>
        </p:txBody>
      </p:sp>
      <p:sp>
        <p:nvSpPr>
          <p:cNvPr id="3" name="内容占位符 2"/>
          <p:cNvSpPr>
            <a:spLocks noGrp="1"/>
          </p:cNvSpPr>
          <p:nvPr>
            <p:ph idx="1"/>
          </p:nvPr>
        </p:nvSpPr>
        <p:spPr/>
        <p:txBody>
          <a:bodyPr>
            <a:normAutofit/>
          </a:bodyPr>
          <a:lstStyle/>
          <a:p>
            <a:r>
              <a:rPr lang="zh-CN" altLang="zh-CN" dirty="0"/>
              <a:t>设备独立性也称设备无关性，其基本含义是：</a:t>
            </a:r>
            <a:r>
              <a:rPr lang="zh-CN" altLang="zh-CN" dirty="0">
                <a:solidFill>
                  <a:srgbClr val="0000FF"/>
                </a:solidFill>
              </a:rPr>
              <a:t>应用程序独立于具体使用的物理设备</a:t>
            </a:r>
            <a:r>
              <a:rPr lang="zh-CN" altLang="zh-CN" dirty="0"/>
              <a:t>。为了实现设备独立性而引入了逻辑设备和物理设备这两个概念。在应用程序中，使用逻辑设备名称来请求使用某类设备；而系统在实际执行时，必须使用物理设备名称。因此，系统须具有</a:t>
            </a:r>
            <a:r>
              <a:rPr lang="zh-CN" altLang="zh-CN" dirty="0">
                <a:solidFill>
                  <a:srgbClr val="0000FF"/>
                </a:solidFill>
              </a:rPr>
              <a:t>将逻辑设备名称转换为某物理设备名称</a:t>
            </a:r>
            <a:r>
              <a:rPr lang="zh-CN" altLang="zh-CN" dirty="0"/>
              <a:t>的功能。</a:t>
            </a:r>
          </a:p>
          <a:p>
            <a:endParaRPr lang="zh-CN" altLang="en-US" dirty="0"/>
          </a:p>
        </p:txBody>
      </p:sp>
    </p:spTree>
    <p:extLst>
      <p:ext uri="{BB962C8B-B14F-4D97-AF65-F5344CB8AC3E}">
        <p14:creationId xmlns:p14="http://schemas.microsoft.com/office/powerpoint/2010/main" val="2643224854"/>
      </p:ext>
    </p:extLst>
  </p:cSld>
  <p:clrMapOvr>
    <a:masterClrMapping/>
  </p:clrMapOvr>
  <p:transition>
    <p:random/>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zh-CN" dirty="0"/>
              <a:t>设备独立性软件，其主要功能有如下两个方面：</a:t>
            </a:r>
            <a:endParaRPr lang="zh-CN" altLang="en-US" dirty="0"/>
          </a:p>
        </p:txBody>
      </p:sp>
      <p:sp>
        <p:nvSpPr>
          <p:cNvPr id="3" name="内容占位符 2"/>
          <p:cNvSpPr>
            <a:spLocks noGrp="1"/>
          </p:cNvSpPr>
          <p:nvPr>
            <p:ph idx="1"/>
          </p:nvPr>
        </p:nvSpPr>
        <p:spPr>
          <a:xfrm>
            <a:off x="608330" y="1227455"/>
            <a:ext cx="10968990" cy="3679825"/>
          </a:xfrm>
        </p:spPr>
        <p:txBody>
          <a:bodyPr>
            <a:normAutofit/>
          </a:bodyPr>
          <a:lstStyle/>
          <a:p>
            <a:pPr marL="0" indent="0">
              <a:buNone/>
            </a:pPr>
            <a:r>
              <a:rPr lang="zh-CN" altLang="zh-CN" dirty="0"/>
              <a:t>（</a:t>
            </a:r>
            <a:r>
              <a:rPr lang="en-US" altLang="zh-CN" dirty="0"/>
              <a:t>1</a:t>
            </a:r>
            <a:r>
              <a:rPr lang="zh-CN" altLang="zh-CN" dirty="0"/>
              <a:t>）执行所有设备的公有操作。</a:t>
            </a:r>
          </a:p>
          <a:p>
            <a:pPr marL="0" indent="0">
              <a:buNone/>
            </a:pPr>
            <a:r>
              <a:rPr lang="en-US" altLang="zh-CN" dirty="0"/>
              <a:t>①</a:t>
            </a:r>
            <a:r>
              <a:rPr lang="zh-CN" altLang="zh-CN" dirty="0"/>
              <a:t>独立设备的分配与回收；</a:t>
            </a:r>
          </a:p>
          <a:p>
            <a:pPr marL="0" indent="0">
              <a:buNone/>
            </a:pPr>
            <a:r>
              <a:rPr lang="en-US" altLang="zh-CN" dirty="0"/>
              <a:t>②</a:t>
            </a:r>
            <a:r>
              <a:rPr lang="zh-CN" altLang="zh-CN" dirty="0"/>
              <a:t>将逻辑设备名映射为物理设备名，进一步可以找到相应物理设备的驱动程序；</a:t>
            </a:r>
          </a:p>
          <a:p>
            <a:pPr marL="0" indent="0">
              <a:buNone/>
            </a:pPr>
            <a:r>
              <a:rPr lang="en-US" altLang="zh-CN" dirty="0"/>
              <a:t>③</a:t>
            </a:r>
            <a:r>
              <a:rPr lang="zh-CN" altLang="zh-CN" dirty="0"/>
              <a:t>对设备进行保护，禁止用户直接访问设备；</a:t>
            </a:r>
          </a:p>
        </p:txBody>
      </p:sp>
    </p:spTree>
    <p:extLst>
      <p:ext uri="{BB962C8B-B14F-4D97-AF65-F5344CB8AC3E}">
        <p14:creationId xmlns:p14="http://schemas.microsoft.com/office/powerpoint/2010/main" val="3754331438"/>
      </p:ext>
    </p:extLst>
  </p:cSld>
  <p:clrMapOvr>
    <a:masterClrMapping/>
  </p:clrMapOvr>
  <p:transition>
    <p:random/>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zh-CN" dirty="0"/>
              <a:t>设备独立性软件，其主要功能有如下两个方面：</a:t>
            </a:r>
            <a:endParaRPr lang="zh-CN" altLang="en-US" dirty="0"/>
          </a:p>
        </p:txBody>
      </p:sp>
      <p:sp>
        <p:nvSpPr>
          <p:cNvPr id="3" name="内容占位符 2"/>
          <p:cNvSpPr>
            <a:spLocks noGrp="1"/>
          </p:cNvSpPr>
          <p:nvPr>
            <p:ph idx="1"/>
          </p:nvPr>
        </p:nvSpPr>
        <p:spPr/>
        <p:txBody>
          <a:bodyPr>
            <a:normAutofit/>
          </a:bodyPr>
          <a:lstStyle/>
          <a:p>
            <a:pPr marL="0" indent="0">
              <a:buNone/>
            </a:pPr>
            <a:r>
              <a:rPr lang="en-US" altLang="zh-CN" dirty="0"/>
              <a:t>④</a:t>
            </a:r>
            <a:r>
              <a:rPr lang="zh-CN" altLang="zh-CN" dirty="0"/>
              <a:t>缓冲管理。对字符设备和块设备的缓冲区进行有效管理，以提高</a:t>
            </a:r>
            <a:r>
              <a:rPr lang="en-US" altLang="zh-CN" dirty="0"/>
              <a:t>I/O</a:t>
            </a:r>
            <a:r>
              <a:rPr lang="zh-CN" altLang="zh-CN" dirty="0"/>
              <a:t>的效率；</a:t>
            </a:r>
          </a:p>
          <a:p>
            <a:pPr marL="0" indent="0">
              <a:buNone/>
            </a:pPr>
            <a:r>
              <a:rPr lang="en-US" altLang="zh-CN" dirty="0"/>
              <a:t>⑤</a:t>
            </a:r>
            <a:r>
              <a:rPr lang="zh-CN" altLang="zh-CN" dirty="0"/>
              <a:t>差错控制。由于在</a:t>
            </a:r>
            <a:r>
              <a:rPr lang="en-US" altLang="zh-CN" dirty="0"/>
              <a:t>I/O</a:t>
            </a:r>
            <a:r>
              <a:rPr lang="zh-CN" altLang="zh-CN" dirty="0"/>
              <a:t>操作中的绝大多数错误都与设备有关，故主要由设备驱动程序处理，而设备独立性软件只处理那些设备驱动程序无法处理的错误。</a:t>
            </a:r>
          </a:p>
        </p:txBody>
      </p:sp>
    </p:spTree>
    <p:extLst>
      <p:ext uri="{BB962C8B-B14F-4D97-AF65-F5344CB8AC3E}">
        <p14:creationId xmlns:p14="http://schemas.microsoft.com/office/powerpoint/2010/main" val="1493128054"/>
      </p:ext>
    </p:extLst>
  </p:cSld>
  <p:clrMapOvr>
    <a:masterClrMapping/>
  </p:clrMapOvr>
  <p:transition>
    <p:random/>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zh-CN" dirty="0"/>
              <a:t>设备独立性软件，其主要功能有如下两个方面：</a:t>
            </a:r>
            <a:endParaRPr lang="zh-CN" altLang="en-US" dirty="0"/>
          </a:p>
        </p:txBody>
      </p:sp>
      <p:sp>
        <p:nvSpPr>
          <p:cNvPr id="3" name="内容占位符 2"/>
          <p:cNvSpPr>
            <a:spLocks noGrp="1"/>
          </p:cNvSpPr>
          <p:nvPr>
            <p:ph idx="1"/>
          </p:nvPr>
        </p:nvSpPr>
        <p:spPr/>
        <p:txBody>
          <a:bodyPr>
            <a:normAutofit/>
          </a:bodyPr>
          <a:lstStyle/>
          <a:p>
            <a:r>
              <a:rPr lang="zh-CN" altLang="zh-CN" dirty="0"/>
              <a:t>（</a:t>
            </a:r>
            <a:r>
              <a:rPr lang="en-US" altLang="zh-CN" dirty="0"/>
              <a:t>2</a:t>
            </a:r>
            <a:r>
              <a:rPr lang="zh-CN" altLang="zh-CN" dirty="0"/>
              <a:t>）向用户层（或文件层）软件提供统一的接口。</a:t>
            </a:r>
          </a:p>
          <a:p>
            <a:r>
              <a:rPr lang="zh-CN" altLang="zh-CN" dirty="0"/>
              <a:t>无论何种设备，它们向用户所提供的接口是相同的。如：对各种设备的读操作，在应用程序中都使用</a:t>
            </a:r>
            <a:r>
              <a:rPr lang="en-US" altLang="zh-CN" dirty="0"/>
              <a:t>read</a:t>
            </a:r>
            <a:r>
              <a:rPr lang="zh-CN" altLang="zh-CN" dirty="0"/>
              <a:t>，而对各种设备的写操作，则都使用</a:t>
            </a:r>
            <a:r>
              <a:rPr lang="en-US" altLang="zh-CN" dirty="0"/>
              <a:t>write</a:t>
            </a:r>
            <a:r>
              <a:rPr lang="zh-CN" altLang="zh-CN" dirty="0"/>
              <a:t>。</a:t>
            </a:r>
          </a:p>
          <a:p>
            <a:endParaRPr lang="zh-CN" altLang="en-US" dirty="0"/>
          </a:p>
        </p:txBody>
      </p:sp>
    </p:spTree>
    <p:extLst>
      <p:ext uri="{BB962C8B-B14F-4D97-AF65-F5344CB8AC3E}">
        <p14:creationId xmlns:p14="http://schemas.microsoft.com/office/powerpoint/2010/main" val="1847379221"/>
      </p:ext>
    </p:extLst>
  </p:cSld>
  <p:clrMapOvr>
    <a:masterClrMapping/>
  </p:clrMapOvr>
  <p:transition>
    <p:random/>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76325" y="114300"/>
            <a:ext cx="9387205" cy="705485"/>
          </a:xfrm>
        </p:spPr>
        <p:txBody>
          <a:bodyPr/>
          <a:lstStyle/>
          <a:p>
            <a:pPr algn="ctr"/>
            <a:r>
              <a:rPr lang="en-US" altLang="zh-CN" dirty="0"/>
              <a:t>8.6 </a:t>
            </a:r>
            <a:r>
              <a:rPr lang="zh-CN" altLang="en-US" dirty="0"/>
              <a:t>磁盘调度和管理</a:t>
            </a:r>
            <a:endParaRPr lang="en-US" altLang="zh-CN" dirty="0"/>
          </a:p>
        </p:txBody>
      </p:sp>
      <p:sp>
        <p:nvSpPr>
          <p:cNvPr id="3" name="内容占位符 2"/>
          <p:cNvSpPr>
            <a:spLocks noGrp="1"/>
          </p:cNvSpPr>
          <p:nvPr>
            <p:ph idx="1"/>
          </p:nvPr>
        </p:nvSpPr>
        <p:spPr>
          <a:xfrm>
            <a:off x="2845598" y="1211957"/>
            <a:ext cx="5337704" cy="2839182"/>
          </a:xfrm>
        </p:spPr>
        <p:txBody>
          <a:bodyPr>
            <a:normAutofit/>
          </a:bodyPr>
          <a:lstStyle/>
          <a:p>
            <a:pPr>
              <a:buBlip>
                <a:blip r:embed="rId3"/>
              </a:buBlip>
            </a:pPr>
            <a:r>
              <a:rPr lang="en-US" altLang="zh-CN" sz="2800" dirty="0"/>
              <a:t>8.6.1 </a:t>
            </a:r>
            <a:r>
              <a:rPr lang="zh-CN" altLang="en-US" sz="2800" dirty="0"/>
              <a:t>磁盘物理特性</a:t>
            </a:r>
            <a:endParaRPr lang="en-US" altLang="zh-CN" sz="2800" dirty="0"/>
          </a:p>
          <a:p>
            <a:pPr>
              <a:buBlip>
                <a:blip r:embed="rId3"/>
              </a:buBlip>
            </a:pPr>
            <a:r>
              <a:rPr lang="en-US" altLang="zh-CN" sz="2800" dirty="0"/>
              <a:t>8.6.2 </a:t>
            </a:r>
            <a:r>
              <a:rPr lang="zh-CN" altLang="en-US" sz="2800" dirty="0"/>
              <a:t>磁盘调度算法</a:t>
            </a:r>
            <a:endParaRPr lang="en-US" altLang="zh-CN" sz="2800" dirty="0"/>
          </a:p>
          <a:p>
            <a:pPr>
              <a:buBlip>
                <a:blip r:embed="rId3"/>
              </a:buBlip>
            </a:pPr>
            <a:r>
              <a:rPr lang="en-US" altLang="zh-CN" sz="2800" dirty="0"/>
              <a:t>8.6.3 </a:t>
            </a:r>
            <a:r>
              <a:rPr lang="zh-CN" altLang="en-US" sz="2800" dirty="0"/>
              <a:t>磁盘高速缓存</a:t>
            </a:r>
            <a:endParaRPr lang="en-US" altLang="zh-CN" sz="2800" dirty="0"/>
          </a:p>
          <a:p>
            <a:pPr>
              <a:buBlip>
                <a:blip r:embed="rId3"/>
              </a:buBlip>
            </a:pPr>
            <a:endParaRPr lang="en-US" altLang="zh-CN" sz="2800" dirty="0"/>
          </a:p>
          <a:p>
            <a:pPr>
              <a:buBlip>
                <a:blip r:embed="rId3"/>
              </a:buBlip>
            </a:pPr>
            <a:endParaRPr lang="en-US" altLang="zh-CN" sz="2800" dirty="0"/>
          </a:p>
        </p:txBody>
      </p:sp>
    </p:spTree>
    <p:custDataLst>
      <p:tags r:id="rId1"/>
    </p:custDataLst>
    <p:extLst>
      <p:ext uri="{BB962C8B-B14F-4D97-AF65-F5344CB8AC3E}">
        <p14:creationId xmlns:p14="http://schemas.microsoft.com/office/powerpoint/2010/main" val="282626856"/>
      </p:ext>
    </p:extLst>
  </p:cSld>
  <p:clrMapOvr>
    <a:masterClrMapping/>
  </p:clrMapOvr>
  <p:transition>
    <p:random/>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图片 407" descr="磁盘驱动器的结构"/>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0991" y="1578975"/>
            <a:ext cx="4439920" cy="41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矩形 3"/>
          <p:cNvSpPr/>
          <p:nvPr/>
        </p:nvSpPr>
        <p:spPr>
          <a:xfrm>
            <a:off x="1384141" y="5893543"/>
            <a:ext cx="3656770" cy="461665"/>
          </a:xfrm>
          <a:prstGeom prst="rect">
            <a:avLst/>
          </a:prstGeom>
        </p:spPr>
        <p:txBody>
          <a:bodyPr wrap="none">
            <a:spAutoFit/>
          </a:bodyPr>
          <a:lstStyle/>
          <a:p>
            <a:r>
              <a:rPr lang="zh-CN" altLang="zh-CN" sz="2400" dirty="0"/>
              <a:t>图</a:t>
            </a:r>
            <a:r>
              <a:rPr lang="en-US" altLang="zh-CN" sz="2400" dirty="0"/>
              <a:t>8-13 </a:t>
            </a:r>
            <a:r>
              <a:rPr lang="zh-CN" altLang="zh-CN" sz="2400" dirty="0"/>
              <a:t>磁盘驱动器的结构</a:t>
            </a:r>
          </a:p>
        </p:txBody>
      </p:sp>
      <p:pic>
        <p:nvPicPr>
          <p:cNvPr id="5" name="图片 406" descr="磁盘的数据布局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51969" y="1372000"/>
            <a:ext cx="4879340" cy="411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p:cNvSpPr/>
          <p:nvPr/>
        </p:nvSpPr>
        <p:spPr>
          <a:xfrm>
            <a:off x="5959622" y="5893542"/>
            <a:ext cx="3264035" cy="461665"/>
          </a:xfrm>
          <a:prstGeom prst="rect">
            <a:avLst/>
          </a:prstGeom>
        </p:spPr>
        <p:txBody>
          <a:bodyPr wrap="none">
            <a:spAutoFit/>
          </a:bodyPr>
          <a:lstStyle/>
          <a:p>
            <a:r>
              <a:rPr lang="zh-CN" altLang="zh-CN" sz="2400" dirty="0"/>
              <a:t>图</a:t>
            </a:r>
            <a:r>
              <a:rPr lang="en-US" altLang="zh-CN" sz="2400" dirty="0"/>
              <a:t>8-14</a:t>
            </a:r>
            <a:r>
              <a:rPr lang="zh-CN" altLang="zh-CN" sz="2400" dirty="0"/>
              <a:t>磁盘的数据布局</a:t>
            </a:r>
            <a:endParaRPr lang="zh-CN" altLang="en-US" sz="2400" dirty="0"/>
          </a:p>
        </p:txBody>
      </p:sp>
      <p:sp>
        <p:nvSpPr>
          <p:cNvPr id="7" name="标题 1">
            <a:extLst>
              <a:ext uri="{FF2B5EF4-FFF2-40B4-BE49-F238E27FC236}">
                <a16:creationId xmlns:a16="http://schemas.microsoft.com/office/drawing/2014/main" id="{5C44B4CE-8FBB-40BE-BD86-9BB3D9E705B8}"/>
              </a:ext>
            </a:extLst>
          </p:cNvPr>
          <p:cNvSpPr>
            <a:spLocks noGrp="1"/>
          </p:cNvSpPr>
          <p:nvPr>
            <p:ph type="title"/>
          </p:nvPr>
        </p:nvSpPr>
        <p:spPr>
          <a:xfrm>
            <a:off x="1076395" y="114370"/>
            <a:ext cx="10969200" cy="705600"/>
          </a:xfrm>
        </p:spPr>
        <p:txBody>
          <a:bodyPr>
            <a:normAutofit/>
          </a:bodyPr>
          <a:lstStyle/>
          <a:p>
            <a:r>
              <a:rPr lang="zh-CN" altLang="zh-CN" dirty="0"/>
              <a:t>8.6.1 磁盘物理特性</a:t>
            </a:r>
            <a:endParaRPr lang="zh-CN" altLang="en-US" dirty="0"/>
          </a:p>
        </p:txBody>
      </p:sp>
      <p:sp>
        <p:nvSpPr>
          <p:cNvPr id="6" name="文本框 5">
            <a:extLst>
              <a:ext uri="{FF2B5EF4-FFF2-40B4-BE49-F238E27FC236}">
                <a16:creationId xmlns:a16="http://schemas.microsoft.com/office/drawing/2014/main" id="{D8AF6803-29CB-4E95-A2E1-7871788B5490}"/>
              </a:ext>
            </a:extLst>
          </p:cNvPr>
          <p:cNvSpPr txBox="1"/>
          <p:nvPr/>
        </p:nvSpPr>
        <p:spPr>
          <a:xfrm>
            <a:off x="277741" y="965996"/>
            <a:ext cx="3345134" cy="461665"/>
          </a:xfrm>
          <a:prstGeom prst="rect">
            <a:avLst/>
          </a:prstGeom>
          <a:noFill/>
        </p:spPr>
        <p:txBody>
          <a:bodyPr wrap="square" rtlCol="0">
            <a:spAutoFit/>
          </a:bodyPr>
          <a:lstStyle/>
          <a:p>
            <a:r>
              <a:rPr lang="en-US" altLang="zh-CN" sz="2400" b="1" dirty="0"/>
              <a:t>1. </a:t>
            </a:r>
            <a:r>
              <a:rPr lang="zh-CN" altLang="zh-CN" sz="2400" b="1" dirty="0"/>
              <a:t>数据的组织和格式</a:t>
            </a:r>
            <a:endParaRPr lang="zh-CN" altLang="zh-CN" sz="2400" dirty="0"/>
          </a:p>
        </p:txBody>
      </p:sp>
      <p:sp>
        <p:nvSpPr>
          <p:cNvPr id="2" name="文本框 1">
            <a:extLst>
              <a:ext uri="{FF2B5EF4-FFF2-40B4-BE49-F238E27FC236}">
                <a16:creationId xmlns:a16="http://schemas.microsoft.com/office/drawing/2014/main" id="{2CD3B7D1-DD97-640D-EA42-F3CACD4B1EB2}"/>
              </a:ext>
            </a:extLst>
          </p:cNvPr>
          <p:cNvSpPr txBox="1"/>
          <p:nvPr/>
        </p:nvSpPr>
        <p:spPr>
          <a:xfrm>
            <a:off x="10193806" y="1046880"/>
            <a:ext cx="1851789" cy="2031325"/>
          </a:xfrm>
          <a:prstGeom prst="rect">
            <a:avLst/>
          </a:prstGeom>
          <a:noFill/>
        </p:spPr>
        <p:txBody>
          <a:bodyPr wrap="none" rtlCol="0">
            <a:spAutoFit/>
          </a:bodyPr>
          <a:lstStyle/>
          <a:p>
            <a:r>
              <a:rPr lang="en-US" altLang="zh-CN" dirty="0">
                <a:solidFill>
                  <a:srgbClr val="7030A0"/>
                </a:solidFill>
              </a:rPr>
              <a:t>500-2000</a:t>
            </a:r>
            <a:r>
              <a:rPr lang="zh-CN" altLang="en-US" dirty="0">
                <a:solidFill>
                  <a:srgbClr val="7030A0"/>
                </a:solidFill>
              </a:rPr>
              <a:t>条磁道</a:t>
            </a:r>
            <a:endParaRPr lang="en-US" altLang="zh-CN" dirty="0">
              <a:solidFill>
                <a:srgbClr val="7030A0"/>
              </a:solidFill>
            </a:endParaRPr>
          </a:p>
          <a:p>
            <a:endParaRPr lang="en-US" altLang="zh-CN" dirty="0">
              <a:solidFill>
                <a:srgbClr val="7030A0"/>
              </a:solidFill>
            </a:endParaRPr>
          </a:p>
          <a:p>
            <a:r>
              <a:rPr lang="zh-CN" altLang="en-US" dirty="0">
                <a:solidFill>
                  <a:srgbClr val="7030A0"/>
                </a:solidFill>
              </a:rPr>
              <a:t>每磁道容量一样</a:t>
            </a:r>
            <a:endParaRPr lang="en-US" altLang="zh-CN" dirty="0">
              <a:solidFill>
                <a:srgbClr val="7030A0"/>
              </a:solidFill>
            </a:endParaRPr>
          </a:p>
          <a:p>
            <a:endParaRPr lang="en-US" altLang="zh-CN" dirty="0">
              <a:solidFill>
                <a:srgbClr val="7030A0"/>
              </a:solidFill>
            </a:endParaRPr>
          </a:p>
          <a:p>
            <a:r>
              <a:rPr lang="zh-CN" altLang="en-US" dirty="0">
                <a:solidFill>
                  <a:srgbClr val="7030A0"/>
                </a:solidFill>
              </a:rPr>
              <a:t>逻辑扇区  </a:t>
            </a:r>
            <a:r>
              <a:rPr lang="en-US" altLang="zh-CN" dirty="0">
                <a:solidFill>
                  <a:srgbClr val="7030A0"/>
                </a:solidFill>
              </a:rPr>
              <a:t>512B</a:t>
            </a:r>
          </a:p>
          <a:p>
            <a:endParaRPr lang="en-US" altLang="zh-CN" dirty="0">
              <a:solidFill>
                <a:srgbClr val="7030A0"/>
              </a:solidFill>
            </a:endParaRPr>
          </a:p>
          <a:p>
            <a:r>
              <a:rPr lang="zh-CN" altLang="en-US" dirty="0">
                <a:solidFill>
                  <a:srgbClr val="7030A0"/>
                </a:solidFill>
              </a:rPr>
              <a:t>物理扇区 </a:t>
            </a:r>
            <a:r>
              <a:rPr lang="en-US" altLang="zh-CN" dirty="0">
                <a:solidFill>
                  <a:srgbClr val="7030A0"/>
                </a:solidFill>
              </a:rPr>
              <a:t>4096B</a:t>
            </a:r>
            <a:endParaRPr lang="zh-CN" altLang="en-US" dirty="0">
              <a:solidFill>
                <a:srgbClr val="7030A0"/>
              </a:solidFill>
            </a:endParaRPr>
          </a:p>
        </p:txBody>
      </p:sp>
    </p:spTree>
    <p:extLst>
      <p:ext uri="{BB962C8B-B14F-4D97-AF65-F5344CB8AC3E}">
        <p14:creationId xmlns:p14="http://schemas.microsoft.com/office/powerpoint/2010/main" val="3945513818"/>
      </p:ext>
    </p:extLst>
  </p:cSld>
  <p:clrMapOvr>
    <a:masterClrMapping/>
  </p:clrMapOvr>
  <p:transition>
    <p:random/>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图</a:t>
            </a:r>
            <a:r>
              <a:rPr lang="en-US" altLang="zh-CN" dirty="0"/>
              <a:t> 8-15 </a:t>
            </a:r>
            <a:r>
              <a:rPr lang="zh-CN" altLang="zh-CN" dirty="0"/>
              <a:t>磁盘的格式化</a:t>
            </a:r>
            <a:endParaRPr lang="zh-CN" altLang="en-US" dirty="0"/>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958686303"/>
              </p:ext>
            </p:extLst>
          </p:nvPr>
        </p:nvGraphicFramePr>
        <p:xfrm>
          <a:off x="1503680" y="1127760"/>
          <a:ext cx="9809553" cy="4196080"/>
        </p:xfrm>
        <a:graphic>
          <a:graphicData uri="http://schemas.openxmlformats.org/presentationml/2006/ole">
            <mc:AlternateContent xmlns:mc="http://schemas.openxmlformats.org/markup-compatibility/2006">
              <mc:Choice xmlns:v="urn:schemas-microsoft-com:vml" Requires="v">
                <p:oleObj name="Visio" r:id="rId2" imgW="5398985" imgH="2310768" progId="Visio.Drawing.11">
                  <p:embed/>
                </p:oleObj>
              </mc:Choice>
              <mc:Fallback>
                <p:oleObj name="Visio" r:id="rId2" imgW="5398985" imgH="2310768" progId="Visio.Drawing.11">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03680" y="1127760"/>
                        <a:ext cx="9809553" cy="4196080"/>
                      </a:xfrm>
                      <a:prstGeom prst="rect">
                        <a:avLst/>
                      </a:prstGeom>
                      <a:noFill/>
                    </p:spPr>
                  </p:pic>
                </p:oleObj>
              </mc:Fallback>
            </mc:AlternateContent>
          </a:graphicData>
        </a:graphic>
      </p:graphicFrame>
    </p:spTree>
    <p:extLst>
      <p:ext uri="{BB962C8B-B14F-4D97-AF65-F5344CB8AC3E}">
        <p14:creationId xmlns:p14="http://schemas.microsoft.com/office/powerpoint/2010/main" val="2524878977"/>
      </p:ext>
    </p:extLst>
  </p:cSld>
  <p:clrMapOvr>
    <a:masterClrMapping/>
  </p:clrMapOvr>
  <p:transition>
    <p:random/>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3. </a:t>
            </a:r>
            <a:r>
              <a:rPr lang="zh-CN" altLang="zh-CN" dirty="0"/>
              <a:t>磁盘访问时间 </a:t>
            </a:r>
            <a:endParaRPr lang="zh-CN" altLang="en-US" dirty="0"/>
          </a:p>
        </p:txBody>
      </p:sp>
      <p:sp>
        <p:nvSpPr>
          <p:cNvPr id="3" name="内容占位符 2"/>
          <p:cNvSpPr>
            <a:spLocks noGrp="1"/>
          </p:cNvSpPr>
          <p:nvPr>
            <p:ph idx="1"/>
          </p:nvPr>
        </p:nvSpPr>
        <p:spPr>
          <a:xfrm>
            <a:off x="689353" y="940278"/>
            <a:ext cx="6591123" cy="2580616"/>
          </a:xfrm>
        </p:spPr>
        <p:txBody>
          <a:bodyPr>
            <a:normAutofit/>
          </a:bodyPr>
          <a:lstStyle/>
          <a:p>
            <a:r>
              <a:rPr lang="zh-CN" altLang="zh-CN" dirty="0"/>
              <a:t>通常把磁盘的访问时间分成三部分：</a:t>
            </a:r>
            <a:endParaRPr lang="en-US" altLang="zh-CN" dirty="0"/>
          </a:p>
          <a:p>
            <a:r>
              <a:rPr lang="zh-CN" altLang="zh-CN" dirty="0"/>
              <a:t>（</a:t>
            </a:r>
            <a:r>
              <a:rPr lang="en-US" altLang="zh-CN" dirty="0"/>
              <a:t>1</a:t>
            </a:r>
            <a:r>
              <a:rPr lang="zh-CN" altLang="zh-CN" dirty="0"/>
              <a:t>）寻道时间</a:t>
            </a:r>
            <a:r>
              <a:rPr lang="en-US" altLang="zh-CN" i="1" dirty="0" err="1"/>
              <a:t>T</a:t>
            </a:r>
            <a:r>
              <a:rPr lang="en-US" altLang="zh-CN" baseline="-25000" dirty="0" err="1"/>
              <a:t>s</a:t>
            </a:r>
            <a:endParaRPr lang="zh-CN" altLang="zh-CN" dirty="0"/>
          </a:p>
          <a:p>
            <a:r>
              <a:rPr lang="zh-CN" altLang="zh-CN" dirty="0"/>
              <a:t>（</a:t>
            </a:r>
            <a:r>
              <a:rPr lang="en-US" altLang="zh-CN" dirty="0"/>
              <a:t>2</a:t>
            </a:r>
            <a:r>
              <a:rPr lang="zh-CN" altLang="zh-CN" dirty="0"/>
              <a:t>）旋转延迟时间</a:t>
            </a:r>
            <a:r>
              <a:rPr lang="en-US" altLang="zh-CN" i="1" dirty="0" err="1"/>
              <a:t>T</a:t>
            </a:r>
            <a:r>
              <a:rPr lang="en-US" altLang="zh-CN" baseline="-25000" dirty="0" err="1"/>
              <a:t>τ</a:t>
            </a:r>
            <a:endParaRPr lang="en-US" altLang="zh-CN" dirty="0"/>
          </a:p>
          <a:p>
            <a:r>
              <a:rPr lang="zh-CN" altLang="zh-CN" dirty="0"/>
              <a:t>（</a:t>
            </a:r>
            <a:r>
              <a:rPr lang="en-US" altLang="zh-CN" dirty="0"/>
              <a:t>3</a:t>
            </a:r>
            <a:r>
              <a:rPr lang="zh-CN" altLang="zh-CN" dirty="0"/>
              <a:t>）传输时间</a:t>
            </a:r>
            <a:r>
              <a:rPr lang="en-US" altLang="zh-CN" i="1" dirty="0" err="1"/>
              <a:t>T</a:t>
            </a:r>
            <a:r>
              <a:rPr lang="en-US" altLang="zh-CN" i="1" baseline="-25000" dirty="0" err="1"/>
              <a:t>t</a:t>
            </a:r>
            <a:endParaRPr lang="zh-CN" altLang="en-US" dirty="0"/>
          </a:p>
        </p:txBody>
      </p:sp>
      <p:pic>
        <p:nvPicPr>
          <p:cNvPr id="4" name="Picture 4">
            <a:extLst>
              <a:ext uri="{FF2B5EF4-FFF2-40B4-BE49-F238E27FC236}">
                <a16:creationId xmlns:a16="http://schemas.microsoft.com/office/drawing/2014/main" id="{65BD39B9-FDA3-4494-ADFC-7FE2235E5E28}"/>
              </a:ext>
            </a:extLst>
          </p:cNvPr>
          <p:cNvPicPr>
            <a:picLocks noChangeAspect="1" noChangeArrowheads="1"/>
          </p:cNvPicPr>
          <p:nvPr/>
        </p:nvPicPr>
        <p:blipFill>
          <a:blip r:embed="rId2"/>
          <a:srcRect/>
          <a:stretch>
            <a:fillRect/>
          </a:stretch>
        </p:blipFill>
        <p:spPr bwMode="auto">
          <a:xfrm>
            <a:off x="3635415" y="3641202"/>
            <a:ext cx="8221663" cy="2905125"/>
          </a:xfrm>
          <a:prstGeom prst="rect">
            <a:avLst/>
          </a:prstGeom>
          <a:noFill/>
          <a:ln>
            <a:noFill/>
          </a:ln>
          <a:effectLst>
            <a:prstShdw prst="shdw17" dist="17961" dir="2700000">
              <a:schemeClr val="accent1">
                <a:gamma/>
                <a:shade val="60000"/>
                <a:invGamma/>
              </a:schemeClr>
            </a:prstShdw>
          </a:effectLst>
        </p:spPr>
      </p:pic>
    </p:spTree>
    <p:extLst>
      <p:ext uri="{BB962C8B-B14F-4D97-AF65-F5344CB8AC3E}">
        <p14:creationId xmlns:p14="http://schemas.microsoft.com/office/powerpoint/2010/main" val="1008131231"/>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a:t>
            </a:r>
            <a:r>
              <a:rPr lang="en-US" altLang="zh-CN" dirty="0"/>
              <a:t>1</a:t>
            </a:r>
            <a:r>
              <a:rPr lang="zh-CN" altLang="zh-CN" dirty="0"/>
              <a:t>）寻道时间</a:t>
            </a:r>
            <a:r>
              <a:rPr lang="en-US" altLang="zh-CN" i="1" dirty="0" err="1"/>
              <a:t>T</a:t>
            </a:r>
            <a:r>
              <a:rPr lang="en-US" altLang="zh-CN" baseline="-25000" dirty="0" err="1"/>
              <a:t>s</a:t>
            </a:r>
            <a:r>
              <a:rPr lang="zh-CN" altLang="zh-CN" dirty="0"/>
              <a:t>。</a:t>
            </a:r>
            <a:endParaRPr lang="zh-CN" altLang="en-US" dirty="0"/>
          </a:p>
        </p:txBody>
      </p:sp>
      <p:sp>
        <p:nvSpPr>
          <p:cNvPr id="3" name="内容占位符 2"/>
          <p:cNvSpPr>
            <a:spLocks noGrp="1"/>
          </p:cNvSpPr>
          <p:nvPr>
            <p:ph idx="1"/>
          </p:nvPr>
        </p:nvSpPr>
        <p:spPr>
          <a:xfrm>
            <a:off x="608329" y="1227456"/>
            <a:ext cx="11267295" cy="3830682"/>
          </a:xfrm>
        </p:spPr>
        <p:txBody>
          <a:bodyPr>
            <a:normAutofit/>
          </a:bodyPr>
          <a:lstStyle/>
          <a:p>
            <a:pPr marL="0" indent="0">
              <a:buNone/>
            </a:pPr>
            <a:r>
              <a:rPr lang="en-US" altLang="zh-CN" sz="2800" i="1" dirty="0" err="1"/>
              <a:t>T</a:t>
            </a:r>
            <a:r>
              <a:rPr lang="en-US" altLang="zh-CN" sz="2800" baseline="-25000" dirty="0" err="1"/>
              <a:t>s</a:t>
            </a:r>
            <a:r>
              <a:rPr lang="zh-CN" altLang="zh-CN" sz="2800" dirty="0"/>
              <a:t>指把磁头移动到指定磁道上所需的时间。</a:t>
            </a:r>
            <a:r>
              <a:rPr lang="en-US" altLang="zh-CN" sz="2800" i="1" dirty="0" err="1"/>
              <a:t>T</a:t>
            </a:r>
            <a:r>
              <a:rPr lang="en-US" altLang="zh-CN" sz="2800" baseline="-25000" dirty="0" err="1"/>
              <a:t>s</a:t>
            </a:r>
            <a:r>
              <a:rPr lang="zh-CN" altLang="zh-CN" sz="2800" dirty="0"/>
              <a:t>是启动磁臂时间</a:t>
            </a:r>
            <a:r>
              <a:rPr lang="en-US" altLang="zh-CN" sz="2800" dirty="0"/>
              <a:t>s</a:t>
            </a:r>
            <a:r>
              <a:rPr lang="zh-CN" altLang="zh-CN" sz="2800" dirty="0"/>
              <a:t>与磁头移动</a:t>
            </a:r>
            <a:r>
              <a:rPr lang="en-US" altLang="zh-CN" sz="2800" i="1" dirty="0"/>
              <a:t>n</a:t>
            </a:r>
            <a:r>
              <a:rPr lang="zh-CN" altLang="zh-CN" sz="2800" dirty="0"/>
              <a:t>条磁道所花费的时间之和，即</a:t>
            </a:r>
            <a:r>
              <a:rPr lang="en-US" altLang="zh-CN" sz="2800" dirty="0"/>
              <a:t></a:t>
            </a:r>
            <a:endParaRPr lang="zh-CN" altLang="zh-CN" sz="2800" dirty="0"/>
          </a:p>
          <a:p>
            <a:pPr marL="0" indent="0">
              <a:buNone/>
            </a:pPr>
            <a:r>
              <a:rPr lang="en-US" altLang="zh-CN" sz="2800" i="1" dirty="0"/>
              <a:t>	</a:t>
            </a:r>
            <a:r>
              <a:rPr lang="en-US" altLang="zh-CN" sz="2800" i="1" dirty="0" err="1"/>
              <a:t>T</a:t>
            </a:r>
            <a:r>
              <a:rPr lang="en-US" altLang="zh-CN" sz="2800" baseline="-25000" dirty="0" err="1"/>
              <a:t>s</a:t>
            </a:r>
            <a:r>
              <a:rPr lang="en-US" altLang="zh-CN" sz="2800" dirty="0"/>
              <a:t>=</a:t>
            </a:r>
            <a:r>
              <a:rPr lang="en-US" altLang="zh-CN" sz="2800" i="1" dirty="0" err="1"/>
              <a:t>m</a:t>
            </a:r>
            <a:r>
              <a:rPr lang="en-US" altLang="zh-CN" sz="2800" dirty="0" err="1"/>
              <a:t>×</a:t>
            </a:r>
            <a:r>
              <a:rPr lang="en-US" altLang="zh-CN" sz="2800" i="1" dirty="0" err="1"/>
              <a:t>n</a:t>
            </a:r>
            <a:r>
              <a:rPr lang="en-US" altLang="zh-CN" sz="2800" dirty="0" err="1"/>
              <a:t>+</a:t>
            </a:r>
            <a:r>
              <a:rPr lang="en-US" altLang="zh-CN" sz="2800" i="1" dirty="0" err="1"/>
              <a:t>s</a:t>
            </a:r>
            <a:endParaRPr lang="zh-CN" altLang="zh-CN" sz="2800" dirty="0"/>
          </a:p>
          <a:p>
            <a:pPr marL="0" indent="0">
              <a:buNone/>
            </a:pPr>
            <a:r>
              <a:rPr lang="zh-CN" altLang="zh-CN" sz="2800" dirty="0"/>
              <a:t>其中，</a:t>
            </a:r>
            <a:r>
              <a:rPr lang="en-US" altLang="zh-CN" sz="2800" i="1" dirty="0"/>
              <a:t>m</a:t>
            </a:r>
            <a:r>
              <a:rPr lang="zh-CN" altLang="zh-CN" sz="2800" dirty="0"/>
              <a:t>是一个常数，与磁盘驱动器的速度有关，一般磁盘</a:t>
            </a:r>
            <a:r>
              <a:rPr lang="en-US" altLang="zh-CN" sz="2800" i="1" dirty="0"/>
              <a:t>m</a:t>
            </a:r>
            <a:r>
              <a:rPr lang="en-US" altLang="zh-CN" sz="2800" dirty="0"/>
              <a:t>=0.2</a:t>
            </a:r>
            <a:r>
              <a:rPr lang="zh-CN" altLang="zh-CN" sz="2800" dirty="0"/>
              <a:t>；高速磁盘</a:t>
            </a:r>
            <a:r>
              <a:rPr lang="en-US" altLang="zh-CN" sz="2800" i="1" dirty="0"/>
              <a:t>m</a:t>
            </a:r>
            <a:r>
              <a:rPr lang="en-US" altLang="zh-CN" sz="2800" dirty="0"/>
              <a:t>≤0.1</a:t>
            </a:r>
            <a:r>
              <a:rPr lang="zh-CN" altLang="zh-CN" sz="2800" dirty="0"/>
              <a:t>，磁臂的启动时间约为</a:t>
            </a:r>
            <a:r>
              <a:rPr lang="en-US" altLang="zh-CN" sz="2800" dirty="0"/>
              <a:t>2ms</a:t>
            </a:r>
            <a:r>
              <a:rPr lang="zh-CN" altLang="zh-CN" sz="2800" dirty="0"/>
              <a:t>。</a:t>
            </a:r>
            <a:endParaRPr lang="zh-CN" altLang="en-US" sz="2800" dirty="0"/>
          </a:p>
        </p:txBody>
      </p:sp>
    </p:spTree>
    <p:extLst>
      <p:ext uri="{BB962C8B-B14F-4D97-AF65-F5344CB8AC3E}">
        <p14:creationId xmlns:p14="http://schemas.microsoft.com/office/powerpoint/2010/main" val="1682024863"/>
      </p:ext>
    </p:extLst>
  </p:cSld>
  <p:clrMapOvr>
    <a:masterClrMapping/>
  </p:clrMapOvr>
  <p:transition>
    <p:random/>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a:t>
            </a:r>
            <a:r>
              <a:rPr lang="en-US" altLang="zh-CN" dirty="0"/>
              <a:t>2</a:t>
            </a:r>
            <a:r>
              <a:rPr lang="zh-CN" altLang="zh-CN" dirty="0"/>
              <a:t>）旋转延迟时间</a:t>
            </a:r>
            <a:r>
              <a:rPr lang="en-US" altLang="zh-CN" i="1" dirty="0" err="1"/>
              <a:t>T</a:t>
            </a:r>
            <a:r>
              <a:rPr lang="en-US" altLang="zh-CN" baseline="-25000" dirty="0" err="1"/>
              <a:t>τ</a:t>
            </a:r>
            <a:endParaRPr lang="zh-CN" altLang="en-US" dirty="0"/>
          </a:p>
        </p:txBody>
      </p:sp>
      <p:sp>
        <p:nvSpPr>
          <p:cNvPr id="3" name="内容占位符 2"/>
          <p:cNvSpPr>
            <a:spLocks noGrp="1"/>
          </p:cNvSpPr>
          <p:nvPr>
            <p:ph idx="1"/>
          </p:nvPr>
        </p:nvSpPr>
        <p:spPr>
          <a:xfrm>
            <a:off x="608330" y="1227456"/>
            <a:ext cx="10968990" cy="2812110"/>
          </a:xfrm>
        </p:spPr>
        <p:txBody>
          <a:bodyPr>
            <a:normAutofit/>
          </a:bodyPr>
          <a:lstStyle/>
          <a:p>
            <a:pPr marL="0" indent="0">
              <a:lnSpc>
                <a:spcPct val="150000"/>
              </a:lnSpc>
              <a:buNone/>
            </a:pPr>
            <a:r>
              <a:rPr lang="en-US" altLang="zh-CN" sz="2800" i="1" dirty="0" err="1"/>
              <a:t>T</a:t>
            </a:r>
            <a:r>
              <a:rPr lang="en-US" altLang="zh-CN" sz="2800" baseline="-25000" dirty="0" err="1"/>
              <a:t>τ</a:t>
            </a:r>
            <a:r>
              <a:rPr lang="zh-CN" altLang="zh-CN" sz="2800" dirty="0"/>
              <a:t>是将指定扇区移动到磁头下面所需的时间。对于硬盘，典型的旋转速度大多为</a:t>
            </a:r>
            <a:r>
              <a:rPr lang="en-US" altLang="zh-CN" sz="2800" dirty="0"/>
              <a:t>7200 r/min</a:t>
            </a:r>
            <a:r>
              <a:rPr lang="zh-CN" altLang="zh-CN" sz="2800" dirty="0"/>
              <a:t>，每转需时</a:t>
            </a:r>
            <a:r>
              <a:rPr lang="en-US" altLang="zh-CN" sz="2800" dirty="0"/>
              <a:t>8.33 </a:t>
            </a:r>
            <a:r>
              <a:rPr lang="en-US" altLang="zh-CN" sz="2800" dirty="0" err="1"/>
              <a:t>ms</a:t>
            </a:r>
            <a:r>
              <a:rPr lang="zh-CN" altLang="zh-CN" sz="2800" dirty="0"/>
              <a:t>，平均旋转延迟时间</a:t>
            </a:r>
            <a:r>
              <a:rPr lang="en-US" altLang="zh-CN" sz="2800" i="1" dirty="0" err="1"/>
              <a:t>T</a:t>
            </a:r>
            <a:r>
              <a:rPr lang="en-US" altLang="zh-CN" sz="2800" baseline="-25000" dirty="0" err="1"/>
              <a:t>τ</a:t>
            </a:r>
            <a:r>
              <a:rPr lang="zh-CN" altLang="zh-CN" sz="2800" dirty="0"/>
              <a:t>为</a:t>
            </a:r>
            <a:r>
              <a:rPr lang="en-US" altLang="zh-CN" sz="2800" dirty="0"/>
              <a:t>4.17ms</a:t>
            </a:r>
            <a:r>
              <a:rPr lang="zh-CN" altLang="zh-CN" sz="2800" dirty="0"/>
              <a:t>；</a:t>
            </a:r>
            <a:endParaRPr lang="zh-CN" altLang="en-US" sz="2800" dirty="0"/>
          </a:p>
        </p:txBody>
      </p:sp>
    </p:spTree>
    <p:extLst>
      <p:ext uri="{BB962C8B-B14F-4D97-AF65-F5344CB8AC3E}">
        <p14:creationId xmlns:p14="http://schemas.microsoft.com/office/powerpoint/2010/main" val="1304495628"/>
      </p:ext>
    </p:extLst>
  </p:cSld>
  <p:clrMapOvr>
    <a:masterClrMapping/>
  </p:clrMapOvr>
  <p:transition>
    <p:random/>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a:t>
            </a:r>
            <a:r>
              <a:rPr lang="en-US" altLang="zh-CN" dirty="0"/>
              <a:t>3</a:t>
            </a:r>
            <a:r>
              <a:rPr lang="zh-CN" altLang="zh-CN" dirty="0"/>
              <a:t>）传输时间</a:t>
            </a:r>
            <a:r>
              <a:rPr lang="en-US" altLang="zh-CN" i="1" dirty="0" err="1"/>
              <a:t>T</a:t>
            </a:r>
            <a:r>
              <a:rPr lang="en-US" altLang="zh-CN" i="1" baseline="-25000" dirty="0" err="1"/>
              <a:t>t</a:t>
            </a:r>
            <a:endParaRPr lang="zh-CN" altLang="en-US" dirty="0"/>
          </a:p>
        </p:txBody>
      </p:sp>
      <p:sp>
        <p:nvSpPr>
          <p:cNvPr id="3" name="内容占位符 2"/>
          <p:cNvSpPr>
            <a:spLocks noGrp="1"/>
          </p:cNvSpPr>
          <p:nvPr>
            <p:ph idx="1"/>
          </p:nvPr>
        </p:nvSpPr>
        <p:spPr>
          <a:xfrm>
            <a:off x="387457" y="1227455"/>
            <a:ext cx="11437749" cy="5022215"/>
          </a:xfrm>
        </p:spPr>
        <p:txBody>
          <a:bodyPr>
            <a:normAutofit/>
          </a:bodyPr>
          <a:lstStyle/>
          <a:p>
            <a:r>
              <a:rPr lang="en-US" altLang="zh-CN" sz="2800" i="1" dirty="0" err="1"/>
              <a:t>T</a:t>
            </a:r>
            <a:r>
              <a:rPr lang="en-US" altLang="zh-CN" sz="2800" i="1" baseline="-25000" dirty="0" err="1"/>
              <a:t>t</a:t>
            </a:r>
            <a:r>
              <a:rPr lang="zh-CN" altLang="zh-CN" sz="2800" dirty="0"/>
              <a:t>指把数据从磁盘读出或向磁盘写入数据所需的时间。</a:t>
            </a:r>
            <a:r>
              <a:rPr lang="en-US" altLang="zh-CN" sz="2800" i="1" dirty="0" err="1"/>
              <a:t>T</a:t>
            </a:r>
            <a:r>
              <a:rPr lang="en-US" altLang="zh-CN" sz="2800" i="1" baseline="-25000" dirty="0" err="1"/>
              <a:t>t</a:t>
            </a:r>
            <a:r>
              <a:rPr lang="zh-CN" altLang="zh-CN" sz="2800" dirty="0"/>
              <a:t>的大小与每次所读</a:t>
            </a:r>
            <a:r>
              <a:rPr lang="en-US" altLang="zh-CN" sz="2800" dirty="0"/>
              <a:t>/</a:t>
            </a:r>
            <a:r>
              <a:rPr lang="zh-CN" altLang="zh-CN" sz="2800" dirty="0"/>
              <a:t>写的字节数</a:t>
            </a:r>
            <a:r>
              <a:rPr lang="en-US" altLang="zh-CN" sz="2800" i="1" dirty="0"/>
              <a:t>b</a:t>
            </a:r>
            <a:r>
              <a:rPr lang="zh-CN" altLang="zh-CN" sz="2800" dirty="0"/>
              <a:t>和旋转速度有关。 </a:t>
            </a:r>
          </a:p>
          <a:p>
            <a:endParaRPr lang="en-US" altLang="zh-CN" sz="2800" dirty="0"/>
          </a:p>
          <a:p>
            <a:endParaRPr lang="en-US" altLang="zh-CN" sz="2800" dirty="0"/>
          </a:p>
          <a:p>
            <a:r>
              <a:rPr lang="zh-CN" altLang="zh-CN" sz="2800" dirty="0"/>
              <a:t>其中，</a:t>
            </a:r>
            <a:r>
              <a:rPr lang="en-US" altLang="zh-CN" sz="2800" i="1" dirty="0"/>
              <a:t>r</a:t>
            </a:r>
            <a:r>
              <a:rPr lang="zh-CN" altLang="zh-CN" sz="2800" dirty="0"/>
              <a:t>是磁盘每秒钟的转数；</a:t>
            </a:r>
            <a:r>
              <a:rPr lang="en-US" altLang="zh-CN" sz="2800" i="1" dirty="0"/>
              <a:t>N</a:t>
            </a:r>
            <a:r>
              <a:rPr lang="zh-CN" altLang="zh-CN" sz="2800" dirty="0"/>
              <a:t>是一条磁道上的字节数</a:t>
            </a:r>
            <a:endParaRPr lang="zh-CN" altLang="en-US" sz="2800" dirty="0"/>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4088112542"/>
              </p:ext>
            </p:extLst>
          </p:nvPr>
        </p:nvGraphicFramePr>
        <p:xfrm>
          <a:off x="4328994" y="2406109"/>
          <a:ext cx="2048081" cy="1401961"/>
        </p:xfrm>
        <a:graphic>
          <a:graphicData uri="http://schemas.openxmlformats.org/presentationml/2006/ole">
            <mc:AlternateContent xmlns:mc="http://schemas.openxmlformats.org/markup-compatibility/2006">
              <mc:Choice xmlns:v="urn:schemas-microsoft-com:vml" Requires="v">
                <p:oleObj name="公式" r:id="rId2" imgW="596641" imgH="406224" progId="Equation.3">
                  <p:embed/>
                </p:oleObj>
              </mc:Choice>
              <mc:Fallback>
                <p:oleObj name="公式" r:id="rId2" imgW="596641" imgH="406224"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28994" y="2406109"/>
                        <a:ext cx="2048081" cy="1401961"/>
                      </a:xfrm>
                      <a:prstGeom prst="rect">
                        <a:avLst/>
                      </a:prstGeom>
                      <a:noFill/>
                    </p:spPr>
                  </p:pic>
                </p:oleObj>
              </mc:Fallback>
            </mc:AlternateContent>
          </a:graphicData>
        </a:graphic>
      </p:graphicFrame>
    </p:spTree>
    <p:extLst>
      <p:ext uri="{BB962C8B-B14F-4D97-AF65-F5344CB8AC3E}">
        <p14:creationId xmlns:p14="http://schemas.microsoft.com/office/powerpoint/2010/main" val="1655086812"/>
      </p:ext>
    </p:extLst>
  </p:cSld>
  <p:clrMapOvr>
    <a:masterClrMapping/>
  </p:clrMapOvr>
  <p:transition>
    <p:random/>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a:t>
            </a:r>
            <a:r>
              <a:rPr lang="en-US" altLang="zh-CN" dirty="0"/>
              <a:t>3</a:t>
            </a:r>
            <a:r>
              <a:rPr lang="zh-CN" altLang="zh-CN" dirty="0"/>
              <a:t>）传输时间</a:t>
            </a:r>
            <a:r>
              <a:rPr lang="en-US" altLang="zh-CN" i="1" dirty="0" err="1"/>
              <a:t>T</a:t>
            </a:r>
            <a:r>
              <a:rPr lang="en-US" altLang="zh-CN" i="1" baseline="-25000" dirty="0" err="1"/>
              <a:t>t</a:t>
            </a:r>
            <a:endParaRPr lang="zh-CN" altLang="en-US" dirty="0"/>
          </a:p>
        </p:txBody>
      </p:sp>
      <p:sp>
        <p:nvSpPr>
          <p:cNvPr id="3" name="内容占位符 2"/>
          <p:cNvSpPr>
            <a:spLocks noGrp="1"/>
          </p:cNvSpPr>
          <p:nvPr>
            <p:ph idx="1"/>
          </p:nvPr>
        </p:nvSpPr>
        <p:spPr>
          <a:xfrm>
            <a:off x="387457" y="1227455"/>
            <a:ext cx="11437749" cy="3888555"/>
          </a:xfrm>
        </p:spPr>
        <p:txBody>
          <a:bodyPr>
            <a:normAutofit/>
          </a:bodyPr>
          <a:lstStyle/>
          <a:p>
            <a:r>
              <a:rPr lang="zh-CN" altLang="zh-CN" sz="2800" dirty="0"/>
              <a:t>如果一次读</a:t>
            </a:r>
            <a:r>
              <a:rPr lang="en-US" altLang="zh-CN" sz="2800" dirty="0"/>
              <a:t>/</a:t>
            </a:r>
            <a:r>
              <a:rPr lang="zh-CN" altLang="zh-CN" sz="2800" dirty="0"/>
              <a:t>写的字节数等于半条磁道上的字节数时，</a:t>
            </a:r>
            <a:r>
              <a:rPr lang="en-US" altLang="zh-CN" sz="2800" i="1" dirty="0" err="1"/>
              <a:t>T</a:t>
            </a:r>
            <a:r>
              <a:rPr lang="en-US" altLang="zh-CN" sz="2800" i="1" baseline="-25000" dirty="0" err="1"/>
              <a:t>t</a:t>
            </a:r>
            <a:r>
              <a:rPr lang="zh-CN" altLang="zh-CN" sz="2800" dirty="0"/>
              <a:t>与</a:t>
            </a:r>
            <a:r>
              <a:rPr lang="en-US" altLang="zh-CN" sz="2800" i="1" dirty="0" err="1"/>
              <a:t>T</a:t>
            </a:r>
            <a:r>
              <a:rPr lang="en-US" altLang="zh-CN" sz="2800" i="1" baseline="-25000" dirty="0" err="1"/>
              <a:t>τ</a:t>
            </a:r>
            <a:r>
              <a:rPr lang="zh-CN" altLang="zh-CN" sz="2800" dirty="0"/>
              <a:t>相同，因此，访问时间</a:t>
            </a:r>
            <a:r>
              <a:rPr lang="en-US" altLang="zh-CN" sz="2800" i="1" dirty="0"/>
              <a:t>T</a:t>
            </a:r>
            <a:r>
              <a:rPr lang="en-US" altLang="zh-CN" sz="2800" i="1" baseline="-25000" dirty="0"/>
              <a:t>a</a:t>
            </a:r>
            <a:r>
              <a:rPr lang="zh-CN" altLang="zh-CN" sz="2800" dirty="0"/>
              <a:t>可表示为： </a:t>
            </a:r>
          </a:p>
          <a:p>
            <a:endParaRPr lang="zh-CN" altLang="en-US" sz="2800" dirty="0"/>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7" name="对象 6"/>
          <p:cNvGraphicFramePr>
            <a:graphicFrameLocks noChangeAspect="1"/>
          </p:cNvGraphicFramePr>
          <p:nvPr>
            <p:extLst>
              <p:ext uri="{D42A27DB-BD31-4B8C-83A1-F6EECF244321}">
                <p14:modId xmlns:p14="http://schemas.microsoft.com/office/powerpoint/2010/main" val="4277015778"/>
              </p:ext>
            </p:extLst>
          </p:nvPr>
        </p:nvGraphicFramePr>
        <p:xfrm>
          <a:off x="2512587" y="2667672"/>
          <a:ext cx="4769142" cy="1464489"/>
        </p:xfrm>
        <a:graphic>
          <a:graphicData uri="http://schemas.openxmlformats.org/presentationml/2006/ole">
            <mc:AlternateContent xmlns:mc="http://schemas.openxmlformats.org/markup-compatibility/2006">
              <mc:Choice xmlns:v="urn:schemas-microsoft-com:vml" Requires="v">
                <p:oleObj name="公式" r:id="rId2" imgW="1320227" imgH="406224" progId="Equation.3">
                  <p:embed/>
                </p:oleObj>
              </mc:Choice>
              <mc:Fallback>
                <p:oleObj name="公式" r:id="rId2" imgW="1320227" imgH="406224"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2587" y="2667672"/>
                        <a:ext cx="4769142" cy="1464489"/>
                      </a:xfrm>
                      <a:prstGeom prst="rect">
                        <a:avLst/>
                      </a:prstGeom>
                      <a:noFill/>
                    </p:spPr>
                  </p:pic>
                </p:oleObj>
              </mc:Fallback>
            </mc:AlternateContent>
          </a:graphicData>
        </a:graphic>
      </p:graphicFrame>
    </p:spTree>
    <p:extLst>
      <p:ext uri="{BB962C8B-B14F-4D97-AF65-F5344CB8AC3E}">
        <p14:creationId xmlns:p14="http://schemas.microsoft.com/office/powerpoint/2010/main" val="818025610"/>
      </p:ext>
    </p:extLst>
  </p:cSld>
  <p:clrMapOvr>
    <a:masterClrMapping/>
  </p:clrMapOvr>
  <p:transition>
    <p:random/>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4" name="内容占位符 2">
            <a:extLst>
              <a:ext uri="{FF2B5EF4-FFF2-40B4-BE49-F238E27FC236}">
                <a16:creationId xmlns:a16="http://schemas.microsoft.com/office/drawing/2014/main" id="{0CDB52AE-B35F-4E3C-B9B6-2D43D32CDE79}"/>
              </a:ext>
            </a:extLst>
          </p:cNvPr>
          <p:cNvSpPr txBox="1">
            <a:spLocks/>
          </p:cNvSpPr>
          <p:nvPr/>
        </p:nvSpPr>
        <p:spPr>
          <a:xfrm>
            <a:off x="611295" y="1288321"/>
            <a:ext cx="10968990" cy="3607769"/>
          </a:xfrm>
          <a:prstGeom prst="rect">
            <a:avLst/>
          </a:prstGeom>
        </p:spPr>
        <p:txBody>
          <a:bodyPr vert="horz" lIns="90000" tIns="46800" rIns="90000" bIns="46800" rtlCol="0">
            <a:normAutofit fontScale="92500" lnSpcReduction="10000"/>
          </a:bodyPr>
          <a:lstStyle>
            <a:lvl1pPr marL="228600" marR="0" lvl="0" indent="-228600" algn="l" defTabSz="914400" rtl="0" eaLnBrk="1" fontAlgn="auto" latinLnBrk="0" hangingPunct="1">
              <a:lnSpc>
                <a:spcPct val="130000"/>
              </a:lnSpc>
              <a:spcBef>
                <a:spcPts val="0"/>
              </a:spcBef>
              <a:spcAft>
                <a:spcPts val="1000"/>
              </a:spcAft>
              <a:buClr>
                <a:srgbClr val="2094CE"/>
              </a:buClr>
              <a:buSzPct val="80000"/>
              <a:buFont typeface="Arial" panose="020B0604020202020204" pitchFamily="34" charset="0"/>
              <a:buChar char="►"/>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Clr>
                <a:srgbClr val="FF9800"/>
              </a:buClr>
              <a:buSzPct val="90000"/>
              <a:buFont typeface="Arial" panose="020B0604020202020204" pitchFamily="34" charset="0"/>
              <a:buChar char="♦"/>
              <a:tabLst>
                <a:tab pos="1609725" algn="l"/>
              </a:tabLst>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70000"/>
              </a:lnSpc>
            </a:pPr>
            <a:r>
              <a:rPr lang="zh-CN" altLang="en-US" sz="2800" dirty="0"/>
              <a:t>在磁盘访问时间中，寻道时间和旋转延迟时间占了很大的比例，这两者当中寻道时间又占了大头。</a:t>
            </a:r>
            <a:endParaRPr lang="en-US" altLang="zh-CN" sz="2800" dirty="0"/>
          </a:p>
          <a:p>
            <a:pPr>
              <a:lnSpc>
                <a:spcPct val="170000"/>
              </a:lnSpc>
            </a:pPr>
            <a:r>
              <a:rPr lang="zh-CN" altLang="en-US" sz="2800" dirty="0"/>
              <a:t>磁盘调度的目标是使磁盘的平均寻道时间最短。</a:t>
            </a:r>
            <a:endParaRPr lang="en-US" altLang="zh-CN" sz="2800" dirty="0"/>
          </a:p>
          <a:p>
            <a:pPr>
              <a:lnSpc>
                <a:spcPct val="170000"/>
              </a:lnSpc>
            </a:pPr>
            <a:r>
              <a:rPr lang="zh-CN" altLang="en-US" sz="2800" dirty="0"/>
              <a:t>目前常用的磁盘调度算法有：先来先服务算法、最短寻道时间优先算法和扫描算法等。</a:t>
            </a:r>
          </a:p>
        </p:txBody>
      </p:sp>
    </p:spTree>
    <p:extLst>
      <p:ext uri="{BB962C8B-B14F-4D97-AF65-F5344CB8AC3E}">
        <p14:creationId xmlns:p14="http://schemas.microsoft.com/office/powerpoint/2010/main" val="502152527"/>
      </p:ext>
    </p:extLst>
  </p:cSld>
  <p:clrMapOvr>
    <a:masterClrMapping/>
  </p:clrMapOvr>
  <p:transition>
    <p:random/>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1. </a:t>
            </a:r>
            <a:r>
              <a:rPr lang="zh-CN" altLang="zh-CN" dirty="0"/>
              <a:t>先来先服务算法</a:t>
            </a:r>
            <a:endParaRPr lang="zh-CN" altLang="en-US" dirty="0"/>
          </a:p>
        </p:txBody>
      </p:sp>
      <p:sp>
        <p:nvSpPr>
          <p:cNvPr id="3" name="内容占位符 2"/>
          <p:cNvSpPr>
            <a:spLocks noGrp="1"/>
          </p:cNvSpPr>
          <p:nvPr>
            <p:ph idx="1"/>
          </p:nvPr>
        </p:nvSpPr>
        <p:spPr>
          <a:xfrm>
            <a:off x="608330" y="1227455"/>
            <a:ext cx="10968990" cy="3934853"/>
          </a:xfrm>
        </p:spPr>
        <p:txBody>
          <a:bodyPr>
            <a:normAutofit/>
          </a:bodyPr>
          <a:lstStyle/>
          <a:p>
            <a:r>
              <a:rPr lang="zh-CN" altLang="zh-CN" sz="2800" dirty="0"/>
              <a:t>先来先服务磁盘调度算法</a:t>
            </a:r>
            <a:r>
              <a:rPr lang="en-US" altLang="zh-CN" sz="2800" dirty="0"/>
              <a:t>(First Come First Served</a:t>
            </a:r>
            <a:r>
              <a:rPr lang="zh-CN" altLang="zh-CN" sz="2800" dirty="0"/>
              <a:t>，</a:t>
            </a:r>
            <a:r>
              <a:rPr lang="en-US" altLang="zh-CN" sz="2800" dirty="0"/>
              <a:t>FCFS)</a:t>
            </a:r>
            <a:r>
              <a:rPr lang="zh-CN" altLang="zh-CN" sz="2800" dirty="0"/>
              <a:t>是按照进程请求访问磁盘的时间先后次序进行调度。</a:t>
            </a:r>
            <a:endParaRPr lang="en-US" altLang="zh-CN" sz="2800" dirty="0"/>
          </a:p>
          <a:p>
            <a:r>
              <a:rPr lang="zh-CN" altLang="zh-CN" sz="2800" dirty="0"/>
              <a:t>此算法的优点是实现简单且公平，每个进程的磁盘</a:t>
            </a:r>
            <a:r>
              <a:rPr lang="en-US" altLang="zh-CN" sz="2800" dirty="0"/>
              <a:t>I/O</a:t>
            </a:r>
            <a:r>
              <a:rPr lang="zh-CN" altLang="zh-CN" sz="2800" dirty="0"/>
              <a:t>请求都能依次得到处理；</a:t>
            </a:r>
            <a:endParaRPr lang="en-US" altLang="zh-CN" sz="2800" dirty="0"/>
          </a:p>
          <a:p>
            <a:r>
              <a:rPr lang="zh-CN" altLang="zh-CN" sz="2800" dirty="0"/>
              <a:t>缺点是未对寻道进行优化，平均寻道时间可能较长。</a:t>
            </a:r>
            <a:endParaRPr lang="zh-CN" altLang="en-US" sz="2800" dirty="0"/>
          </a:p>
        </p:txBody>
      </p:sp>
    </p:spTree>
    <p:extLst>
      <p:ext uri="{BB962C8B-B14F-4D97-AF65-F5344CB8AC3E}">
        <p14:creationId xmlns:p14="http://schemas.microsoft.com/office/powerpoint/2010/main" val="1906916006"/>
      </p:ext>
    </p:extLst>
  </p:cSld>
  <p:clrMapOvr>
    <a:masterClrMapping/>
  </p:clrMapOvr>
  <p:transition>
    <p:random/>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D43A96E-BC6C-4EDD-8B24-72F3B3885E14}"/>
              </a:ext>
            </a:extLst>
          </p:cNvPr>
          <p:cNvSpPr>
            <a:spLocks noGrp="1"/>
          </p:cNvSpPr>
          <p:nvPr>
            <p:ph type="title"/>
          </p:nvPr>
        </p:nvSpPr>
        <p:spPr/>
        <p:txBody>
          <a:bodyPr/>
          <a:lstStyle/>
          <a:p>
            <a:pPr>
              <a:defRPr/>
            </a:pPr>
            <a:r>
              <a:rPr lang="zh-CN" altLang="en-US" dirty="0"/>
              <a:t>磁盘调度算法</a:t>
            </a:r>
          </a:p>
        </p:txBody>
      </p:sp>
      <p:sp>
        <p:nvSpPr>
          <p:cNvPr id="3" name="内容占位符 2">
            <a:extLst>
              <a:ext uri="{FF2B5EF4-FFF2-40B4-BE49-F238E27FC236}">
                <a16:creationId xmlns:a16="http://schemas.microsoft.com/office/drawing/2014/main" id="{B37DF067-4A37-4D90-8286-03FAC6231982}"/>
              </a:ext>
            </a:extLst>
          </p:cNvPr>
          <p:cNvSpPr>
            <a:spLocks noGrp="1"/>
          </p:cNvSpPr>
          <p:nvPr>
            <p:ph idx="1"/>
          </p:nvPr>
        </p:nvSpPr>
        <p:spPr>
          <a:xfrm>
            <a:off x="535305" y="917893"/>
            <a:ext cx="10968990" cy="1779008"/>
          </a:xfrm>
        </p:spPr>
        <p:txBody>
          <a:bodyPr>
            <a:normAutofit/>
          </a:bodyPr>
          <a:lstStyle/>
          <a:p>
            <a:pPr marL="0" indent="0">
              <a:buNone/>
              <a:defRPr/>
            </a:pPr>
            <a:r>
              <a:rPr lang="zh-CN" altLang="en-US" dirty="0">
                <a:solidFill>
                  <a:schemeClr val="tx1">
                    <a:lumMod val="75000"/>
                    <a:lumOff val="25000"/>
                  </a:schemeClr>
                </a:solidFill>
                <a:latin typeface="微软雅黑" pitchFamily="34" charset="-122"/>
              </a:rPr>
              <a:t>例：</a:t>
            </a:r>
            <a:r>
              <a:rPr lang="zh-CN" altLang="zh-CN" dirty="0">
                <a:solidFill>
                  <a:schemeClr val="tx1">
                    <a:lumMod val="75000"/>
                    <a:lumOff val="25000"/>
                  </a:schemeClr>
                </a:solidFill>
                <a:latin typeface="微软雅黑" pitchFamily="34" charset="-122"/>
              </a:rPr>
              <a:t>假设当前磁头正在</a:t>
            </a:r>
            <a:r>
              <a:rPr lang="en-US" altLang="zh-CN" dirty="0">
                <a:solidFill>
                  <a:schemeClr val="tx1">
                    <a:lumMod val="75000"/>
                    <a:lumOff val="25000"/>
                  </a:schemeClr>
                </a:solidFill>
                <a:latin typeface="微软雅黑" pitchFamily="34" charset="-122"/>
              </a:rPr>
              <a:t>67</a:t>
            </a:r>
            <a:r>
              <a:rPr lang="zh-CN" altLang="zh-CN" dirty="0">
                <a:solidFill>
                  <a:schemeClr val="tx1">
                    <a:lumMod val="75000"/>
                    <a:lumOff val="25000"/>
                  </a:schemeClr>
                </a:solidFill>
                <a:latin typeface="微软雅黑" pitchFamily="34" charset="-122"/>
              </a:rPr>
              <a:t>号磁道上，其前一个访问的磁道为</a:t>
            </a:r>
            <a:r>
              <a:rPr lang="en-US" altLang="zh-CN" dirty="0">
                <a:solidFill>
                  <a:schemeClr val="tx1">
                    <a:lumMod val="75000"/>
                    <a:lumOff val="25000"/>
                  </a:schemeClr>
                </a:solidFill>
                <a:latin typeface="微软雅黑" pitchFamily="34" charset="-122"/>
              </a:rPr>
              <a:t>43</a:t>
            </a:r>
            <a:r>
              <a:rPr lang="zh-CN" altLang="zh-CN" dirty="0">
                <a:solidFill>
                  <a:schemeClr val="tx1">
                    <a:lumMod val="75000"/>
                    <a:lumOff val="25000"/>
                  </a:schemeClr>
                </a:solidFill>
                <a:latin typeface="微软雅黑" pitchFamily="34" charset="-122"/>
              </a:rPr>
              <a:t>号，现在同时有</a:t>
            </a:r>
            <a:r>
              <a:rPr lang="en-US" altLang="zh-CN" dirty="0">
                <a:solidFill>
                  <a:schemeClr val="tx1">
                    <a:lumMod val="75000"/>
                    <a:lumOff val="25000"/>
                  </a:schemeClr>
                </a:solidFill>
                <a:latin typeface="微软雅黑" pitchFamily="34" charset="-122"/>
              </a:rPr>
              <a:t> </a:t>
            </a:r>
            <a:r>
              <a:rPr lang="zh-CN" altLang="en-US" dirty="0">
                <a:solidFill>
                  <a:schemeClr val="tx1">
                    <a:lumMod val="75000"/>
                    <a:lumOff val="25000"/>
                  </a:schemeClr>
                </a:solidFill>
                <a:latin typeface="微软雅黑" pitchFamily="34" charset="-122"/>
              </a:rPr>
              <a:t>多个</a:t>
            </a:r>
            <a:r>
              <a:rPr lang="zh-CN" altLang="zh-CN" dirty="0">
                <a:solidFill>
                  <a:schemeClr val="tx1">
                    <a:lumMod val="75000"/>
                    <a:lumOff val="25000"/>
                  </a:schemeClr>
                </a:solidFill>
                <a:latin typeface="微软雅黑" pitchFamily="34" charset="-122"/>
              </a:rPr>
              <a:t>磁盘访问请求，它们依次要访问的磁道号为：</a:t>
            </a:r>
            <a:r>
              <a:rPr lang="en-US" altLang="zh-CN" dirty="0">
                <a:solidFill>
                  <a:schemeClr val="tx1">
                    <a:lumMod val="75000"/>
                    <a:lumOff val="25000"/>
                  </a:schemeClr>
                </a:solidFill>
                <a:latin typeface="微软雅黑" pitchFamily="34" charset="-122"/>
              </a:rPr>
              <a:t>186</a:t>
            </a:r>
            <a:r>
              <a:rPr lang="zh-CN" altLang="zh-CN" dirty="0">
                <a:solidFill>
                  <a:schemeClr val="tx1">
                    <a:lumMod val="75000"/>
                    <a:lumOff val="25000"/>
                  </a:schemeClr>
                </a:solidFill>
                <a:latin typeface="微软雅黑" pitchFamily="34" charset="-122"/>
              </a:rPr>
              <a:t>、</a:t>
            </a:r>
            <a:r>
              <a:rPr lang="en-US" altLang="zh-CN" dirty="0">
                <a:solidFill>
                  <a:schemeClr val="tx1">
                    <a:lumMod val="75000"/>
                    <a:lumOff val="25000"/>
                  </a:schemeClr>
                </a:solidFill>
                <a:latin typeface="微软雅黑" pitchFamily="34" charset="-122"/>
              </a:rPr>
              <a:t>47</a:t>
            </a:r>
            <a:r>
              <a:rPr lang="zh-CN" altLang="zh-CN" dirty="0">
                <a:solidFill>
                  <a:schemeClr val="tx1">
                    <a:lumMod val="75000"/>
                    <a:lumOff val="25000"/>
                  </a:schemeClr>
                </a:solidFill>
                <a:latin typeface="微软雅黑" pitchFamily="34" charset="-122"/>
              </a:rPr>
              <a:t>、</a:t>
            </a:r>
            <a:r>
              <a:rPr lang="en-US" altLang="zh-CN" dirty="0">
                <a:solidFill>
                  <a:schemeClr val="tx1">
                    <a:lumMod val="75000"/>
                    <a:lumOff val="25000"/>
                  </a:schemeClr>
                </a:solidFill>
                <a:latin typeface="微软雅黑" pitchFamily="34" charset="-122"/>
              </a:rPr>
              <a:t>9</a:t>
            </a:r>
            <a:r>
              <a:rPr lang="zh-CN" altLang="zh-CN" dirty="0">
                <a:solidFill>
                  <a:schemeClr val="tx1">
                    <a:lumMod val="75000"/>
                    <a:lumOff val="25000"/>
                  </a:schemeClr>
                </a:solidFill>
                <a:latin typeface="微软雅黑" pitchFamily="34" charset="-122"/>
              </a:rPr>
              <a:t>、</a:t>
            </a:r>
            <a:r>
              <a:rPr lang="en-US" altLang="zh-CN" dirty="0">
                <a:solidFill>
                  <a:schemeClr val="tx1">
                    <a:lumMod val="75000"/>
                    <a:lumOff val="25000"/>
                  </a:schemeClr>
                </a:solidFill>
                <a:latin typeface="微软雅黑" pitchFamily="34" charset="-122"/>
              </a:rPr>
              <a:t>77</a:t>
            </a:r>
            <a:r>
              <a:rPr lang="zh-CN" altLang="zh-CN" dirty="0">
                <a:solidFill>
                  <a:schemeClr val="tx1">
                    <a:lumMod val="75000"/>
                    <a:lumOff val="25000"/>
                  </a:schemeClr>
                </a:solidFill>
                <a:latin typeface="微软雅黑" pitchFamily="34" charset="-122"/>
              </a:rPr>
              <a:t>、</a:t>
            </a:r>
            <a:r>
              <a:rPr lang="en-US" altLang="zh-CN" dirty="0">
                <a:solidFill>
                  <a:schemeClr val="tx1">
                    <a:lumMod val="75000"/>
                    <a:lumOff val="25000"/>
                  </a:schemeClr>
                </a:solidFill>
                <a:latin typeface="微软雅黑" pitchFamily="34" charset="-122"/>
              </a:rPr>
              <a:t>194</a:t>
            </a:r>
            <a:r>
              <a:rPr lang="zh-CN" altLang="zh-CN" dirty="0">
                <a:solidFill>
                  <a:schemeClr val="tx1">
                    <a:lumMod val="75000"/>
                    <a:lumOff val="25000"/>
                  </a:schemeClr>
                </a:solidFill>
                <a:latin typeface="微软雅黑" pitchFamily="34" charset="-122"/>
              </a:rPr>
              <a:t>、</a:t>
            </a:r>
            <a:r>
              <a:rPr lang="en-US" altLang="zh-CN" dirty="0">
                <a:solidFill>
                  <a:schemeClr val="tx1">
                    <a:lumMod val="75000"/>
                    <a:lumOff val="25000"/>
                  </a:schemeClr>
                </a:solidFill>
                <a:latin typeface="微软雅黑" pitchFamily="34" charset="-122"/>
              </a:rPr>
              <a:t>150</a:t>
            </a:r>
            <a:r>
              <a:rPr lang="zh-CN" altLang="zh-CN" dirty="0">
                <a:solidFill>
                  <a:schemeClr val="tx1">
                    <a:lumMod val="75000"/>
                    <a:lumOff val="25000"/>
                  </a:schemeClr>
                </a:solidFill>
                <a:latin typeface="微软雅黑" pitchFamily="34" charset="-122"/>
              </a:rPr>
              <a:t>、</a:t>
            </a:r>
            <a:r>
              <a:rPr lang="en-US" altLang="zh-CN" dirty="0">
                <a:solidFill>
                  <a:schemeClr val="tx1">
                    <a:lumMod val="75000"/>
                    <a:lumOff val="25000"/>
                  </a:schemeClr>
                </a:solidFill>
                <a:latin typeface="微软雅黑" pitchFamily="34" charset="-122"/>
              </a:rPr>
              <a:t>10</a:t>
            </a:r>
            <a:r>
              <a:rPr lang="zh-CN" altLang="zh-CN" dirty="0">
                <a:solidFill>
                  <a:schemeClr val="tx1">
                    <a:lumMod val="75000"/>
                    <a:lumOff val="25000"/>
                  </a:schemeClr>
                </a:solidFill>
                <a:latin typeface="微软雅黑" pitchFamily="34" charset="-122"/>
              </a:rPr>
              <a:t>、</a:t>
            </a:r>
            <a:r>
              <a:rPr lang="en-US" altLang="zh-CN" dirty="0">
                <a:solidFill>
                  <a:schemeClr val="tx1">
                    <a:lumMod val="75000"/>
                    <a:lumOff val="25000"/>
                  </a:schemeClr>
                </a:solidFill>
                <a:latin typeface="微软雅黑" pitchFamily="34" charset="-122"/>
              </a:rPr>
              <a:t>135</a:t>
            </a:r>
            <a:r>
              <a:rPr lang="zh-CN" altLang="zh-CN" dirty="0">
                <a:solidFill>
                  <a:schemeClr val="tx1">
                    <a:lumMod val="75000"/>
                    <a:lumOff val="25000"/>
                  </a:schemeClr>
                </a:solidFill>
                <a:latin typeface="微软雅黑" pitchFamily="34" charset="-122"/>
              </a:rPr>
              <a:t>、</a:t>
            </a:r>
            <a:r>
              <a:rPr lang="en-US" altLang="zh-CN" dirty="0">
                <a:solidFill>
                  <a:schemeClr val="tx1">
                    <a:lumMod val="75000"/>
                    <a:lumOff val="25000"/>
                  </a:schemeClr>
                </a:solidFill>
                <a:latin typeface="微软雅黑" pitchFamily="34" charset="-122"/>
              </a:rPr>
              <a:t>110</a:t>
            </a:r>
            <a:r>
              <a:rPr lang="zh-CN" altLang="zh-CN" dirty="0">
                <a:solidFill>
                  <a:schemeClr val="tx1">
                    <a:lumMod val="75000"/>
                    <a:lumOff val="25000"/>
                  </a:schemeClr>
                </a:solidFill>
                <a:latin typeface="微软雅黑" pitchFamily="34" charset="-122"/>
              </a:rPr>
              <a:t>，</a:t>
            </a:r>
            <a:r>
              <a:rPr lang="zh-CN" altLang="en-US" dirty="0">
                <a:solidFill>
                  <a:schemeClr val="tx1">
                    <a:lumMod val="75000"/>
                    <a:lumOff val="25000"/>
                  </a:schemeClr>
                </a:solidFill>
                <a:latin typeface="微软雅黑" pitchFamily="34" charset="-122"/>
              </a:rPr>
              <a:t>试</a:t>
            </a:r>
            <a:r>
              <a:rPr lang="zh-CN" altLang="zh-CN" dirty="0">
                <a:solidFill>
                  <a:schemeClr val="tx1">
                    <a:lumMod val="75000"/>
                    <a:lumOff val="25000"/>
                  </a:schemeClr>
                </a:solidFill>
                <a:latin typeface="微软雅黑" pitchFamily="34" charset="-122"/>
              </a:rPr>
              <a:t>求</a:t>
            </a:r>
            <a:r>
              <a:rPr lang="en-US" altLang="zh-CN" dirty="0">
                <a:solidFill>
                  <a:schemeClr val="tx1">
                    <a:lumMod val="75000"/>
                    <a:lumOff val="25000"/>
                  </a:schemeClr>
                </a:solidFill>
                <a:latin typeface="微软雅黑" pitchFamily="34" charset="-122"/>
              </a:rPr>
              <a:t>FCFS</a:t>
            </a:r>
            <a:r>
              <a:rPr lang="zh-CN" altLang="en-US" dirty="0">
                <a:solidFill>
                  <a:schemeClr val="tx1">
                    <a:lumMod val="75000"/>
                    <a:lumOff val="25000"/>
                  </a:schemeClr>
                </a:solidFill>
                <a:latin typeface="微软雅黑" pitchFamily="34" charset="-122"/>
              </a:rPr>
              <a:t>算法</a:t>
            </a:r>
            <a:r>
              <a:rPr lang="zh-CN" altLang="zh-CN" dirty="0">
                <a:solidFill>
                  <a:schemeClr val="tx1">
                    <a:lumMod val="75000"/>
                    <a:lumOff val="25000"/>
                  </a:schemeClr>
                </a:solidFill>
                <a:latin typeface="微软雅黑" pitchFamily="34" charset="-122"/>
              </a:rPr>
              <a:t>平均寻道长度</a:t>
            </a:r>
            <a:r>
              <a:rPr lang="zh-CN" altLang="en-US" dirty="0">
                <a:solidFill>
                  <a:schemeClr val="tx1">
                    <a:lumMod val="75000"/>
                    <a:lumOff val="25000"/>
                  </a:schemeClr>
                </a:solidFill>
                <a:latin typeface="微软雅黑" pitchFamily="34" charset="-122"/>
              </a:rPr>
              <a:t>。</a:t>
            </a:r>
            <a:endParaRPr lang="en-US" altLang="zh-CN" dirty="0">
              <a:solidFill>
                <a:schemeClr val="tx1">
                  <a:lumMod val="75000"/>
                  <a:lumOff val="25000"/>
                </a:schemeClr>
              </a:solidFill>
              <a:latin typeface="微软雅黑" pitchFamily="34" charset="-122"/>
            </a:endParaRPr>
          </a:p>
          <a:p>
            <a:pPr marL="0" indent="0">
              <a:buNone/>
              <a:defRPr/>
            </a:pPr>
            <a:endParaRPr lang="en-US" altLang="zh-CN" dirty="0">
              <a:solidFill>
                <a:schemeClr val="tx1">
                  <a:lumMod val="85000"/>
                  <a:lumOff val="15000"/>
                </a:schemeClr>
              </a:solidFill>
              <a:latin typeface="微软雅黑" pitchFamily="34" charset="-122"/>
            </a:endParaRPr>
          </a:p>
          <a:p>
            <a:pPr marL="0" indent="0">
              <a:buNone/>
              <a:defRPr/>
            </a:pPr>
            <a:endParaRPr lang="en-US" altLang="zh-CN" dirty="0">
              <a:solidFill>
                <a:schemeClr val="tx1">
                  <a:lumMod val="85000"/>
                  <a:lumOff val="15000"/>
                </a:schemeClr>
              </a:solidFill>
            </a:endParaRPr>
          </a:p>
        </p:txBody>
      </p:sp>
      <p:graphicFrame>
        <p:nvGraphicFramePr>
          <p:cNvPr id="4" name="表格 3">
            <a:extLst>
              <a:ext uri="{FF2B5EF4-FFF2-40B4-BE49-F238E27FC236}">
                <a16:creationId xmlns:a16="http://schemas.microsoft.com/office/drawing/2014/main" id="{71D7410B-1553-4E6E-A176-4FFF41972510}"/>
              </a:ext>
            </a:extLst>
          </p:cNvPr>
          <p:cNvGraphicFramePr>
            <a:graphicFrameLocks noGrp="1"/>
          </p:cNvGraphicFramePr>
          <p:nvPr/>
        </p:nvGraphicFramePr>
        <p:xfrm>
          <a:off x="3810000" y="2838450"/>
          <a:ext cx="4419600" cy="3579810"/>
        </p:xfrm>
        <a:graphic>
          <a:graphicData uri="http://schemas.openxmlformats.org/drawingml/2006/table">
            <a:tbl>
              <a:tblPr firstRow="1" firstCol="1" bandRow="1">
                <a:tableStyleId>{5C22544A-7EE6-4342-B048-85BDC9FD1C3A}</a:tableStyleId>
              </a:tblPr>
              <a:tblGrid>
                <a:gridCol w="2144268">
                  <a:extLst>
                    <a:ext uri="{9D8B030D-6E8A-4147-A177-3AD203B41FA5}">
                      <a16:colId xmlns:a16="http://schemas.microsoft.com/office/drawing/2014/main" val="20000"/>
                    </a:ext>
                  </a:extLst>
                </a:gridCol>
                <a:gridCol w="2275332">
                  <a:extLst>
                    <a:ext uri="{9D8B030D-6E8A-4147-A177-3AD203B41FA5}">
                      <a16:colId xmlns:a16="http://schemas.microsoft.com/office/drawing/2014/main" val="20001"/>
                    </a:ext>
                  </a:extLst>
                </a:gridCol>
              </a:tblGrid>
              <a:tr h="286137">
                <a:tc gridSpan="2">
                  <a:txBody>
                    <a:bodyPr/>
                    <a:lstStyle/>
                    <a:p>
                      <a:pPr indent="127000" algn="ctr">
                        <a:lnSpc>
                          <a:spcPts val="1800"/>
                        </a:lnSpc>
                        <a:spcBef>
                          <a:spcPts val="200"/>
                        </a:spcBef>
                        <a:spcAft>
                          <a:spcPts val="200"/>
                        </a:spcAft>
                      </a:pPr>
                      <a:r>
                        <a:rPr lang="zh-CN" sz="1600" kern="100">
                          <a:effectLst/>
                          <a:latin typeface="+mn-lt"/>
                          <a:ea typeface="微软雅黑" pitchFamily="34" charset="-122"/>
                        </a:rPr>
                        <a:t>从</a:t>
                      </a:r>
                      <a:r>
                        <a:rPr lang="en-US" sz="1600" kern="100">
                          <a:effectLst/>
                          <a:latin typeface="+mn-lt"/>
                          <a:ea typeface="微软雅黑" pitchFamily="34" charset="-122"/>
                        </a:rPr>
                        <a:t>67</a:t>
                      </a:r>
                      <a:r>
                        <a:rPr lang="zh-CN" sz="1600" kern="100">
                          <a:effectLst/>
                          <a:latin typeface="+mn-lt"/>
                          <a:ea typeface="微软雅黑" pitchFamily="34" charset="-122"/>
                        </a:rPr>
                        <a:t>号磁道开始</a:t>
                      </a:r>
                      <a:endParaRPr lang="zh-CN" sz="1600" kern="100">
                        <a:effectLst/>
                        <a:latin typeface="+mn-lt"/>
                        <a:ea typeface="微软雅黑" pitchFamily="34" charset="-122"/>
                        <a:cs typeface="Times New Roman"/>
                      </a:endParaRPr>
                    </a:p>
                  </a:txBody>
                  <a:tcPr marL="68582" marR="68582" marT="0" marB="0" anchor="ctr"/>
                </a:tc>
                <a:tc hMerge="1">
                  <a:txBody>
                    <a:bodyPr/>
                    <a:lstStyle/>
                    <a:p>
                      <a:endParaRPr lang="zh-CN" altLang="en-US"/>
                    </a:p>
                  </a:txBody>
                  <a:tcPr/>
                </a:tc>
                <a:extLst>
                  <a:ext uri="{0D108BD9-81ED-4DB2-BD59-A6C34878D82A}">
                    <a16:rowId xmlns:a16="http://schemas.microsoft.com/office/drawing/2014/main" val="10000"/>
                  </a:ext>
                </a:extLst>
              </a:tr>
              <a:tr h="399444">
                <a:tc>
                  <a:txBody>
                    <a:bodyPr/>
                    <a:lstStyle/>
                    <a:p>
                      <a:pPr indent="127000" algn="ctr">
                        <a:lnSpc>
                          <a:spcPts val="1800"/>
                        </a:lnSpc>
                        <a:spcBef>
                          <a:spcPts val="200"/>
                        </a:spcBef>
                        <a:spcAft>
                          <a:spcPts val="200"/>
                        </a:spcAft>
                      </a:pPr>
                      <a:r>
                        <a:rPr lang="zh-CN" sz="1600" kern="100">
                          <a:effectLst/>
                          <a:latin typeface="+mn-lt"/>
                          <a:ea typeface="微软雅黑" pitchFamily="34" charset="-122"/>
                        </a:rPr>
                        <a:t>访问的下一磁道号</a:t>
                      </a:r>
                      <a:endParaRPr lang="zh-CN" sz="1600" kern="100">
                        <a:effectLst/>
                        <a:latin typeface="+mn-lt"/>
                        <a:ea typeface="微软雅黑" pitchFamily="34" charset="-122"/>
                        <a:cs typeface="Times New Roman"/>
                      </a:endParaRPr>
                    </a:p>
                  </a:txBody>
                  <a:tcPr marL="68582" marR="68582" marT="0" marB="0" anchor="ctr"/>
                </a:tc>
                <a:tc>
                  <a:txBody>
                    <a:bodyPr/>
                    <a:lstStyle/>
                    <a:p>
                      <a:pPr indent="53340" algn="ctr">
                        <a:lnSpc>
                          <a:spcPts val="1800"/>
                        </a:lnSpc>
                        <a:spcBef>
                          <a:spcPts val="200"/>
                        </a:spcBef>
                        <a:spcAft>
                          <a:spcPts val="200"/>
                        </a:spcAft>
                      </a:pPr>
                      <a:r>
                        <a:rPr lang="zh-CN" sz="1600" kern="100">
                          <a:effectLst/>
                          <a:latin typeface="+mn-lt"/>
                          <a:ea typeface="微软雅黑" pitchFamily="34" charset="-122"/>
                        </a:rPr>
                        <a:t>移动距离（磁道数）</a:t>
                      </a:r>
                      <a:endParaRPr lang="zh-CN" sz="1600" kern="100">
                        <a:effectLst/>
                        <a:latin typeface="+mn-lt"/>
                        <a:ea typeface="微软雅黑" pitchFamily="34" charset="-122"/>
                        <a:cs typeface="Times New Roman"/>
                      </a:endParaRPr>
                    </a:p>
                  </a:txBody>
                  <a:tcPr marL="68582" marR="68582" marT="0" marB="0" anchor="ctr"/>
                </a:tc>
                <a:extLst>
                  <a:ext uri="{0D108BD9-81ED-4DB2-BD59-A6C34878D82A}">
                    <a16:rowId xmlns:a16="http://schemas.microsoft.com/office/drawing/2014/main" val="10001"/>
                  </a:ext>
                </a:extLst>
              </a:tr>
              <a:tr h="289788">
                <a:tc>
                  <a:txBody>
                    <a:bodyPr/>
                    <a:lstStyle/>
                    <a:p>
                      <a:pPr indent="127000" algn="ctr">
                        <a:lnSpc>
                          <a:spcPts val="1800"/>
                        </a:lnSpc>
                        <a:spcBef>
                          <a:spcPts val="200"/>
                        </a:spcBef>
                        <a:spcAft>
                          <a:spcPts val="200"/>
                        </a:spcAft>
                      </a:pPr>
                      <a:r>
                        <a:rPr lang="en-US" sz="1600" kern="100">
                          <a:effectLst/>
                          <a:latin typeface="+mn-lt"/>
                          <a:ea typeface="微软雅黑" pitchFamily="34" charset="-122"/>
                        </a:rPr>
                        <a:t>186</a:t>
                      </a:r>
                      <a:endParaRPr lang="zh-CN" sz="1600" kern="100">
                        <a:effectLst/>
                        <a:latin typeface="+mn-lt"/>
                        <a:ea typeface="微软雅黑" pitchFamily="34" charset="-122"/>
                        <a:cs typeface="Times New Roman"/>
                      </a:endParaRPr>
                    </a:p>
                  </a:txBody>
                  <a:tcPr marL="68582" marR="68582" marT="0" marB="0" anchor="ctr"/>
                </a:tc>
                <a:tc>
                  <a:txBody>
                    <a:bodyPr/>
                    <a:lstStyle/>
                    <a:p>
                      <a:pPr indent="53340" algn="ctr">
                        <a:lnSpc>
                          <a:spcPts val="1800"/>
                        </a:lnSpc>
                        <a:spcBef>
                          <a:spcPts val="200"/>
                        </a:spcBef>
                        <a:spcAft>
                          <a:spcPts val="200"/>
                        </a:spcAft>
                      </a:pPr>
                      <a:r>
                        <a:rPr lang="en-US" sz="1600" kern="100">
                          <a:effectLst/>
                          <a:latin typeface="+mn-lt"/>
                          <a:ea typeface="微软雅黑" pitchFamily="34" charset="-122"/>
                        </a:rPr>
                        <a:t>119</a:t>
                      </a:r>
                      <a:endParaRPr lang="zh-CN" sz="1600" kern="100">
                        <a:effectLst/>
                        <a:latin typeface="+mn-lt"/>
                        <a:ea typeface="微软雅黑" pitchFamily="34" charset="-122"/>
                        <a:cs typeface="Times New Roman"/>
                      </a:endParaRPr>
                    </a:p>
                  </a:txBody>
                  <a:tcPr marL="68582" marR="68582" marT="0" marB="0" anchor="ctr"/>
                </a:tc>
                <a:extLst>
                  <a:ext uri="{0D108BD9-81ED-4DB2-BD59-A6C34878D82A}">
                    <a16:rowId xmlns:a16="http://schemas.microsoft.com/office/drawing/2014/main" val="10002"/>
                  </a:ext>
                </a:extLst>
              </a:tr>
              <a:tr h="289788">
                <a:tc>
                  <a:txBody>
                    <a:bodyPr/>
                    <a:lstStyle/>
                    <a:p>
                      <a:pPr indent="127000" algn="ctr">
                        <a:lnSpc>
                          <a:spcPts val="1800"/>
                        </a:lnSpc>
                        <a:spcBef>
                          <a:spcPts val="200"/>
                        </a:spcBef>
                        <a:spcAft>
                          <a:spcPts val="200"/>
                        </a:spcAft>
                      </a:pPr>
                      <a:r>
                        <a:rPr lang="en-US" sz="1600" kern="100">
                          <a:effectLst/>
                          <a:latin typeface="+mn-lt"/>
                          <a:ea typeface="微软雅黑" pitchFamily="34" charset="-122"/>
                        </a:rPr>
                        <a:t>47</a:t>
                      </a:r>
                      <a:endParaRPr lang="zh-CN" sz="1600" kern="100">
                        <a:effectLst/>
                        <a:latin typeface="+mn-lt"/>
                        <a:ea typeface="微软雅黑" pitchFamily="34" charset="-122"/>
                        <a:cs typeface="Times New Roman"/>
                      </a:endParaRPr>
                    </a:p>
                  </a:txBody>
                  <a:tcPr marL="68582" marR="68582" marT="0" marB="0" anchor="ctr"/>
                </a:tc>
                <a:tc>
                  <a:txBody>
                    <a:bodyPr/>
                    <a:lstStyle/>
                    <a:p>
                      <a:pPr indent="53340" algn="ctr">
                        <a:lnSpc>
                          <a:spcPts val="1800"/>
                        </a:lnSpc>
                        <a:spcBef>
                          <a:spcPts val="200"/>
                        </a:spcBef>
                        <a:spcAft>
                          <a:spcPts val="200"/>
                        </a:spcAft>
                      </a:pPr>
                      <a:r>
                        <a:rPr lang="en-US" sz="1600" kern="100">
                          <a:effectLst/>
                          <a:latin typeface="+mn-lt"/>
                          <a:ea typeface="微软雅黑" pitchFamily="34" charset="-122"/>
                        </a:rPr>
                        <a:t>139</a:t>
                      </a:r>
                      <a:endParaRPr lang="zh-CN" sz="1600" kern="100">
                        <a:effectLst/>
                        <a:latin typeface="+mn-lt"/>
                        <a:ea typeface="微软雅黑" pitchFamily="34" charset="-122"/>
                        <a:cs typeface="Times New Roman"/>
                      </a:endParaRPr>
                    </a:p>
                  </a:txBody>
                  <a:tcPr marL="68582" marR="68582" marT="0" marB="0" anchor="ctr"/>
                </a:tc>
                <a:extLst>
                  <a:ext uri="{0D108BD9-81ED-4DB2-BD59-A6C34878D82A}">
                    <a16:rowId xmlns:a16="http://schemas.microsoft.com/office/drawing/2014/main" val="10003"/>
                  </a:ext>
                </a:extLst>
              </a:tr>
              <a:tr h="289788">
                <a:tc>
                  <a:txBody>
                    <a:bodyPr/>
                    <a:lstStyle/>
                    <a:p>
                      <a:pPr indent="127000" algn="ctr">
                        <a:lnSpc>
                          <a:spcPts val="1800"/>
                        </a:lnSpc>
                        <a:spcBef>
                          <a:spcPts val="200"/>
                        </a:spcBef>
                        <a:spcAft>
                          <a:spcPts val="200"/>
                        </a:spcAft>
                      </a:pPr>
                      <a:r>
                        <a:rPr lang="en-US" sz="1600" kern="100">
                          <a:effectLst/>
                          <a:latin typeface="+mn-lt"/>
                          <a:ea typeface="微软雅黑" pitchFamily="34" charset="-122"/>
                        </a:rPr>
                        <a:t>9</a:t>
                      </a:r>
                      <a:endParaRPr lang="zh-CN" sz="1600" kern="100">
                        <a:effectLst/>
                        <a:latin typeface="+mn-lt"/>
                        <a:ea typeface="微软雅黑" pitchFamily="34" charset="-122"/>
                        <a:cs typeface="Times New Roman"/>
                      </a:endParaRPr>
                    </a:p>
                  </a:txBody>
                  <a:tcPr marL="68582" marR="68582" marT="0" marB="0" anchor="ctr"/>
                </a:tc>
                <a:tc>
                  <a:txBody>
                    <a:bodyPr/>
                    <a:lstStyle/>
                    <a:p>
                      <a:pPr indent="53340" algn="ctr">
                        <a:lnSpc>
                          <a:spcPts val="1800"/>
                        </a:lnSpc>
                        <a:spcBef>
                          <a:spcPts val="200"/>
                        </a:spcBef>
                        <a:spcAft>
                          <a:spcPts val="200"/>
                        </a:spcAft>
                      </a:pPr>
                      <a:r>
                        <a:rPr lang="en-US" sz="1600" kern="100">
                          <a:effectLst/>
                          <a:latin typeface="+mn-lt"/>
                          <a:ea typeface="微软雅黑" pitchFamily="34" charset="-122"/>
                        </a:rPr>
                        <a:t>38</a:t>
                      </a:r>
                      <a:endParaRPr lang="zh-CN" sz="1600" kern="100">
                        <a:effectLst/>
                        <a:latin typeface="+mn-lt"/>
                        <a:ea typeface="微软雅黑" pitchFamily="34" charset="-122"/>
                        <a:cs typeface="Times New Roman"/>
                      </a:endParaRPr>
                    </a:p>
                  </a:txBody>
                  <a:tcPr marL="68582" marR="68582" marT="0" marB="0" anchor="ctr"/>
                </a:tc>
                <a:extLst>
                  <a:ext uri="{0D108BD9-81ED-4DB2-BD59-A6C34878D82A}">
                    <a16:rowId xmlns:a16="http://schemas.microsoft.com/office/drawing/2014/main" val="10004"/>
                  </a:ext>
                </a:extLst>
              </a:tr>
              <a:tr h="289788">
                <a:tc>
                  <a:txBody>
                    <a:bodyPr/>
                    <a:lstStyle/>
                    <a:p>
                      <a:pPr indent="127000" algn="ctr">
                        <a:lnSpc>
                          <a:spcPts val="1800"/>
                        </a:lnSpc>
                        <a:spcBef>
                          <a:spcPts val="200"/>
                        </a:spcBef>
                        <a:spcAft>
                          <a:spcPts val="200"/>
                        </a:spcAft>
                      </a:pPr>
                      <a:r>
                        <a:rPr lang="en-US" sz="1600" kern="100">
                          <a:effectLst/>
                          <a:latin typeface="+mn-lt"/>
                          <a:ea typeface="微软雅黑" pitchFamily="34" charset="-122"/>
                        </a:rPr>
                        <a:t>77</a:t>
                      </a:r>
                      <a:endParaRPr lang="zh-CN" sz="1600" kern="100">
                        <a:effectLst/>
                        <a:latin typeface="+mn-lt"/>
                        <a:ea typeface="微软雅黑" pitchFamily="34" charset="-122"/>
                        <a:cs typeface="Times New Roman"/>
                      </a:endParaRPr>
                    </a:p>
                  </a:txBody>
                  <a:tcPr marL="68582" marR="68582" marT="0" marB="0" anchor="ctr"/>
                </a:tc>
                <a:tc>
                  <a:txBody>
                    <a:bodyPr/>
                    <a:lstStyle/>
                    <a:p>
                      <a:pPr indent="53340" algn="ctr">
                        <a:lnSpc>
                          <a:spcPts val="1800"/>
                        </a:lnSpc>
                        <a:spcBef>
                          <a:spcPts val="200"/>
                        </a:spcBef>
                        <a:spcAft>
                          <a:spcPts val="200"/>
                        </a:spcAft>
                      </a:pPr>
                      <a:r>
                        <a:rPr lang="en-US" sz="1600" kern="100">
                          <a:effectLst/>
                          <a:latin typeface="+mn-lt"/>
                          <a:ea typeface="微软雅黑" pitchFamily="34" charset="-122"/>
                        </a:rPr>
                        <a:t>68</a:t>
                      </a:r>
                      <a:endParaRPr lang="zh-CN" sz="1600" kern="100">
                        <a:effectLst/>
                        <a:latin typeface="+mn-lt"/>
                        <a:ea typeface="微软雅黑" pitchFamily="34" charset="-122"/>
                        <a:cs typeface="Times New Roman"/>
                      </a:endParaRPr>
                    </a:p>
                  </a:txBody>
                  <a:tcPr marL="68582" marR="68582" marT="0" marB="0" anchor="ctr"/>
                </a:tc>
                <a:extLst>
                  <a:ext uri="{0D108BD9-81ED-4DB2-BD59-A6C34878D82A}">
                    <a16:rowId xmlns:a16="http://schemas.microsoft.com/office/drawing/2014/main" val="10005"/>
                  </a:ext>
                </a:extLst>
              </a:tr>
              <a:tr h="289788">
                <a:tc>
                  <a:txBody>
                    <a:bodyPr/>
                    <a:lstStyle/>
                    <a:p>
                      <a:pPr indent="127000" algn="ctr">
                        <a:lnSpc>
                          <a:spcPts val="1800"/>
                        </a:lnSpc>
                        <a:spcBef>
                          <a:spcPts val="200"/>
                        </a:spcBef>
                        <a:spcAft>
                          <a:spcPts val="200"/>
                        </a:spcAft>
                      </a:pPr>
                      <a:r>
                        <a:rPr lang="en-US" sz="1600" kern="100">
                          <a:effectLst/>
                          <a:latin typeface="+mn-lt"/>
                          <a:ea typeface="微软雅黑" pitchFamily="34" charset="-122"/>
                        </a:rPr>
                        <a:t>194</a:t>
                      </a:r>
                      <a:endParaRPr lang="zh-CN" sz="1600" kern="100">
                        <a:effectLst/>
                        <a:latin typeface="+mn-lt"/>
                        <a:ea typeface="微软雅黑" pitchFamily="34" charset="-122"/>
                        <a:cs typeface="Times New Roman"/>
                      </a:endParaRPr>
                    </a:p>
                  </a:txBody>
                  <a:tcPr marL="68582" marR="68582" marT="0" marB="0" anchor="ctr"/>
                </a:tc>
                <a:tc>
                  <a:txBody>
                    <a:bodyPr/>
                    <a:lstStyle/>
                    <a:p>
                      <a:pPr indent="53340" algn="ctr">
                        <a:lnSpc>
                          <a:spcPts val="1800"/>
                        </a:lnSpc>
                        <a:spcBef>
                          <a:spcPts val="200"/>
                        </a:spcBef>
                        <a:spcAft>
                          <a:spcPts val="200"/>
                        </a:spcAft>
                      </a:pPr>
                      <a:r>
                        <a:rPr lang="en-US" sz="1600" kern="100">
                          <a:effectLst/>
                          <a:latin typeface="+mn-lt"/>
                          <a:ea typeface="微软雅黑" pitchFamily="34" charset="-122"/>
                        </a:rPr>
                        <a:t>117</a:t>
                      </a:r>
                      <a:endParaRPr lang="zh-CN" sz="1600" kern="100">
                        <a:effectLst/>
                        <a:latin typeface="+mn-lt"/>
                        <a:ea typeface="微软雅黑" pitchFamily="34" charset="-122"/>
                        <a:cs typeface="Times New Roman"/>
                      </a:endParaRPr>
                    </a:p>
                  </a:txBody>
                  <a:tcPr marL="68582" marR="68582" marT="0" marB="0" anchor="ctr"/>
                </a:tc>
                <a:extLst>
                  <a:ext uri="{0D108BD9-81ED-4DB2-BD59-A6C34878D82A}">
                    <a16:rowId xmlns:a16="http://schemas.microsoft.com/office/drawing/2014/main" val="10006"/>
                  </a:ext>
                </a:extLst>
              </a:tr>
              <a:tr h="289788">
                <a:tc>
                  <a:txBody>
                    <a:bodyPr/>
                    <a:lstStyle/>
                    <a:p>
                      <a:pPr indent="127000" algn="ctr">
                        <a:lnSpc>
                          <a:spcPts val="1800"/>
                        </a:lnSpc>
                        <a:spcBef>
                          <a:spcPts val="200"/>
                        </a:spcBef>
                        <a:spcAft>
                          <a:spcPts val="200"/>
                        </a:spcAft>
                      </a:pPr>
                      <a:r>
                        <a:rPr lang="en-US" sz="1600" kern="100">
                          <a:effectLst/>
                          <a:latin typeface="+mn-lt"/>
                          <a:ea typeface="微软雅黑" pitchFamily="34" charset="-122"/>
                        </a:rPr>
                        <a:t>150</a:t>
                      </a:r>
                      <a:endParaRPr lang="zh-CN" sz="1600" kern="100">
                        <a:effectLst/>
                        <a:latin typeface="+mn-lt"/>
                        <a:ea typeface="微软雅黑" pitchFamily="34" charset="-122"/>
                        <a:cs typeface="Times New Roman"/>
                      </a:endParaRPr>
                    </a:p>
                  </a:txBody>
                  <a:tcPr marL="68582" marR="68582" marT="0" marB="0" anchor="ctr"/>
                </a:tc>
                <a:tc>
                  <a:txBody>
                    <a:bodyPr/>
                    <a:lstStyle/>
                    <a:p>
                      <a:pPr indent="53340" algn="ctr">
                        <a:lnSpc>
                          <a:spcPts val="1800"/>
                        </a:lnSpc>
                        <a:spcBef>
                          <a:spcPts val="200"/>
                        </a:spcBef>
                        <a:spcAft>
                          <a:spcPts val="200"/>
                        </a:spcAft>
                      </a:pPr>
                      <a:r>
                        <a:rPr lang="en-US" sz="1600" kern="100">
                          <a:effectLst/>
                          <a:latin typeface="+mn-lt"/>
                          <a:ea typeface="微软雅黑" pitchFamily="34" charset="-122"/>
                        </a:rPr>
                        <a:t>44</a:t>
                      </a:r>
                      <a:endParaRPr lang="zh-CN" sz="1600" kern="100">
                        <a:effectLst/>
                        <a:latin typeface="+mn-lt"/>
                        <a:ea typeface="微软雅黑" pitchFamily="34" charset="-122"/>
                        <a:cs typeface="Times New Roman"/>
                      </a:endParaRPr>
                    </a:p>
                  </a:txBody>
                  <a:tcPr marL="68582" marR="68582" marT="0" marB="0" anchor="ctr"/>
                </a:tc>
                <a:extLst>
                  <a:ext uri="{0D108BD9-81ED-4DB2-BD59-A6C34878D82A}">
                    <a16:rowId xmlns:a16="http://schemas.microsoft.com/office/drawing/2014/main" val="10007"/>
                  </a:ext>
                </a:extLst>
              </a:tr>
              <a:tr h="289788">
                <a:tc>
                  <a:txBody>
                    <a:bodyPr/>
                    <a:lstStyle/>
                    <a:p>
                      <a:pPr indent="127000" algn="ctr">
                        <a:lnSpc>
                          <a:spcPts val="1800"/>
                        </a:lnSpc>
                        <a:spcBef>
                          <a:spcPts val="200"/>
                        </a:spcBef>
                        <a:spcAft>
                          <a:spcPts val="200"/>
                        </a:spcAft>
                      </a:pPr>
                      <a:r>
                        <a:rPr lang="en-US" sz="1600" kern="100">
                          <a:effectLst/>
                          <a:latin typeface="+mn-lt"/>
                          <a:ea typeface="微软雅黑" pitchFamily="34" charset="-122"/>
                        </a:rPr>
                        <a:t>10</a:t>
                      </a:r>
                      <a:endParaRPr lang="zh-CN" sz="1600" kern="100">
                        <a:effectLst/>
                        <a:latin typeface="+mn-lt"/>
                        <a:ea typeface="微软雅黑" pitchFamily="34" charset="-122"/>
                        <a:cs typeface="Times New Roman"/>
                      </a:endParaRPr>
                    </a:p>
                  </a:txBody>
                  <a:tcPr marL="68582" marR="68582" marT="0" marB="0" anchor="ctr"/>
                </a:tc>
                <a:tc>
                  <a:txBody>
                    <a:bodyPr/>
                    <a:lstStyle/>
                    <a:p>
                      <a:pPr indent="53340" algn="ctr">
                        <a:lnSpc>
                          <a:spcPts val="1800"/>
                        </a:lnSpc>
                        <a:spcBef>
                          <a:spcPts val="200"/>
                        </a:spcBef>
                        <a:spcAft>
                          <a:spcPts val="200"/>
                        </a:spcAft>
                      </a:pPr>
                      <a:r>
                        <a:rPr lang="en-US" sz="1600" kern="100">
                          <a:effectLst/>
                          <a:latin typeface="+mn-lt"/>
                          <a:ea typeface="微软雅黑" pitchFamily="34" charset="-122"/>
                        </a:rPr>
                        <a:t>140</a:t>
                      </a:r>
                      <a:endParaRPr lang="zh-CN" sz="1600" kern="100">
                        <a:effectLst/>
                        <a:latin typeface="+mn-lt"/>
                        <a:ea typeface="微软雅黑" pitchFamily="34" charset="-122"/>
                        <a:cs typeface="Times New Roman"/>
                      </a:endParaRPr>
                    </a:p>
                  </a:txBody>
                  <a:tcPr marL="68582" marR="68582" marT="0" marB="0" anchor="ctr"/>
                </a:tc>
                <a:extLst>
                  <a:ext uri="{0D108BD9-81ED-4DB2-BD59-A6C34878D82A}">
                    <a16:rowId xmlns:a16="http://schemas.microsoft.com/office/drawing/2014/main" val="10008"/>
                  </a:ext>
                </a:extLst>
              </a:tr>
              <a:tr h="289788">
                <a:tc>
                  <a:txBody>
                    <a:bodyPr/>
                    <a:lstStyle/>
                    <a:p>
                      <a:pPr indent="127000" algn="ctr">
                        <a:lnSpc>
                          <a:spcPts val="1800"/>
                        </a:lnSpc>
                        <a:spcBef>
                          <a:spcPts val="200"/>
                        </a:spcBef>
                        <a:spcAft>
                          <a:spcPts val="200"/>
                        </a:spcAft>
                      </a:pPr>
                      <a:r>
                        <a:rPr lang="en-US" sz="1600" kern="100">
                          <a:effectLst/>
                          <a:latin typeface="+mn-lt"/>
                          <a:ea typeface="微软雅黑" pitchFamily="34" charset="-122"/>
                        </a:rPr>
                        <a:t>135</a:t>
                      </a:r>
                      <a:endParaRPr lang="zh-CN" sz="1600" kern="100">
                        <a:effectLst/>
                        <a:latin typeface="+mn-lt"/>
                        <a:ea typeface="微软雅黑" pitchFamily="34" charset="-122"/>
                        <a:cs typeface="Times New Roman"/>
                      </a:endParaRPr>
                    </a:p>
                  </a:txBody>
                  <a:tcPr marL="68582" marR="68582" marT="0" marB="0" anchor="ctr"/>
                </a:tc>
                <a:tc>
                  <a:txBody>
                    <a:bodyPr/>
                    <a:lstStyle/>
                    <a:p>
                      <a:pPr indent="53340" algn="ctr">
                        <a:lnSpc>
                          <a:spcPts val="1800"/>
                        </a:lnSpc>
                        <a:spcBef>
                          <a:spcPts val="200"/>
                        </a:spcBef>
                        <a:spcAft>
                          <a:spcPts val="200"/>
                        </a:spcAft>
                      </a:pPr>
                      <a:r>
                        <a:rPr lang="en-US" sz="1600" kern="100">
                          <a:effectLst/>
                          <a:latin typeface="+mn-lt"/>
                          <a:ea typeface="微软雅黑" pitchFamily="34" charset="-122"/>
                        </a:rPr>
                        <a:t>125</a:t>
                      </a:r>
                      <a:endParaRPr lang="zh-CN" sz="1600" kern="100">
                        <a:effectLst/>
                        <a:latin typeface="+mn-lt"/>
                        <a:ea typeface="微软雅黑" pitchFamily="34" charset="-122"/>
                        <a:cs typeface="Times New Roman"/>
                      </a:endParaRPr>
                    </a:p>
                  </a:txBody>
                  <a:tcPr marL="68582" marR="68582" marT="0" marB="0" anchor="ctr"/>
                </a:tc>
                <a:extLst>
                  <a:ext uri="{0D108BD9-81ED-4DB2-BD59-A6C34878D82A}">
                    <a16:rowId xmlns:a16="http://schemas.microsoft.com/office/drawing/2014/main" val="10009"/>
                  </a:ext>
                </a:extLst>
              </a:tr>
              <a:tr h="289788">
                <a:tc>
                  <a:txBody>
                    <a:bodyPr/>
                    <a:lstStyle/>
                    <a:p>
                      <a:pPr indent="127000" algn="ctr">
                        <a:lnSpc>
                          <a:spcPts val="1800"/>
                        </a:lnSpc>
                        <a:spcBef>
                          <a:spcPts val="200"/>
                        </a:spcBef>
                        <a:spcAft>
                          <a:spcPts val="200"/>
                        </a:spcAft>
                      </a:pPr>
                      <a:r>
                        <a:rPr lang="en-US" sz="1600" kern="100">
                          <a:effectLst/>
                          <a:latin typeface="+mn-lt"/>
                          <a:ea typeface="微软雅黑" pitchFamily="34" charset="-122"/>
                        </a:rPr>
                        <a:t>110</a:t>
                      </a:r>
                      <a:endParaRPr lang="zh-CN" sz="1600" kern="100">
                        <a:effectLst/>
                        <a:latin typeface="+mn-lt"/>
                        <a:ea typeface="微软雅黑" pitchFamily="34" charset="-122"/>
                        <a:cs typeface="Times New Roman"/>
                      </a:endParaRPr>
                    </a:p>
                  </a:txBody>
                  <a:tcPr marL="68582" marR="68582" marT="0" marB="0" anchor="ctr"/>
                </a:tc>
                <a:tc>
                  <a:txBody>
                    <a:bodyPr/>
                    <a:lstStyle/>
                    <a:p>
                      <a:pPr indent="53340" algn="ctr">
                        <a:lnSpc>
                          <a:spcPts val="1800"/>
                        </a:lnSpc>
                        <a:spcBef>
                          <a:spcPts val="200"/>
                        </a:spcBef>
                        <a:spcAft>
                          <a:spcPts val="200"/>
                        </a:spcAft>
                      </a:pPr>
                      <a:r>
                        <a:rPr lang="en-US" sz="1600" kern="100">
                          <a:effectLst/>
                          <a:latin typeface="+mn-lt"/>
                          <a:ea typeface="微软雅黑" pitchFamily="34" charset="-122"/>
                        </a:rPr>
                        <a:t>25</a:t>
                      </a:r>
                      <a:endParaRPr lang="zh-CN" sz="1600" kern="100">
                        <a:effectLst/>
                        <a:latin typeface="+mn-lt"/>
                        <a:ea typeface="微软雅黑" pitchFamily="34" charset="-122"/>
                        <a:cs typeface="Times New Roman"/>
                      </a:endParaRPr>
                    </a:p>
                  </a:txBody>
                  <a:tcPr marL="68582" marR="68582" marT="0" marB="0" anchor="ctr"/>
                </a:tc>
                <a:extLst>
                  <a:ext uri="{0D108BD9-81ED-4DB2-BD59-A6C34878D82A}">
                    <a16:rowId xmlns:a16="http://schemas.microsoft.com/office/drawing/2014/main" val="10010"/>
                  </a:ext>
                </a:extLst>
              </a:tr>
              <a:tr h="286137">
                <a:tc gridSpan="2">
                  <a:txBody>
                    <a:bodyPr/>
                    <a:lstStyle/>
                    <a:p>
                      <a:pPr indent="266700" algn="ctr">
                        <a:lnSpc>
                          <a:spcPts val="1800"/>
                        </a:lnSpc>
                        <a:spcBef>
                          <a:spcPts val="200"/>
                        </a:spcBef>
                        <a:spcAft>
                          <a:spcPts val="200"/>
                        </a:spcAft>
                      </a:pPr>
                      <a:r>
                        <a:rPr lang="zh-CN" sz="1600" kern="100" dirty="0">
                          <a:effectLst/>
                          <a:latin typeface="+mn-lt"/>
                          <a:ea typeface="微软雅黑" pitchFamily="34" charset="-122"/>
                        </a:rPr>
                        <a:t>平均寻道长度：</a:t>
                      </a:r>
                      <a:r>
                        <a:rPr lang="en-US" sz="1600" kern="100" dirty="0">
                          <a:effectLst/>
                          <a:latin typeface="+mn-lt"/>
                          <a:ea typeface="微软雅黑" pitchFamily="34" charset="-122"/>
                        </a:rPr>
                        <a:t>90.56</a:t>
                      </a:r>
                      <a:endParaRPr lang="zh-CN" sz="1600" kern="100" dirty="0">
                        <a:effectLst/>
                        <a:latin typeface="+mn-lt"/>
                        <a:ea typeface="微软雅黑" pitchFamily="34" charset="-122"/>
                        <a:cs typeface="Times New Roman"/>
                      </a:endParaRPr>
                    </a:p>
                  </a:txBody>
                  <a:tcPr marL="68582" marR="68582" marT="0" marB="0" anchor="ctr"/>
                </a:tc>
                <a:tc hMerge="1">
                  <a:txBody>
                    <a:bodyPr/>
                    <a:lstStyle/>
                    <a:p>
                      <a:endParaRPr lang="zh-CN" altLang="en-US"/>
                    </a:p>
                  </a:txBody>
                  <a:tcPr/>
                </a:tc>
                <a:extLst>
                  <a:ext uri="{0D108BD9-81ED-4DB2-BD59-A6C34878D82A}">
                    <a16:rowId xmlns:a16="http://schemas.microsoft.com/office/drawing/2014/main" val="10011"/>
                  </a:ext>
                </a:extLst>
              </a:tr>
            </a:tbl>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2. </a:t>
            </a:r>
            <a:r>
              <a:rPr lang="zh-CN" altLang="zh-CN" dirty="0"/>
              <a:t>最短寻道时间优先调度算法</a:t>
            </a:r>
            <a:endParaRPr lang="zh-CN" altLang="en-US" dirty="0"/>
          </a:p>
        </p:txBody>
      </p:sp>
      <p:sp>
        <p:nvSpPr>
          <p:cNvPr id="3" name="内容占位符 2"/>
          <p:cNvSpPr>
            <a:spLocks noGrp="1"/>
          </p:cNvSpPr>
          <p:nvPr>
            <p:ph idx="1"/>
          </p:nvPr>
        </p:nvSpPr>
        <p:spPr>
          <a:xfrm>
            <a:off x="608330" y="1227455"/>
            <a:ext cx="10968990" cy="3622337"/>
          </a:xfrm>
        </p:spPr>
        <p:txBody>
          <a:bodyPr>
            <a:normAutofit/>
          </a:bodyPr>
          <a:lstStyle/>
          <a:p>
            <a:r>
              <a:rPr lang="zh-CN" altLang="zh-CN" sz="2800" dirty="0"/>
              <a:t>最短寻道时间优先算法（</a:t>
            </a:r>
            <a:r>
              <a:rPr lang="en-US" altLang="zh-CN" sz="2800" dirty="0"/>
              <a:t>Shortest Seek Time First</a:t>
            </a:r>
            <a:r>
              <a:rPr lang="zh-CN" altLang="zh-CN" sz="2800" dirty="0"/>
              <a:t>，</a:t>
            </a:r>
            <a:r>
              <a:rPr lang="en-US" altLang="zh-CN" sz="2800" dirty="0"/>
              <a:t>SSTF</a:t>
            </a:r>
            <a:r>
              <a:rPr lang="zh-CN" altLang="zh-CN" sz="2800" dirty="0"/>
              <a:t>）选择磁盘</a:t>
            </a:r>
            <a:r>
              <a:rPr lang="en-US" altLang="zh-CN" sz="2800" dirty="0"/>
              <a:t>I/O</a:t>
            </a:r>
            <a:r>
              <a:rPr lang="zh-CN" altLang="zh-CN" sz="2800" dirty="0"/>
              <a:t>请求的原则是其</a:t>
            </a:r>
            <a:r>
              <a:rPr lang="zh-CN" altLang="zh-CN" sz="2800" dirty="0">
                <a:solidFill>
                  <a:srgbClr val="0000FF"/>
                </a:solidFill>
              </a:rPr>
              <a:t>要访问的磁道与当前磁头所在的磁道距离最近</a:t>
            </a:r>
            <a:r>
              <a:rPr lang="zh-CN" altLang="zh-CN" sz="2800" dirty="0"/>
              <a:t>以使每次的寻道时间最短。</a:t>
            </a:r>
            <a:endParaRPr lang="en-US" altLang="zh-CN" sz="2800" dirty="0"/>
          </a:p>
          <a:p>
            <a:r>
              <a:rPr lang="zh-CN" altLang="zh-CN" sz="2800" dirty="0"/>
              <a:t>此算法只从当前角度考虑，没有考虑全局，平均寻道时间可能不是最短。</a:t>
            </a:r>
            <a:endParaRPr lang="zh-CN" altLang="en-US" sz="2800" dirty="0"/>
          </a:p>
        </p:txBody>
      </p:sp>
      <p:sp>
        <p:nvSpPr>
          <p:cNvPr id="4" name="内容占位符 2">
            <a:extLst>
              <a:ext uri="{FF2B5EF4-FFF2-40B4-BE49-F238E27FC236}">
                <a16:creationId xmlns:a16="http://schemas.microsoft.com/office/drawing/2014/main" id="{97E10CB2-FE27-4A11-93FC-26CD78CD23E7}"/>
              </a:ext>
            </a:extLst>
          </p:cNvPr>
          <p:cNvSpPr txBox="1">
            <a:spLocks/>
          </p:cNvSpPr>
          <p:nvPr/>
        </p:nvSpPr>
        <p:spPr>
          <a:xfrm>
            <a:off x="608330" y="4919782"/>
            <a:ext cx="10968990" cy="960160"/>
          </a:xfrm>
          <a:prstGeom prst="rect">
            <a:avLst/>
          </a:prstGeo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Clr>
                <a:srgbClr val="2094CE"/>
              </a:buClr>
              <a:buSzPct val="80000"/>
              <a:buFont typeface="Arial" panose="020B0604020202020204" pitchFamily="34" charset="0"/>
              <a:buChar char="►"/>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Clr>
                <a:srgbClr val="FF9800"/>
              </a:buClr>
              <a:buSzPct val="90000"/>
              <a:buFont typeface="Arial" panose="020B0604020202020204" pitchFamily="34" charset="0"/>
              <a:buChar char="♦"/>
              <a:tabLst>
                <a:tab pos="1609725" algn="l"/>
              </a:tabLst>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800" dirty="0"/>
              <a:t>最短寻道时间优先算法可能导致某个进程发生“</a:t>
            </a:r>
            <a:r>
              <a:rPr lang="zh-CN" altLang="en-US" sz="2800" dirty="0">
                <a:solidFill>
                  <a:srgbClr val="0000FF"/>
                </a:solidFill>
              </a:rPr>
              <a:t>饥饿</a:t>
            </a:r>
            <a:r>
              <a:rPr lang="zh-CN" altLang="en-US" sz="2800" dirty="0"/>
              <a:t>”现象。</a:t>
            </a:r>
          </a:p>
        </p:txBody>
      </p:sp>
    </p:spTree>
    <p:extLst>
      <p:ext uri="{BB962C8B-B14F-4D97-AF65-F5344CB8AC3E}">
        <p14:creationId xmlns:p14="http://schemas.microsoft.com/office/powerpoint/2010/main" val="942084553"/>
      </p:ext>
    </p:extLst>
  </p:cSld>
  <p:clrMapOvr>
    <a:masterClrMapping/>
  </p:clrMapOvr>
  <p:transition>
    <p:random/>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5D1150-70E9-44B4-ABC5-9437FB9FE428}"/>
              </a:ext>
            </a:extLst>
          </p:cNvPr>
          <p:cNvSpPr>
            <a:spLocks noGrp="1"/>
          </p:cNvSpPr>
          <p:nvPr>
            <p:ph type="title"/>
          </p:nvPr>
        </p:nvSpPr>
        <p:spPr/>
        <p:txBody>
          <a:bodyPr/>
          <a:lstStyle/>
          <a:p>
            <a:pPr>
              <a:defRPr/>
            </a:pPr>
            <a:r>
              <a:rPr lang="zh-CN" altLang="en-US" dirty="0"/>
              <a:t>磁盘调度算法</a:t>
            </a:r>
          </a:p>
        </p:txBody>
      </p:sp>
      <p:sp>
        <p:nvSpPr>
          <p:cNvPr id="3" name="内容占位符 2">
            <a:extLst>
              <a:ext uri="{FF2B5EF4-FFF2-40B4-BE49-F238E27FC236}">
                <a16:creationId xmlns:a16="http://schemas.microsoft.com/office/drawing/2014/main" id="{F923D3F2-55C0-4DFB-88C3-67DB6D6C0E06}"/>
              </a:ext>
            </a:extLst>
          </p:cNvPr>
          <p:cNvSpPr>
            <a:spLocks noGrp="1"/>
          </p:cNvSpPr>
          <p:nvPr>
            <p:ph idx="1"/>
          </p:nvPr>
        </p:nvSpPr>
        <p:spPr>
          <a:xfrm>
            <a:off x="535305" y="1007536"/>
            <a:ext cx="10968990" cy="1619917"/>
          </a:xfrm>
        </p:spPr>
        <p:txBody>
          <a:bodyPr>
            <a:normAutofit lnSpcReduction="10000"/>
          </a:bodyPr>
          <a:lstStyle/>
          <a:p>
            <a:pPr marL="0" indent="0">
              <a:buNone/>
              <a:defRPr/>
            </a:pPr>
            <a:r>
              <a:rPr lang="zh-CN" altLang="en-US" dirty="0">
                <a:solidFill>
                  <a:schemeClr val="tx1">
                    <a:lumMod val="75000"/>
                    <a:lumOff val="25000"/>
                  </a:schemeClr>
                </a:solidFill>
                <a:latin typeface="微软雅黑" pitchFamily="34" charset="-122"/>
              </a:rPr>
              <a:t>例：</a:t>
            </a:r>
            <a:r>
              <a:rPr lang="zh-CN" altLang="zh-CN" dirty="0">
                <a:solidFill>
                  <a:schemeClr val="tx1">
                    <a:lumMod val="75000"/>
                    <a:lumOff val="25000"/>
                  </a:schemeClr>
                </a:solidFill>
                <a:latin typeface="微软雅黑" pitchFamily="34" charset="-122"/>
              </a:rPr>
              <a:t>假设当前磁头正在</a:t>
            </a:r>
            <a:r>
              <a:rPr lang="en-US" altLang="zh-CN" dirty="0">
                <a:solidFill>
                  <a:schemeClr val="tx1">
                    <a:lumMod val="75000"/>
                    <a:lumOff val="25000"/>
                  </a:schemeClr>
                </a:solidFill>
                <a:latin typeface="微软雅黑" pitchFamily="34" charset="-122"/>
              </a:rPr>
              <a:t>67</a:t>
            </a:r>
            <a:r>
              <a:rPr lang="zh-CN" altLang="zh-CN" dirty="0">
                <a:solidFill>
                  <a:schemeClr val="tx1">
                    <a:lumMod val="75000"/>
                    <a:lumOff val="25000"/>
                  </a:schemeClr>
                </a:solidFill>
                <a:latin typeface="微软雅黑" pitchFamily="34" charset="-122"/>
              </a:rPr>
              <a:t>号磁道上，其前一个访问的磁道为</a:t>
            </a:r>
            <a:r>
              <a:rPr lang="en-US" altLang="zh-CN" dirty="0">
                <a:solidFill>
                  <a:schemeClr val="tx1">
                    <a:lumMod val="75000"/>
                    <a:lumOff val="25000"/>
                  </a:schemeClr>
                </a:solidFill>
                <a:latin typeface="微软雅黑" pitchFamily="34" charset="-122"/>
              </a:rPr>
              <a:t>43</a:t>
            </a:r>
            <a:r>
              <a:rPr lang="zh-CN" altLang="zh-CN" dirty="0">
                <a:solidFill>
                  <a:schemeClr val="tx1">
                    <a:lumMod val="75000"/>
                    <a:lumOff val="25000"/>
                  </a:schemeClr>
                </a:solidFill>
                <a:latin typeface="微软雅黑" pitchFamily="34" charset="-122"/>
              </a:rPr>
              <a:t>号，现在同时有</a:t>
            </a:r>
            <a:r>
              <a:rPr lang="en-US" altLang="zh-CN" dirty="0">
                <a:solidFill>
                  <a:schemeClr val="tx1">
                    <a:lumMod val="75000"/>
                    <a:lumOff val="25000"/>
                  </a:schemeClr>
                </a:solidFill>
                <a:latin typeface="微软雅黑" pitchFamily="34" charset="-122"/>
              </a:rPr>
              <a:t> </a:t>
            </a:r>
            <a:r>
              <a:rPr lang="zh-CN" altLang="en-US" dirty="0">
                <a:solidFill>
                  <a:schemeClr val="tx1">
                    <a:lumMod val="75000"/>
                    <a:lumOff val="25000"/>
                  </a:schemeClr>
                </a:solidFill>
                <a:latin typeface="微软雅黑" pitchFamily="34" charset="-122"/>
              </a:rPr>
              <a:t>多个</a:t>
            </a:r>
            <a:r>
              <a:rPr lang="zh-CN" altLang="zh-CN" dirty="0">
                <a:solidFill>
                  <a:schemeClr val="tx1">
                    <a:lumMod val="75000"/>
                    <a:lumOff val="25000"/>
                  </a:schemeClr>
                </a:solidFill>
                <a:latin typeface="微软雅黑" pitchFamily="34" charset="-122"/>
              </a:rPr>
              <a:t>磁盘访问请求，它们依次要访问的磁道号为：</a:t>
            </a:r>
            <a:r>
              <a:rPr lang="en-US" altLang="zh-CN" dirty="0">
                <a:solidFill>
                  <a:schemeClr val="tx1">
                    <a:lumMod val="75000"/>
                    <a:lumOff val="25000"/>
                  </a:schemeClr>
                </a:solidFill>
                <a:latin typeface="微软雅黑" pitchFamily="34" charset="-122"/>
              </a:rPr>
              <a:t>186</a:t>
            </a:r>
            <a:r>
              <a:rPr lang="zh-CN" altLang="zh-CN" dirty="0">
                <a:solidFill>
                  <a:schemeClr val="tx1">
                    <a:lumMod val="75000"/>
                    <a:lumOff val="25000"/>
                  </a:schemeClr>
                </a:solidFill>
                <a:latin typeface="微软雅黑" pitchFamily="34" charset="-122"/>
              </a:rPr>
              <a:t>、</a:t>
            </a:r>
            <a:r>
              <a:rPr lang="en-US" altLang="zh-CN" dirty="0">
                <a:solidFill>
                  <a:schemeClr val="tx1">
                    <a:lumMod val="75000"/>
                    <a:lumOff val="25000"/>
                  </a:schemeClr>
                </a:solidFill>
                <a:latin typeface="微软雅黑" pitchFamily="34" charset="-122"/>
              </a:rPr>
              <a:t>47</a:t>
            </a:r>
            <a:r>
              <a:rPr lang="zh-CN" altLang="zh-CN" dirty="0">
                <a:solidFill>
                  <a:schemeClr val="tx1">
                    <a:lumMod val="75000"/>
                    <a:lumOff val="25000"/>
                  </a:schemeClr>
                </a:solidFill>
                <a:latin typeface="微软雅黑" pitchFamily="34" charset="-122"/>
              </a:rPr>
              <a:t>、</a:t>
            </a:r>
            <a:r>
              <a:rPr lang="en-US" altLang="zh-CN" dirty="0">
                <a:solidFill>
                  <a:schemeClr val="tx1">
                    <a:lumMod val="75000"/>
                    <a:lumOff val="25000"/>
                  </a:schemeClr>
                </a:solidFill>
                <a:latin typeface="微软雅黑" pitchFamily="34" charset="-122"/>
              </a:rPr>
              <a:t>9</a:t>
            </a:r>
            <a:r>
              <a:rPr lang="zh-CN" altLang="zh-CN" dirty="0">
                <a:solidFill>
                  <a:schemeClr val="tx1">
                    <a:lumMod val="75000"/>
                    <a:lumOff val="25000"/>
                  </a:schemeClr>
                </a:solidFill>
                <a:latin typeface="微软雅黑" pitchFamily="34" charset="-122"/>
              </a:rPr>
              <a:t>、</a:t>
            </a:r>
            <a:r>
              <a:rPr lang="en-US" altLang="zh-CN" dirty="0">
                <a:solidFill>
                  <a:schemeClr val="tx1">
                    <a:lumMod val="75000"/>
                    <a:lumOff val="25000"/>
                  </a:schemeClr>
                </a:solidFill>
                <a:latin typeface="微软雅黑" pitchFamily="34" charset="-122"/>
              </a:rPr>
              <a:t>77</a:t>
            </a:r>
            <a:r>
              <a:rPr lang="zh-CN" altLang="zh-CN" dirty="0">
                <a:solidFill>
                  <a:schemeClr val="tx1">
                    <a:lumMod val="75000"/>
                    <a:lumOff val="25000"/>
                  </a:schemeClr>
                </a:solidFill>
                <a:latin typeface="微软雅黑" pitchFamily="34" charset="-122"/>
              </a:rPr>
              <a:t>、</a:t>
            </a:r>
            <a:r>
              <a:rPr lang="en-US" altLang="zh-CN" dirty="0">
                <a:solidFill>
                  <a:schemeClr val="tx1">
                    <a:lumMod val="75000"/>
                    <a:lumOff val="25000"/>
                  </a:schemeClr>
                </a:solidFill>
                <a:latin typeface="微软雅黑" pitchFamily="34" charset="-122"/>
              </a:rPr>
              <a:t>194</a:t>
            </a:r>
            <a:r>
              <a:rPr lang="zh-CN" altLang="zh-CN" dirty="0">
                <a:solidFill>
                  <a:schemeClr val="tx1">
                    <a:lumMod val="75000"/>
                    <a:lumOff val="25000"/>
                  </a:schemeClr>
                </a:solidFill>
                <a:latin typeface="微软雅黑" pitchFamily="34" charset="-122"/>
              </a:rPr>
              <a:t>、</a:t>
            </a:r>
            <a:r>
              <a:rPr lang="en-US" altLang="zh-CN" dirty="0">
                <a:solidFill>
                  <a:schemeClr val="tx1">
                    <a:lumMod val="75000"/>
                    <a:lumOff val="25000"/>
                  </a:schemeClr>
                </a:solidFill>
                <a:latin typeface="微软雅黑" pitchFamily="34" charset="-122"/>
              </a:rPr>
              <a:t>150</a:t>
            </a:r>
            <a:r>
              <a:rPr lang="zh-CN" altLang="zh-CN" dirty="0">
                <a:solidFill>
                  <a:schemeClr val="tx1">
                    <a:lumMod val="75000"/>
                    <a:lumOff val="25000"/>
                  </a:schemeClr>
                </a:solidFill>
                <a:latin typeface="微软雅黑" pitchFamily="34" charset="-122"/>
              </a:rPr>
              <a:t>、</a:t>
            </a:r>
            <a:r>
              <a:rPr lang="en-US" altLang="zh-CN" dirty="0">
                <a:solidFill>
                  <a:schemeClr val="tx1">
                    <a:lumMod val="75000"/>
                    <a:lumOff val="25000"/>
                  </a:schemeClr>
                </a:solidFill>
                <a:latin typeface="微软雅黑" pitchFamily="34" charset="-122"/>
              </a:rPr>
              <a:t>10</a:t>
            </a:r>
            <a:r>
              <a:rPr lang="zh-CN" altLang="zh-CN" dirty="0">
                <a:solidFill>
                  <a:schemeClr val="tx1">
                    <a:lumMod val="75000"/>
                    <a:lumOff val="25000"/>
                  </a:schemeClr>
                </a:solidFill>
                <a:latin typeface="微软雅黑" pitchFamily="34" charset="-122"/>
              </a:rPr>
              <a:t>、</a:t>
            </a:r>
            <a:r>
              <a:rPr lang="en-US" altLang="zh-CN" dirty="0">
                <a:solidFill>
                  <a:schemeClr val="tx1">
                    <a:lumMod val="75000"/>
                    <a:lumOff val="25000"/>
                  </a:schemeClr>
                </a:solidFill>
                <a:latin typeface="微软雅黑" pitchFamily="34" charset="-122"/>
              </a:rPr>
              <a:t>135</a:t>
            </a:r>
            <a:r>
              <a:rPr lang="zh-CN" altLang="zh-CN" dirty="0">
                <a:solidFill>
                  <a:schemeClr val="tx1">
                    <a:lumMod val="75000"/>
                    <a:lumOff val="25000"/>
                  </a:schemeClr>
                </a:solidFill>
                <a:latin typeface="微软雅黑" pitchFamily="34" charset="-122"/>
              </a:rPr>
              <a:t>、</a:t>
            </a:r>
            <a:r>
              <a:rPr lang="en-US" altLang="zh-CN" dirty="0">
                <a:solidFill>
                  <a:schemeClr val="tx1">
                    <a:lumMod val="75000"/>
                    <a:lumOff val="25000"/>
                  </a:schemeClr>
                </a:solidFill>
                <a:latin typeface="微软雅黑" pitchFamily="34" charset="-122"/>
              </a:rPr>
              <a:t>110</a:t>
            </a:r>
            <a:r>
              <a:rPr lang="zh-CN" altLang="zh-CN" dirty="0">
                <a:solidFill>
                  <a:schemeClr val="tx1">
                    <a:lumMod val="75000"/>
                    <a:lumOff val="25000"/>
                  </a:schemeClr>
                </a:solidFill>
                <a:latin typeface="微软雅黑" pitchFamily="34" charset="-122"/>
              </a:rPr>
              <a:t>，</a:t>
            </a:r>
            <a:r>
              <a:rPr lang="zh-CN" altLang="en-US" dirty="0">
                <a:solidFill>
                  <a:schemeClr val="tx1">
                    <a:lumMod val="75000"/>
                    <a:lumOff val="25000"/>
                  </a:schemeClr>
                </a:solidFill>
                <a:latin typeface="微软雅黑" pitchFamily="34" charset="-122"/>
              </a:rPr>
              <a:t>试</a:t>
            </a:r>
            <a:r>
              <a:rPr lang="zh-CN" altLang="zh-CN" dirty="0">
                <a:solidFill>
                  <a:schemeClr val="tx1">
                    <a:lumMod val="75000"/>
                    <a:lumOff val="25000"/>
                  </a:schemeClr>
                </a:solidFill>
                <a:latin typeface="微软雅黑" pitchFamily="34" charset="-122"/>
              </a:rPr>
              <a:t>求</a:t>
            </a:r>
            <a:r>
              <a:rPr lang="en-US" altLang="zh-CN" dirty="0">
                <a:solidFill>
                  <a:schemeClr val="tx1">
                    <a:lumMod val="75000"/>
                    <a:lumOff val="25000"/>
                  </a:schemeClr>
                </a:solidFill>
                <a:latin typeface="微软雅黑" pitchFamily="34" charset="-122"/>
              </a:rPr>
              <a:t>SSTF</a:t>
            </a:r>
            <a:r>
              <a:rPr lang="zh-CN" altLang="en-US" dirty="0">
                <a:solidFill>
                  <a:schemeClr val="tx1">
                    <a:lumMod val="75000"/>
                    <a:lumOff val="25000"/>
                  </a:schemeClr>
                </a:solidFill>
                <a:latin typeface="微软雅黑" pitchFamily="34" charset="-122"/>
              </a:rPr>
              <a:t>算法</a:t>
            </a:r>
            <a:r>
              <a:rPr lang="zh-CN" altLang="zh-CN" dirty="0">
                <a:solidFill>
                  <a:schemeClr val="tx1">
                    <a:lumMod val="75000"/>
                    <a:lumOff val="25000"/>
                  </a:schemeClr>
                </a:solidFill>
                <a:latin typeface="微软雅黑" pitchFamily="34" charset="-122"/>
              </a:rPr>
              <a:t>平均寻道长度</a:t>
            </a:r>
            <a:r>
              <a:rPr lang="zh-CN" altLang="en-US" dirty="0">
                <a:solidFill>
                  <a:schemeClr val="tx1">
                    <a:lumMod val="75000"/>
                    <a:lumOff val="25000"/>
                  </a:schemeClr>
                </a:solidFill>
                <a:latin typeface="微软雅黑" pitchFamily="34" charset="-122"/>
              </a:rPr>
              <a:t>。</a:t>
            </a:r>
            <a:endParaRPr lang="en-US" altLang="zh-CN" dirty="0">
              <a:solidFill>
                <a:schemeClr val="tx1">
                  <a:lumMod val="75000"/>
                  <a:lumOff val="25000"/>
                </a:schemeClr>
              </a:solidFill>
              <a:latin typeface="微软雅黑" pitchFamily="34" charset="-122"/>
            </a:endParaRPr>
          </a:p>
          <a:p>
            <a:pPr marL="0" indent="0">
              <a:buNone/>
              <a:defRPr/>
            </a:pPr>
            <a:endParaRPr lang="en-US" altLang="zh-CN" dirty="0">
              <a:solidFill>
                <a:schemeClr val="tx1">
                  <a:lumMod val="85000"/>
                  <a:lumOff val="15000"/>
                </a:schemeClr>
              </a:solidFill>
              <a:latin typeface="微软雅黑" pitchFamily="34" charset="-122"/>
            </a:endParaRPr>
          </a:p>
          <a:p>
            <a:pPr marL="0" indent="0">
              <a:buNone/>
              <a:defRPr/>
            </a:pPr>
            <a:endParaRPr lang="en-US" altLang="zh-CN" dirty="0">
              <a:solidFill>
                <a:schemeClr val="tx1">
                  <a:lumMod val="85000"/>
                  <a:lumOff val="15000"/>
                </a:schemeClr>
              </a:solidFill>
            </a:endParaRPr>
          </a:p>
        </p:txBody>
      </p:sp>
      <p:graphicFrame>
        <p:nvGraphicFramePr>
          <p:cNvPr id="4" name="表格 3">
            <a:extLst>
              <a:ext uri="{FF2B5EF4-FFF2-40B4-BE49-F238E27FC236}">
                <a16:creationId xmlns:a16="http://schemas.microsoft.com/office/drawing/2014/main" id="{A4A68C15-9CA3-4A39-845B-17844E4F2DC0}"/>
              </a:ext>
            </a:extLst>
          </p:cNvPr>
          <p:cNvGraphicFramePr>
            <a:graphicFrameLocks noGrp="1"/>
          </p:cNvGraphicFramePr>
          <p:nvPr>
            <p:extLst>
              <p:ext uri="{D42A27DB-BD31-4B8C-83A1-F6EECF244321}">
                <p14:modId xmlns:p14="http://schemas.microsoft.com/office/powerpoint/2010/main" val="3975220104"/>
              </p:ext>
            </p:extLst>
          </p:nvPr>
        </p:nvGraphicFramePr>
        <p:xfrm>
          <a:off x="3437681" y="2430683"/>
          <a:ext cx="4942390" cy="4208775"/>
        </p:xfrm>
        <a:graphic>
          <a:graphicData uri="http://schemas.openxmlformats.org/drawingml/2006/table">
            <a:tbl>
              <a:tblPr firstRow="1" firstCol="1" bandRow="1">
                <a:tableStyleId>{5C22544A-7EE6-4342-B048-85BDC9FD1C3A}</a:tableStyleId>
              </a:tblPr>
              <a:tblGrid>
                <a:gridCol w="2397911">
                  <a:extLst>
                    <a:ext uri="{9D8B030D-6E8A-4147-A177-3AD203B41FA5}">
                      <a16:colId xmlns:a16="http://schemas.microsoft.com/office/drawing/2014/main" val="20000"/>
                    </a:ext>
                  </a:extLst>
                </a:gridCol>
                <a:gridCol w="2544479">
                  <a:extLst>
                    <a:ext uri="{9D8B030D-6E8A-4147-A177-3AD203B41FA5}">
                      <a16:colId xmlns:a16="http://schemas.microsoft.com/office/drawing/2014/main" val="20001"/>
                    </a:ext>
                  </a:extLst>
                </a:gridCol>
              </a:tblGrid>
              <a:tr h="336411">
                <a:tc gridSpan="2">
                  <a:txBody>
                    <a:bodyPr/>
                    <a:lstStyle/>
                    <a:p>
                      <a:pPr indent="127000" algn="ctr">
                        <a:lnSpc>
                          <a:spcPts val="1800"/>
                        </a:lnSpc>
                        <a:spcBef>
                          <a:spcPts val="200"/>
                        </a:spcBef>
                        <a:spcAft>
                          <a:spcPts val="200"/>
                        </a:spcAft>
                      </a:pPr>
                      <a:r>
                        <a:rPr lang="zh-CN" sz="2000" kern="100" dirty="0">
                          <a:effectLst/>
                          <a:latin typeface="+mn-lt"/>
                          <a:ea typeface="微软雅黑" pitchFamily="34" charset="-122"/>
                        </a:rPr>
                        <a:t>从</a:t>
                      </a:r>
                      <a:r>
                        <a:rPr lang="en-US" sz="2000" kern="100" dirty="0">
                          <a:effectLst/>
                          <a:latin typeface="+mn-lt"/>
                          <a:ea typeface="微软雅黑" pitchFamily="34" charset="-122"/>
                        </a:rPr>
                        <a:t>67</a:t>
                      </a:r>
                      <a:r>
                        <a:rPr lang="zh-CN" sz="2000" kern="100" dirty="0">
                          <a:effectLst/>
                          <a:latin typeface="+mn-lt"/>
                          <a:ea typeface="微软雅黑" pitchFamily="34" charset="-122"/>
                        </a:rPr>
                        <a:t>号磁道开始</a:t>
                      </a:r>
                      <a:endParaRPr lang="zh-CN" sz="2000" kern="100" dirty="0">
                        <a:effectLst/>
                        <a:latin typeface="+mn-lt"/>
                        <a:ea typeface="微软雅黑" pitchFamily="34" charset="-122"/>
                        <a:cs typeface="Times New Roman"/>
                      </a:endParaRPr>
                    </a:p>
                  </a:txBody>
                  <a:tcPr marL="68582" marR="68582" marT="0" marB="0" anchor="ctr"/>
                </a:tc>
                <a:tc hMerge="1">
                  <a:txBody>
                    <a:bodyPr/>
                    <a:lstStyle/>
                    <a:p>
                      <a:endParaRPr lang="zh-CN" altLang="en-US"/>
                    </a:p>
                  </a:txBody>
                  <a:tcPr/>
                </a:tc>
                <a:extLst>
                  <a:ext uri="{0D108BD9-81ED-4DB2-BD59-A6C34878D82A}">
                    <a16:rowId xmlns:a16="http://schemas.microsoft.com/office/drawing/2014/main" val="10000"/>
                  </a:ext>
                </a:extLst>
              </a:tr>
              <a:tr h="469626">
                <a:tc>
                  <a:txBody>
                    <a:bodyPr/>
                    <a:lstStyle/>
                    <a:p>
                      <a:pPr indent="127000" algn="ctr">
                        <a:lnSpc>
                          <a:spcPts val="1800"/>
                        </a:lnSpc>
                        <a:spcBef>
                          <a:spcPts val="200"/>
                        </a:spcBef>
                        <a:spcAft>
                          <a:spcPts val="200"/>
                        </a:spcAft>
                      </a:pPr>
                      <a:r>
                        <a:rPr lang="zh-CN" sz="2000" kern="100">
                          <a:effectLst/>
                          <a:latin typeface="+mn-lt"/>
                          <a:ea typeface="微软雅黑" pitchFamily="34" charset="-122"/>
                        </a:rPr>
                        <a:t>访问的下一磁道号</a:t>
                      </a:r>
                      <a:endParaRPr lang="zh-CN" sz="2000" kern="100">
                        <a:effectLst/>
                        <a:latin typeface="+mn-lt"/>
                        <a:ea typeface="微软雅黑" pitchFamily="34" charset="-122"/>
                        <a:cs typeface="Times New Roman"/>
                      </a:endParaRPr>
                    </a:p>
                  </a:txBody>
                  <a:tcPr marL="68582" marR="68582" marT="0" marB="0" anchor="ctr"/>
                </a:tc>
                <a:tc>
                  <a:txBody>
                    <a:bodyPr/>
                    <a:lstStyle/>
                    <a:p>
                      <a:pPr indent="53340" algn="ctr">
                        <a:lnSpc>
                          <a:spcPts val="1800"/>
                        </a:lnSpc>
                        <a:spcBef>
                          <a:spcPts val="200"/>
                        </a:spcBef>
                        <a:spcAft>
                          <a:spcPts val="200"/>
                        </a:spcAft>
                      </a:pPr>
                      <a:r>
                        <a:rPr lang="zh-CN" sz="2000" kern="100">
                          <a:effectLst/>
                          <a:latin typeface="+mn-lt"/>
                          <a:ea typeface="微软雅黑" pitchFamily="34" charset="-122"/>
                        </a:rPr>
                        <a:t>移动距离（磁道数）</a:t>
                      </a:r>
                      <a:endParaRPr lang="zh-CN" sz="2000" kern="100">
                        <a:effectLst/>
                        <a:latin typeface="+mn-lt"/>
                        <a:ea typeface="微软雅黑" pitchFamily="34" charset="-122"/>
                        <a:cs typeface="Times New Roman"/>
                      </a:endParaRPr>
                    </a:p>
                  </a:txBody>
                  <a:tcPr marL="68582" marR="68582" marT="0" marB="0" anchor="ctr"/>
                </a:tc>
                <a:extLst>
                  <a:ext uri="{0D108BD9-81ED-4DB2-BD59-A6C34878D82A}">
                    <a16:rowId xmlns:a16="http://schemas.microsoft.com/office/drawing/2014/main" val="10001"/>
                  </a:ext>
                </a:extLst>
              </a:tr>
              <a:tr h="340703">
                <a:tc>
                  <a:txBody>
                    <a:bodyPr/>
                    <a:lstStyle/>
                    <a:p>
                      <a:pPr indent="-15875" algn="ctr">
                        <a:lnSpc>
                          <a:spcPts val="1800"/>
                        </a:lnSpc>
                        <a:spcBef>
                          <a:spcPts val="200"/>
                        </a:spcBef>
                        <a:spcAft>
                          <a:spcPts val="200"/>
                        </a:spcAft>
                      </a:pPr>
                      <a:r>
                        <a:rPr lang="en-US" sz="2000" kern="100" dirty="0">
                          <a:effectLst/>
                          <a:latin typeface="Calibri"/>
                          <a:ea typeface="宋体"/>
                          <a:cs typeface="Calibri"/>
                        </a:rPr>
                        <a:t>77</a:t>
                      </a:r>
                      <a:endParaRPr lang="zh-CN" sz="2000" kern="100" dirty="0">
                        <a:effectLst/>
                        <a:latin typeface="Calibri"/>
                        <a:ea typeface="宋体"/>
                        <a:cs typeface="Times New Roman"/>
                      </a:endParaRPr>
                    </a:p>
                  </a:txBody>
                  <a:tcPr marL="68582" marR="68582" marT="0" marB="0" anchor="ctr"/>
                </a:tc>
                <a:tc>
                  <a:txBody>
                    <a:bodyPr/>
                    <a:lstStyle/>
                    <a:p>
                      <a:pPr indent="14605" algn="ctr">
                        <a:lnSpc>
                          <a:spcPts val="1800"/>
                        </a:lnSpc>
                        <a:spcBef>
                          <a:spcPts val="200"/>
                        </a:spcBef>
                        <a:spcAft>
                          <a:spcPts val="200"/>
                        </a:spcAft>
                      </a:pPr>
                      <a:r>
                        <a:rPr lang="en-US" sz="2000" kern="100">
                          <a:effectLst/>
                          <a:latin typeface="Calibri"/>
                          <a:ea typeface="宋体"/>
                          <a:cs typeface="Calibri"/>
                        </a:rPr>
                        <a:t>10</a:t>
                      </a:r>
                      <a:endParaRPr lang="zh-CN" sz="2000" kern="100">
                        <a:effectLst/>
                        <a:latin typeface="Calibri"/>
                        <a:ea typeface="宋体"/>
                        <a:cs typeface="Times New Roman"/>
                      </a:endParaRPr>
                    </a:p>
                  </a:txBody>
                  <a:tcPr marL="68582" marR="68582" marT="0" marB="0" anchor="ctr"/>
                </a:tc>
                <a:extLst>
                  <a:ext uri="{0D108BD9-81ED-4DB2-BD59-A6C34878D82A}">
                    <a16:rowId xmlns:a16="http://schemas.microsoft.com/office/drawing/2014/main" val="10002"/>
                  </a:ext>
                </a:extLst>
              </a:tr>
              <a:tr h="340703">
                <a:tc>
                  <a:txBody>
                    <a:bodyPr/>
                    <a:lstStyle/>
                    <a:p>
                      <a:pPr indent="-15875" algn="ctr">
                        <a:lnSpc>
                          <a:spcPts val="1800"/>
                        </a:lnSpc>
                        <a:spcBef>
                          <a:spcPts val="200"/>
                        </a:spcBef>
                        <a:spcAft>
                          <a:spcPts val="200"/>
                        </a:spcAft>
                      </a:pPr>
                      <a:r>
                        <a:rPr lang="en-US" sz="2000" kern="100" dirty="0">
                          <a:effectLst/>
                          <a:latin typeface="Calibri"/>
                          <a:ea typeface="宋体"/>
                          <a:cs typeface="Calibri"/>
                        </a:rPr>
                        <a:t>47</a:t>
                      </a:r>
                      <a:endParaRPr lang="zh-CN" sz="2000" kern="100" dirty="0">
                        <a:effectLst/>
                        <a:latin typeface="Calibri"/>
                        <a:ea typeface="宋体"/>
                        <a:cs typeface="Times New Roman"/>
                      </a:endParaRPr>
                    </a:p>
                  </a:txBody>
                  <a:tcPr marL="68582" marR="68582" marT="0" marB="0" anchor="ctr"/>
                </a:tc>
                <a:tc>
                  <a:txBody>
                    <a:bodyPr/>
                    <a:lstStyle/>
                    <a:p>
                      <a:pPr indent="14605" algn="ctr">
                        <a:lnSpc>
                          <a:spcPts val="1800"/>
                        </a:lnSpc>
                        <a:spcBef>
                          <a:spcPts val="200"/>
                        </a:spcBef>
                        <a:spcAft>
                          <a:spcPts val="200"/>
                        </a:spcAft>
                      </a:pPr>
                      <a:r>
                        <a:rPr lang="en-US" sz="2000" kern="100">
                          <a:effectLst/>
                          <a:latin typeface="Calibri"/>
                          <a:ea typeface="宋体"/>
                          <a:cs typeface="Calibri"/>
                        </a:rPr>
                        <a:t>30</a:t>
                      </a:r>
                      <a:endParaRPr lang="zh-CN" sz="2000" kern="100">
                        <a:effectLst/>
                        <a:latin typeface="Calibri"/>
                        <a:ea typeface="宋体"/>
                        <a:cs typeface="Times New Roman"/>
                      </a:endParaRPr>
                    </a:p>
                  </a:txBody>
                  <a:tcPr marL="68582" marR="68582" marT="0" marB="0" anchor="ctr"/>
                </a:tc>
                <a:extLst>
                  <a:ext uri="{0D108BD9-81ED-4DB2-BD59-A6C34878D82A}">
                    <a16:rowId xmlns:a16="http://schemas.microsoft.com/office/drawing/2014/main" val="10003"/>
                  </a:ext>
                </a:extLst>
              </a:tr>
              <a:tr h="340703">
                <a:tc>
                  <a:txBody>
                    <a:bodyPr/>
                    <a:lstStyle/>
                    <a:p>
                      <a:pPr indent="-15875" algn="ctr">
                        <a:lnSpc>
                          <a:spcPts val="1800"/>
                        </a:lnSpc>
                        <a:spcBef>
                          <a:spcPts val="200"/>
                        </a:spcBef>
                        <a:spcAft>
                          <a:spcPts val="200"/>
                        </a:spcAft>
                      </a:pPr>
                      <a:r>
                        <a:rPr lang="en-US" sz="2000" kern="100" dirty="0">
                          <a:effectLst/>
                          <a:latin typeface="Calibri"/>
                          <a:ea typeface="宋体"/>
                          <a:cs typeface="Calibri"/>
                        </a:rPr>
                        <a:t>10</a:t>
                      </a:r>
                      <a:endParaRPr lang="zh-CN" sz="2000" kern="100" dirty="0">
                        <a:effectLst/>
                        <a:latin typeface="Calibri"/>
                        <a:ea typeface="宋体"/>
                        <a:cs typeface="Times New Roman"/>
                      </a:endParaRPr>
                    </a:p>
                  </a:txBody>
                  <a:tcPr marL="68582" marR="68582" marT="0" marB="0" anchor="ctr"/>
                </a:tc>
                <a:tc>
                  <a:txBody>
                    <a:bodyPr/>
                    <a:lstStyle/>
                    <a:p>
                      <a:pPr indent="14605" algn="ctr">
                        <a:lnSpc>
                          <a:spcPts val="1800"/>
                        </a:lnSpc>
                        <a:spcBef>
                          <a:spcPts val="200"/>
                        </a:spcBef>
                        <a:spcAft>
                          <a:spcPts val="200"/>
                        </a:spcAft>
                      </a:pPr>
                      <a:r>
                        <a:rPr lang="en-US" sz="2000" kern="100">
                          <a:effectLst/>
                          <a:latin typeface="Calibri"/>
                          <a:ea typeface="宋体"/>
                          <a:cs typeface="Calibri"/>
                        </a:rPr>
                        <a:t>37</a:t>
                      </a:r>
                      <a:endParaRPr lang="zh-CN" sz="2000" kern="100">
                        <a:effectLst/>
                        <a:latin typeface="Calibri"/>
                        <a:ea typeface="宋体"/>
                        <a:cs typeface="Times New Roman"/>
                      </a:endParaRPr>
                    </a:p>
                  </a:txBody>
                  <a:tcPr marL="68582" marR="68582" marT="0" marB="0" anchor="ctr"/>
                </a:tc>
                <a:extLst>
                  <a:ext uri="{0D108BD9-81ED-4DB2-BD59-A6C34878D82A}">
                    <a16:rowId xmlns:a16="http://schemas.microsoft.com/office/drawing/2014/main" val="10004"/>
                  </a:ext>
                </a:extLst>
              </a:tr>
              <a:tr h="340703">
                <a:tc>
                  <a:txBody>
                    <a:bodyPr/>
                    <a:lstStyle/>
                    <a:p>
                      <a:pPr indent="-15875" algn="ctr">
                        <a:lnSpc>
                          <a:spcPts val="1800"/>
                        </a:lnSpc>
                        <a:spcBef>
                          <a:spcPts val="200"/>
                        </a:spcBef>
                        <a:spcAft>
                          <a:spcPts val="200"/>
                        </a:spcAft>
                      </a:pPr>
                      <a:r>
                        <a:rPr lang="en-US" sz="2000" kern="100" dirty="0">
                          <a:effectLst/>
                          <a:latin typeface="Calibri"/>
                          <a:ea typeface="宋体"/>
                          <a:cs typeface="Calibri"/>
                        </a:rPr>
                        <a:t>9</a:t>
                      </a:r>
                      <a:endParaRPr lang="zh-CN" sz="2000" kern="100" dirty="0">
                        <a:effectLst/>
                        <a:latin typeface="Calibri"/>
                        <a:ea typeface="宋体"/>
                        <a:cs typeface="Times New Roman"/>
                      </a:endParaRPr>
                    </a:p>
                  </a:txBody>
                  <a:tcPr marL="68582" marR="68582" marT="0" marB="0" anchor="ctr"/>
                </a:tc>
                <a:tc>
                  <a:txBody>
                    <a:bodyPr/>
                    <a:lstStyle/>
                    <a:p>
                      <a:pPr indent="14605" algn="ctr">
                        <a:lnSpc>
                          <a:spcPts val="1800"/>
                        </a:lnSpc>
                        <a:spcBef>
                          <a:spcPts val="200"/>
                        </a:spcBef>
                        <a:spcAft>
                          <a:spcPts val="200"/>
                        </a:spcAft>
                      </a:pPr>
                      <a:r>
                        <a:rPr lang="en-US" sz="2000" kern="100" dirty="0">
                          <a:effectLst/>
                          <a:latin typeface="Calibri"/>
                          <a:ea typeface="宋体"/>
                          <a:cs typeface="Calibri"/>
                        </a:rPr>
                        <a:t>1</a:t>
                      </a:r>
                      <a:endParaRPr lang="zh-CN" sz="2000" kern="100" dirty="0">
                        <a:effectLst/>
                        <a:latin typeface="Calibri"/>
                        <a:ea typeface="宋体"/>
                        <a:cs typeface="Times New Roman"/>
                      </a:endParaRPr>
                    </a:p>
                  </a:txBody>
                  <a:tcPr marL="68582" marR="68582" marT="0" marB="0" anchor="ctr"/>
                </a:tc>
                <a:extLst>
                  <a:ext uri="{0D108BD9-81ED-4DB2-BD59-A6C34878D82A}">
                    <a16:rowId xmlns:a16="http://schemas.microsoft.com/office/drawing/2014/main" val="10005"/>
                  </a:ext>
                </a:extLst>
              </a:tr>
              <a:tr h="340703">
                <a:tc>
                  <a:txBody>
                    <a:bodyPr/>
                    <a:lstStyle/>
                    <a:p>
                      <a:pPr indent="-15875" algn="ctr">
                        <a:lnSpc>
                          <a:spcPts val="1800"/>
                        </a:lnSpc>
                        <a:spcBef>
                          <a:spcPts val="200"/>
                        </a:spcBef>
                        <a:spcAft>
                          <a:spcPts val="200"/>
                        </a:spcAft>
                      </a:pPr>
                      <a:r>
                        <a:rPr lang="en-US" sz="2000" kern="100">
                          <a:effectLst/>
                          <a:latin typeface="Calibri"/>
                          <a:ea typeface="宋体"/>
                          <a:cs typeface="Calibri"/>
                        </a:rPr>
                        <a:t>110</a:t>
                      </a:r>
                      <a:endParaRPr lang="zh-CN" sz="2000" kern="100">
                        <a:effectLst/>
                        <a:latin typeface="Calibri"/>
                        <a:ea typeface="宋体"/>
                        <a:cs typeface="Times New Roman"/>
                      </a:endParaRPr>
                    </a:p>
                  </a:txBody>
                  <a:tcPr marL="68582" marR="68582" marT="0" marB="0" anchor="ctr"/>
                </a:tc>
                <a:tc>
                  <a:txBody>
                    <a:bodyPr/>
                    <a:lstStyle/>
                    <a:p>
                      <a:pPr indent="14605" algn="ctr">
                        <a:lnSpc>
                          <a:spcPts val="1800"/>
                        </a:lnSpc>
                        <a:spcBef>
                          <a:spcPts val="200"/>
                        </a:spcBef>
                        <a:spcAft>
                          <a:spcPts val="200"/>
                        </a:spcAft>
                      </a:pPr>
                      <a:r>
                        <a:rPr lang="en-US" sz="2000" kern="100" dirty="0">
                          <a:effectLst/>
                          <a:latin typeface="Calibri"/>
                          <a:ea typeface="宋体"/>
                          <a:cs typeface="Calibri"/>
                        </a:rPr>
                        <a:t>101</a:t>
                      </a:r>
                      <a:endParaRPr lang="zh-CN" sz="2000" kern="100" dirty="0">
                        <a:effectLst/>
                        <a:latin typeface="Calibri"/>
                        <a:ea typeface="宋体"/>
                        <a:cs typeface="Times New Roman"/>
                      </a:endParaRPr>
                    </a:p>
                  </a:txBody>
                  <a:tcPr marL="68582" marR="68582" marT="0" marB="0" anchor="ctr"/>
                </a:tc>
                <a:extLst>
                  <a:ext uri="{0D108BD9-81ED-4DB2-BD59-A6C34878D82A}">
                    <a16:rowId xmlns:a16="http://schemas.microsoft.com/office/drawing/2014/main" val="10006"/>
                  </a:ext>
                </a:extLst>
              </a:tr>
              <a:tr h="340703">
                <a:tc>
                  <a:txBody>
                    <a:bodyPr/>
                    <a:lstStyle/>
                    <a:p>
                      <a:pPr indent="-15875" algn="ctr">
                        <a:lnSpc>
                          <a:spcPts val="1800"/>
                        </a:lnSpc>
                        <a:spcBef>
                          <a:spcPts val="200"/>
                        </a:spcBef>
                        <a:spcAft>
                          <a:spcPts val="200"/>
                        </a:spcAft>
                      </a:pPr>
                      <a:r>
                        <a:rPr lang="en-US" sz="2000" kern="100">
                          <a:effectLst/>
                          <a:latin typeface="Calibri"/>
                          <a:ea typeface="宋体"/>
                          <a:cs typeface="Calibri"/>
                        </a:rPr>
                        <a:t>135</a:t>
                      </a:r>
                      <a:endParaRPr lang="zh-CN" sz="2000" kern="100">
                        <a:effectLst/>
                        <a:latin typeface="Calibri"/>
                        <a:ea typeface="宋体"/>
                        <a:cs typeface="Times New Roman"/>
                      </a:endParaRPr>
                    </a:p>
                  </a:txBody>
                  <a:tcPr marL="68582" marR="68582" marT="0" marB="0" anchor="ctr"/>
                </a:tc>
                <a:tc>
                  <a:txBody>
                    <a:bodyPr/>
                    <a:lstStyle/>
                    <a:p>
                      <a:pPr indent="14605" algn="ctr">
                        <a:lnSpc>
                          <a:spcPts val="1800"/>
                        </a:lnSpc>
                        <a:spcBef>
                          <a:spcPts val="200"/>
                        </a:spcBef>
                        <a:spcAft>
                          <a:spcPts val="200"/>
                        </a:spcAft>
                      </a:pPr>
                      <a:r>
                        <a:rPr lang="en-US" sz="2000" kern="100" dirty="0">
                          <a:effectLst/>
                          <a:latin typeface="Calibri"/>
                          <a:ea typeface="宋体"/>
                          <a:cs typeface="Calibri"/>
                        </a:rPr>
                        <a:t>25</a:t>
                      </a:r>
                      <a:endParaRPr lang="zh-CN" sz="2000" kern="100" dirty="0">
                        <a:effectLst/>
                        <a:latin typeface="Calibri"/>
                        <a:ea typeface="宋体"/>
                        <a:cs typeface="Times New Roman"/>
                      </a:endParaRPr>
                    </a:p>
                  </a:txBody>
                  <a:tcPr marL="68582" marR="68582" marT="0" marB="0" anchor="ctr"/>
                </a:tc>
                <a:extLst>
                  <a:ext uri="{0D108BD9-81ED-4DB2-BD59-A6C34878D82A}">
                    <a16:rowId xmlns:a16="http://schemas.microsoft.com/office/drawing/2014/main" val="10007"/>
                  </a:ext>
                </a:extLst>
              </a:tr>
              <a:tr h="340703">
                <a:tc>
                  <a:txBody>
                    <a:bodyPr/>
                    <a:lstStyle/>
                    <a:p>
                      <a:pPr indent="-15875" algn="ctr">
                        <a:lnSpc>
                          <a:spcPts val="1800"/>
                        </a:lnSpc>
                        <a:spcBef>
                          <a:spcPts val="200"/>
                        </a:spcBef>
                        <a:spcAft>
                          <a:spcPts val="200"/>
                        </a:spcAft>
                      </a:pPr>
                      <a:r>
                        <a:rPr lang="en-US" sz="2000" kern="100">
                          <a:effectLst/>
                          <a:latin typeface="Calibri"/>
                          <a:ea typeface="宋体"/>
                          <a:cs typeface="Calibri"/>
                        </a:rPr>
                        <a:t>150</a:t>
                      </a:r>
                      <a:endParaRPr lang="zh-CN" sz="2000" kern="100">
                        <a:effectLst/>
                        <a:latin typeface="Calibri"/>
                        <a:ea typeface="宋体"/>
                        <a:cs typeface="Times New Roman"/>
                      </a:endParaRPr>
                    </a:p>
                  </a:txBody>
                  <a:tcPr marL="68582" marR="68582" marT="0" marB="0" anchor="ctr"/>
                </a:tc>
                <a:tc>
                  <a:txBody>
                    <a:bodyPr/>
                    <a:lstStyle/>
                    <a:p>
                      <a:pPr indent="14605" algn="ctr">
                        <a:lnSpc>
                          <a:spcPts val="1800"/>
                        </a:lnSpc>
                        <a:spcBef>
                          <a:spcPts val="200"/>
                        </a:spcBef>
                        <a:spcAft>
                          <a:spcPts val="200"/>
                        </a:spcAft>
                      </a:pPr>
                      <a:r>
                        <a:rPr lang="en-US" sz="2000" kern="100" dirty="0">
                          <a:effectLst/>
                          <a:latin typeface="Calibri"/>
                          <a:ea typeface="宋体"/>
                          <a:cs typeface="Calibri"/>
                        </a:rPr>
                        <a:t>15</a:t>
                      </a:r>
                      <a:endParaRPr lang="zh-CN" sz="2000" kern="100" dirty="0">
                        <a:effectLst/>
                        <a:latin typeface="Calibri"/>
                        <a:ea typeface="宋体"/>
                        <a:cs typeface="Times New Roman"/>
                      </a:endParaRPr>
                    </a:p>
                  </a:txBody>
                  <a:tcPr marL="68582" marR="68582" marT="0" marB="0" anchor="ctr"/>
                </a:tc>
                <a:extLst>
                  <a:ext uri="{0D108BD9-81ED-4DB2-BD59-A6C34878D82A}">
                    <a16:rowId xmlns:a16="http://schemas.microsoft.com/office/drawing/2014/main" val="10008"/>
                  </a:ext>
                </a:extLst>
              </a:tr>
              <a:tr h="340703">
                <a:tc>
                  <a:txBody>
                    <a:bodyPr/>
                    <a:lstStyle/>
                    <a:p>
                      <a:pPr indent="-15875" algn="ctr">
                        <a:lnSpc>
                          <a:spcPts val="1800"/>
                        </a:lnSpc>
                        <a:spcBef>
                          <a:spcPts val="200"/>
                        </a:spcBef>
                        <a:spcAft>
                          <a:spcPts val="200"/>
                        </a:spcAft>
                      </a:pPr>
                      <a:r>
                        <a:rPr lang="en-US" sz="2000" kern="100">
                          <a:effectLst/>
                          <a:latin typeface="Calibri"/>
                          <a:ea typeface="宋体"/>
                          <a:cs typeface="Calibri"/>
                        </a:rPr>
                        <a:t>186</a:t>
                      </a:r>
                      <a:endParaRPr lang="zh-CN" sz="2000" kern="100">
                        <a:effectLst/>
                        <a:latin typeface="Calibri"/>
                        <a:ea typeface="宋体"/>
                        <a:cs typeface="Times New Roman"/>
                      </a:endParaRPr>
                    </a:p>
                  </a:txBody>
                  <a:tcPr marL="68582" marR="68582" marT="0" marB="0" anchor="ctr"/>
                </a:tc>
                <a:tc>
                  <a:txBody>
                    <a:bodyPr/>
                    <a:lstStyle/>
                    <a:p>
                      <a:pPr indent="14605" algn="ctr">
                        <a:lnSpc>
                          <a:spcPts val="1800"/>
                        </a:lnSpc>
                        <a:spcBef>
                          <a:spcPts val="200"/>
                        </a:spcBef>
                        <a:spcAft>
                          <a:spcPts val="200"/>
                        </a:spcAft>
                      </a:pPr>
                      <a:r>
                        <a:rPr lang="en-US" sz="2000" kern="100" dirty="0">
                          <a:effectLst/>
                          <a:latin typeface="Calibri"/>
                          <a:ea typeface="宋体"/>
                          <a:cs typeface="Calibri"/>
                        </a:rPr>
                        <a:t>36</a:t>
                      </a:r>
                      <a:endParaRPr lang="zh-CN" sz="2000" kern="100" dirty="0">
                        <a:effectLst/>
                        <a:latin typeface="Calibri"/>
                        <a:ea typeface="宋体"/>
                        <a:cs typeface="Times New Roman"/>
                      </a:endParaRPr>
                    </a:p>
                  </a:txBody>
                  <a:tcPr marL="68582" marR="68582" marT="0" marB="0" anchor="ctr"/>
                </a:tc>
                <a:extLst>
                  <a:ext uri="{0D108BD9-81ED-4DB2-BD59-A6C34878D82A}">
                    <a16:rowId xmlns:a16="http://schemas.microsoft.com/office/drawing/2014/main" val="10009"/>
                  </a:ext>
                </a:extLst>
              </a:tr>
              <a:tr h="340703">
                <a:tc>
                  <a:txBody>
                    <a:bodyPr/>
                    <a:lstStyle/>
                    <a:p>
                      <a:pPr indent="-15875" algn="ctr">
                        <a:lnSpc>
                          <a:spcPts val="1800"/>
                        </a:lnSpc>
                        <a:spcBef>
                          <a:spcPts val="200"/>
                        </a:spcBef>
                        <a:spcAft>
                          <a:spcPts val="200"/>
                        </a:spcAft>
                      </a:pPr>
                      <a:r>
                        <a:rPr lang="en-US" sz="2000" kern="100">
                          <a:effectLst/>
                          <a:latin typeface="Calibri"/>
                          <a:ea typeface="宋体"/>
                          <a:cs typeface="Calibri"/>
                        </a:rPr>
                        <a:t>194</a:t>
                      </a:r>
                      <a:endParaRPr lang="zh-CN" sz="2000" kern="100">
                        <a:effectLst/>
                        <a:latin typeface="Calibri"/>
                        <a:ea typeface="宋体"/>
                        <a:cs typeface="Times New Roman"/>
                      </a:endParaRPr>
                    </a:p>
                  </a:txBody>
                  <a:tcPr marL="68582" marR="68582" marT="0" marB="0" anchor="ctr"/>
                </a:tc>
                <a:tc>
                  <a:txBody>
                    <a:bodyPr/>
                    <a:lstStyle/>
                    <a:p>
                      <a:pPr indent="14605" algn="ctr">
                        <a:lnSpc>
                          <a:spcPts val="1800"/>
                        </a:lnSpc>
                        <a:spcBef>
                          <a:spcPts val="200"/>
                        </a:spcBef>
                        <a:spcAft>
                          <a:spcPts val="200"/>
                        </a:spcAft>
                      </a:pPr>
                      <a:r>
                        <a:rPr lang="en-US" sz="2000" kern="100" dirty="0">
                          <a:effectLst/>
                          <a:latin typeface="Calibri"/>
                          <a:ea typeface="宋体"/>
                          <a:cs typeface="Calibri"/>
                        </a:rPr>
                        <a:t>8</a:t>
                      </a:r>
                      <a:endParaRPr lang="zh-CN" sz="2000" kern="100" dirty="0">
                        <a:effectLst/>
                        <a:latin typeface="Calibri"/>
                        <a:ea typeface="宋体"/>
                        <a:cs typeface="Times New Roman"/>
                      </a:endParaRPr>
                    </a:p>
                  </a:txBody>
                  <a:tcPr marL="68582" marR="68582" marT="0" marB="0" anchor="ctr"/>
                </a:tc>
                <a:extLst>
                  <a:ext uri="{0D108BD9-81ED-4DB2-BD59-A6C34878D82A}">
                    <a16:rowId xmlns:a16="http://schemas.microsoft.com/office/drawing/2014/main" val="10010"/>
                  </a:ext>
                </a:extLst>
              </a:tr>
              <a:tr h="336411">
                <a:tc gridSpan="2">
                  <a:txBody>
                    <a:bodyPr/>
                    <a:lstStyle/>
                    <a:p>
                      <a:pPr indent="266700" algn="ctr">
                        <a:lnSpc>
                          <a:spcPts val="1800"/>
                        </a:lnSpc>
                        <a:spcBef>
                          <a:spcPts val="200"/>
                        </a:spcBef>
                        <a:spcAft>
                          <a:spcPts val="200"/>
                        </a:spcAft>
                      </a:pPr>
                      <a:r>
                        <a:rPr lang="zh-CN" sz="2000" kern="100" dirty="0">
                          <a:effectLst/>
                          <a:latin typeface="+mn-lt"/>
                          <a:ea typeface="微软雅黑" pitchFamily="34" charset="-122"/>
                        </a:rPr>
                        <a:t>平均寻道长度：</a:t>
                      </a:r>
                      <a:r>
                        <a:rPr lang="en-US" sz="2000" kern="100" dirty="0">
                          <a:effectLst/>
                          <a:latin typeface="+mn-lt"/>
                          <a:ea typeface="微软雅黑" pitchFamily="34" charset="-122"/>
                        </a:rPr>
                        <a:t>29.22</a:t>
                      </a:r>
                      <a:endParaRPr lang="zh-CN" sz="2000" kern="100" dirty="0">
                        <a:effectLst/>
                        <a:latin typeface="+mn-lt"/>
                        <a:ea typeface="微软雅黑" pitchFamily="34" charset="-122"/>
                        <a:cs typeface="Times New Roman"/>
                      </a:endParaRPr>
                    </a:p>
                  </a:txBody>
                  <a:tcPr marL="68582" marR="68582" marT="0" marB="0" anchor="ctr"/>
                </a:tc>
                <a:tc hMerge="1">
                  <a:txBody>
                    <a:bodyPr/>
                    <a:lstStyle/>
                    <a:p>
                      <a:endParaRPr lang="zh-CN" altLang="en-US"/>
                    </a:p>
                  </a:txBody>
                  <a:tcPr/>
                </a:tc>
                <a:extLst>
                  <a:ext uri="{0D108BD9-81ED-4DB2-BD59-A6C34878D82A}">
                    <a16:rowId xmlns:a16="http://schemas.microsoft.com/office/drawing/2014/main" val="10011"/>
                  </a:ext>
                </a:extLst>
              </a:tr>
            </a:tbl>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3. </a:t>
            </a:r>
            <a:r>
              <a:rPr lang="zh-CN" altLang="zh-CN" dirty="0"/>
              <a:t>扫描算法 </a:t>
            </a:r>
            <a:endParaRPr lang="zh-CN" altLang="en-US" dirty="0"/>
          </a:p>
        </p:txBody>
      </p:sp>
      <p:sp>
        <p:nvSpPr>
          <p:cNvPr id="3" name="内容占位符 2"/>
          <p:cNvSpPr>
            <a:spLocks noGrp="1"/>
          </p:cNvSpPr>
          <p:nvPr>
            <p:ph idx="1"/>
          </p:nvPr>
        </p:nvSpPr>
        <p:spPr>
          <a:xfrm>
            <a:off x="608330" y="1227455"/>
            <a:ext cx="10968990" cy="3448717"/>
          </a:xfrm>
        </p:spPr>
        <p:txBody>
          <a:bodyPr>
            <a:normAutofit/>
          </a:bodyPr>
          <a:lstStyle/>
          <a:p>
            <a:r>
              <a:rPr lang="zh-CN" altLang="zh-CN" sz="2800" dirty="0"/>
              <a:t>为防止出现最短寻道时间优先调度算法的</a:t>
            </a:r>
            <a:r>
              <a:rPr lang="en-US" altLang="zh-CN" sz="2800" dirty="0"/>
              <a:t>“</a:t>
            </a:r>
            <a:r>
              <a:rPr lang="zh-CN" altLang="zh-CN" sz="2800" dirty="0"/>
              <a:t>饥饿</a:t>
            </a:r>
            <a:r>
              <a:rPr lang="en-US" altLang="zh-CN" sz="2800" dirty="0"/>
              <a:t>”</a:t>
            </a:r>
            <a:r>
              <a:rPr lang="zh-CN" altLang="zh-CN" sz="2800" dirty="0"/>
              <a:t>现象，对最短寻道时间优先调度算法进行了改进，提出了扫描算法（</a:t>
            </a:r>
            <a:r>
              <a:rPr lang="en-US" altLang="zh-CN" sz="2800" dirty="0"/>
              <a:t>SCAN</a:t>
            </a:r>
            <a:r>
              <a:rPr lang="zh-CN" altLang="zh-CN" sz="2800" dirty="0"/>
              <a:t>）。</a:t>
            </a:r>
            <a:endParaRPr lang="en-US" altLang="zh-CN" sz="2800" dirty="0"/>
          </a:p>
          <a:p>
            <a:r>
              <a:rPr lang="zh-CN" altLang="zh-CN" sz="2800" dirty="0"/>
              <a:t>扫描算法不仅考虑到要访问的磁道与当前磁道间的距离，更</a:t>
            </a:r>
            <a:r>
              <a:rPr lang="zh-CN" altLang="zh-CN" sz="2800" dirty="0">
                <a:solidFill>
                  <a:srgbClr val="0000FF"/>
                </a:solidFill>
              </a:rPr>
              <a:t>优先考虑的是磁头当前的移动方向</a:t>
            </a:r>
            <a:r>
              <a:rPr lang="zh-CN" altLang="zh-CN" sz="2800" dirty="0"/>
              <a:t>。</a:t>
            </a:r>
            <a:endParaRPr lang="zh-CN" altLang="en-US" sz="2800" dirty="0"/>
          </a:p>
        </p:txBody>
      </p:sp>
    </p:spTree>
    <p:extLst>
      <p:ext uri="{BB962C8B-B14F-4D97-AF65-F5344CB8AC3E}">
        <p14:creationId xmlns:p14="http://schemas.microsoft.com/office/powerpoint/2010/main" val="349971990"/>
      </p:ext>
    </p:extLst>
  </p:cSld>
  <p:clrMapOvr>
    <a:masterClrMapping/>
  </p:clrMapOvr>
  <p:transition>
    <p:random/>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A58171E-8328-4812-A5A4-CBE5618254C5}"/>
              </a:ext>
            </a:extLst>
          </p:cNvPr>
          <p:cNvSpPr>
            <a:spLocks noGrp="1"/>
          </p:cNvSpPr>
          <p:nvPr>
            <p:ph type="title"/>
          </p:nvPr>
        </p:nvSpPr>
        <p:spPr/>
        <p:txBody>
          <a:bodyPr/>
          <a:lstStyle/>
          <a:p>
            <a:pPr>
              <a:defRPr/>
            </a:pPr>
            <a:r>
              <a:rPr lang="zh-CN" altLang="en-US" dirty="0"/>
              <a:t>磁盘调度算法</a:t>
            </a:r>
          </a:p>
        </p:txBody>
      </p:sp>
      <p:sp>
        <p:nvSpPr>
          <p:cNvPr id="3" name="内容占位符 2">
            <a:extLst>
              <a:ext uri="{FF2B5EF4-FFF2-40B4-BE49-F238E27FC236}">
                <a16:creationId xmlns:a16="http://schemas.microsoft.com/office/drawing/2014/main" id="{8C4A60A8-A1C8-4A70-99C2-9F26B7A419CE}"/>
              </a:ext>
            </a:extLst>
          </p:cNvPr>
          <p:cNvSpPr>
            <a:spLocks noGrp="1"/>
          </p:cNvSpPr>
          <p:nvPr>
            <p:ph idx="1"/>
          </p:nvPr>
        </p:nvSpPr>
        <p:spPr>
          <a:xfrm>
            <a:off x="611505" y="819970"/>
            <a:ext cx="10968990" cy="1541265"/>
          </a:xfrm>
        </p:spPr>
        <p:txBody>
          <a:bodyPr>
            <a:normAutofit lnSpcReduction="10000"/>
          </a:bodyPr>
          <a:lstStyle/>
          <a:p>
            <a:pPr marL="0" indent="0">
              <a:buNone/>
              <a:defRPr/>
            </a:pPr>
            <a:r>
              <a:rPr lang="zh-CN" altLang="en-US" dirty="0">
                <a:solidFill>
                  <a:schemeClr val="tx1">
                    <a:lumMod val="75000"/>
                    <a:lumOff val="25000"/>
                  </a:schemeClr>
                </a:solidFill>
                <a:latin typeface="微软雅黑" pitchFamily="34" charset="-122"/>
              </a:rPr>
              <a:t>例：</a:t>
            </a:r>
            <a:r>
              <a:rPr lang="zh-CN" altLang="zh-CN" dirty="0">
                <a:solidFill>
                  <a:schemeClr val="tx1">
                    <a:lumMod val="75000"/>
                    <a:lumOff val="25000"/>
                  </a:schemeClr>
                </a:solidFill>
                <a:latin typeface="微软雅黑" pitchFamily="34" charset="-122"/>
              </a:rPr>
              <a:t>假设当前磁头正在</a:t>
            </a:r>
            <a:r>
              <a:rPr lang="en-US" altLang="zh-CN" dirty="0">
                <a:solidFill>
                  <a:schemeClr val="tx1">
                    <a:lumMod val="75000"/>
                    <a:lumOff val="25000"/>
                  </a:schemeClr>
                </a:solidFill>
                <a:latin typeface="微软雅黑" pitchFamily="34" charset="-122"/>
              </a:rPr>
              <a:t>67</a:t>
            </a:r>
            <a:r>
              <a:rPr lang="zh-CN" altLang="zh-CN" dirty="0">
                <a:solidFill>
                  <a:schemeClr val="tx1">
                    <a:lumMod val="75000"/>
                    <a:lumOff val="25000"/>
                  </a:schemeClr>
                </a:solidFill>
                <a:latin typeface="微软雅黑" pitchFamily="34" charset="-122"/>
              </a:rPr>
              <a:t>号磁道上，其前一个访问的磁道为</a:t>
            </a:r>
            <a:r>
              <a:rPr lang="en-US" altLang="zh-CN" dirty="0">
                <a:solidFill>
                  <a:schemeClr val="tx1">
                    <a:lumMod val="75000"/>
                    <a:lumOff val="25000"/>
                  </a:schemeClr>
                </a:solidFill>
                <a:latin typeface="微软雅黑" pitchFamily="34" charset="-122"/>
              </a:rPr>
              <a:t>43</a:t>
            </a:r>
            <a:r>
              <a:rPr lang="zh-CN" altLang="zh-CN" dirty="0">
                <a:solidFill>
                  <a:schemeClr val="tx1">
                    <a:lumMod val="75000"/>
                    <a:lumOff val="25000"/>
                  </a:schemeClr>
                </a:solidFill>
                <a:latin typeface="微软雅黑" pitchFamily="34" charset="-122"/>
              </a:rPr>
              <a:t>号，现在同时有</a:t>
            </a:r>
            <a:r>
              <a:rPr lang="en-US" altLang="zh-CN" dirty="0">
                <a:solidFill>
                  <a:schemeClr val="tx1">
                    <a:lumMod val="75000"/>
                    <a:lumOff val="25000"/>
                  </a:schemeClr>
                </a:solidFill>
                <a:latin typeface="微软雅黑" pitchFamily="34" charset="-122"/>
              </a:rPr>
              <a:t> </a:t>
            </a:r>
            <a:r>
              <a:rPr lang="zh-CN" altLang="en-US" dirty="0">
                <a:solidFill>
                  <a:schemeClr val="tx1">
                    <a:lumMod val="75000"/>
                    <a:lumOff val="25000"/>
                  </a:schemeClr>
                </a:solidFill>
                <a:latin typeface="微软雅黑" pitchFamily="34" charset="-122"/>
              </a:rPr>
              <a:t>多个</a:t>
            </a:r>
            <a:r>
              <a:rPr lang="zh-CN" altLang="zh-CN" dirty="0">
                <a:solidFill>
                  <a:schemeClr val="tx1">
                    <a:lumMod val="75000"/>
                    <a:lumOff val="25000"/>
                  </a:schemeClr>
                </a:solidFill>
                <a:latin typeface="微软雅黑" pitchFamily="34" charset="-122"/>
              </a:rPr>
              <a:t>磁盘访问请求，它们依次要访问的磁道号为：</a:t>
            </a:r>
            <a:r>
              <a:rPr lang="en-US" altLang="zh-CN" dirty="0">
                <a:solidFill>
                  <a:schemeClr val="tx1">
                    <a:lumMod val="75000"/>
                    <a:lumOff val="25000"/>
                  </a:schemeClr>
                </a:solidFill>
                <a:latin typeface="微软雅黑" pitchFamily="34" charset="-122"/>
              </a:rPr>
              <a:t>186</a:t>
            </a:r>
            <a:r>
              <a:rPr lang="zh-CN" altLang="zh-CN" dirty="0">
                <a:solidFill>
                  <a:schemeClr val="tx1">
                    <a:lumMod val="75000"/>
                    <a:lumOff val="25000"/>
                  </a:schemeClr>
                </a:solidFill>
                <a:latin typeface="微软雅黑" pitchFamily="34" charset="-122"/>
              </a:rPr>
              <a:t>、</a:t>
            </a:r>
            <a:r>
              <a:rPr lang="en-US" altLang="zh-CN" dirty="0">
                <a:solidFill>
                  <a:schemeClr val="tx1">
                    <a:lumMod val="75000"/>
                    <a:lumOff val="25000"/>
                  </a:schemeClr>
                </a:solidFill>
                <a:latin typeface="微软雅黑" pitchFamily="34" charset="-122"/>
              </a:rPr>
              <a:t>47</a:t>
            </a:r>
            <a:r>
              <a:rPr lang="zh-CN" altLang="zh-CN" dirty="0">
                <a:solidFill>
                  <a:schemeClr val="tx1">
                    <a:lumMod val="75000"/>
                    <a:lumOff val="25000"/>
                  </a:schemeClr>
                </a:solidFill>
                <a:latin typeface="微软雅黑" pitchFamily="34" charset="-122"/>
              </a:rPr>
              <a:t>、</a:t>
            </a:r>
            <a:r>
              <a:rPr lang="en-US" altLang="zh-CN" dirty="0">
                <a:solidFill>
                  <a:schemeClr val="tx1">
                    <a:lumMod val="75000"/>
                    <a:lumOff val="25000"/>
                  </a:schemeClr>
                </a:solidFill>
                <a:latin typeface="微软雅黑" pitchFamily="34" charset="-122"/>
              </a:rPr>
              <a:t>9</a:t>
            </a:r>
            <a:r>
              <a:rPr lang="zh-CN" altLang="zh-CN" dirty="0">
                <a:solidFill>
                  <a:schemeClr val="tx1">
                    <a:lumMod val="75000"/>
                    <a:lumOff val="25000"/>
                  </a:schemeClr>
                </a:solidFill>
                <a:latin typeface="微软雅黑" pitchFamily="34" charset="-122"/>
              </a:rPr>
              <a:t>、</a:t>
            </a:r>
            <a:r>
              <a:rPr lang="en-US" altLang="zh-CN" dirty="0">
                <a:solidFill>
                  <a:schemeClr val="tx1">
                    <a:lumMod val="75000"/>
                    <a:lumOff val="25000"/>
                  </a:schemeClr>
                </a:solidFill>
                <a:latin typeface="微软雅黑" pitchFamily="34" charset="-122"/>
              </a:rPr>
              <a:t>77</a:t>
            </a:r>
            <a:r>
              <a:rPr lang="zh-CN" altLang="zh-CN" dirty="0">
                <a:solidFill>
                  <a:schemeClr val="tx1">
                    <a:lumMod val="75000"/>
                    <a:lumOff val="25000"/>
                  </a:schemeClr>
                </a:solidFill>
                <a:latin typeface="微软雅黑" pitchFamily="34" charset="-122"/>
              </a:rPr>
              <a:t>、</a:t>
            </a:r>
            <a:r>
              <a:rPr lang="en-US" altLang="zh-CN" dirty="0">
                <a:solidFill>
                  <a:schemeClr val="tx1">
                    <a:lumMod val="75000"/>
                    <a:lumOff val="25000"/>
                  </a:schemeClr>
                </a:solidFill>
                <a:latin typeface="微软雅黑" pitchFamily="34" charset="-122"/>
              </a:rPr>
              <a:t>194</a:t>
            </a:r>
            <a:r>
              <a:rPr lang="zh-CN" altLang="zh-CN" dirty="0">
                <a:solidFill>
                  <a:schemeClr val="tx1">
                    <a:lumMod val="75000"/>
                    <a:lumOff val="25000"/>
                  </a:schemeClr>
                </a:solidFill>
                <a:latin typeface="微软雅黑" pitchFamily="34" charset="-122"/>
              </a:rPr>
              <a:t>、</a:t>
            </a:r>
            <a:r>
              <a:rPr lang="en-US" altLang="zh-CN" dirty="0">
                <a:solidFill>
                  <a:schemeClr val="tx1">
                    <a:lumMod val="75000"/>
                    <a:lumOff val="25000"/>
                  </a:schemeClr>
                </a:solidFill>
                <a:latin typeface="微软雅黑" pitchFamily="34" charset="-122"/>
              </a:rPr>
              <a:t>150</a:t>
            </a:r>
            <a:r>
              <a:rPr lang="zh-CN" altLang="zh-CN" dirty="0">
                <a:solidFill>
                  <a:schemeClr val="tx1">
                    <a:lumMod val="75000"/>
                    <a:lumOff val="25000"/>
                  </a:schemeClr>
                </a:solidFill>
                <a:latin typeface="微软雅黑" pitchFamily="34" charset="-122"/>
              </a:rPr>
              <a:t>、</a:t>
            </a:r>
            <a:r>
              <a:rPr lang="en-US" altLang="zh-CN" dirty="0">
                <a:solidFill>
                  <a:schemeClr val="tx1">
                    <a:lumMod val="75000"/>
                    <a:lumOff val="25000"/>
                  </a:schemeClr>
                </a:solidFill>
                <a:latin typeface="微软雅黑" pitchFamily="34" charset="-122"/>
              </a:rPr>
              <a:t>10</a:t>
            </a:r>
            <a:r>
              <a:rPr lang="zh-CN" altLang="zh-CN" dirty="0">
                <a:solidFill>
                  <a:schemeClr val="tx1">
                    <a:lumMod val="75000"/>
                    <a:lumOff val="25000"/>
                  </a:schemeClr>
                </a:solidFill>
                <a:latin typeface="微软雅黑" pitchFamily="34" charset="-122"/>
              </a:rPr>
              <a:t>、</a:t>
            </a:r>
            <a:r>
              <a:rPr lang="en-US" altLang="zh-CN" dirty="0">
                <a:solidFill>
                  <a:schemeClr val="tx1">
                    <a:lumMod val="75000"/>
                    <a:lumOff val="25000"/>
                  </a:schemeClr>
                </a:solidFill>
                <a:latin typeface="微软雅黑" pitchFamily="34" charset="-122"/>
              </a:rPr>
              <a:t>135</a:t>
            </a:r>
            <a:r>
              <a:rPr lang="zh-CN" altLang="zh-CN" dirty="0">
                <a:solidFill>
                  <a:schemeClr val="tx1">
                    <a:lumMod val="75000"/>
                    <a:lumOff val="25000"/>
                  </a:schemeClr>
                </a:solidFill>
                <a:latin typeface="微软雅黑" pitchFamily="34" charset="-122"/>
              </a:rPr>
              <a:t>、</a:t>
            </a:r>
            <a:r>
              <a:rPr lang="en-US" altLang="zh-CN" dirty="0">
                <a:solidFill>
                  <a:schemeClr val="tx1">
                    <a:lumMod val="75000"/>
                    <a:lumOff val="25000"/>
                  </a:schemeClr>
                </a:solidFill>
                <a:latin typeface="微软雅黑" pitchFamily="34" charset="-122"/>
              </a:rPr>
              <a:t>110</a:t>
            </a:r>
            <a:r>
              <a:rPr lang="zh-CN" altLang="zh-CN" dirty="0">
                <a:solidFill>
                  <a:schemeClr val="tx1">
                    <a:lumMod val="75000"/>
                    <a:lumOff val="25000"/>
                  </a:schemeClr>
                </a:solidFill>
                <a:latin typeface="微软雅黑" pitchFamily="34" charset="-122"/>
              </a:rPr>
              <a:t>，</a:t>
            </a:r>
            <a:r>
              <a:rPr lang="zh-CN" altLang="en-US" dirty="0">
                <a:solidFill>
                  <a:schemeClr val="tx1">
                    <a:lumMod val="75000"/>
                    <a:lumOff val="25000"/>
                  </a:schemeClr>
                </a:solidFill>
                <a:latin typeface="微软雅黑" pitchFamily="34" charset="-122"/>
              </a:rPr>
              <a:t>试</a:t>
            </a:r>
            <a:r>
              <a:rPr lang="zh-CN" altLang="zh-CN" dirty="0">
                <a:solidFill>
                  <a:schemeClr val="tx1">
                    <a:lumMod val="75000"/>
                    <a:lumOff val="25000"/>
                  </a:schemeClr>
                </a:solidFill>
                <a:latin typeface="微软雅黑" pitchFamily="34" charset="-122"/>
              </a:rPr>
              <a:t>求</a:t>
            </a:r>
            <a:r>
              <a:rPr lang="en-US" altLang="zh-CN" dirty="0">
                <a:solidFill>
                  <a:schemeClr val="tx1">
                    <a:lumMod val="75000"/>
                    <a:lumOff val="25000"/>
                  </a:schemeClr>
                </a:solidFill>
                <a:latin typeface="微软雅黑" pitchFamily="34" charset="-122"/>
              </a:rPr>
              <a:t>SCAN</a:t>
            </a:r>
            <a:r>
              <a:rPr lang="zh-CN" altLang="en-US" dirty="0">
                <a:solidFill>
                  <a:schemeClr val="tx1">
                    <a:lumMod val="75000"/>
                    <a:lumOff val="25000"/>
                  </a:schemeClr>
                </a:solidFill>
                <a:latin typeface="微软雅黑" pitchFamily="34" charset="-122"/>
              </a:rPr>
              <a:t>算法</a:t>
            </a:r>
            <a:r>
              <a:rPr lang="zh-CN" altLang="zh-CN" dirty="0">
                <a:solidFill>
                  <a:schemeClr val="tx1">
                    <a:lumMod val="75000"/>
                    <a:lumOff val="25000"/>
                  </a:schemeClr>
                </a:solidFill>
                <a:latin typeface="微软雅黑" pitchFamily="34" charset="-122"/>
              </a:rPr>
              <a:t>平均寻道长度</a:t>
            </a:r>
            <a:r>
              <a:rPr lang="zh-CN" altLang="en-US" dirty="0">
                <a:solidFill>
                  <a:schemeClr val="tx1">
                    <a:lumMod val="75000"/>
                    <a:lumOff val="25000"/>
                  </a:schemeClr>
                </a:solidFill>
                <a:latin typeface="微软雅黑" pitchFamily="34" charset="-122"/>
              </a:rPr>
              <a:t>。</a:t>
            </a:r>
            <a:endParaRPr lang="en-US" altLang="zh-CN" dirty="0">
              <a:solidFill>
                <a:schemeClr val="tx1">
                  <a:lumMod val="75000"/>
                  <a:lumOff val="25000"/>
                </a:schemeClr>
              </a:solidFill>
              <a:latin typeface="微软雅黑" pitchFamily="34" charset="-122"/>
            </a:endParaRPr>
          </a:p>
          <a:p>
            <a:pPr marL="0" indent="0">
              <a:buNone/>
              <a:defRPr/>
            </a:pPr>
            <a:endParaRPr lang="en-US" altLang="zh-CN" dirty="0">
              <a:solidFill>
                <a:schemeClr val="tx1">
                  <a:lumMod val="85000"/>
                  <a:lumOff val="15000"/>
                </a:schemeClr>
              </a:solidFill>
              <a:latin typeface="微软雅黑" pitchFamily="34" charset="-122"/>
            </a:endParaRPr>
          </a:p>
          <a:p>
            <a:pPr marL="0" indent="0">
              <a:buNone/>
              <a:defRPr/>
            </a:pPr>
            <a:endParaRPr lang="en-US" altLang="zh-CN" dirty="0">
              <a:solidFill>
                <a:schemeClr val="tx1">
                  <a:lumMod val="85000"/>
                  <a:lumOff val="15000"/>
                </a:schemeClr>
              </a:solidFill>
            </a:endParaRPr>
          </a:p>
        </p:txBody>
      </p:sp>
      <p:graphicFrame>
        <p:nvGraphicFramePr>
          <p:cNvPr id="4" name="表格 3">
            <a:extLst>
              <a:ext uri="{FF2B5EF4-FFF2-40B4-BE49-F238E27FC236}">
                <a16:creationId xmlns:a16="http://schemas.microsoft.com/office/drawing/2014/main" id="{0489B5F2-D6C3-4D8E-AAF6-37ED389394F0}"/>
              </a:ext>
            </a:extLst>
          </p:cNvPr>
          <p:cNvGraphicFramePr>
            <a:graphicFrameLocks noGrp="1"/>
          </p:cNvGraphicFramePr>
          <p:nvPr>
            <p:extLst>
              <p:ext uri="{D42A27DB-BD31-4B8C-83A1-F6EECF244321}">
                <p14:modId xmlns:p14="http://schemas.microsoft.com/office/powerpoint/2010/main" val="4215229448"/>
              </p:ext>
            </p:extLst>
          </p:nvPr>
        </p:nvGraphicFramePr>
        <p:xfrm>
          <a:off x="3578505" y="2361235"/>
          <a:ext cx="4732117" cy="4190035"/>
        </p:xfrm>
        <a:graphic>
          <a:graphicData uri="http://schemas.openxmlformats.org/drawingml/2006/table">
            <a:tbl>
              <a:tblPr firstRow="1" firstCol="1" bandRow="1">
                <a:tableStyleId>{5C22544A-7EE6-4342-B048-85BDC9FD1C3A}</a:tableStyleId>
              </a:tblPr>
              <a:tblGrid>
                <a:gridCol w="2295893">
                  <a:extLst>
                    <a:ext uri="{9D8B030D-6E8A-4147-A177-3AD203B41FA5}">
                      <a16:colId xmlns:a16="http://schemas.microsoft.com/office/drawing/2014/main" val="20000"/>
                    </a:ext>
                  </a:extLst>
                </a:gridCol>
                <a:gridCol w="2436224">
                  <a:extLst>
                    <a:ext uri="{9D8B030D-6E8A-4147-A177-3AD203B41FA5}">
                      <a16:colId xmlns:a16="http://schemas.microsoft.com/office/drawing/2014/main" val="20001"/>
                    </a:ext>
                  </a:extLst>
                </a:gridCol>
              </a:tblGrid>
              <a:tr h="334913">
                <a:tc gridSpan="2">
                  <a:txBody>
                    <a:bodyPr/>
                    <a:lstStyle/>
                    <a:p>
                      <a:pPr indent="127000" algn="ctr">
                        <a:lnSpc>
                          <a:spcPts val="1800"/>
                        </a:lnSpc>
                        <a:spcBef>
                          <a:spcPts val="200"/>
                        </a:spcBef>
                        <a:spcAft>
                          <a:spcPts val="200"/>
                        </a:spcAft>
                      </a:pPr>
                      <a:r>
                        <a:rPr lang="zh-CN" sz="1800" kern="100" dirty="0">
                          <a:effectLst/>
                          <a:latin typeface="+mn-lt"/>
                          <a:ea typeface="微软雅黑" pitchFamily="34" charset="-122"/>
                        </a:rPr>
                        <a:t>从</a:t>
                      </a:r>
                      <a:r>
                        <a:rPr lang="en-US" sz="1800" kern="100" dirty="0">
                          <a:effectLst/>
                          <a:latin typeface="+mn-lt"/>
                          <a:ea typeface="微软雅黑" pitchFamily="34" charset="-122"/>
                        </a:rPr>
                        <a:t>67</a:t>
                      </a:r>
                      <a:r>
                        <a:rPr lang="zh-CN" sz="1800" kern="100" dirty="0">
                          <a:effectLst/>
                          <a:latin typeface="+mn-lt"/>
                          <a:ea typeface="微软雅黑" pitchFamily="34" charset="-122"/>
                        </a:rPr>
                        <a:t>号磁道开始</a:t>
                      </a:r>
                      <a:endParaRPr lang="zh-CN" sz="1800" kern="100" dirty="0">
                        <a:effectLst/>
                        <a:latin typeface="+mn-lt"/>
                        <a:ea typeface="微软雅黑" pitchFamily="34" charset="-122"/>
                        <a:cs typeface="Times New Roman"/>
                      </a:endParaRPr>
                    </a:p>
                  </a:txBody>
                  <a:tcPr marL="68582" marR="68582" marT="0" marB="0" anchor="ctr"/>
                </a:tc>
                <a:tc hMerge="1">
                  <a:txBody>
                    <a:bodyPr/>
                    <a:lstStyle/>
                    <a:p>
                      <a:endParaRPr lang="zh-CN" altLang="en-US"/>
                    </a:p>
                  </a:txBody>
                  <a:tcPr/>
                </a:tc>
                <a:extLst>
                  <a:ext uri="{0D108BD9-81ED-4DB2-BD59-A6C34878D82A}">
                    <a16:rowId xmlns:a16="http://schemas.microsoft.com/office/drawing/2014/main" val="10000"/>
                  </a:ext>
                </a:extLst>
              </a:tr>
              <a:tr h="467535">
                <a:tc>
                  <a:txBody>
                    <a:bodyPr/>
                    <a:lstStyle/>
                    <a:p>
                      <a:pPr indent="127000" algn="ctr">
                        <a:lnSpc>
                          <a:spcPts val="1800"/>
                        </a:lnSpc>
                        <a:spcBef>
                          <a:spcPts val="200"/>
                        </a:spcBef>
                        <a:spcAft>
                          <a:spcPts val="200"/>
                        </a:spcAft>
                      </a:pPr>
                      <a:r>
                        <a:rPr lang="zh-CN" sz="1800" kern="100">
                          <a:effectLst/>
                          <a:latin typeface="+mn-lt"/>
                          <a:ea typeface="微软雅黑" pitchFamily="34" charset="-122"/>
                        </a:rPr>
                        <a:t>访问的下一磁道号</a:t>
                      </a:r>
                      <a:endParaRPr lang="zh-CN" sz="1800" kern="100">
                        <a:effectLst/>
                        <a:latin typeface="+mn-lt"/>
                        <a:ea typeface="微软雅黑" pitchFamily="34" charset="-122"/>
                        <a:cs typeface="Times New Roman"/>
                      </a:endParaRPr>
                    </a:p>
                  </a:txBody>
                  <a:tcPr marL="68582" marR="68582" marT="0" marB="0" anchor="ctr"/>
                </a:tc>
                <a:tc>
                  <a:txBody>
                    <a:bodyPr/>
                    <a:lstStyle/>
                    <a:p>
                      <a:pPr indent="53340" algn="ctr">
                        <a:lnSpc>
                          <a:spcPts val="1800"/>
                        </a:lnSpc>
                        <a:spcBef>
                          <a:spcPts val="200"/>
                        </a:spcBef>
                        <a:spcAft>
                          <a:spcPts val="200"/>
                        </a:spcAft>
                      </a:pPr>
                      <a:r>
                        <a:rPr lang="zh-CN" sz="1800" kern="100" dirty="0">
                          <a:effectLst/>
                          <a:latin typeface="+mn-lt"/>
                          <a:ea typeface="微软雅黑" pitchFamily="34" charset="-122"/>
                        </a:rPr>
                        <a:t>移动距离（磁道数）</a:t>
                      </a:r>
                      <a:endParaRPr lang="zh-CN" sz="1800" kern="100" dirty="0">
                        <a:effectLst/>
                        <a:latin typeface="+mn-lt"/>
                        <a:ea typeface="微软雅黑" pitchFamily="34" charset="-122"/>
                        <a:cs typeface="Times New Roman"/>
                      </a:endParaRPr>
                    </a:p>
                  </a:txBody>
                  <a:tcPr marL="68582" marR="68582" marT="0" marB="0" anchor="ctr"/>
                </a:tc>
                <a:extLst>
                  <a:ext uri="{0D108BD9-81ED-4DB2-BD59-A6C34878D82A}">
                    <a16:rowId xmlns:a16="http://schemas.microsoft.com/office/drawing/2014/main" val="10001"/>
                  </a:ext>
                </a:extLst>
              </a:tr>
              <a:tr h="339186">
                <a:tc>
                  <a:txBody>
                    <a:bodyPr/>
                    <a:lstStyle/>
                    <a:p>
                      <a:pPr indent="127000" algn="ctr">
                        <a:lnSpc>
                          <a:spcPts val="1800"/>
                        </a:lnSpc>
                        <a:spcBef>
                          <a:spcPts val="200"/>
                        </a:spcBef>
                        <a:spcAft>
                          <a:spcPts val="200"/>
                        </a:spcAft>
                      </a:pPr>
                      <a:r>
                        <a:rPr lang="en-US" sz="1800" kern="100">
                          <a:effectLst/>
                          <a:latin typeface="Calibri"/>
                          <a:ea typeface="宋体"/>
                          <a:cs typeface="Calibri"/>
                        </a:rPr>
                        <a:t>77</a:t>
                      </a:r>
                      <a:endParaRPr lang="zh-CN" sz="1800" kern="100">
                        <a:effectLst/>
                        <a:latin typeface="Calibri"/>
                        <a:ea typeface="宋体"/>
                        <a:cs typeface="Times New Roman"/>
                      </a:endParaRPr>
                    </a:p>
                  </a:txBody>
                  <a:tcPr marL="68582" marR="68582" marT="0" marB="0" anchor="ctr"/>
                </a:tc>
                <a:tc>
                  <a:txBody>
                    <a:bodyPr/>
                    <a:lstStyle/>
                    <a:p>
                      <a:pPr indent="52070" algn="ctr">
                        <a:lnSpc>
                          <a:spcPts val="1800"/>
                        </a:lnSpc>
                        <a:spcBef>
                          <a:spcPts val="200"/>
                        </a:spcBef>
                        <a:spcAft>
                          <a:spcPts val="200"/>
                        </a:spcAft>
                      </a:pPr>
                      <a:r>
                        <a:rPr lang="en-US" sz="1800" kern="100">
                          <a:effectLst/>
                          <a:latin typeface="Calibri"/>
                          <a:ea typeface="宋体"/>
                          <a:cs typeface="Calibri"/>
                        </a:rPr>
                        <a:t>10</a:t>
                      </a:r>
                      <a:endParaRPr lang="zh-CN" sz="1800" kern="100">
                        <a:effectLst/>
                        <a:latin typeface="Calibri"/>
                        <a:ea typeface="宋体"/>
                        <a:cs typeface="Times New Roman"/>
                      </a:endParaRPr>
                    </a:p>
                  </a:txBody>
                  <a:tcPr marL="68582" marR="68582" marT="0" marB="0" anchor="ctr"/>
                </a:tc>
                <a:extLst>
                  <a:ext uri="{0D108BD9-81ED-4DB2-BD59-A6C34878D82A}">
                    <a16:rowId xmlns:a16="http://schemas.microsoft.com/office/drawing/2014/main" val="10002"/>
                  </a:ext>
                </a:extLst>
              </a:tr>
              <a:tr h="339186">
                <a:tc>
                  <a:txBody>
                    <a:bodyPr/>
                    <a:lstStyle/>
                    <a:p>
                      <a:pPr indent="127000" algn="ctr">
                        <a:lnSpc>
                          <a:spcPts val="1800"/>
                        </a:lnSpc>
                        <a:spcBef>
                          <a:spcPts val="200"/>
                        </a:spcBef>
                        <a:spcAft>
                          <a:spcPts val="200"/>
                        </a:spcAft>
                      </a:pPr>
                      <a:r>
                        <a:rPr lang="en-US" sz="1800" kern="100">
                          <a:effectLst/>
                          <a:latin typeface="Calibri"/>
                          <a:ea typeface="宋体"/>
                          <a:cs typeface="Calibri"/>
                        </a:rPr>
                        <a:t>110</a:t>
                      </a:r>
                      <a:endParaRPr lang="zh-CN" sz="1800" kern="100">
                        <a:effectLst/>
                        <a:latin typeface="Calibri"/>
                        <a:ea typeface="宋体"/>
                        <a:cs typeface="Times New Roman"/>
                      </a:endParaRPr>
                    </a:p>
                  </a:txBody>
                  <a:tcPr marL="68582" marR="68582" marT="0" marB="0" anchor="ctr"/>
                </a:tc>
                <a:tc>
                  <a:txBody>
                    <a:bodyPr/>
                    <a:lstStyle/>
                    <a:p>
                      <a:pPr indent="52070" algn="ctr">
                        <a:lnSpc>
                          <a:spcPts val="1800"/>
                        </a:lnSpc>
                        <a:spcBef>
                          <a:spcPts val="200"/>
                        </a:spcBef>
                        <a:spcAft>
                          <a:spcPts val="200"/>
                        </a:spcAft>
                      </a:pPr>
                      <a:r>
                        <a:rPr lang="en-US" sz="1800" kern="100">
                          <a:effectLst/>
                          <a:latin typeface="Calibri"/>
                          <a:ea typeface="宋体"/>
                          <a:cs typeface="Calibri"/>
                        </a:rPr>
                        <a:t>33</a:t>
                      </a:r>
                      <a:endParaRPr lang="zh-CN" sz="1800" kern="100">
                        <a:effectLst/>
                        <a:latin typeface="Calibri"/>
                        <a:ea typeface="宋体"/>
                        <a:cs typeface="Times New Roman"/>
                      </a:endParaRPr>
                    </a:p>
                  </a:txBody>
                  <a:tcPr marL="68582" marR="68582" marT="0" marB="0" anchor="ctr"/>
                </a:tc>
                <a:extLst>
                  <a:ext uri="{0D108BD9-81ED-4DB2-BD59-A6C34878D82A}">
                    <a16:rowId xmlns:a16="http://schemas.microsoft.com/office/drawing/2014/main" val="10003"/>
                  </a:ext>
                </a:extLst>
              </a:tr>
              <a:tr h="339186">
                <a:tc>
                  <a:txBody>
                    <a:bodyPr/>
                    <a:lstStyle/>
                    <a:p>
                      <a:pPr indent="127000" algn="ctr">
                        <a:lnSpc>
                          <a:spcPts val="1800"/>
                        </a:lnSpc>
                        <a:spcBef>
                          <a:spcPts val="200"/>
                        </a:spcBef>
                        <a:spcAft>
                          <a:spcPts val="200"/>
                        </a:spcAft>
                      </a:pPr>
                      <a:r>
                        <a:rPr lang="en-US" sz="1800" kern="100">
                          <a:effectLst/>
                          <a:latin typeface="Calibri"/>
                          <a:ea typeface="宋体"/>
                          <a:cs typeface="Calibri"/>
                        </a:rPr>
                        <a:t>135</a:t>
                      </a:r>
                      <a:endParaRPr lang="zh-CN" sz="1800" kern="100">
                        <a:effectLst/>
                        <a:latin typeface="Calibri"/>
                        <a:ea typeface="宋体"/>
                        <a:cs typeface="Times New Roman"/>
                      </a:endParaRPr>
                    </a:p>
                  </a:txBody>
                  <a:tcPr marL="68582" marR="68582" marT="0" marB="0" anchor="ctr"/>
                </a:tc>
                <a:tc>
                  <a:txBody>
                    <a:bodyPr/>
                    <a:lstStyle/>
                    <a:p>
                      <a:pPr indent="52070" algn="ctr">
                        <a:lnSpc>
                          <a:spcPts val="1800"/>
                        </a:lnSpc>
                        <a:spcBef>
                          <a:spcPts val="200"/>
                        </a:spcBef>
                        <a:spcAft>
                          <a:spcPts val="200"/>
                        </a:spcAft>
                      </a:pPr>
                      <a:r>
                        <a:rPr lang="en-US" sz="1800" kern="100">
                          <a:effectLst/>
                          <a:latin typeface="Calibri"/>
                          <a:ea typeface="宋体"/>
                          <a:cs typeface="Calibri"/>
                        </a:rPr>
                        <a:t>25</a:t>
                      </a:r>
                      <a:endParaRPr lang="zh-CN" sz="1800" kern="100">
                        <a:effectLst/>
                        <a:latin typeface="Calibri"/>
                        <a:ea typeface="宋体"/>
                        <a:cs typeface="Times New Roman"/>
                      </a:endParaRPr>
                    </a:p>
                  </a:txBody>
                  <a:tcPr marL="68582" marR="68582" marT="0" marB="0" anchor="ctr"/>
                </a:tc>
                <a:extLst>
                  <a:ext uri="{0D108BD9-81ED-4DB2-BD59-A6C34878D82A}">
                    <a16:rowId xmlns:a16="http://schemas.microsoft.com/office/drawing/2014/main" val="10004"/>
                  </a:ext>
                </a:extLst>
              </a:tr>
              <a:tr h="339186">
                <a:tc>
                  <a:txBody>
                    <a:bodyPr/>
                    <a:lstStyle/>
                    <a:p>
                      <a:pPr indent="127000" algn="ctr">
                        <a:lnSpc>
                          <a:spcPts val="1800"/>
                        </a:lnSpc>
                        <a:spcBef>
                          <a:spcPts val="200"/>
                        </a:spcBef>
                        <a:spcAft>
                          <a:spcPts val="200"/>
                        </a:spcAft>
                      </a:pPr>
                      <a:r>
                        <a:rPr lang="en-US" sz="1800" kern="100">
                          <a:effectLst/>
                          <a:latin typeface="Calibri"/>
                          <a:ea typeface="宋体"/>
                          <a:cs typeface="Calibri"/>
                        </a:rPr>
                        <a:t>150</a:t>
                      </a:r>
                      <a:endParaRPr lang="zh-CN" sz="1800" kern="100">
                        <a:effectLst/>
                        <a:latin typeface="Calibri"/>
                        <a:ea typeface="宋体"/>
                        <a:cs typeface="Times New Roman"/>
                      </a:endParaRPr>
                    </a:p>
                  </a:txBody>
                  <a:tcPr marL="68582" marR="68582" marT="0" marB="0" anchor="ctr"/>
                </a:tc>
                <a:tc>
                  <a:txBody>
                    <a:bodyPr/>
                    <a:lstStyle/>
                    <a:p>
                      <a:pPr indent="52070" algn="ctr">
                        <a:lnSpc>
                          <a:spcPts val="1800"/>
                        </a:lnSpc>
                        <a:spcBef>
                          <a:spcPts val="200"/>
                        </a:spcBef>
                        <a:spcAft>
                          <a:spcPts val="200"/>
                        </a:spcAft>
                      </a:pPr>
                      <a:r>
                        <a:rPr lang="en-US" sz="1800" kern="100">
                          <a:effectLst/>
                          <a:latin typeface="Calibri"/>
                          <a:ea typeface="宋体"/>
                          <a:cs typeface="Calibri"/>
                        </a:rPr>
                        <a:t>15</a:t>
                      </a:r>
                      <a:endParaRPr lang="zh-CN" sz="1800" kern="100">
                        <a:effectLst/>
                        <a:latin typeface="Calibri"/>
                        <a:ea typeface="宋体"/>
                        <a:cs typeface="Times New Roman"/>
                      </a:endParaRPr>
                    </a:p>
                  </a:txBody>
                  <a:tcPr marL="68582" marR="68582" marT="0" marB="0" anchor="ctr"/>
                </a:tc>
                <a:extLst>
                  <a:ext uri="{0D108BD9-81ED-4DB2-BD59-A6C34878D82A}">
                    <a16:rowId xmlns:a16="http://schemas.microsoft.com/office/drawing/2014/main" val="10005"/>
                  </a:ext>
                </a:extLst>
              </a:tr>
              <a:tr h="339186">
                <a:tc>
                  <a:txBody>
                    <a:bodyPr/>
                    <a:lstStyle/>
                    <a:p>
                      <a:pPr indent="127000" algn="ctr">
                        <a:lnSpc>
                          <a:spcPts val="1800"/>
                        </a:lnSpc>
                        <a:spcBef>
                          <a:spcPts val="200"/>
                        </a:spcBef>
                        <a:spcAft>
                          <a:spcPts val="200"/>
                        </a:spcAft>
                      </a:pPr>
                      <a:r>
                        <a:rPr lang="en-US" sz="1800" kern="100">
                          <a:effectLst/>
                          <a:latin typeface="Calibri"/>
                          <a:ea typeface="宋体"/>
                          <a:cs typeface="Calibri"/>
                        </a:rPr>
                        <a:t>186</a:t>
                      </a:r>
                      <a:endParaRPr lang="zh-CN" sz="1800" kern="100">
                        <a:effectLst/>
                        <a:latin typeface="Calibri"/>
                        <a:ea typeface="宋体"/>
                        <a:cs typeface="Times New Roman"/>
                      </a:endParaRPr>
                    </a:p>
                  </a:txBody>
                  <a:tcPr marL="68582" marR="68582" marT="0" marB="0" anchor="ctr"/>
                </a:tc>
                <a:tc>
                  <a:txBody>
                    <a:bodyPr/>
                    <a:lstStyle/>
                    <a:p>
                      <a:pPr indent="52070" algn="ctr">
                        <a:lnSpc>
                          <a:spcPts val="1800"/>
                        </a:lnSpc>
                        <a:spcBef>
                          <a:spcPts val="200"/>
                        </a:spcBef>
                        <a:spcAft>
                          <a:spcPts val="200"/>
                        </a:spcAft>
                      </a:pPr>
                      <a:r>
                        <a:rPr lang="en-US" sz="1800" kern="100">
                          <a:effectLst/>
                          <a:latin typeface="Calibri"/>
                          <a:ea typeface="宋体"/>
                          <a:cs typeface="Calibri"/>
                        </a:rPr>
                        <a:t>36</a:t>
                      </a:r>
                      <a:endParaRPr lang="zh-CN" sz="1800" kern="100">
                        <a:effectLst/>
                        <a:latin typeface="Calibri"/>
                        <a:ea typeface="宋体"/>
                        <a:cs typeface="Times New Roman"/>
                      </a:endParaRPr>
                    </a:p>
                  </a:txBody>
                  <a:tcPr marL="68582" marR="68582" marT="0" marB="0" anchor="ctr"/>
                </a:tc>
                <a:extLst>
                  <a:ext uri="{0D108BD9-81ED-4DB2-BD59-A6C34878D82A}">
                    <a16:rowId xmlns:a16="http://schemas.microsoft.com/office/drawing/2014/main" val="10006"/>
                  </a:ext>
                </a:extLst>
              </a:tr>
              <a:tr h="339186">
                <a:tc>
                  <a:txBody>
                    <a:bodyPr/>
                    <a:lstStyle/>
                    <a:p>
                      <a:pPr indent="127000" algn="ctr">
                        <a:lnSpc>
                          <a:spcPts val="1800"/>
                        </a:lnSpc>
                        <a:spcBef>
                          <a:spcPts val="200"/>
                        </a:spcBef>
                        <a:spcAft>
                          <a:spcPts val="200"/>
                        </a:spcAft>
                      </a:pPr>
                      <a:r>
                        <a:rPr lang="en-US" sz="1800" kern="100">
                          <a:effectLst/>
                          <a:latin typeface="Calibri"/>
                          <a:ea typeface="宋体"/>
                          <a:cs typeface="Calibri"/>
                        </a:rPr>
                        <a:t>194</a:t>
                      </a:r>
                      <a:endParaRPr lang="zh-CN" sz="1800" kern="100">
                        <a:effectLst/>
                        <a:latin typeface="Calibri"/>
                        <a:ea typeface="宋体"/>
                        <a:cs typeface="Times New Roman"/>
                      </a:endParaRPr>
                    </a:p>
                  </a:txBody>
                  <a:tcPr marL="68582" marR="68582" marT="0" marB="0" anchor="ctr"/>
                </a:tc>
                <a:tc>
                  <a:txBody>
                    <a:bodyPr/>
                    <a:lstStyle/>
                    <a:p>
                      <a:pPr indent="52070" algn="ctr">
                        <a:lnSpc>
                          <a:spcPts val="1800"/>
                        </a:lnSpc>
                        <a:spcBef>
                          <a:spcPts val="200"/>
                        </a:spcBef>
                        <a:spcAft>
                          <a:spcPts val="200"/>
                        </a:spcAft>
                      </a:pPr>
                      <a:r>
                        <a:rPr lang="en-US" sz="1800" kern="100">
                          <a:effectLst/>
                          <a:latin typeface="Calibri"/>
                          <a:ea typeface="宋体"/>
                          <a:cs typeface="Calibri"/>
                        </a:rPr>
                        <a:t>8</a:t>
                      </a:r>
                      <a:endParaRPr lang="zh-CN" sz="1800" kern="100">
                        <a:effectLst/>
                        <a:latin typeface="Calibri"/>
                        <a:ea typeface="宋体"/>
                        <a:cs typeface="Times New Roman"/>
                      </a:endParaRPr>
                    </a:p>
                  </a:txBody>
                  <a:tcPr marL="68582" marR="68582" marT="0" marB="0" anchor="ctr"/>
                </a:tc>
                <a:extLst>
                  <a:ext uri="{0D108BD9-81ED-4DB2-BD59-A6C34878D82A}">
                    <a16:rowId xmlns:a16="http://schemas.microsoft.com/office/drawing/2014/main" val="10007"/>
                  </a:ext>
                </a:extLst>
              </a:tr>
              <a:tr h="339186">
                <a:tc>
                  <a:txBody>
                    <a:bodyPr/>
                    <a:lstStyle/>
                    <a:p>
                      <a:pPr indent="127000" algn="ctr">
                        <a:lnSpc>
                          <a:spcPts val="1800"/>
                        </a:lnSpc>
                        <a:spcBef>
                          <a:spcPts val="200"/>
                        </a:spcBef>
                        <a:spcAft>
                          <a:spcPts val="200"/>
                        </a:spcAft>
                      </a:pPr>
                      <a:r>
                        <a:rPr lang="en-US" sz="1800" kern="100">
                          <a:effectLst/>
                          <a:latin typeface="Calibri"/>
                          <a:ea typeface="宋体"/>
                          <a:cs typeface="Calibri"/>
                        </a:rPr>
                        <a:t>47</a:t>
                      </a:r>
                      <a:endParaRPr lang="zh-CN" sz="1800" kern="100">
                        <a:effectLst/>
                        <a:latin typeface="Calibri"/>
                        <a:ea typeface="宋体"/>
                        <a:cs typeface="Times New Roman"/>
                      </a:endParaRPr>
                    </a:p>
                  </a:txBody>
                  <a:tcPr marL="68582" marR="68582" marT="0" marB="0" anchor="ctr"/>
                </a:tc>
                <a:tc>
                  <a:txBody>
                    <a:bodyPr/>
                    <a:lstStyle/>
                    <a:p>
                      <a:pPr indent="52070" algn="ctr">
                        <a:lnSpc>
                          <a:spcPts val="1800"/>
                        </a:lnSpc>
                        <a:spcBef>
                          <a:spcPts val="200"/>
                        </a:spcBef>
                        <a:spcAft>
                          <a:spcPts val="200"/>
                        </a:spcAft>
                      </a:pPr>
                      <a:r>
                        <a:rPr lang="en-US" sz="1800" kern="100">
                          <a:effectLst/>
                          <a:latin typeface="Calibri"/>
                          <a:ea typeface="宋体"/>
                          <a:cs typeface="Calibri"/>
                        </a:rPr>
                        <a:t>147</a:t>
                      </a:r>
                      <a:endParaRPr lang="zh-CN" sz="1800" kern="100">
                        <a:effectLst/>
                        <a:latin typeface="Calibri"/>
                        <a:ea typeface="宋体"/>
                        <a:cs typeface="Times New Roman"/>
                      </a:endParaRPr>
                    </a:p>
                  </a:txBody>
                  <a:tcPr marL="68582" marR="68582" marT="0" marB="0" anchor="ctr"/>
                </a:tc>
                <a:extLst>
                  <a:ext uri="{0D108BD9-81ED-4DB2-BD59-A6C34878D82A}">
                    <a16:rowId xmlns:a16="http://schemas.microsoft.com/office/drawing/2014/main" val="10008"/>
                  </a:ext>
                </a:extLst>
              </a:tr>
              <a:tr h="339186">
                <a:tc>
                  <a:txBody>
                    <a:bodyPr/>
                    <a:lstStyle/>
                    <a:p>
                      <a:pPr indent="127000" algn="ctr">
                        <a:lnSpc>
                          <a:spcPts val="1800"/>
                        </a:lnSpc>
                        <a:spcBef>
                          <a:spcPts val="200"/>
                        </a:spcBef>
                        <a:spcAft>
                          <a:spcPts val="200"/>
                        </a:spcAft>
                      </a:pPr>
                      <a:r>
                        <a:rPr lang="en-US" sz="1800" kern="100">
                          <a:effectLst/>
                          <a:latin typeface="Calibri"/>
                          <a:ea typeface="宋体"/>
                          <a:cs typeface="Calibri"/>
                        </a:rPr>
                        <a:t>10</a:t>
                      </a:r>
                      <a:endParaRPr lang="zh-CN" sz="1800" kern="100">
                        <a:effectLst/>
                        <a:latin typeface="Calibri"/>
                        <a:ea typeface="宋体"/>
                        <a:cs typeface="Times New Roman"/>
                      </a:endParaRPr>
                    </a:p>
                  </a:txBody>
                  <a:tcPr marL="68582" marR="68582" marT="0" marB="0" anchor="ctr"/>
                </a:tc>
                <a:tc>
                  <a:txBody>
                    <a:bodyPr/>
                    <a:lstStyle/>
                    <a:p>
                      <a:pPr indent="52070" algn="ctr">
                        <a:lnSpc>
                          <a:spcPts val="1800"/>
                        </a:lnSpc>
                        <a:spcBef>
                          <a:spcPts val="200"/>
                        </a:spcBef>
                        <a:spcAft>
                          <a:spcPts val="200"/>
                        </a:spcAft>
                      </a:pPr>
                      <a:r>
                        <a:rPr lang="en-US" sz="1800" kern="100">
                          <a:effectLst/>
                          <a:latin typeface="Calibri"/>
                          <a:ea typeface="宋体"/>
                          <a:cs typeface="Calibri"/>
                        </a:rPr>
                        <a:t>37</a:t>
                      </a:r>
                      <a:endParaRPr lang="zh-CN" sz="1800" kern="100">
                        <a:effectLst/>
                        <a:latin typeface="Calibri"/>
                        <a:ea typeface="宋体"/>
                        <a:cs typeface="Times New Roman"/>
                      </a:endParaRPr>
                    </a:p>
                  </a:txBody>
                  <a:tcPr marL="68582" marR="68582" marT="0" marB="0" anchor="ctr"/>
                </a:tc>
                <a:extLst>
                  <a:ext uri="{0D108BD9-81ED-4DB2-BD59-A6C34878D82A}">
                    <a16:rowId xmlns:a16="http://schemas.microsoft.com/office/drawing/2014/main" val="10009"/>
                  </a:ext>
                </a:extLst>
              </a:tr>
              <a:tr h="339186">
                <a:tc>
                  <a:txBody>
                    <a:bodyPr/>
                    <a:lstStyle/>
                    <a:p>
                      <a:pPr indent="127000" algn="ctr">
                        <a:lnSpc>
                          <a:spcPts val="1800"/>
                        </a:lnSpc>
                        <a:spcBef>
                          <a:spcPts val="200"/>
                        </a:spcBef>
                        <a:spcAft>
                          <a:spcPts val="200"/>
                        </a:spcAft>
                      </a:pPr>
                      <a:r>
                        <a:rPr lang="en-US" sz="1800" kern="100">
                          <a:effectLst/>
                          <a:latin typeface="Calibri"/>
                          <a:ea typeface="宋体"/>
                          <a:cs typeface="Calibri"/>
                        </a:rPr>
                        <a:t>9</a:t>
                      </a:r>
                      <a:endParaRPr lang="zh-CN" sz="1800" kern="100">
                        <a:effectLst/>
                        <a:latin typeface="Calibri"/>
                        <a:ea typeface="宋体"/>
                        <a:cs typeface="Times New Roman"/>
                      </a:endParaRPr>
                    </a:p>
                  </a:txBody>
                  <a:tcPr marL="68582" marR="68582" marT="0" marB="0" anchor="ctr"/>
                </a:tc>
                <a:tc>
                  <a:txBody>
                    <a:bodyPr/>
                    <a:lstStyle/>
                    <a:p>
                      <a:pPr indent="52070" algn="ctr">
                        <a:lnSpc>
                          <a:spcPts val="1800"/>
                        </a:lnSpc>
                        <a:spcBef>
                          <a:spcPts val="200"/>
                        </a:spcBef>
                        <a:spcAft>
                          <a:spcPts val="200"/>
                        </a:spcAft>
                      </a:pPr>
                      <a:r>
                        <a:rPr lang="en-US" sz="1800" kern="100" dirty="0">
                          <a:effectLst/>
                          <a:latin typeface="Calibri"/>
                          <a:ea typeface="宋体"/>
                          <a:cs typeface="Calibri"/>
                        </a:rPr>
                        <a:t>1</a:t>
                      </a:r>
                      <a:endParaRPr lang="zh-CN" sz="1800" kern="100" dirty="0">
                        <a:effectLst/>
                        <a:latin typeface="Calibri"/>
                        <a:ea typeface="宋体"/>
                        <a:cs typeface="Times New Roman"/>
                      </a:endParaRPr>
                    </a:p>
                  </a:txBody>
                  <a:tcPr marL="68582" marR="68582" marT="0" marB="0" anchor="ctr"/>
                </a:tc>
                <a:extLst>
                  <a:ext uri="{0D108BD9-81ED-4DB2-BD59-A6C34878D82A}">
                    <a16:rowId xmlns:a16="http://schemas.microsoft.com/office/drawing/2014/main" val="10010"/>
                  </a:ext>
                </a:extLst>
              </a:tr>
              <a:tr h="334913">
                <a:tc gridSpan="2">
                  <a:txBody>
                    <a:bodyPr/>
                    <a:lstStyle/>
                    <a:p>
                      <a:pPr indent="266700" algn="ctr">
                        <a:lnSpc>
                          <a:spcPts val="1800"/>
                        </a:lnSpc>
                        <a:spcBef>
                          <a:spcPts val="200"/>
                        </a:spcBef>
                        <a:spcAft>
                          <a:spcPts val="200"/>
                        </a:spcAft>
                      </a:pPr>
                      <a:r>
                        <a:rPr lang="zh-CN" sz="1800" kern="100" dirty="0">
                          <a:effectLst/>
                          <a:latin typeface="+mn-lt"/>
                          <a:ea typeface="微软雅黑" pitchFamily="34" charset="-122"/>
                        </a:rPr>
                        <a:t>平均寻道长度：</a:t>
                      </a:r>
                      <a:r>
                        <a:rPr lang="en-US" sz="1800" kern="100" dirty="0">
                          <a:effectLst/>
                          <a:latin typeface="+mn-lt"/>
                          <a:ea typeface="微软雅黑" pitchFamily="34" charset="-122"/>
                        </a:rPr>
                        <a:t>34.67</a:t>
                      </a:r>
                      <a:endParaRPr lang="zh-CN" sz="1800" kern="100" dirty="0">
                        <a:effectLst/>
                        <a:latin typeface="+mn-lt"/>
                        <a:ea typeface="微软雅黑" pitchFamily="34" charset="-122"/>
                        <a:cs typeface="Times New Roman"/>
                      </a:endParaRPr>
                    </a:p>
                  </a:txBody>
                  <a:tcPr marL="68582" marR="68582" marT="0" marB="0" anchor="ctr"/>
                </a:tc>
                <a:tc hMerge="1">
                  <a:txBody>
                    <a:bodyPr/>
                    <a:lstStyle/>
                    <a:p>
                      <a:endParaRPr lang="zh-CN" altLang="en-US"/>
                    </a:p>
                  </a:txBody>
                  <a:tcPr/>
                </a:tc>
                <a:extLst>
                  <a:ext uri="{0D108BD9-81ED-4DB2-BD59-A6C34878D82A}">
                    <a16:rowId xmlns:a16="http://schemas.microsoft.com/office/drawing/2014/main" val="10011"/>
                  </a:ext>
                </a:extLst>
              </a:tr>
            </a:tbl>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4. </a:t>
            </a:r>
            <a:r>
              <a:rPr lang="zh-CN" altLang="zh-CN" dirty="0"/>
              <a:t>循环扫描算法 </a:t>
            </a:r>
            <a:endParaRPr lang="zh-CN" altLang="en-US" dirty="0"/>
          </a:p>
        </p:txBody>
      </p:sp>
      <p:sp>
        <p:nvSpPr>
          <p:cNvPr id="3" name="内容占位符 2"/>
          <p:cNvSpPr>
            <a:spLocks noGrp="1"/>
          </p:cNvSpPr>
          <p:nvPr>
            <p:ph idx="1"/>
          </p:nvPr>
        </p:nvSpPr>
        <p:spPr>
          <a:xfrm>
            <a:off x="608330" y="1227455"/>
            <a:ext cx="10968990" cy="3309821"/>
          </a:xfrm>
        </p:spPr>
        <p:txBody>
          <a:bodyPr>
            <a:normAutofit/>
          </a:bodyPr>
          <a:lstStyle/>
          <a:p>
            <a:r>
              <a:rPr lang="zh-CN" altLang="zh-CN" sz="2800" dirty="0"/>
              <a:t>循环扫描算法（</a:t>
            </a:r>
            <a:r>
              <a:rPr lang="en-US" altLang="zh-CN" sz="2800" dirty="0"/>
              <a:t>C-SCAN</a:t>
            </a:r>
            <a:r>
              <a:rPr lang="zh-CN" altLang="zh-CN" sz="2800" dirty="0"/>
              <a:t>），规定磁头单向移动。</a:t>
            </a:r>
            <a:endParaRPr lang="zh-CN" altLang="en-US" sz="2800" dirty="0"/>
          </a:p>
        </p:txBody>
      </p:sp>
    </p:spTree>
    <p:extLst>
      <p:ext uri="{BB962C8B-B14F-4D97-AF65-F5344CB8AC3E}">
        <p14:creationId xmlns:p14="http://schemas.microsoft.com/office/powerpoint/2010/main" val="4078934492"/>
      </p:ext>
    </p:extLst>
  </p:cSld>
  <p:clrMapOvr>
    <a:masterClrMapping/>
  </p:clrMapOvr>
  <p:transition>
    <p:random/>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19474CF-C433-45D6-96B6-B903EC4C71B9}"/>
              </a:ext>
            </a:extLst>
          </p:cNvPr>
          <p:cNvSpPr>
            <a:spLocks noGrp="1"/>
          </p:cNvSpPr>
          <p:nvPr>
            <p:ph type="title"/>
          </p:nvPr>
        </p:nvSpPr>
        <p:spPr/>
        <p:txBody>
          <a:bodyPr/>
          <a:lstStyle/>
          <a:p>
            <a:pPr>
              <a:defRPr/>
            </a:pPr>
            <a:r>
              <a:rPr lang="zh-CN" altLang="en-US" dirty="0"/>
              <a:t>磁盘调度算法</a:t>
            </a:r>
          </a:p>
        </p:txBody>
      </p:sp>
      <p:sp>
        <p:nvSpPr>
          <p:cNvPr id="3" name="内容占位符 2">
            <a:extLst>
              <a:ext uri="{FF2B5EF4-FFF2-40B4-BE49-F238E27FC236}">
                <a16:creationId xmlns:a16="http://schemas.microsoft.com/office/drawing/2014/main" id="{364E7176-D0BA-4EE0-9695-9BFF6135A733}"/>
              </a:ext>
            </a:extLst>
          </p:cNvPr>
          <p:cNvSpPr>
            <a:spLocks noGrp="1"/>
          </p:cNvSpPr>
          <p:nvPr>
            <p:ph idx="1"/>
          </p:nvPr>
        </p:nvSpPr>
        <p:spPr>
          <a:xfrm>
            <a:off x="608330" y="819970"/>
            <a:ext cx="10968990" cy="1668588"/>
          </a:xfrm>
        </p:spPr>
        <p:txBody>
          <a:bodyPr>
            <a:normAutofit/>
          </a:bodyPr>
          <a:lstStyle/>
          <a:p>
            <a:pPr marL="0" indent="0">
              <a:buNone/>
              <a:defRPr/>
            </a:pPr>
            <a:r>
              <a:rPr lang="zh-CN" altLang="en-US" sz="2000" dirty="0">
                <a:solidFill>
                  <a:schemeClr val="tx1">
                    <a:lumMod val="75000"/>
                    <a:lumOff val="25000"/>
                  </a:schemeClr>
                </a:solidFill>
                <a:latin typeface="微软雅黑" pitchFamily="34" charset="-122"/>
              </a:rPr>
              <a:t>例：</a:t>
            </a:r>
            <a:r>
              <a:rPr lang="zh-CN" altLang="zh-CN" sz="2000" dirty="0">
                <a:solidFill>
                  <a:schemeClr val="tx1">
                    <a:lumMod val="75000"/>
                    <a:lumOff val="25000"/>
                  </a:schemeClr>
                </a:solidFill>
                <a:latin typeface="微软雅黑" pitchFamily="34" charset="-122"/>
              </a:rPr>
              <a:t>假设当前磁头正在</a:t>
            </a:r>
            <a:r>
              <a:rPr lang="en-US" altLang="zh-CN" sz="2000" dirty="0">
                <a:solidFill>
                  <a:schemeClr val="tx1">
                    <a:lumMod val="75000"/>
                    <a:lumOff val="25000"/>
                  </a:schemeClr>
                </a:solidFill>
                <a:latin typeface="微软雅黑" pitchFamily="34" charset="-122"/>
              </a:rPr>
              <a:t>67</a:t>
            </a:r>
            <a:r>
              <a:rPr lang="zh-CN" altLang="zh-CN" sz="2000" dirty="0">
                <a:solidFill>
                  <a:schemeClr val="tx1">
                    <a:lumMod val="75000"/>
                    <a:lumOff val="25000"/>
                  </a:schemeClr>
                </a:solidFill>
                <a:latin typeface="微软雅黑" pitchFamily="34" charset="-122"/>
              </a:rPr>
              <a:t>号磁道上，其前一个访问的磁道为</a:t>
            </a:r>
            <a:r>
              <a:rPr lang="en-US" altLang="zh-CN" sz="2000" dirty="0">
                <a:solidFill>
                  <a:schemeClr val="tx1">
                    <a:lumMod val="75000"/>
                    <a:lumOff val="25000"/>
                  </a:schemeClr>
                </a:solidFill>
                <a:latin typeface="微软雅黑" pitchFamily="34" charset="-122"/>
              </a:rPr>
              <a:t>43</a:t>
            </a:r>
            <a:r>
              <a:rPr lang="zh-CN" altLang="zh-CN" sz="2000" dirty="0">
                <a:solidFill>
                  <a:schemeClr val="tx1">
                    <a:lumMod val="75000"/>
                    <a:lumOff val="25000"/>
                  </a:schemeClr>
                </a:solidFill>
                <a:latin typeface="微软雅黑" pitchFamily="34" charset="-122"/>
              </a:rPr>
              <a:t>号，现在同时有</a:t>
            </a:r>
            <a:r>
              <a:rPr lang="en-US" altLang="zh-CN" sz="2000" dirty="0">
                <a:solidFill>
                  <a:schemeClr val="tx1">
                    <a:lumMod val="75000"/>
                    <a:lumOff val="25000"/>
                  </a:schemeClr>
                </a:solidFill>
                <a:latin typeface="微软雅黑" pitchFamily="34" charset="-122"/>
              </a:rPr>
              <a:t> </a:t>
            </a:r>
            <a:r>
              <a:rPr lang="zh-CN" altLang="en-US" sz="2000" dirty="0">
                <a:solidFill>
                  <a:schemeClr val="tx1">
                    <a:lumMod val="75000"/>
                    <a:lumOff val="25000"/>
                  </a:schemeClr>
                </a:solidFill>
                <a:latin typeface="微软雅黑" pitchFamily="34" charset="-122"/>
              </a:rPr>
              <a:t>多个</a:t>
            </a:r>
            <a:r>
              <a:rPr lang="zh-CN" altLang="zh-CN" sz="2000" dirty="0">
                <a:solidFill>
                  <a:schemeClr val="tx1">
                    <a:lumMod val="75000"/>
                    <a:lumOff val="25000"/>
                  </a:schemeClr>
                </a:solidFill>
                <a:latin typeface="微软雅黑" pitchFamily="34" charset="-122"/>
              </a:rPr>
              <a:t>磁盘访问请求，它们依次要访问的磁道号为：</a:t>
            </a:r>
            <a:r>
              <a:rPr lang="en-US" altLang="zh-CN" sz="2000" dirty="0">
                <a:solidFill>
                  <a:schemeClr val="tx1">
                    <a:lumMod val="75000"/>
                    <a:lumOff val="25000"/>
                  </a:schemeClr>
                </a:solidFill>
                <a:latin typeface="微软雅黑" pitchFamily="34" charset="-122"/>
              </a:rPr>
              <a:t>186</a:t>
            </a:r>
            <a:r>
              <a:rPr lang="zh-CN" altLang="zh-CN" sz="2000" dirty="0">
                <a:solidFill>
                  <a:schemeClr val="tx1">
                    <a:lumMod val="75000"/>
                    <a:lumOff val="25000"/>
                  </a:schemeClr>
                </a:solidFill>
                <a:latin typeface="微软雅黑" pitchFamily="34" charset="-122"/>
              </a:rPr>
              <a:t>、</a:t>
            </a:r>
            <a:r>
              <a:rPr lang="en-US" altLang="zh-CN" sz="2000" dirty="0">
                <a:solidFill>
                  <a:schemeClr val="tx1">
                    <a:lumMod val="75000"/>
                    <a:lumOff val="25000"/>
                  </a:schemeClr>
                </a:solidFill>
                <a:latin typeface="微软雅黑" pitchFamily="34" charset="-122"/>
              </a:rPr>
              <a:t>47</a:t>
            </a:r>
            <a:r>
              <a:rPr lang="zh-CN" altLang="zh-CN" sz="2000" dirty="0">
                <a:solidFill>
                  <a:schemeClr val="tx1">
                    <a:lumMod val="75000"/>
                    <a:lumOff val="25000"/>
                  </a:schemeClr>
                </a:solidFill>
                <a:latin typeface="微软雅黑" pitchFamily="34" charset="-122"/>
              </a:rPr>
              <a:t>、</a:t>
            </a:r>
            <a:r>
              <a:rPr lang="en-US" altLang="zh-CN" sz="2000" dirty="0">
                <a:solidFill>
                  <a:schemeClr val="tx1">
                    <a:lumMod val="75000"/>
                    <a:lumOff val="25000"/>
                  </a:schemeClr>
                </a:solidFill>
                <a:latin typeface="微软雅黑" pitchFamily="34" charset="-122"/>
              </a:rPr>
              <a:t>9</a:t>
            </a:r>
            <a:r>
              <a:rPr lang="zh-CN" altLang="zh-CN" sz="2000" dirty="0">
                <a:solidFill>
                  <a:schemeClr val="tx1">
                    <a:lumMod val="75000"/>
                    <a:lumOff val="25000"/>
                  </a:schemeClr>
                </a:solidFill>
                <a:latin typeface="微软雅黑" pitchFamily="34" charset="-122"/>
              </a:rPr>
              <a:t>、</a:t>
            </a:r>
            <a:r>
              <a:rPr lang="en-US" altLang="zh-CN" sz="2000" dirty="0">
                <a:solidFill>
                  <a:schemeClr val="tx1">
                    <a:lumMod val="75000"/>
                    <a:lumOff val="25000"/>
                  </a:schemeClr>
                </a:solidFill>
                <a:latin typeface="微软雅黑" pitchFamily="34" charset="-122"/>
              </a:rPr>
              <a:t>77</a:t>
            </a:r>
            <a:r>
              <a:rPr lang="zh-CN" altLang="zh-CN" sz="2000" dirty="0">
                <a:solidFill>
                  <a:schemeClr val="tx1">
                    <a:lumMod val="75000"/>
                    <a:lumOff val="25000"/>
                  </a:schemeClr>
                </a:solidFill>
                <a:latin typeface="微软雅黑" pitchFamily="34" charset="-122"/>
              </a:rPr>
              <a:t>、</a:t>
            </a:r>
            <a:r>
              <a:rPr lang="en-US" altLang="zh-CN" sz="2000" dirty="0">
                <a:solidFill>
                  <a:schemeClr val="tx1">
                    <a:lumMod val="75000"/>
                    <a:lumOff val="25000"/>
                  </a:schemeClr>
                </a:solidFill>
                <a:latin typeface="微软雅黑" pitchFamily="34" charset="-122"/>
              </a:rPr>
              <a:t>194</a:t>
            </a:r>
            <a:r>
              <a:rPr lang="zh-CN" altLang="zh-CN" sz="2000" dirty="0">
                <a:solidFill>
                  <a:schemeClr val="tx1">
                    <a:lumMod val="75000"/>
                    <a:lumOff val="25000"/>
                  </a:schemeClr>
                </a:solidFill>
                <a:latin typeface="微软雅黑" pitchFamily="34" charset="-122"/>
              </a:rPr>
              <a:t>、</a:t>
            </a:r>
            <a:r>
              <a:rPr lang="en-US" altLang="zh-CN" sz="2000" dirty="0">
                <a:solidFill>
                  <a:schemeClr val="tx1">
                    <a:lumMod val="75000"/>
                    <a:lumOff val="25000"/>
                  </a:schemeClr>
                </a:solidFill>
                <a:latin typeface="微软雅黑" pitchFamily="34" charset="-122"/>
              </a:rPr>
              <a:t>150</a:t>
            </a:r>
            <a:r>
              <a:rPr lang="zh-CN" altLang="zh-CN" sz="2000" dirty="0">
                <a:solidFill>
                  <a:schemeClr val="tx1">
                    <a:lumMod val="75000"/>
                    <a:lumOff val="25000"/>
                  </a:schemeClr>
                </a:solidFill>
                <a:latin typeface="微软雅黑" pitchFamily="34" charset="-122"/>
              </a:rPr>
              <a:t>、</a:t>
            </a:r>
            <a:r>
              <a:rPr lang="en-US" altLang="zh-CN" sz="2000" dirty="0">
                <a:solidFill>
                  <a:schemeClr val="tx1">
                    <a:lumMod val="75000"/>
                    <a:lumOff val="25000"/>
                  </a:schemeClr>
                </a:solidFill>
                <a:latin typeface="微软雅黑" pitchFamily="34" charset="-122"/>
              </a:rPr>
              <a:t>10</a:t>
            </a:r>
            <a:r>
              <a:rPr lang="zh-CN" altLang="zh-CN" sz="2000" dirty="0">
                <a:solidFill>
                  <a:schemeClr val="tx1">
                    <a:lumMod val="75000"/>
                    <a:lumOff val="25000"/>
                  </a:schemeClr>
                </a:solidFill>
                <a:latin typeface="微软雅黑" pitchFamily="34" charset="-122"/>
              </a:rPr>
              <a:t>、</a:t>
            </a:r>
            <a:r>
              <a:rPr lang="en-US" altLang="zh-CN" sz="2000" dirty="0">
                <a:solidFill>
                  <a:schemeClr val="tx1">
                    <a:lumMod val="75000"/>
                    <a:lumOff val="25000"/>
                  </a:schemeClr>
                </a:solidFill>
                <a:latin typeface="微软雅黑" pitchFamily="34" charset="-122"/>
              </a:rPr>
              <a:t>135</a:t>
            </a:r>
            <a:r>
              <a:rPr lang="zh-CN" altLang="zh-CN" sz="2000" dirty="0">
                <a:solidFill>
                  <a:schemeClr val="tx1">
                    <a:lumMod val="75000"/>
                    <a:lumOff val="25000"/>
                  </a:schemeClr>
                </a:solidFill>
                <a:latin typeface="微软雅黑" pitchFamily="34" charset="-122"/>
              </a:rPr>
              <a:t>、</a:t>
            </a:r>
            <a:r>
              <a:rPr lang="en-US" altLang="zh-CN" sz="2000" dirty="0">
                <a:solidFill>
                  <a:schemeClr val="tx1">
                    <a:lumMod val="75000"/>
                    <a:lumOff val="25000"/>
                  </a:schemeClr>
                </a:solidFill>
                <a:latin typeface="微软雅黑" pitchFamily="34" charset="-122"/>
              </a:rPr>
              <a:t>110</a:t>
            </a:r>
            <a:r>
              <a:rPr lang="zh-CN" altLang="zh-CN" sz="2000" dirty="0">
                <a:solidFill>
                  <a:schemeClr val="tx1">
                    <a:lumMod val="75000"/>
                    <a:lumOff val="25000"/>
                  </a:schemeClr>
                </a:solidFill>
                <a:latin typeface="微软雅黑" pitchFamily="34" charset="-122"/>
              </a:rPr>
              <a:t>，</a:t>
            </a:r>
            <a:r>
              <a:rPr lang="zh-CN" altLang="en-US" sz="2000" dirty="0">
                <a:solidFill>
                  <a:schemeClr val="tx1">
                    <a:lumMod val="75000"/>
                    <a:lumOff val="25000"/>
                  </a:schemeClr>
                </a:solidFill>
                <a:latin typeface="微软雅黑" pitchFamily="34" charset="-122"/>
              </a:rPr>
              <a:t>试</a:t>
            </a:r>
            <a:r>
              <a:rPr lang="zh-CN" altLang="zh-CN" sz="2000" dirty="0">
                <a:solidFill>
                  <a:schemeClr val="tx1">
                    <a:lumMod val="75000"/>
                    <a:lumOff val="25000"/>
                  </a:schemeClr>
                </a:solidFill>
                <a:latin typeface="微软雅黑" pitchFamily="34" charset="-122"/>
              </a:rPr>
              <a:t>求</a:t>
            </a:r>
            <a:r>
              <a:rPr lang="en-US" altLang="zh-CN" sz="2000" dirty="0">
                <a:solidFill>
                  <a:schemeClr val="tx1">
                    <a:lumMod val="75000"/>
                    <a:lumOff val="25000"/>
                  </a:schemeClr>
                </a:solidFill>
                <a:latin typeface="微软雅黑" pitchFamily="34" charset="-122"/>
              </a:rPr>
              <a:t>CSCAN</a:t>
            </a:r>
            <a:r>
              <a:rPr lang="zh-CN" altLang="en-US" sz="2000" dirty="0">
                <a:solidFill>
                  <a:schemeClr val="tx1">
                    <a:lumMod val="75000"/>
                    <a:lumOff val="25000"/>
                  </a:schemeClr>
                </a:solidFill>
                <a:latin typeface="微软雅黑" pitchFamily="34" charset="-122"/>
              </a:rPr>
              <a:t>算法</a:t>
            </a:r>
            <a:r>
              <a:rPr lang="zh-CN" altLang="zh-CN" sz="2000" dirty="0">
                <a:solidFill>
                  <a:schemeClr val="tx1">
                    <a:lumMod val="75000"/>
                    <a:lumOff val="25000"/>
                  </a:schemeClr>
                </a:solidFill>
                <a:latin typeface="微软雅黑" pitchFamily="34" charset="-122"/>
              </a:rPr>
              <a:t>平均寻道长度</a:t>
            </a:r>
            <a:r>
              <a:rPr lang="zh-CN" altLang="en-US" sz="2000" dirty="0">
                <a:solidFill>
                  <a:schemeClr val="tx1">
                    <a:lumMod val="75000"/>
                    <a:lumOff val="25000"/>
                  </a:schemeClr>
                </a:solidFill>
                <a:latin typeface="微软雅黑" pitchFamily="34" charset="-122"/>
              </a:rPr>
              <a:t>。</a:t>
            </a:r>
            <a:endParaRPr lang="en-US" altLang="zh-CN" sz="2000" dirty="0">
              <a:solidFill>
                <a:schemeClr val="tx1">
                  <a:lumMod val="75000"/>
                  <a:lumOff val="25000"/>
                </a:schemeClr>
              </a:solidFill>
              <a:latin typeface="微软雅黑" pitchFamily="34" charset="-122"/>
            </a:endParaRPr>
          </a:p>
          <a:p>
            <a:pPr marL="0" indent="0">
              <a:buNone/>
              <a:defRPr/>
            </a:pPr>
            <a:endParaRPr lang="en-US" altLang="zh-CN" sz="2000" dirty="0">
              <a:solidFill>
                <a:schemeClr val="tx1">
                  <a:lumMod val="85000"/>
                  <a:lumOff val="15000"/>
                </a:schemeClr>
              </a:solidFill>
              <a:latin typeface="微软雅黑" pitchFamily="34" charset="-122"/>
            </a:endParaRPr>
          </a:p>
          <a:p>
            <a:pPr marL="0" indent="0">
              <a:buNone/>
              <a:defRPr/>
            </a:pPr>
            <a:endParaRPr lang="en-US" altLang="zh-CN" sz="2000" dirty="0">
              <a:solidFill>
                <a:schemeClr val="tx1">
                  <a:lumMod val="85000"/>
                  <a:lumOff val="15000"/>
                </a:schemeClr>
              </a:solidFill>
            </a:endParaRPr>
          </a:p>
        </p:txBody>
      </p:sp>
      <p:graphicFrame>
        <p:nvGraphicFramePr>
          <p:cNvPr id="4" name="表格 3">
            <a:extLst>
              <a:ext uri="{FF2B5EF4-FFF2-40B4-BE49-F238E27FC236}">
                <a16:creationId xmlns:a16="http://schemas.microsoft.com/office/drawing/2014/main" id="{0D3DFB77-AD75-46F4-9452-BF3C250C7550}"/>
              </a:ext>
            </a:extLst>
          </p:cNvPr>
          <p:cNvGraphicFramePr>
            <a:graphicFrameLocks noGrp="1"/>
          </p:cNvGraphicFramePr>
          <p:nvPr>
            <p:extLst>
              <p:ext uri="{D42A27DB-BD31-4B8C-83A1-F6EECF244321}">
                <p14:modId xmlns:p14="http://schemas.microsoft.com/office/powerpoint/2010/main" val="3840911411"/>
              </p:ext>
            </p:extLst>
          </p:nvPr>
        </p:nvGraphicFramePr>
        <p:xfrm>
          <a:off x="3252485" y="2210765"/>
          <a:ext cx="5069711" cy="4433105"/>
        </p:xfrm>
        <a:graphic>
          <a:graphicData uri="http://schemas.openxmlformats.org/drawingml/2006/table">
            <a:tbl>
              <a:tblPr firstRow="1" firstCol="1" bandRow="1">
                <a:tableStyleId>{5C22544A-7EE6-4342-B048-85BDC9FD1C3A}</a:tableStyleId>
              </a:tblPr>
              <a:tblGrid>
                <a:gridCol w="2459684">
                  <a:extLst>
                    <a:ext uri="{9D8B030D-6E8A-4147-A177-3AD203B41FA5}">
                      <a16:colId xmlns:a16="http://schemas.microsoft.com/office/drawing/2014/main" val="20000"/>
                    </a:ext>
                  </a:extLst>
                </a:gridCol>
                <a:gridCol w="2610027">
                  <a:extLst>
                    <a:ext uri="{9D8B030D-6E8A-4147-A177-3AD203B41FA5}">
                      <a16:colId xmlns:a16="http://schemas.microsoft.com/office/drawing/2014/main" val="20001"/>
                    </a:ext>
                  </a:extLst>
                </a:gridCol>
              </a:tblGrid>
              <a:tr h="354341">
                <a:tc gridSpan="2">
                  <a:txBody>
                    <a:bodyPr/>
                    <a:lstStyle/>
                    <a:p>
                      <a:pPr indent="127000" algn="ctr">
                        <a:lnSpc>
                          <a:spcPts val="1800"/>
                        </a:lnSpc>
                        <a:spcBef>
                          <a:spcPts val="200"/>
                        </a:spcBef>
                        <a:spcAft>
                          <a:spcPts val="200"/>
                        </a:spcAft>
                      </a:pPr>
                      <a:r>
                        <a:rPr lang="zh-CN" sz="1800" kern="100" dirty="0">
                          <a:effectLst/>
                          <a:latin typeface="+mn-lt"/>
                          <a:ea typeface="微软雅黑" pitchFamily="34" charset="-122"/>
                        </a:rPr>
                        <a:t>从</a:t>
                      </a:r>
                      <a:r>
                        <a:rPr lang="en-US" sz="1800" kern="100" dirty="0">
                          <a:effectLst/>
                          <a:latin typeface="+mn-lt"/>
                          <a:ea typeface="微软雅黑" pitchFamily="34" charset="-122"/>
                        </a:rPr>
                        <a:t>67</a:t>
                      </a:r>
                      <a:r>
                        <a:rPr lang="zh-CN" sz="1800" kern="100" dirty="0">
                          <a:effectLst/>
                          <a:latin typeface="+mn-lt"/>
                          <a:ea typeface="微软雅黑" pitchFamily="34" charset="-122"/>
                        </a:rPr>
                        <a:t>号磁道开始</a:t>
                      </a:r>
                      <a:endParaRPr lang="zh-CN" sz="1800" kern="100" dirty="0">
                        <a:effectLst/>
                        <a:latin typeface="+mn-lt"/>
                        <a:ea typeface="微软雅黑" pitchFamily="34" charset="-122"/>
                        <a:cs typeface="Times New Roman"/>
                      </a:endParaRPr>
                    </a:p>
                  </a:txBody>
                  <a:tcPr marL="68582" marR="68582" marT="0" marB="0" anchor="ctr"/>
                </a:tc>
                <a:tc hMerge="1">
                  <a:txBody>
                    <a:bodyPr/>
                    <a:lstStyle/>
                    <a:p>
                      <a:endParaRPr lang="zh-CN" altLang="en-US"/>
                    </a:p>
                  </a:txBody>
                  <a:tcPr/>
                </a:tc>
                <a:extLst>
                  <a:ext uri="{0D108BD9-81ED-4DB2-BD59-A6C34878D82A}">
                    <a16:rowId xmlns:a16="http://schemas.microsoft.com/office/drawing/2014/main" val="10000"/>
                  </a:ext>
                </a:extLst>
              </a:tr>
              <a:tr h="494656">
                <a:tc>
                  <a:txBody>
                    <a:bodyPr/>
                    <a:lstStyle/>
                    <a:p>
                      <a:pPr indent="127000" algn="ctr">
                        <a:lnSpc>
                          <a:spcPts val="1800"/>
                        </a:lnSpc>
                        <a:spcBef>
                          <a:spcPts val="200"/>
                        </a:spcBef>
                        <a:spcAft>
                          <a:spcPts val="200"/>
                        </a:spcAft>
                      </a:pPr>
                      <a:r>
                        <a:rPr lang="zh-CN" sz="1800" kern="100">
                          <a:effectLst/>
                          <a:latin typeface="+mn-lt"/>
                          <a:ea typeface="微软雅黑" pitchFamily="34" charset="-122"/>
                        </a:rPr>
                        <a:t>访问的下一磁道号</a:t>
                      </a:r>
                      <a:endParaRPr lang="zh-CN" sz="1800" kern="100">
                        <a:effectLst/>
                        <a:latin typeface="+mn-lt"/>
                        <a:ea typeface="微软雅黑" pitchFamily="34" charset="-122"/>
                        <a:cs typeface="Times New Roman"/>
                      </a:endParaRPr>
                    </a:p>
                  </a:txBody>
                  <a:tcPr marL="68582" marR="68582" marT="0" marB="0" anchor="ctr"/>
                </a:tc>
                <a:tc>
                  <a:txBody>
                    <a:bodyPr/>
                    <a:lstStyle/>
                    <a:p>
                      <a:pPr indent="53340" algn="ctr">
                        <a:lnSpc>
                          <a:spcPts val="1800"/>
                        </a:lnSpc>
                        <a:spcBef>
                          <a:spcPts val="200"/>
                        </a:spcBef>
                        <a:spcAft>
                          <a:spcPts val="200"/>
                        </a:spcAft>
                      </a:pPr>
                      <a:r>
                        <a:rPr lang="zh-CN" sz="1800" kern="100">
                          <a:effectLst/>
                          <a:latin typeface="+mn-lt"/>
                          <a:ea typeface="微软雅黑" pitchFamily="34" charset="-122"/>
                        </a:rPr>
                        <a:t>移动距离（磁道数）</a:t>
                      </a:r>
                      <a:endParaRPr lang="zh-CN" sz="1800" kern="100">
                        <a:effectLst/>
                        <a:latin typeface="+mn-lt"/>
                        <a:ea typeface="微软雅黑" pitchFamily="34" charset="-122"/>
                        <a:cs typeface="Times New Roman"/>
                      </a:endParaRPr>
                    </a:p>
                  </a:txBody>
                  <a:tcPr marL="68582" marR="68582" marT="0" marB="0" anchor="ctr"/>
                </a:tc>
                <a:extLst>
                  <a:ext uri="{0D108BD9-81ED-4DB2-BD59-A6C34878D82A}">
                    <a16:rowId xmlns:a16="http://schemas.microsoft.com/office/drawing/2014/main" val="10001"/>
                  </a:ext>
                </a:extLst>
              </a:tr>
              <a:tr h="358863">
                <a:tc>
                  <a:txBody>
                    <a:bodyPr/>
                    <a:lstStyle/>
                    <a:p>
                      <a:pPr indent="37465" algn="ctr">
                        <a:lnSpc>
                          <a:spcPts val="1800"/>
                        </a:lnSpc>
                        <a:spcBef>
                          <a:spcPts val="200"/>
                        </a:spcBef>
                        <a:spcAft>
                          <a:spcPts val="200"/>
                        </a:spcAft>
                      </a:pPr>
                      <a:r>
                        <a:rPr lang="en-US" sz="1800" kern="100">
                          <a:effectLst/>
                          <a:latin typeface="Calibri"/>
                          <a:ea typeface="宋体"/>
                          <a:cs typeface="Calibri"/>
                        </a:rPr>
                        <a:t>77</a:t>
                      </a:r>
                      <a:endParaRPr lang="zh-CN" sz="1800" kern="100">
                        <a:effectLst/>
                        <a:latin typeface="Calibri"/>
                        <a:ea typeface="宋体"/>
                        <a:cs typeface="Times New Roman"/>
                      </a:endParaRPr>
                    </a:p>
                  </a:txBody>
                  <a:tcPr marL="68582" marR="68582" marT="0" marB="0" anchor="ctr"/>
                </a:tc>
                <a:tc>
                  <a:txBody>
                    <a:bodyPr/>
                    <a:lstStyle/>
                    <a:p>
                      <a:pPr indent="37465" algn="ctr">
                        <a:lnSpc>
                          <a:spcPts val="1800"/>
                        </a:lnSpc>
                        <a:spcBef>
                          <a:spcPts val="200"/>
                        </a:spcBef>
                        <a:spcAft>
                          <a:spcPts val="200"/>
                        </a:spcAft>
                      </a:pPr>
                      <a:r>
                        <a:rPr lang="en-US" sz="1800" kern="100">
                          <a:effectLst/>
                          <a:latin typeface="Calibri"/>
                          <a:ea typeface="宋体"/>
                          <a:cs typeface="Calibri"/>
                        </a:rPr>
                        <a:t>10</a:t>
                      </a:r>
                      <a:endParaRPr lang="zh-CN" sz="1800" kern="100">
                        <a:effectLst/>
                        <a:latin typeface="Calibri"/>
                        <a:ea typeface="宋体"/>
                        <a:cs typeface="Times New Roman"/>
                      </a:endParaRPr>
                    </a:p>
                  </a:txBody>
                  <a:tcPr marL="68582" marR="68582" marT="0" marB="0" anchor="ctr"/>
                </a:tc>
                <a:extLst>
                  <a:ext uri="{0D108BD9-81ED-4DB2-BD59-A6C34878D82A}">
                    <a16:rowId xmlns:a16="http://schemas.microsoft.com/office/drawing/2014/main" val="10002"/>
                  </a:ext>
                </a:extLst>
              </a:tr>
              <a:tr h="358863">
                <a:tc>
                  <a:txBody>
                    <a:bodyPr/>
                    <a:lstStyle/>
                    <a:p>
                      <a:pPr indent="37465" algn="ctr">
                        <a:lnSpc>
                          <a:spcPts val="1800"/>
                        </a:lnSpc>
                        <a:spcBef>
                          <a:spcPts val="200"/>
                        </a:spcBef>
                        <a:spcAft>
                          <a:spcPts val="200"/>
                        </a:spcAft>
                      </a:pPr>
                      <a:r>
                        <a:rPr lang="en-US" sz="1800" kern="100">
                          <a:effectLst/>
                          <a:latin typeface="Calibri"/>
                          <a:ea typeface="宋体"/>
                          <a:cs typeface="Calibri"/>
                        </a:rPr>
                        <a:t>110</a:t>
                      </a:r>
                      <a:endParaRPr lang="zh-CN" sz="1800" kern="100">
                        <a:effectLst/>
                        <a:latin typeface="Calibri"/>
                        <a:ea typeface="宋体"/>
                        <a:cs typeface="Times New Roman"/>
                      </a:endParaRPr>
                    </a:p>
                  </a:txBody>
                  <a:tcPr marL="68582" marR="68582" marT="0" marB="0" anchor="ctr"/>
                </a:tc>
                <a:tc>
                  <a:txBody>
                    <a:bodyPr/>
                    <a:lstStyle/>
                    <a:p>
                      <a:pPr indent="37465" algn="ctr">
                        <a:lnSpc>
                          <a:spcPts val="1800"/>
                        </a:lnSpc>
                        <a:spcBef>
                          <a:spcPts val="200"/>
                        </a:spcBef>
                        <a:spcAft>
                          <a:spcPts val="200"/>
                        </a:spcAft>
                      </a:pPr>
                      <a:r>
                        <a:rPr lang="en-US" sz="1800" kern="100">
                          <a:effectLst/>
                          <a:latin typeface="Calibri"/>
                          <a:ea typeface="宋体"/>
                          <a:cs typeface="Calibri"/>
                        </a:rPr>
                        <a:t>33</a:t>
                      </a:r>
                      <a:endParaRPr lang="zh-CN" sz="1800" kern="100">
                        <a:effectLst/>
                        <a:latin typeface="Calibri"/>
                        <a:ea typeface="宋体"/>
                        <a:cs typeface="Times New Roman"/>
                      </a:endParaRPr>
                    </a:p>
                  </a:txBody>
                  <a:tcPr marL="68582" marR="68582" marT="0" marB="0" anchor="ctr"/>
                </a:tc>
                <a:extLst>
                  <a:ext uri="{0D108BD9-81ED-4DB2-BD59-A6C34878D82A}">
                    <a16:rowId xmlns:a16="http://schemas.microsoft.com/office/drawing/2014/main" val="10003"/>
                  </a:ext>
                </a:extLst>
              </a:tr>
              <a:tr h="358863">
                <a:tc>
                  <a:txBody>
                    <a:bodyPr/>
                    <a:lstStyle/>
                    <a:p>
                      <a:pPr indent="37465" algn="ctr">
                        <a:lnSpc>
                          <a:spcPts val="1800"/>
                        </a:lnSpc>
                        <a:spcBef>
                          <a:spcPts val="200"/>
                        </a:spcBef>
                        <a:spcAft>
                          <a:spcPts val="200"/>
                        </a:spcAft>
                      </a:pPr>
                      <a:r>
                        <a:rPr lang="en-US" sz="1800" kern="100">
                          <a:effectLst/>
                          <a:latin typeface="Calibri"/>
                          <a:ea typeface="宋体"/>
                          <a:cs typeface="Calibri"/>
                        </a:rPr>
                        <a:t>135</a:t>
                      </a:r>
                      <a:endParaRPr lang="zh-CN" sz="1800" kern="100">
                        <a:effectLst/>
                        <a:latin typeface="Calibri"/>
                        <a:ea typeface="宋体"/>
                        <a:cs typeface="Times New Roman"/>
                      </a:endParaRPr>
                    </a:p>
                  </a:txBody>
                  <a:tcPr marL="68582" marR="68582" marT="0" marB="0" anchor="ctr"/>
                </a:tc>
                <a:tc>
                  <a:txBody>
                    <a:bodyPr/>
                    <a:lstStyle/>
                    <a:p>
                      <a:pPr indent="37465" algn="ctr">
                        <a:lnSpc>
                          <a:spcPts val="1800"/>
                        </a:lnSpc>
                        <a:spcBef>
                          <a:spcPts val="200"/>
                        </a:spcBef>
                        <a:spcAft>
                          <a:spcPts val="200"/>
                        </a:spcAft>
                      </a:pPr>
                      <a:r>
                        <a:rPr lang="en-US" sz="1800" kern="100">
                          <a:effectLst/>
                          <a:latin typeface="Calibri"/>
                          <a:ea typeface="宋体"/>
                          <a:cs typeface="Calibri"/>
                        </a:rPr>
                        <a:t>25</a:t>
                      </a:r>
                      <a:endParaRPr lang="zh-CN" sz="1800" kern="100">
                        <a:effectLst/>
                        <a:latin typeface="Calibri"/>
                        <a:ea typeface="宋体"/>
                        <a:cs typeface="Times New Roman"/>
                      </a:endParaRPr>
                    </a:p>
                  </a:txBody>
                  <a:tcPr marL="68582" marR="68582" marT="0" marB="0" anchor="ctr"/>
                </a:tc>
                <a:extLst>
                  <a:ext uri="{0D108BD9-81ED-4DB2-BD59-A6C34878D82A}">
                    <a16:rowId xmlns:a16="http://schemas.microsoft.com/office/drawing/2014/main" val="10004"/>
                  </a:ext>
                </a:extLst>
              </a:tr>
              <a:tr h="358863">
                <a:tc>
                  <a:txBody>
                    <a:bodyPr/>
                    <a:lstStyle/>
                    <a:p>
                      <a:pPr indent="37465" algn="ctr">
                        <a:lnSpc>
                          <a:spcPts val="1800"/>
                        </a:lnSpc>
                        <a:spcBef>
                          <a:spcPts val="200"/>
                        </a:spcBef>
                        <a:spcAft>
                          <a:spcPts val="200"/>
                        </a:spcAft>
                      </a:pPr>
                      <a:r>
                        <a:rPr lang="en-US" sz="1800" kern="100">
                          <a:effectLst/>
                          <a:latin typeface="Calibri"/>
                          <a:ea typeface="宋体"/>
                          <a:cs typeface="Calibri"/>
                        </a:rPr>
                        <a:t>150</a:t>
                      </a:r>
                      <a:endParaRPr lang="zh-CN" sz="1800" kern="100">
                        <a:effectLst/>
                        <a:latin typeface="Calibri"/>
                        <a:ea typeface="宋体"/>
                        <a:cs typeface="Times New Roman"/>
                      </a:endParaRPr>
                    </a:p>
                  </a:txBody>
                  <a:tcPr marL="68582" marR="68582" marT="0" marB="0" anchor="ctr"/>
                </a:tc>
                <a:tc>
                  <a:txBody>
                    <a:bodyPr/>
                    <a:lstStyle/>
                    <a:p>
                      <a:pPr indent="37465" algn="ctr">
                        <a:lnSpc>
                          <a:spcPts val="1800"/>
                        </a:lnSpc>
                        <a:spcBef>
                          <a:spcPts val="200"/>
                        </a:spcBef>
                        <a:spcAft>
                          <a:spcPts val="200"/>
                        </a:spcAft>
                      </a:pPr>
                      <a:r>
                        <a:rPr lang="en-US" sz="1800" kern="100">
                          <a:effectLst/>
                          <a:latin typeface="Calibri"/>
                          <a:ea typeface="宋体"/>
                          <a:cs typeface="Calibri"/>
                        </a:rPr>
                        <a:t>15</a:t>
                      </a:r>
                      <a:endParaRPr lang="zh-CN" sz="1800" kern="100">
                        <a:effectLst/>
                        <a:latin typeface="Calibri"/>
                        <a:ea typeface="宋体"/>
                        <a:cs typeface="Times New Roman"/>
                      </a:endParaRPr>
                    </a:p>
                  </a:txBody>
                  <a:tcPr marL="68582" marR="68582" marT="0" marB="0" anchor="ctr"/>
                </a:tc>
                <a:extLst>
                  <a:ext uri="{0D108BD9-81ED-4DB2-BD59-A6C34878D82A}">
                    <a16:rowId xmlns:a16="http://schemas.microsoft.com/office/drawing/2014/main" val="10005"/>
                  </a:ext>
                </a:extLst>
              </a:tr>
              <a:tr h="358863">
                <a:tc>
                  <a:txBody>
                    <a:bodyPr/>
                    <a:lstStyle/>
                    <a:p>
                      <a:pPr indent="37465" algn="ctr">
                        <a:lnSpc>
                          <a:spcPts val="1800"/>
                        </a:lnSpc>
                        <a:spcBef>
                          <a:spcPts val="200"/>
                        </a:spcBef>
                        <a:spcAft>
                          <a:spcPts val="200"/>
                        </a:spcAft>
                      </a:pPr>
                      <a:r>
                        <a:rPr lang="en-US" sz="1800" kern="100">
                          <a:effectLst/>
                          <a:latin typeface="Calibri"/>
                          <a:ea typeface="宋体"/>
                          <a:cs typeface="Calibri"/>
                        </a:rPr>
                        <a:t>186</a:t>
                      </a:r>
                      <a:endParaRPr lang="zh-CN" sz="1800" kern="100">
                        <a:effectLst/>
                        <a:latin typeface="Calibri"/>
                        <a:ea typeface="宋体"/>
                        <a:cs typeface="Times New Roman"/>
                      </a:endParaRPr>
                    </a:p>
                  </a:txBody>
                  <a:tcPr marL="68582" marR="68582" marT="0" marB="0" anchor="ctr"/>
                </a:tc>
                <a:tc>
                  <a:txBody>
                    <a:bodyPr/>
                    <a:lstStyle/>
                    <a:p>
                      <a:pPr indent="37465" algn="ctr">
                        <a:lnSpc>
                          <a:spcPts val="1800"/>
                        </a:lnSpc>
                        <a:spcBef>
                          <a:spcPts val="200"/>
                        </a:spcBef>
                        <a:spcAft>
                          <a:spcPts val="200"/>
                        </a:spcAft>
                      </a:pPr>
                      <a:r>
                        <a:rPr lang="en-US" sz="1800" kern="100">
                          <a:effectLst/>
                          <a:latin typeface="Calibri"/>
                          <a:ea typeface="宋体"/>
                          <a:cs typeface="Calibri"/>
                        </a:rPr>
                        <a:t>36</a:t>
                      </a:r>
                      <a:endParaRPr lang="zh-CN" sz="1800" kern="100">
                        <a:effectLst/>
                        <a:latin typeface="Calibri"/>
                        <a:ea typeface="宋体"/>
                        <a:cs typeface="Times New Roman"/>
                      </a:endParaRPr>
                    </a:p>
                  </a:txBody>
                  <a:tcPr marL="68582" marR="68582" marT="0" marB="0" anchor="ctr"/>
                </a:tc>
                <a:extLst>
                  <a:ext uri="{0D108BD9-81ED-4DB2-BD59-A6C34878D82A}">
                    <a16:rowId xmlns:a16="http://schemas.microsoft.com/office/drawing/2014/main" val="10006"/>
                  </a:ext>
                </a:extLst>
              </a:tr>
              <a:tr h="358863">
                <a:tc>
                  <a:txBody>
                    <a:bodyPr/>
                    <a:lstStyle/>
                    <a:p>
                      <a:pPr indent="37465" algn="ctr">
                        <a:lnSpc>
                          <a:spcPts val="1800"/>
                        </a:lnSpc>
                        <a:spcBef>
                          <a:spcPts val="200"/>
                        </a:spcBef>
                        <a:spcAft>
                          <a:spcPts val="200"/>
                        </a:spcAft>
                      </a:pPr>
                      <a:r>
                        <a:rPr lang="en-US" sz="1800" kern="100">
                          <a:effectLst/>
                          <a:latin typeface="Calibri"/>
                          <a:ea typeface="宋体"/>
                          <a:cs typeface="Calibri"/>
                        </a:rPr>
                        <a:t>194</a:t>
                      </a:r>
                      <a:endParaRPr lang="zh-CN" sz="1800" kern="100">
                        <a:effectLst/>
                        <a:latin typeface="Calibri"/>
                        <a:ea typeface="宋体"/>
                        <a:cs typeface="Times New Roman"/>
                      </a:endParaRPr>
                    </a:p>
                  </a:txBody>
                  <a:tcPr marL="68582" marR="68582" marT="0" marB="0" anchor="ctr"/>
                </a:tc>
                <a:tc>
                  <a:txBody>
                    <a:bodyPr/>
                    <a:lstStyle/>
                    <a:p>
                      <a:pPr indent="37465" algn="ctr">
                        <a:lnSpc>
                          <a:spcPts val="1800"/>
                        </a:lnSpc>
                        <a:spcBef>
                          <a:spcPts val="200"/>
                        </a:spcBef>
                        <a:spcAft>
                          <a:spcPts val="200"/>
                        </a:spcAft>
                      </a:pPr>
                      <a:r>
                        <a:rPr lang="en-US" sz="1800" kern="100">
                          <a:effectLst/>
                          <a:latin typeface="Calibri"/>
                          <a:ea typeface="宋体"/>
                          <a:cs typeface="Calibri"/>
                        </a:rPr>
                        <a:t>8</a:t>
                      </a:r>
                      <a:endParaRPr lang="zh-CN" sz="1800" kern="100">
                        <a:effectLst/>
                        <a:latin typeface="Calibri"/>
                        <a:ea typeface="宋体"/>
                        <a:cs typeface="Times New Roman"/>
                      </a:endParaRPr>
                    </a:p>
                  </a:txBody>
                  <a:tcPr marL="68582" marR="68582" marT="0" marB="0" anchor="ctr"/>
                </a:tc>
                <a:extLst>
                  <a:ext uri="{0D108BD9-81ED-4DB2-BD59-A6C34878D82A}">
                    <a16:rowId xmlns:a16="http://schemas.microsoft.com/office/drawing/2014/main" val="10007"/>
                  </a:ext>
                </a:extLst>
              </a:tr>
              <a:tr h="358863">
                <a:tc>
                  <a:txBody>
                    <a:bodyPr/>
                    <a:lstStyle/>
                    <a:p>
                      <a:pPr indent="37465" algn="ctr">
                        <a:lnSpc>
                          <a:spcPts val="1800"/>
                        </a:lnSpc>
                        <a:spcBef>
                          <a:spcPts val="200"/>
                        </a:spcBef>
                        <a:spcAft>
                          <a:spcPts val="200"/>
                        </a:spcAft>
                      </a:pPr>
                      <a:r>
                        <a:rPr lang="en-US" sz="1800" kern="100">
                          <a:effectLst/>
                          <a:latin typeface="Calibri"/>
                          <a:ea typeface="宋体"/>
                          <a:cs typeface="Calibri"/>
                        </a:rPr>
                        <a:t>9</a:t>
                      </a:r>
                      <a:endParaRPr lang="zh-CN" sz="1800" kern="100">
                        <a:effectLst/>
                        <a:latin typeface="Calibri"/>
                        <a:ea typeface="宋体"/>
                        <a:cs typeface="Times New Roman"/>
                      </a:endParaRPr>
                    </a:p>
                  </a:txBody>
                  <a:tcPr marL="68582" marR="68582" marT="0" marB="0" anchor="ctr"/>
                </a:tc>
                <a:tc>
                  <a:txBody>
                    <a:bodyPr/>
                    <a:lstStyle/>
                    <a:p>
                      <a:pPr indent="37465" algn="ctr">
                        <a:lnSpc>
                          <a:spcPts val="1800"/>
                        </a:lnSpc>
                        <a:spcBef>
                          <a:spcPts val="200"/>
                        </a:spcBef>
                        <a:spcAft>
                          <a:spcPts val="200"/>
                        </a:spcAft>
                      </a:pPr>
                      <a:r>
                        <a:rPr lang="en-US" sz="1800" kern="100">
                          <a:effectLst/>
                          <a:latin typeface="Calibri"/>
                          <a:ea typeface="宋体"/>
                          <a:cs typeface="Calibri"/>
                        </a:rPr>
                        <a:t>185</a:t>
                      </a:r>
                      <a:endParaRPr lang="zh-CN" sz="1800" kern="100">
                        <a:effectLst/>
                        <a:latin typeface="Calibri"/>
                        <a:ea typeface="宋体"/>
                        <a:cs typeface="Times New Roman"/>
                      </a:endParaRPr>
                    </a:p>
                  </a:txBody>
                  <a:tcPr marL="68582" marR="68582" marT="0" marB="0" anchor="ctr"/>
                </a:tc>
                <a:extLst>
                  <a:ext uri="{0D108BD9-81ED-4DB2-BD59-A6C34878D82A}">
                    <a16:rowId xmlns:a16="http://schemas.microsoft.com/office/drawing/2014/main" val="10008"/>
                  </a:ext>
                </a:extLst>
              </a:tr>
              <a:tr h="358863">
                <a:tc>
                  <a:txBody>
                    <a:bodyPr/>
                    <a:lstStyle/>
                    <a:p>
                      <a:pPr indent="37465" algn="ctr">
                        <a:lnSpc>
                          <a:spcPts val="1800"/>
                        </a:lnSpc>
                        <a:spcBef>
                          <a:spcPts val="200"/>
                        </a:spcBef>
                        <a:spcAft>
                          <a:spcPts val="200"/>
                        </a:spcAft>
                      </a:pPr>
                      <a:r>
                        <a:rPr lang="en-US" sz="1800" kern="100">
                          <a:effectLst/>
                          <a:latin typeface="Calibri"/>
                          <a:ea typeface="宋体"/>
                          <a:cs typeface="Calibri"/>
                        </a:rPr>
                        <a:t>10</a:t>
                      </a:r>
                      <a:endParaRPr lang="zh-CN" sz="1800" kern="100">
                        <a:effectLst/>
                        <a:latin typeface="Calibri"/>
                        <a:ea typeface="宋体"/>
                        <a:cs typeface="Times New Roman"/>
                      </a:endParaRPr>
                    </a:p>
                  </a:txBody>
                  <a:tcPr marL="68582" marR="68582" marT="0" marB="0" anchor="ctr"/>
                </a:tc>
                <a:tc>
                  <a:txBody>
                    <a:bodyPr/>
                    <a:lstStyle/>
                    <a:p>
                      <a:pPr indent="37465" algn="ctr">
                        <a:lnSpc>
                          <a:spcPts val="1800"/>
                        </a:lnSpc>
                        <a:spcBef>
                          <a:spcPts val="200"/>
                        </a:spcBef>
                        <a:spcAft>
                          <a:spcPts val="200"/>
                        </a:spcAft>
                      </a:pPr>
                      <a:r>
                        <a:rPr lang="en-US" sz="1800" kern="100">
                          <a:effectLst/>
                          <a:latin typeface="Calibri"/>
                          <a:ea typeface="宋体"/>
                          <a:cs typeface="Calibri"/>
                        </a:rPr>
                        <a:t>1</a:t>
                      </a:r>
                      <a:endParaRPr lang="zh-CN" sz="1800" kern="100">
                        <a:effectLst/>
                        <a:latin typeface="Calibri"/>
                        <a:ea typeface="宋体"/>
                        <a:cs typeface="Times New Roman"/>
                      </a:endParaRPr>
                    </a:p>
                  </a:txBody>
                  <a:tcPr marL="68582" marR="68582" marT="0" marB="0" anchor="ctr"/>
                </a:tc>
                <a:extLst>
                  <a:ext uri="{0D108BD9-81ED-4DB2-BD59-A6C34878D82A}">
                    <a16:rowId xmlns:a16="http://schemas.microsoft.com/office/drawing/2014/main" val="10009"/>
                  </a:ext>
                </a:extLst>
              </a:tr>
              <a:tr h="358863">
                <a:tc>
                  <a:txBody>
                    <a:bodyPr/>
                    <a:lstStyle/>
                    <a:p>
                      <a:pPr indent="37465" algn="ctr">
                        <a:lnSpc>
                          <a:spcPts val="1800"/>
                        </a:lnSpc>
                        <a:spcBef>
                          <a:spcPts val="200"/>
                        </a:spcBef>
                        <a:spcAft>
                          <a:spcPts val="200"/>
                        </a:spcAft>
                      </a:pPr>
                      <a:r>
                        <a:rPr lang="en-US" sz="1800" kern="100">
                          <a:effectLst/>
                          <a:latin typeface="Calibri"/>
                          <a:ea typeface="宋体"/>
                          <a:cs typeface="Calibri"/>
                        </a:rPr>
                        <a:t>47</a:t>
                      </a:r>
                      <a:endParaRPr lang="zh-CN" sz="1800" kern="100">
                        <a:effectLst/>
                        <a:latin typeface="Calibri"/>
                        <a:ea typeface="宋体"/>
                        <a:cs typeface="Times New Roman"/>
                      </a:endParaRPr>
                    </a:p>
                  </a:txBody>
                  <a:tcPr marL="68582" marR="68582" marT="0" marB="0" anchor="ctr"/>
                </a:tc>
                <a:tc>
                  <a:txBody>
                    <a:bodyPr/>
                    <a:lstStyle/>
                    <a:p>
                      <a:pPr indent="37465" algn="ctr">
                        <a:lnSpc>
                          <a:spcPts val="1800"/>
                        </a:lnSpc>
                        <a:spcBef>
                          <a:spcPts val="200"/>
                        </a:spcBef>
                        <a:spcAft>
                          <a:spcPts val="200"/>
                        </a:spcAft>
                      </a:pPr>
                      <a:r>
                        <a:rPr lang="en-US" sz="1800" kern="100" dirty="0">
                          <a:effectLst/>
                          <a:latin typeface="Calibri"/>
                          <a:ea typeface="宋体"/>
                          <a:cs typeface="Calibri"/>
                        </a:rPr>
                        <a:t>37</a:t>
                      </a:r>
                      <a:endParaRPr lang="zh-CN" sz="1800" kern="100" dirty="0">
                        <a:effectLst/>
                        <a:latin typeface="Calibri"/>
                        <a:ea typeface="宋体"/>
                        <a:cs typeface="Times New Roman"/>
                      </a:endParaRPr>
                    </a:p>
                  </a:txBody>
                  <a:tcPr marL="68582" marR="68582" marT="0" marB="0" anchor="ctr"/>
                </a:tc>
                <a:extLst>
                  <a:ext uri="{0D108BD9-81ED-4DB2-BD59-A6C34878D82A}">
                    <a16:rowId xmlns:a16="http://schemas.microsoft.com/office/drawing/2014/main" val="10010"/>
                  </a:ext>
                </a:extLst>
              </a:tr>
              <a:tr h="354341">
                <a:tc gridSpan="2">
                  <a:txBody>
                    <a:bodyPr/>
                    <a:lstStyle/>
                    <a:p>
                      <a:pPr indent="266700" algn="ctr">
                        <a:lnSpc>
                          <a:spcPts val="1800"/>
                        </a:lnSpc>
                        <a:spcBef>
                          <a:spcPts val="200"/>
                        </a:spcBef>
                        <a:spcAft>
                          <a:spcPts val="200"/>
                        </a:spcAft>
                      </a:pPr>
                      <a:r>
                        <a:rPr lang="zh-CN" sz="1800" kern="100" dirty="0">
                          <a:effectLst/>
                          <a:latin typeface="+mn-lt"/>
                          <a:ea typeface="微软雅黑" pitchFamily="34" charset="-122"/>
                        </a:rPr>
                        <a:t>平均寻道长度：</a:t>
                      </a:r>
                      <a:r>
                        <a:rPr lang="en-US" sz="1800" kern="100" dirty="0">
                          <a:effectLst/>
                          <a:latin typeface="+mn-lt"/>
                          <a:ea typeface="微软雅黑" pitchFamily="34" charset="-122"/>
                        </a:rPr>
                        <a:t>38.89</a:t>
                      </a:r>
                      <a:endParaRPr lang="zh-CN" sz="1800" kern="100" dirty="0">
                        <a:effectLst/>
                        <a:latin typeface="+mn-lt"/>
                        <a:ea typeface="微软雅黑" pitchFamily="34" charset="-122"/>
                        <a:cs typeface="Times New Roman"/>
                      </a:endParaRPr>
                    </a:p>
                  </a:txBody>
                  <a:tcPr marL="68582" marR="68582" marT="0" marB="0" anchor="ctr"/>
                </a:tc>
                <a:tc hMerge="1">
                  <a:txBody>
                    <a:bodyPr/>
                    <a:lstStyle/>
                    <a:p>
                      <a:endParaRPr lang="zh-CN" altLang="en-US"/>
                    </a:p>
                  </a:txBody>
                  <a:tcPr/>
                </a:tc>
                <a:extLst>
                  <a:ext uri="{0D108BD9-81ED-4DB2-BD59-A6C34878D82A}">
                    <a16:rowId xmlns:a16="http://schemas.microsoft.com/office/drawing/2014/main" val="10011"/>
                  </a:ext>
                </a:extLst>
              </a:tr>
            </a:tbl>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5. N</a:t>
            </a:r>
            <a:r>
              <a:rPr lang="zh-CN" altLang="zh-CN" dirty="0"/>
              <a:t>步</a:t>
            </a:r>
            <a:r>
              <a:rPr lang="en-US" altLang="zh-CN" dirty="0"/>
              <a:t>SCAN</a:t>
            </a:r>
            <a:r>
              <a:rPr lang="zh-CN" altLang="zh-CN" dirty="0"/>
              <a:t>和</a:t>
            </a:r>
            <a:r>
              <a:rPr lang="en-US" altLang="zh-CN" dirty="0"/>
              <a:t>FSCAN</a:t>
            </a:r>
            <a:r>
              <a:rPr lang="zh-CN" altLang="zh-CN" dirty="0"/>
              <a:t>算法 </a:t>
            </a:r>
            <a:endParaRPr lang="zh-CN" altLang="en-US" dirty="0"/>
          </a:p>
        </p:txBody>
      </p:sp>
      <p:sp>
        <p:nvSpPr>
          <p:cNvPr id="3" name="内容占位符 2"/>
          <p:cNvSpPr>
            <a:spLocks noGrp="1"/>
          </p:cNvSpPr>
          <p:nvPr>
            <p:ph idx="1"/>
          </p:nvPr>
        </p:nvSpPr>
        <p:spPr/>
        <p:txBody>
          <a:bodyPr>
            <a:normAutofit/>
          </a:bodyPr>
          <a:lstStyle/>
          <a:p>
            <a:r>
              <a:rPr lang="zh-CN" altLang="zh-CN" dirty="0"/>
              <a:t>对于</a:t>
            </a:r>
            <a:r>
              <a:rPr lang="en-US" altLang="zh-CN" dirty="0"/>
              <a:t>SSTF</a:t>
            </a:r>
            <a:r>
              <a:rPr lang="zh-CN" altLang="zh-CN" dirty="0"/>
              <a:t>、</a:t>
            </a:r>
            <a:r>
              <a:rPr lang="en-US" altLang="zh-CN" dirty="0"/>
              <a:t>SCAN</a:t>
            </a:r>
            <a:r>
              <a:rPr lang="zh-CN" altLang="zh-CN" dirty="0"/>
              <a:t>和</a:t>
            </a:r>
            <a:r>
              <a:rPr lang="en-US" altLang="zh-CN" dirty="0"/>
              <a:t> C-SCAN</a:t>
            </a:r>
            <a:r>
              <a:rPr lang="zh-CN" altLang="zh-CN" dirty="0"/>
              <a:t>，磁臂可能很长一段时间内都不会移动。例如，如果一个或多个进程对一个磁道有较高的访问速度，那么它们可通过重复地请求这个磁道来垄断整个设备。为避免这种</a:t>
            </a:r>
            <a:r>
              <a:rPr lang="en-US" altLang="zh-CN" dirty="0"/>
              <a:t>“</a:t>
            </a:r>
            <a:r>
              <a:rPr lang="zh-CN" altLang="zh-CN" dirty="0"/>
              <a:t>磁臂粘着</a:t>
            </a:r>
            <a:r>
              <a:rPr lang="en-US" altLang="zh-CN" dirty="0"/>
              <a:t>”</a:t>
            </a:r>
            <a:r>
              <a:rPr lang="zh-CN" altLang="zh-CN" dirty="0"/>
              <a:t>，磁盘请求队列被分成多段，一次只有一段被完全处理。这种方法的两个例子是</a:t>
            </a:r>
            <a:r>
              <a:rPr lang="en-US" altLang="zh-CN" dirty="0"/>
              <a:t>N</a:t>
            </a:r>
            <a:r>
              <a:rPr lang="zh-CN" altLang="zh-CN" dirty="0"/>
              <a:t>步</a:t>
            </a:r>
            <a:r>
              <a:rPr lang="en-US" altLang="zh-CN" dirty="0"/>
              <a:t>SCAN</a:t>
            </a:r>
            <a:r>
              <a:rPr lang="zh-CN" altLang="zh-CN" dirty="0"/>
              <a:t>（</a:t>
            </a:r>
            <a:r>
              <a:rPr lang="en-US" altLang="zh-CN" dirty="0"/>
              <a:t>N-Step-SCAN</a:t>
            </a:r>
            <a:r>
              <a:rPr lang="zh-CN" altLang="zh-CN" dirty="0"/>
              <a:t>）和</a:t>
            </a:r>
            <a:r>
              <a:rPr lang="en-US" altLang="zh-CN" dirty="0"/>
              <a:t> FSCAN</a:t>
            </a:r>
            <a:r>
              <a:rPr lang="zh-CN" altLang="zh-CN" dirty="0"/>
              <a:t>算法。</a:t>
            </a:r>
          </a:p>
          <a:p>
            <a:endParaRPr lang="zh-CN" altLang="en-US" dirty="0"/>
          </a:p>
        </p:txBody>
      </p:sp>
    </p:spTree>
    <p:extLst>
      <p:ext uri="{BB962C8B-B14F-4D97-AF65-F5344CB8AC3E}">
        <p14:creationId xmlns:p14="http://schemas.microsoft.com/office/powerpoint/2010/main" val="1146334549"/>
      </p:ext>
    </p:extLst>
  </p:cSld>
  <p:clrMapOvr>
    <a:masterClrMapping/>
  </p:clrMapOvr>
  <p:transition>
    <p:random/>
  </p:transition>
</p:sld>
</file>

<file path=ppt/slides/slide9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N</a:t>
            </a:r>
            <a:r>
              <a:rPr lang="zh-CN" altLang="zh-CN" dirty="0"/>
              <a:t>步</a:t>
            </a:r>
            <a:r>
              <a:rPr lang="en-US" altLang="zh-CN" dirty="0"/>
              <a:t>SCAN</a:t>
            </a:r>
            <a:r>
              <a:rPr lang="zh-CN" altLang="zh-CN" dirty="0"/>
              <a:t>算法</a:t>
            </a:r>
            <a:endParaRPr lang="zh-CN" altLang="en-US" dirty="0"/>
          </a:p>
        </p:txBody>
      </p:sp>
      <p:sp>
        <p:nvSpPr>
          <p:cNvPr id="3" name="内容占位符 2"/>
          <p:cNvSpPr>
            <a:spLocks noGrp="1"/>
          </p:cNvSpPr>
          <p:nvPr>
            <p:ph idx="1"/>
          </p:nvPr>
        </p:nvSpPr>
        <p:spPr/>
        <p:txBody>
          <a:bodyPr>
            <a:normAutofit/>
          </a:bodyPr>
          <a:lstStyle/>
          <a:p>
            <a:r>
              <a:rPr lang="en-US" altLang="zh-CN" dirty="0"/>
              <a:t>N</a:t>
            </a:r>
            <a:r>
              <a:rPr lang="zh-CN" altLang="zh-CN" dirty="0"/>
              <a:t>步</a:t>
            </a:r>
            <a:r>
              <a:rPr lang="en-US" altLang="zh-CN" dirty="0"/>
              <a:t>SCAN</a:t>
            </a:r>
            <a:r>
              <a:rPr lang="zh-CN" altLang="zh-CN" dirty="0"/>
              <a:t>算法把磁盘请求队列分成长度为</a:t>
            </a:r>
            <a:r>
              <a:rPr lang="en-US" altLang="zh-CN" dirty="0"/>
              <a:t>N</a:t>
            </a:r>
            <a:r>
              <a:rPr lang="zh-CN" altLang="zh-CN" dirty="0"/>
              <a:t>的几个子队列，每次用</a:t>
            </a:r>
            <a:r>
              <a:rPr lang="en-US" altLang="zh-CN" dirty="0"/>
              <a:t>SCAN</a:t>
            </a:r>
            <a:r>
              <a:rPr lang="zh-CN" altLang="zh-CN" dirty="0"/>
              <a:t>算法处理一个子队列。在处理某个队列时，新请求必须添加到其它某个队列中，这样就避免了</a:t>
            </a:r>
            <a:r>
              <a:rPr lang="en-US" altLang="zh-CN" dirty="0"/>
              <a:t>“</a:t>
            </a:r>
            <a:r>
              <a:rPr lang="zh-CN" altLang="zh-CN" dirty="0"/>
              <a:t>磁臂粘着</a:t>
            </a:r>
            <a:r>
              <a:rPr lang="en-US" altLang="zh-CN" dirty="0"/>
              <a:t>”</a:t>
            </a:r>
            <a:r>
              <a:rPr lang="zh-CN" altLang="zh-CN" dirty="0"/>
              <a:t>现象。</a:t>
            </a:r>
            <a:r>
              <a:rPr lang="en-US" altLang="zh-CN" dirty="0"/>
              <a:t>N</a:t>
            </a:r>
            <a:r>
              <a:rPr lang="zh-CN" altLang="zh-CN" dirty="0"/>
              <a:t>步</a:t>
            </a:r>
            <a:r>
              <a:rPr lang="en-US" altLang="zh-CN" dirty="0"/>
              <a:t>SCAN</a:t>
            </a:r>
            <a:r>
              <a:rPr lang="zh-CN" altLang="zh-CN" dirty="0"/>
              <a:t>算法</a:t>
            </a:r>
            <a:r>
              <a:rPr lang="zh-CN" altLang="en-US" dirty="0"/>
              <a:t>如</a:t>
            </a:r>
            <a:r>
              <a:rPr lang="zh-CN" altLang="zh-CN" dirty="0"/>
              <a:t>图</a:t>
            </a:r>
            <a:r>
              <a:rPr lang="en-US" altLang="zh-CN" dirty="0"/>
              <a:t>8-16</a:t>
            </a:r>
            <a:r>
              <a:rPr lang="zh-CN" altLang="en-US" dirty="0"/>
              <a:t>所示。</a:t>
            </a:r>
          </a:p>
        </p:txBody>
      </p:sp>
    </p:spTree>
    <p:extLst>
      <p:ext uri="{BB962C8B-B14F-4D97-AF65-F5344CB8AC3E}">
        <p14:creationId xmlns:p14="http://schemas.microsoft.com/office/powerpoint/2010/main" val="2668217768"/>
      </p:ext>
    </p:extLst>
  </p:cSld>
  <p:clrMapOvr>
    <a:masterClrMapping/>
  </p:clrMapOvr>
  <p:transition>
    <p:random/>
  </p:transition>
</p:sld>
</file>

<file path=ppt/slides/slide9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N</a:t>
            </a:r>
            <a:r>
              <a:rPr lang="zh-CN" altLang="zh-CN" dirty="0"/>
              <a:t>步</a:t>
            </a:r>
            <a:r>
              <a:rPr lang="en-US" altLang="zh-CN" dirty="0"/>
              <a:t>SCAN</a:t>
            </a:r>
            <a:r>
              <a:rPr lang="zh-CN" altLang="zh-CN" dirty="0"/>
              <a:t>算法</a:t>
            </a:r>
            <a:endParaRPr lang="zh-CN" altLang="en-US" dirty="0"/>
          </a:p>
        </p:txBody>
      </p:sp>
      <p:pic>
        <p:nvPicPr>
          <p:cNvPr id="16386" name="图片 405" descr="N-Step-Scan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81817" y="1417578"/>
            <a:ext cx="5090160" cy="28474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矩形 3"/>
          <p:cNvSpPr/>
          <p:nvPr/>
        </p:nvSpPr>
        <p:spPr>
          <a:xfrm>
            <a:off x="2590552" y="5088632"/>
            <a:ext cx="4204997" cy="461665"/>
          </a:xfrm>
          <a:prstGeom prst="rect">
            <a:avLst/>
          </a:prstGeom>
        </p:spPr>
        <p:txBody>
          <a:bodyPr wrap="none">
            <a:spAutoFit/>
          </a:bodyPr>
          <a:lstStyle/>
          <a:p>
            <a:r>
              <a:rPr lang="zh-CN" altLang="zh-CN" sz="2400" dirty="0"/>
              <a:t>图</a:t>
            </a:r>
            <a:r>
              <a:rPr lang="en-US" altLang="zh-CN" sz="2400" dirty="0"/>
              <a:t>8-16  N</a:t>
            </a:r>
            <a:r>
              <a:rPr lang="zh-CN" altLang="zh-CN" sz="2400" dirty="0"/>
              <a:t>步</a:t>
            </a:r>
            <a:r>
              <a:rPr lang="en-US" altLang="zh-CN" sz="2400" dirty="0"/>
              <a:t>SCAN</a:t>
            </a:r>
            <a:r>
              <a:rPr lang="zh-CN" altLang="zh-CN" sz="2400" dirty="0"/>
              <a:t>算法示意图</a:t>
            </a:r>
          </a:p>
        </p:txBody>
      </p:sp>
    </p:spTree>
    <p:extLst>
      <p:ext uri="{BB962C8B-B14F-4D97-AF65-F5344CB8AC3E}">
        <p14:creationId xmlns:p14="http://schemas.microsoft.com/office/powerpoint/2010/main" val="2371011197"/>
      </p:ext>
    </p:extLst>
  </p:cSld>
  <p:clrMapOvr>
    <a:masterClrMapping/>
  </p:clrMapOvr>
  <p:transition>
    <p:random/>
  </p:transition>
</p:sld>
</file>

<file path=ppt/slides/slide9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FSCAN</a:t>
            </a:r>
            <a:r>
              <a:rPr lang="zh-CN" altLang="zh-CN" dirty="0"/>
              <a:t>算法</a:t>
            </a:r>
            <a:endParaRPr lang="zh-CN" altLang="en-US" dirty="0"/>
          </a:p>
        </p:txBody>
      </p:sp>
      <p:sp>
        <p:nvSpPr>
          <p:cNvPr id="3" name="内容占位符 2"/>
          <p:cNvSpPr>
            <a:spLocks noGrp="1"/>
          </p:cNvSpPr>
          <p:nvPr>
            <p:ph idx="1"/>
          </p:nvPr>
        </p:nvSpPr>
        <p:spPr/>
        <p:txBody>
          <a:bodyPr/>
          <a:lstStyle/>
          <a:p>
            <a:r>
              <a:rPr lang="en-US" altLang="zh-CN" dirty="0"/>
              <a:t>FSCAN</a:t>
            </a:r>
            <a:r>
              <a:rPr lang="zh-CN" altLang="zh-CN" dirty="0"/>
              <a:t>算法是对</a:t>
            </a:r>
            <a:r>
              <a:rPr lang="en-US" altLang="zh-CN" dirty="0"/>
              <a:t>N</a:t>
            </a:r>
            <a:r>
              <a:rPr lang="zh-CN" altLang="zh-CN" dirty="0"/>
              <a:t>步</a:t>
            </a:r>
            <a:r>
              <a:rPr lang="en-US" altLang="zh-CN" dirty="0"/>
              <a:t>SCAN</a:t>
            </a:r>
            <a:r>
              <a:rPr lang="zh-CN" altLang="zh-CN" dirty="0"/>
              <a:t>算法的简化，就是使用两个子队列的策略。</a:t>
            </a:r>
            <a:endParaRPr lang="zh-CN" altLang="en-US" dirty="0"/>
          </a:p>
        </p:txBody>
      </p:sp>
      <p:pic>
        <p:nvPicPr>
          <p:cNvPr id="17410" name="图片 404" descr="FScan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28240" y="3322320"/>
            <a:ext cx="4897120" cy="23753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17128194"/>
      </p:ext>
    </p:extLst>
  </p:cSld>
  <p:clrMapOvr>
    <a:masterClrMapping/>
  </p:clrMapOvr>
  <p:transition>
    <p:random/>
  </p:transition>
</p:sld>
</file>

<file path=ppt/slides/slide9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FSCAN</a:t>
            </a:r>
            <a:r>
              <a:rPr lang="zh-CN" altLang="zh-CN" dirty="0"/>
              <a:t>算法</a:t>
            </a:r>
            <a:endParaRPr lang="zh-CN" altLang="en-US" dirty="0"/>
          </a:p>
        </p:txBody>
      </p:sp>
      <p:pic>
        <p:nvPicPr>
          <p:cNvPr id="17410" name="图片 404" descr="FScan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18274" y="1571012"/>
            <a:ext cx="4897120" cy="23753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矩形 3"/>
          <p:cNvSpPr/>
          <p:nvPr/>
        </p:nvSpPr>
        <p:spPr>
          <a:xfrm>
            <a:off x="2610305" y="4995642"/>
            <a:ext cx="3861955" cy="461665"/>
          </a:xfrm>
          <a:prstGeom prst="rect">
            <a:avLst/>
          </a:prstGeom>
        </p:spPr>
        <p:txBody>
          <a:bodyPr wrap="none">
            <a:spAutoFit/>
          </a:bodyPr>
          <a:lstStyle/>
          <a:p>
            <a:r>
              <a:rPr lang="zh-CN" altLang="zh-CN" sz="2400" dirty="0"/>
              <a:t>图</a:t>
            </a:r>
            <a:r>
              <a:rPr lang="en-US" altLang="zh-CN" sz="2400" dirty="0"/>
              <a:t>8-17  FSCAN</a:t>
            </a:r>
            <a:r>
              <a:rPr lang="zh-CN" altLang="zh-CN" sz="2400" dirty="0"/>
              <a:t>算法示意图</a:t>
            </a:r>
          </a:p>
        </p:txBody>
      </p:sp>
    </p:spTree>
    <p:extLst>
      <p:ext uri="{BB962C8B-B14F-4D97-AF65-F5344CB8AC3E}">
        <p14:creationId xmlns:p14="http://schemas.microsoft.com/office/powerpoint/2010/main" val="2362258933"/>
      </p:ext>
    </p:extLst>
  </p:cSld>
  <p:clrMapOvr>
    <a:masterClrMapping/>
  </p:clrMapOvr>
  <p:transition>
    <p:random/>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80645CE-7DFC-411F-9D11-F29E7074F646}"/>
              </a:ext>
            </a:extLst>
          </p:cNvPr>
          <p:cNvSpPr>
            <a:spLocks noGrp="1"/>
          </p:cNvSpPr>
          <p:nvPr>
            <p:ph type="title"/>
          </p:nvPr>
        </p:nvSpPr>
        <p:spPr/>
        <p:txBody>
          <a:bodyPr/>
          <a:lstStyle/>
          <a:p>
            <a:pPr>
              <a:defRPr/>
            </a:pPr>
            <a:r>
              <a:rPr lang="zh-CN" altLang="en-US" dirty="0"/>
              <a:t>作业</a:t>
            </a:r>
          </a:p>
        </p:txBody>
      </p:sp>
      <p:sp>
        <p:nvSpPr>
          <p:cNvPr id="3" name="内容占位符 2">
            <a:extLst>
              <a:ext uri="{FF2B5EF4-FFF2-40B4-BE49-F238E27FC236}">
                <a16:creationId xmlns:a16="http://schemas.microsoft.com/office/drawing/2014/main" id="{2C88F4FC-5A0B-4EEE-8B69-58038C7C8A4B}"/>
              </a:ext>
            </a:extLst>
          </p:cNvPr>
          <p:cNvSpPr>
            <a:spLocks noGrp="1"/>
          </p:cNvSpPr>
          <p:nvPr>
            <p:ph idx="1"/>
          </p:nvPr>
        </p:nvSpPr>
        <p:spPr/>
        <p:txBody>
          <a:bodyPr/>
          <a:lstStyle/>
          <a:p>
            <a:pPr>
              <a:defRPr/>
            </a:pPr>
            <a:r>
              <a:rPr lang="zh-CN" altLang="en-US" dirty="0"/>
              <a:t>假设移动头磁盘有</a:t>
            </a:r>
            <a:r>
              <a:rPr lang="en-US" altLang="zh-CN" dirty="0"/>
              <a:t>200</a:t>
            </a:r>
            <a:r>
              <a:rPr lang="zh-CN" altLang="en-US" dirty="0"/>
              <a:t>个磁道，目前正在处理</a:t>
            </a:r>
            <a:r>
              <a:rPr lang="en-US" altLang="zh-CN" dirty="0"/>
              <a:t>143</a:t>
            </a:r>
            <a:r>
              <a:rPr lang="zh-CN" altLang="en-US" dirty="0"/>
              <a:t>号磁道上的请求，而刚刚处理完</a:t>
            </a:r>
            <a:r>
              <a:rPr lang="en-US" altLang="zh-CN" dirty="0"/>
              <a:t>125</a:t>
            </a:r>
            <a:r>
              <a:rPr lang="zh-CN" altLang="en-US" dirty="0"/>
              <a:t>号磁道上的数据请求，现在有如下磁道请求序列：</a:t>
            </a:r>
            <a:endParaRPr lang="en-US" altLang="zh-CN" dirty="0"/>
          </a:p>
          <a:p>
            <a:pPr marL="0" indent="0">
              <a:buNone/>
              <a:defRPr/>
            </a:pPr>
            <a:r>
              <a:rPr lang="en-US" altLang="zh-CN" dirty="0"/>
              <a:t>        86</a:t>
            </a:r>
            <a:r>
              <a:rPr lang="zh-CN" altLang="en-US" dirty="0"/>
              <a:t>，</a:t>
            </a:r>
            <a:r>
              <a:rPr lang="en-US" altLang="zh-CN" dirty="0"/>
              <a:t>147</a:t>
            </a:r>
            <a:r>
              <a:rPr lang="zh-CN" altLang="en-US" dirty="0"/>
              <a:t>，</a:t>
            </a:r>
            <a:r>
              <a:rPr lang="en-US" altLang="zh-CN" dirty="0"/>
              <a:t>91</a:t>
            </a:r>
            <a:r>
              <a:rPr lang="zh-CN" altLang="en-US" dirty="0"/>
              <a:t>，</a:t>
            </a:r>
            <a:r>
              <a:rPr lang="en-US" altLang="zh-CN" dirty="0"/>
              <a:t>177</a:t>
            </a:r>
            <a:r>
              <a:rPr lang="zh-CN" altLang="en-US" dirty="0"/>
              <a:t>，</a:t>
            </a:r>
            <a:r>
              <a:rPr lang="en-US" altLang="zh-CN" dirty="0"/>
              <a:t>94</a:t>
            </a:r>
            <a:r>
              <a:rPr lang="zh-CN" altLang="en-US" dirty="0"/>
              <a:t>，</a:t>
            </a:r>
            <a:r>
              <a:rPr lang="en-US" altLang="zh-CN" dirty="0"/>
              <a:t>150</a:t>
            </a:r>
            <a:r>
              <a:rPr lang="zh-CN" altLang="en-US" dirty="0"/>
              <a:t>，</a:t>
            </a:r>
            <a:r>
              <a:rPr lang="en-US" altLang="zh-CN" dirty="0"/>
              <a:t>102</a:t>
            </a:r>
            <a:r>
              <a:rPr lang="zh-CN" altLang="en-US" dirty="0"/>
              <a:t>，</a:t>
            </a:r>
            <a:r>
              <a:rPr lang="en-US" altLang="zh-CN" dirty="0"/>
              <a:t>175</a:t>
            </a:r>
            <a:r>
              <a:rPr lang="zh-CN" altLang="en-US" dirty="0"/>
              <a:t>，</a:t>
            </a:r>
            <a:r>
              <a:rPr lang="en-US" altLang="zh-CN" dirty="0"/>
              <a:t>130</a:t>
            </a:r>
          </a:p>
          <a:p>
            <a:pPr marL="0" indent="0">
              <a:buNone/>
              <a:defRPr/>
            </a:pPr>
            <a:r>
              <a:rPr lang="en-US" altLang="zh-CN" dirty="0"/>
              <a:t>      </a:t>
            </a:r>
            <a:r>
              <a:rPr lang="zh-CN" altLang="en-US" dirty="0"/>
              <a:t>用下列各种磁盘调度算法磁头的总移动量是多少？</a:t>
            </a:r>
            <a:endParaRPr lang="en-US" altLang="zh-CN" dirty="0"/>
          </a:p>
          <a:p>
            <a:pPr marL="0" indent="0">
              <a:buNone/>
              <a:defRPr/>
            </a:pPr>
            <a:r>
              <a:rPr lang="en-US" altLang="zh-CN" dirty="0"/>
              <a:t>       </a:t>
            </a:r>
            <a:r>
              <a:rPr lang="zh-CN" altLang="en-US" dirty="0"/>
              <a:t>（</a:t>
            </a:r>
            <a:r>
              <a:rPr lang="en-US" altLang="zh-CN" dirty="0"/>
              <a:t>1</a:t>
            </a:r>
            <a:r>
              <a:rPr lang="zh-CN" altLang="en-US" dirty="0"/>
              <a:t>）</a:t>
            </a:r>
            <a:r>
              <a:rPr lang="en-US" altLang="zh-CN" dirty="0"/>
              <a:t>FCFS</a:t>
            </a:r>
            <a:r>
              <a:rPr lang="zh-CN" altLang="en-US" dirty="0"/>
              <a:t>先来先服务</a:t>
            </a:r>
            <a:r>
              <a:rPr lang="en-US" altLang="zh-CN" dirty="0"/>
              <a:t>     (2) SSTF</a:t>
            </a:r>
            <a:r>
              <a:rPr lang="zh-CN" altLang="en-US" dirty="0"/>
              <a:t>最短寻道时间优先</a:t>
            </a:r>
            <a:endParaRPr lang="en-US" altLang="zh-CN" dirty="0"/>
          </a:p>
          <a:p>
            <a:pPr marL="0" indent="0">
              <a:buNone/>
              <a:defRPr/>
            </a:pPr>
            <a:r>
              <a:rPr lang="en-US" altLang="zh-CN" dirty="0"/>
              <a:t>          (3) SCAN</a:t>
            </a:r>
            <a:r>
              <a:rPr lang="zh-CN" altLang="en-US" dirty="0"/>
              <a:t>扫描算法</a:t>
            </a:r>
            <a:r>
              <a:rPr lang="en-US" altLang="zh-CN" dirty="0"/>
              <a:t>     </a:t>
            </a:r>
            <a:endParaRPr lang="zh-CN" altLang="en-US" dirty="0"/>
          </a:p>
        </p:txBody>
      </p:sp>
    </p:spTree>
  </p:cSld>
  <p:clrMapOvr>
    <a:masterClrMapping/>
  </p:clrMapOvr>
  <p:transition>
    <p:random/>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zh-CN" dirty="0"/>
              <a:t>小  结</a:t>
            </a:r>
            <a:endParaRPr lang="zh-CN" altLang="en-US" dirty="0"/>
          </a:p>
        </p:txBody>
      </p:sp>
      <p:sp>
        <p:nvSpPr>
          <p:cNvPr id="3" name="内容占位符 2"/>
          <p:cNvSpPr>
            <a:spLocks noGrp="1"/>
          </p:cNvSpPr>
          <p:nvPr>
            <p:ph idx="1"/>
          </p:nvPr>
        </p:nvSpPr>
        <p:spPr/>
        <p:txBody>
          <a:bodyPr>
            <a:normAutofit/>
          </a:bodyPr>
          <a:lstStyle/>
          <a:p>
            <a:r>
              <a:rPr lang="zh-CN" altLang="zh-CN" dirty="0"/>
              <a:t>设备管理是对计算机</a:t>
            </a:r>
            <a:r>
              <a:rPr lang="en-US" altLang="zh-CN" dirty="0"/>
              <a:t>I/O</a:t>
            </a:r>
            <a:r>
              <a:rPr lang="zh-CN" altLang="zh-CN" dirty="0"/>
              <a:t>设备的管理，其最主要的任务是：完成用户提出的</a:t>
            </a:r>
            <a:r>
              <a:rPr lang="en-US" altLang="zh-CN" dirty="0"/>
              <a:t>I/O</a:t>
            </a:r>
            <a:r>
              <a:rPr lang="zh-CN" altLang="zh-CN" dirty="0"/>
              <a:t>请求，提高</a:t>
            </a:r>
            <a:r>
              <a:rPr lang="en-US" altLang="zh-CN" dirty="0"/>
              <a:t>I/O</a:t>
            </a:r>
            <a:r>
              <a:rPr lang="zh-CN" altLang="zh-CN" dirty="0"/>
              <a:t>速率，以及提高设备的利用率，并能为更高层的进程方便地使用这些设备提供手段。</a:t>
            </a:r>
          </a:p>
          <a:p>
            <a:r>
              <a:rPr lang="zh-CN" altLang="zh-CN" dirty="0"/>
              <a:t>本章从</a:t>
            </a:r>
            <a:r>
              <a:rPr lang="en-US" altLang="zh-CN" dirty="0"/>
              <a:t>I/O</a:t>
            </a:r>
            <a:r>
              <a:rPr lang="zh-CN" altLang="zh-CN" dirty="0"/>
              <a:t>系统的层次结构出发，介绍了</a:t>
            </a:r>
            <a:r>
              <a:rPr lang="en-US" altLang="zh-CN" dirty="0"/>
              <a:t>I/O</a:t>
            </a:r>
            <a:r>
              <a:rPr lang="zh-CN" altLang="zh-CN" dirty="0"/>
              <a:t>系统的组成、</a:t>
            </a:r>
            <a:r>
              <a:rPr lang="en-US" altLang="zh-CN" dirty="0"/>
              <a:t>I/O</a:t>
            </a:r>
            <a:r>
              <a:rPr lang="zh-CN" altLang="zh-CN" dirty="0"/>
              <a:t>控制方式、缓冲技术、设备分配、</a:t>
            </a:r>
            <a:r>
              <a:rPr lang="en-US" altLang="zh-CN" dirty="0"/>
              <a:t>I/O</a:t>
            </a:r>
            <a:r>
              <a:rPr lang="zh-CN" altLang="zh-CN" dirty="0"/>
              <a:t>软件、磁盘调度和管理。</a:t>
            </a:r>
          </a:p>
        </p:txBody>
      </p:sp>
    </p:spTree>
    <p:extLst>
      <p:ext uri="{BB962C8B-B14F-4D97-AF65-F5344CB8AC3E}">
        <p14:creationId xmlns:p14="http://schemas.microsoft.com/office/powerpoint/2010/main" val="2978849673"/>
      </p:ext>
    </p:extLst>
  </p:cSld>
  <p:clrMapOvr>
    <a:masterClrMapping/>
  </p:clrMapOvr>
  <p:transition>
    <p:random/>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zh-CN" dirty="0"/>
              <a:t>小  结</a:t>
            </a:r>
            <a:endParaRPr lang="zh-CN" altLang="en-US" dirty="0"/>
          </a:p>
        </p:txBody>
      </p:sp>
      <p:sp>
        <p:nvSpPr>
          <p:cNvPr id="3" name="内容占位符 2"/>
          <p:cNvSpPr>
            <a:spLocks noGrp="1"/>
          </p:cNvSpPr>
          <p:nvPr>
            <p:ph idx="1"/>
          </p:nvPr>
        </p:nvSpPr>
        <p:spPr/>
        <p:txBody>
          <a:bodyPr>
            <a:normAutofit/>
          </a:bodyPr>
          <a:lstStyle/>
          <a:p>
            <a:r>
              <a:rPr lang="zh-CN" altLang="zh-CN" dirty="0"/>
              <a:t>设备管理是对计算机</a:t>
            </a:r>
            <a:r>
              <a:rPr lang="en-US" altLang="zh-CN" dirty="0"/>
              <a:t>I/O</a:t>
            </a:r>
            <a:r>
              <a:rPr lang="zh-CN" altLang="zh-CN" dirty="0"/>
              <a:t>设备的管理，其最主要的任务是：完成用户提出的</a:t>
            </a:r>
            <a:r>
              <a:rPr lang="en-US" altLang="zh-CN" dirty="0"/>
              <a:t>I/O</a:t>
            </a:r>
            <a:r>
              <a:rPr lang="zh-CN" altLang="zh-CN" dirty="0"/>
              <a:t>请求，提高</a:t>
            </a:r>
            <a:r>
              <a:rPr lang="en-US" altLang="zh-CN" dirty="0"/>
              <a:t>I/O</a:t>
            </a:r>
            <a:r>
              <a:rPr lang="zh-CN" altLang="zh-CN" dirty="0"/>
              <a:t>速率，以及提高设备的利用率，并能为更高层的进程方便地使用这些设备提供手段。</a:t>
            </a:r>
          </a:p>
          <a:p>
            <a:r>
              <a:rPr lang="zh-CN" altLang="zh-CN" dirty="0"/>
              <a:t>本章从</a:t>
            </a:r>
            <a:r>
              <a:rPr lang="en-US" altLang="zh-CN" dirty="0"/>
              <a:t>I/O</a:t>
            </a:r>
            <a:r>
              <a:rPr lang="zh-CN" altLang="zh-CN" dirty="0"/>
              <a:t>系统的层次结构出发，介绍了</a:t>
            </a:r>
            <a:r>
              <a:rPr lang="en-US" altLang="zh-CN" dirty="0"/>
              <a:t>I/O</a:t>
            </a:r>
            <a:r>
              <a:rPr lang="zh-CN" altLang="zh-CN" dirty="0"/>
              <a:t>系统的组成、</a:t>
            </a:r>
            <a:r>
              <a:rPr lang="en-US" altLang="zh-CN" dirty="0"/>
              <a:t>I/O</a:t>
            </a:r>
            <a:r>
              <a:rPr lang="zh-CN" altLang="zh-CN" dirty="0"/>
              <a:t>控制方式、缓冲技术、设备分配、</a:t>
            </a:r>
            <a:r>
              <a:rPr lang="en-US" altLang="zh-CN" dirty="0"/>
              <a:t>I/O</a:t>
            </a:r>
            <a:r>
              <a:rPr lang="zh-CN" altLang="zh-CN" dirty="0"/>
              <a:t>软件、磁盘调度和管理。</a:t>
            </a:r>
          </a:p>
        </p:txBody>
      </p:sp>
    </p:spTree>
    <p:extLst>
      <p:ext uri="{BB962C8B-B14F-4D97-AF65-F5344CB8AC3E}">
        <p14:creationId xmlns:p14="http://schemas.microsoft.com/office/powerpoint/2010/main" val="3935397550"/>
      </p:ext>
    </p:extLst>
  </p:cSld>
  <p:clrMapOvr>
    <a:masterClrMapping/>
  </p:clrMapOvr>
  <p:transition>
    <p:random/>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zh-CN" dirty="0"/>
              <a:t>小  结</a:t>
            </a:r>
            <a:endParaRPr lang="zh-CN" altLang="en-US" dirty="0"/>
          </a:p>
        </p:txBody>
      </p:sp>
      <p:sp>
        <p:nvSpPr>
          <p:cNvPr id="3" name="内容占位符 2"/>
          <p:cNvSpPr>
            <a:spLocks noGrp="1"/>
          </p:cNvSpPr>
          <p:nvPr>
            <p:ph idx="1"/>
          </p:nvPr>
        </p:nvSpPr>
        <p:spPr/>
        <p:txBody>
          <a:bodyPr>
            <a:normAutofit/>
          </a:bodyPr>
          <a:lstStyle/>
          <a:p>
            <a:r>
              <a:rPr lang="zh-CN" altLang="zh-CN" dirty="0"/>
              <a:t>设备的</a:t>
            </a:r>
            <a:r>
              <a:rPr lang="en-US" altLang="zh-CN" dirty="0"/>
              <a:t>I/O</a:t>
            </a:r>
            <a:r>
              <a:rPr lang="zh-CN" altLang="zh-CN" dirty="0"/>
              <a:t>控制方式有</a:t>
            </a:r>
            <a:r>
              <a:rPr lang="en-US" altLang="zh-CN" dirty="0"/>
              <a:t>4</a:t>
            </a:r>
            <a:r>
              <a:rPr lang="zh-CN" altLang="zh-CN" dirty="0"/>
              <a:t>种，分别是程序直接控制方式、中断控制方式、</a:t>
            </a:r>
            <a:r>
              <a:rPr lang="en-US" altLang="zh-CN" dirty="0"/>
              <a:t>DMA</a:t>
            </a:r>
            <a:r>
              <a:rPr lang="zh-CN" altLang="zh-CN" dirty="0"/>
              <a:t>方式和通道方式。缓冲技术是为了解决外部设备与</a:t>
            </a:r>
            <a:r>
              <a:rPr lang="en-US" altLang="zh-CN" dirty="0"/>
              <a:t>CPU</a:t>
            </a:r>
            <a:r>
              <a:rPr lang="zh-CN" altLang="zh-CN" dirty="0"/>
              <a:t>之间的速度不匹配而引入的，缓冲有硬件缓冲和软件缓冲两种。本章主要介绍了软件缓冲技术。虚拟设备是指通过假脱机</a:t>
            </a:r>
            <a:r>
              <a:rPr lang="en-US" altLang="zh-CN" dirty="0"/>
              <a:t>( </a:t>
            </a:r>
            <a:r>
              <a:rPr lang="en-US" altLang="zh-CN" dirty="0" err="1"/>
              <a:t>SPOOLing</a:t>
            </a:r>
            <a:r>
              <a:rPr lang="en-US" altLang="zh-CN" dirty="0"/>
              <a:t>)</a:t>
            </a:r>
            <a:r>
              <a:rPr lang="zh-CN" altLang="zh-CN" dirty="0"/>
              <a:t>技术把独享设备转换成可由多个用户共享的设备，以提高系统设备的利用率。</a:t>
            </a:r>
          </a:p>
          <a:p>
            <a:r>
              <a:rPr lang="zh-CN" altLang="zh-CN" dirty="0"/>
              <a:t>磁盘调度就是对同一个磁盘的</a:t>
            </a:r>
            <a:r>
              <a:rPr lang="en-US" altLang="zh-CN" dirty="0"/>
              <a:t>I/O</a:t>
            </a:r>
            <a:r>
              <a:rPr lang="zh-CN" altLang="zh-CN" dirty="0"/>
              <a:t>请求，按某种方法去满足它，使得磁盘的平均寻道时间最短。</a:t>
            </a:r>
          </a:p>
          <a:p>
            <a:endParaRPr lang="zh-CN" altLang="en-US" dirty="0"/>
          </a:p>
        </p:txBody>
      </p:sp>
    </p:spTree>
    <p:extLst>
      <p:ext uri="{BB962C8B-B14F-4D97-AF65-F5344CB8AC3E}">
        <p14:creationId xmlns:p14="http://schemas.microsoft.com/office/powerpoint/2010/main" val="2544718565"/>
      </p:ext>
    </p:extLst>
  </p:cSld>
  <p:clrMapOvr>
    <a:masterClrMapping/>
  </p:clrMapOvr>
  <p:transition>
    <p:random/>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zh-CN" dirty="0"/>
              <a:t>小  结</a:t>
            </a:r>
            <a:endParaRPr lang="zh-CN" altLang="en-US" dirty="0"/>
          </a:p>
        </p:txBody>
      </p:sp>
      <p:sp>
        <p:nvSpPr>
          <p:cNvPr id="3" name="内容占位符 2"/>
          <p:cNvSpPr>
            <a:spLocks noGrp="1"/>
          </p:cNvSpPr>
          <p:nvPr>
            <p:ph idx="1"/>
          </p:nvPr>
        </p:nvSpPr>
        <p:spPr/>
        <p:txBody>
          <a:bodyPr>
            <a:normAutofit/>
          </a:bodyPr>
          <a:lstStyle/>
          <a:p>
            <a:r>
              <a:rPr lang="zh-CN" altLang="zh-CN" dirty="0"/>
              <a:t>设备的</a:t>
            </a:r>
            <a:r>
              <a:rPr lang="en-US" altLang="zh-CN" dirty="0"/>
              <a:t>I/O</a:t>
            </a:r>
            <a:r>
              <a:rPr lang="zh-CN" altLang="zh-CN" dirty="0"/>
              <a:t>控制方式有</a:t>
            </a:r>
            <a:r>
              <a:rPr lang="en-US" altLang="zh-CN" dirty="0"/>
              <a:t>4</a:t>
            </a:r>
            <a:r>
              <a:rPr lang="zh-CN" altLang="zh-CN" dirty="0"/>
              <a:t>种，分别是程序直接控制方式、中断控制方式、</a:t>
            </a:r>
            <a:r>
              <a:rPr lang="en-US" altLang="zh-CN" dirty="0"/>
              <a:t>DMA</a:t>
            </a:r>
            <a:r>
              <a:rPr lang="zh-CN" altLang="zh-CN" dirty="0"/>
              <a:t>方式和通道方式。缓冲技术是为了解决外部设备与</a:t>
            </a:r>
            <a:r>
              <a:rPr lang="en-US" altLang="zh-CN" dirty="0"/>
              <a:t>CPU</a:t>
            </a:r>
            <a:r>
              <a:rPr lang="zh-CN" altLang="zh-CN" dirty="0"/>
              <a:t>之间的速度不匹配而引入的，缓冲有硬件缓冲和软件缓冲两种。本章主要介绍了软件缓冲技术。虚拟设备是指通过假脱机</a:t>
            </a:r>
            <a:r>
              <a:rPr lang="en-US" altLang="zh-CN" dirty="0"/>
              <a:t>( </a:t>
            </a:r>
            <a:r>
              <a:rPr lang="en-US" altLang="zh-CN" dirty="0" err="1"/>
              <a:t>SPOOLing</a:t>
            </a:r>
            <a:r>
              <a:rPr lang="en-US" altLang="zh-CN" dirty="0"/>
              <a:t>)</a:t>
            </a:r>
            <a:r>
              <a:rPr lang="zh-CN" altLang="zh-CN" dirty="0"/>
              <a:t>技术把独享设备转换成可由多个用户共享的设备，以提高系统设备的利用率。</a:t>
            </a:r>
          </a:p>
          <a:p>
            <a:r>
              <a:rPr lang="zh-CN" altLang="zh-CN" dirty="0"/>
              <a:t>磁盘调度就是对同一个磁盘的</a:t>
            </a:r>
            <a:r>
              <a:rPr lang="en-US" altLang="zh-CN" dirty="0"/>
              <a:t>I/O</a:t>
            </a:r>
            <a:r>
              <a:rPr lang="zh-CN" altLang="zh-CN" dirty="0"/>
              <a:t>请求，按某种方法去满足它，使得磁盘的平均寻道时间最短。</a:t>
            </a:r>
          </a:p>
          <a:p>
            <a:endParaRPr lang="zh-CN" altLang="en-US" dirty="0"/>
          </a:p>
        </p:txBody>
      </p:sp>
    </p:spTree>
    <p:extLst>
      <p:ext uri="{BB962C8B-B14F-4D97-AF65-F5344CB8AC3E}">
        <p14:creationId xmlns:p14="http://schemas.microsoft.com/office/powerpoint/2010/main" val="2642134790"/>
      </p:ext>
    </p:extLst>
  </p:cSld>
  <p:clrMapOvr>
    <a:masterClrMapping/>
  </p:clrMapOvr>
  <p:transition>
    <p:random/>
  </p:transition>
</p:sld>
</file>

<file path=ppt/tags/tag1.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176"/>
  <p:tag name="KSO_WM_TEMPLATE_MASTER_TYPE" val="0"/>
  <p:tag name="KSO_WM_TEMPLATE_COLOR_TYPE" val="1"/>
  <p:tag name="KSO_WM_UNIT_SHOW_EDIT_AREA_INDICATION" val="1"/>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176"/>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176"/>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8.xml><?xml version="1.0" encoding="utf-8"?>
<p:tagLst xmlns:a="http://schemas.openxmlformats.org/drawingml/2006/main" xmlns:r="http://schemas.openxmlformats.org/officeDocument/2006/relationships" xmlns:p="http://schemas.openxmlformats.org/presentationml/2006/main">
  <p:tag name="KSO_WM_SLIDE_ID" val="custom20205176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6"/>
  <p:tag name="KSO_WM_SLIDE_LAYOUT" val="a_b"/>
  <p:tag name="KSO_WM_SLIDE_LAYOUT_CNT" val="1_1"/>
  <p:tag name="KSO_WM_UNIT_SHOW_EDIT_AREA_INDICATION" val="1"/>
  <p:tag name="KSO_WM_TEMPLATE_THUMBS_INDEX" val="1、4、7、12、13、14、15、16、17、18、20、24、25、28、33、36、40、43、44"/>
</p:tagLst>
</file>

<file path=ppt/tags/tag59.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空白演示"/>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176_1*a*1"/>
  <p:tag name="KSO_WM_TEMPLATE_CATEGORY" val="custom"/>
  <p:tag name="KSO_WM_TEMPLATE_INDEX" val="20205176"/>
  <p:tag name="KSO_WM_UNIT_LAYERLEVEL" val="1"/>
  <p:tag name="KSO_WM_TAG_VERSION" val="1.0"/>
  <p:tag name="KSO_WM_BEAUTIFY_FLAG" val="#wm#"/>
</p:tagLst>
</file>

<file path=ppt/tags/tag6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6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6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6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6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6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6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6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6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6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7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7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7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7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7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7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7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7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7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7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8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8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heme/theme1.xml><?xml version="1.0" encoding="utf-8"?>
<a:theme xmlns:a="http://schemas.openxmlformats.org/drawingml/2006/main" name="Office 主题​​">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487</TotalTime>
  <Words>7011</Words>
  <Application>Microsoft Office PowerPoint</Application>
  <PresentationFormat>宽屏</PresentationFormat>
  <Paragraphs>579</Paragraphs>
  <Slides>99</Slides>
  <Notes>6</Notes>
  <HiddenSlides>5</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2</vt:i4>
      </vt:variant>
      <vt:variant>
        <vt:lpstr>幻灯片标题</vt:lpstr>
      </vt:variant>
      <vt:variant>
        <vt:i4>99</vt:i4>
      </vt:variant>
    </vt:vector>
  </HeadingPairs>
  <TitlesOfParts>
    <vt:vector size="111" baseType="lpstr">
      <vt:lpstr>仿宋</vt:lpstr>
      <vt:lpstr>黑体</vt:lpstr>
      <vt:lpstr>华文新魏</vt:lpstr>
      <vt:lpstr>微软雅黑</vt:lpstr>
      <vt:lpstr>微软雅黑</vt:lpstr>
      <vt:lpstr>Arial</vt:lpstr>
      <vt:lpstr>Calibri</vt:lpstr>
      <vt:lpstr>Times New Roman</vt:lpstr>
      <vt:lpstr>Wingdings</vt:lpstr>
      <vt:lpstr>Office 主题​​</vt:lpstr>
      <vt:lpstr>Visio</vt:lpstr>
      <vt:lpstr>公式</vt:lpstr>
      <vt:lpstr>第8章  设备管理</vt:lpstr>
      <vt:lpstr>本章目录</vt:lpstr>
      <vt:lpstr>8.1 I/O系统的组成</vt:lpstr>
      <vt:lpstr>设备管理</vt:lpstr>
      <vt:lpstr>设备管理</vt:lpstr>
      <vt:lpstr>8.1 I/O系统的组成</vt:lpstr>
      <vt:lpstr>PowerPoint 演示文稿</vt:lpstr>
      <vt:lpstr>（1）块设备接口 </vt:lpstr>
      <vt:lpstr>PowerPoint 演示文稿</vt:lpstr>
      <vt:lpstr>PowerPoint 演示文稿</vt:lpstr>
      <vt:lpstr>8.1.2 I/O设备和设备控制器</vt:lpstr>
      <vt:lpstr>1. I/O设备的类型 </vt:lpstr>
      <vt:lpstr>1. I/O设备的类型 </vt:lpstr>
      <vt:lpstr>2. 设备控制器</vt:lpstr>
      <vt:lpstr>（1）设备控制器的功能</vt:lpstr>
      <vt:lpstr>（1）设备控制器的功能</vt:lpstr>
      <vt:lpstr>（2）设备控制器的组成</vt:lpstr>
      <vt:lpstr>（2）设备控制器的组成</vt:lpstr>
      <vt:lpstr>8.2 I/O控制方式</vt:lpstr>
      <vt:lpstr>8.2.1 直接程序控制方式</vt:lpstr>
      <vt:lpstr>8.2.2 中断控制方式</vt:lpstr>
      <vt:lpstr>8.2.3 直接存储器访问方式DMA</vt:lpstr>
      <vt:lpstr>PowerPoint 演示文稿</vt:lpstr>
      <vt:lpstr>8.2.4 通道方式</vt:lpstr>
      <vt:lpstr>通道</vt:lpstr>
      <vt:lpstr>通道</vt:lpstr>
      <vt:lpstr>通道</vt:lpstr>
      <vt:lpstr>8.3 缓冲技术</vt:lpstr>
      <vt:lpstr>8.3 缓冲技术</vt:lpstr>
      <vt:lpstr>8.3.1 缓冲技术的引入</vt:lpstr>
      <vt:lpstr>8.3.1 缓冲技术的引入</vt:lpstr>
      <vt:lpstr>8.3.2 单缓冲和双缓冲</vt:lpstr>
      <vt:lpstr>1. 单缓冲</vt:lpstr>
      <vt:lpstr>2. 双缓冲</vt:lpstr>
      <vt:lpstr>8.3.3 环形缓冲</vt:lpstr>
      <vt:lpstr>环形缓冲区的组成</vt:lpstr>
      <vt:lpstr>8.3.4 缓冲池</vt:lpstr>
      <vt:lpstr>1. 缓冲池的组成 </vt:lpstr>
      <vt:lpstr>2. 缓冲池的工作方式</vt:lpstr>
      <vt:lpstr>1. 缓冲池的组成 </vt:lpstr>
      <vt:lpstr>8.4 设备分配</vt:lpstr>
      <vt:lpstr>8.4.1 设备分配中的数据结构 </vt:lpstr>
      <vt:lpstr>图 8-9  设备分配中的数据结构</vt:lpstr>
      <vt:lpstr>1. 设备控制表DCT </vt:lpstr>
      <vt:lpstr>1. 设备控制表DCT </vt:lpstr>
      <vt:lpstr>2. 控制器控制表、 通道控制表和系统设备表</vt:lpstr>
      <vt:lpstr>8.4.2 设备分配时应考虑的若干因素</vt:lpstr>
      <vt:lpstr>1. 设备的固有属性</vt:lpstr>
      <vt:lpstr>2. 设备分配算法</vt:lpstr>
      <vt:lpstr>3. 设备分配中的安全性</vt:lpstr>
      <vt:lpstr>3. 设备分配中的安全性</vt:lpstr>
      <vt:lpstr>8.4.5 SPOOLing技术</vt:lpstr>
      <vt:lpstr>1. 假脱机技术</vt:lpstr>
      <vt:lpstr>1. 假脱机技术</vt:lpstr>
      <vt:lpstr>2. SPOOLing系统的组成</vt:lpstr>
      <vt:lpstr>SPOOLing系统的组成</vt:lpstr>
      <vt:lpstr>4. 共享打印机</vt:lpstr>
      <vt:lpstr>4. 共享打印机</vt:lpstr>
      <vt:lpstr>8.5 I/O软件</vt:lpstr>
      <vt:lpstr>8.5 I/O软件</vt:lpstr>
      <vt:lpstr>8.5.1 I/O软件的目标</vt:lpstr>
      <vt:lpstr>8.5.2 I/O软件的层次结构</vt:lpstr>
      <vt:lpstr>PowerPoint 演示文稿</vt:lpstr>
      <vt:lpstr>8.5.3 中断处理程序</vt:lpstr>
      <vt:lpstr>8.5.3 中断处理程序</vt:lpstr>
      <vt:lpstr>8.5.4 设备驱动程序</vt:lpstr>
      <vt:lpstr>8.5.4 设备驱动程序</vt:lpstr>
      <vt:lpstr>I/O设备驱动程序具有如下功能 ：</vt:lpstr>
      <vt:lpstr>8.5.5 设备独立性软件</vt:lpstr>
      <vt:lpstr>设备独立性软件，其主要功能有如下两个方面：</vt:lpstr>
      <vt:lpstr>设备独立性软件，其主要功能有如下两个方面：</vt:lpstr>
      <vt:lpstr>设备独立性软件，其主要功能有如下两个方面：</vt:lpstr>
      <vt:lpstr>8.6 磁盘调度和管理</vt:lpstr>
      <vt:lpstr>8.6.1 磁盘物理特性</vt:lpstr>
      <vt:lpstr>图 8-15 磁盘的格式化</vt:lpstr>
      <vt:lpstr>3. 磁盘访问时间 </vt:lpstr>
      <vt:lpstr>（1）寻道时间Ts。</vt:lpstr>
      <vt:lpstr>（2）旋转延迟时间Tτ</vt:lpstr>
      <vt:lpstr>（3）传输时间Tt</vt:lpstr>
      <vt:lpstr>（3）传输时间Tt</vt:lpstr>
      <vt:lpstr>PowerPoint 演示文稿</vt:lpstr>
      <vt:lpstr>1. 先来先服务算法</vt:lpstr>
      <vt:lpstr>磁盘调度算法</vt:lpstr>
      <vt:lpstr>2. 最短寻道时间优先调度算法</vt:lpstr>
      <vt:lpstr>磁盘调度算法</vt:lpstr>
      <vt:lpstr>3. 扫描算法 </vt:lpstr>
      <vt:lpstr>磁盘调度算法</vt:lpstr>
      <vt:lpstr>4. 循环扫描算法 </vt:lpstr>
      <vt:lpstr>磁盘调度算法</vt:lpstr>
      <vt:lpstr>5. N步SCAN和FSCAN算法 </vt:lpstr>
      <vt:lpstr>N步SCAN算法</vt:lpstr>
      <vt:lpstr>N步SCAN算法</vt:lpstr>
      <vt:lpstr>FSCAN算法</vt:lpstr>
      <vt:lpstr>FSCAN算法</vt:lpstr>
      <vt:lpstr>作业</vt:lpstr>
      <vt:lpstr>小  结</vt:lpstr>
      <vt:lpstr>小  结</vt:lpstr>
      <vt:lpstr>小  结</vt:lpstr>
      <vt:lpstr>小  结</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第6章  基本存储管理</dc:title>
  <dc:creator>Administrator</dc:creator>
  <cp:lastModifiedBy>q096210</cp:lastModifiedBy>
  <cp:revision>541</cp:revision>
  <dcterms:created xsi:type="dcterms:W3CDTF">2019-06-19T02:08:00Z</dcterms:created>
  <dcterms:modified xsi:type="dcterms:W3CDTF">2024-05-12T03:16:35Z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2052-11.1.0.9999</vt:lpwstr>
  </property>
</Properties>
</file>